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7480934" cy="1973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563" y="1825921"/>
            <a:ext cx="7210425" cy="4650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://cs224w.stanford.edu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jpg"/><Relationship Id="rId5" Type="http://schemas.openxmlformats.org/officeDocument/2006/relationships/image" Target="../media/image2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35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Relationship Id="rId4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hyperlink" Target="http://cs224w.stanford.edu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60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jpg"/><Relationship Id="rId4" Type="http://schemas.openxmlformats.org/officeDocument/2006/relationships/image" Target="../media/image67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jpg"/><Relationship Id="rId4" Type="http://schemas.openxmlformats.org/officeDocument/2006/relationships/image" Target="../media/image72.png"/><Relationship Id="rId5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jpg"/><Relationship Id="rId4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5.png"/><Relationship Id="rId3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6.png"/><Relationship Id="rId3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jpg"/><Relationship Id="rId4" Type="http://schemas.openxmlformats.org/officeDocument/2006/relationships/image" Target="../media/image79.jpg"/><Relationship Id="rId5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Relationship Id="rId3" Type="http://schemas.openxmlformats.org/officeDocument/2006/relationships/image" Target="../media/image85.png"/><Relationship Id="rId4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jpg"/><Relationship Id="rId4" Type="http://schemas.openxmlformats.org/officeDocument/2006/relationships/image" Target="../media/image93.jpg"/><Relationship Id="rId5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jpg"/><Relationship Id="rId4" Type="http://schemas.openxmlformats.org/officeDocument/2006/relationships/hyperlink" Target="http://cs224w.stanford.edu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image" Target="../media/image97.jpg"/><Relationship Id="rId4" Type="http://schemas.openxmlformats.org/officeDocument/2006/relationships/image" Target="../media/image98.jpg"/><Relationship Id="rId5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openxmlformats.org/officeDocument/2006/relationships/image" Target="../media/image100.jpg"/><Relationship Id="rId4" Type="http://schemas.openxmlformats.org/officeDocument/2006/relationships/image" Target="../media/image101.jpg"/><Relationship Id="rId5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png"/><Relationship Id="rId3" Type="http://schemas.openxmlformats.org/officeDocument/2006/relationships/image" Target="../media/image103.jpg"/><Relationship Id="rId4" Type="http://schemas.openxmlformats.org/officeDocument/2006/relationships/image" Target="../media/image104.jpg"/><Relationship Id="rId5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hyperlink" Target="http://cs224w.stanford.edu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9" Type="http://schemas.openxmlformats.org/officeDocument/2006/relationships/image" Target="../media/image121.png"/><Relationship Id="rId10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25.jp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6.png"/><Relationship Id="rId3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8.png"/><Relationship Id="rId3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png"/><Relationship Id="rId3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jpg"/><Relationship Id="rId3" Type="http://schemas.openxmlformats.org/officeDocument/2006/relationships/image" Target="../media/image132.png"/><Relationship Id="rId4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3718559"/>
            <a:ext cx="6038088" cy="1292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758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3298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Intuition: </a:t>
            </a:r>
            <a:r>
              <a:rPr dirty="0"/>
              <a:t>Map </a:t>
            </a:r>
            <a:r>
              <a:rPr dirty="0" spc="-5"/>
              <a:t>nodes </a:t>
            </a:r>
            <a:r>
              <a:rPr dirty="0" spc="-15"/>
              <a:t>to </a:t>
            </a:r>
            <a:r>
              <a:rPr dirty="0" spc="0">
                <a:latin typeface="Cambria Math"/>
                <a:cs typeface="Cambria Math"/>
              </a:rPr>
              <a:t>𝑑</a:t>
            </a:r>
            <a:r>
              <a:rPr dirty="0" spc="0"/>
              <a:t>-dimensional  </a:t>
            </a:r>
            <a:r>
              <a:rPr dirty="0" spc="-5"/>
              <a:t>embeddings such </a:t>
            </a:r>
            <a:r>
              <a:rPr dirty="0" spc="-10"/>
              <a:t>that </a:t>
            </a:r>
            <a:r>
              <a:rPr dirty="0" spc="-5"/>
              <a:t>similar nodes </a:t>
            </a:r>
            <a:r>
              <a:rPr dirty="0"/>
              <a:t>in the  </a:t>
            </a:r>
            <a:r>
              <a:rPr dirty="0" spc="-15"/>
              <a:t>graph </a:t>
            </a:r>
            <a:r>
              <a:rPr dirty="0" spc="-20"/>
              <a:t>are </a:t>
            </a:r>
            <a:r>
              <a:rPr dirty="0" spc="-5"/>
              <a:t>embedded close</a:t>
            </a:r>
            <a:r>
              <a:rPr dirty="0" spc="50"/>
              <a:t> </a:t>
            </a:r>
            <a:r>
              <a:rPr dirty="0" spc="-15"/>
              <a:t>together</a:t>
            </a:r>
          </a:p>
        </p:txBody>
      </p:sp>
      <p:sp>
        <p:nvSpPr>
          <p:cNvPr id="4" name="object 4"/>
          <p:cNvSpPr/>
          <p:nvPr/>
        </p:nvSpPr>
        <p:spPr>
          <a:xfrm>
            <a:off x="1181932" y="3199965"/>
            <a:ext cx="2690102" cy="231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35346" y="3045409"/>
            <a:ext cx="3329146" cy="23266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13955" y="3042591"/>
            <a:ext cx="526415" cy="429895"/>
          </a:xfrm>
          <a:custGeom>
            <a:avLst/>
            <a:gdLst/>
            <a:ahLst/>
            <a:cxnLst/>
            <a:rect l="l" t="t" r="r" b="b"/>
            <a:pathLst>
              <a:path w="526414" h="429895">
                <a:moveTo>
                  <a:pt x="0" y="0"/>
                </a:moveTo>
                <a:lnTo>
                  <a:pt x="526031" y="0"/>
                </a:lnTo>
                <a:lnTo>
                  <a:pt x="526031" y="429468"/>
                </a:lnTo>
                <a:lnTo>
                  <a:pt x="0" y="4294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6123" y="2707132"/>
            <a:ext cx="8648700" cy="378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4270" algn="l"/>
              </a:tabLst>
            </a:pPr>
            <a:r>
              <a:rPr dirty="0" sz="16000" spc="-305">
                <a:latin typeface="Arial"/>
                <a:cs typeface="Arial"/>
              </a:rPr>
              <a:t>f</a:t>
            </a:r>
            <a:r>
              <a:rPr dirty="0" sz="16000" spc="-2955">
                <a:latin typeface="Arial"/>
                <a:cs typeface="Arial"/>
              </a:rPr>
              <a:t> </a:t>
            </a:r>
            <a:r>
              <a:rPr dirty="0" sz="16000" spc="-1475">
                <a:latin typeface="Arial"/>
                <a:cs typeface="Arial"/>
              </a:rPr>
              <a:t>(	</a:t>
            </a:r>
            <a:r>
              <a:rPr dirty="0" sz="16000" spc="50">
                <a:latin typeface="Arial"/>
                <a:cs typeface="Arial"/>
              </a:rPr>
              <a:t>)=</a:t>
            </a:r>
            <a:endParaRPr sz="16000">
              <a:latin typeface="Arial"/>
              <a:cs typeface="Arial"/>
            </a:endParaRPr>
          </a:p>
          <a:p>
            <a:pPr marL="1802764">
              <a:lnSpc>
                <a:spcPct val="100000"/>
              </a:lnSpc>
              <a:spcBef>
                <a:spcPts val="2605"/>
              </a:spcBef>
              <a:tabLst>
                <a:tab pos="5788660" algn="l"/>
              </a:tabLst>
            </a:pPr>
            <a:r>
              <a:rPr dirty="0" sz="2400" spc="-35">
                <a:solidFill>
                  <a:srgbClr val="7F7F7F"/>
                </a:solidFill>
                <a:latin typeface="Arial"/>
                <a:cs typeface="Arial"/>
              </a:rPr>
              <a:t>Input</a:t>
            </a:r>
            <a:r>
              <a:rPr dirty="0" sz="2400" spc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7F7F7F"/>
                </a:solidFill>
                <a:latin typeface="Arial"/>
                <a:cs typeface="Arial"/>
              </a:rPr>
              <a:t>graph	</a:t>
            </a:r>
            <a:r>
              <a:rPr dirty="0" baseline="2314" sz="3600" spc="-67">
                <a:solidFill>
                  <a:srgbClr val="7F7F7F"/>
                </a:solidFill>
                <a:latin typeface="Arial"/>
                <a:cs typeface="Arial"/>
              </a:rPr>
              <a:t>2D </a:t>
            </a:r>
            <a:r>
              <a:rPr dirty="0" baseline="2314" sz="3600" spc="-44">
                <a:solidFill>
                  <a:srgbClr val="7F7F7F"/>
                </a:solidFill>
                <a:latin typeface="Arial"/>
                <a:cs typeface="Arial"/>
              </a:rPr>
              <a:t>node</a:t>
            </a:r>
            <a:r>
              <a:rPr dirty="0" baseline="2314" sz="3600" spc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baseline="2314" sz="3600" spc="-44">
                <a:solidFill>
                  <a:srgbClr val="7F7F7F"/>
                </a:solidFill>
                <a:latin typeface="Arial"/>
                <a:cs typeface="Arial"/>
              </a:rPr>
              <a:t>embeddings</a:t>
            </a:r>
            <a:endParaRPr baseline="2314" sz="3600">
              <a:latin typeface="Arial"/>
              <a:cs typeface="Arial"/>
            </a:endParaRPr>
          </a:p>
          <a:p>
            <a:pPr marL="1742439">
              <a:lnSpc>
                <a:spcPct val="100000"/>
              </a:lnSpc>
              <a:spcBef>
                <a:spcPts val="1065"/>
              </a:spcBef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3200" spc="-5" b="1" u="heavy">
                <a:solidFill>
                  <a:srgbClr val="D60093"/>
                </a:solidFill>
                <a:latin typeface="Calibri"/>
                <a:cs typeface="Calibri"/>
              </a:rPr>
              <a:t>learn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 mapping function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D60093"/>
                </a:solidFill>
                <a:latin typeface="Cambria Math"/>
                <a:cs typeface="Cambria Math"/>
              </a:rPr>
              <a:t>𝒇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758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2320" y="2657929"/>
            <a:ext cx="7990185" cy="3451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637" y="1639316"/>
            <a:ext cx="10020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Goa</a:t>
            </a:r>
            <a:r>
              <a:rPr dirty="0" sz="3600" spc="-5"/>
              <a:t>l</a:t>
            </a:r>
            <a:r>
              <a:rPr dirty="0" sz="3600"/>
              <a:t>:</a:t>
            </a:r>
            <a:endParaRPr sz="3600"/>
          </a:p>
        </p:txBody>
      </p:sp>
      <p:sp>
        <p:nvSpPr>
          <p:cNvPr id="5" name="object 5"/>
          <p:cNvSpPr/>
          <p:nvPr/>
        </p:nvSpPr>
        <p:spPr>
          <a:xfrm>
            <a:off x="1906399" y="2609472"/>
            <a:ext cx="3342640" cy="541655"/>
          </a:xfrm>
          <a:custGeom>
            <a:avLst/>
            <a:gdLst/>
            <a:ahLst/>
            <a:cxnLst/>
            <a:rect l="l" t="t" r="r" b="b"/>
            <a:pathLst>
              <a:path w="3342640" h="541655">
                <a:moveTo>
                  <a:pt x="3318456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517097"/>
                </a:lnTo>
                <a:lnTo>
                  <a:pt x="1886" y="526439"/>
                </a:lnTo>
                <a:lnTo>
                  <a:pt x="7029" y="534067"/>
                </a:lnTo>
                <a:lnTo>
                  <a:pt x="14658" y="539211"/>
                </a:lnTo>
                <a:lnTo>
                  <a:pt x="24000" y="541097"/>
                </a:lnTo>
                <a:lnTo>
                  <a:pt x="3318456" y="541097"/>
                </a:lnTo>
                <a:lnTo>
                  <a:pt x="3327798" y="539211"/>
                </a:lnTo>
                <a:lnTo>
                  <a:pt x="3335426" y="534067"/>
                </a:lnTo>
                <a:lnTo>
                  <a:pt x="3340569" y="526439"/>
                </a:lnTo>
                <a:lnTo>
                  <a:pt x="3342455" y="517097"/>
                </a:lnTo>
                <a:lnTo>
                  <a:pt x="3342455" y="512297"/>
                </a:lnTo>
                <a:lnTo>
                  <a:pt x="28799" y="512297"/>
                </a:lnTo>
                <a:lnTo>
                  <a:pt x="28799" y="28799"/>
                </a:lnTo>
                <a:lnTo>
                  <a:pt x="3342455" y="28799"/>
                </a:lnTo>
                <a:lnTo>
                  <a:pt x="3342455" y="24000"/>
                </a:lnTo>
                <a:lnTo>
                  <a:pt x="3340569" y="14658"/>
                </a:lnTo>
                <a:lnTo>
                  <a:pt x="3335426" y="7029"/>
                </a:lnTo>
                <a:lnTo>
                  <a:pt x="3327798" y="1886"/>
                </a:lnTo>
                <a:lnTo>
                  <a:pt x="3318456" y="0"/>
                </a:lnTo>
                <a:close/>
              </a:path>
              <a:path w="3342640" h="541655">
                <a:moveTo>
                  <a:pt x="3342455" y="28799"/>
                </a:moveTo>
                <a:lnTo>
                  <a:pt x="3313656" y="28799"/>
                </a:lnTo>
                <a:lnTo>
                  <a:pt x="3313656" y="512297"/>
                </a:lnTo>
                <a:lnTo>
                  <a:pt x="3342455" y="512297"/>
                </a:lnTo>
                <a:lnTo>
                  <a:pt x="3342455" y="28799"/>
                </a:lnTo>
                <a:close/>
              </a:path>
              <a:path w="3342640" h="541655">
                <a:moveTo>
                  <a:pt x="3304056" y="38399"/>
                </a:moveTo>
                <a:lnTo>
                  <a:pt x="38399" y="38399"/>
                </a:lnTo>
                <a:lnTo>
                  <a:pt x="38399" y="502696"/>
                </a:lnTo>
                <a:lnTo>
                  <a:pt x="3304056" y="502696"/>
                </a:lnTo>
                <a:lnTo>
                  <a:pt x="3304056" y="493096"/>
                </a:lnTo>
                <a:lnTo>
                  <a:pt x="48000" y="493096"/>
                </a:lnTo>
                <a:lnTo>
                  <a:pt x="48000" y="47999"/>
                </a:lnTo>
                <a:lnTo>
                  <a:pt x="3304056" y="47999"/>
                </a:lnTo>
                <a:lnTo>
                  <a:pt x="3304056" y="38399"/>
                </a:lnTo>
                <a:close/>
              </a:path>
              <a:path w="3342640" h="541655">
                <a:moveTo>
                  <a:pt x="3304056" y="47999"/>
                </a:moveTo>
                <a:lnTo>
                  <a:pt x="3294456" y="47999"/>
                </a:lnTo>
                <a:lnTo>
                  <a:pt x="3294456" y="493096"/>
                </a:lnTo>
                <a:lnTo>
                  <a:pt x="3304056" y="493096"/>
                </a:lnTo>
                <a:lnTo>
                  <a:pt x="3304056" y="4799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36382" y="3585173"/>
            <a:ext cx="1250950" cy="422909"/>
          </a:xfrm>
          <a:custGeom>
            <a:avLst/>
            <a:gdLst/>
            <a:ahLst/>
            <a:cxnLst/>
            <a:rect l="l" t="t" r="r" b="b"/>
            <a:pathLst>
              <a:path w="1250950" h="422910">
                <a:moveTo>
                  <a:pt x="0" y="0"/>
                </a:moveTo>
                <a:lnTo>
                  <a:pt x="1250842" y="0"/>
                </a:lnTo>
                <a:lnTo>
                  <a:pt x="1250842" y="422494"/>
                </a:lnTo>
                <a:lnTo>
                  <a:pt x="0" y="422494"/>
                </a:lnTo>
                <a:lnTo>
                  <a:pt x="0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4012" y="5248997"/>
            <a:ext cx="1250950" cy="422909"/>
          </a:xfrm>
          <a:custGeom>
            <a:avLst/>
            <a:gdLst/>
            <a:ahLst/>
            <a:cxnLst/>
            <a:rect l="l" t="t" r="r" b="b"/>
            <a:pathLst>
              <a:path w="1250950" h="422910">
                <a:moveTo>
                  <a:pt x="0" y="0"/>
                </a:moveTo>
                <a:lnTo>
                  <a:pt x="1250843" y="0"/>
                </a:lnTo>
                <a:lnTo>
                  <a:pt x="1250843" y="422495"/>
                </a:lnTo>
                <a:lnTo>
                  <a:pt x="0" y="422495"/>
                </a:lnTo>
                <a:lnTo>
                  <a:pt x="0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9636" y="1680259"/>
            <a:ext cx="2689225" cy="519430"/>
          </a:xfrm>
          <a:custGeom>
            <a:avLst/>
            <a:gdLst/>
            <a:ahLst/>
            <a:cxnLst/>
            <a:rect l="l" t="t" r="r" b="b"/>
            <a:pathLst>
              <a:path w="2689225" h="519430">
                <a:moveTo>
                  <a:pt x="0" y="0"/>
                </a:moveTo>
                <a:lnTo>
                  <a:pt x="2688879" y="0"/>
                </a:lnTo>
                <a:lnTo>
                  <a:pt x="2688879" y="519068"/>
                </a:lnTo>
                <a:lnTo>
                  <a:pt x="0" y="519068"/>
                </a:lnTo>
                <a:lnTo>
                  <a:pt x="0" y="0"/>
                </a:lnTo>
                <a:close/>
              </a:path>
            </a:pathLst>
          </a:custGeom>
          <a:solidFill>
            <a:srgbClr val="6BB76D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29180" y="2577084"/>
            <a:ext cx="27774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solidFill>
                  <a:srgbClr val="C00000"/>
                </a:solidFill>
                <a:latin typeface="Arial"/>
                <a:cs typeface="Arial"/>
              </a:rPr>
              <a:t>Need to</a:t>
            </a:r>
            <a:r>
              <a:rPr dirty="0" sz="320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Arial"/>
                <a:cs typeface="Arial"/>
              </a:rPr>
              <a:t>define!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46789" y="3140157"/>
            <a:ext cx="637540" cy="394335"/>
          </a:xfrm>
          <a:custGeom>
            <a:avLst/>
            <a:gdLst/>
            <a:ahLst/>
            <a:cxnLst/>
            <a:rect l="l" t="t" r="r" b="b"/>
            <a:pathLst>
              <a:path w="637539" h="394335">
                <a:moveTo>
                  <a:pt x="567436" y="362640"/>
                </a:moveTo>
                <a:lnTo>
                  <a:pt x="552521" y="387013"/>
                </a:lnTo>
                <a:lnTo>
                  <a:pt x="637402" y="394291"/>
                </a:lnTo>
                <a:lnTo>
                  <a:pt x="623500" y="372016"/>
                </a:lnTo>
                <a:lnTo>
                  <a:pt x="582756" y="372016"/>
                </a:lnTo>
                <a:lnTo>
                  <a:pt x="567436" y="362640"/>
                </a:lnTo>
                <a:close/>
              </a:path>
              <a:path w="637539" h="394335">
                <a:moveTo>
                  <a:pt x="577380" y="346391"/>
                </a:moveTo>
                <a:lnTo>
                  <a:pt x="567436" y="362640"/>
                </a:lnTo>
                <a:lnTo>
                  <a:pt x="582756" y="372016"/>
                </a:lnTo>
                <a:lnTo>
                  <a:pt x="588619" y="370603"/>
                </a:lnTo>
                <a:lnTo>
                  <a:pt x="594111" y="361629"/>
                </a:lnTo>
                <a:lnTo>
                  <a:pt x="592700" y="355766"/>
                </a:lnTo>
                <a:lnTo>
                  <a:pt x="577380" y="346391"/>
                </a:lnTo>
                <a:close/>
              </a:path>
              <a:path w="637539" h="394335">
                <a:moveTo>
                  <a:pt x="592296" y="322018"/>
                </a:moveTo>
                <a:lnTo>
                  <a:pt x="577380" y="346391"/>
                </a:lnTo>
                <a:lnTo>
                  <a:pt x="592700" y="355766"/>
                </a:lnTo>
                <a:lnTo>
                  <a:pt x="594111" y="361629"/>
                </a:lnTo>
                <a:lnTo>
                  <a:pt x="588619" y="370603"/>
                </a:lnTo>
                <a:lnTo>
                  <a:pt x="582756" y="372016"/>
                </a:lnTo>
                <a:lnTo>
                  <a:pt x="623500" y="372016"/>
                </a:lnTo>
                <a:lnTo>
                  <a:pt x="592296" y="322018"/>
                </a:lnTo>
                <a:close/>
              </a:path>
              <a:path w="637539" h="394335">
                <a:moveTo>
                  <a:pt x="11355" y="0"/>
                </a:moveTo>
                <a:lnTo>
                  <a:pt x="5491" y="1412"/>
                </a:lnTo>
                <a:lnTo>
                  <a:pt x="0" y="10386"/>
                </a:lnTo>
                <a:lnTo>
                  <a:pt x="1410" y="16248"/>
                </a:lnTo>
                <a:lnTo>
                  <a:pt x="567436" y="362640"/>
                </a:lnTo>
                <a:lnTo>
                  <a:pt x="577380" y="346391"/>
                </a:lnTo>
                <a:lnTo>
                  <a:pt x="1135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77018" y="3115933"/>
            <a:ext cx="608330" cy="1945639"/>
          </a:xfrm>
          <a:custGeom>
            <a:avLst/>
            <a:gdLst/>
            <a:ahLst/>
            <a:cxnLst/>
            <a:rect l="l" t="t" r="r" b="b"/>
            <a:pathLst>
              <a:path w="608329" h="1945639">
                <a:moveTo>
                  <a:pt x="562154" y="1875375"/>
                </a:moveTo>
                <a:lnTo>
                  <a:pt x="534793" y="1883614"/>
                </a:lnTo>
                <a:lnTo>
                  <a:pt x="593244" y="1945594"/>
                </a:lnTo>
                <a:lnTo>
                  <a:pt x="601917" y="1895426"/>
                </a:lnTo>
                <a:lnTo>
                  <a:pt x="572645" y="1895426"/>
                </a:lnTo>
                <a:lnTo>
                  <a:pt x="567331" y="1892571"/>
                </a:lnTo>
                <a:lnTo>
                  <a:pt x="562154" y="1875375"/>
                </a:lnTo>
                <a:close/>
              </a:path>
              <a:path w="608329" h="1945639">
                <a:moveTo>
                  <a:pt x="580395" y="1869883"/>
                </a:moveTo>
                <a:lnTo>
                  <a:pt x="562154" y="1875375"/>
                </a:lnTo>
                <a:lnTo>
                  <a:pt x="567331" y="1892571"/>
                </a:lnTo>
                <a:lnTo>
                  <a:pt x="572645" y="1895426"/>
                </a:lnTo>
                <a:lnTo>
                  <a:pt x="582719" y="1892392"/>
                </a:lnTo>
                <a:lnTo>
                  <a:pt x="585572" y="1887080"/>
                </a:lnTo>
                <a:lnTo>
                  <a:pt x="580395" y="1869883"/>
                </a:lnTo>
                <a:close/>
              </a:path>
              <a:path w="608329" h="1945639">
                <a:moveTo>
                  <a:pt x="607757" y="1861644"/>
                </a:moveTo>
                <a:lnTo>
                  <a:pt x="580395" y="1869883"/>
                </a:lnTo>
                <a:lnTo>
                  <a:pt x="585572" y="1887080"/>
                </a:lnTo>
                <a:lnTo>
                  <a:pt x="582719" y="1892392"/>
                </a:lnTo>
                <a:lnTo>
                  <a:pt x="572645" y="1895426"/>
                </a:lnTo>
                <a:lnTo>
                  <a:pt x="601917" y="1895426"/>
                </a:lnTo>
                <a:lnTo>
                  <a:pt x="607757" y="1861644"/>
                </a:lnTo>
                <a:close/>
              </a:path>
              <a:path w="608329" h="1945639">
                <a:moveTo>
                  <a:pt x="12928" y="0"/>
                </a:moveTo>
                <a:lnTo>
                  <a:pt x="2853" y="3032"/>
                </a:lnTo>
                <a:lnTo>
                  <a:pt x="0" y="8346"/>
                </a:lnTo>
                <a:lnTo>
                  <a:pt x="562154" y="1875375"/>
                </a:lnTo>
                <a:lnTo>
                  <a:pt x="580395" y="1869883"/>
                </a:lnTo>
                <a:lnTo>
                  <a:pt x="18241" y="2853"/>
                </a:lnTo>
                <a:lnTo>
                  <a:pt x="129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28048" y="2216727"/>
            <a:ext cx="408940" cy="430530"/>
          </a:xfrm>
          <a:custGeom>
            <a:avLst/>
            <a:gdLst/>
            <a:ahLst/>
            <a:cxnLst/>
            <a:rect l="l" t="t" r="r" b="b"/>
            <a:pathLst>
              <a:path w="408939" h="430530">
                <a:moveTo>
                  <a:pt x="59343" y="48738"/>
                </a:moveTo>
                <a:lnTo>
                  <a:pt x="45520" y="61846"/>
                </a:lnTo>
                <a:lnTo>
                  <a:pt x="394863" y="430246"/>
                </a:lnTo>
                <a:lnTo>
                  <a:pt x="400892" y="430408"/>
                </a:lnTo>
                <a:lnTo>
                  <a:pt x="408525" y="423167"/>
                </a:lnTo>
                <a:lnTo>
                  <a:pt x="408686" y="417139"/>
                </a:lnTo>
                <a:lnTo>
                  <a:pt x="59343" y="48738"/>
                </a:lnTo>
                <a:close/>
              </a:path>
              <a:path w="408939" h="430530">
                <a:moveTo>
                  <a:pt x="0" y="0"/>
                </a:moveTo>
                <a:lnTo>
                  <a:pt x="24785" y="81508"/>
                </a:lnTo>
                <a:lnTo>
                  <a:pt x="45520" y="61846"/>
                </a:lnTo>
                <a:lnTo>
                  <a:pt x="33162" y="48813"/>
                </a:lnTo>
                <a:lnTo>
                  <a:pt x="33322" y="42785"/>
                </a:lnTo>
                <a:lnTo>
                  <a:pt x="40956" y="35546"/>
                </a:lnTo>
                <a:lnTo>
                  <a:pt x="73256" y="35546"/>
                </a:lnTo>
                <a:lnTo>
                  <a:pt x="80078" y="29076"/>
                </a:lnTo>
                <a:lnTo>
                  <a:pt x="0" y="0"/>
                </a:lnTo>
                <a:close/>
              </a:path>
              <a:path w="408939" h="430530">
                <a:moveTo>
                  <a:pt x="40956" y="35546"/>
                </a:moveTo>
                <a:lnTo>
                  <a:pt x="33322" y="42785"/>
                </a:lnTo>
                <a:lnTo>
                  <a:pt x="33162" y="48813"/>
                </a:lnTo>
                <a:lnTo>
                  <a:pt x="45520" y="61846"/>
                </a:lnTo>
                <a:lnTo>
                  <a:pt x="59343" y="48738"/>
                </a:lnTo>
                <a:lnTo>
                  <a:pt x="46984" y="35706"/>
                </a:lnTo>
                <a:lnTo>
                  <a:pt x="40956" y="35546"/>
                </a:lnTo>
                <a:close/>
              </a:path>
              <a:path w="408939" h="430530">
                <a:moveTo>
                  <a:pt x="73256" y="35546"/>
                </a:moveTo>
                <a:lnTo>
                  <a:pt x="40956" y="35546"/>
                </a:lnTo>
                <a:lnTo>
                  <a:pt x="46984" y="35706"/>
                </a:lnTo>
                <a:lnTo>
                  <a:pt x="59343" y="48738"/>
                </a:lnTo>
                <a:lnTo>
                  <a:pt x="73256" y="3554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7315" y="5769292"/>
            <a:ext cx="2964815" cy="508000"/>
          </a:xfrm>
          <a:custGeom>
            <a:avLst/>
            <a:gdLst/>
            <a:ahLst/>
            <a:cxnLst/>
            <a:rect l="l" t="t" r="r" b="b"/>
            <a:pathLst>
              <a:path w="2964815" h="508000">
                <a:moveTo>
                  <a:pt x="0" y="0"/>
                </a:moveTo>
                <a:lnTo>
                  <a:pt x="2964570" y="0"/>
                </a:lnTo>
                <a:lnTo>
                  <a:pt x="296457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51706" y="5836411"/>
            <a:ext cx="1855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Input</a:t>
            </a:r>
            <a:r>
              <a:rPr dirty="0" sz="24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network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77993" y="5671491"/>
            <a:ext cx="3113405" cy="508000"/>
          </a:xfrm>
          <a:custGeom>
            <a:avLst/>
            <a:gdLst/>
            <a:ahLst/>
            <a:cxnLst/>
            <a:rect l="l" t="t" r="r" b="b"/>
            <a:pathLst>
              <a:path w="3113404" h="508000">
                <a:moveTo>
                  <a:pt x="0" y="0"/>
                </a:moveTo>
                <a:lnTo>
                  <a:pt x="3112923" y="0"/>
                </a:lnTo>
                <a:lnTo>
                  <a:pt x="3112923" y="507999"/>
                </a:lnTo>
                <a:lnTo>
                  <a:pt x="0" y="5079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890905" y="5693155"/>
            <a:ext cx="243522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211454">
              <a:lnSpc>
                <a:spcPct val="100800"/>
              </a:lnSpc>
              <a:spcBef>
                <a:spcPts val="75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d-dimensional  embedding</a:t>
            </a:r>
            <a:r>
              <a:rPr dirty="0" sz="2400" spc="-10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space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86780" y="1754839"/>
            <a:ext cx="894715" cy="376555"/>
          </a:xfrm>
          <a:custGeom>
            <a:avLst/>
            <a:gdLst/>
            <a:ahLst/>
            <a:cxnLst/>
            <a:rect l="l" t="t" r="r" b="b"/>
            <a:pathLst>
              <a:path w="894714" h="376555">
                <a:moveTo>
                  <a:pt x="774042" y="0"/>
                </a:moveTo>
                <a:lnTo>
                  <a:pt x="768684" y="15279"/>
                </a:lnTo>
                <a:lnTo>
                  <a:pt x="790474" y="24736"/>
                </a:lnTo>
                <a:lnTo>
                  <a:pt x="809214" y="37826"/>
                </a:lnTo>
                <a:lnTo>
                  <a:pt x="837542" y="74909"/>
                </a:lnTo>
                <a:lnTo>
                  <a:pt x="854210" y="124940"/>
                </a:lnTo>
                <a:lnTo>
                  <a:pt x="859767" y="186333"/>
                </a:lnTo>
                <a:lnTo>
                  <a:pt x="858371" y="219533"/>
                </a:lnTo>
                <a:lnTo>
                  <a:pt x="847209" y="276783"/>
                </a:lnTo>
                <a:lnTo>
                  <a:pt x="824811" y="321493"/>
                </a:lnTo>
                <a:lnTo>
                  <a:pt x="790729" y="351655"/>
                </a:lnTo>
                <a:lnTo>
                  <a:pt x="769279" y="361156"/>
                </a:lnTo>
                <a:lnTo>
                  <a:pt x="774042" y="376435"/>
                </a:lnTo>
                <a:lnTo>
                  <a:pt x="825387" y="352350"/>
                </a:lnTo>
                <a:lnTo>
                  <a:pt x="863140" y="310653"/>
                </a:lnTo>
                <a:lnTo>
                  <a:pt x="886357" y="254818"/>
                </a:lnTo>
                <a:lnTo>
                  <a:pt x="894096" y="188316"/>
                </a:lnTo>
                <a:lnTo>
                  <a:pt x="892155" y="153807"/>
                </a:lnTo>
                <a:lnTo>
                  <a:pt x="876627" y="92639"/>
                </a:lnTo>
                <a:lnTo>
                  <a:pt x="845832" y="42843"/>
                </a:lnTo>
                <a:lnTo>
                  <a:pt x="801333" y="9853"/>
                </a:lnTo>
                <a:lnTo>
                  <a:pt x="774042" y="0"/>
                </a:lnTo>
                <a:close/>
              </a:path>
              <a:path w="894714" h="376555">
                <a:moveTo>
                  <a:pt x="120055" y="0"/>
                </a:moveTo>
                <a:lnTo>
                  <a:pt x="68833" y="24134"/>
                </a:lnTo>
                <a:lnTo>
                  <a:pt x="31056" y="65980"/>
                </a:lnTo>
                <a:lnTo>
                  <a:pt x="7764" y="121915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3" y="366594"/>
                </a:lnTo>
                <a:lnTo>
                  <a:pt x="120055" y="376435"/>
                </a:lnTo>
                <a:lnTo>
                  <a:pt x="124818" y="361156"/>
                </a:lnTo>
                <a:lnTo>
                  <a:pt x="103368" y="351655"/>
                </a:lnTo>
                <a:lnTo>
                  <a:pt x="84857" y="338435"/>
                </a:lnTo>
                <a:lnTo>
                  <a:pt x="56654" y="300831"/>
                </a:lnTo>
                <a:lnTo>
                  <a:pt x="39911" y="249683"/>
                </a:lnTo>
                <a:lnTo>
                  <a:pt x="34330" y="186333"/>
                </a:lnTo>
                <a:lnTo>
                  <a:pt x="35725" y="154216"/>
                </a:lnTo>
                <a:lnTo>
                  <a:pt x="46887" y="98505"/>
                </a:lnTo>
                <a:lnTo>
                  <a:pt x="69323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539636" y="1641348"/>
            <a:ext cx="26892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  <a:tabLst>
                <a:tab pos="1879600" algn="l"/>
              </a:tabLst>
            </a:pPr>
            <a:r>
              <a:rPr dirty="0" sz="3200" spc="-5">
                <a:latin typeface="Cambria Math"/>
                <a:cs typeface="Cambria Math"/>
              </a:rPr>
              <a:t>similarity	</a:t>
            </a:r>
            <a:r>
              <a:rPr dirty="0" sz="3200" spc="30">
                <a:latin typeface="Cambria Math"/>
                <a:cs typeface="Cambria Math"/>
              </a:rPr>
              <a:t>𝑢,</a:t>
            </a:r>
            <a:r>
              <a:rPr dirty="0" sz="3200" spc="-254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𝑣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05683" y="1641348"/>
            <a:ext cx="13290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0245" algn="l"/>
              </a:tabLst>
            </a:pPr>
            <a:r>
              <a:rPr dirty="0" sz="3200">
                <a:latin typeface="Cambria Math"/>
                <a:cs typeface="Cambria Math"/>
              </a:rPr>
              <a:t>≈	</a:t>
            </a:r>
            <a:r>
              <a:rPr dirty="0" sz="3200" spc="260">
                <a:latin typeface="Cambria Math"/>
                <a:cs typeface="Cambria Math"/>
              </a:rPr>
              <a:t>𝐳</a:t>
            </a:r>
            <a:r>
              <a:rPr dirty="0" baseline="28985" sz="3450" spc="390">
                <a:latin typeface="Cambria Math"/>
                <a:cs typeface="Cambria Math"/>
              </a:rPr>
              <a:t>"</a:t>
            </a:r>
            <a:r>
              <a:rPr dirty="0" sz="3200" spc="260">
                <a:latin typeface="Cambria Math"/>
                <a:cs typeface="Cambria Math"/>
              </a:rPr>
              <a:t>𝐳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83761" y="1837944"/>
            <a:ext cx="6400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</a:tabLst>
            </a:pPr>
            <a:r>
              <a:rPr dirty="0" sz="2300" spc="635">
                <a:latin typeface="Cambria Math"/>
                <a:cs typeface="Cambria Math"/>
              </a:rPr>
              <a:t>!</a:t>
            </a:r>
            <a:r>
              <a:rPr dirty="0" sz="2300" spc="635">
                <a:latin typeface="Cambria Math"/>
                <a:cs typeface="Cambria Math"/>
              </a:rPr>
              <a:t>	</a:t>
            </a:r>
            <a:r>
              <a:rPr dirty="0" sz="2300" spc="60">
                <a:latin typeface="Cambria Math"/>
                <a:cs typeface="Cambria Math"/>
              </a:rPr>
              <a:t>#</a:t>
            </a:r>
            <a:endParaRPr sz="2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71856"/>
            <a:ext cx="7031735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724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Encoder: </a:t>
            </a:r>
            <a:r>
              <a:rPr dirty="0" spc="-5"/>
              <a:t>maps each node </a:t>
            </a:r>
            <a:r>
              <a:rPr dirty="0" spc="-15"/>
              <a:t>to </a:t>
            </a:r>
            <a:r>
              <a:rPr dirty="0"/>
              <a:t>a</a:t>
            </a:r>
            <a:r>
              <a:rPr dirty="0" spc="55"/>
              <a:t> </a:t>
            </a:r>
            <a:r>
              <a:rPr dirty="0" spc="-10"/>
              <a:t>low-dimensional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8149" y="1830324"/>
            <a:ext cx="10680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0">
                <a:latin typeface="Calibri"/>
                <a:cs typeface="Calibri"/>
              </a:rPr>
              <a:t>v</a:t>
            </a:r>
            <a:r>
              <a:rPr dirty="0" sz="3200" spc="-5">
                <a:latin typeface="Calibri"/>
                <a:cs typeface="Calibri"/>
              </a:rPr>
              <a:t>ec</a:t>
            </a:r>
            <a:r>
              <a:rPr dirty="0" sz="3200" spc="-3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or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8780" y="5792215"/>
            <a:ext cx="3920490" cy="842644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054100" marR="5080" indent="-1042035">
              <a:lnSpc>
                <a:spcPts val="3190"/>
              </a:lnSpc>
              <a:spcBef>
                <a:spcPts val="245"/>
              </a:spcBef>
            </a:pPr>
            <a:r>
              <a:rPr dirty="0" sz="2700" spc="10">
                <a:solidFill>
                  <a:srgbClr val="5A6378"/>
                </a:solidFill>
                <a:latin typeface="Arial"/>
                <a:cs typeface="Arial"/>
              </a:rPr>
              <a:t>dot </a:t>
            </a:r>
            <a:r>
              <a:rPr dirty="0" sz="2700" spc="-10">
                <a:solidFill>
                  <a:srgbClr val="5A6378"/>
                </a:solidFill>
                <a:latin typeface="Arial"/>
                <a:cs typeface="Arial"/>
              </a:rPr>
              <a:t>product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between</a:t>
            </a:r>
            <a:r>
              <a:rPr dirty="0" sz="2700" spc="-140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700" spc="-50">
                <a:solidFill>
                  <a:srgbClr val="5A6378"/>
                </a:solidFill>
                <a:latin typeface="Arial"/>
                <a:cs typeface="Arial"/>
              </a:rPr>
              <a:t>node 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embeddings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27531" y="5562601"/>
            <a:ext cx="266700" cy="254000"/>
          </a:xfrm>
          <a:custGeom>
            <a:avLst/>
            <a:gdLst/>
            <a:ahLst/>
            <a:cxnLst/>
            <a:rect l="l" t="t" r="r" b="b"/>
            <a:pathLst>
              <a:path w="266700" h="254000">
                <a:moveTo>
                  <a:pt x="57379" y="50241"/>
                </a:moveTo>
                <a:lnTo>
                  <a:pt x="53000" y="54840"/>
                </a:lnTo>
                <a:lnTo>
                  <a:pt x="261839" y="253660"/>
                </a:lnTo>
                <a:lnTo>
                  <a:pt x="263850" y="253610"/>
                </a:lnTo>
                <a:lnTo>
                  <a:pt x="266268" y="251070"/>
                </a:lnTo>
                <a:lnTo>
                  <a:pt x="266218" y="249061"/>
                </a:lnTo>
                <a:lnTo>
                  <a:pt x="57379" y="50241"/>
                </a:lnTo>
                <a:close/>
              </a:path>
              <a:path w="266700" h="254000">
                <a:moveTo>
                  <a:pt x="0" y="0"/>
                </a:moveTo>
                <a:lnTo>
                  <a:pt x="28919" y="80135"/>
                </a:lnTo>
                <a:lnTo>
                  <a:pt x="53000" y="54840"/>
                </a:lnTo>
                <a:lnTo>
                  <a:pt x="42532" y="44874"/>
                </a:lnTo>
                <a:lnTo>
                  <a:pt x="42482" y="42864"/>
                </a:lnTo>
                <a:lnTo>
                  <a:pt x="44900" y="40324"/>
                </a:lnTo>
                <a:lnTo>
                  <a:pt x="46911" y="40275"/>
                </a:lnTo>
                <a:lnTo>
                  <a:pt x="66867" y="40275"/>
                </a:lnTo>
                <a:lnTo>
                  <a:pt x="81460" y="24946"/>
                </a:lnTo>
                <a:lnTo>
                  <a:pt x="0" y="0"/>
                </a:lnTo>
                <a:close/>
              </a:path>
              <a:path w="266700" h="254000">
                <a:moveTo>
                  <a:pt x="46911" y="40275"/>
                </a:moveTo>
                <a:lnTo>
                  <a:pt x="44900" y="40324"/>
                </a:lnTo>
                <a:lnTo>
                  <a:pt x="42482" y="42864"/>
                </a:lnTo>
                <a:lnTo>
                  <a:pt x="42532" y="44874"/>
                </a:lnTo>
                <a:lnTo>
                  <a:pt x="53000" y="54840"/>
                </a:lnTo>
                <a:lnTo>
                  <a:pt x="57379" y="50241"/>
                </a:lnTo>
                <a:lnTo>
                  <a:pt x="46911" y="40275"/>
                </a:lnTo>
                <a:close/>
              </a:path>
              <a:path w="266700" h="254000">
                <a:moveTo>
                  <a:pt x="66867" y="40275"/>
                </a:moveTo>
                <a:lnTo>
                  <a:pt x="46911" y="40275"/>
                </a:lnTo>
                <a:lnTo>
                  <a:pt x="57379" y="50241"/>
                </a:lnTo>
                <a:lnTo>
                  <a:pt x="66867" y="40275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91504" y="5560298"/>
            <a:ext cx="539750" cy="256540"/>
          </a:xfrm>
          <a:custGeom>
            <a:avLst/>
            <a:gdLst/>
            <a:ahLst/>
            <a:cxnLst/>
            <a:rect l="l" t="t" r="r" b="b"/>
            <a:pathLst>
              <a:path w="539750" h="256539">
                <a:moveTo>
                  <a:pt x="70393" y="31648"/>
                </a:moveTo>
                <a:lnTo>
                  <a:pt x="67707" y="37402"/>
                </a:lnTo>
                <a:lnTo>
                  <a:pt x="536274" y="256072"/>
                </a:lnTo>
                <a:lnTo>
                  <a:pt x="538163" y="255385"/>
                </a:lnTo>
                <a:lnTo>
                  <a:pt x="539645" y="252207"/>
                </a:lnTo>
                <a:lnTo>
                  <a:pt x="538960" y="250318"/>
                </a:lnTo>
                <a:lnTo>
                  <a:pt x="70393" y="31648"/>
                </a:lnTo>
                <a:close/>
              </a:path>
              <a:path w="539750" h="256539">
                <a:moveTo>
                  <a:pt x="85162" y="0"/>
                </a:moveTo>
                <a:lnTo>
                  <a:pt x="0" y="2301"/>
                </a:lnTo>
                <a:lnTo>
                  <a:pt x="52938" y="69051"/>
                </a:lnTo>
                <a:lnTo>
                  <a:pt x="67707" y="37402"/>
                </a:lnTo>
                <a:lnTo>
                  <a:pt x="54610" y="31290"/>
                </a:lnTo>
                <a:lnTo>
                  <a:pt x="53922" y="29401"/>
                </a:lnTo>
                <a:lnTo>
                  <a:pt x="55406" y="26222"/>
                </a:lnTo>
                <a:lnTo>
                  <a:pt x="57296" y="25535"/>
                </a:lnTo>
                <a:lnTo>
                  <a:pt x="73245" y="25535"/>
                </a:lnTo>
                <a:lnTo>
                  <a:pt x="85162" y="0"/>
                </a:lnTo>
                <a:close/>
              </a:path>
              <a:path w="539750" h="256539">
                <a:moveTo>
                  <a:pt x="57296" y="25535"/>
                </a:moveTo>
                <a:lnTo>
                  <a:pt x="55406" y="26222"/>
                </a:lnTo>
                <a:lnTo>
                  <a:pt x="53922" y="29401"/>
                </a:lnTo>
                <a:lnTo>
                  <a:pt x="54610" y="31290"/>
                </a:lnTo>
                <a:lnTo>
                  <a:pt x="67707" y="37402"/>
                </a:lnTo>
                <a:lnTo>
                  <a:pt x="70393" y="31648"/>
                </a:lnTo>
                <a:lnTo>
                  <a:pt x="57296" y="25535"/>
                </a:lnTo>
                <a:close/>
              </a:path>
              <a:path w="539750" h="256539">
                <a:moveTo>
                  <a:pt x="73245" y="25535"/>
                </a:moveTo>
                <a:lnTo>
                  <a:pt x="57296" y="25535"/>
                </a:lnTo>
                <a:lnTo>
                  <a:pt x="70393" y="31648"/>
                </a:lnTo>
                <a:lnTo>
                  <a:pt x="73245" y="25535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13100" y="5652656"/>
            <a:ext cx="311785" cy="163830"/>
          </a:xfrm>
          <a:custGeom>
            <a:avLst/>
            <a:gdLst/>
            <a:ahLst/>
            <a:cxnLst/>
            <a:rect l="l" t="t" r="r" b="b"/>
            <a:pathLst>
              <a:path w="311785" h="163829">
                <a:moveTo>
                  <a:pt x="242435" y="32337"/>
                </a:moveTo>
                <a:lnTo>
                  <a:pt x="605" y="158087"/>
                </a:lnTo>
                <a:lnTo>
                  <a:pt x="0" y="160005"/>
                </a:lnTo>
                <a:lnTo>
                  <a:pt x="1617" y="163116"/>
                </a:lnTo>
                <a:lnTo>
                  <a:pt x="3535" y="163721"/>
                </a:lnTo>
                <a:lnTo>
                  <a:pt x="245365" y="37971"/>
                </a:lnTo>
                <a:lnTo>
                  <a:pt x="242435" y="32337"/>
                </a:lnTo>
                <a:close/>
              </a:path>
              <a:path w="311785" h="163829">
                <a:moveTo>
                  <a:pt x="292882" y="25669"/>
                </a:moveTo>
                <a:lnTo>
                  <a:pt x="255258" y="25669"/>
                </a:lnTo>
                <a:lnTo>
                  <a:pt x="257176" y="26275"/>
                </a:lnTo>
                <a:lnTo>
                  <a:pt x="258794" y="29386"/>
                </a:lnTo>
                <a:lnTo>
                  <a:pt x="258188" y="31303"/>
                </a:lnTo>
                <a:lnTo>
                  <a:pt x="245365" y="37971"/>
                </a:lnTo>
                <a:lnTo>
                  <a:pt x="261477" y="68957"/>
                </a:lnTo>
                <a:lnTo>
                  <a:pt x="292882" y="25669"/>
                </a:lnTo>
                <a:close/>
              </a:path>
              <a:path w="311785" h="163829">
                <a:moveTo>
                  <a:pt x="255258" y="25669"/>
                </a:moveTo>
                <a:lnTo>
                  <a:pt x="242435" y="32337"/>
                </a:lnTo>
                <a:lnTo>
                  <a:pt x="245365" y="37971"/>
                </a:lnTo>
                <a:lnTo>
                  <a:pt x="258188" y="31303"/>
                </a:lnTo>
                <a:lnTo>
                  <a:pt x="258794" y="29386"/>
                </a:lnTo>
                <a:lnTo>
                  <a:pt x="257176" y="26275"/>
                </a:lnTo>
                <a:lnTo>
                  <a:pt x="255258" y="25669"/>
                </a:lnTo>
                <a:close/>
              </a:path>
              <a:path w="311785" h="163829">
                <a:moveTo>
                  <a:pt x="311505" y="0"/>
                </a:moveTo>
                <a:lnTo>
                  <a:pt x="226322" y="1351"/>
                </a:lnTo>
                <a:lnTo>
                  <a:pt x="242435" y="32337"/>
                </a:lnTo>
                <a:lnTo>
                  <a:pt x="255258" y="25669"/>
                </a:lnTo>
                <a:lnTo>
                  <a:pt x="292882" y="25669"/>
                </a:lnTo>
                <a:lnTo>
                  <a:pt x="311505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79469" y="5079492"/>
            <a:ext cx="16497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dirty="0" sz="3200" spc="-5" b="1">
                <a:solidFill>
                  <a:srgbClr val="C00000"/>
                </a:solidFill>
                <a:latin typeface="Arial"/>
                <a:cs typeface="Arial"/>
              </a:rPr>
              <a:t>ecode</a:t>
            </a:r>
            <a:r>
              <a:rPr dirty="0" sz="3200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4044" y="2484988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60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8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7" y="164650"/>
                </a:lnTo>
                <a:lnTo>
                  <a:pt x="338306" y="207587"/>
                </a:lnTo>
                <a:lnTo>
                  <a:pt x="309827" y="253826"/>
                </a:lnTo>
                <a:lnTo>
                  <a:pt x="279858" y="270866"/>
                </a:lnTo>
                <a:lnTo>
                  <a:pt x="283429" y="282327"/>
                </a:lnTo>
                <a:lnTo>
                  <a:pt x="321939" y="264263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680517" y="2395220"/>
            <a:ext cx="1318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230" algn="l"/>
              </a:tabLst>
            </a:pPr>
            <a:r>
              <a:rPr dirty="0" sz="2400" spc="-10">
                <a:latin typeface="Cambria Math"/>
                <a:cs typeface="Cambria Math"/>
              </a:rPr>
              <a:t>E</a:t>
            </a:r>
            <a:r>
              <a:rPr dirty="0" sz="2400">
                <a:latin typeface="Cambria Math"/>
                <a:cs typeface="Cambria Math"/>
              </a:rPr>
              <a:t>NC 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𝑣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0596" y="2423100"/>
            <a:ext cx="280670" cy="404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60"/>
              </a:lnSpc>
            </a:pPr>
            <a:r>
              <a:rPr dirty="0" sz="2400">
                <a:latin typeface="Cambria Math"/>
                <a:cs typeface="Cambria Math"/>
              </a:rPr>
              <a:t>𝐳</a:t>
            </a:r>
            <a:r>
              <a:rPr dirty="0" baseline="-15432" sz="2700" spc="750">
                <a:latin typeface="Cambria Math"/>
                <a:cs typeface="Cambria Math"/>
              </a:rPr>
              <a:t>!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17242" y="5153771"/>
            <a:ext cx="894715" cy="376555"/>
          </a:xfrm>
          <a:custGeom>
            <a:avLst/>
            <a:gdLst/>
            <a:ahLst/>
            <a:cxnLst/>
            <a:rect l="l" t="t" r="r" b="b"/>
            <a:pathLst>
              <a:path w="894714" h="376554">
                <a:moveTo>
                  <a:pt x="774040" y="0"/>
                </a:moveTo>
                <a:lnTo>
                  <a:pt x="768682" y="15279"/>
                </a:lnTo>
                <a:lnTo>
                  <a:pt x="790473" y="24736"/>
                </a:lnTo>
                <a:lnTo>
                  <a:pt x="809213" y="37826"/>
                </a:lnTo>
                <a:lnTo>
                  <a:pt x="837540" y="74909"/>
                </a:lnTo>
                <a:lnTo>
                  <a:pt x="854209" y="124941"/>
                </a:lnTo>
                <a:lnTo>
                  <a:pt x="859765" y="186333"/>
                </a:lnTo>
                <a:lnTo>
                  <a:pt x="858370" y="219533"/>
                </a:lnTo>
                <a:lnTo>
                  <a:pt x="847208" y="276783"/>
                </a:lnTo>
                <a:lnTo>
                  <a:pt x="824809" y="321493"/>
                </a:lnTo>
                <a:lnTo>
                  <a:pt x="790727" y="351655"/>
                </a:lnTo>
                <a:lnTo>
                  <a:pt x="769278" y="361156"/>
                </a:lnTo>
                <a:lnTo>
                  <a:pt x="774040" y="376435"/>
                </a:lnTo>
                <a:lnTo>
                  <a:pt x="825386" y="352350"/>
                </a:lnTo>
                <a:lnTo>
                  <a:pt x="863138" y="310653"/>
                </a:lnTo>
                <a:lnTo>
                  <a:pt x="886356" y="254818"/>
                </a:lnTo>
                <a:lnTo>
                  <a:pt x="894095" y="188316"/>
                </a:lnTo>
                <a:lnTo>
                  <a:pt x="892154" y="153807"/>
                </a:lnTo>
                <a:lnTo>
                  <a:pt x="876626" y="92639"/>
                </a:lnTo>
                <a:lnTo>
                  <a:pt x="845831" y="42844"/>
                </a:lnTo>
                <a:lnTo>
                  <a:pt x="801331" y="9853"/>
                </a:lnTo>
                <a:lnTo>
                  <a:pt x="774040" y="0"/>
                </a:lnTo>
                <a:close/>
              </a:path>
              <a:path w="894714" h="376554">
                <a:moveTo>
                  <a:pt x="120054" y="0"/>
                </a:moveTo>
                <a:lnTo>
                  <a:pt x="68832" y="24135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6"/>
                </a:lnTo>
                <a:lnTo>
                  <a:pt x="1934" y="222901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3"/>
                </a:lnTo>
                <a:lnTo>
                  <a:pt x="35724" y="154217"/>
                </a:lnTo>
                <a:lnTo>
                  <a:pt x="46886" y="98505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79125" y="4849010"/>
            <a:ext cx="4000500" cy="1685289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marL="1530350">
              <a:lnSpc>
                <a:spcPct val="100000"/>
              </a:lnSpc>
              <a:spcBef>
                <a:spcPts val="1600"/>
              </a:spcBef>
              <a:tabLst>
                <a:tab pos="3370579" algn="l"/>
              </a:tabLst>
            </a:pPr>
            <a:r>
              <a:rPr dirty="0" sz="3200" spc="-5">
                <a:latin typeface="Cambria Math"/>
                <a:cs typeface="Cambria Math"/>
              </a:rPr>
              <a:t>similarity	</a:t>
            </a:r>
            <a:r>
              <a:rPr dirty="0" sz="3200" spc="30">
                <a:latin typeface="Cambria Math"/>
                <a:cs typeface="Cambria Math"/>
              </a:rPr>
              <a:t>𝑢,</a:t>
            </a:r>
            <a:r>
              <a:rPr dirty="0" sz="3200" spc="-254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𝑣</a:t>
            </a:r>
            <a:endParaRPr sz="3200">
              <a:latin typeface="Cambria Math"/>
              <a:cs typeface="Cambria Math"/>
            </a:endParaRPr>
          </a:p>
          <a:p>
            <a:pPr marL="198120" marR="759460" indent="-186055">
              <a:lnSpc>
                <a:spcPts val="3220"/>
              </a:lnSpc>
              <a:spcBef>
                <a:spcPts val="1390"/>
              </a:spcBef>
            </a:pPr>
            <a:r>
              <a:rPr dirty="0" sz="2700" spc="-90">
                <a:solidFill>
                  <a:srgbClr val="5A6378"/>
                </a:solidFill>
                <a:latin typeface="Arial"/>
                <a:cs typeface="Arial"/>
              </a:rPr>
              <a:t>Similarity </a:t>
            </a:r>
            <a:r>
              <a:rPr dirty="0" sz="2700" spc="-35">
                <a:solidFill>
                  <a:srgbClr val="5A6378"/>
                </a:solidFill>
                <a:latin typeface="Arial"/>
                <a:cs typeface="Arial"/>
              </a:rPr>
              <a:t>of </a:t>
            </a:r>
            <a:r>
              <a:rPr dirty="0" sz="2700">
                <a:solidFill>
                  <a:srgbClr val="5A6378"/>
                </a:solidFill>
                <a:latin typeface="Cambria Math"/>
                <a:cs typeface="Cambria Math"/>
              </a:rPr>
              <a:t>𝑢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and </a:t>
            </a:r>
            <a:r>
              <a:rPr dirty="0" sz="2700">
                <a:solidFill>
                  <a:srgbClr val="5A6378"/>
                </a:solidFill>
                <a:latin typeface="Cambria Math"/>
                <a:cs typeface="Cambria Math"/>
              </a:rPr>
              <a:t>𝑣 </a:t>
            </a:r>
            <a:r>
              <a:rPr dirty="0" sz="2700" spc="-95">
                <a:solidFill>
                  <a:srgbClr val="5A6378"/>
                </a:solidFill>
                <a:latin typeface="Arial"/>
                <a:cs typeface="Arial"/>
              </a:rPr>
              <a:t>in 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the </a:t>
            </a:r>
            <a:r>
              <a:rPr dirty="0" sz="2700" spc="-80">
                <a:solidFill>
                  <a:srgbClr val="5A6378"/>
                </a:solidFill>
                <a:latin typeface="Arial"/>
                <a:cs typeface="Arial"/>
              </a:rPr>
              <a:t>original </a:t>
            </a:r>
            <a:r>
              <a:rPr dirty="0" sz="2700" spc="-30">
                <a:solidFill>
                  <a:srgbClr val="5A6378"/>
                </a:solidFill>
                <a:latin typeface="Arial"/>
                <a:cs typeface="Arial"/>
              </a:rPr>
              <a:t>network</a:t>
            </a:r>
            <a:endParaRPr sz="2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6142" y="5039867"/>
            <a:ext cx="13290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0245" algn="l"/>
              </a:tabLst>
            </a:pPr>
            <a:r>
              <a:rPr dirty="0" sz="3200">
                <a:latin typeface="Cambria Math"/>
                <a:cs typeface="Cambria Math"/>
              </a:rPr>
              <a:t>≈	</a:t>
            </a:r>
            <a:r>
              <a:rPr dirty="0" sz="3200" spc="260">
                <a:latin typeface="Cambria Math"/>
                <a:cs typeface="Cambria Math"/>
              </a:rPr>
              <a:t>𝐳</a:t>
            </a:r>
            <a:r>
              <a:rPr dirty="0" baseline="28985" sz="3450" spc="390">
                <a:latin typeface="Cambria Math"/>
                <a:cs typeface="Cambria Math"/>
              </a:rPr>
              <a:t>"</a:t>
            </a:r>
            <a:r>
              <a:rPr dirty="0" sz="3200" spc="260">
                <a:latin typeface="Cambria Math"/>
                <a:cs typeface="Cambria Math"/>
              </a:rPr>
              <a:t>𝐳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4221" y="5236464"/>
            <a:ext cx="6400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</a:tabLst>
            </a:pPr>
            <a:r>
              <a:rPr dirty="0" sz="2300" spc="635">
                <a:latin typeface="Cambria Math"/>
                <a:cs typeface="Cambria Math"/>
              </a:rPr>
              <a:t>!</a:t>
            </a:r>
            <a:r>
              <a:rPr dirty="0" sz="2300" spc="635">
                <a:latin typeface="Cambria Math"/>
                <a:cs typeface="Cambria Math"/>
              </a:rPr>
              <a:t>	</a:t>
            </a:r>
            <a:r>
              <a:rPr dirty="0" sz="2300" spc="60">
                <a:latin typeface="Cambria Math"/>
                <a:cs typeface="Cambria Math"/>
              </a:rPr>
              <a:t>#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55718" y="2857555"/>
            <a:ext cx="137795" cy="198755"/>
          </a:xfrm>
          <a:custGeom>
            <a:avLst/>
            <a:gdLst/>
            <a:ahLst/>
            <a:cxnLst/>
            <a:rect l="l" t="t" r="r" b="b"/>
            <a:pathLst>
              <a:path w="137795" h="198755">
                <a:moveTo>
                  <a:pt x="91935" y="60993"/>
                </a:moveTo>
                <a:lnTo>
                  <a:pt x="0" y="194717"/>
                </a:lnTo>
                <a:lnTo>
                  <a:pt x="365" y="196695"/>
                </a:lnTo>
                <a:lnTo>
                  <a:pt x="3255" y="198681"/>
                </a:lnTo>
                <a:lnTo>
                  <a:pt x="5232" y="198315"/>
                </a:lnTo>
                <a:lnTo>
                  <a:pt x="97168" y="64590"/>
                </a:lnTo>
                <a:lnTo>
                  <a:pt x="91935" y="60993"/>
                </a:lnTo>
                <a:close/>
              </a:path>
              <a:path w="137795" h="198755">
                <a:moveTo>
                  <a:pt x="130923" y="48717"/>
                </a:moveTo>
                <a:lnTo>
                  <a:pt x="102100" y="48717"/>
                </a:lnTo>
                <a:lnTo>
                  <a:pt x="104990" y="50703"/>
                </a:lnTo>
                <a:lnTo>
                  <a:pt x="105356" y="52680"/>
                </a:lnTo>
                <a:lnTo>
                  <a:pt x="97168" y="64590"/>
                </a:lnTo>
                <a:lnTo>
                  <a:pt x="125948" y="84376"/>
                </a:lnTo>
                <a:lnTo>
                  <a:pt x="130923" y="48717"/>
                </a:lnTo>
                <a:close/>
              </a:path>
              <a:path w="137795" h="198755">
                <a:moveTo>
                  <a:pt x="102100" y="48717"/>
                </a:moveTo>
                <a:lnTo>
                  <a:pt x="100124" y="49082"/>
                </a:lnTo>
                <a:lnTo>
                  <a:pt x="91935" y="60993"/>
                </a:lnTo>
                <a:lnTo>
                  <a:pt x="97168" y="64590"/>
                </a:lnTo>
                <a:lnTo>
                  <a:pt x="105356" y="52680"/>
                </a:lnTo>
                <a:lnTo>
                  <a:pt x="104990" y="50703"/>
                </a:lnTo>
                <a:lnTo>
                  <a:pt x="102100" y="48717"/>
                </a:lnTo>
                <a:close/>
              </a:path>
              <a:path w="137795" h="198755">
                <a:moveTo>
                  <a:pt x="137721" y="0"/>
                </a:moveTo>
                <a:lnTo>
                  <a:pt x="63155" y="41207"/>
                </a:lnTo>
                <a:lnTo>
                  <a:pt x="91935" y="60993"/>
                </a:lnTo>
                <a:lnTo>
                  <a:pt x="100124" y="49082"/>
                </a:lnTo>
                <a:lnTo>
                  <a:pt x="102100" y="48717"/>
                </a:lnTo>
                <a:lnTo>
                  <a:pt x="130923" y="48717"/>
                </a:lnTo>
                <a:lnTo>
                  <a:pt x="137721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15350" y="2480186"/>
            <a:ext cx="467359" cy="133350"/>
          </a:xfrm>
          <a:custGeom>
            <a:avLst/>
            <a:gdLst/>
            <a:ahLst/>
            <a:cxnLst/>
            <a:rect l="l" t="t" r="r" b="b"/>
            <a:pathLst>
              <a:path w="467360" h="133350">
                <a:moveTo>
                  <a:pt x="65366" y="58587"/>
                </a:moveTo>
                <a:lnTo>
                  <a:pt x="0" y="113223"/>
                </a:lnTo>
                <a:lnTo>
                  <a:pt x="82929" y="132735"/>
                </a:lnTo>
                <a:lnTo>
                  <a:pt x="75669" y="102082"/>
                </a:lnTo>
                <a:lnTo>
                  <a:pt x="60815" y="102082"/>
                </a:lnTo>
                <a:lnTo>
                  <a:pt x="59104" y="101025"/>
                </a:lnTo>
                <a:lnTo>
                  <a:pt x="58296" y="97613"/>
                </a:lnTo>
                <a:lnTo>
                  <a:pt x="59352" y="95902"/>
                </a:lnTo>
                <a:lnTo>
                  <a:pt x="73416" y="92571"/>
                </a:lnTo>
                <a:lnTo>
                  <a:pt x="65366" y="58587"/>
                </a:lnTo>
                <a:close/>
              </a:path>
              <a:path w="467360" h="133350">
                <a:moveTo>
                  <a:pt x="73416" y="92571"/>
                </a:moveTo>
                <a:lnTo>
                  <a:pt x="59352" y="95902"/>
                </a:lnTo>
                <a:lnTo>
                  <a:pt x="58296" y="97613"/>
                </a:lnTo>
                <a:lnTo>
                  <a:pt x="59104" y="101025"/>
                </a:lnTo>
                <a:lnTo>
                  <a:pt x="60815" y="102082"/>
                </a:lnTo>
                <a:lnTo>
                  <a:pt x="74880" y="98751"/>
                </a:lnTo>
                <a:lnTo>
                  <a:pt x="73416" y="92571"/>
                </a:lnTo>
                <a:close/>
              </a:path>
              <a:path w="467360" h="133350">
                <a:moveTo>
                  <a:pt x="74880" y="98751"/>
                </a:moveTo>
                <a:lnTo>
                  <a:pt x="60815" y="102082"/>
                </a:lnTo>
                <a:lnTo>
                  <a:pt x="75669" y="102082"/>
                </a:lnTo>
                <a:lnTo>
                  <a:pt x="74880" y="98751"/>
                </a:lnTo>
                <a:close/>
              </a:path>
              <a:path w="467360" h="133350">
                <a:moveTo>
                  <a:pt x="464270" y="0"/>
                </a:moveTo>
                <a:lnTo>
                  <a:pt x="73416" y="92571"/>
                </a:lnTo>
                <a:lnTo>
                  <a:pt x="74880" y="98751"/>
                </a:lnTo>
                <a:lnTo>
                  <a:pt x="465733" y="6179"/>
                </a:lnTo>
                <a:lnTo>
                  <a:pt x="466789" y="4469"/>
                </a:lnTo>
                <a:lnTo>
                  <a:pt x="465980" y="1056"/>
                </a:lnTo>
                <a:lnTo>
                  <a:pt x="464270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18108" y="2746168"/>
            <a:ext cx="6943725" cy="2291715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1040765">
              <a:lnSpc>
                <a:spcPct val="100000"/>
              </a:lnSpc>
              <a:spcBef>
                <a:spcPts val="1500"/>
              </a:spcBef>
            </a:pP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node </a:t>
            </a:r>
            <a:r>
              <a:rPr dirty="0" sz="2700" spc="-85">
                <a:solidFill>
                  <a:srgbClr val="5A6378"/>
                </a:solidFill>
                <a:latin typeface="Arial"/>
                <a:cs typeface="Arial"/>
              </a:rPr>
              <a:t>in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the </a:t>
            </a:r>
            <a:r>
              <a:rPr dirty="0" sz="2700" spc="-40">
                <a:solidFill>
                  <a:srgbClr val="5A6378"/>
                </a:solidFill>
                <a:latin typeface="Arial"/>
                <a:cs typeface="Arial"/>
              </a:rPr>
              <a:t>input</a:t>
            </a:r>
            <a:r>
              <a:rPr dirty="0" sz="2700" spc="5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700" spc="-50">
                <a:solidFill>
                  <a:srgbClr val="5A6378"/>
                </a:solidFill>
                <a:latin typeface="Arial"/>
                <a:cs typeface="Arial"/>
              </a:rPr>
              <a:t>graph</a:t>
            </a:r>
            <a:endParaRPr sz="2700">
              <a:latin typeface="Arial"/>
              <a:cs typeface="Arial"/>
            </a:endParaRPr>
          </a:p>
          <a:p>
            <a:pPr marL="332740" marR="5080" indent="-320040">
              <a:lnSpc>
                <a:spcPct val="100299"/>
              </a:lnSpc>
              <a:spcBef>
                <a:spcPts val="16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Similarity function: </a:t>
            </a:r>
            <a:r>
              <a:rPr dirty="0" sz="3200" spc="-5">
                <a:latin typeface="Calibri"/>
                <a:cs typeface="Calibri"/>
              </a:rPr>
              <a:t>specifies how 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10">
                <a:latin typeface="Calibri"/>
                <a:cs typeface="Calibri"/>
              </a:rPr>
              <a:t>relationships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5">
                <a:latin typeface="Calibri"/>
                <a:cs typeface="Calibri"/>
              </a:rPr>
              <a:t>vector </a:t>
            </a:r>
            <a:r>
              <a:rPr dirty="0" sz="3200" spc="-5">
                <a:latin typeface="Calibri"/>
                <a:cs typeface="Calibri"/>
              </a:rPr>
              <a:t>space </a:t>
            </a:r>
            <a:r>
              <a:rPr dirty="0" sz="3200">
                <a:latin typeface="Calibri"/>
                <a:cs typeface="Calibri"/>
              </a:rPr>
              <a:t>map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10">
                <a:latin typeface="Calibri"/>
                <a:cs typeface="Calibri"/>
              </a:rPr>
              <a:t>relationships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5">
                <a:latin typeface="Calibri"/>
                <a:cs typeface="Calibri"/>
              </a:rPr>
              <a:t>original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8918" y="1929427"/>
            <a:ext cx="2072005" cy="8737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10185" marR="5080" indent="-198120">
              <a:lnSpc>
                <a:spcPct val="100499"/>
              </a:lnSpc>
              <a:spcBef>
                <a:spcPts val="85"/>
              </a:spcBef>
            </a:pPr>
            <a:r>
              <a:rPr dirty="0" sz="2850" spc="-110" i="1">
                <a:solidFill>
                  <a:srgbClr val="5A6378"/>
                </a:solidFill>
                <a:latin typeface="Cambria Math"/>
                <a:cs typeface="Cambria Math"/>
              </a:rPr>
              <a:t>d</a:t>
            </a:r>
            <a:r>
              <a:rPr dirty="0" sz="2700" spc="75">
                <a:solidFill>
                  <a:srgbClr val="5A6378"/>
                </a:solidFill>
                <a:latin typeface="Arial"/>
                <a:cs typeface="Arial"/>
              </a:rPr>
              <a:t>-</a:t>
            </a:r>
            <a:r>
              <a:rPr dirty="0" sz="2700" spc="15">
                <a:solidFill>
                  <a:srgbClr val="5A6378"/>
                </a:solidFill>
                <a:latin typeface="Arial"/>
                <a:cs typeface="Arial"/>
              </a:rPr>
              <a:t>d</a:t>
            </a:r>
            <a:r>
              <a:rPr dirty="0" sz="2700" spc="-120">
                <a:solidFill>
                  <a:srgbClr val="5A6378"/>
                </a:solidFill>
                <a:latin typeface="Arial"/>
                <a:cs typeface="Arial"/>
              </a:rPr>
              <a:t>i</a:t>
            </a:r>
            <a:r>
              <a:rPr dirty="0" sz="2700" spc="-90">
                <a:solidFill>
                  <a:srgbClr val="5A6378"/>
                </a:solidFill>
                <a:latin typeface="Arial"/>
                <a:cs typeface="Arial"/>
              </a:rPr>
              <a:t>m</a:t>
            </a:r>
            <a:r>
              <a:rPr dirty="0" sz="2700" spc="-60">
                <a:solidFill>
                  <a:srgbClr val="5A6378"/>
                </a:solidFill>
                <a:latin typeface="Arial"/>
                <a:cs typeface="Arial"/>
              </a:rPr>
              <a:t>e</a:t>
            </a:r>
            <a:r>
              <a:rPr dirty="0" sz="2700" spc="-70">
                <a:solidFill>
                  <a:srgbClr val="5A6378"/>
                </a:solidFill>
                <a:latin typeface="Arial"/>
                <a:cs typeface="Arial"/>
              </a:rPr>
              <a:t>n</a:t>
            </a:r>
            <a:r>
              <a:rPr dirty="0" sz="2700" spc="-70">
                <a:solidFill>
                  <a:srgbClr val="5A6378"/>
                </a:solidFill>
                <a:latin typeface="Arial"/>
                <a:cs typeface="Arial"/>
              </a:rPr>
              <a:t>s</a:t>
            </a:r>
            <a:r>
              <a:rPr dirty="0" sz="2700" spc="-120">
                <a:solidFill>
                  <a:srgbClr val="5A6378"/>
                </a:solidFill>
                <a:latin typeface="Arial"/>
                <a:cs typeface="Arial"/>
              </a:rPr>
              <a:t>i</a:t>
            </a:r>
            <a:r>
              <a:rPr dirty="0" sz="2700" spc="-20">
                <a:solidFill>
                  <a:srgbClr val="5A6378"/>
                </a:solidFill>
                <a:latin typeface="Arial"/>
                <a:cs typeface="Arial"/>
              </a:rPr>
              <a:t>o</a:t>
            </a:r>
            <a:r>
              <a:rPr dirty="0" sz="2700" spc="-70">
                <a:solidFill>
                  <a:srgbClr val="5A6378"/>
                </a:solidFill>
                <a:latin typeface="Arial"/>
                <a:cs typeface="Arial"/>
              </a:rPr>
              <a:t>n</a:t>
            </a:r>
            <a:r>
              <a:rPr dirty="0" sz="2700" spc="-120">
                <a:solidFill>
                  <a:srgbClr val="5A6378"/>
                </a:solidFill>
                <a:latin typeface="Arial"/>
                <a:cs typeface="Arial"/>
              </a:rPr>
              <a:t>a</a:t>
            </a:r>
            <a:r>
              <a:rPr dirty="0" sz="2700" spc="-120">
                <a:solidFill>
                  <a:srgbClr val="5A6378"/>
                </a:solidFill>
                <a:latin typeface="Arial"/>
                <a:cs typeface="Arial"/>
              </a:rPr>
              <a:t>l 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embedding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83421" y="2375369"/>
            <a:ext cx="452120" cy="482600"/>
          </a:xfrm>
          <a:custGeom>
            <a:avLst/>
            <a:gdLst/>
            <a:ahLst/>
            <a:cxnLst/>
            <a:rect l="l" t="t" r="r" b="b"/>
            <a:pathLst>
              <a:path w="452120" h="482600">
                <a:moveTo>
                  <a:pt x="0" y="0"/>
                </a:moveTo>
                <a:lnTo>
                  <a:pt x="451944" y="0"/>
                </a:lnTo>
                <a:lnTo>
                  <a:pt x="451944" y="482185"/>
                </a:lnTo>
                <a:lnTo>
                  <a:pt x="0" y="482185"/>
                </a:lnTo>
                <a:lnTo>
                  <a:pt x="0" y="0"/>
                </a:lnTo>
                <a:close/>
              </a:path>
            </a:pathLst>
          </a:custGeom>
          <a:solidFill>
            <a:srgbClr val="FFD25D">
              <a:alpha val="2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83421" y="2375369"/>
            <a:ext cx="452120" cy="482600"/>
          </a:xfrm>
          <a:custGeom>
            <a:avLst/>
            <a:gdLst/>
            <a:ahLst/>
            <a:cxnLst/>
            <a:rect l="l" t="t" r="r" b="b"/>
            <a:pathLst>
              <a:path w="452120" h="482600">
                <a:moveTo>
                  <a:pt x="0" y="0"/>
                </a:moveTo>
                <a:lnTo>
                  <a:pt x="451945" y="0"/>
                </a:lnTo>
                <a:lnTo>
                  <a:pt x="451945" y="482186"/>
                </a:lnTo>
                <a:lnTo>
                  <a:pt x="0" y="48218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2/22/21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6354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3590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10"/>
              <a:t>Simplest encoding approach: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encoder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just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an 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embedding-lookup</a:t>
            </a:r>
          </a:p>
        </p:txBody>
      </p:sp>
      <p:sp>
        <p:nvSpPr>
          <p:cNvPr id="4" name="object 4"/>
          <p:cNvSpPr/>
          <p:nvPr/>
        </p:nvSpPr>
        <p:spPr>
          <a:xfrm>
            <a:off x="2146546" y="3368724"/>
            <a:ext cx="4266565" cy="2095500"/>
          </a:xfrm>
          <a:custGeom>
            <a:avLst/>
            <a:gdLst/>
            <a:ahLst/>
            <a:cxnLst/>
            <a:rect l="l" t="t" r="r" b="b"/>
            <a:pathLst>
              <a:path w="4266565" h="2095500">
                <a:moveTo>
                  <a:pt x="4241939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8" y="7029"/>
                </a:lnTo>
                <a:lnTo>
                  <a:pt x="1885" y="14658"/>
                </a:lnTo>
                <a:lnTo>
                  <a:pt x="0" y="24000"/>
                </a:lnTo>
                <a:lnTo>
                  <a:pt x="0" y="2070877"/>
                </a:lnTo>
                <a:lnTo>
                  <a:pt x="1885" y="2080219"/>
                </a:lnTo>
                <a:lnTo>
                  <a:pt x="7028" y="2087848"/>
                </a:lnTo>
                <a:lnTo>
                  <a:pt x="14657" y="2092991"/>
                </a:lnTo>
                <a:lnTo>
                  <a:pt x="23999" y="2094877"/>
                </a:lnTo>
                <a:lnTo>
                  <a:pt x="4241939" y="2094877"/>
                </a:lnTo>
                <a:lnTo>
                  <a:pt x="4251281" y="2092991"/>
                </a:lnTo>
                <a:lnTo>
                  <a:pt x="4258909" y="2087848"/>
                </a:lnTo>
                <a:lnTo>
                  <a:pt x="4264052" y="2080219"/>
                </a:lnTo>
                <a:lnTo>
                  <a:pt x="4265938" y="2070877"/>
                </a:lnTo>
                <a:lnTo>
                  <a:pt x="4265938" y="2066077"/>
                </a:lnTo>
                <a:lnTo>
                  <a:pt x="28799" y="2066077"/>
                </a:lnTo>
                <a:lnTo>
                  <a:pt x="28799" y="28799"/>
                </a:lnTo>
                <a:lnTo>
                  <a:pt x="4265938" y="28799"/>
                </a:lnTo>
                <a:lnTo>
                  <a:pt x="4265938" y="24000"/>
                </a:lnTo>
                <a:lnTo>
                  <a:pt x="4264052" y="14658"/>
                </a:lnTo>
                <a:lnTo>
                  <a:pt x="4258909" y="7029"/>
                </a:lnTo>
                <a:lnTo>
                  <a:pt x="4251281" y="1886"/>
                </a:lnTo>
                <a:lnTo>
                  <a:pt x="4241939" y="0"/>
                </a:lnTo>
                <a:close/>
              </a:path>
              <a:path w="4266565" h="2095500">
                <a:moveTo>
                  <a:pt x="4265938" y="28799"/>
                </a:moveTo>
                <a:lnTo>
                  <a:pt x="4237139" y="28799"/>
                </a:lnTo>
                <a:lnTo>
                  <a:pt x="4237139" y="2066077"/>
                </a:lnTo>
                <a:lnTo>
                  <a:pt x="4265938" y="2066077"/>
                </a:lnTo>
                <a:lnTo>
                  <a:pt x="4265938" y="28799"/>
                </a:lnTo>
                <a:close/>
              </a:path>
              <a:path w="4266565" h="2095500">
                <a:moveTo>
                  <a:pt x="4227539" y="38400"/>
                </a:moveTo>
                <a:lnTo>
                  <a:pt x="38399" y="38400"/>
                </a:lnTo>
                <a:lnTo>
                  <a:pt x="38399" y="2056477"/>
                </a:lnTo>
                <a:lnTo>
                  <a:pt x="4227539" y="2056477"/>
                </a:lnTo>
                <a:lnTo>
                  <a:pt x="4227539" y="2046876"/>
                </a:lnTo>
                <a:lnTo>
                  <a:pt x="47999" y="2046876"/>
                </a:lnTo>
                <a:lnTo>
                  <a:pt x="47999" y="48000"/>
                </a:lnTo>
                <a:lnTo>
                  <a:pt x="4227539" y="48000"/>
                </a:lnTo>
                <a:lnTo>
                  <a:pt x="4227539" y="38400"/>
                </a:lnTo>
                <a:close/>
              </a:path>
              <a:path w="4266565" h="2095500">
                <a:moveTo>
                  <a:pt x="4227539" y="48000"/>
                </a:moveTo>
                <a:lnTo>
                  <a:pt x="4217939" y="48000"/>
                </a:lnTo>
                <a:lnTo>
                  <a:pt x="4217939" y="2046876"/>
                </a:lnTo>
                <a:lnTo>
                  <a:pt x="4227539" y="2046876"/>
                </a:lnTo>
                <a:lnTo>
                  <a:pt x="4227539" y="4800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38407" y="3384636"/>
            <a:ext cx="267970" cy="2078989"/>
          </a:xfrm>
          <a:custGeom>
            <a:avLst/>
            <a:gdLst/>
            <a:ahLst/>
            <a:cxnLst/>
            <a:rect l="l" t="t" r="r" b="b"/>
            <a:pathLst>
              <a:path w="267970" h="2078989">
                <a:moveTo>
                  <a:pt x="28775" y="2017908"/>
                </a:moveTo>
                <a:lnTo>
                  <a:pt x="120" y="2020796"/>
                </a:lnTo>
                <a:lnTo>
                  <a:pt x="1024" y="2029766"/>
                </a:lnTo>
                <a:lnTo>
                  <a:pt x="1344" y="2031342"/>
                </a:lnTo>
                <a:lnTo>
                  <a:pt x="11766" y="2054153"/>
                </a:lnTo>
                <a:lnTo>
                  <a:pt x="34243" y="2036142"/>
                </a:lnTo>
                <a:lnTo>
                  <a:pt x="31318" y="2030752"/>
                </a:lnTo>
                <a:lnTo>
                  <a:pt x="29470" y="2024799"/>
                </a:lnTo>
                <a:lnTo>
                  <a:pt x="28824" y="2018389"/>
                </a:lnTo>
                <a:lnTo>
                  <a:pt x="28775" y="2017908"/>
                </a:lnTo>
                <a:close/>
              </a:path>
              <a:path w="267970" h="2078989">
                <a:moveTo>
                  <a:pt x="28799" y="1970389"/>
                </a:moveTo>
                <a:lnTo>
                  <a:pt x="0" y="1970389"/>
                </a:lnTo>
                <a:lnTo>
                  <a:pt x="0" y="2018389"/>
                </a:lnTo>
                <a:lnTo>
                  <a:pt x="23999" y="2018389"/>
                </a:lnTo>
                <a:lnTo>
                  <a:pt x="28775" y="2017908"/>
                </a:lnTo>
                <a:lnTo>
                  <a:pt x="28799" y="1970389"/>
                </a:lnTo>
                <a:close/>
              </a:path>
              <a:path w="267970" h="2078989">
                <a:moveTo>
                  <a:pt x="28799" y="2018147"/>
                </a:moveTo>
                <a:lnTo>
                  <a:pt x="28799" y="2018389"/>
                </a:lnTo>
                <a:lnTo>
                  <a:pt x="28799" y="2018147"/>
                </a:lnTo>
                <a:close/>
              </a:path>
              <a:path w="267970" h="2078989">
                <a:moveTo>
                  <a:pt x="28799" y="2017908"/>
                </a:moveTo>
                <a:lnTo>
                  <a:pt x="28799" y="2018147"/>
                </a:lnTo>
                <a:lnTo>
                  <a:pt x="28799" y="2017908"/>
                </a:lnTo>
                <a:close/>
              </a:path>
              <a:path w="267970" h="2078989">
                <a:moveTo>
                  <a:pt x="47878" y="2015981"/>
                </a:moveTo>
                <a:lnTo>
                  <a:pt x="38399" y="2016938"/>
                </a:lnTo>
                <a:lnTo>
                  <a:pt x="38472" y="2018389"/>
                </a:lnTo>
                <a:lnTo>
                  <a:pt x="38924" y="2022875"/>
                </a:lnTo>
                <a:lnTo>
                  <a:pt x="40206" y="2027003"/>
                </a:lnTo>
                <a:lnTo>
                  <a:pt x="42237" y="2030746"/>
                </a:lnTo>
                <a:lnTo>
                  <a:pt x="50232" y="2025351"/>
                </a:lnTo>
                <a:lnTo>
                  <a:pt x="49094" y="2023254"/>
                </a:lnTo>
                <a:lnTo>
                  <a:pt x="48379" y="2020951"/>
                </a:lnTo>
                <a:lnTo>
                  <a:pt x="48121" y="2018389"/>
                </a:lnTo>
                <a:lnTo>
                  <a:pt x="47878" y="2015981"/>
                </a:lnTo>
                <a:close/>
              </a:path>
              <a:path w="267970" h="2078989">
                <a:moveTo>
                  <a:pt x="38399" y="2017664"/>
                </a:moveTo>
                <a:lnTo>
                  <a:pt x="38399" y="2018389"/>
                </a:lnTo>
                <a:lnTo>
                  <a:pt x="38399" y="2017664"/>
                </a:lnTo>
                <a:close/>
              </a:path>
              <a:path w="267970" h="2078989">
                <a:moveTo>
                  <a:pt x="47999" y="2017179"/>
                </a:moveTo>
                <a:lnTo>
                  <a:pt x="47999" y="2018389"/>
                </a:lnTo>
                <a:lnTo>
                  <a:pt x="47999" y="2017179"/>
                </a:lnTo>
                <a:close/>
              </a:path>
              <a:path w="267970" h="2078989">
                <a:moveTo>
                  <a:pt x="47999" y="2015981"/>
                </a:moveTo>
                <a:lnTo>
                  <a:pt x="47999" y="2017179"/>
                </a:lnTo>
                <a:lnTo>
                  <a:pt x="47999" y="2015981"/>
                </a:lnTo>
                <a:close/>
              </a:path>
              <a:path w="267970" h="2078989">
                <a:moveTo>
                  <a:pt x="47999" y="1970389"/>
                </a:moveTo>
                <a:lnTo>
                  <a:pt x="38399" y="1970389"/>
                </a:lnTo>
                <a:lnTo>
                  <a:pt x="38399" y="2016938"/>
                </a:lnTo>
                <a:lnTo>
                  <a:pt x="47878" y="2015981"/>
                </a:lnTo>
                <a:lnTo>
                  <a:pt x="47999" y="1970389"/>
                </a:lnTo>
                <a:close/>
              </a:path>
              <a:path w="267970" h="2078989">
                <a:moveTo>
                  <a:pt x="28799" y="1874389"/>
                </a:moveTo>
                <a:lnTo>
                  <a:pt x="0" y="1874389"/>
                </a:lnTo>
                <a:lnTo>
                  <a:pt x="0" y="1922388"/>
                </a:lnTo>
                <a:lnTo>
                  <a:pt x="28799" y="1922388"/>
                </a:lnTo>
                <a:lnTo>
                  <a:pt x="28799" y="1874389"/>
                </a:lnTo>
                <a:close/>
              </a:path>
              <a:path w="267970" h="2078989">
                <a:moveTo>
                  <a:pt x="47999" y="1874389"/>
                </a:moveTo>
                <a:lnTo>
                  <a:pt x="38399" y="1874389"/>
                </a:lnTo>
                <a:lnTo>
                  <a:pt x="38399" y="1922388"/>
                </a:lnTo>
                <a:lnTo>
                  <a:pt x="47999" y="1922388"/>
                </a:lnTo>
                <a:lnTo>
                  <a:pt x="47999" y="1874389"/>
                </a:lnTo>
                <a:close/>
              </a:path>
              <a:path w="267970" h="2078989">
                <a:moveTo>
                  <a:pt x="28799" y="1778389"/>
                </a:moveTo>
                <a:lnTo>
                  <a:pt x="0" y="1778389"/>
                </a:lnTo>
                <a:lnTo>
                  <a:pt x="0" y="1826389"/>
                </a:lnTo>
                <a:lnTo>
                  <a:pt x="28799" y="1826389"/>
                </a:lnTo>
                <a:lnTo>
                  <a:pt x="28799" y="1778389"/>
                </a:lnTo>
                <a:close/>
              </a:path>
              <a:path w="267970" h="2078989">
                <a:moveTo>
                  <a:pt x="47999" y="1778389"/>
                </a:moveTo>
                <a:lnTo>
                  <a:pt x="38399" y="1778389"/>
                </a:lnTo>
                <a:lnTo>
                  <a:pt x="38399" y="1826389"/>
                </a:lnTo>
                <a:lnTo>
                  <a:pt x="47999" y="1826389"/>
                </a:lnTo>
                <a:lnTo>
                  <a:pt x="47999" y="1778389"/>
                </a:lnTo>
                <a:close/>
              </a:path>
              <a:path w="267970" h="2078989">
                <a:moveTo>
                  <a:pt x="28799" y="1682389"/>
                </a:moveTo>
                <a:lnTo>
                  <a:pt x="0" y="1682389"/>
                </a:lnTo>
                <a:lnTo>
                  <a:pt x="0" y="1730388"/>
                </a:lnTo>
                <a:lnTo>
                  <a:pt x="28799" y="1730388"/>
                </a:lnTo>
                <a:lnTo>
                  <a:pt x="28799" y="1682389"/>
                </a:lnTo>
                <a:close/>
              </a:path>
              <a:path w="267970" h="2078989">
                <a:moveTo>
                  <a:pt x="47999" y="1682389"/>
                </a:moveTo>
                <a:lnTo>
                  <a:pt x="38399" y="1682389"/>
                </a:lnTo>
                <a:lnTo>
                  <a:pt x="38399" y="1730388"/>
                </a:lnTo>
                <a:lnTo>
                  <a:pt x="47999" y="1730388"/>
                </a:lnTo>
                <a:lnTo>
                  <a:pt x="47999" y="1682389"/>
                </a:lnTo>
                <a:close/>
              </a:path>
              <a:path w="267970" h="2078989">
                <a:moveTo>
                  <a:pt x="28799" y="1586388"/>
                </a:moveTo>
                <a:lnTo>
                  <a:pt x="0" y="1586388"/>
                </a:lnTo>
                <a:lnTo>
                  <a:pt x="0" y="1634389"/>
                </a:lnTo>
                <a:lnTo>
                  <a:pt x="28799" y="1634389"/>
                </a:lnTo>
                <a:lnTo>
                  <a:pt x="28799" y="1586388"/>
                </a:lnTo>
                <a:close/>
              </a:path>
              <a:path w="267970" h="2078989">
                <a:moveTo>
                  <a:pt x="47999" y="1586388"/>
                </a:moveTo>
                <a:lnTo>
                  <a:pt x="38399" y="1586388"/>
                </a:lnTo>
                <a:lnTo>
                  <a:pt x="38399" y="1634389"/>
                </a:lnTo>
                <a:lnTo>
                  <a:pt x="47999" y="1634389"/>
                </a:lnTo>
                <a:lnTo>
                  <a:pt x="47999" y="1586388"/>
                </a:lnTo>
                <a:close/>
              </a:path>
              <a:path w="267970" h="2078989">
                <a:moveTo>
                  <a:pt x="28799" y="1490389"/>
                </a:moveTo>
                <a:lnTo>
                  <a:pt x="0" y="1490389"/>
                </a:lnTo>
                <a:lnTo>
                  <a:pt x="0" y="1538389"/>
                </a:lnTo>
                <a:lnTo>
                  <a:pt x="28799" y="1538389"/>
                </a:lnTo>
                <a:lnTo>
                  <a:pt x="28799" y="1490389"/>
                </a:lnTo>
                <a:close/>
              </a:path>
              <a:path w="267970" h="2078989">
                <a:moveTo>
                  <a:pt x="47999" y="1490389"/>
                </a:moveTo>
                <a:lnTo>
                  <a:pt x="38399" y="1490389"/>
                </a:lnTo>
                <a:lnTo>
                  <a:pt x="38399" y="1538389"/>
                </a:lnTo>
                <a:lnTo>
                  <a:pt x="47999" y="1538389"/>
                </a:lnTo>
                <a:lnTo>
                  <a:pt x="47999" y="1490389"/>
                </a:lnTo>
                <a:close/>
              </a:path>
              <a:path w="267970" h="2078989">
                <a:moveTo>
                  <a:pt x="28799" y="1394388"/>
                </a:moveTo>
                <a:lnTo>
                  <a:pt x="0" y="1394388"/>
                </a:lnTo>
                <a:lnTo>
                  <a:pt x="0" y="1442389"/>
                </a:lnTo>
                <a:lnTo>
                  <a:pt x="28799" y="1442389"/>
                </a:lnTo>
                <a:lnTo>
                  <a:pt x="28799" y="1394388"/>
                </a:lnTo>
                <a:close/>
              </a:path>
              <a:path w="267970" h="2078989">
                <a:moveTo>
                  <a:pt x="47999" y="1394388"/>
                </a:moveTo>
                <a:lnTo>
                  <a:pt x="38399" y="1394388"/>
                </a:lnTo>
                <a:lnTo>
                  <a:pt x="38399" y="1442389"/>
                </a:lnTo>
                <a:lnTo>
                  <a:pt x="47999" y="1442389"/>
                </a:lnTo>
                <a:lnTo>
                  <a:pt x="47999" y="1394388"/>
                </a:lnTo>
                <a:close/>
              </a:path>
              <a:path w="267970" h="2078989">
                <a:moveTo>
                  <a:pt x="28799" y="1298389"/>
                </a:moveTo>
                <a:lnTo>
                  <a:pt x="0" y="1298389"/>
                </a:lnTo>
                <a:lnTo>
                  <a:pt x="0" y="1346389"/>
                </a:lnTo>
                <a:lnTo>
                  <a:pt x="28799" y="1346389"/>
                </a:lnTo>
                <a:lnTo>
                  <a:pt x="28799" y="1298389"/>
                </a:lnTo>
                <a:close/>
              </a:path>
              <a:path w="267970" h="2078989">
                <a:moveTo>
                  <a:pt x="47999" y="1298389"/>
                </a:moveTo>
                <a:lnTo>
                  <a:pt x="38399" y="1298389"/>
                </a:lnTo>
                <a:lnTo>
                  <a:pt x="38399" y="1346389"/>
                </a:lnTo>
                <a:lnTo>
                  <a:pt x="47999" y="1346389"/>
                </a:lnTo>
                <a:lnTo>
                  <a:pt x="47999" y="1298389"/>
                </a:lnTo>
                <a:close/>
              </a:path>
              <a:path w="267970" h="2078989">
                <a:moveTo>
                  <a:pt x="28799" y="1202389"/>
                </a:moveTo>
                <a:lnTo>
                  <a:pt x="0" y="1202389"/>
                </a:lnTo>
                <a:lnTo>
                  <a:pt x="0" y="1250389"/>
                </a:lnTo>
                <a:lnTo>
                  <a:pt x="28799" y="1250389"/>
                </a:lnTo>
                <a:lnTo>
                  <a:pt x="28799" y="1202389"/>
                </a:lnTo>
                <a:close/>
              </a:path>
              <a:path w="267970" h="2078989">
                <a:moveTo>
                  <a:pt x="47999" y="1202389"/>
                </a:moveTo>
                <a:lnTo>
                  <a:pt x="38399" y="1202389"/>
                </a:lnTo>
                <a:lnTo>
                  <a:pt x="38399" y="1250389"/>
                </a:lnTo>
                <a:lnTo>
                  <a:pt x="47999" y="1250389"/>
                </a:lnTo>
                <a:lnTo>
                  <a:pt x="47999" y="1202389"/>
                </a:lnTo>
                <a:close/>
              </a:path>
              <a:path w="267970" h="2078989">
                <a:moveTo>
                  <a:pt x="28799" y="1106389"/>
                </a:moveTo>
                <a:lnTo>
                  <a:pt x="0" y="1106389"/>
                </a:lnTo>
                <a:lnTo>
                  <a:pt x="0" y="1154389"/>
                </a:lnTo>
                <a:lnTo>
                  <a:pt x="28799" y="1154389"/>
                </a:lnTo>
                <a:lnTo>
                  <a:pt x="28799" y="1106389"/>
                </a:lnTo>
                <a:close/>
              </a:path>
              <a:path w="267970" h="2078989">
                <a:moveTo>
                  <a:pt x="47999" y="1106389"/>
                </a:moveTo>
                <a:lnTo>
                  <a:pt x="38399" y="1106389"/>
                </a:lnTo>
                <a:lnTo>
                  <a:pt x="38399" y="1154389"/>
                </a:lnTo>
                <a:lnTo>
                  <a:pt x="47999" y="1154389"/>
                </a:lnTo>
                <a:lnTo>
                  <a:pt x="47999" y="1106389"/>
                </a:lnTo>
                <a:close/>
              </a:path>
              <a:path w="267970" h="2078989">
                <a:moveTo>
                  <a:pt x="28799" y="1010389"/>
                </a:moveTo>
                <a:lnTo>
                  <a:pt x="0" y="1010389"/>
                </a:lnTo>
                <a:lnTo>
                  <a:pt x="0" y="1058388"/>
                </a:lnTo>
                <a:lnTo>
                  <a:pt x="28799" y="1058388"/>
                </a:lnTo>
                <a:lnTo>
                  <a:pt x="28799" y="1010389"/>
                </a:lnTo>
                <a:close/>
              </a:path>
              <a:path w="267970" h="2078989">
                <a:moveTo>
                  <a:pt x="47999" y="1010389"/>
                </a:moveTo>
                <a:lnTo>
                  <a:pt x="38399" y="1010389"/>
                </a:lnTo>
                <a:lnTo>
                  <a:pt x="38399" y="1058388"/>
                </a:lnTo>
                <a:lnTo>
                  <a:pt x="47999" y="1058388"/>
                </a:lnTo>
                <a:lnTo>
                  <a:pt x="47999" y="1010389"/>
                </a:lnTo>
                <a:close/>
              </a:path>
              <a:path w="267970" h="2078989">
                <a:moveTo>
                  <a:pt x="28799" y="914389"/>
                </a:moveTo>
                <a:lnTo>
                  <a:pt x="0" y="914389"/>
                </a:lnTo>
                <a:lnTo>
                  <a:pt x="0" y="962389"/>
                </a:lnTo>
                <a:lnTo>
                  <a:pt x="28799" y="962389"/>
                </a:lnTo>
                <a:lnTo>
                  <a:pt x="28799" y="914389"/>
                </a:lnTo>
                <a:close/>
              </a:path>
              <a:path w="267970" h="2078989">
                <a:moveTo>
                  <a:pt x="47999" y="914389"/>
                </a:moveTo>
                <a:lnTo>
                  <a:pt x="38399" y="914389"/>
                </a:lnTo>
                <a:lnTo>
                  <a:pt x="38399" y="962389"/>
                </a:lnTo>
                <a:lnTo>
                  <a:pt x="47999" y="962389"/>
                </a:lnTo>
                <a:lnTo>
                  <a:pt x="47999" y="914389"/>
                </a:lnTo>
                <a:close/>
              </a:path>
              <a:path w="267970" h="2078989">
                <a:moveTo>
                  <a:pt x="28799" y="818389"/>
                </a:moveTo>
                <a:lnTo>
                  <a:pt x="0" y="818389"/>
                </a:lnTo>
                <a:lnTo>
                  <a:pt x="0" y="866388"/>
                </a:lnTo>
                <a:lnTo>
                  <a:pt x="28799" y="866388"/>
                </a:lnTo>
                <a:lnTo>
                  <a:pt x="28799" y="818389"/>
                </a:lnTo>
                <a:close/>
              </a:path>
              <a:path w="267970" h="2078989">
                <a:moveTo>
                  <a:pt x="47999" y="818389"/>
                </a:moveTo>
                <a:lnTo>
                  <a:pt x="38399" y="818389"/>
                </a:lnTo>
                <a:lnTo>
                  <a:pt x="38399" y="866388"/>
                </a:lnTo>
                <a:lnTo>
                  <a:pt x="47999" y="866388"/>
                </a:lnTo>
                <a:lnTo>
                  <a:pt x="47999" y="818389"/>
                </a:lnTo>
                <a:close/>
              </a:path>
              <a:path w="267970" h="2078989">
                <a:moveTo>
                  <a:pt x="28799" y="722389"/>
                </a:moveTo>
                <a:lnTo>
                  <a:pt x="0" y="722389"/>
                </a:lnTo>
                <a:lnTo>
                  <a:pt x="0" y="770389"/>
                </a:lnTo>
                <a:lnTo>
                  <a:pt x="28799" y="770389"/>
                </a:lnTo>
                <a:lnTo>
                  <a:pt x="28799" y="722389"/>
                </a:lnTo>
                <a:close/>
              </a:path>
              <a:path w="267970" h="2078989">
                <a:moveTo>
                  <a:pt x="47999" y="722389"/>
                </a:moveTo>
                <a:lnTo>
                  <a:pt x="38399" y="722389"/>
                </a:lnTo>
                <a:lnTo>
                  <a:pt x="38399" y="770389"/>
                </a:lnTo>
                <a:lnTo>
                  <a:pt x="47999" y="770389"/>
                </a:lnTo>
                <a:lnTo>
                  <a:pt x="47999" y="722389"/>
                </a:lnTo>
                <a:close/>
              </a:path>
              <a:path w="267970" h="2078989">
                <a:moveTo>
                  <a:pt x="28799" y="626389"/>
                </a:moveTo>
                <a:lnTo>
                  <a:pt x="0" y="626389"/>
                </a:lnTo>
                <a:lnTo>
                  <a:pt x="0" y="674389"/>
                </a:lnTo>
                <a:lnTo>
                  <a:pt x="28799" y="674389"/>
                </a:lnTo>
                <a:lnTo>
                  <a:pt x="28799" y="626389"/>
                </a:lnTo>
                <a:close/>
              </a:path>
              <a:path w="267970" h="2078989">
                <a:moveTo>
                  <a:pt x="47999" y="626389"/>
                </a:moveTo>
                <a:lnTo>
                  <a:pt x="38399" y="626389"/>
                </a:lnTo>
                <a:lnTo>
                  <a:pt x="38399" y="674389"/>
                </a:lnTo>
                <a:lnTo>
                  <a:pt x="47999" y="674389"/>
                </a:lnTo>
                <a:lnTo>
                  <a:pt x="47999" y="626389"/>
                </a:lnTo>
                <a:close/>
              </a:path>
              <a:path w="267970" h="2078989">
                <a:moveTo>
                  <a:pt x="28799" y="530388"/>
                </a:moveTo>
                <a:lnTo>
                  <a:pt x="0" y="530388"/>
                </a:lnTo>
                <a:lnTo>
                  <a:pt x="0" y="578389"/>
                </a:lnTo>
                <a:lnTo>
                  <a:pt x="28799" y="578389"/>
                </a:lnTo>
                <a:lnTo>
                  <a:pt x="28799" y="530388"/>
                </a:lnTo>
                <a:close/>
              </a:path>
              <a:path w="267970" h="2078989">
                <a:moveTo>
                  <a:pt x="47999" y="530388"/>
                </a:moveTo>
                <a:lnTo>
                  <a:pt x="38399" y="530388"/>
                </a:lnTo>
                <a:lnTo>
                  <a:pt x="38399" y="578389"/>
                </a:lnTo>
                <a:lnTo>
                  <a:pt x="47999" y="578389"/>
                </a:lnTo>
                <a:lnTo>
                  <a:pt x="47999" y="530388"/>
                </a:lnTo>
                <a:close/>
              </a:path>
              <a:path w="267970" h="2078989">
                <a:moveTo>
                  <a:pt x="28799" y="434389"/>
                </a:moveTo>
                <a:lnTo>
                  <a:pt x="0" y="434389"/>
                </a:lnTo>
                <a:lnTo>
                  <a:pt x="0" y="482389"/>
                </a:lnTo>
                <a:lnTo>
                  <a:pt x="28799" y="482389"/>
                </a:lnTo>
                <a:lnTo>
                  <a:pt x="28799" y="434389"/>
                </a:lnTo>
                <a:close/>
              </a:path>
              <a:path w="267970" h="2078989">
                <a:moveTo>
                  <a:pt x="47999" y="434389"/>
                </a:moveTo>
                <a:lnTo>
                  <a:pt x="38399" y="434389"/>
                </a:lnTo>
                <a:lnTo>
                  <a:pt x="38399" y="482389"/>
                </a:lnTo>
                <a:lnTo>
                  <a:pt x="47999" y="482389"/>
                </a:lnTo>
                <a:lnTo>
                  <a:pt x="47999" y="434389"/>
                </a:lnTo>
                <a:close/>
              </a:path>
              <a:path w="267970" h="2078989">
                <a:moveTo>
                  <a:pt x="28799" y="338388"/>
                </a:moveTo>
                <a:lnTo>
                  <a:pt x="0" y="338388"/>
                </a:lnTo>
                <a:lnTo>
                  <a:pt x="0" y="386389"/>
                </a:lnTo>
                <a:lnTo>
                  <a:pt x="28799" y="386389"/>
                </a:lnTo>
                <a:lnTo>
                  <a:pt x="28799" y="338388"/>
                </a:lnTo>
                <a:close/>
              </a:path>
              <a:path w="267970" h="2078989">
                <a:moveTo>
                  <a:pt x="47999" y="338388"/>
                </a:moveTo>
                <a:lnTo>
                  <a:pt x="38399" y="338388"/>
                </a:lnTo>
                <a:lnTo>
                  <a:pt x="38399" y="386389"/>
                </a:lnTo>
                <a:lnTo>
                  <a:pt x="47999" y="386389"/>
                </a:lnTo>
                <a:lnTo>
                  <a:pt x="47999" y="338388"/>
                </a:lnTo>
                <a:close/>
              </a:path>
              <a:path w="267970" h="2078989">
                <a:moveTo>
                  <a:pt x="28799" y="242389"/>
                </a:moveTo>
                <a:lnTo>
                  <a:pt x="0" y="242389"/>
                </a:lnTo>
                <a:lnTo>
                  <a:pt x="0" y="290389"/>
                </a:lnTo>
                <a:lnTo>
                  <a:pt x="28799" y="290389"/>
                </a:lnTo>
                <a:lnTo>
                  <a:pt x="28799" y="242389"/>
                </a:lnTo>
                <a:close/>
              </a:path>
              <a:path w="267970" h="2078989">
                <a:moveTo>
                  <a:pt x="47999" y="242389"/>
                </a:moveTo>
                <a:lnTo>
                  <a:pt x="38399" y="242389"/>
                </a:lnTo>
                <a:lnTo>
                  <a:pt x="38399" y="290389"/>
                </a:lnTo>
                <a:lnTo>
                  <a:pt x="47999" y="290389"/>
                </a:lnTo>
                <a:lnTo>
                  <a:pt x="47999" y="242389"/>
                </a:lnTo>
                <a:close/>
              </a:path>
              <a:path w="267970" h="2078989">
                <a:moveTo>
                  <a:pt x="28799" y="146389"/>
                </a:moveTo>
                <a:lnTo>
                  <a:pt x="0" y="146389"/>
                </a:lnTo>
                <a:lnTo>
                  <a:pt x="0" y="194390"/>
                </a:lnTo>
                <a:lnTo>
                  <a:pt x="28799" y="194390"/>
                </a:lnTo>
                <a:lnTo>
                  <a:pt x="28799" y="146389"/>
                </a:lnTo>
                <a:close/>
              </a:path>
              <a:path w="267970" h="2078989">
                <a:moveTo>
                  <a:pt x="47999" y="146389"/>
                </a:moveTo>
                <a:lnTo>
                  <a:pt x="38399" y="146389"/>
                </a:lnTo>
                <a:lnTo>
                  <a:pt x="38399" y="194390"/>
                </a:lnTo>
                <a:lnTo>
                  <a:pt x="47999" y="194390"/>
                </a:lnTo>
                <a:lnTo>
                  <a:pt x="47999" y="146389"/>
                </a:lnTo>
                <a:close/>
              </a:path>
              <a:path w="267970" h="2078989">
                <a:moveTo>
                  <a:pt x="2645" y="43436"/>
                </a:moveTo>
                <a:lnTo>
                  <a:pt x="1344" y="47623"/>
                </a:lnTo>
                <a:lnTo>
                  <a:pt x="1024" y="49199"/>
                </a:lnTo>
                <a:lnTo>
                  <a:pt x="759" y="51974"/>
                </a:lnTo>
                <a:lnTo>
                  <a:pt x="0" y="60576"/>
                </a:lnTo>
                <a:lnTo>
                  <a:pt x="0" y="98389"/>
                </a:lnTo>
                <a:lnTo>
                  <a:pt x="28799" y="98389"/>
                </a:lnTo>
                <a:lnTo>
                  <a:pt x="28799" y="60576"/>
                </a:lnTo>
                <a:lnTo>
                  <a:pt x="29470" y="54166"/>
                </a:lnTo>
                <a:lnTo>
                  <a:pt x="30151" y="51974"/>
                </a:lnTo>
                <a:lnTo>
                  <a:pt x="2645" y="43436"/>
                </a:lnTo>
                <a:close/>
              </a:path>
              <a:path w="267970" h="2078989">
                <a:moveTo>
                  <a:pt x="39319" y="54820"/>
                </a:moveTo>
                <a:lnTo>
                  <a:pt x="38924" y="56090"/>
                </a:lnTo>
                <a:lnTo>
                  <a:pt x="38399" y="60576"/>
                </a:lnTo>
                <a:lnTo>
                  <a:pt x="38399" y="98389"/>
                </a:lnTo>
                <a:lnTo>
                  <a:pt x="47999" y="98389"/>
                </a:lnTo>
                <a:lnTo>
                  <a:pt x="47999" y="60576"/>
                </a:lnTo>
                <a:lnTo>
                  <a:pt x="48379" y="58013"/>
                </a:lnTo>
                <a:lnTo>
                  <a:pt x="48487" y="57666"/>
                </a:lnTo>
                <a:lnTo>
                  <a:pt x="39319" y="54820"/>
                </a:lnTo>
                <a:close/>
              </a:path>
              <a:path w="267970" h="2078989">
                <a:moveTo>
                  <a:pt x="109392" y="0"/>
                </a:moveTo>
                <a:lnTo>
                  <a:pt x="61393" y="0"/>
                </a:lnTo>
                <a:lnTo>
                  <a:pt x="61393" y="28799"/>
                </a:lnTo>
                <a:lnTo>
                  <a:pt x="109392" y="28799"/>
                </a:lnTo>
                <a:lnTo>
                  <a:pt x="109392" y="0"/>
                </a:lnTo>
                <a:close/>
              </a:path>
              <a:path w="267970" h="2078989">
                <a:moveTo>
                  <a:pt x="109392" y="38399"/>
                </a:moveTo>
                <a:lnTo>
                  <a:pt x="61393" y="38399"/>
                </a:lnTo>
                <a:lnTo>
                  <a:pt x="61393" y="47999"/>
                </a:lnTo>
                <a:lnTo>
                  <a:pt x="109392" y="47999"/>
                </a:lnTo>
                <a:lnTo>
                  <a:pt x="109392" y="38399"/>
                </a:lnTo>
                <a:close/>
              </a:path>
              <a:path w="267970" h="2078989">
                <a:moveTo>
                  <a:pt x="205393" y="0"/>
                </a:moveTo>
                <a:lnTo>
                  <a:pt x="157393" y="0"/>
                </a:lnTo>
                <a:lnTo>
                  <a:pt x="157393" y="28799"/>
                </a:lnTo>
                <a:lnTo>
                  <a:pt x="205393" y="28799"/>
                </a:lnTo>
                <a:lnTo>
                  <a:pt x="205393" y="0"/>
                </a:lnTo>
                <a:close/>
              </a:path>
              <a:path w="267970" h="2078989">
                <a:moveTo>
                  <a:pt x="205393" y="38399"/>
                </a:moveTo>
                <a:lnTo>
                  <a:pt x="157393" y="38399"/>
                </a:lnTo>
                <a:lnTo>
                  <a:pt x="157393" y="47999"/>
                </a:lnTo>
                <a:lnTo>
                  <a:pt x="205393" y="47999"/>
                </a:lnTo>
                <a:lnTo>
                  <a:pt x="205393" y="38399"/>
                </a:lnTo>
                <a:close/>
              </a:path>
              <a:path w="267970" h="2078989">
                <a:moveTo>
                  <a:pt x="264612" y="42797"/>
                </a:moveTo>
                <a:lnTo>
                  <a:pt x="237106" y="51335"/>
                </a:lnTo>
                <a:lnTo>
                  <a:pt x="237985" y="54166"/>
                </a:lnTo>
                <a:lnTo>
                  <a:pt x="238679" y="61057"/>
                </a:lnTo>
                <a:lnTo>
                  <a:pt x="238655" y="97720"/>
                </a:lnTo>
                <a:lnTo>
                  <a:pt x="267455" y="97720"/>
                </a:lnTo>
                <a:lnTo>
                  <a:pt x="267335" y="58168"/>
                </a:lnTo>
                <a:lnTo>
                  <a:pt x="266430" y="49199"/>
                </a:lnTo>
                <a:lnTo>
                  <a:pt x="266109" y="47622"/>
                </a:lnTo>
                <a:lnTo>
                  <a:pt x="264612" y="42797"/>
                </a:lnTo>
                <a:close/>
              </a:path>
              <a:path w="267970" h="2078989">
                <a:moveTo>
                  <a:pt x="227938" y="54182"/>
                </a:moveTo>
                <a:lnTo>
                  <a:pt x="218768" y="57028"/>
                </a:lnTo>
                <a:lnTo>
                  <a:pt x="219076" y="58013"/>
                </a:lnTo>
                <a:lnTo>
                  <a:pt x="219479" y="62020"/>
                </a:lnTo>
                <a:lnTo>
                  <a:pt x="219455" y="97720"/>
                </a:lnTo>
                <a:lnTo>
                  <a:pt x="229055" y="97720"/>
                </a:lnTo>
                <a:lnTo>
                  <a:pt x="229128" y="62020"/>
                </a:lnTo>
                <a:lnTo>
                  <a:pt x="228530" y="56090"/>
                </a:lnTo>
                <a:lnTo>
                  <a:pt x="227938" y="54182"/>
                </a:lnTo>
                <a:close/>
              </a:path>
              <a:path w="267970" h="2078989">
                <a:moveTo>
                  <a:pt x="267455" y="145719"/>
                </a:moveTo>
                <a:lnTo>
                  <a:pt x="238655" y="145719"/>
                </a:lnTo>
                <a:lnTo>
                  <a:pt x="238655" y="193720"/>
                </a:lnTo>
                <a:lnTo>
                  <a:pt x="267455" y="193720"/>
                </a:lnTo>
                <a:lnTo>
                  <a:pt x="267455" y="145719"/>
                </a:lnTo>
                <a:close/>
              </a:path>
              <a:path w="267970" h="2078989">
                <a:moveTo>
                  <a:pt x="229055" y="145719"/>
                </a:moveTo>
                <a:lnTo>
                  <a:pt x="219455" y="145719"/>
                </a:lnTo>
                <a:lnTo>
                  <a:pt x="219455" y="193720"/>
                </a:lnTo>
                <a:lnTo>
                  <a:pt x="229055" y="193720"/>
                </a:lnTo>
                <a:lnTo>
                  <a:pt x="229055" y="145719"/>
                </a:lnTo>
                <a:close/>
              </a:path>
              <a:path w="267970" h="2078989">
                <a:moveTo>
                  <a:pt x="267455" y="241720"/>
                </a:moveTo>
                <a:lnTo>
                  <a:pt x="238655" y="241720"/>
                </a:lnTo>
                <a:lnTo>
                  <a:pt x="238655" y="289720"/>
                </a:lnTo>
                <a:lnTo>
                  <a:pt x="267455" y="289720"/>
                </a:lnTo>
                <a:lnTo>
                  <a:pt x="267455" y="241720"/>
                </a:lnTo>
                <a:close/>
              </a:path>
              <a:path w="267970" h="2078989">
                <a:moveTo>
                  <a:pt x="229055" y="241720"/>
                </a:moveTo>
                <a:lnTo>
                  <a:pt x="219455" y="241720"/>
                </a:lnTo>
                <a:lnTo>
                  <a:pt x="219455" y="289720"/>
                </a:lnTo>
                <a:lnTo>
                  <a:pt x="229055" y="289720"/>
                </a:lnTo>
                <a:lnTo>
                  <a:pt x="229055" y="241720"/>
                </a:lnTo>
                <a:close/>
              </a:path>
              <a:path w="267970" h="2078989">
                <a:moveTo>
                  <a:pt x="267455" y="337719"/>
                </a:moveTo>
                <a:lnTo>
                  <a:pt x="238655" y="337719"/>
                </a:lnTo>
                <a:lnTo>
                  <a:pt x="238655" y="385720"/>
                </a:lnTo>
                <a:lnTo>
                  <a:pt x="267455" y="385720"/>
                </a:lnTo>
                <a:lnTo>
                  <a:pt x="267455" y="337719"/>
                </a:lnTo>
                <a:close/>
              </a:path>
              <a:path w="267970" h="2078989">
                <a:moveTo>
                  <a:pt x="229055" y="337719"/>
                </a:moveTo>
                <a:lnTo>
                  <a:pt x="219455" y="337719"/>
                </a:lnTo>
                <a:lnTo>
                  <a:pt x="219455" y="385720"/>
                </a:lnTo>
                <a:lnTo>
                  <a:pt x="229055" y="385720"/>
                </a:lnTo>
                <a:lnTo>
                  <a:pt x="229055" y="337719"/>
                </a:lnTo>
                <a:close/>
              </a:path>
              <a:path w="267970" h="2078989">
                <a:moveTo>
                  <a:pt x="267455" y="433720"/>
                </a:moveTo>
                <a:lnTo>
                  <a:pt x="238655" y="433720"/>
                </a:lnTo>
                <a:lnTo>
                  <a:pt x="238655" y="481719"/>
                </a:lnTo>
                <a:lnTo>
                  <a:pt x="267455" y="481719"/>
                </a:lnTo>
                <a:lnTo>
                  <a:pt x="267455" y="433720"/>
                </a:lnTo>
                <a:close/>
              </a:path>
              <a:path w="267970" h="2078989">
                <a:moveTo>
                  <a:pt x="229055" y="433720"/>
                </a:moveTo>
                <a:lnTo>
                  <a:pt x="219455" y="433720"/>
                </a:lnTo>
                <a:lnTo>
                  <a:pt x="219455" y="481719"/>
                </a:lnTo>
                <a:lnTo>
                  <a:pt x="229055" y="481719"/>
                </a:lnTo>
                <a:lnTo>
                  <a:pt x="229055" y="433720"/>
                </a:lnTo>
                <a:close/>
              </a:path>
              <a:path w="267970" h="2078989">
                <a:moveTo>
                  <a:pt x="267455" y="529719"/>
                </a:moveTo>
                <a:lnTo>
                  <a:pt x="238655" y="529719"/>
                </a:lnTo>
                <a:lnTo>
                  <a:pt x="238655" y="577720"/>
                </a:lnTo>
                <a:lnTo>
                  <a:pt x="267455" y="577720"/>
                </a:lnTo>
                <a:lnTo>
                  <a:pt x="267455" y="529719"/>
                </a:lnTo>
                <a:close/>
              </a:path>
              <a:path w="267970" h="2078989">
                <a:moveTo>
                  <a:pt x="229055" y="529719"/>
                </a:moveTo>
                <a:lnTo>
                  <a:pt x="219455" y="529719"/>
                </a:lnTo>
                <a:lnTo>
                  <a:pt x="219455" y="577720"/>
                </a:lnTo>
                <a:lnTo>
                  <a:pt x="229055" y="577720"/>
                </a:lnTo>
                <a:lnTo>
                  <a:pt x="229055" y="529719"/>
                </a:lnTo>
                <a:close/>
              </a:path>
              <a:path w="267970" h="2078989">
                <a:moveTo>
                  <a:pt x="267455" y="625720"/>
                </a:moveTo>
                <a:lnTo>
                  <a:pt x="238655" y="625720"/>
                </a:lnTo>
                <a:lnTo>
                  <a:pt x="238655" y="673719"/>
                </a:lnTo>
                <a:lnTo>
                  <a:pt x="267455" y="673719"/>
                </a:lnTo>
                <a:lnTo>
                  <a:pt x="267455" y="625720"/>
                </a:lnTo>
                <a:close/>
              </a:path>
              <a:path w="267970" h="2078989">
                <a:moveTo>
                  <a:pt x="229055" y="625720"/>
                </a:moveTo>
                <a:lnTo>
                  <a:pt x="219455" y="625720"/>
                </a:lnTo>
                <a:lnTo>
                  <a:pt x="219455" y="673719"/>
                </a:lnTo>
                <a:lnTo>
                  <a:pt x="229055" y="673719"/>
                </a:lnTo>
                <a:lnTo>
                  <a:pt x="229055" y="625720"/>
                </a:lnTo>
                <a:close/>
              </a:path>
              <a:path w="267970" h="2078989">
                <a:moveTo>
                  <a:pt x="267455" y="721720"/>
                </a:moveTo>
                <a:lnTo>
                  <a:pt x="238655" y="721720"/>
                </a:lnTo>
                <a:lnTo>
                  <a:pt x="238655" y="769720"/>
                </a:lnTo>
                <a:lnTo>
                  <a:pt x="267455" y="769720"/>
                </a:lnTo>
                <a:lnTo>
                  <a:pt x="267455" y="721720"/>
                </a:lnTo>
                <a:close/>
              </a:path>
              <a:path w="267970" h="2078989">
                <a:moveTo>
                  <a:pt x="229055" y="721720"/>
                </a:moveTo>
                <a:lnTo>
                  <a:pt x="219455" y="721720"/>
                </a:lnTo>
                <a:lnTo>
                  <a:pt x="219455" y="769720"/>
                </a:lnTo>
                <a:lnTo>
                  <a:pt x="229055" y="769720"/>
                </a:lnTo>
                <a:lnTo>
                  <a:pt x="229055" y="721720"/>
                </a:lnTo>
                <a:close/>
              </a:path>
              <a:path w="267970" h="2078989">
                <a:moveTo>
                  <a:pt x="267455" y="817719"/>
                </a:moveTo>
                <a:lnTo>
                  <a:pt x="238655" y="817719"/>
                </a:lnTo>
                <a:lnTo>
                  <a:pt x="238655" y="865719"/>
                </a:lnTo>
                <a:lnTo>
                  <a:pt x="267455" y="865719"/>
                </a:lnTo>
                <a:lnTo>
                  <a:pt x="267455" y="817719"/>
                </a:lnTo>
                <a:close/>
              </a:path>
              <a:path w="267970" h="2078989">
                <a:moveTo>
                  <a:pt x="229055" y="817719"/>
                </a:moveTo>
                <a:lnTo>
                  <a:pt x="219455" y="817719"/>
                </a:lnTo>
                <a:lnTo>
                  <a:pt x="219455" y="865719"/>
                </a:lnTo>
                <a:lnTo>
                  <a:pt x="229055" y="865719"/>
                </a:lnTo>
                <a:lnTo>
                  <a:pt x="229055" y="817719"/>
                </a:lnTo>
                <a:close/>
              </a:path>
              <a:path w="267970" h="2078989">
                <a:moveTo>
                  <a:pt x="267455" y="913720"/>
                </a:moveTo>
                <a:lnTo>
                  <a:pt x="238655" y="913720"/>
                </a:lnTo>
                <a:lnTo>
                  <a:pt x="238655" y="961720"/>
                </a:lnTo>
                <a:lnTo>
                  <a:pt x="267455" y="961720"/>
                </a:lnTo>
                <a:lnTo>
                  <a:pt x="267455" y="913720"/>
                </a:lnTo>
                <a:close/>
              </a:path>
              <a:path w="267970" h="2078989">
                <a:moveTo>
                  <a:pt x="229055" y="913720"/>
                </a:moveTo>
                <a:lnTo>
                  <a:pt x="219455" y="913720"/>
                </a:lnTo>
                <a:lnTo>
                  <a:pt x="219455" y="961720"/>
                </a:lnTo>
                <a:lnTo>
                  <a:pt x="229055" y="961720"/>
                </a:lnTo>
                <a:lnTo>
                  <a:pt x="229055" y="913720"/>
                </a:lnTo>
                <a:close/>
              </a:path>
              <a:path w="267970" h="2078989">
                <a:moveTo>
                  <a:pt x="267455" y="1009719"/>
                </a:moveTo>
                <a:lnTo>
                  <a:pt x="238655" y="1009719"/>
                </a:lnTo>
                <a:lnTo>
                  <a:pt x="238655" y="1057719"/>
                </a:lnTo>
                <a:lnTo>
                  <a:pt x="267455" y="1057719"/>
                </a:lnTo>
                <a:lnTo>
                  <a:pt x="267455" y="1009719"/>
                </a:lnTo>
                <a:close/>
              </a:path>
              <a:path w="267970" h="2078989">
                <a:moveTo>
                  <a:pt x="229055" y="1009719"/>
                </a:moveTo>
                <a:lnTo>
                  <a:pt x="219455" y="1009719"/>
                </a:lnTo>
                <a:lnTo>
                  <a:pt x="219455" y="1057719"/>
                </a:lnTo>
                <a:lnTo>
                  <a:pt x="229055" y="1057719"/>
                </a:lnTo>
                <a:lnTo>
                  <a:pt x="229055" y="1009719"/>
                </a:lnTo>
                <a:close/>
              </a:path>
              <a:path w="267970" h="2078989">
                <a:moveTo>
                  <a:pt x="267455" y="1105720"/>
                </a:moveTo>
                <a:lnTo>
                  <a:pt x="238655" y="1105720"/>
                </a:lnTo>
                <a:lnTo>
                  <a:pt x="238655" y="1153720"/>
                </a:lnTo>
                <a:lnTo>
                  <a:pt x="267455" y="1153720"/>
                </a:lnTo>
                <a:lnTo>
                  <a:pt x="267455" y="1105720"/>
                </a:lnTo>
                <a:close/>
              </a:path>
              <a:path w="267970" h="2078989">
                <a:moveTo>
                  <a:pt x="229055" y="1105720"/>
                </a:moveTo>
                <a:lnTo>
                  <a:pt x="219455" y="1105720"/>
                </a:lnTo>
                <a:lnTo>
                  <a:pt x="219455" y="1153720"/>
                </a:lnTo>
                <a:lnTo>
                  <a:pt x="229055" y="1153720"/>
                </a:lnTo>
                <a:lnTo>
                  <a:pt x="229055" y="1105720"/>
                </a:lnTo>
                <a:close/>
              </a:path>
              <a:path w="267970" h="2078989">
                <a:moveTo>
                  <a:pt x="267455" y="1201719"/>
                </a:moveTo>
                <a:lnTo>
                  <a:pt x="238655" y="1201719"/>
                </a:lnTo>
                <a:lnTo>
                  <a:pt x="238655" y="1249720"/>
                </a:lnTo>
                <a:lnTo>
                  <a:pt x="267455" y="1249720"/>
                </a:lnTo>
                <a:lnTo>
                  <a:pt x="267455" y="1201719"/>
                </a:lnTo>
                <a:close/>
              </a:path>
              <a:path w="267970" h="2078989">
                <a:moveTo>
                  <a:pt x="229055" y="1201719"/>
                </a:moveTo>
                <a:lnTo>
                  <a:pt x="219455" y="1201719"/>
                </a:lnTo>
                <a:lnTo>
                  <a:pt x="219455" y="1249720"/>
                </a:lnTo>
                <a:lnTo>
                  <a:pt x="229055" y="1249720"/>
                </a:lnTo>
                <a:lnTo>
                  <a:pt x="229055" y="1201719"/>
                </a:lnTo>
                <a:close/>
              </a:path>
              <a:path w="267970" h="2078989">
                <a:moveTo>
                  <a:pt x="267455" y="1297720"/>
                </a:moveTo>
                <a:lnTo>
                  <a:pt x="238655" y="1297720"/>
                </a:lnTo>
                <a:lnTo>
                  <a:pt x="238655" y="1345719"/>
                </a:lnTo>
                <a:lnTo>
                  <a:pt x="267455" y="1345719"/>
                </a:lnTo>
                <a:lnTo>
                  <a:pt x="267455" y="1297720"/>
                </a:lnTo>
                <a:close/>
              </a:path>
              <a:path w="267970" h="2078989">
                <a:moveTo>
                  <a:pt x="229055" y="1297720"/>
                </a:moveTo>
                <a:lnTo>
                  <a:pt x="219455" y="1297720"/>
                </a:lnTo>
                <a:lnTo>
                  <a:pt x="219455" y="1345719"/>
                </a:lnTo>
                <a:lnTo>
                  <a:pt x="229055" y="1345719"/>
                </a:lnTo>
                <a:lnTo>
                  <a:pt x="229055" y="1297720"/>
                </a:lnTo>
                <a:close/>
              </a:path>
              <a:path w="267970" h="2078989">
                <a:moveTo>
                  <a:pt x="267455" y="1393719"/>
                </a:moveTo>
                <a:lnTo>
                  <a:pt x="238655" y="1393719"/>
                </a:lnTo>
                <a:lnTo>
                  <a:pt x="238655" y="1441720"/>
                </a:lnTo>
                <a:lnTo>
                  <a:pt x="267455" y="1441720"/>
                </a:lnTo>
                <a:lnTo>
                  <a:pt x="267455" y="1393719"/>
                </a:lnTo>
                <a:close/>
              </a:path>
              <a:path w="267970" h="2078989">
                <a:moveTo>
                  <a:pt x="229055" y="1393719"/>
                </a:moveTo>
                <a:lnTo>
                  <a:pt x="219455" y="1393719"/>
                </a:lnTo>
                <a:lnTo>
                  <a:pt x="219455" y="1441720"/>
                </a:lnTo>
                <a:lnTo>
                  <a:pt x="229055" y="1441720"/>
                </a:lnTo>
                <a:lnTo>
                  <a:pt x="229055" y="1393719"/>
                </a:lnTo>
                <a:close/>
              </a:path>
              <a:path w="267970" h="2078989">
                <a:moveTo>
                  <a:pt x="267455" y="1489720"/>
                </a:moveTo>
                <a:lnTo>
                  <a:pt x="238655" y="1489720"/>
                </a:lnTo>
                <a:lnTo>
                  <a:pt x="238655" y="1537719"/>
                </a:lnTo>
                <a:lnTo>
                  <a:pt x="267455" y="1537719"/>
                </a:lnTo>
                <a:lnTo>
                  <a:pt x="267455" y="1489720"/>
                </a:lnTo>
                <a:close/>
              </a:path>
              <a:path w="267970" h="2078989">
                <a:moveTo>
                  <a:pt x="229055" y="1489720"/>
                </a:moveTo>
                <a:lnTo>
                  <a:pt x="219455" y="1489720"/>
                </a:lnTo>
                <a:lnTo>
                  <a:pt x="219455" y="1537719"/>
                </a:lnTo>
                <a:lnTo>
                  <a:pt x="229055" y="1537719"/>
                </a:lnTo>
                <a:lnTo>
                  <a:pt x="229055" y="1489720"/>
                </a:lnTo>
                <a:close/>
              </a:path>
              <a:path w="267970" h="2078989">
                <a:moveTo>
                  <a:pt x="267455" y="1585720"/>
                </a:moveTo>
                <a:lnTo>
                  <a:pt x="238655" y="1585720"/>
                </a:lnTo>
                <a:lnTo>
                  <a:pt x="238655" y="1633720"/>
                </a:lnTo>
                <a:lnTo>
                  <a:pt x="267455" y="1633720"/>
                </a:lnTo>
                <a:lnTo>
                  <a:pt x="267455" y="1585720"/>
                </a:lnTo>
                <a:close/>
              </a:path>
              <a:path w="267970" h="2078989">
                <a:moveTo>
                  <a:pt x="229055" y="1585720"/>
                </a:moveTo>
                <a:lnTo>
                  <a:pt x="219455" y="1585720"/>
                </a:lnTo>
                <a:lnTo>
                  <a:pt x="219455" y="1633720"/>
                </a:lnTo>
                <a:lnTo>
                  <a:pt x="229055" y="1633720"/>
                </a:lnTo>
                <a:lnTo>
                  <a:pt x="229055" y="1585720"/>
                </a:lnTo>
                <a:close/>
              </a:path>
              <a:path w="267970" h="2078989">
                <a:moveTo>
                  <a:pt x="267455" y="1681720"/>
                </a:moveTo>
                <a:lnTo>
                  <a:pt x="238655" y="1681720"/>
                </a:lnTo>
                <a:lnTo>
                  <a:pt x="238655" y="1729719"/>
                </a:lnTo>
                <a:lnTo>
                  <a:pt x="267455" y="1729719"/>
                </a:lnTo>
                <a:lnTo>
                  <a:pt x="267455" y="1681720"/>
                </a:lnTo>
                <a:close/>
              </a:path>
              <a:path w="267970" h="2078989">
                <a:moveTo>
                  <a:pt x="229055" y="1681720"/>
                </a:moveTo>
                <a:lnTo>
                  <a:pt x="219455" y="1681720"/>
                </a:lnTo>
                <a:lnTo>
                  <a:pt x="219455" y="1729719"/>
                </a:lnTo>
                <a:lnTo>
                  <a:pt x="229055" y="1729719"/>
                </a:lnTo>
                <a:lnTo>
                  <a:pt x="229055" y="1681720"/>
                </a:lnTo>
                <a:close/>
              </a:path>
              <a:path w="267970" h="2078989">
                <a:moveTo>
                  <a:pt x="267455" y="1777720"/>
                </a:moveTo>
                <a:lnTo>
                  <a:pt x="238655" y="1777720"/>
                </a:lnTo>
                <a:lnTo>
                  <a:pt x="238655" y="1825720"/>
                </a:lnTo>
                <a:lnTo>
                  <a:pt x="267455" y="1825720"/>
                </a:lnTo>
                <a:lnTo>
                  <a:pt x="267455" y="1777720"/>
                </a:lnTo>
                <a:close/>
              </a:path>
              <a:path w="267970" h="2078989">
                <a:moveTo>
                  <a:pt x="229055" y="1777720"/>
                </a:moveTo>
                <a:lnTo>
                  <a:pt x="219455" y="1777720"/>
                </a:lnTo>
                <a:lnTo>
                  <a:pt x="219455" y="1825720"/>
                </a:lnTo>
                <a:lnTo>
                  <a:pt x="229055" y="1825720"/>
                </a:lnTo>
                <a:lnTo>
                  <a:pt x="229055" y="1777720"/>
                </a:lnTo>
                <a:close/>
              </a:path>
              <a:path w="267970" h="2078989">
                <a:moveTo>
                  <a:pt x="267455" y="1873719"/>
                </a:moveTo>
                <a:lnTo>
                  <a:pt x="238655" y="1873719"/>
                </a:lnTo>
                <a:lnTo>
                  <a:pt x="238655" y="1921719"/>
                </a:lnTo>
                <a:lnTo>
                  <a:pt x="267455" y="1921719"/>
                </a:lnTo>
                <a:lnTo>
                  <a:pt x="267455" y="1873719"/>
                </a:lnTo>
                <a:close/>
              </a:path>
              <a:path w="267970" h="2078989">
                <a:moveTo>
                  <a:pt x="229055" y="1873719"/>
                </a:moveTo>
                <a:lnTo>
                  <a:pt x="219455" y="1873719"/>
                </a:lnTo>
                <a:lnTo>
                  <a:pt x="219455" y="1921719"/>
                </a:lnTo>
                <a:lnTo>
                  <a:pt x="229055" y="1921719"/>
                </a:lnTo>
                <a:lnTo>
                  <a:pt x="229055" y="1873719"/>
                </a:lnTo>
                <a:close/>
              </a:path>
              <a:path w="267970" h="2078989">
                <a:moveTo>
                  <a:pt x="267455" y="1969720"/>
                </a:moveTo>
                <a:lnTo>
                  <a:pt x="238655" y="1969720"/>
                </a:lnTo>
                <a:lnTo>
                  <a:pt x="238655" y="2017720"/>
                </a:lnTo>
                <a:lnTo>
                  <a:pt x="267455" y="2017720"/>
                </a:lnTo>
                <a:lnTo>
                  <a:pt x="267455" y="1969720"/>
                </a:lnTo>
                <a:close/>
              </a:path>
              <a:path w="267970" h="2078989">
                <a:moveTo>
                  <a:pt x="229055" y="1969720"/>
                </a:moveTo>
                <a:lnTo>
                  <a:pt x="219455" y="1969720"/>
                </a:lnTo>
                <a:lnTo>
                  <a:pt x="219455" y="2017720"/>
                </a:lnTo>
                <a:lnTo>
                  <a:pt x="229055" y="2017720"/>
                </a:lnTo>
                <a:lnTo>
                  <a:pt x="229055" y="1969720"/>
                </a:lnTo>
                <a:close/>
              </a:path>
              <a:path w="267970" h="2078989">
                <a:moveTo>
                  <a:pt x="168918" y="2050166"/>
                </a:moveTo>
                <a:lnTo>
                  <a:pt x="168918" y="2078965"/>
                </a:lnTo>
                <a:lnTo>
                  <a:pt x="209285" y="2078845"/>
                </a:lnTo>
                <a:lnTo>
                  <a:pt x="218254" y="2077940"/>
                </a:lnTo>
                <a:lnTo>
                  <a:pt x="219831" y="2077619"/>
                </a:lnTo>
                <a:lnTo>
                  <a:pt x="223878" y="2076364"/>
                </a:lnTo>
                <a:lnTo>
                  <a:pt x="215753" y="2050190"/>
                </a:lnTo>
                <a:lnTo>
                  <a:pt x="168918" y="2050166"/>
                </a:lnTo>
                <a:close/>
              </a:path>
              <a:path w="267970" h="2078989">
                <a:moveTo>
                  <a:pt x="215339" y="2048859"/>
                </a:moveTo>
                <a:lnTo>
                  <a:pt x="213287" y="2049495"/>
                </a:lnTo>
                <a:lnTo>
                  <a:pt x="206396" y="2050190"/>
                </a:lnTo>
                <a:lnTo>
                  <a:pt x="215753" y="2050190"/>
                </a:lnTo>
                <a:lnTo>
                  <a:pt x="215339" y="2048859"/>
                </a:lnTo>
                <a:close/>
              </a:path>
              <a:path w="267970" h="2078989">
                <a:moveTo>
                  <a:pt x="168918" y="2030966"/>
                </a:moveTo>
                <a:lnTo>
                  <a:pt x="168918" y="2040566"/>
                </a:lnTo>
                <a:lnTo>
                  <a:pt x="205433" y="2040638"/>
                </a:lnTo>
                <a:lnTo>
                  <a:pt x="211364" y="2040041"/>
                </a:lnTo>
                <a:lnTo>
                  <a:pt x="212493" y="2039691"/>
                </a:lnTo>
                <a:lnTo>
                  <a:pt x="209823" y="2031086"/>
                </a:lnTo>
                <a:lnTo>
                  <a:pt x="204471" y="2031086"/>
                </a:lnTo>
                <a:lnTo>
                  <a:pt x="168918" y="2030966"/>
                </a:lnTo>
                <a:close/>
              </a:path>
              <a:path w="267970" h="2078989">
                <a:moveTo>
                  <a:pt x="209647" y="2030521"/>
                </a:moveTo>
                <a:lnTo>
                  <a:pt x="209440" y="2030586"/>
                </a:lnTo>
                <a:lnTo>
                  <a:pt x="204471" y="2031086"/>
                </a:lnTo>
                <a:lnTo>
                  <a:pt x="209823" y="2031086"/>
                </a:lnTo>
                <a:lnTo>
                  <a:pt x="209647" y="2030521"/>
                </a:lnTo>
                <a:close/>
              </a:path>
              <a:path w="267970" h="2078989">
                <a:moveTo>
                  <a:pt x="120917" y="2050166"/>
                </a:moveTo>
                <a:lnTo>
                  <a:pt x="72918" y="2050166"/>
                </a:lnTo>
                <a:lnTo>
                  <a:pt x="72918" y="2078965"/>
                </a:lnTo>
                <a:lnTo>
                  <a:pt x="120917" y="2078965"/>
                </a:lnTo>
                <a:lnTo>
                  <a:pt x="120917" y="2050166"/>
                </a:lnTo>
                <a:close/>
              </a:path>
              <a:path w="267970" h="2078989">
                <a:moveTo>
                  <a:pt x="120917" y="2030966"/>
                </a:moveTo>
                <a:lnTo>
                  <a:pt x="72918" y="2030966"/>
                </a:lnTo>
                <a:lnTo>
                  <a:pt x="72918" y="2040566"/>
                </a:lnTo>
                <a:lnTo>
                  <a:pt x="120917" y="2040566"/>
                </a:lnTo>
                <a:lnTo>
                  <a:pt x="120917" y="2030966"/>
                </a:lnTo>
                <a:close/>
              </a:path>
            </a:pathLst>
          </a:custGeom>
          <a:solidFill>
            <a:srgbClr val="5A63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98982" y="34361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98982" y="36393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98982" y="38425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98982" y="40457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98982" y="42489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98982" y="44521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98982" y="46553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98982" y="48585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98982" y="50617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98982" y="52649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18206" y="5557022"/>
            <a:ext cx="4270375" cy="375285"/>
          </a:xfrm>
          <a:custGeom>
            <a:avLst/>
            <a:gdLst/>
            <a:ahLst/>
            <a:cxnLst/>
            <a:rect l="l" t="t" r="r" b="b"/>
            <a:pathLst>
              <a:path w="4270375" h="375285">
                <a:moveTo>
                  <a:pt x="4270279" y="0"/>
                </a:moveTo>
                <a:lnTo>
                  <a:pt x="4264752" y="49844"/>
                </a:lnTo>
                <a:lnTo>
                  <a:pt x="4249154" y="94633"/>
                </a:lnTo>
                <a:lnTo>
                  <a:pt x="4224961" y="132580"/>
                </a:lnTo>
                <a:lnTo>
                  <a:pt x="4193647" y="161898"/>
                </a:lnTo>
                <a:lnTo>
                  <a:pt x="4156687" y="180799"/>
                </a:lnTo>
                <a:lnTo>
                  <a:pt x="4115556" y="187497"/>
                </a:lnTo>
                <a:lnTo>
                  <a:pt x="2289862" y="187497"/>
                </a:lnTo>
                <a:lnTo>
                  <a:pt x="2248730" y="194195"/>
                </a:lnTo>
                <a:lnTo>
                  <a:pt x="2211770" y="213096"/>
                </a:lnTo>
                <a:lnTo>
                  <a:pt x="2180456" y="242414"/>
                </a:lnTo>
                <a:lnTo>
                  <a:pt x="2156264" y="280361"/>
                </a:lnTo>
                <a:lnTo>
                  <a:pt x="2140666" y="325150"/>
                </a:lnTo>
                <a:lnTo>
                  <a:pt x="2135140" y="374995"/>
                </a:lnTo>
                <a:lnTo>
                  <a:pt x="2129613" y="325150"/>
                </a:lnTo>
                <a:lnTo>
                  <a:pt x="2114015" y="280361"/>
                </a:lnTo>
                <a:lnTo>
                  <a:pt x="2089822" y="242414"/>
                </a:lnTo>
                <a:lnTo>
                  <a:pt x="2058508" y="213096"/>
                </a:lnTo>
                <a:lnTo>
                  <a:pt x="2021548" y="194195"/>
                </a:lnTo>
                <a:lnTo>
                  <a:pt x="1980417" y="187497"/>
                </a:lnTo>
                <a:lnTo>
                  <a:pt x="154722" y="187497"/>
                </a:lnTo>
                <a:lnTo>
                  <a:pt x="113591" y="180799"/>
                </a:lnTo>
                <a:lnTo>
                  <a:pt x="76631" y="161898"/>
                </a:lnTo>
                <a:lnTo>
                  <a:pt x="45317" y="132580"/>
                </a:lnTo>
                <a:lnTo>
                  <a:pt x="21124" y="94633"/>
                </a:lnTo>
                <a:lnTo>
                  <a:pt x="5526" y="49844"/>
                </a:lnTo>
                <a:lnTo>
                  <a:pt x="0" y="0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65700" y="3392722"/>
            <a:ext cx="377190" cy="2030730"/>
          </a:xfrm>
          <a:custGeom>
            <a:avLst/>
            <a:gdLst/>
            <a:ahLst/>
            <a:cxnLst/>
            <a:rect l="l" t="t" r="r" b="b"/>
            <a:pathLst>
              <a:path w="377190" h="2030729">
                <a:moveTo>
                  <a:pt x="2" y="0"/>
                </a:moveTo>
                <a:lnTo>
                  <a:pt x="50100" y="6335"/>
                </a:lnTo>
                <a:lnTo>
                  <a:pt x="95117" y="24215"/>
                </a:lnTo>
                <a:lnTo>
                  <a:pt x="133257" y="51948"/>
                </a:lnTo>
                <a:lnTo>
                  <a:pt x="162725" y="87844"/>
                </a:lnTo>
                <a:lnTo>
                  <a:pt x="181722" y="130212"/>
                </a:lnTo>
                <a:lnTo>
                  <a:pt x="188454" y="177363"/>
                </a:lnTo>
                <a:lnTo>
                  <a:pt x="188452" y="837994"/>
                </a:lnTo>
                <a:lnTo>
                  <a:pt x="195183" y="885144"/>
                </a:lnTo>
                <a:lnTo>
                  <a:pt x="214181" y="927512"/>
                </a:lnTo>
                <a:lnTo>
                  <a:pt x="243648" y="963409"/>
                </a:lnTo>
                <a:lnTo>
                  <a:pt x="281788" y="991142"/>
                </a:lnTo>
                <a:lnTo>
                  <a:pt x="326806" y="1009022"/>
                </a:lnTo>
                <a:lnTo>
                  <a:pt x="376904" y="1015358"/>
                </a:lnTo>
                <a:lnTo>
                  <a:pt x="326806" y="1021693"/>
                </a:lnTo>
                <a:lnTo>
                  <a:pt x="281788" y="1039573"/>
                </a:lnTo>
                <a:lnTo>
                  <a:pt x="243648" y="1067306"/>
                </a:lnTo>
                <a:lnTo>
                  <a:pt x="214181" y="1103202"/>
                </a:lnTo>
                <a:lnTo>
                  <a:pt x="195183" y="1145570"/>
                </a:lnTo>
                <a:lnTo>
                  <a:pt x="188452" y="1192720"/>
                </a:lnTo>
                <a:lnTo>
                  <a:pt x="188452" y="1853351"/>
                </a:lnTo>
                <a:lnTo>
                  <a:pt x="181720" y="1900501"/>
                </a:lnTo>
                <a:lnTo>
                  <a:pt x="162722" y="1942870"/>
                </a:lnTo>
                <a:lnTo>
                  <a:pt x="133255" y="1978766"/>
                </a:lnTo>
                <a:lnTo>
                  <a:pt x="95115" y="2006499"/>
                </a:lnTo>
                <a:lnTo>
                  <a:pt x="50098" y="2024379"/>
                </a:lnTo>
                <a:lnTo>
                  <a:pt x="0" y="2030715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933646" y="3964940"/>
            <a:ext cx="2009775" cy="74803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250"/>
              </a:spcBef>
            </a:pPr>
            <a:r>
              <a:rPr dirty="0" sz="2400" spc="-50">
                <a:latin typeface="Arial"/>
                <a:cs typeface="Arial"/>
              </a:rPr>
              <a:t>Di</a:t>
            </a:r>
            <a:r>
              <a:rPr dirty="0" sz="2400" spc="-85">
                <a:latin typeface="Arial"/>
                <a:cs typeface="Arial"/>
              </a:rPr>
              <a:t>m</a:t>
            </a:r>
            <a:r>
              <a:rPr dirty="0" sz="2400" spc="-90">
                <a:latin typeface="Arial"/>
                <a:cs typeface="Arial"/>
              </a:rPr>
              <a:t>e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-55">
                <a:latin typeface="Arial"/>
                <a:cs typeface="Arial"/>
              </a:rPr>
              <a:t>s</a:t>
            </a:r>
            <a:r>
              <a:rPr dirty="0" sz="2400" spc="-25">
                <a:latin typeface="Arial"/>
                <a:cs typeface="Arial"/>
              </a:rPr>
              <a:t>i</a:t>
            </a:r>
            <a:r>
              <a:rPr dirty="0" sz="2400" spc="-65">
                <a:latin typeface="Arial"/>
                <a:cs typeface="Arial"/>
              </a:rPr>
              <a:t>o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125">
                <a:latin typeface="Arial"/>
                <a:cs typeface="Arial"/>
              </a:rPr>
              <a:t>/</a:t>
            </a:r>
            <a:r>
              <a:rPr dirty="0" sz="2400" spc="-55">
                <a:latin typeface="Arial"/>
                <a:cs typeface="Arial"/>
              </a:rPr>
              <a:t>s</a:t>
            </a:r>
            <a:r>
              <a:rPr dirty="0" sz="2400" spc="-50">
                <a:latin typeface="Arial"/>
                <a:cs typeface="Arial"/>
              </a:rPr>
              <a:t>i</a:t>
            </a:r>
            <a:r>
              <a:rPr dirty="0" sz="2400" spc="-125">
                <a:latin typeface="Arial"/>
                <a:cs typeface="Arial"/>
              </a:rPr>
              <a:t>z</a:t>
            </a:r>
            <a:r>
              <a:rPr dirty="0" sz="2400" spc="-60">
                <a:latin typeface="Arial"/>
                <a:cs typeface="Arial"/>
              </a:rPr>
              <a:t>e  </a:t>
            </a:r>
            <a:r>
              <a:rPr dirty="0" sz="2400" spc="-25">
                <a:latin typeface="Arial"/>
                <a:cs typeface="Arial"/>
              </a:rPr>
              <a:t>of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embeddings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3145" y="5839459"/>
            <a:ext cx="28327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one </a:t>
            </a:r>
            <a:r>
              <a:rPr dirty="0" sz="2400" spc="-25">
                <a:latin typeface="Arial"/>
                <a:cs typeface="Arial"/>
              </a:rPr>
              <a:t>column </a:t>
            </a:r>
            <a:r>
              <a:rPr dirty="0" sz="2400" spc="-35">
                <a:latin typeface="Arial"/>
                <a:cs typeface="Arial"/>
              </a:rPr>
              <a:t>per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789" y="2904235"/>
            <a:ext cx="1511300" cy="74803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354330" marR="5080" indent="-342265">
              <a:lnSpc>
                <a:spcPts val="2810"/>
              </a:lnSpc>
              <a:spcBef>
                <a:spcPts val="250"/>
              </a:spcBef>
            </a:pPr>
            <a:r>
              <a:rPr dirty="0" sz="2400" spc="-40">
                <a:latin typeface="Arial"/>
                <a:cs typeface="Arial"/>
              </a:rPr>
              <a:t>e</a:t>
            </a:r>
            <a:r>
              <a:rPr dirty="0" sz="2400" spc="-60">
                <a:latin typeface="Arial"/>
                <a:cs typeface="Arial"/>
              </a:rPr>
              <a:t>m</a:t>
            </a:r>
            <a:r>
              <a:rPr dirty="0" sz="2400" spc="30">
                <a:latin typeface="Arial"/>
                <a:cs typeface="Arial"/>
              </a:rPr>
              <a:t>b</a:t>
            </a:r>
            <a:r>
              <a:rPr dirty="0" sz="2400" spc="-25">
                <a:latin typeface="Arial"/>
                <a:cs typeface="Arial"/>
              </a:rPr>
              <a:t>e</a:t>
            </a:r>
            <a:r>
              <a:rPr dirty="0" sz="2400" spc="-30">
                <a:latin typeface="Arial"/>
                <a:cs typeface="Arial"/>
              </a:rPr>
              <a:t>d</a:t>
            </a:r>
            <a:r>
              <a:rPr dirty="0" sz="2400" spc="30">
                <a:latin typeface="Arial"/>
                <a:cs typeface="Arial"/>
              </a:rPr>
              <a:t>d</a:t>
            </a:r>
            <a:r>
              <a:rPr dirty="0" sz="2400" spc="-85">
                <a:latin typeface="Arial"/>
                <a:cs typeface="Arial"/>
              </a:rPr>
              <a:t>i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-5">
                <a:latin typeface="Arial"/>
                <a:cs typeface="Arial"/>
              </a:rPr>
              <a:t>g  </a:t>
            </a:r>
            <a:r>
              <a:rPr dirty="0" sz="2400" spc="-40"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2143" y="3635729"/>
            <a:ext cx="189230" cy="415925"/>
          </a:xfrm>
          <a:custGeom>
            <a:avLst/>
            <a:gdLst/>
            <a:ahLst/>
            <a:cxnLst/>
            <a:rect l="l" t="t" r="r" b="b"/>
            <a:pathLst>
              <a:path w="189230" h="415925">
                <a:moveTo>
                  <a:pt x="151068" y="346861"/>
                </a:moveTo>
                <a:lnTo>
                  <a:pt x="119097" y="360918"/>
                </a:lnTo>
                <a:lnTo>
                  <a:pt x="184645" y="415338"/>
                </a:lnTo>
                <a:lnTo>
                  <a:pt x="187340" y="360822"/>
                </a:lnTo>
                <a:lnTo>
                  <a:pt x="158759" y="360822"/>
                </a:lnTo>
                <a:lnTo>
                  <a:pt x="156885" y="360091"/>
                </a:lnTo>
                <a:lnTo>
                  <a:pt x="151068" y="346861"/>
                </a:lnTo>
                <a:close/>
              </a:path>
              <a:path w="189230" h="415925">
                <a:moveTo>
                  <a:pt x="156881" y="344305"/>
                </a:moveTo>
                <a:lnTo>
                  <a:pt x="151068" y="346861"/>
                </a:lnTo>
                <a:lnTo>
                  <a:pt x="156885" y="360091"/>
                </a:lnTo>
                <a:lnTo>
                  <a:pt x="158759" y="360822"/>
                </a:lnTo>
                <a:lnTo>
                  <a:pt x="161969" y="359410"/>
                </a:lnTo>
                <a:lnTo>
                  <a:pt x="162698" y="357536"/>
                </a:lnTo>
                <a:lnTo>
                  <a:pt x="156881" y="344305"/>
                </a:lnTo>
                <a:close/>
              </a:path>
              <a:path w="189230" h="415925">
                <a:moveTo>
                  <a:pt x="188852" y="330248"/>
                </a:moveTo>
                <a:lnTo>
                  <a:pt x="156881" y="344305"/>
                </a:lnTo>
                <a:lnTo>
                  <a:pt x="162698" y="357536"/>
                </a:lnTo>
                <a:lnTo>
                  <a:pt x="161969" y="359410"/>
                </a:lnTo>
                <a:lnTo>
                  <a:pt x="158759" y="360822"/>
                </a:lnTo>
                <a:lnTo>
                  <a:pt x="187340" y="360822"/>
                </a:lnTo>
                <a:lnTo>
                  <a:pt x="188852" y="330248"/>
                </a:lnTo>
                <a:close/>
              </a:path>
              <a:path w="189230" h="415925">
                <a:moveTo>
                  <a:pt x="3939" y="0"/>
                </a:moveTo>
                <a:lnTo>
                  <a:pt x="729" y="1410"/>
                </a:lnTo>
                <a:lnTo>
                  <a:pt x="0" y="3284"/>
                </a:lnTo>
                <a:lnTo>
                  <a:pt x="151068" y="346861"/>
                </a:lnTo>
                <a:lnTo>
                  <a:pt x="156881" y="344305"/>
                </a:lnTo>
                <a:lnTo>
                  <a:pt x="5812" y="728"/>
                </a:lnTo>
                <a:lnTo>
                  <a:pt x="393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185115" y="2517139"/>
            <a:ext cx="3080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"/>
                <a:cs typeface="Arial"/>
              </a:rPr>
              <a:t>embedding vector </a:t>
            </a:r>
            <a:r>
              <a:rPr dirty="0" sz="2400" spc="-30">
                <a:latin typeface="Arial"/>
                <a:cs typeface="Arial"/>
              </a:rPr>
              <a:t>for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42340" y="2873755"/>
            <a:ext cx="1766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Arial"/>
                <a:cs typeface="Arial"/>
              </a:rPr>
              <a:t>specific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559081" y="3234700"/>
            <a:ext cx="1087755" cy="890269"/>
          </a:xfrm>
          <a:custGeom>
            <a:avLst/>
            <a:gdLst/>
            <a:ahLst/>
            <a:cxnLst/>
            <a:rect l="l" t="t" r="r" b="b"/>
            <a:pathLst>
              <a:path w="1087754" h="890270">
                <a:moveTo>
                  <a:pt x="34848" y="812518"/>
                </a:moveTo>
                <a:lnTo>
                  <a:pt x="0" y="890258"/>
                </a:lnTo>
                <a:lnTo>
                  <a:pt x="83102" y="871493"/>
                </a:lnTo>
                <a:lnTo>
                  <a:pt x="68474" y="853615"/>
                </a:lnTo>
                <a:lnTo>
                  <a:pt x="49799" y="853615"/>
                </a:lnTo>
                <a:lnTo>
                  <a:pt x="47798" y="853415"/>
                </a:lnTo>
                <a:lnTo>
                  <a:pt x="45579" y="850700"/>
                </a:lnTo>
                <a:lnTo>
                  <a:pt x="45778" y="848700"/>
                </a:lnTo>
                <a:lnTo>
                  <a:pt x="56964" y="839547"/>
                </a:lnTo>
                <a:lnTo>
                  <a:pt x="34848" y="812518"/>
                </a:lnTo>
                <a:close/>
              </a:path>
              <a:path w="1087754" h="890270">
                <a:moveTo>
                  <a:pt x="56964" y="839547"/>
                </a:moveTo>
                <a:lnTo>
                  <a:pt x="45778" y="848700"/>
                </a:lnTo>
                <a:lnTo>
                  <a:pt x="45579" y="850700"/>
                </a:lnTo>
                <a:lnTo>
                  <a:pt x="47798" y="853415"/>
                </a:lnTo>
                <a:lnTo>
                  <a:pt x="49799" y="853615"/>
                </a:lnTo>
                <a:lnTo>
                  <a:pt x="60985" y="844462"/>
                </a:lnTo>
                <a:lnTo>
                  <a:pt x="56964" y="839547"/>
                </a:lnTo>
                <a:close/>
              </a:path>
              <a:path w="1087754" h="890270">
                <a:moveTo>
                  <a:pt x="60985" y="844462"/>
                </a:moveTo>
                <a:lnTo>
                  <a:pt x="49799" y="853615"/>
                </a:lnTo>
                <a:lnTo>
                  <a:pt x="68474" y="853615"/>
                </a:lnTo>
                <a:lnTo>
                  <a:pt x="60985" y="844462"/>
                </a:lnTo>
                <a:close/>
              </a:path>
              <a:path w="1087754" h="890270">
                <a:moveTo>
                  <a:pt x="1083077" y="0"/>
                </a:moveTo>
                <a:lnTo>
                  <a:pt x="56964" y="839547"/>
                </a:lnTo>
                <a:lnTo>
                  <a:pt x="60985" y="844462"/>
                </a:lnTo>
                <a:lnTo>
                  <a:pt x="1087098" y="4914"/>
                </a:lnTo>
                <a:lnTo>
                  <a:pt x="1087299" y="2914"/>
                </a:lnTo>
                <a:lnTo>
                  <a:pt x="1085077" y="199"/>
                </a:lnTo>
                <a:lnTo>
                  <a:pt x="10830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69490" y="4074667"/>
            <a:ext cx="100456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Cambria Math"/>
                <a:cs typeface="Cambria Math"/>
              </a:rPr>
              <a:t>𝐙</a:t>
            </a:r>
            <a:r>
              <a:rPr dirty="0" sz="4800" spc="160">
                <a:latin typeface="Cambria Math"/>
                <a:cs typeface="Cambria Math"/>
              </a:rPr>
              <a:t> </a:t>
            </a:r>
            <a:r>
              <a:rPr dirty="0" sz="4800">
                <a:latin typeface="Cambria Math"/>
                <a:cs typeface="Cambria Math"/>
              </a:rPr>
              <a:t>=</a:t>
            </a:r>
            <a:endParaRPr sz="4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2/22/21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807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282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latin typeface="Calibri"/>
                <a:cs typeface="Calibri"/>
              </a:rPr>
              <a:t>Limitations </a:t>
            </a:r>
            <a:r>
              <a:rPr dirty="0" spc="-5"/>
              <a:t>of shallow embedding</a:t>
            </a:r>
            <a:r>
              <a:rPr dirty="0" spc="40"/>
              <a:t> </a:t>
            </a:r>
            <a:r>
              <a:rPr dirty="0" spc="-5"/>
              <a:t>methods: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825921"/>
            <a:ext cx="7642859" cy="406654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solidFill>
                  <a:srgbClr val="C00000"/>
                </a:solidFill>
                <a:latin typeface="Cambria Math"/>
                <a:cs typeface="Cambria Math"/>
              </a:rPr>
              <a:t>𝑶(|𝑽|)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parameters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dirty="0" sz="2800" spc="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needed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No </a:t>
            </a:r>
            <a:r>
              <a:rPr dirty="0" sz="2400" spc="-5">
                <a:latin typeface="Calibri"/>
                <a:cs typeface="Calibri"/>
              </a:rPr>
              <a:t>sharing of </a:t>
            </a:r>
            <a:r>
              <a:rPr dirty="0" sz="2400" spc="-15">
                <a:latin typeface="Calibri"/>
                <a:cs typeface="Calibri"/>
              </a:rPr>
              <a:t>parameters </a:t>
            </a:r>
            <a:r>
              <a:rPr dirty="0" sz="2400" spc="-10">
                <a:latin typeface="Calibri"/>
                <a:cs typeface="Calibri"/>
              </a:rPr>
              <a:t>between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Every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libri"/>
                <a:cs typeface="Calibri"/>
              </a:rPr>
              <a:t>has </a:t>
            </a:r>
            <a:r>
              <a:rPr dirty="0" sz="2400" spc="-5">
                <a:latin typeface="Calibri"/>
                <a:cs typeface="Calibri"/>
              </a:rPr>
              <a:t>its </a:t>
            </a:r>
            <a:r>
              <a:rPr dirty="0" sz="2400" spc="-10">
                <a:latin typeface="Calibri"/>
                <a:cs typeface="Calibri"/>
              </a:rPr>
              <a:t>own </a:t>
            </a:r>
            <a:r>
              <a:rPr dirty="0" sz="2400" spc="-5">
                <a:latin typeface="Calibri"/>
                <a:cs typeface="Calibri"/>
              </a:rPr>
              <a:t>unique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embedding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Inherently</a:t>
            </a:r>
            <a:r>
              <a:rPr dirty="0" sz="28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“transductive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”: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51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Cannot </a:t>
            </a:r>
            <a:r>
              <a:rPr dirty="0" sz="2400" spc="-20">
                <a:latin typeface="Calibri"/>
                <a:cs typeface="Calibri"/>
              </a:rPr>
              <a:t>generate </a:t>
            </a:r>
            <a:r>
              <a:rPr dirty="0" sz="2400" spc="-5">
                <a:latin typeface="Calibri"/>
                <a:cs typeface="Calibri"/>
              </a:rPr>
              <a:t>embeddings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libri"/>
                <a:cs typeface="Calibri"/>
              </a:rPr>
              <a:t>not </a:t>
            </a:r>
            <a:r>
              <a:rPr dirty="0" sz="2400" spc="-135">
                <a:latin typeface="Calibri"/>
                <a:cs typeface="Calibri"/>
              </a:rPr>
              <a:t>seen  </a:t>
            </a:r>
            <a:r>
              <a:rPr dirty="0" sz="2400">
                <a:latin typeface="Calibri"/>
                <a:cs typeface="Calibri"/>
              </a:rPr>
              <a:t>during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Do not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incorporate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features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52450" marR="797560" indent="-228600">
              <a:lnSpc>
                <a:spcPct val="100800"/>
              </a:lnSpc>
              <a:spcBef>
                <a:spcPts val="61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Many </a:t>
            </a:r>
            <a:r>
              <a:rPr dirty="0" sz="2400" spc="-10">
                <a:latin typeface="Calibri"/>
                <a:cs typeface="Calibri"/>
              </a:rPr>
              <a:t>graphs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 spc="-15">
                <a:latin typeface="Calibri"/>
                <a:cs typeface="Calibri"/>
              </a:rPr>
              <a:t>features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95">
                <a:latin typeface="Calibri"/>
                <a:cs typeface="Calibri"/>
              </a:rPr>
              <a:t>should  </a:t>
            </a:r>
            <a:r>
              <a:rPr dirty="0" sz="2400" spc="-15">
                <a:latin typeface="Calibri"/>
                <a:cs typeface="Calibri"/>
              </a:rPr>
              <a:t>leverage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2544" y="347472"/>
            <a:ext cx="7071359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0250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1">
                <a:solidFill>
                  <a:srgbClr val="D60093"/>
                </a:solidFill>
                <a:latin typeface="Calibri"/>
                <a:cs typeface="Calibri"/>
              </a:rPr>
              <a:t>Today: </a:t>
            </a:r>
            <a:r>
              <a:rPr dirty="0" spc="-60"/>
              <a:t>We </a:t>
            </a:r>
            <a:r>
              <a:rPr dirty="0"/>
              <a:t>will </a:t>
            </a:r>
            <a:r>
              <a:rPr dirty="0" spc="-5"/>
              <a:t>now discuss deep methods  based on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graph neural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networks</a:t>
            </a:r>
            <a:r>
              <a:rPr dirty="0" spc="7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(GNNs):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4765548"/>
            <a:ext cx="7152640" cy="14916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Note: </a:t>
            </a:r>
            <a:r>
              <a:rPr dirty="0" sz="3200" spc="-5">
                <a:latin typeface="Calibri"/>
                <a:cs typeface="Calibri"/>
              </a:rPr>
              <a:t>All these deep </a:t>
            </a:r>
            <a:r>
              <a:rPr dirty="0" sz="3200" spc="-15">
                <a:latin typeface="Calibri"/>
                <a:cs typeface="Calibri"/>
              </a:rPr>
              <a:t>encoders 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combined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with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node similarity functions 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defined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10">
                <a:latin typeface="Calibri"/>
                <a:cs typeface="Calibri"/>
              </a:rPr>
              <a:t>lecture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7125" y="2671064"/>
            <a:ext cx="28086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0" b="1">
                <a:solidFill>
                  <a:srgbClr val="0000FF"/>
                </a:solidFill>
                <a:latin typeface="Arial"/>
                <a:cs typeface="Arial"/>
              </a:rPr>
              <a:t>multiple </a:t>
            </a:r>
            <a:r>
              <a:rPr dirty="0" sz="2700" spc="-15" b="1">
                <a:solidFill>
                  <a:srgbClr val="0000FF"/>
                </a:solidFill>
                <a:latin typeface="Arial"/>
                <a:cs typeface="Arial"/>
              </a:rPr>
              <a:t>layers</a:t>
            </a:r>
            <a:r>
              <a:rPr dirty="0" sz="2700" spc="-11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700" spc="-25" b="1">
                <a:solidFill>
                  <a:srgbClr val="0000FF"/>
                </a:solidFill>
                <a:latin typeface="Arial"/>
                <a:cs typeface="Arial"/>
              </a:rPr>
              <a:t>of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5951" y="3076448"/>
            <a:ext cx="4334510" cy="842644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5095" marR="5080" indent="-113030">
              <a:lnSpc>
                <a:spcPts val="3190"/>
              </a:lnSpc>
              <a:spcBef>
                <a:spcPts val="245"/>
              </a:spcBef>
            </a:pPr>
            <a:r>
              <a:rPr dirty="0" sz="2700" spc="-20" b="1">
                <a:solidFill>
                  <a:srgbClr val="0000FF"/>
                </a:solidFill>
                <a:latin typeface="Arial"/>
                <a:cs typeface="Arial"/>
              </a:rPr>
              <a:t>non-linear transformations  </a:t>
            </a:r>
            <a:r>
              <a:rPr dirty="0" sz="2700" spc="-15" b="1">
                <a:solidFill>
                  <a:srgbClr val="0000FF"/>
                </a:solidFill>
                <a:latin typeface="Arial"/>
                <a:cs typeface="Arial"/>
              </a:rPr>
              <a:t>based on </a:t>
            </a:r>
            <a:r>
              <a:rPr dirty="0" sz="2700" spc="-20" b="1">
                <a:solidFill>
                  <a:srgbClr val="0000FF"/>
                </a:solidFill>
                <a:latin typeface="Arial"/>
                <a:cs typeface="Arial"/>
              </a:rPr>
              <a:t>graph</a:t>
            </a:r>
            <a:r>
              <a:rPr dirty="0" sz="2700" spc="-12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700" spc="-20" b="1">
                <a:solidFill>
                  <a:srgbClr val="0000FF"/>
                </a:solidFill>
                <a:latin typeface="Arial"/>
                <a:cs typeface="Arial"/>
              </a:rPr>
              <a:t>structure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8245" y="3195886"/>
            <a:ext cx="561975" cy="423545"/>
          </a:xfrm>
          <a:custGeom>
            <a:avLst/>
            <a:gdLst/>
            <a:ahLst/>
            <a:cxnLst/>
            <a:rect l="l" t="t" r="r" b="b"/>
            <a:pathLst>
              <a:path w="561975" h="423545">
                <a:moveTo>
                  <a:pt x="426700" y="0"/>
                </a:moveTo>
                <a:lnTo>
                  <a:pt x="420673" y="17189"/>
                </a:lnTo>
                <a:lnTo>
                  <a:pt x="445188" y="27828"/>
                </a:lnTo>
                <a:lnTo>
                  <a:pt x="466270" y="42555"/>
                </a:lnTo>
                <a:lnTo>
                  <a:pt x="498138" y="84273"/>
                </a:lnTo>
                <a:lnTo>
                  <a:pt x="516891" y="140558"/>
                </a:lnTo>
                <a:lnTo>
                  <a:pt x="523142" y="209624"/>
                </a:lnTo>
                <a:lnTo>
                  <a:pt x="521572" y="246975"/>
                </a:lnTo>
                <a:lnTo>
                  <a:pt x="509014" y="311380"/>
                </a:lnTo>
                <a:lnTo>
                  <a:pt x="483816" y="361680"/>
                </a:lnTo>
                <a:lnTo>
                  <a:pt x="445474" y="395612"/>
                </a:lnTo>
                <a:lnTo>
                  <a:pt x="421344" y="406300"/>
                </a:lnTo>
                <a:lnTo>
                  <a:pt x="426700" y="423490"/>
                </a:lnTo>
                <a:lnTo>
                  <a:pt x="484465" y="396394"/>
                </a:lnTo>
                <a:lnTo>
                  <a:pt x="526936" y="349486"/>
                </a:lnTo>
                <a:lnTo>
                  <a:pt x="553056" y="286670"/>
                </a:lnTo>
                <a:lnTo>
                  <a:pt x="561762" y="211856"/>
                </a:lnTo>
                <a:lnTo>
                  <a:pt x="559579" y="173033"/>
                </a:lnTo>
                <a:lnTo>
                  <a:pt x="542110" y="104219"/>
                </a:lnTo>
                <a:lnTo>
                  <a:pt x="507465" y="48199"/>
                </a:lnTo>
                <a:lnTo>
                  <a:pt x="457403" y="11085"/>
                </a:lnTo>
                <a:lnTo>
                  <a:pt x="426700" y="0"/>
                </a:lnTo>
                <a:close/>
              </a:path>
              <a:path w="561975" h="423545">
                <a:moveTo>
                  <a:pt x="135061" y="0"/>
                </a:moveTo>
                <a:lnTo>
                  <a:pt x="77437" y="27151"/>
                </a:lnTo>
                <a:lnTo>
                  <a:pt x="34937" y="74227"/>
                </a:lnTo>
                <a:lnTo>
                  <a:pt x="8734" y="137154"/>
                </a:lnTo>
                <a:lnTo>
                  <a:pt x="0" y="211856"/>
                </a:lnTo>
                <a:lnTo>
                  <a:pt x="2176" y="250763"/>
                </a:lnTo>
                <a:lnTo>
                  <a:pt x="19589" y="319578"/>
                </a:lnTo>
                <a:lnTo>
                  <a:pt x="54150" y="375417"/>
                </a:lnTo>
                <a:lnTo>
                  <a:pt x="104268" y="412419"/>
                </a:lnTo>
                <a:lnTo>
                  <a:pt x="135061" y="423490"/>
                </a:lnTo>
                <a:lnTo>
                  <a:pt x="140420" y="406300"/>
                </a:lnTo>
                <a:lnTo>
                  <a:pt x="116288" y="395612"/>
                </a:lnTo>
                <a:lnTo>
                  <a:pt x="95463" y="380739"/>
                </a:lnTo>
                <a:lnTo>
                  <a:pt x="63736" y="338434"/>
                </a:lnTo>
                <a:lnTo>
                  <a:pt x="44899" y="280894"/>
                </a:lnTo>
                <a:lnTo>
                  <a:pt x="38620" y="209624"/>
                </a:lnTo>
                <a:lnTo>
                  <a:pt x="40190" y="173494"/>
                </a:lnTo>
                <a:lnTo>
                  <a:pt x="52748" y="110818"/>
                </a:lnTo>
                <a:lnTo>
                  <a:pt x="77988" y="61370"/>
                </a:lnTo>
                <a:lnTo>
                  <a:pt x="116665" y="27828"/>
                </a:lnTo>
                <a:lnTo>
                  <a:pt x="141089" y="17189"/>
                </a:lnTo>
                <a:lnTo>
                  <a:pt x="135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13512" y="3068827"/>
            <a:ext cx="19685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3780" algn="l"/>
                <a:tab pos="1613535" algn="l"/>
              </a:tabLst>
            </a:pPr>
            <a:r>
              <a:rPr dirty="0" sz="3600">
                <a:latin typeface="Cambria Math"/>
                <a:cs typeface="Cambria Math"/>
              </a:rPr>
              <a:t>E</a:t>
            </a:r>
            <a:r>
              <a:rPr dirty="0" sz="3600" spc="-5">
                <a:latin typeface="Cambria Math"/>
                <a:cs typeface="Cambria Math"/>
              </a:rPr>
              <a:t>N</a:t>
            </a:r>
            <a:r>
              <a:rPr dirty="0" sz="3600">
                <a:latin typeface="Cambria Math"/>
                <a:cs typeface="Cambria Math"/>
              </a:rPr>
              <a:t>C	𝑣	=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2334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992" y="1600200"/>
            <a:ext cx="8229599" cy="474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11524" y="3726370"/>
            <a:ext cx="43180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100">
                <a:latin typeface="Arial"/>
                <a:cs typeface="Arial"/>
              </a:rPr>
              <a:t>…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43400" y="4282064"/>
            <a:ext cx="4648200" cy="2322195"/>
          </a:xfrm>
          <a:custGeom>
            <a:avLst/>
            <a:gdLst/>
            <a:ahLst/>
            <a:cxnLst/>
            <a:rect l="l" t="t" r="r" b="b"/>
            <a:pathLst>
              <a:path w="4648200" h="2322195">
                <a:moveTo>
                  <a:pt x="4648200" y="1088139"/>
                </a:moveTo>
                <a:lnTo>
                  <a:pt x="0" y="1088139"/>
                </a:lnTo>
                <a:lnTo>
                  <a:pt x="0" y="2322053"/>
                </a:lnTo>
                <a:lnTo>
                  <a:pt x="4648200" y="2322053"/>
                </a:lnTo>
                <a:lnTo>
                  <a:pt x="4648200" y="1088139"/>
                </a:lnTo>
                <a:close/>
              </a:path>
              <a:path w="4648200" h="2322195">
                <a:moveTo>
                  <a:pt x="4397754" y="0"/>
                </a:moveTo>
                <a:lnTo>
                  <a:pt x="2711450" y="1088139"/>
                </a:lnTo>
                <a:lnTo>
                  <a:pt x="3873500" y="1088139"/>
                </a:lnTo>
                <a:lnTo>
                  <a:pt x="43977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14825" y="4253570"/>
            <a:ext cx="4705350" cy="2379345"/>
          </a:xfrm>
          <a:custGeom>
            <a:avLst/>
            <a:gdLst/>
            <a:ahLst/>
            <a:cxnLst/>
            <a:rect l="l" t="t" r="r" b="b"/>
            <a:pathLst>
              <a:path w="4705350" h="2379345">
                <a:moveTo>
                  <a:pt x="4428475" y="0"/>
                </a:moveTo>
                <a:lnTo>
                  <a:pt x="4419400" y="769"/>
                </a:lnTo>
                <a:lnTo>
                  <a:pt x="4410835" y="4484"/>
                </a:lnTo>
                <a:lnTo>
                  <a:pt x="2731606" y="1088058"/>
                </a:lnTo>
                <a:lnTo>
                  <a:pt x="28575" y="1088058"/>
                </a:lnTo>
                <a:lnTo>
                  <a:pt x="17452" y="1090304"/>
                </a:lnTo>
                <a:lnTo>
                  <a:pt x="8369" y="1096428"/>
                </a:lnTo>
                <a:lnTo>
                  <a:pt x="2245" y="1105511"/>
                </a:lnTo>
                <a:lnTo>
                  <a:pt x="0" y="1116633"/>
                </a:lnTo>
                <a:lnTo>
                  <a:pt x="0" y="2350547"/>
                </a:lnTo>
                <a:lnTo>
                  <a:pt x="2245" y="2361670"/>
                </a:lnTo>
                <a:lnTo>
                  <a:pt x="8369" y="2370752"/>
                </a:lnTo>
                <a:lnTo>
                  <a:pt x="17452" y="2376876"/>
                </a:lnTo>
                <a:lnTo>
                  <a:pt x="28575" y="2379122"/>
                </a:lnTo>
                <a:lnTo>
                  <a:pt x="4676775" y="2379122"/>
                </a:lnTo>
                <a:lnTo>
                  <a:pt x="4687897" y="2376876"/>
                </a:lnTo>
                <a:lnTo>
                  <a:pt x="4696980" y="2370752"/>
                </a:lnTo>
                <a:lnTo>
                  <a:pt x="4703104" y="2361670"/>
                </a:lnTo>
                <a:lnTo>
                  <a:pt x="4705350" y="2350547"/>
                </a:lnTo>
                <a:lnTo>
                  <a:pt x="4705350" y="2344832"/>
                </a:lnTo>
                <a:lnTo>
                  <a:pt x="34289" y="2344832"/>
                </a:lnTo>
                <a:lnTo>
                  <a:pt x="34289" y="1122348"/>
                </a:lnTo>
                <a:lnTo>
                  <a:pt x="2741123" y="1122348"/>
                </a:lnTo>
                <a:lnTo>
                  <a:pt x="2742200" y="1122031"/>
                </a:lnTo>
                <a:lnTo>
                  <a:pt x="4375546" y="68064"/>
                </a:lnTo>
                <a:lnTo>
                  <a:pt x="4400586" y="16092"/>
                </a:lnTo>
                <a:lnTo>
                  <a:pt x="4451807" y="16092"/>
                </a:lnTo>
                <a:lnTo>
                  <a:pt x="4451139" y="14312"/>
                </a:lnTo>
                <a:lnTo>
                  <a:pt x="4445243" y="7075"/>
                </a:lnTo>
                <a:lnTo>
                  <a:pt x="4437332" y="2120"/>
                </a:lnTo>
                <a:lnTo>
                  <a:pt x="4428475" y="0"/>
                </a:lnTo>
                <a:close/>
              </a:path>
              <a:path w="4705350" h="2379345">
                <a:moveTo>
                  <a:pt x="4454464" y="26013"/>
                </a:moveTo>
                <a:lnTo>
                  <a:pt x="4421181" y="26013"/>
                </a:lnTo>
                <a:lnTo>
                  <a:pt x="4429427" y="33296"/>
                </a:lnTo>
                <a:lnTo>
                  <a:pt x="4426724" y="35041"/>
                </a:lnTo>
                <a:lnTo>
                  <a:pt x="4435624" y="42900"/>
                </a:lnTo>
                <a:lnTo>
                  <a:pt x="4432921" y="44644"/>
                </a:lnTo>
                <a:lnTo>
                  <a:pt x="4441822" y="52504"/>
                </a:lnTo>
                <a:lnTo>
                  <a:pt x="4393347" y="83784"/>
                </a:lnTo>
                <a:lnTo>
                  <a:pt x="3896072" y="1115923"/>
                </a:lnTo>
                <a:lnTo>
                  <a:pt x="3896189" y="1118008"/>
                </a:lnTo>
                <a:lnTo>
                  <a:pt x="3898281" y="1121337"/>
                </a:lnTo>
                <a:lnTo>
                  <a:pt x="3900109" y="1122348"/>
                </a:lnTo>
                <a:lnTo>
                  <a:pt x="4671059" y="1122348"/>
                </a:lnTo>
                <a:lnTo>
                  <a:pt x="4671059" y="2344832"/>
                </a:lnTo>
                <a:lnTo>
                  <a:pt x="4705350" y="2344832"/>
                </a:lnTo>
                <a:lnTo>
                  <a:pt x="4705350" y="1116633"/>
                </a:lnTo>
                <a:lnTo>
                  <a:pt x="4703104" y="1105511"/>
                </a:lnTo>
                <a:lnTo>
                  <a:pt x="4696980" y="1096428"/>
                </a:lnTo>
                <a:lnTo>
                  <a:pt x="4687897" y="1090304"/>
                </a:lnTo>
                <a:lnTo>
                  <a:pt x="4676775" y="1088058"/>
                </a:lnTo>
                <a:lnTo>
                  <a:pt x="3947560" y="1088058"/>
                </a:lnTo>
                <a:lnTo>
                  <a:pt x="4452072" y="40896"/>
                </a:lnTo>
                <a:lnTo>
                  <a:pt x="4454698" y="31938"/>
                </a:lnTo>
                <a:lnTo>
                  <a:pt x="4454464" y="26013"/>
                </a:lnTo>
                <a:close/>
              </a:path>
              <a:path w="4705350" h="2379345">
                <a:moveTo>
                  <a:pt x="4366036" y="87804"/>
                </a:moveTo>
                <a:lnTo>
                  <a:pt x="2746550" y="1132827"/>
                </a:lnTo>
                <a:lnTo>
                  <a:pt x="2743321" y="1133778"/>
                </a:lnTo>
                <a:lnTo>
                  <a:pt x="45720" y="1133778"/>
                </a:lnTo>
                <a:lnTo>
                  <a:pt x="45720" y="2333402"/>
                </a:lnTo>
                <a:lnTo>
                  <a:pt x="4659630" y="2333402"/>
                </a:lnTo>
                <a:lnTo>
                  <a:pt x="4659630" y="2321972"/>
                </a:lnTo>
                <a:lnTo>
                  <a:pt x="57150" y="2321972"/>
                </a:lnTo>
                <a:lnTo>
                  <a:pt x="57150" y="1145208"/>
                </a:lnTo>
                <a:lnTo>
                  <a:pt x="2745520" y="1145208"/>
                </a:lnTo>
                <a:lnTo>
                  <a:pt x="2750900" y="1143623"/>
                </a:lnTo>
                <a:lnTo>
                  <a:pt x="4356525" y="107544"/>
                </a:lnTo>
                <a:lnTo>
                  <a:pt x="4366036" y="87804"/>
                </a:lnTo>
                <a:close/>
              </a:path>
              <a:path w="4705350" h="2379345">
                <a:moveTo>
                  <a:pt x="4374935" y="95665"/>
                </a:moveTo>
                <a:lnTo>
                  <a:pt x="4356525" y="107544"/>
                </a:lnTo>
                <a:lnTo>
                  <a:pt x="3876332" y="1104230"/>
                </a:lnTo>
                <a:lnTo>
                  <a:pt x="3874038" y="1111108"/>
                </a:lnTo>
                <a:lnTo>
                  <a:pt x="3873544" y="1118231"/>
                </a:lnTo>
                <a:lnTo>
                  <a:pt x="3874831" y="1125255"/>
                </a:lnTo>
                <a:lnTo>
                  <a:pt x="3902075" y="1145208"/>
                </a:lnTo>
                <a:lnTo>
                  <a:pt x="4648200" y="1145208"/>
                </a:lnTo>
                <a:lnTo>
                  <a:pt x="4648200" y="2321972"/>
                </a:lnTo>
                <a:lnTo>
                  <a:pt x="4659630" y="2321972"/>
                </a:lnTo>
                <a:lnTo>
                  <a:pt x="4659630" y="1133778"/>
                </a:lnTo>
                <a:lnTo>
                  <a:pt x="3896177" y="1133778"/>
                </a:lnTo>
                <a:lnTo>
                  <a:pt x="3890694" y="1130747"/>
                </a:lnTo>
                <a:lnTo>
                  <a:pt x="3884419" y="1120759"/>
                </a:lnTo>
                <a:lnTo>
                  <a:pt x="3884068" y="1114505"/>
                </a:lnTo>
                <a:lnTo>
                  <a:pt x="4374935" y="95665"/>
                </a:lnTo>
                <a:close/>
              </a:path>
              <a:path w="4705350" h="2379345">
                <a:moveTo>
                  <a:pt x="4384445" y="75925"/>
                </a:moveTo>
                <a:lnTo>
                  <a:pt x="4366036" y="87804"/>
                </a:lnTo>
                <a:lnTo>
                  <a:pt x="4356525" y="107544"/>
                </a:lnTo>
                <a:lnTo>
                  <a:pt x="4374935" y="95665"/>
                </a:lnTo>
                <a:lnTo>
                  <a:pt x="4384445" y="75925"/>
                </a:lnTo>
                <a:close/>
              </a:path>
              <a:path w="4705350" h="2379345">
                <a:moveTo>
                  <a:pt x="4402858" y="64044"/>
                </a:moveTo>
                <a:lnTo>
                  <a:pt x="4384445" y="75925"/>
                </a:lnTo>
                <a:lnTo>
                  <a:pt x="4374935" y="95665"/>
                </a:lnTo>
                <a:lnTo>
                  <a:pt x="4393347" y="83784"/>
                </a:lnTo>
                <a:lnTo>
                  <a:pt x="4402858" y="64044"/>
                </a:lnTo>
                <a:close/>
              </a:path>
              <a:path w="4705350" h="2379345">
                <a:moveTo>
                  <a:pt x="4393956" y="56185"/>
                </a:moveTo>
                <a:lnTo>
                  <a:pt x="4375546" y="68064"/>
                </a:lnTo>
                <a:lnTo>
                  <a:pt x="4366036" y="87804"/>
                </a:lnTo>
                <a:lnTo>
                  <a:pt x="4384445" y="75925"/>
                </a:lnTo>
                <a:lnTo>
                  <a:pt x="4393956" y="56185"/>
                </a:lnTo>
                <a:close/>
              </a:path>
              <a:path w="4705350" h="2379345">
                <a:moveTo>
                  <a:pt x="4432921" y="44644"/>
                </a:moveTo>
                <a:lnTo>
                  <a:pt x="4402858" y="64044"/>
                </a:lnTo>
                <a:lnTo>
                  <a:pt x="4393347" y="83784"/>
                </a:lnTo>
                <a:lnTo>
                  <a:pt x="4441822" y="52504"/>
                </a:lnTo>
                <a:lnTo>
                  <a:pt x="4432921" y="44644"/>
                </a:lnTo>
                <a:close/>
              </a:path>
              <a:path w="4705350" h="2379345">
                <a:moveTo>
                  <a:pt x="4400586" y="16092"/>
                </a:moveTo>
                <a:lnTo>
                  <a:pt x="4375546" y="68064"/>
                </a:lnTo>
                <a:lnTo>
                  <a:pt x="4393956" y="56185"/>
                </a:lnTo>
                <a:lnTo>
                  <a:pt x="4409486" y="23950"/>
                </a:lnTo>
                <a:lnTo>
                  <a:pt x="4400586" y="16092"/>
                </a:lnTo>
                <a:close/>
              </a:path>
              <a:path w="4705350" h="2379345">
                <a:moveTo>
                  <a:pt x="4424021" y="36785"/>
                </a:moveTo>
                <a:lnTo>
                  <a:pt x="4412368" y="44304"/>
                </a:lnTo>
                <a:lnTo>
                  <a:pt x="4402858" y="64044"/>
                </a:lnTo>
                <a:lnTo>
                  <a:pt x="4432921" y="44644"/>
                </a:lnTo>
                <a:lnTo>
                  <a:pt x="4424021" y="36785"/>
                </a:lnTo>
                <a:close/>
              </a:path>
              <a:path w="4705350" h="2379345">
                <a:moveTo>
                  <a:pt x="4409486" y="23950"/>
                </a:moveTo>
                <a:lnTo>
                  <a:pt x="4393956" y="56185"/>
                </a:lnTo>
                <a:lnTo>
                  <a:pt x="4412368" y="44304"/>
                </a:lnTo>
                <a:lnTo>
                  <a:pt x="4418387" y="31811"/>
                </a:lnTo>
                <a:lnTo>
                  <a:pt x="4409486" y="23950"/>
                </a:lnTo>
                <a:close/>
              </a:path>
              <a:path w="4705350" h="2379345">
                <a:moveTo>
                  <a:pt x="4418387" y="31811"/>
                </a:moveTo>
                <a:lnTo>
                  <a:pt x="4412368" y="44304"/>
                </a:lnTo>
                <a:lnTo>
                  <a:pt x="4424021" y="36785"/>
                </a:lnTo>
                <a:lnTo>
                  <a:pt x="4418387" y="31811"/>
                </a:lnTo>
                <a:close/>
              </a:path>
              <a:path w="4705350" h="2379345">
                <a:moveTo>
                  <a:pt x="4419784" y="28912"/>
                </a:moveTo>
                <a:lnTo>
                  <a:pt x="4418387" y="31811"/>
                </a:lnTo>
                <a:lnTo>
                  <a:pt x="4424021" y="36785"/>
                </a:lnTo>
                <a:lnTo>
                  <a:pt x="4426724" y="35041"/>
                </a:lnTo>
                <a:lnTo>
                  <a:pt x="4419784" y="28912"/>
                </a:lnTo>
                <a:close/>
              </a:path>
              <a:path w="4705350" h="2379345">
                <a:moveTo>
                  <a:pt x="4421181" y="26013"/>
                </a:moveTo>
                <a:lnTo>
                  <a:pt x="4419784" y="28912"/>
                </a:lnTo>
                <a:lnTo>
                  <a:pt x="4426724" y="35041"/>
                </a:lnTo>
                <a:lnTo>
                  <a:pt x="4429427" y="33296"/>
                </a:lnTo>
                <a:lnTo>
                  <a:pt x="4421181" y="26013"/>
                </a:lnTo>
                <a:close/>
              </a:path>
              <a:path w="4705350" h="2379345">
                <a:moveTo>
                  <a:pt x="4453668" y="21052"/>
                </a:moveTo>
                <a:lnTo>
                  <a:pt x="4410882" y="21052"/>
                </a:lnTo>
                <a:lnTo>
                  <a:pt x="4419784" y="28912"/>
                </a:lnTo>
                <a:lnTo>
                  <a:pt x="4421181" y="26013"/>
                </a:lnTo>
                <a:lnTo>
                  <a:pt x="4454464" y="26013"/>
                </a:lnTo>
                <a:lnTo>
                  <a:pt x="4454338" y="22839"/>
                </a:lnTo>
                <a:lnTo>
                  <a:pt x="4453668" y="21052"/>
                </a:lnTo>
                <a:close/>
              </a:path>
              <a:path w="4705350" h="2379345">
                <a:moveTo>
                  <a:pt x="4451807" y="16092"/>
                </a:moveTo>
                <a:lnTo>
                  <a:pt x="4400586" y="16092"/>
                </a:lnTo>
                <a:lnTo>
                  <a:pt x="4409486" y="23950"/>
                </a:lnTo>
                <a:lnTo>
                  <a:pt x="4410882" y="21052"/>
                </a:lnTo>
                <a:lnTo>
                  <a:pt x="4453668" y="21052"/>
                </a:lnTo>
                <a:lnTo>
                  <a:pt x="4451807" y="16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22141" y="5424932"/>
            <a:ext cx="436689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Output: </a:t>
            </a:r>
            <a:r>
              <a:rPr dirty="0" sz="2400">
                <a:latin typeface="Arial"/>
                <a:cs typeface="Arial"/>
              </a:rPr>
              <a:t>Node embeddings.  </a:t>
            </a:r>
            <a:r>
              <a:rPr dirty="0" sz="2400" spc="-5">
                <a:latin typeface="Arial"/>
                <a:cs typeface="Arial"/>
              </a:rPr>
              <a:t>Also, </a:t>
            </a:r>
            <a:r>
              <a:rPr dirty="0" sz="2400">
                <a:latin typeface="Arial"/>
                <a:cs typeface="Arial"/>
              </a:rPr>
              <a:t>we can embed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subgraphs,  graphs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62381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653540"/>
            <a:ext cx="506095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60" b="1">
                <a:solidFill>
                  <a:srgbClr val="0070C0"/>
                </a:solidFill>
                <a:latin typeface="Calibri"/>
                <a:cs typeface="Calibri"/>
              </a:rPr>
              <a:t>Tasks </a:t>
            </a:r>
            <a:r>
              <a:rPr dirty="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b="1">
                <a:solidFill>
                  <a:srgbClr val="0070C0"/>
                </a:solidFill>
                <a:latin typeface="Calibri"/>
                <a:cs typeface="Calibri"/>
              </a:rPr>
              <a:t>will </a:t>
            </a:r>
            <a:r>
              <a:rPr dirty="0" spc="-5" b="1">
                <a:solidFill>
                  <a:srgbClr val="0070C0"/>
                </a:solidFill>
                <a:latin typeface="Calibri"/>
                <a:cs typeface="Calibri"/>
              </a:rPr>
              <a:t>be able </a:t>
            </a:r>
            <a:r>
              <a:rPr dirty="0" spc="-15" b="1">
                <a:solidFill>
                  <a:srgbClr val="0070C0"/>
                </a:solidFill>
                <a:latin typeface="Calibri"/>
                <a:cs typeface="Calibri"/>
              </a:rPr>
              <a:t>to</a:t>
            </a:r>
            <a:r>
              <a:rPr dirty="0" spc="5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70C0"/>
                </a:solidFill>
                <a:latin typeface="Calibri"/>
                <a:cs typeface="Calibri"/>
              </a:rPr>
              <a:t>solve:</a:t>
            </a:r>
          </a:p>
          <a:p>
            <a:pPr marL="451484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pc="-5">
                <a:solidFill>
                  <a:srgbClr val="C00000"/>
                </a:solidFill>
              </a:rPr>
              <a:t>Node</a:t>
            </a:r>
            <a:r>
              <a:rPr dirty="0" spc="-15">
                <a:solidFill>
                  <a:srgbClr val="C00000"/>
                </a:solidFill>
              </a:rPr>
              <a:t> </a:t>
            </a:r>
            <a:r>
              <a:rPr dirty="0" spc="-10">
                <a:solidFill>
                  <a:srgbClr val="C00000"/>
                </a:solidFill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719323"/>
            <a:ext cx="6398895" cy="3451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Predict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type 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given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Link</a:t>
            </a:r>
            <a:r>
              <a:rPr dirty="0" sz="3200" spc="-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prediction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Predict whether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15">
                <a:latin typeface="Calibri"/>
                <a:cs typeface="Calibri"/>
              </a:rPr>
              <a:t>are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linked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Community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detection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Identify </a:t>
            </a:r>
            <a:r>
              <a:rPr dirty="0" sz="2800" spc="-5">
                <a:latin typeface="Calibri"/>
                <a:cs typeface="Calibri"/>
              </a:rPr>
              <a:t>densely </a:t>
            </a:r>
            <a:r>
              <a:rPr dirty="0" sz="2800" spc="-20">
                <a:latin typeface="Calibri"/>
                <a:cs typeface="Calibri"/>
              </a:rPr>
              <a:t>linked clusters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-110"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r>
              <a:rPr dirty="0" sz="32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similarity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How similar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two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(sub)networks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6847" y="669442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161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Jure Leskovec, Stanford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5241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14601" y="4114800"/>
            <a:ext cx="6522893" cy="152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86315" y="6712593"/>
            <a:ext cx="616077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  <a:tabLst>
                <a:tab pos="6045835" algn="l"/>
              </a:tabLst>
            </a:pP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Ju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r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e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 L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e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s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ko</a:t>
            </a:r>
            <a:r>
              <a:rPr dirty="0" sz="900" spc="0">
                <a:solidFill>
                  <a:srgbClr val="898989"/>
                </a:solidFill>
                <a:latin typeface="Calibri"/>
                <a:cs typeface="Calibri"/>
              </a:rPr>
              <a:t>v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e</a:t>
            </a:r>
            <a:r>
              <a:rPr dirty="0" sz="900" spc="-10">
                <a:solidFill>
                  <a:srgbClr val="898989"/>
                </a:solidFill>
                <a:latin typeface="Calibri"/>
                <a:cs typeface="Calibri"/>
              </a:rPr>
              <a:t>c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,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 St</a:t>
            </a:r>
            <a:r>
              <a:rPr dirty="0" sz="900" spc="-10">
                <a:solidFill>
                  <a:srgbClr val="898989"/>
                </a:solidFill>
                <a:latin typeface="Calibri"/>
                <a:cs typeface="Calibri"/>
              </a:rPr>
              <a:t>a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nfo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r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d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 U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n</a:t>
            </a:r>
            <a:r>
              <a:rPr dirty="0" sz="900" spc="0">
                <a:solidFill>
                  <a:srgbClr val="898989"/>
                </a:solidFill>
                <a:latin typeface="Calibri"/>
                <a:cs typeface="Calibri"/>
              </a:rPr>
              <a:t>iv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e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rs</a:t>
            </a:r>
            <a:r>
              <a:rPr dirty="0" sz="900" spc="0">
                <a:solidFill>
                  <a:srgbClr val="898989"/>
                </a:solidFill>
                <a:latin typeface="Calibri"/>
                <a:cs typeface="Calibri"/>
              </a:rPr>
              <a:t>i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t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y	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4548" y="1524000"/>
            <a:ext cx="6253652" cy="287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8784" y="1871395"/>
            <a:ext cx="2186362" cy="18393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25728" y="3769062"/>
            <a:ext cx="982344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40">
                <a:latin typeface="Arial"/>
                <a:cs typeface="Arial"/>
              </a:rPr>
              <a:t>Im</a:t>
            </a:r>
            <a:r>
              <a:rPr dirty="0" sz="2350" spc="-20">
                <a:latin typeface="Arial"/>
                <a:cs typeface="Arial"/>
              </a:rPr>
              <a:t>ag</a:t>
            </a:r>
            <a:r>
              <a:rPr dirty="0" sz="2350" spc="-45">
                <a:latin typeface="Arial"/>
                <a:cs typeface="Arial"/>
              </a:rPr>
              <a:t>es</a:t>
            </a:r>
            <a:endParaRPr sz="2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726" y="4729182"/>
            <a:ext cx="1667510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30">
                <a:latin typeface="Arial"/>
                <a:cs typeface="Arial"/>
              </a:rPr>
              <a:t>Text/Speech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200" y="5455920"/>
            <a:ext cx="9067800" cy="1332865"/>
          </a:xfrm>
          <a:custGeom>
            <a:avLst/>
            <a:gdLst/>
            <a:ahLst/>
            <a:cxnLst/>
            <a:rect l="l" t="t" r="r" b="b"/>
            <a:pathLst>
              <a:path w="9067800" h="1332865">
                <a:moveTo>
                  <a:pt x="0" y="0"/>
                </a:moveTo>
                <a:lnTo>
                  <a:pt x="9067800" y="0"/>
                </a:lnTo>
                <a:lnTo>
                  <a:pt x="9067800" y="1332298"/>
                </a:lnTo>
                <a:lnTo>
                  <a:pt x="0" y="133229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1716" y="5444235"/>
            <a:ext cx="8714740" cy="118364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399540" marR="5080" indent="-1387475">
              <a:lnSpc>
                <a:spcPts val="4320"/>
              </a:lnSpc>
              <a:spcBef>
                <a:spcPts val="645"/>
              </a:spcBef>
            </a:pPr>
            <a:r>
              <a:rPr dirty="0" sz="4000" spc="-5">
                <a:solidFill>
                  <a:srgbClr val="FFFFFF"/>
                </a:solidFill>
                <a:latin typeface="Calibri"/>
                <a:cs typeface="Calibri"/>
              </a:rPr>
              <a:t>Modern deep learning </a:t>
            </a:r>
            <a:r>
              <a:rPr dirty="0" sz="4000" spc="-20">
                <a:solidFill>
                  <a:srgbClr val="FFFFFF"/>
                </a:solidFill>
                <a:latin typeface="Calibri"/>
                <a:cs typeface="Calibri"/>
              </a:rPr>
              <a:t>toolbox </a:t>
            </a:r>
            <a:r>
              <a:rPr dirty="0" sz="4000" spc="-5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4000" spc="-10">
                <a:solidFill>
                  <a:srgbClr val="FFFFFF"/>
                </a:solidFill>
                <a:latin typeface="Calibri"/>
                <a:cs typeface="Calibri"/>
              </a:rPr>
              <a:t>designed  </a:t>
            </a:r>
            <a:r>
              <a:rPr dirty="0" sz="4000" spc="-3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dirty="0" sz="4000" spc="-5">
                <a:solidFill>
                  <a:srgbClr val="FFFFFF"/>
                </a:solidFill>
                <a:latin typeface="Calibri"/>
                <a:cs typeface="Calibri"/>
              </a:rPr>
              <a:t>simple </a:t>
            </a:r>
            <a:r>
              <a:rPr dirty="0" sz="4000" spc="-10">
                <a:solidFill>
                  <a:srgbClr val="FFFFFF"/>
                </a:solidFill>
                <a:latin typeface="Calibri"/>
                <a:cs typeface="Calibri"/>
              </a:rPr>
              <a:t>sequences </a:t>
            </a:r>
            <a:r>
              <a:rPr dirty="0" sz="40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4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5">
                <a:solidFill>
                  <a:srgbClr val="FFFFFF"/>
                </a:solidFill>
                <a:latin typeface="Calibri"/>
                <a:cs typeface="Calibri"/>
              </a:rPr>
              <a:t>grids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6819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665732"/>
            <a:ext cx="69754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 b="1">
                <a:solidFill>
                  <a:srgbClr val="C00000"/>
                </a:solidFill>
                <a:latin typeface="Arial"/>
                <a:cs typeface="Arial"/>
              </a:rPr>
              <a:t>But </a:t>
            </a:r>
            <a:r>
              <a:rPr dirty="0" spc="10" b="1">
                <a:solidFill>
                  <a:srgbClr val="C00000"/>
                </a:solidFill>
                <a:latin typeface="Arial"/>
                <a:cs typeface="Arial"/>
              </a:rPr>
              <a:t>networks are far </a:t>
            </a:r>
            <a:r>
              <a:rPr dirty="0" spc="5" b="1">
                <a:solidFill>
                  <a:srgbClr val="C00000"/>
                </a:solidFill>
                <a:latin typeface="Arial"/>
                <a:cs typeface="Arial"/>
              </a:rPr>
              <a:t>more</a:t>
            </a:r>
            <a:r>
              <a:rPr dirty="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pc="-25" b="1">
                <a:solidFill>
                  <a:srgbClr val="C00000"/>
                </a:solidFill>
                <a:latin typeface="Arial"/>
                <a:cs typeface="Arial"/>
              </a:rPr>
              <a:t>complex!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225547"/>
            <a:ext cx="7907020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Arbitrary </a:t>
            </a:r>
            <a:r>
              <a:rPr dirty="0" sz="2800" spc="-20">
                <a:latin typeface="Calibri"/>
                <a:cs typeface="Calibri"/>
              </a:rPr>
              <a:t>size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>
                <a:latin typeface="Calibri"/>
                <a:cs typeface="Calibri"/>
              </a:rPr>
              <a:t>complex </a:t>
            </a:r>
            <a:r>
              <a:rPr dirty="0" sz="2800" spc="-10">
                <a:latin typeface="Calibri"/>
                <a:cs typeface="Calibri"/>
              </a:rPr>
              <a:t>topological structure </a:t>
            </a:r>
            <a:r>
              <a:rPr dirty="0" sz="2800" spc="-100">
                <a:latin typeface="Calibri"/>
                <a:cs typeface="Calibri"/>
              </a:rPr>
              <a:t>(i.e.,  </a:t>
            </a:r>
            <a:r>
              <a:rPr dirty="0" sz="2800">
                <a:latin typeface="Calibri"/>
                <a:cs typeface="Calibri"/>
              </a:rPr>
              <a:t>no </a:t>
            </a:r>
            <a:r>
              <a:rPr dirty="0" sz="2800" spc="-10">
                <a:latin typeface="Calibri"/>
                <a:cs typeface="Calibri"/>
              </a:rPr>
              <a:t>spatial locality </a:t>
            </a:r>
            <a:r>
              <a:rPr dirty="0" sz="2800" spc="-25">
                <a:latin typeface="Calibri"/>
                <a:cs typeface="Calibri"/>
              </a:rPr>
              <a:t>like </a:t>
            </a:r>
            <a:r>
              <a:rPr dirty="0" sz="2800" spc="-5">
                <a:latin typeface="Calibri"/>
                <a:cs typeface="Calibri"/>
              </a:rPr>
              <a:t>grids)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41537" y="3267340"/>
            <a:ext cx="2186362" cy="1839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5009" y="3225802"/>
            <a:ext cx="2293922" cy="19757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46158" y="3888548"/>
            <a:ext cx="1796414" cy="714375"/>
          </a:xfrm>
          <a:custGeom>
            <a:avLst/>
            <a:gdLst/>
            <a:ahLst/>
            <a:cxnLst/>
            <a:rect l="l" t="t" r="r" b="b"/>
            <a:pathLst>
              <a:path w="1796414" h="714375">
                <a:moveTo>
                  <a:pt x="357038" y="0"/>
                </a:moveTo>
                <a:lnTo>
                  <a:pt x="0" y="357041"/>
                </a:lnTo>
                <a:lnTo>
                  <a:pt x="357038" y="714079"/>
                </a:lnTo>
                <a:lnTo>
                  <a:pt x="357038" y="477502"/>
                </a:lnTo>
                <a:lnTo>
                  <a:pt x="1675757" y="477502"/>
                </a:lnTo>
                <a:lnTo>
                  <a:pt x="1796218" y="357041"/>
                </a:lnTo>
                <a:lnTo>
                  <a:pt x="1675756" y="236578"/>
                </a:lnTo>
                <a:lnTo>
                  <a:pt x="357038" y="236578"/>
                </a:lnTo>
                <a:lnTo>
                  <a:pt x="357038" y="0"/>
                </a:lnTo>
                <a:close/>
              </a:path>
              <a:path w="1796414" h="714375">
                <a:moveTo>
                  <a:pt x="1675757" y="477502"/>
                </a:moveTo>
                <a:lnTo>
                  <a:pt x="1439180" y="477502"/>
                </a:lnTo>
                <a:lnTo>
                  <a:pt x="1439180" y="714079"/>
                </a:lnTo>
                <a:lnTo>
                  <a:pt x="1675757" y="477502"/>
                </a:lnTo>
                <a:close/>
              </a:path>
              <a:path w="1796414" h="714375">
                <a:moveTo>
                  <a:pt x="1439180" y="0"/>
                </a:moveTo>
                <a:lnTo>
                  <a:pt x="1439180" y="236578"/>
                </a:lnTo>
                <a:lnTo>
                  <a:pt x="1675756" y="236578"/>
                </a:lnTo>
                <a:lnTo>
                  <a:pt x="14391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22157" y="3864655"/>
            <a:ext cx="1844675" cy="762000"/>
          </a:xfrm>
          <a:custGeom>
            <a:avLst/>
            <a:gdLst/>
            <a:ahLst/>
            <a:cxnLst/>
            <a:rect l="l" t="t" r="r" b="b"/>
            <a:pathLst>
              <a:path w="1844675" h="762000">
                <a:moveTo>
                  <a:pt x="383319" y="0"/>
                </a:moveTo>
                <a:lnTo>
                  <a:pt x="7029" y="363962"/>
                </a:lnTo>
                <a:lnTo>
                  <a:pt x="0" y="380933"/>
                </a:lnTo>
                <a:lnTo>
                  <a:pt x="1757" y="389964"/>
                </a:lnTo>
                <a:lnTo>
                  <a:pt x="364069" y="754942"/>
                </a:lnTo>
                <a:lnTo>
                  <a:pt x="383319" y="761865"/>
                </a:lnTo>
                <a:lnTo>
                  <a:pt x="390223" y="760145"/>
                </a:lnTo>
                <a:lnTo>
                  <a:pt x="396322" y="756478"/>
                </a:lnTo>
                <a:lnTo>
                  <a:pt x="400995" y="751306"/>
                </a:lnTo>
                <a:lnTo>
                  <a:pt x="403985" y="745009"/>
                </a:lnTo>
                <a:lnTo>
                  <a:pt x="405039" y="737971"/>
                </a:lnTo>
                <a:lnTo>
                  <a:pt x="405039" y="726384"/>
                </a:lnTo>
                <a:lnTo>
                  <a:pt x="376239" y="726384"/>
                </a:lnTo>
                <a:lnTo>
                  <a:pt x="30789" y="380933"/>
                </a:lnTo>
                <a:lnTo>
                  <a:pt x="376239" y="35481"/>
                </a:lnTo>
                <a:lnTo>
                  <a:pt x="405039" y="35481"/>
                </a:lnTo>
                <a:lnTo>
                  <a:pt x="405039" y="23892"/>
                </a:lnTo>
                <a:lnTo>
                  <a:pt x="403985" y="16855"/>
                </a:lnTo>
                <a:lnTo>
                  <a:pt x="400995" y="10558"/>
                </a:lnTo>
                <a:lnTo>
                  <a:pt x="396322" y="5386"/>
                </a:lnTo>
                <a:lnTo>
                  <a:pt x="390223" y="1719"/>
                </a:lnTo>
                <a:lnTo>
                  <a:pt x="383319" y="0"/>
                </a:lnTo>
                <a:close/>
              </a:path>
              <a:path w="1844675" h="762000">
                <a:moveTo>
                  <a:pt x="1467981" y="525395"/>
                </a:moveTo>
                <a:lnTo>
                  <a:pt x="1439181" y="525395"/>
                </a:lnTo>
                <a:lnTo>
                  <a:pt x="1439181" y="737971"/>
                </a:lnTo>
                <a:lnTo>
                  <a:pt x="1460901" y="761865"/>
                </a:lnTo>
                <a:lnTo>
                  <a:pt x="1467863" y="761511"/>
                </a:lnTo>
                <a:lnTo>
                  <a:pt x="1474430" y="759173"/>
                </a:lnTo>
                <a:lnTo>
                  <a:pt x="1480151" y="754942"/>
                </a:lnTo>
                <a:lnTo>
                  <a:pt x="1508710" y="726384"/>
                </a:lnTo>
                <a:lnTo>
                  <a:pt x="1467981" y="726384"/>
                </a:lnTo>
                <a:lnTo>
                  <a:pt x="1467981" y="525395"/>
                </a:lnTo>
                <a:close/>
              </a:path>
              <a:path w="1844675" h="762000">
                <a:moveTo>
                  <a:pt x="1465832" y="496595"/>
                </a:moveTo>
                <a:lnTo>
                  <a:pt x="378388" y="496595"/>
                </a:lnTo>
                <a:lnTo>
                  <a:pt x="376239" y="498744"/>
                </a:lnTo>
                <a:lnTo>
                  <a:pt x="376239" y="726384"/>
                </a:lnTo>
                <a:lnTo>
                  <a:pt x="405039" y="726384"/>
                </a:lnTo>
                <a:lnTo>
                  <a:pt x="405039" y="525395"/>
                </a:lnTo>
                <a:lnTo>
                  <a:pt x="1467981" y="525395"/>
                </a:lnTo>
                <a:lnTo>
                  <a:pt x="1467981" y="498744"/>
                </a:lnTo>
                <a:lnTo>
                  <a:pt x="1465832" y="496595"/>
                </a:lnTo>
                <a:close/>
              </a:path>
              <a:path w="1844675" h="762000">
                <a:moveTo>
                  <a:pt x="1508710" y="35481"/>
                </a:moveTo>
                <a:lnTo>
                  <a:pt x="1467981" y="35481"/>
                </a:lnTo>
                <a:lnTo>
                  <a:pt x="1813430" y="380933"/>
                </a:lnTo>
                <a:lnTo>
                  <a:pt x="1467981" y="726384"/>
                </a:lnTo>
                <a:lnTo>
                  <a:pt x="1508710" y="726384"/>
                </a:lnTo>
                <a:lnTo>
                  <a:pt x="1837189" y="397903"/>
                </a:lnTo>
                <a:lnTo>
                  <a:pt x="1842461" y="389964"/>
                </a:lnTo>
                <a:lnTo>
                  <a:pt x="1844218" y="380933"/>
                </a:lnTo>
                <a:lnTo>
                  <a:pt x="1842461" y="371902"/>
                </a:lnTo>
                <a:lnTo>
                  <a:pt x="1837189" y="363962"/>
                </a:lnTo>
                <a:lnTo>
                  <a:pt x="1508710" y="35481"/>
                </a:lnTo>
                <a:close/>
              </a:path>
              <a:path w="1844675" h="762000">
                <a:moveTo>
                  <a:pt x="366639" y="58657"/>
                </a:moveTo>
                <a:lnTo>
                  <a:pt x="44364" y="380933"/>
                </a:lnTo>
                <a:lnTo>
                  <a:pt x="366639" y="703207"/>
                </a:lnTo>
                <a:lnTo>
                  <a:pt x="366639" y="680031"/>
                </a:lnTo>
                <a:lnTo>
                  <a:pt x="357038" y="680030"/>
                </a:lnTo>
                <a:lnTo>
                  <a:pt x="57941" y="380933"/>
                </a:lnTo>
                <a:lnTo>
                  <a:pt x="357040" y="81833"/>
                </a:lnTo>
                <a:lnTo>
                  <a:pt x="366639" y="81833"/>
                </a:lnTo>
                <a:lnTo>
                  <a:pt x="366639" y="58657"/>
                </a:lnTo>
                <a:close/>
              </a:path>
              <a:path w="1844675" h="762000">
                <a:moveTo>
                  <a:pt x="1481884" y="486994"/>
                </a:moveTo>
                <a:lnTo>
                  <a:pt x="1471133" y="486994"/>
                </a:lnTo>
                <a:lnTo>
                  <a:pt x="1477581" y="493441"/>
                </a:lnTo>
                <a:lnTo>
                  <a:pt x="1477581" y="703207"/>
                </a:lnTo>
                <a:lnTo>
                  <a:pt x="1500758" y="680030"/>
                </a:lnTo>
                <a:lnTo>
                  <a:pt x="1487181" y="680030"/>
                </a:lnTo>
                <a:lnTo>
                  <a:pt x="1487181" y="501394"/>
                </a:lnTo>
                <a:lnTo>
                  <a:pt x="1485295" y="492052"/>
                </a:lnTo>
                <a:lnTo>
                  <a:pt x="1481884" y="486994"/>
                </a:lnTo>
                <a:close/>
              </a:path>
              <a:path w="1844675" h="762000">
                <a:moveTo>
                  <a:pt x="1463180" y="477394"/>
                </a:moveTo>
                <a:lnTo>
                  <a:pt x="381039" y="477394"/>
                </a:lnTo>
                <a:lnTo>
                  <a:pt x="371697" y="479280"/>
                </a:lnTo>
                <a:lnTo>
                  <a:pt x="364069" y="484423"/>
                </a:lnTo>
                <a:lnTo>
                  <a:pt x="358926" y="492052"/>
                </a:lnTo>
                <a:lnTo>
                  <a:pt x="357040" y="501394"/>
                </a:lnTo>
                <a:lnTo>
                  <a:pt x="357040" y="680031"/>
                </a:lnTo>
                <a:lnTo>
                  <a:pt x="366639" y="680031"/>
                </a:lnTo>
                <a:lnTo>
                  <a:pt x="366639" y="493441"/>
                </a:lnTo>
                <a:lnTo>
                  <a:pt x="373086" y="486994"/>
                </a:lnTo>
                <a:lnTo>
                  <a:pt x="1481884" y="486994"/>
                </a:lnTo>
                <a:lnTo>
                  <a:pt x="1480151" y="484423"/>
                </a:lnTo>
                <a:lnTo>
                  <a:pt x="1472522" y="479280"/>
                </a:lnTo>
                <a:lnTo>
                  <a:pt x="1463180" y="477394"/>
                </a:lnTo>
                <a:close/>
              </a:path>
              <a:path w="1844675" h="762000">
                <a:moveTo>
                  <a:pt x="1500758" y="81834"/>
                </a:moveTo>
                <a:lnTo>
                  <a:pt x="1487181" y="81834"/>
                </a:lnTo>
                <a:lnTo>
                  <a:pt x="1786277" y="380933"/>
                </a:lnTo>
                <a:lnTo>
                  <a:pt x="1487181" y="680030"/>
                </a:lnTo>
                <a:lnTo>
                  <a:pt x="1500758" y="680030"/>
                </a:lnTo>
                <a:lnTo>
                  <a:pt x="1799853" y="380933"/>
                </a:lnTo>
                <a:lnTo>
                  <a:pt x="1500758" y="81834"/>
                </a:lnTo>
                <a:close/>
              </a:path>
              <a:path w="1844675" h="762000">
                <a:moveTo>
                  <a:pt x="366639" y="81833"/>
                </a:moveTo>
                <a:lnTo>
                  <a:pt x="357040" y="81833"/>
                </a:lnTo>
                <a:lnTo>
                  <a:pt x="357040" y="260470"/>
                </a:lnTo>
                <a:lnTo>
                  <a:pt x="358926" y="269812"/>
                </a:lnTo>
                <a:lnTo>
                  <a:pt x="364069" y="277440"/>
                </a:lnTo>
                <a:lnTo>
                  <a:pt x="371697" y="282583"/>
                </a:lnTo>
                <a:lnTo>
                  <a:pt x="381039" y="284469"/>
                </a:lnTo>
                <a:lnTo>
                  <a:pt x="1463180" y="284469"/>
                </a:lnTo>
                <a:lnTo>
                  <a:pt x="1472522" y="282583"/>
                </a:lnTo>
                <a:lnTo>
                  <a:pt x="1480151" y="277440"/>
                </a:lnTo>
                <a:lnTo>
                  <a:pt x="1481885" y="274869"/>
                </a:lnTo>
                <a:lnTo>
                  <a:pt x="373086" y="274869"/>
                </a:lnTo>
                <a:lnTo>
                  <a:pt x="366639" y="268423"/>
                </a:lnTo>
                <a:lnTo>
                  <a:pt x="366639" y="81833"/>
                </a:lnTo>
                <a:close/>
              </a:path>
              <a:path w="1844675" h="762000">
                <a:moveTo>
                  <a:pt x="1477581" y="58657"/>
                </a:moveTo>
                <a:lnTo>
                  <a:pt x="1477581" y="268423"/>
                </a:lnTo>
                <a:lnTo>
                  <a:pt x="1471133" y="274869"/>
                </a:lnTo>
                <a:lnTo>
                  <a:pt x="1481885" y="274869"/>
                </a:lnTo>
                <a:lnTo>
                  <a:pt x="1485295" y="269812"/>
                </a:lnTo>
                <a:lnTo>
                  <a:pt x="1487181" y="260470"/>
                </a:lnTo>
                <a:lnTo>
                  <a:pt x="1487181" y="81834"/>
                </a:lnTo>
                <a:lnTo>
                  <a:pt x="1500758" y="81834"/>
                </a:lnTo>
                <a:lnTo>
                  <a:pt x="1477581" y="58657"/>
                </a:lnTo>
                <a:close/>
              </a:path>
              <a:path w="1844675" h="762000">
                <a:moveTo>
                  <a:pt x="405039" y="35481"/>
                </a:moveTo>
                <a:lnTo>
                  <a:pt x="376239" y="35481"/>
                </a:lnTo>
                <a:lnTo>
                  <a:pt x="376239" y="263121"/>
                </a:lnTo>
                <a:lnTo>
                  <a:pt x="378388" y="265269"/>
                </a:lnTo>
                <a:lnTo>
                  <a:pt x="1465832" y="265269"/>
                </a:lnTo>
                <a:lnTo>
                  <a:pt x="1467981" y="263121"/>
                </a:lnTo>
                <a:lnTo>
                  <a:pt x="1467981" y="236470"/>
                </a:lnTo>
                <a:lnTo>
                  <a:pt x="405039" y="236470"/>
                </a:lnTo>
                <a:lnTo>
                  <a:pt x="405039" y="35481"/>
                </a:lnTo>
                <a:close/>
              </a:path>
              <a:path w="1844675" h="762000">
                <a:moveTo>
                  <a:pt x="1460901" y="0"/>
                </a:moveTo>
                <a:lnTo>
                  <a:pt x="1439181" y="23892"/>
                </a:lnTo>
                <a:lnTo>
                  <a:pt x="1439181" y="236470"/>
                </a:lnTo>
                <a:lnTo>
                  <a:pt x="1467981" y="236470"/>
                </a:lnTo>
                <a:lnTo>
                  <a:pt x="1467981" y="35481"/>
                </a:lnTo>
                <a:lnTo>
                  <a:pt x="1508710" y="35481"/>
                </a:lnTo>
                <a:lnTo>
                  <a:pt x="1480151" y="6922"/>
                </a:lnTo>
                <a:lnTo>
                  <a:pt x="1474430" y="2691"/>
                </a:lnTo>
                <a:lnTo>
                  <a:pt x="1467863" y="353"/>
                </a:lnTo>
                <a:lnTo>
                  <a:pt x="14609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27899" y="3943022"/>
            <a:ext cx="1811300" cy="6051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16826" y="3466117"/>
            <a:ext cx="690245" cy="668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200" spc="-95">
                <a:latin typeface="Arial"/>
                <a:cs typeface="Arial"/>
              </a:rPr>
              <a:t>v</a:t>
            </a:r>
            <a:r>
              <a:rPr dirty="0" sz="4200" spc="-85">
                <a:latin typeface="Arial"/>
                <a:cs typeface="Arial"/>
              </a:rPr>
              <a:t>s</a:t>
            </a:r>
            <a:r>
              <a:rPr dirty="0" sz="4200" spc="25">
                <a:latin typeface="Arial"/>
                <a:cs typeface="Arial"/>
              </a:rPr>
              <a:t>.</a:t>
            </a:r>
            <a:endParaRPr sz="4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30264" y="4451814"/>
            <a:ext cx="55816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355">
                <a:latin typeface="Arial"/>
                <a:cs typeface="Arial"/>
              </a:rPr>
              <a:t>T</a:t>
            </a:r>
            <a:r>
              <a:rPr dirty="0" sz="2350" spc="-75">
                <a:latin typeface="Arial"/>
                <a:cs typeface="Arial"/>
              </a:rPr>
              <a:t>e</a:t>
            </a:r>
            <a:r>
              <a:rPr dirty="0" sz="2350" spc="-25">
                <a:latin typeface="Arial"/>
                <a:cs typeface="Arial"/>
              </a:rPr>
              <a:t>x</a:t>
            </a:r>
            <a:r>
              <a:rPr dirty="0" sz="2350" spc="50">
                <a:latin typeface="Arial"/>
                <a:cs typeface="Arial"/>
              </a:rPr>
              <a:t>t</a:t>
            </a:r>
            <a:endParaRPr sz="2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6563" y="4991002"/>
            <a:ext cx="6819265" cy="1866264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1470"/>
              </a:spcBef>
              <a:tabLst>
                <a:tab pos="4414520" algn="l"/>
              </a:tabLst>
            </a:pPr>
            <a:r>
              <a:rPr dirty="0" sz="2350" spc="0">
                <a:latin typeface="Arial"/>
                <a:cs typeface="Arial"/>
              </a:rPr>
              <a:t>Networks	</a:t>
            </a:r>
            <a:r>
              <a:rPr dirty="0" sz="2350" spc="-35">
                <a:latin typeface="Arial"/>
                <a:cs typeface="Arial"/>
              </a:rPr>
              <a:t>Images</a:t>
            </a:r>
            <a:endParaRPr sz="235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No </a:t>
            </a:r>
            <a:r>
              <a:rPr dirty="0" sz="2800" spc="-25">
                <a:latin typeface="Calibri"/>
                <a:cs typeface="Calibri"/>
              </a:rPr>
              <a:t>fixed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10">
                <a:latin typeface="Calibri"/>
                <a:cs typeface="Calibri"/>
              </a:rPr>
              <a:t>ordering </a:t>
            </a:r>
            <a:r>
              <a:rPr dirty="0" sz="2800" spc="-5">
                <a:latin typeface="Calibri"/>
                <a:cs typeface="Calibri"/>
              </a:rPr>
              <a:t>or </a:t>
            </a:r>
            <a:r>
              <a:rPr dirty="0" sz="2800" spc="-25">
                <a:latin typeface="Calibri"/>
                <a:cs typeface="Calibri"/>
              </a:rPr>
              <a:t>reference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point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Often </a:t>
            </a:r>
            <a:r>
              <a:rPr dirty="0" sz="2800" spc="-5">
                <a:latin typeface="Calibri"/>
                <a:cs typeface="Calibri"/>
              </a:rPr>
              <a:t>dynamic and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5">
                <a:latin typeface="Calibri"/>
                <a:cs typeface="Calibri"/>
              </a:rPr>
              <a:t>multimodal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90"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  <a:p>
            <a:pPr marL="1729739">
              <a:lnSpc>
                <a:spcPct val="100000"/>
              </a:lnSpc>
              <a:spcBef>
                <a:spcPts val="240"/>
              </a:spcBef>
            </a:pP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Jure Leskovec, Stanford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649224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3631" y="1417827"/>
            <a:ext cx="537972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dirty="0" b="1">
                <a:solidFill>
                  <a:srgbClr val="F0AD00"/>
                </a:solidFill>
                <a:latin typeface="Calibri"/>
                <a:cs typeface="Calibri"/>
              </a:rPr>
              <a:t>1.	</a:t>
            </a:r>
            <a:r>
              <a:rPr dirty="0" sz="4000" spc="-5" b="1">
                <a:latin typeface="Calibri"/>
                <a:cs typeface="Calibri"/>
              </a:rPr>
              <a:t>Basics of deep</a:t>
            </a:r>
            <a:r>
              <a:rPr dirty="0" sz="4000" spc="-20" b="1">
                <a:latin typeface="Calibri"/>
                <a:cs typeface="Calibri"/>
              </a:rPr>
              <a:t> </a:t>
            </a:r>
            <a:r>
              <a:rPr dirty="0" sz="4000" spc="-5" b="1">
                <a:latin typeface="Calibri"/>
                <a:cs typeface="Calibri"/>
              </a:rPr>
              <a:t>learning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631" y="2637027"/>
            <a:ext cx="7942580" cy="246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 startAt="2"/>
              <a:tabLst>
                <a:tab pos="526415" algn="l"/>
                <a:tab pos="527050" algn="l"/>
              </a:tabLst>
            </a:pPr>
            <a:r>
              <a:rPr dirty="0" sz="4000" spc="-5" b="1">
                <a:latin typeface="Calibri"/>
                <a:cs typeface="Calibri"/>
              </a:rPr>
              <a:t>Deep learning </a:t>
            </a:r>
            <a:r>
              <a:rPr dirty="0" sz="4000" spc="-25" b="1">
                <a:latin typeface="Calibri"/>
                <a:cs typeface="Calibri"/>
              </a:rPr>
              <a:t>for</a:t>
            </a:r>
            <a:r>
              <a:rPr dirty="0" sz="4000" spc="-45" b="1">
                <a:latin typeface="Calibri"/>
                <a:cs typeface="Calibri"/>
              </a:rPr>
              <a:t> </a:t>
            </a:r>
            <a:r>
              <a:rPr dirty="0" sz="4000" spc="-15" b="1">
                <a:latin typeface="Calibri"/>
                <a:cs typeface="Calibri"/>
              </a:rPr>
              <a:t>graphs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Font typeface="Calibri"/>
              <a:buAutoNum type="arabicPeriod" startAt="2"/>
            </a:pPr>
            <a:endParaRPr sz="4150">
              <a:latin typeface="Times New Roman"/>
              <a:cs typeface="Times New Roman"/>
            </a:endParaRPr>
          </a:p>
          <a:p>
            <a:pPr marL="527050" marR="5080" indent="-514350">
              <a:lnSpc>
                <a:spcPct val="100000"/>
              </a:lnSpc>
              <a:buClr>
                <a:srgbClr val="F0AD00"/>
              </a:buClr>
              <a:buSzPct val="80000"/>
              <a:buAutoNum type="arabicPeriod" startAt="2"/>
              <a:tabLst>
                <a:tab pos="526415" algn="l"/>
                <a:tab pos="527050" algn="l"/>
              </a:tabLst>
            </a:pPr>
            <a:r>
              <a:rPr dirty="0" sz="4000" spc="-20" b="1">
                <a:latin typeface="Calibri"/>
                <a:cs typeface="Calibri"/>
              </a:rPr>
              <a:t>Graph </a:t>
            </a:r>
            <a:r>
              <a:rPr dirty="0" sz="4000" spc="-10" b="1">
                <a:latin typeface="Calibri"/>
                <a:cs typeface="Calibri"/>
              </a:rPr>
              <a:t>Convolutional </a:t>
            </a:r>
            <a:r>
              <a:rPr dirty="0" sz="4000" spc="-15" b="1">
                <a:latin typeface="Calibri"/>
                <a:cs typeface="Calibri"/>
              </a:rPr>
              <a:t>Networks </a:t>
            </a:r>
            <a:r>
              <a:rPr dirty="0" sz="4000" spc="-5" b="1">
                <a:latin typeface="Calibri"/>
                <a:cs typeface="Calibri"/>
              </a:rPr>
              <a:t>and  </a:t>
            </a:r>
            <a:r>
              <a:rPr dirty="0" sz="4000" spc="-25" b="1">
                <a:latin typeface="Calibri"/>
                <a:cs typeface="Calibri"/>
              </a:rPr>
              <a:t>GraphSAGE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77001" y="1447800"/>
            <a:ext cx="380419" cy="9713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57422" y="1447800"/>
            <a:ext cx="971387" cy="3804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77001" y="1447800"/>
            <a:ext cx="1351808" cy="13518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477001" y="2419188"/>
            <a:ext cx="971387" cy="3804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48388" y="1828220"/>
            <a:ext cx="380420" cy="9713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9872" y="3398520"/>
            <a:ext cx="6065520" cy="1298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613904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55840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Supervised learning: </a:t>
            </a:r>
            <a:r>
              <a:rPr dirty="0" spc="-15"/>
              <a:t>we </a:t>
            </a:r>
            <a:r>
              <a:rPr dirty="0" spc="-20"/>
              <a:t>are </a:t>
            </a:r>
            <a:r>
              <a:rPr dirty="0" spc="-10"/>
              <a:t>given </a:t>
            </a:r>
            <a:r>
              <a:rPr dirty="0"/>
              <a:t>input </a:t>
            </a:r>
            <a:r>
              <a:rPr dirty="0">
                <a:solidFill>
                  <a:srgbClr val="008000"/>
                </a:solidFill>
                <a:latin typeface="Cambria Math"/>
                <a:cs typeface="Cambria Math"/>
              </a:rPr>
              <a:t>𝒙</a:t>
            </a:r>
            <a:r>
              <a:rPr dirty="0"/>
              <a:t>,  and the </a:t>
            </a:r>
            <a:r>
              <a:rPr dirty="0" spc="-5"/>
              <a:t>goal </a:t>
            </a:r>
            <a:r>
              <a:rPr dirty="0"/>
              <a:t>is </a:t>
            </a:r>
            <a:r>
              <a:rPr dirty="0" spc="-15"/>
              <a:t>to </a:t>
            </a:r>
            <a:r>
              <a:rPr dirty="0" spc="-10"/>
              <a:t>predict </a:t>
            </a:r>
            <a:r>
              <a:rPr dirty="0" spc="-5"/>
              <a:t>label</a:t>
            </a:r>
            <a:r>
              <a:rPr dirty="0" spc="-20"/>
              <a:t> </a:t>
            </a:r>
            <a:r>
              <a:rPr dirty="0">
                <a:solidFill>
                  <a:srgbClr val="0070C0"/>
                </a:solidFill>
                <a:latin typeface="Cambria Math"/>
                <a:cs typeface="Cambria Math"/>
              </a:rPr>
              <a:t>𝒚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E66C7D"/>
                </a:solidFill>
                <a:latin typeface="Calibri"/>
                <a:cs typeface="Calibri"/>
              </a:rPr>
              <a:t>Input </a:t>
            </a:r>
            <a:r>
              <a:rPr dirty="0">
                <a:solidFill>
                  <a:srgbClr val="E66C7D"/>
                </a:solidFill>
                <a:latin typeface="Cambria Math"/>
                <a:cs typeface="Cambria Math"/>
              </a:rPr>
              <a:t>𝒙 </a:t>
            </a:r>
            <a:r>
              <a:rPr dirty="0" spc="-15" b="1">
                <a:solidFill>
                  <a:srgbClr val="E66C7D"/>
                </a:solidFill>
                <a:latin typeface="Calibri"/>
                <a:cs typeface="Calibri"/>
              </a:rPr>
              <a:t>can</a:t>
            </a:r>
            <a:r>
              <a:rPr dirty="0" spc="-5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E66C7D"/>
                </a:solidFill>
                <a:latin typeface="Calibri"/>
                <a:cs typeface="Calibri"/>
              </a:rPr>
              <a:t>be: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19907"/>
            <a:ext cx="7714615" cy="30410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5">
                <a:latin typeface="Calibri"/>
                <a:cs typeface="Calibri"/>
              </a:rPr>
              <a:t>Vectors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real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numbers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Sequences </a:t>
            </a:r>
            <a:r>
              <a:rPr dirty="0" sz="2800" spc="-15">
                <a:latin typeface="Calibri"/>
                <a:cs typeface="Calibri"/>
              </a:rPr>
              <a:t>(natural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language)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Matrices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(images)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Graphs </a:t>
            </a:r>
            <a:r>
              <a:rPr dirty="0" sz="2800" spc="-10">
                <a:latin typeface="Calibri"/>
                <a:cs typeface="Calibri"/>
              </a:rPr>
              <a:t>(potentially </a:t>
            </a:r>
            <a:r>
              <a:rPr dirty="0" sz="2800" spc="-5">
                <a:latin typeface="Calibri"/>
                <a:cs typeface="Calibri"/>
              </a:rPr>
              <a:t>with node and </a:t>
            </a:r>
            <a:r>
              <a:rPr dirty="0" sz="2800" spc="-10">
                <a:latin typeface="Calibri"/>
                <a:cs typeface="Calibri"/>
              </a:rPr>
              <a:t>edge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features)</a:t>
            </a:r>
            <a:endParaRPr sz="2800">
              <a:latin typeface="Calibri"/>
              <a:cs typeface="Calibri"/>
            </a:endParaRPr>
          </a:p>
          <a:p>
            <a:pPr marL="332740" marR="413384" indent="-320040">
              <a:lnSpc>
                <a:spcPts val="389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>
                <a:latin typeface="Calibri"/>
                <a:cs typeface="Calibri"/>
              </a:rPr>
              <a:t>We </a:t>
            </a:r>
            <a:r>
              <a:rPr dirty="0" sz="3200" spc="-20" b="1">
                <a:latin typeface="Calibri"/>
                <a:cs typeface="Calibri"/>
              </a:rPr>
              <a:t>formulate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0" b="1">
                <a:latin typeface="Calibri"/>
                <a:cs typeface="Calibri"/>
              </a:rPr>
              <a:t>task </a:t>
            </a:r>
            <a:r>
              <a:rPr dirty="0" sz="3200" spc="-5" b="1">
                <a:latin typeface="Calibri"/>
                <a:cs typeface="Calibri"/>
              </a:rPr>
              <a:t>as an </a:t>
            </a:r>
            <a:r>
              <a:rPr dirty="0" sz="3200" spc="-10" b="1">
                <a:latin typeface="Calibri"/>
                <a:cs typeface="Calibri"/>
              </a:rPr>
              <a:t>optimization  problem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613904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8384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Formulate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task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as an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optimization</a:t>
            </a:r>
            <a:r>
              <a:rPr dirty="0" sz="3000" spc="-3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problem: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2028" y="2048764"/>
            <a:ext cx="2292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975">
                <a:solidFill>
                  <a:srgbClr val="CF5B1B"/>
                </a:solidFill>
                <a:latin typeface="Cambria Math"/>
                <a:cs typeface="Cambria Math"/>
              </a:rPr>
              <a:t>!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56906" y="1825409"/>
            <a:ext cx="468630" cy="353060"/>
          </a:xfrm>
          <a:custGeom>
            <a:avLst/>
            <a:gdLst/>
            <a:ahLst/>
            <a:cxnLst/>
            <a:rect l="l" t="t" r="r" b="b"/>
            <a:pathLst>
              <a:path w="468629" h="353060">
                <a:moveTo>
                  <a:pt x="355795" y="0"/>
                </a:moveTo>
                <a:lnTo>
                  <a:pt x="350772" y="14324"/>
                </a:lnTo>
                <a:lnTo>
                  <a:pt x="371201" y="23190"/>
                </a:lnTo>
                <a:lnTo>
                  <a:pt x="388770" y="35463"/>
                </a:lnTo>
                <a:lnTo>
                  <a:pt x="415326" y="70228"/>
                </a:lnTo>
                <a:lnTo>
                  <a:pt x="430954" y="117132"/>
                </a:lnTo>
                <a:lnTo>
                  <a:pt x="436163" y="174687"/>
                </a:lnTo>
                <a:lnTo>
                  <a:pt x="434855" y="205813"/>
                </a:lnTo>
                <a:lnTo>
                  <a:pt x="424390" y="259483"/>
                </a:lnTo>
                <a:lnTo>
                  <a:pt x="403391" y="301399"/>
                </a:lnTo>
                <a:lnTo>
                  <a:pt x="371440" y="329677"/>
                </a:lnTo>
                <a:lnTo>
                  <a:pt x="351331" y="338584"/>
                </a:lnTo>
                <a:lnTo>
                  <a:pt x="355795" y="352908"/>
                </a:lnTo>
                <a:lnTo>
                  <a:pt x="403932" y="330328"/>
                </a:lnTo>
                <a:lnTo>
                  <a:pt x="439326" y="291237"/>
                </a:lnTo>
                <a:lnTo>
                  <a:pt x="461091" y="238892"/>
                </a:lnTo>
                <a:lnTo>
                  <a:pt x="468346" y="176547"/>
                </a:lnTo>
                <a:lnTo>
                  <a:pt x="466527" y="144194"/>
                </a:lnTo>
                <a:lnTo>
                  <a:pt x="451970" y="86849"/>
                </a:lnTo>
                <a:lnTo>
                  <a:pt x="423100" y="40166"/>
                </a:lnTo>
                <a:lnTo>
                  <a:pt x="381381" y="9238"/>
                </a:lnTo>
                <a:lnTo>
                  <a:pt x="355795" y="0"/>
                </a:lnTo>
                <a:close/>
              </a:path>
              <a:path w="468629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4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3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7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25366" y="1715516"/>
            <a:ext cx="24047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6105" algn="l"/>
                <a:tab pos="2233295" algn="l"/>
              </a:tabLst>
            </a:pPr>
            <a:r>
              <a:rPr dirty="0" sz="3000">
                <a:latin typeface="Cambria Math"/>
                <a:cs typeface="Cambria Math"/>
              </a:rPr>
              <a:t>min</a:t>
            </a:r>
            <a:r>
              <a:rPr dirty="0" sz="3000" spc="-160">
                <a:latin typeface="Cambria Math"/>
                <a:cs typeface="Cambria Math"/>
              </a:rPr>
              <a:t> </a:t>
            </a:r>
            <a:r>
              <a:rPr dirty="0" sz="3000" spc="90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r>
              <a:rPr dirty="0" sz="3000">
                <a:latin typeface="Cambria Math"/>
                <a:cs typeface="Cambria Math"/>
              </a:rPr>
              <a:t>(</a:t>
            </a:r>
            <a:r>
              <a:rPr dirty="0" sz="3000" spc="-10">
                <a:latin typeface="Cambria Math"/>
                <a:cs typeface="Cambria Math"/>
              </a:rPr>
              <a:t>𝒚</a:t>
            </a: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𝑓	𝒙	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96992" y="4794383"/>
            <a:ext cx="1400175" cy="460375"/>
          </a:xfrm>
          <a:custGeom>
            <a:avLst/>
            <a:gdLst/>
            <a:ahLst/>
            <a:cxnLst/>
            <a:rect l="l" t="t" r="r" b="b"/>
            <a:pathLst>
              <a:path w="1400175" h="460375">
                <a:moveTo>
                  <a:pt x="1278721" y="0"/>
                </a:moveTo>
                <a:lnTo>
                  <a:pt x="1274070" y="15255"/>
                </a:lnTo>
                <a:lnTo>
                  <a:pt x="1295213" y="26219"/>
                </a:lnTo>
                <a:lnTo>
                  <a:pt x="1313625" y="42184"/>
                </a:lnTo>
                <a:lnTo>
                  <a:pt x="1342251" y="89110"/>
                </a:lnTo>
                <a:lnTo>
                  <a:pt x="1359622" y="152874"/>
                </a:lnTo>
                <a:lnTo>
                  <a:pt x="1365412" y="230311"/>
                </a:lnTo>
                <a:lnTo>
                  <a:pt x="1363964" y="270652"/>
                </a:lnTo>
                <a:lnTo>
                  <a:pt x="1352384" y="341113"/>
                </a:lnTo>
                <a:lnTo>
                  <a:pt x="1329304" y="397156"/>
                </a:lnTo>
                <a:lnTo>
                  <a:pt x="1295213" y="434037"/>
                </a:lnTo>
                <a:lnTo>
                  <a:pt x="1274070" y="444996"/>
                </a:lnTo>
                <a:lnTo>
                  <a:pt x="1278721" y="460251"/>
                </a:lnTo>
                <a:lnTo>
                  <a:pt x="1330112" y="432857"/>
                </a:lnTo>
                <a:lnTo>
                  <a:pt x="1368204" y="381186"/>
                </a:lnTo>
                <a:lnTo>
                  <a:pt x="1391783" y="311516"/>
                </a:lnTo>
                <a:lnTo>
                  <a:pt x="1397678" y="272285"/>
                </a:lnTo>
                <a:lnTo>
                  <a:pt x="1399642" y="230125"/>
                </a:lnTo>
                <a:lnTo>
                  <a:pt x="1397678" y="187965"/>
                </a:lnTo>
                <a:lnTo>
                  <a:pt x="1391783" y="148735"/>
                </a:lnTo>
                <a:lnTo>
                  <a:pt x="1368204" y="79065"/>
                </a:lnTo>
                <a:lnTo>
                  <a:pt x="1330112" y="27393"/>
                </a:lnTo>
                <a:lnTo>
                  <a:pt x="1306079" y="10662"/>
                </a:lnTo>
                <a:lnTo>
                  <a:pt x="1278721" y="0"/>
                </a:lnTo>
                <a:close/>
              </a:path>
              <a:path w="1400175" h="460375">
                <a:moveTo>
                  <a:pt x="120923" y="0"/>
                </a:moveTo>
                <a:lnTo>
                  <a:pt x="69530" y="27393"/>
                </a:lnTo>
                <a:lnTo>
                  <a:pt x="31440" y="79065"/>
                </a:lnTo>
                <a:lnTo>
                  <a:pt x="7860" y="148735"/>
                </a:lnTo>
                <a:lnTo>
                  <a:pt x="1965" y="187965"/>
                </a:lnTo>
                <a:lnTo>
                  <a:pt x="0" y="230125"/>
                </a:lnTo>
                <a:lnTo>
                  <a:pt x="1965" y="272285"/>
                </a:lnTo>
                <a:lnTo>
                  <a:pt x="7860" y="311516"/>
                </a:lnTo>
                <a:lnTo>
                  <a:pt x="31440" y="381186"/>
                </a:lnTo>
                <a:lnTo>
                  <a:pt x="69530" y="432857"/>
                </a:lnTo>
                <a:lnTo>
                  <a:pt x="120923" y="460251"/>
                </a:lnTo>
                <a:lnTo>
                  <a:pt x="125573" y="444996"/>
                </a:lnTo>
                <a:lnTo>
                  <a:pt x="104429" y="434037"/>
                </a:lnTo>
                <a:lnTo>
                  <a:pt x="86018" y="418091"/>
                </a:lnTo>
                <a:lnTo>
                  <a:pt x="57392" y="371233"/>
                </a:lnTo>
                <a:lnTo>
                  <a:pt x="40020" y="307586"/>
                </a:lnTo>
                <a:lnTo>
                  <a:pt x="34230" y="230311"/>
                </a:lnTo>
                <a:lnTo>
                  <a:pt x="35677" y="189884"/>
                </a:lnTo>
                <a:lnTo>
                  <a:pt x="47258" y="119283"/>
                </a:lnTo>
                <a:lnTo>
                  <a:pt x="70339" y="63147"/>
                </a:lnTo>
                <a:lnTo>
                  <a:pt x="104429" y="26219"/>
                </a:lnTo>
                <a:lnTo>
                  <a:pt x="125573" y="15255"/>
                </a:lnTo>
                <a:lnTo>
                  <a:pt x="120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57150" y="4848009"/>
            <a:ext cx="468630" cy="353060"/>
          </a:xfrm>
          <a:custGeom>
            <a:avLst/>
            <a:gdLst/>
            <a:ahLst/>
            <a:cxnLst/>
            <a:rect l="l" t="t" r="r" b="b"/>
            <a:pathLst>
              <a:path w="468629" h="353060">
                <a:moveTo>
                  <a:pt x="355795" y="0"/>
                </a:moveTo>
                <a:lnTo>
                  <a:pt x="350772" y="14324"/>
                </a:lnTo>
                <a:lnTo>
                  <a:pt x="371202" y="23190"/>
                </a:lnTo>
                <a:lnTo>
                  <a:pt x="388770" y="35463"/>
                </a:lnTo>
                <a:lnTo>
                  <a:pt x="415326" y="70228"/>
                </a:lnTo>
                <a:lnTo>
                  <a:pt x="430954" y="117132"/>
                </a:lnTo>
                <a:lnTo>
                  <a:pt x="436163" y="174687"/>
                </a:lnTo>
                <a:lnTo>
                  <a:pt x="434855" y="205812"/>
                </a:lnTo>
                <a:lnTo>
                  <a:pt x="424390" y="259483"/>
                </a:lnTo>
                <a:lnTo>
                  <a:pt x="403391" y="301399"/>
                </a:lnTo>
                <a:lnTo>
                  <a:pt x="371440" y="329677"/>
                </a:lnTo>
                <a:lnTo>
                  <a:pt x="351331" y="338583"/>
                </a:lnTo>
                <a:lnTo>
                  <a:pt x="355795" y="352908"/>
                </a:lnTo>
                <a:lnTo>
                  <a:pt x="403933" y="330328"/>
                </a:lnTo>
                <a:lnTo>
                  <a:pt x="439326" y="291237"/>
                </a:lnTo>
                <a:lnTo>
                  <a:pt x="461091" y="238892"/>
                </a:lnTo>
                <a:lnTo>
                  <a:pt x="468346" y="176547"/>
                </a:lnTo>
                <a:lnTo>
                  <a:pt x="466527" y="144194"/>
                </a:lnTo>
                <a:lnTo>
                  <a:pt x="451970" y="86849"/>
                </a:lnTo>
                <a:lnTo>
                  <a:pt x="423100" y="40166"/>
                </a:lnTo>
                <a:lnTo>
                  <a:pt x="381381" y="9237"/>
                </a:lnTo>
                <a:lnTo>
                  <a:pt x="355795" y="0"/>
                </a:lnTo>
                <a:close/>
              </a:path>
              <a:path w="468629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93091" y="485137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12165" y="485137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67174" y="485137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86249" y="485137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54390" y="4848009"/>
            <a:ext cx="464184" cy="353060"/>
          </a:xfrm>
          <a:custGeom>
            <a:avLst/>
            <a:gdLst/>
            <a:ahLst/>
            <a:cxnLst/>
            <a:rect l="l" t="t" r="r" b="b"/>
            <a:pathLst>
              <a:path w="464185" h="353060">
                <a:moveTo>
                  <a:pt x="351477" y="0"/>
                </a:moveTo>
                <a:lnTo>
                  <a:pt x="346454" y="14324"/>
                </a:lnTo>
                <a:lnTo>
                  <a:pt x="366884" y="23190"/>
                </a:lnTo>
                <a:lnTo>
                  <a:pt x="384452" y="35463"/>
                </a:lnTo>
                <a:lnTo>
                  <a:pt x="411008" y="70228"/>
                </a:lnTo>
                <a:lnTo>
                  <a:pt x="426636" y="117132"/>
                </a:lnTo>
                <a:lnTo>
                  <a:pt x="431845" y="174687"/>
                </a:lnTo>
                <a:lnTo>
                  <a:pt x="430537" y="205812"/>
                </a:lnTo>
                <a:lnTo>
                  <a:pt x="420072" y="259483"/>
                </a:lnTo>
                <a:lnTo>
                  <a:pt x="399073" y="301399"/>
                </a:lnTo>
                <a:lnTo>
                  <a:pt x="367122" y="329677"/>
                </a:lnTo>
                <a:lnTo>
                  <a:pt x="347013" y="338583"/>
                </a:lnTo>
                <a:lnTo>
                  <a:pt x="351477" y="352908"/>
                </a:lnTo>
                <a:lnTo>
                  <a:pt x="399615" y="330328"/>
                </a:lnTo>
                <a:lnTo>
                  <a:pt x="435008" y="291237"/>
                </a:lnTo>
                <a:lnTo>
                  <a:pt x="456773" y="238892"/>
                </a:lnTo>
                <a:lnTo>
                  <a:pt x="464028" y="176547"/>
                </a:lnTo>
                <a:lnTo>
                  <a:pt x="462209" y="144194"/>
                </a:lnTo>
                <a:lnTo>
                  <a:pt x="447652" y="86849"/>
                </a:lnTo>
                <a:lnTo>
                  <a:pt x="418782" y="40166"/>
                </a:lnTo>
                <a:lnTo>
                  <a:pt x="377063" y="9237"/>
                </a:lnTo>
                <a:lnTo>
                  <a:pt x="351477" y="0"/>
                </a:lnTo>
                <a:close/>
              </a:path>
              <a:path w="464185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8108" y="4294123"/>
            <a:ext cx="5487670" cy="927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55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40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r>
              <a:rPr dirty="0" sz="3000" spc="40">
                <a:latin typeface="Calibri"/>
                <a:cs typeface="Calibri"/>
              </a:rPr>
              <a:t>: </a:t>
            </a: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loss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r>
              <a:rPr dirty="0" sz="3000" spc="-5">
                <a:latin typeface="Calibri"/>
                <a:cs typeface="Calibri"/>
              </a:rPr>
              <a:t>. </a:t>
            </a:r>
            <a:r>
              <a:rPr dirty="0" sz="3000" spc="-10">
                <a:latin typeface="Calibri"/>
                <a:cs typeface="Calibri"/>
              </a:rPr>
              <a:t>Example: </a:t>
            </a:r>
            <a:r>
              <a:rPr dirty="0" sz="3000">
                <a:latin typeface="Calibri"/>
                <a:cs typeface="Calibri"/>
              </a:rPr>
              <a:t>L2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loss</a:t>
            </a:r>
            <a:endParaRPr sz="3000">
              <a:latin typeface="Calibri"/>
              <a:cs typeface="Calibri"/>
            </a:endParaRPr>
          </a:p>
          <a:p>
            <a:pPr marL="1807845">
              <a:lnSpc>
                <a:spcPts val="3550"/>
              </a:lnSpc>
              <a:tabLst>
                <a:tab pos="2216150" algn="l"/>
                <a:tab pos="2963545" algn="l"/>
                <a:tab pos="3617595" algn="l"/>
                <a:tab pos="4208780" algn="l"/>
                <a:tab pos="5260340" algn="l"/>
              </a:tabLst>
            </a:pPr>
            <a:r>
              <a:rPr dirty="0" sz="3000">
                <a:latin typeface="Cambria Math"/>
                <a:cs typeface="Cambria Math"/>
              </a:rPr>
              <a:t>ℒ	</a:t>
            </a:r>
            <a:r>
              <a:rPr dirty="0" sz="3000" spc="-5">
                <a:latin typeface="Cambria Math"/>
                <a:cs typeface="Cambria Math"/>
              </a:rPr>
              <a:t>𝒚,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𝑓	𝒙	=	𝑦</a:t>
            </a:r>
            <a:r>
              <a:rPr dirty="0" sz="3000" spc="50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− 𝑓	𝑥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0676" y="4919979"/>
            <a:ext cx="1873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750">
                <a:latin typeface="Cambria Math"/>
                <a:cs typeface="Cambria Math"/>
              </a:rPr>
              <a:t>'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6563" y="5211775"/>
            <a:ext cx="6744334" cy="11398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Other </a:t>
            </a:r>
            <a:r>
              <a:rPr dirty="0" sz="2600" spc="-10">
                <a:latin typeface="Calibri"/>
                <a:cs typeface="Calibri"/>
              </a:rPr>
              <a:t>common </a:t>
            </a:r>
            <a:r>
              <a:rPr dirty="0" sz="2600" spc="-5">
                <a:latin typeface="Calibri"/>
                <a:cs typeface="Calibri"/>
              </a:rPr>
              <a:t>loss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functions:</a:t>
            </a:r>
            <a:endParaRPr sz="26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28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000" spc="-5">
                <a:latin typeface="Calibri"/>
                <a:cs typeface="Calibri"/>
              </a:rPr>
              <a:t>L1 loss, huber loss, max margin </a:t>
            </a:r>
            <a:r>
              <a:rPr dirty="0" sz="2000" spc="-10">
                <a:latin typeface="Calibri"/>
                <a:cs typeface="Calibri"/>
              </a:rPr>
              <a:t>(hinge </a:t>
            </a:r>
            <a:r>
              <a:rPr dirty="0" sz="2000" spc="-5">
                <a:latin typeface="Calibri"/>
                <a:cs typeface="Calibri"/>
              </a:rPr>
              <a:t>loss), </a:t>
            </a:r>
            <a:r>
              <a:rPr dirty="0" sz="2000" spc="-10">
                <a:latin typeface="Calibri"/>
                <a:cs typeface="Calibri"/>
              </a:rPr>
              <a:t>cross entropy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spc="-300">
                <a:latin typeface="Calibri"/>
                <a:cs typeface="Calibri"/>
              </a:rPr>
              <a:t>…</a:t>
            </a:r>
            <a:endParaRPr sz="20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18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000">
                <a:latin typeface="Calibri"/>
                <a:cs typeface="Calibri"/>
              </a:rPr>
              <a:t>See</a:t>
            </a:r>
            <a:r>
              <a:rPr dirty="0" sz="2000" spc="-30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000" spc="-10" u="sng">
                <a:solidFill>
                  <a:srgbClr val="168BBA"/>
                </a:solidFill>
                <a:latin typeface="Calibri"/>
                <a:cs typeface="Calibri"/>
              </a:rPr>
              <a:t>https://pytorch.org/docs/stable/nn.html#loss-functions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21521" y="1744130"/>
            <a:ext cx="1877060" cy="657860"/>
          </a:xfrm>
          <a:custGeom>
            <a:avLst/>
            <a:gdLst/>
            <a:ahLst/>
            <a:cxnLst/>
            <a:rect l="l" t="t" r="r" b="b"/>
            <a:pathLst>
              <a:path w="1877060" h="657860">
                <a:moveTo>
                  <a:pt x="1852799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633600"/>
                </a:lnTo>
                <a:lnTo>
                  <a:pt x="1886" y="642942"/>
                </a:lnTo>
                <a:lnTo>
                  <a:pt x="7029" y="650571"/>
                </a:lnTo>
                <a:lnTo>
                  <a:pt x="14657" y="655714"/>
                </a:lnTo>
                <a:lnTo>
                  <a:pt x="23999" y="657600"/>
                </a:lnTo>
                <a:lnTo>
                  <a:pt x="1852799" y="657600"/>
                </a:lnTo>
                <a:lnTo>
                  <a:pt x="1862141" y="655714"/>
                </a:lnTo>
                <a:lnTo>
                  <a:pt x="1869770" y="650571"/>
                </a:lnTo>
                <a:lnTo>
                  <a:pt x="1874913" y="642942"/>
                </a:lnTo>
                <a:lnTo>
                  <a:pt x="1876799" y="633600"/>
                </a:lnTo>
                <a:lnTo>
                  <a:pt x="1876799" y="628801"/>
                </a:lnTo>
                <a:lnTo>
                  <a:pt x="28799" y="628801"/>
                </a:lnTo>
                <a:lnTo>
                  <a:pt x="28799" y="28801"/>
                </a:lnTo>
                <a:lnTo>
                  <a:pt x="1876799" y="28801"/>
                </a:lnTo>
                <a:lnTo>
                  <a:pt x="1876799" y="24000"/>
                </a:lnTo>
                <a:lnTo>
                  <a:pt x="1874913" y="14658"/>
                </a:lnTo>
                <a:lnTo>
                  <a:pt x="1869770" y="7029"/>
                </a:lnTo>
                <a:lnTo>
                  <a:pt x="1862141" y="1886"/>
                </a:lnTo>
                <a:lnTo>
                  <a:pt x="1852799" y="0"/>
                </a:lnTo>
                <a:close/>
              </a:path>
              <a:path w="1877060" h="657860">
                <a:moveTo>
                  <a:pt x="1876799" y="28801"/>
                </a:moveTo>
                <a:lnTo>
                  <a:pt x="1847999" y="28801"/>
                </a:lnTo>
                <a:lnTo>
                  <a:pt x="1847999" y="628801"/>
                </a:lnTo>
                <a:lnTo>
                  <a:pt x="1876799" y="628801"/>
                </a:lnTo>
                <a:lnTo>
                  <a:pt x="1876799" y="28801"/>
                </a:lnTo>
                <a:close/>
              </a:path>
              <a:path w="1877060" h="657860">
                <a:moveTo>
                  <a:pt x="1838399" y="38400"/>
                </a:moveTo>
                <a:lnTo>
                  <a:pt x="38399" y="38400"/>
                </a:lnTo>
                <a:lnTo>
                  <a:pt x="38399" y="619199"/>
                </a:lnTo>
                <a:lnTo>
                  <a:pt x="1838399" y="619199"/>
                </a:lnTo>
                <a:lnTo>
                  <a:pt x="1838399" y="609600"/>
                </a:lnTo>
                <a:lnTo>
                  <a:pt x="47999" y="609600"/>
                </a:lnTo>
                <a:lnTo>
                  <a:pt x="47999" y="48000"/>
                </a:lnTo>
                <a:lnTo>
                  <a:pt x="1838399" y="48000"/>
                </a:lnTo>
                <a:lnTo>
                  <a:pt x="1838399" y="38400"/>
                </a:lnTo>
                <a:close/>
              </a:path>
              <a:path w="1877060" h="657860">
                <a:moveTo>
                  <a:pt x="1838399" y="48000"/>
                </a:moveTo>
                <a:lnTo>
                  <a:pt x="1828800" y="48000"/>
                </a:lnTo>
                <a:lnTo>
                  <a:pt x="1828800" y="609600"/>
                </a:lnTo>
                <a:lnTo>
                  <a:pt x="1838399" y="609600"/>
                </a:lnTo>
                <a:lnTo>
                  <a:pt x="1838399" y="4800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18108" y="2398267"/>
            <a:ext cx="8130540" cy="1552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510"/>
              </a:lnSpc>
              <a:spcBef>
                <a:spcPts val="100"/>
              </a:spcBef>
            </a:pPr>
            <a:r>
              <a:rPr dirty="0" sz="2400" spc="-5" b="1">
                <a:solidFill>
                  <a:srgbClr val="B48200"/>
                </a:solidFill>
                <a:latin typeface="Arial"/>
                <a:cs typeface="Arial"/>
              </a:rPr>
              <a:t>Objective</a:t>
            </a:r>
            <a:r>
              <a:rPr dirty="0" sz="2400" spc="-80" b="1">
                <a:solidFill>
                  <a:srgbClr val="B482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B48200"/>
                </a:solidFill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332740" indent="-320040">
              <a:lnSpc>
                <a:spcPts val="3229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solidFill>
                  <a:srgbClr val="CF5B1B"/>
                </a:solidFill>
                <a:latin typeface="Cambria Math"/>
                <a:cs typeface="Cambria Math"/>
              </a:rPr>
              <a:t>Θ</a:t>
            </a:r>
            <a:r>
              <a:rPr dirty="0" sz="3000">
                <a:latin typeface="Calibri"/>
                <a:cs typeface="Calibri"/>
              </a:rPr>
              <a:t>: a </a:t>
            </a:r>
            <a:r>
              <a:rPr dirty="0" sz="3000" spc="-10">
                <a:latin typeface="Calibri"/>
                <a:cs typeface="Calibri"/>
              </a:rPr>
              <a:t>set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20" b="1">
                <a:solidFill>
                  <a:srgbClr val="CF5B1B"/>
                </a:solidFill>
                <a:latin typeface="Calibri"/>
                <a:cs typeface="Calibri"/>
              </a:rPr>
              <a:t>parameters </a:t>
            </a:r>
            <a:r>
              <a:rPr dirty="0" sz="3000" spc="-15">
                <a:latin typeface="Calibri"/>
                <a:cs typeface="Calibri"/>
              </a:rPr>
              <a:t>we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optimize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Could </a:t>
            </a:r>
            <a:r>
              <a:rPr dirty="0" sz="2400" spc="-15">
                <a:latin typeface="Calibri"/>
                <a:cs typeface="Calibri"/>
              </a:rPr>
              <a:t>contain </a:t>
            </a:r>
            <a:r>
              <a:rPr dirty="0" sz="2400" spc="-5">
                <a:latin typeface="Calibri"/>
                <a:cs typeface="Calibri"/>
              </a:rPr>
              <a:t>one or </a:t>
            </a:r>
            <a:r>
              <a:rPr dirty="0" sz="2400" spc="-15">
                <a:latin typeface="Calibri"/>
                <a:cs typeface="Calibri"/>
              </a:rPr>
              <a:t>more scalars, vectors, </a:t>
            </a:r>
            <a:r>
              <a:rPr dirty="0" sz="2400" spc="-5">
                <a:latin typeface="Calibri"/>
                <a:cs typeface="Calibri"/>
              </a:rPr>
              <a:t>matrices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E.g. </a:t>
            </a:r>
            <a:r>
              <a:rPr dirty="0" sz="2200">
                <a:solidFill>
                  <a:srgbClr val="CF5B1B"/>
                </a:solidFill>
                <a:latin typeface="Cambria Math"/>
                <a:cs typeface="Cambria Math"/>
              </a:rPr>
              <a:t>Θ </a:t>
            </a:r>
            <a:r>
              <a:rPr dirty="0" sz="2200">
                <a:latin typeface="Cambria Math"/>
                <a:cs typeface="Cambria Math"/>
              </a:rPr>
              <a:t>= </a:t>
            </a:r>
            <a:r>
              <a:rPr dirty="0" sz="2200" spc="10">
                <a:latin typeface="Cambria Math"/>
                <a:cs typeface="Cambria Math"/>
              </a:rPr>
              <a:t>{𝑍} </a:t>
            </a:r>
            <a:r>
              <a:rPr dirty="0" sz="2400" spc="-5">
                <a:latin typeface="Calibri"/>
                <a:cs typeface="Calibri"/>
              </a:rPr>
              <a:t>in the shallow encoder (the embedding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lookup)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43600" y="2093020"/>
            <a:ext cx="553085" cy="255270"/>
          </a:xfrm>
          <a:custGeom>
            <a:avLst/>
            <a:gdLst/>
            <a:ahLst/>
            <a:cxnLst/>
            <a:rect l="l" t="t" r="r" b="b"/>
            <a:pathLst>
              <a:path w="553085" h="255269">
                <a:moveTo>
                  <a:pt x="89215" y="25014"/>
                </a:moveTo>
                <a:lnTo>
                  <a:pt x="70039" y="37520"/>
                </a:lnTo>
                <a:lnTo>
                  <a:pt x="74208" y="60033"/>
                </a:lnTo>
                <a:lnTo>
                  <a:pt x="525895" y="253613"/>
                </a:lnTo>
                <a:lnTo>
                  <a:pt x="533301" y="255158"/>
                </a:lnTo>
                <a:lnTo>
                  <a:pt x="540475" y="253791"/>
                </a:lnTo>
                <a:lnTo>
                  <a:pt x="546612" y="249833"/>
                </a:lnTo>
                <a:lnTo>
                  <a:pt x="550909" y="243607"/>
                </a:lnTo>
                <a:lnTo>
                  <a:pt x="552454" y="236202"/>
                </a:lnTo>
                <a:lnTo>
                  <a:pt x="551087" y="229028"/>
                </a:lnTo>
                <a:lnTo>
                  <a:pt x="547129" y="222891"/>
                </a:lnTo>
                <a:lnTo>
                  <a:pt x="540904" y="218593"/>
                </a:lnTo>
                <a:lnTo>
                  <a:pt x="89215" y="25014"/>
                </a:lnTo>
                <a:close/>
              </a:path>
              <a:path w="553085" h="255269">
                <a:moveTo>
                  <a:pt x="127570" y="0"/>
                </a:moveTo>
                <a:lnTo>
                  <a:pt x="0" y="7504"/>
                </a:lnTo>
                <a:lnTo>
                  <a:pt x="82546" y="105058"/>
                </a:lnTo>
                <a:lnTo>
                  <a:pt x="74208" y="60033"/>
                </a:lnTo>
                <a:lnTo>
                  <a:pt x="62534" y="55030"/>
                </a:lnTo>
                <a:lnTo>
                  <a:pt x="56308" y="50733"/>
                </a:lnTo>
                <a:lnTo>
                  <a:pt x="52350" y="44595"/>
                </a:lnTo>
                <a:lnTo>
                  <a:pt x="50983" y="37421"/>
                </a:lnTo>
                <a:lnTo>
                  <a:pt x="52528" y="30016"/>
                </a:lnTo>
                <a:lnTo>
                  <a:pt x="56825" y="23790"/>
                </a:lnTo>
                <a:lnTo>
                  <a:pt x="62963" y="19833"/>
                </a:lnTo>
                <a:lnTo>
                  <a:pt x="70137" y="18466"/>
                </a:lnTo>
                <a:lnTo>
                  <a:pt x="99256" y="18466"/>
                </a:lnTo>
                <a:lnTo>
                  <a:pt x="127570" y="0"/>
                </a:lnTo>
                <a:close/>
              </a:path>
              <a:path w="553085" h="255269">
                <a:moveTo>
                  <a:pt x="70137" y="18466"/>
                </a:moveTo>
                <a:lnTo>
                  <a:pt x="62963" y="19833"/>
                </a:lnTo>
                <a:lnTo>
                  <a:pt x="56825" y="23790"/>
                </a:lnTo>
                <a:lnTo>
                  <a:pt x="52528" y="30016"/>
                </a:lnTo>
                <a:lnTo>
                  <a:pt x="50983" y="37421"/>
                </a:lnTo>
                <a:lnTo>
                  <a:pt x="52350" y="44595"/>
                </a:lnTo>
                <a:lnTo>
                  <a:pt x="56308" y="50733"/>
                </a:lnTo>
                <a:lnTo>
                  <a:pt x="62534" y="55030"/>
                </a:lnTo>
                <a:lnTo>
                  <a:pt x="74208" y="60033"/>
                </a:lnTo>
                <a:lnTo>
                  <a:pt x="70039" y="37520"/>
                </a:lnTo>
                <a:lnTo>
                  <a:pt x="89215" y="25014"/>
                </a:lnTo>
                <a:lnTo>
                  <a:pt x="77542" y="20011"/>
                </a:lnTo>
                <a:lnTo>
                  <a:pt x="70137" y="18466"/>
                </a:lnTo>
                <a:close/>
              </a:path>
              <a:path w="553085" h="255269">
                <a:moveTo>
                  <a:pt x="99256" y="18466"/>
                </a:moveTo>
                <a:lnTo>
                  <a:pt x="70137" y="18466"/>
                </a:lnTo>
                <a:lnTo>
                  <a:pt x="77542" y="20011"/>
                </a:lnTo>
                <a:lnTo>
                  <a:pt x="89215" y="25014"/>
                </a:lnTo>
                <a:lnTo>
                  <a:pt x="99256" y="18466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61746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84732"/>
            <a:ext cx="7616825" cy="7391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81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/>
              <a:t>One </a:t>
            </a:r>
            <a:r>
              <a:rPr dirty="0" sz="2600" spc="-10"/>
              <a:t>common </a:t>
            </a:r>
            <a:r>
              <a:rPr dirty="0" sz="2600" spc="-5"/>
              <a:t>loss </a:t>
            </a:r>
            <a:r>
              <a:rPr dirty="0" sz="2600" spc="-25"/>
              <a:t>for </a:t>
            </a:r>
            <a:r>
              <a:rPr dirty="0" sz="2600" spc="-5"/>
              <a:t>classification: </a:t>
            </a:r>
            <a:r>
              <a:rPr dirty="0" sz="2600" spc="-10" b="1">
                <a:latin typeface="Calibri"/>
                <a:cs typeface="Calibri"/>
              </a:rPr>
              <a:t>cross entropy</a:t>
            </a:r>
            <a:r>
              <a:rPr dirty="0" sz="2600" spc="25" b="1">
                <a:latin typeface="Calibri"/>
                <a:cs typeface="Calibri"/>
              </a:rPr>
              <a:t> </a:t>
            </a:r>
            <a:r>
              <a:rPr dirty="0" sz="2600" spc="-5" b="1">
                <a:latin typeface="Calibri"/>
                <a:cs typeface="Calibri"/>
              </a:rPr>
              <a:t>(CE)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2810"/>
              </a:lnSpc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/>
              <a:t>Label </a:t>
            </a:r>
            <a:r>
              <a:rPr dirty="0" sz="2600">
                <a:solidFill>
                  <a:srgbClr val="0070C0"/>
                </a:solidFill>
                <a:latin typeface="Cambria Math"/>
                <a:cs typeface="Cambria Math"/>
              </a:rPr>
              <a:t>𝒚 </a:t>
            </a:r>
            <a:r>
              <a:rPr dirty="0" sz="2600"/>
              <a:t>is a </a:t>
            </a:r>
            <a:r>
              <a:rPr dirty="0" sz="2600" spc="-15"/>
              <a:t>categorical </a:t>
            </a:r>
            <a:r>
              <a:rPr dirty="0" sz="2600" spc="-10"/>
              <a:t>vector </a:t>
            </a:r>
            <a:r>
              <a:rPr dirty="0" sz="2600" spc="-5"/>
              <a:t>(</a:t>
            </a:r>
            <a:r>
              <a:rPr dirty="0" sz="2600" spc="-5">
                <a:solidFill>
                  <a:srgbClr val="0000FF"/>
                </a:solidFill>
              </a:rPr>
              <a:t>one-hot</a:t>
            </a:r>
            <a:r>
              <a:rPr dirty="0" sz="2600" spc="25">
                <a:solidFill>
                  <a:srgbClr val="0000FF"/>
                </a:solidFill>
              </a:rPr>
              <a:t> </a:t>
            </a:r>
            <a:r>
              <a:rPr dirty="0" sz="2600" spc="-10">
                <a:solidFill>
                  <a:srgbClr val="0000FF"/>
                </a:solidFill>
              </a:rPr>
              <a:t>encoding</a:t>
            </a:r>
            <a:r>
              <a:rPr dirty="0" sz="2600" spc="-10"/>
              <a:t>)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994916"/>
            <a:ext cx="15900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  <a:tab pos="1163955" algn="l"/>
              </a:tabLst>
            </a:pPr>
            <a:r>
              <a:rPr dirty="0" sz="2000">
                <a:latin typeface="Calibri"/>
                <a:cs typeface="Calibri"/>
              </a:rPr>
              <a:t>e.g.	</a:t>
            </a:r>
            <a:r>
              <a:rPr dirty="0" sz="2000">
                <a:solidFill>
                  <a:srgbClr val="0070C0"/>
                </a:solidFill>
                <a:latin typeface="Cambria Math"/>
                <a:cs typeface="Cambria Math"/>
              </a:rPr>
              <a:t>𝒚</a:t>
            </a:r>
            <a:r>
              <a:rPr dirty="0" sz="2000" spc="5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70C0"/>
                </a:solidFill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70497" y="2422338"/>
            <a:ext cx="407034" cy="306070"/>
          </a:xfrm>
          <a:custGeom>
            <a:avLst/>
            <a:gdLst/>
            <a:ahLst/>
            <a:cxnLst/>
            <a:rect l="l" t="t" r="r" b="b"/>
            <a:pathLst>
              <a:path w="407034" h="306069">
                <a:moveTo>
                  <a:pt x="308991" y="0"/>
                </a:moveTo>
                <a:lnTo>
                  <a:pt x="304638" y="12414"/>
                </a:lnTo>
                <a:lnTo>
                  <a:pt x="322343" y="20097"/>
                </a:lnTo>
                <a:lnTo>
                  <a:pt x="337569" y="30733"/>
                </a:lnTo>
                <a:lnTo>
                  <a:pt x="368485" y="80034"/>
                </a:lnTo>
                <a:lnTo>
                  <a:pt x="377514" y="125300"/>
                </a:lnTo>
                <a:lnTo>
                  <a:pt x="378643" y="151395"/>
                </a:lnTo>
                <a:lnTo>
                  <a:pt x="377509" y="178370"/>
                </a:lnTo>
                <a:lnTo>
                  <a:pt x="368440" y="224885"/>
                </a:lnTo>
                <a:lnTo>
                  <a:pt x="350241" y="261213"/>
                </a:lnTo>
                <a:lnTo>
                  <a:pt x="305121" y="293438"/>
                </a:lnTo>
                <a:lnTo>
                  <a:pt x="308991" y="305854"/>
                </a:lnTo>
                <a:lnTo>
                  <a:pt x="350710" y="286284"/>
                </a:lnTo>
                <a:lnTo>
                  <a:pt x="381384" y="252406"/>
                </a:lnTo>
                <a:lnTo>
                  <a:pt x="400248" y="207039"/>
                </a:lnTo>
                <a:lnTo>
                  <a:pt x="406536" y="153007"/>
                </a:lnTo>
                <a:lnTo>
                  <a:pt x="404959" y="124968"/>
                </a:lnTo>
                <a:lnTo>
                  <a:pt x="392342" y="75269"/>
                </a:lnTo>
                <a:lnTo>
                  <a:pt x="367321" y="34810"/>
                </a:lnTo>
                <a:lnTo>
                  <a:pt x="331165" y="8006"/>
                </a:lnTo>
                <a:lnTo>
                  <a:pt x="308991" y="0"/>
                </a:lnTo>
                <a:close/>
              </a:path>
              <a:path w="407034" h="306069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4" y="297857"/>
                </a:lnTo>
                <a:lnTo>
                  <a:pt x="97544" y="305854"/>
                </a:lnTo>
                <a:lnTo>
                  <a:pt x="101413" y="293438"/>
                </a:lnTo>
                <a:lnTo>
                  <a:pt x="83985" y="285719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2" y="151395"/>
                </a:lnTo>
                <a:lnTo>
                  <a:pt x="29026" y="125300"/>
                </a:lnTo>
                <a:lnTo>
                  <a:pt x="38095" y="80034"/>
                </a:lnTo>
                <a:lnTo>
                  <a:pt x="56324" y="44322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10688" y="2375777"/>
            <a:ext cx="910590" cy="399415"/>
          </a:xfrm>
          <a:custGeom>
            <a:avLst/>
            <a:gdLst/>
            <a:ahLst/>
            <a:cxnLst/>
            <a:rect l="l" t="t" r="r" b="b"/>
            <a:pathLst>
              <a:path w="910589" h="399414">
                <a:moveTo>
                  <a:pt x="805656" y="0"/>
                </a:moveTo>
                <a:lnTo>
                  <a:pt x="801625" y="13220"/>
                </a:lnTo>
                <a:lnTo>
                  <a:pt x="819949" y="22723"/>
                </a:lnTo>
                <a:lnTo>
                  <a:pt x="835906" y="36559"/>
                </a:lnTo>
                <a:lnTo>
                  <a:pt x="860715" y="77229"/>
                </a:lnTo>
                <a:lnTo>
                  <a:pt x="875770" y="132491"/>
                </a:lnTo>
                <a:lnTo>
                  <a:pt x="880789" y="199603"/>
                </a:lnTo>
                <a:lnTo>
                  <a:pt x="879534" y="234565"/>
                </a:lnTo>
                <a:lnTo>
                  <a:pt x="869497" y="295631"/>
                </a:lnTo>
                <a:lnTo>
                  <a:pt x="849495" y="344201"/>
                </a:lnTo>
                <a:lnTo>
                  <a:pt x="819949" y="376165"/>
                </a:lnTo>
                <a:lnTo>
                  <a:pt x="801625" y="385663"/>
                </a:lnTo>
                <a:lnTo>
                  <a:pt x="805656" y="398884"/>
                </a:lnTo>
                <a:lnTo>
                  <a:pt x="850195" y="375143"/>
                </a:lnTo>
                <a:lnTo>
                  <a:pt x="883207" y="330361"/>
                </a:lnTo>
                <a:lnTo>
                  <a:pt x="903643" y="269980"/>
                </a:lnTo>
                <a:lnTo>
                  <a:pt x="910455" y="199442"/>
                </a:lnTo>
                <a:lnTo>
                  <a:pt x="908752" y="162903"/>
                </a:lnTo>
                <a:lnTo>
                  <a:pt x="895128" y="97443"/>
                </a:lnTo>
                <a:lnTo>
                  <a:pt x="868142" y="43501"/>
                </a:lnTo>
                <a:lnTo>
                  <a:pt x="829367" y="9240"/>
                </a:lnTo>
                <a:lnTo>
                  <a:pt x="805656" y="0"/>
                </a:lnTo>
                <a:close/>
              </a:path>
              <a:path w="910589" h="399414">
                <a:moveTo>
                  <a:pt x="104800" y="0"/>
                </a:moveTo>
                <a:lnTo>
                  <a:pt x="60260" y="23741"/>
                </a:lnTo>
                <a:lnTo>
                  <a:pt x="27249" y="68522"/>
                </a:lnTo>
                <a:lnTo>
                  <a:pt x="6812" y="128903"/>
                </a:lnTo>
                <a:lnTo>
                  <a:pt x="0" y="199442"/>
                </a:lnTo>
                <a:lnTo>
                  <a:pt x="1703" y="235980"/>
                </a:lnTo>
                <a:lnTo>
                  <a:pt x="15327" y="301440"/>
                </a:lnTo>
                <a:lnTo>
                  <a:pt x="42313" y="355382"/>
                </a:lnTo>
                <a:lnTo>
                  <a:pt x="81089" y="389643"/>
                </a:lnTo>
                <a:lnTo>
                  <a:pt x="104800" y="398884"/>
                </a:lnTo>
                <a:lnTo>
                  <a:pt x="108831" y="385663"/>
                </a:lnTo>
                <a:lnTo>
                  <a:pt x="90506" y="376165"/>
                </a:lnTo>
                <a:lnTo>
                  <a:pt x="74549" y="362345"/>
                </a:lnTo>
                <a:lnTo>
                  <a:pt x="49739" y="321735"/>
                </a:lnTo>
                <a:lnTo>
                  <a:pt x="34685" y="266574"/>
                </a:lnTo>
                <a:lnTo>
                  <a:pt x="29672" y="199442"/>
                </a:lnTo>
                <a:lnTo>
                  <a:pt x="30921" y="164565"/>
                </a:lnTo>
                <a:lnTo>
                  <a:pt x="40957" y="103379"/>
                </a:lnTo>
                <a:lnTo>
                  <a:pt x="60960" y="54727"/>
                </a:lnTo>
                <a:lnTo>
                  <a:pt x="90506" y="22723"/>
                </a:lnTo>
                <a:lnTo>
                  <a:pt x="108831" y="13220"/>
                </a:lnTo>
                <a:lnTo>
                  <a:pt x="1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66288" y="2422338"/>
            <a:ext cx="407034" cy="306070"/>
          </a:xfrm>
          <a:custGeom>
            <a:avLst/>
            <a:gdLst/>
            <a:ahLst/>
            <a:cxnLst/>
            <a:rect l="l" t="t" r="r" b="b"/>
            <a:pathLst>
              <a:path w="407035" h="306069">
                <a:moveTo>
                  <a:pt x="308992" y="0"/>
                </a:moveTo>
                <a:lnTo>
                  <a:pt x="304638" y="12414"/>
                </a:lnTo>
                <a:lnTo>
                  <a:pt x="322343" y="20097"/>
                </a:lnTo>
                <a:lnTo>
                  <a:pt x="337570" y="30733"/>
                </a:lnTo>
                <a:lnTo>
                  <a:pt x="368486" y="80034"/>
                </a:lnTo>
                <a:lnTo>
                  <a:pt x="377514" y="125300"/>
                </a:lnTo>
                <a:lnTo>
                  <a:pt x="378642" y="151395"/>
                </a:lnTo>
                <a:lnTo>
                  <a:pt x="377509" y="178370"/>
                </a:lnTo>
                <a:lnTo>
                  <a:pt x="368440" y="224885"/>
                </a:lnTo>
                <a:lnTo>
                  <a:pt x="350241" y="261213"/>
                </a:lnTo>
                <a:lnTo>
                  <a:pt x="305122" y="293438"/>
                </a:lnTo>
                <a:lnTo>
                  <a:pt x="308992" y="305854"/>
                </a:lnTo>
                <a:lnTo>
                  <a:pt x="350710" y="286284"/>
                </a:lnTo>
                <a:lnTo>
                  <a:pt x="381384" y="252406"/>
                </a:lnTo>
                <a:lnTo>
                  <a:pt x="400248" y="207039"/>
                </a:lnTo>
                <a:lnTo>
                  <a:pt x="406535" y="153007"/>
                </a:lnTo>
                <a:lnTo>
                  <a:pt x="404958" y="124968"/>
                </a:lnTo>
                <a:lnTo>
                  <a:pt x="392343" y="75269"/>
                </a:lnTo>
                <a:lnTo>
                  <a:pt x="367322" y="34810"/>
                </a:lnTo>
                <a:lnTo>
                  <a:pt x="331166" y="8006"/>
                </a:lnTo>
                <a:lnTo>
                  <a:pt x="308992" y="0"/>
                </a:lnTo>
                <a:close/>
              </a:path>
              <a:path w="407035" h="306069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5" y="80034"/>
                </a:lnTo>
                <a:lnTo>
                  <a:pt x="56325" y="44322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108" y="2327148"/>
            <a:ext cx="325945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  <a:tab pos="659765" algn="l"/>
                <a:tab pos="1079500" algn="l"/>
                <a:tab pos="2711450" algn="l"/>
                <a:tab pos="3055620" algn="l"/>
              </a:tabLst>
            </a:pPr>
            <a:r>
              <a:rPr dirty="0" sz="2600">
                <a:latin typeface="Cambria Math"/>
                <a:cs typeface="Cambria Math"/>
              </a:rPr>
              <a:t>𝑓	𝒙	=</a:t>
            </a:r>
            <a:r>
              <a:rPr dirty="0" sz="2600" spc="13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So</a:t>
            </a:r>
            <a:r>
              <a:rPr dirty="0" sz="2600">
                <a:latin typeface="Cambria Math"/>
                <a:cs typeface="Cambria Math"/>
              </a:rPr>
              <a:t>f</a:t>
            </a:r>
            <a:r>
              <a:rPr dirty="0" sz="2600" spc="-10">
                <a:latin typeface="Cambria Math"/>
                <a:cs typeface="Cambria Math"/>
              </a:rPr>
              <a:t>t</a:t>
            </a:r>
            <a:r>
              <a:rPr dirty="0" sz="2600">
                <a:latin typeface="Cambria Math"/>
                <a:cs typeface="Cambria Math"/>
              </a:rPr>
              <a:t>max	𝑔	𝒙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69192" y="3000040"/>
            <a:ext cx="312420" cy="235585"/>
          </a:xfrm>
          <a:custGeom>
            <a:avLst/>
            <a:gdLst/>
            <a:ahLst/>
            <a:cxnLst/>
            <a:rect l="l" t="t" r="r" b="b"/>
            <a:pathLst>
              <a:path w="312420" h="235585">
                <a:moveTo>
                  <a:pt x="237196" y="0"/>
                </a:moveTo>
                <a:lnTo>
                  <a:pt x="233848" y="9549"/>
                </a:lnTo>
                <a:lnTo>
                  <a:pt x="247467" y="15459"/>
                </a:lnTo>
                <a:lnTo>
                  <a:pt x="259180" y="23641"/>
                </a:lnTo>
                <a:lnTo>
                  <a:pt x="282961" y="61565"/>
                </a:lnTo>
                <a:lnTo>
                  <a:pt x="290775" y="116457"/>
                </a:lnTo>
                <a:lnTo>
                  <a:pt x="289903" y="137208"/>
                </a:lnTo>
                <a:lnTo>
                  <a:pt x="276821" y="188019"/>
                </a:lnTo>
                <a:lnTo>
                  <a:pt x="247627" y="219784"/>
                </a:lnTo>
                <a:lnTo>
                  <a:pt x="234221" y="225722"/>
                </a:lnTo>
                <a:lnTo>
                  <a:pt x="237196" y="235272"/>
                </a:lnTo>
                <a:lnTo>
                  <a:pt x="282147" y="208564"/>
                </a:lnTo>
                <a:lnTo>
                  <a:pt x="307393" y="159261"/>
                </a:lnTo>
                <a:lnTo>
                  <a:pt x="312230" y="117697"/>
                </a:lnTo>
                <a:lnTo>
                  <a:pt x="311017" y="96129"/>
                </a:lnTo>
                <a:lnTo>
                  <a:pt x="301313" y="57899"/>
                </a:lnTo>
                <a:lnTo>
                  <a:pt x="269210" y="15083"/>
                </a:lnTo>
                <a:lnTo>
                  <a:pt x="254254" y="6158"/>
                </a:lnTo>
                <a:lnTo>
                  <a:pt x="237196" y="0"/>
                </a:lnTo>
                <a:close/>
              </a:path>
              <a:path w="31242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91038" y="3039872"/>
            <a:ext cx="927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90">
                <a:latin typeface="Cambria Math"/>
                <a:cs typeface="Cambria Math"/>
              </a:rPr>
              <a:t>!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563" y="2924555"/>
            <a:ext cx="340232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  <a:tab pos="3199130" algn="l"/>
              </a:tabLst>
            </a:pPr>
            <a:r>
              <a:rPr dirty="0" sz="2000" spc="-35">
                <a:latin typeface="Calibri"/>
                <a:cs typeface="Calibri"/>
              </a:rPr>
              <a:t>R</a:t>
            </a:r>
            <a:r>
              <a:rPr dirty="0" sz="2000">
                <a:latin typeface="Calibri"/>
                <a:cs typeface="Calibri"/>
              </a:rPr>
              <a:t>e</a:t>
            </a:r>
            <a:r>
              <a:rPr dirty="0" sz="2000" spc="-15">
                <a:latin typeface="Calibri"/>
                <a:cs typeface="Calibri"/>
              </a:rPr>
              <a:t>c</a:t>
            </a:r>
            <a:r>
              <a:rPr dirty="0" sz="2000">
                <a:latin typeface="Calibri"/>
                <a:cs typeface="Calibri"/>
              </a:rPr>
              <a:t>all f</a:t>
            </a:r>
            <a:r>
              <a:rPr dirty="0" sz="2000" spc="-30">
                <a:latin typeface="Calibri"/>
                <a:cs typeface="Calibri"/>
              </a:rPr>
              <a:t>r</a:t>
            </a:r>
            <a:r>
              <a:rPr dirty="0" sz="2000" spc="-5">
                <a:latin typeface="Calibri"/>
                <a:cs typeface="Calibri"/>
              </a:rPr>
              <a:t>o</a:t>
            </a:r>
            <a:r>
              <a:rPr dirty="0" sz="2000">
                <a:latin typeface="Calibri"/>
                <a:cs typeface="Calibri"/>
              </a:rPr>
              <a:t>m lec</a:t>
            </a:r>
            <a:r>
              <a:rPr dirty="0" sz="2000" spc="0">
                <a:latin typeface="Calibri"/>
                <a:cs typeface="Calibri"/>
              </a:rPr>
              <a:t>t</a:t>
            </a:r>
            <a:r>
              <a:rPr dirty="0" sz="2000" spc="-5">
                <a:latin typeface="Calibri"/>
                <a:cs typeface="Calibri"/>
              </a:rPr>
              <a:t>u</a:t>
            </a:r>
            <a:r>
              <a:rPr dirty="0" sz="2000" spc="-30">
                <a:latin typeface="Calibri"/>
                <a:cs typeface="Calibri"/>
              </a:rPr>
              <a:t>r</a:t>
            </a:r>
            <a:r>
              <a:rPr dirty="0" sz="2000">
                <a:latin typeface="Calibri"/>
                <a:cs typeface="Calibri"/>
              </a:rPr>
              <a:t>e </a:t>
            </a:r>
            <a:r>
              <a:rPr dirty="0" sz="2000" spc="-5">
                <a:latin typeface="Calibri"/>
                <a:cs typeface="Calibri"/>
              </a:rPr>
              <a:t>3</a:t>
            </a:r>
            <a:r>
              <a:rPr dirty="0" sz="2000">
                <a:latin typeface="Calibri"/>
                <a:cs typeface="Calibri"/>
              </a:rPr>
              <a:t>: </a:t>
            </a:r>
            <a:r>
              <a:rPr dirty="0" sz="2000">
                <a:latin typeface="Cambria Math"/>
                <a:cs typeface="Cambria Math"/>
              </a:rPr>
              <a:t>𝑓 </a:t>
            </a:r>
            <a:r>
              <a:rPr dirty="0" sz="2000" spc="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𝒙	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3664" y="3120389"/>
            <a:ext cx="977900" cy="0"/>
          </a:xfrm>
          <a:custGeom>
            <a:avLst/>
            <a:gdLst/>
            <a:ahLst/>
            <a:cxnLst/>
            <a:rect l="l" t="t" r="r" b="b"/>
            <a:pathLst>
              <a:path w="977900" h="0">
                <a:moveTo>
                  <a:pt x="0" y="0"/>
                </a:moveTo>
                <a:lnTo>
                  <a:pt x="977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639881" y="2750312"/>
            <a:ext cx="5232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5925" sz="2250" spc="412">
                <a:latin typeface="Cambria Math"/>
                <a:cs typeface="Cambria Math"/>
              </a:rPr>
              <a:t>"</a:t>
            </a:r>
            <a:r>
              <a:rPr dirty="0" sz="1200" spc="475">
                <a:latin typeface="Cambria Math"/>
                <a:cs typeface="Cambria Math"/>
              </a:rPr>
              <a:t>!</a:t>
            </a:r>
            <a:r>
              <a:rPr dirty="0" sz="1200">
                <a:latin typeface="Cambria Math"/>
                <a:cs typeface="Cambria Math"/>
              </a:rPr>
              <a:t>(</a:t>
            </a:r>
            <a:r>
              <a:rPr dirty="0" sz="1200" spc="10">
                <a:latin typeface="Cambria Math"/>
                <a:cs typeface="Cambria Math"/>
              </a:rPr>
              <a:t>#</a:t>
            </a:r>
            <a:r>
              <a:rPr dirty="0" sz="1200">
                <a:latin typeface="Cambria Math"/>
                <a:cs typeface="Cambria Math"/>
              </a:rPr>
              <a:t>)</a:t>
            </a:r>
            <a:r>
              <a:rPr dirty="0" baseline="-23148" sz="1800" spc="-930">
                <a:latin typeface="Cambria Math"/>
                <a:cs typeface="Cambria Math"/>
              </a:rPr>
              <a:t>%</a:t>
            </a:r>
            <a:endParaRPr baseline="-23148"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5995" y="3266947"/>
            <a:ext cx="305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0">
                <a:latin typeface="Cambria Math"/>
                <a:cs typeface="Cambria Math"/>
              </a:rPr>
              <a:t>&amp;</a:t>
            </a:r>
            <a:r>
              <a:rPr dirty="0" sz="1200" spc="605">
                <a:latin typeface="Cambria Math"/>
                <a:cs typeface="Cambria Math"/>
              </a:rPr>
              <a:t>'</a:t>
            </a:r>
            <a:r>
              <a:rPr dirty="0" sz="1200" spc="210">
                <a:latin typeface="Cambria Math"/>
                <a:cs typeface="Cambria Math"/>
              </a:rPr>
              <a:t>(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04614" y="3091688"/>
            <a:ext cx="2584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370" sz="2250" spc="-44">
                <a:latin typeface="Cambria Math"/>
                <a:cs typeface="Cambria Math"/>
              </a:rPr>
              <a:t>∑</a:t>
            </a:r>
            <a:r>
              <a:rPr dirty="0" sz="1200" spc="29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7750" y="3045967"/>
            <a:ext cx="5403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5185" sz="2250" spc="120">
                <a:latin typeface="Cambria Math"/>
                <a:cs typeface="Cambria Math"/>
              </a:rPr>
              <a:t>"</a:t>
            </a:r>
            <a:r>
              <a:rPr dirty="0" sz="1200" spc="80">
                <a:latin typeface="Cambria Math"/>
                <a:cs typeface="Cambria Math"/>
              </a:rPr>
              <a:t>!(#)</a:t>
            </a:r>
            <a:r>
              <a:rPr dirty="0" baseline="-25462" sz="1800" spc="120">
                <a:latin typeface="Cambria Math"/>
                <a:cs typeface="Cambria Math"/>
              </a:rPr>
              <a:t>&amp;</a:t>
            </a:r>
            <a:endParaRPr baseline="-25462"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86514" y="2924555"/>
            <a:ext cx="88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,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57105" y="3787440"/>
            <a:ext cx="312420" cy="235585"/>
          </a:xfrm>
          <a:custGeom>
            <a:avLst/>
            <a:gdLst/>
            <a:ahLst/>
            <a:cxnLst/>
            <a:rect l="l" t="t" r="r" b="b"/>
            <a:pathLst>
              <a:path w="312419" h="235585">
                <a:moveTo>
                  <a:pt x="237197" y="0"/>
                </a:moveTo>
                <a:lnTo>
                  <a:pt x="233848" y="9549"/>
                </a:lnTo>
                <a:lnTo>
                  <a:pt x="247467" y="15459"/>
                </a:lnTo>
                <a:lnTo>
                  <a:pt x="259180" y="23641"/>
                </a:lnTo>
                <a:lnTo>
                  <a:pt x="282962" y="61565"/>
                </a:lnTo>
                <a:lnTo>
                  <a:pt x="290775" y="116457"/>
                </a:lnTo>
                <a:lnTo>
                  <a:pt x="289903" y="137208"/>
                </a:lnTo>
                <a:lnTo>
                  <a:pt x="276823" y="188019"/>
                </a:lnTo>
                <a:lnTo>
                  <a:pt x="247627" y="219784"/>
                </a:lnTo>
                <a:lnTo>
                  <a:pt x="234221" y="225722"/>
                </a:lnTo>
                <a:lnTo>
                  <a:pt x="237197" y="235272"/>
                </a:lnTo>
                <a:lnTo>
                  <a:pt x="282147" y="208564"/>
                </a:lnTo>
                <a:lnTo>
                  <a:pt x="307394" y="159261"/>
                </a:lnTo>
                <a:lnTo>
                  <a:pt x="312232" y="117698"/>
                </a:lnTo>
                <a:lnTo>
                  <a:pt x="311018" y="96129"/>
                </a:lnTo>
                <a:lnTo>
                  <a:pt x="301313" y="57899"/>
                </a:lnTo>
                <a:lnTo>
                  <a:pt x="269211" y="15083"/>
                </a:lnTo>
                <a:lnTo>
                  <a:pt x="254254" y="6158"/>
                </a:lnTo>
                <a:lnTo>
                  <a:pt x="237197" y="0"/>
                </a:lnTo>
                <a:close/>
              </a:path>
              <a:path w="312419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56563" y="3406140"/>
            <a:ext cx="35560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where </a:t>
            </a:r>
            <a:r>
              <a:rPr dirty="0" sz="2000">
                <a:latin typeface="Cambria Math"/>
                <a:cs typeface="Cambria Math"/>
              </a:rPr>
              <a:t>𝐶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the number of 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classes.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  <a:tab pos="830580" algn="l"/>
                <a:tab pos="1405255" algn="l"/>
              </a:tabLst>
            </a:pPr>
            <a:r>
              <a:rPr dirty="0" sz="2000">
                <a:latin typeface="Calibri"/>
                <a:cs typeface="Calibri"/>
              </a:rPr>
              <a:t>e.g.	</a:t>
            </a:r>
            <a:r>
              <a:rPr dirty="0" sz="2000">
                <a:latin typeface="Cambria Math"/>
                <a:cs typeface="Cambria Math"/>
              </a:rPr>
              <a:t>𝑓  𝒙	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56107" y="4356977"/>
            <a:ext cx="1214120" cy="399415"/>
          </a:xfrm>
          <a:custGeom>
            <a:avLst/>
            <a:gdLst/>
            <a:ahLst/>
            <a:cxnLst/>
            <a:rect l="l" t="t" r="r" b="b"/>
            <a:pathLst>
              <a:path w="1214120" h="399414">
                <a:moveTo>
                  <a:pt x="1109186" y="0"/>
                </a:moveTo>
                <a:lnTo>
                  <a:pt x="1105155" y="13221"/>
                </a:lnTo>
                <a:lnTo>
                  <a:pt x="1123480" y="22724"/>
                </a:lnTo>
                <a:lnTo>
                  <a:pt x="1139436" y="36559"/>
                </a:lnTo>
                <a:lnTo>
                  <a:pt x="1164245" y="77229"/>
                </a:lnTo>
                <a:lnTo>
                  <a:pt x="1179300" y="132491"/>
                </a:lnTo>
                <a:lnTo>
                  <a:pt x="1184319" y="199603"/>
                </a:lnTo>
                <a:lnTo>
                  <a:pt x="1183064" y="234565"/>
                </a:lnTo>
                <a:lnTo>
                  <a:pt x="1173027" y="295631"/>
                </a:lnTo>
                <a:lnTo>
                  <a:pt x="1153025" y="344201"/>
                </a:lnTo>
                <a:lnTo>
                  <a:pt x="1123480" y="376165"/>
                </a:lnTo>
                <a:lnTo>
                  <a:pt x="1105155" y="385663"/>
                </a:lnTo>
                <a:lnTo>
                  <a:pt x="1109186" y="398884"/>
                </a:lnTo>
                <a:lnTo>
                  <a:pt x="1153725" y="375143"/>
                </a:lnTo>
                <a:lnTo>
                  <a:pt x="1186737" y="330361"/>
                </a:lnTo>
                <a:lnTo>
                  <a:pt x="1207173" y="269980"/>
                </a:lnTo>
                <a:lnTo>
                  <a:pt x="1213985" y="199442"/>
                </a:lnTo>
                <a:lnTo>
                  <a:pt x="1212282" y="162903"/>
                </a:lnTo>
                <a:lnTo>
                  <a:pt x="1198658" y="97444"/>
                </a:lnTo>
                <a:lnTo>
                  <a:pt x="1171672" y="43503"/>
                </a:lnTo>
                <a:lnTo>
                  <a:pt x="1132897" y="9241"/>
                </a:lnTo>
                <a:lnTo>
                  <a:pt x="1109186" y="0"/>
                </a:lnTo>
                <a:close/>
              </a:path>
              <a:path w="1214120" h="399414">
                <a:moveTo>
                  <a:pt x="104800" y="0"/>
                </a:moveTo>
                <a:lnTo>
                  <a:pt x="60260" y="23742"/>
                </a:lnTo>
                <a:lnTo>
                  <a:pt x="27249" y="68524"/>
                </a:lnTo>
                <a:lnTo>
                  <a:pt x="6812" y="128903"/>
                </a:lnTo>
                <a:lnTo>
                  <a:pt x="0" y="199442"/>
                </a:lnTo>
                <a:lnTo>
                  <a:pt x="1703" y="235980"/>
                </a:lnTo>
                <a:lnTo>
                  <a:pt x="15327" y="301440"/>
                </a:lnTo>
                <a:lnTo>
                  <a:pt x="42313" y="355382"/>
                </a:lnTo>
                <a:lnTo>
                  <a:pt x="81089" y="389643"/>
                </a:lnTo>
                <a:lnTo>
                  <a:pt x="104800" y="398884"/>
                </a:lnTo>
                <a:lnTo>
                  <a:pt x="108831" y="385663"/>
                </a:lnTo>
                <a:lnTo>
                  <a:pt x="90506" y="376165"/>
                </a:lnTo>
                <a:lnTo>
                  <a:pt x="74549" y="362345"/>
                </a:lnTo>
                <a:lnTo>
                  <a:pt x="49740" y="321735"/>
                </a:lnTo>
                <a:lnTo>
                  <a:pt x="34685" y="266574"/>
                </a:lnTo>
                <a:lnTo>
                  <a:pt x="29672" y="199442"/>
                </a:lnTo>
                <a:lnTo>
                  <a:pt x="30921" y="164566"/>
                </a:lnTo>
                <a:lnTo>
                  <a:pt x="40958" y="103379"/>
                </a:lnTo>
                <a:lnTo>
                  <a:pt x="60961" y="54728"/>
                </a:lnTo>
                <a:lnTo>
                  <a:pt x="90506" y="22724"/>
                </a:lnTo>
                <a:lnTo>
                  <a:pt x="108831" y="13221"/>
                </a:lnTo>
                <a:lnTo>
                  <a:pt x="1048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15237" y="4403538"/>
            <a:ext cx="407034" cy="306070"/>
          </a:xfrm>
          <a:custGeom>
            <a:avLst/>
            <a:gdLst/>
            <a:ahLst/>
            <a:cxnLst/>
            <a:rect l="l" t="t" r="r" b="b"/>
            <a:pathLst>
              <a:path w="407035" h="306070">
                <a:moveTo>
                  <a:pt x="308992" y="0"/>
                </a:moveTo>
                <a:lnTo>
                  <a:pt x="304638" y="12414"/>
                </a:lnTo>
                <a:lnTo>
                  <a:pt x="322343" y="20098"/>
                </a:lnTo>
                <a:lnTo>
                  <a:pt x="337570" y="30734"/>
                </a:lnTo>
                <a:lnTo>
                  <a:pt x="368486" y="80035"/>
                </a:lnTo>
                <a:lnTo>
                  <a:pt x="377515" y="125301"/>
                </a:lnTo>
                <a:lnTo>
                  <a:pt x="378644" y="151395"/>
                </a:lnTo>
                <a:lnTo>
                  <a:pt x="377510" y="178370"/>
                </a:lnTo>
                <a:lnTo>
                  <a:pt x="368440" y="224885"/>
                </a:lnTo>
                <a:lnTo>
                  <a:pt x="350241" y="261213"/>
                </a:lnTo>
                <a:lnTo>
                  <a:pt x="305122" y="293438"/>
                </a:lnTo>
                <a:lnTo>
                  <a:pt x="308992" y="305854"/>
                </a:lnTo>
                <a:lnTo>
                  <a:pt x="350710" y="286284"/>
                </a:lnTo>
                <a:lnTo>
                  <a:pt x="381384" y="252406"/>
                </a:lnTo>
                <a:lnTo>
                  <a:pt x="400248" y="207039"/>
                </a:lnTo>
                <a:lnTo>
                  <a:pt x="406535" y="153007"/>
                </a:lnTo>
                <a:lnTo>
                  <a:pt x="404958" y="124968"/>
                </a:lnTo>
                <a:lnTo>
                  <a:pt x="392343" y="75269"/>
                </a:lnTo>
                <a:lnTo>
                  <a:pt x="367322" y="34810"/>
                </a:lnTo>
                <a:lnTo>
                  <a:pt x="331166" y="8006"/>
                </a:lnTo>
                <a:lnTo>
                  <a:pt x="308992" y="0"/>
                </a:lnTo>
                <a:close/>
              </a:path>
              <a:path w="407035" h="306070">
                <a:moveTo>
                  <a:pt x="97544" y="0"/>
                </a:moveTo>
                <a:lnTo>
                  <a:pt x="55927" y="19609"/>
                </a:lnTo>
                <a:lnTo>
                  <a:pt x="25233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5" y="297858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2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6" y="80035"/>
                </a:lnTo>
                <a:lnTo>
                  <a:pt x="56325" y="44323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18108" y="4308348"/>
            <a:ext cx="170878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  <a:tab pos="857250" algn="l"/>
                <a:tab pos="1504950" algn="l"/>
              </a:tabLst>
            </a:pP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CE	</a:t>
            </a:r>
            <a:r>
              <a:rPr dirty="0" sz="2600" spc="-5">
                <a:latin typeface="Cambria Math"/>
                <a:cs typeface="Cambria Math"/>
              </a:rPr>
              <a:t>𝒚</a:t>
            </a:r>
            <a:r>
              <a:rPr dirty="0" sz="2600">
                <a:latin typeface="Cambria Math"/>
                <a:cs typeface="Cambria Math"/>
              </a:rPr>
              <a:t>,</a:t>
            </a:r>
            <a:r>
              <a:rPr dirty="0" sz="2600" spc="-1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𝑓	𝒙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0920" y="4479544"/>
            <a:ext cx="432434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175">
                <a:latin typeface="Cambria Math"/>
                <a:cs typeface="Cambria Math"/>
              </a:rPr>
              <a:t>!</a:t>
            </a:r>
            <a:r>
              <a:rPr dirty="0" sz="1900" spc="625">
                <a:latin typeface="Cambria Math"/>
                <a:cs typeface="Cambria Math"/>
              </a:rPr>
              <a:t>"</a:t>
            </a:r>
            <a:r>
              <a:rPr dirty="0" sz="1900" spc="-80">
                <a:latin typeface="Cambria Math"/>
                <a:cs typeface="Cambria Math"/>
              </a:rPr>
              <a:t>#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78112" y="4308348"/>
            <a:ext cx="31521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1590" algn="l"/>
              </a:tabLst>
            </a:pP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1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−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baseline="2136" sz="3900" spc="127">
                <a:latin typeface="Cambria Math"/>
                <a:cs typeface="Cambria Math"/>
              </a:rPr>
              <a:t>∑</a:t>
            </a:r>
            <a:r>
              <a:rPr dirty="0" baseline="32163" sz="2850" spc="127">
                <a:latin typeface="Cambria Math"/>
                <a:cs typeface="Cambria Math"/>
              </a:rPr>
              <a:t>$	</a:t>
            </a:r>
            <a:r>
              <a:rPr dirty="0" sz="2600" spc="5">
                <a:latin typeface="Cambria Math"/>
                <a:cs typeface="Cambria Math"/>
              </a:rPr>
              <a:t>(𝑦</a:t>
            </a:r>
            <a:r>
              <a:rPr dirty="0" baseline="-16081" sz="2850" spc="7">
                <a:latin typeface="Cambria Math"/>
                <a:cs typeface="Cambria Math"/>
              </a:rPr>
              <a:t>! </a:t>
            </a:r>
            <a:r>
              <a:rPr dirty="0" sz="2600" spc="-10">
                <a:latin typeface="Cambria Math"/>
                <a:cs typeface="Cambria Math"/>
              </a:rPr>
              <a:t>log</a:t>
            </a:r>
            <a:r>
              <a:rPr dirty="0" sz="2600" spc="-195">
                <a:latin typeface="Cambria Math"/>
                <a:cs typeface="Cambria Math"/>
              </a:rPr>
              <a:t> </a:t>
            </a:r>
            <a:r>
              <a:rPr dirty="0" sz="2600" spc="55">
                <a:latin typeface="Cambria Math"/>
                <a:cs typeface="Cambria Math"/>
              </a:rPr>
              <a:t>𝑓(𝑥)</a:t>
            </a:r>
            <a:r>
              <a:rPr dirty="0" baseline="-16081" sz="2850" spc="82">
                <a:latin typeface="Cambria Math"/>
                <a:cs typeface="Cambria Math"/>
              </a:rPr>
              <a:t>!</a:t>
            </a:r>
            <a:r>
              <a:rPr dirty="0" sz="2600" spc="55"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96518" y="5969773"/>
            <a:ext cx="414655" cy="188595"/>
          </a:xfrm>
          <a:custGeom>
            <a:avLst/>
            <a:gdLst/>
            <a:ahLst/>
            <a:cxnLst/>
            <a:rect l="l" t="t" r="r" b="b"/>
            <a:pathLst>
              <a:path w="414655" h="188595">
                <a:moveTo>
                  <a:pt x="354223" y="0"/>
                </a:moveTo>
                <a:lnTo>
                  <a:pt x="351544" y="7639"/>
                </a:lnTo>
                <a:lnTo>
                  <a:pt x="362440" y="12368"/>
                </a:lnTo>
                <a:lnTo>
                  <a:pt x="371809" y="18913"/>
                </a:lnTo>
                <a:lnTo>
                  <a:pt x="394307" y="62470"/>
                </a:lnTo>
                <a:lnTo>
                  <a:pt x="397085" y="93166"/>
                </a:lnTo>
                <a:lnTo>
                  <a:pt x="396388" y="109766"/>
                </a:lnTo>
                <a:lnTo>
                  <a:pt x="385923" y="150415"/>
                </a:lnTo>
                <a:lnTo>
                  <a:pt x="351842" y="180577"/>
                </a:lnTo>
                <a:lnTo>
                  <a:pt x="354223" y="188217"/>
                </a:lnTo>
                <a:lnTo>
                  <a:pt x="390183" y="166851"/>
                </a:lnTo>
                <a:lnTo>
                  <a:pt x="410381" y="127409"/>
                </a:lnTo>
                <a:lnTo>
                  <a:pt x="414251" y="94158"/>
                </a:lnTo>
                <a:lnTo>
                  <a:pt x="413280" y="76903"/>
                </a:lnTo>
                <a:lnTo>
                  <a:pt x="398722" y="32990"/>
                </a:lnTo>
                <a:lnTo>
                  <a:pt x="367868" y="4926"/>
                </a:lnTo>
                <a:lnTo>
                  <a:pt x="354223" y="0"/>
                </a:lnTo>
                <a:close/>
              </a:path>
              <a:path w="414655" h="188595">
                <a:moveTo>
                  <a:pt x="60027" y="0"/>
                </a:moveTo>
                <a:lnTo>
                  <a:pt x="24132" y="21421"/>
                </a:lnTo>
                <a:lnTo>
                  <a:pt x="3882" y="60957"/>
                </a:lnTo>
                <a:lnTo>
                  <a:pt x="0" y="94158"/>
                </a:lnTo>
                <a:lnTo>
                  <a:pt x="967" y="111450"/>
                </a:lnTo>
                <a:lnTo>
                  <a:pt x="15478" y="155326"/>
                </a:lnTo>
                <a:lnTo>
                  <a:pt x="46342" y="183297"/>
                </a:lnTo>
                <a:lnTo>
                  <a:pt x="60027" y="188217"/>
                </a:lnTo>
                <a:lnTo>
                  <a:pt x="62409" y="180577"/>
                </a:lnTo>
                <a:lnTo>
                  <a:pt x="51684" y="175827"/>
                </a:lnTo>
                <a:lnTo>
                  <a:pt x="42428" y="169217"/>
                </a:lnTo>
                <a:lnTo>
                  <a:pt x="19955" y="124841"/>
                </a:lnTo>
                <a:lnTo>
                  <a:pt x="17165" y="93166"/>
                </a:lnTo>
                <a:lnTo>
                  <a:pt x="17863" y="77108"/>
                </a:lnTo>
                <a:lnTo>
                  <a:pt x="28327" y="37454"/>
                </a:lnTo>
                <a:lnTo>
                  <a:pt x="62706" y="7639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89009" y="5799171"/>
            <a:ext cx="1026794" cy="337820"/>
          </a:xfrm>
          <a:custGeom>
            <a:avLst/>
            <a:gdLst/>
            <a:ahLst/>
            <a:cxnLst/>
            <a:rect l="l" t="t" r="r" b="b"/>
            <a:pathLst>
              <a:path w="1026795" h="337820">
                <a:moveTo>
                  <a:pt x="938056" y="0"/>
                </a:moveTo>
                <a:lnTo>
                  <a:pt x="934645" y="11186"/>
                </a:lnTo>
                <a:lnTo>
                  <a:pt x="950150" y="19227"/>
                </a:lnTo>
                <a:lnTo>
                  <a:pt x="963652" y="30934"/>
                </a:lnTo>
                <a:lnTo>
                  <a:pt x="984644" y="65347"/>
                </a:lnTo>
                <a:lnTo>
                  <a:pt x="997383" y="112107"/>
                </a:lnTo>
                <a:lnTo>
                  <a:pt x="1001629" y="168895"/>
                </a:lnTo>
                <a:lnTo>
                  <a:pt x="1000568" y="198478"/>
                </a:lnTo>
                <a:lnTo>
                  <a:pt x="992075" y="250149"/>
                </a:lnTo>
                <a:lnTo>
                  <a:pt x="975150" y="291247"/>
                </a:lnTo>
                <a:lnTo>
                  <a:pt x="934645" y="326330"/>
                </a:lnTo>
                <a:lnTo>
                  <a:pt x="938056" y="337517"/>
                </a:lnTo>
                <a:lnTo>
                  <a:pt x="975743" y="317428"/>
                </a:lnTo>
                <a:lnTo>
                  <a:pt x="1003677" y="279536"/>
                </a:lnTo>
                <a:lnTo>
                  <a:pt x="1020969" y="228444"/>
                </a:lnTo>
                <a:lnTo>
                  <a:pt x="1026732" y="168758"/>
                </a:lnTo>
                <a:lnTo>
                  <a:pt x="1025291" y="137841"/>
                </a:lnTo>
                <a:lnTo>
                  <a:pt x="1013764" y="82452"/>
                </a:lnTo>
                <a:lnTo>
                  <a:pt x="990929" y="36809"/>
                </a:lnTo>
                <a:lnTo>
                  <a:pt x="958118" y="7818"/>
                </a:lnTo>
                <a:lnTo>
                  <a:pt x="938056" y="0"/>
                </a:lnTo>
                <a:close/>
              </a:path>
              <a:path w="1026795" h="337820">
                <a:moveTo>
                  <a:pt x="88670" y="0"/>
                </a:moveTo>
                <a:lnTo>
                  <a:pt x="50982" y="20088"/>
                </a:lnTo>
                <a:lnTo>
                  <a:pt x="23049" y="57980"/>
                </a:lnTo>
                <a:lnTo>
                  <a:pt x="5757" y="109072"/>
                </a:lnTo>
                <a:lnTo>
                  <a:pt x="0" y="168895"/>
                </a:lnTo>
                <a:lnTo>
                  <a:pt x="1434" y="199676"/>
                </a:lnTo>
                <a:lnTo>
                  <a:pt x="12962" y="255065"/>
                </a:lnTo>
                <a:lnTo>
                  <a:pt x="35796" y="300707"/>
                </a:lnTo>
                <a:lnTo>
                  <a:pt x="68606" y="329698"/>
                </a:lnTo>
                <a:lnTo>
                  <a:pt x="88670" y="337517"/>
                </a:lnTo>
                <a:lnTo>
                  <a:pt x="92080" y="326330"/>
                </a:lnTo>
                <a:lnTo>
                  <a:pt x="76574" y="318294"/>
                </a:lnTo>
                <a:lnTo>
                  <a:pt x="63072" y="306599"/>
                </a:lnTo>
                <a:lnTo>
                  <a:pt x="42080" y="272237"/>
                </a:lnTo>
                <a:lnTo>
                  <a:pt x="29341" y="225563"/>
                </a:lnTo>
                <a:lnTo>
                  <a:pt x="25100" y="168758"/>
                </a:lnTo>
                <a:lnTo>
                  <a:pt x="26156" y="139248"/>
                </a:lnTo>
                <a:lnTo>
                  <a:pt x="34649" y="87474"/>
                </a:lnTo>
                <a:lnTo>
                  <a:pt x="51574" y="46308"/>
                </a:lnTo>
                <a:lnTo>
                  <a:pt x="92080" y="11186"/>
                </a:lnTo>
                <a:lnTo>
                  <a:pt x="8867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47104" y="5838476"/>
            <a:ext cx="343535" cy="259079"/>
          </a:xfrm>
          <a:custGeom>
            <a:avLst/>
            <a:gdLst/>
            <a:ahLst/>
            <a:cxnLst/>
            <a:rect l="l" t="t" r="r" b="b"/>
            <a:pathLst>
              <a:path w="343535" h="259079">
                <a:moveTo>
                  <a:pt x="260598" y="0"/>
                </a:moveTo>
                <a:lnTo>
                  <a:pt x="256915" y="10504"/>
                </a:lnTo>
                <a:lnTo>
                  <a:pt x="271896" y="17006"/>
                </a:lnTo>
                <a:lnTo>
                  <a:pt x="284780" y="26006"/>
                </a:lnTo>
                <a:lnTo>
                  <a:pt x="310940" y="67722"/>
                </a:lnTo>
                <a:lnTo>
                  <a:pt x="318579" y="106024"/>
                </a:lnTo>
                <a:lnTo>
                  <a:pt x="319534" y="128103"/>
                </a:lnTo>
                <a:lnTo>
                  <a:pt x="318575" y="150929"/>
                </a:lnTo>
                <a:lnTo>
                  <a:pt x="310901" y="190288"/>
                </a:lnTo>
                <a:lnTo>
                  <a:pt x="284797" y="232674"/>
                </a:lnTo>
                <a:lnTo>
                  <a:pt x="257324" y="248294"/>
                </a:lnTo>
                <a:lnTo>
                  <a:pt x="260598" y="258799"/>
                </a:lnTo>
                <a:lnTo>
                  <a:pt x="295899" y="242240"/>
                </a:lnTo>
                <a:lnTo>
                  <a:pt x="321854" y="213574"/>
                </a:lnTo>
                <a:lnTo>
                  <a:pt x="337815" y="175187"/>
                </a:lnTo>
                <a:lnTo>
                  <a:pt x="343136" y="129467"/>
                </a:lnTo>
                <a:lnTo>
                  <a:pt x="341801" y="105742"/>
                </a:lnTo>
                <a:lnTo>
                  <a:pt x="331127" y="63689"/>
                </a:lnTo>
                <a:lnTo>
                  <a:pt x="309955" y="29455"/>
                </a:lnTo>
                <a:lnTo>
                  <a:pt x="279362" y="6774"/>
                </a:lnTo>
                <a:lnTo>
                  <a:pt x="260598" y="0"/>
                </a:lnTo>
                <a:close/>
              </a:path>
              <a:path w="343535" h="259079">
                <a:moveTo>
                  <a:pt x="82537" y="0"/>
                </a:moveTo>
                <a:lnTo>
                  <a:pt x="47322" y="16592"/>
                </a:lnTo>
                <a:lnTo>
                  <a:pt x="21349" y="45361"/>
                </a:lnTo>
                <a:lnTo>
                  <a:pt x="5337" y="83816"/>
                </a:lnTo>
                <a:lnTo>
                  <a:pt x="0" y="129467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1" y="229421"/>
                </a:lnTo>
                <a:lnTo>
                  <a:pt x="82537" y="258799"/>
                </a:lnTo>
                <a:lnTo>
                  <a:pt x="85811" y="248294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2"/>
                </a:lnTo>
                <a:lnTo>
                  <a:pt x="58441" y="26006"/>
                </a:lnTo>
                <a:lnTo>
                  <a:pt x="86220" y="10504"/>
                </a:lnTo>
                <a:lnTo>
                  <a:pt x="8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66900" y="6225840"/>
            <a:ext cx="559435" cy="235585"/>
          </a:xfrm>
          <a:custGeom>
            <a:avLst/>
            <a:gdLst/>
            <a:ahLst/>
            <a:cxnLst/>
            <a:rect l="l" t="t" r="r" b="b"/>
            <a:pathLst>
              <a:path w="559434" h="235585">
                <a:moveTo>
                  <a:pt x="484338" y="0"/>
                </a:moveTo>
                <a:lnTo>
                  <a:pt x="480990" y="9549"/>
                </a:lnTo>
                <a:lnTo>
                  <a:pt x="494609" y="15460"/>
                </a:lnTo>
                <a:lnTo>
                  <a:pt x="506322" y="23642"/>
                </a:lnTo>
                <a:lnTo>
                  <a:pt x="530103" y="61565"/>
                </a:lnTo>
                <a:lnTo>
                  <a:pt x="537917" y="116457"/>
                </a:lnTo>
                <a:lnTo>
                  <a:pt x="537045" y="137208"/>
                </a:lnTo>
                <a:lnTo>
                  <a:pt x="523965" y="188019"/>
                </a:lnTo>
                <a:lnTo>
                  <a:pt x="494769" y="219785"/>
                </a:lnTo>
                <a:lnTo>
                  <a:pt x="481363" y="225722"/>
                </a:lnTo>
                <a:lnTo>
                  <a:pt x="484338" y="235272"/>
                </a:lnTo>
                <a:lnTo>
                  <a:pt x="529289" y="208564"/>
                </a:lnTo>
                <a:lnTo>
                  <a:pt x="554535" y="159261"/>
                </a:lnTo>
                <a:lnTo>
                  <a:pt x="559372" y="117698"/>
                </a:lnTo>
                <a:lnTo>
                  <a:pt x="558159" y="96129"/>
                </a:lnTo>
                <a:lnTo>
                  <a:pt x="548455" y="57899"/>
                </a:lnTo>
                <a:lnTo>
                  <a:pt x="516351" y="15084"/>
                </a:lnTo>
                <a:lnTo>
                  <a:pt x="501395" y="6158"/>
                </a:lnTo>
                <a:lnTo>
                  <a:pt x="484338" y="0"/>
                </a:lnTo>
                <a:close/>
              </a:path>
              <a:path w="559434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5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18108" y="4725923"/>
            <a:ext cx="7544434" cy="175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2000" spc="35">
                <a:latin typeface="Cambria Math"/>
                <a:cs typeface="Cambria Math"/>
              </a:rPr>
              <a:t>𝑦</a:t>
            </a:r>
            <a:r>
              <a:rPr dirty="0" baseline="-14814" sz="2250" spc="52">
                <a:latin typeface="Cambria Math"/>
                <a:cs typeface="Cambria Math"/>
              </a:rPr>
              <a:t>!</a:t>
            </a:r>
            <a:r>
              <a:rPr dirty="0" sz="2000" spc="35">
                <a:latin typeface="Calibri"/>
                <a:cs typeface="Calibri"/>
              </a:rPr>
              <a:t>, </a:t>
            </a:r>
            <a:r>
              <a:rPr dirty="0" sz="2000" spc="30">
                <a:latin typeface="Cambria Math"/>
                <a:cs typeface="Cambria Math"/>
              </a:rPr>
              <a:t>𝑓(𝑥)</a:t>
            </a:r>
            <a:r>
              <a:rPr dirty="0" baseline="-14814" sz="2250" spc="44">
                <a:latin typeface="Cambria Math"/>
                <a:cs typeface="Cambria Math"/>
              </a:rPr>
              <a:t>! </a:t>
            </a:r>
            <a:r>
              <a:rPr dirty="0" sz="2000" spc="-10">
                <a:latin typeface="Calibri"/>
                <a:cs typeface="Calibri"/>
              </a:rPr>
              <a:t>are 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5" b="1">
                <a:latin typeface="Calibri"/>
                <a:cs typeface="Calibri"/>
              </a:rPr>
              <a:t>actual </a:t>
            </a:r>
            <a:r>
              <a:rPr dirty="0" sz="2000" spc="-5">
                <a:latin typeface="Calibri"/>
                <a:cs typeface="Calibri"/>
              </a:rPr>
              <a:t>and </a:t>
            </a:r>
            <a:r>
              <a:rPr dirty="0" sz="2000" spc="-10" b="1">
                <a:latin typeface="Calibri"/>
                <a:cs typeface="Calibri"/>
              </a:rPr>
              <a:t>predicted </a:t>
            </a:r>
            <a:r>
              <a:rPr dirty="0" sz="2000" spc="-10">
                <a:latin typeface="Calibri"/>
                <a:cs typeface="Calibri"/>
              </a:rPr>
              <a:t>value </a:t>
            </a:r>
            <a:r>
              <a:rPr dirty="0" sz="2000" spc="-5">
                <a:latin typeface="Calibri"/>
                <a:cs typeface="Calibri"/>
              </a:rPr>
              <a:t>of the </a:t>
            </a:r>
            <a:r>
              <a:rPr dirty="0" sz="2000" spc="10">
                <a:latin typeface="Cambria Math"/>
                <a:cs typeface="Cambria Math"/>
              </a:rPr>
              <a:t>𝑖</a:t>
            </a:r>
            <a:r>
              <a:rPr dirty="0" sz="2000" spc="10">
                <a:latin typeface="Calibri"/>
                <a:cs typeface="Calibri"/>
              </a:rPr>
              <a:t>-th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class.</a:t>
            </a:r>
            <a:endParaRPr sz="2000">
              <a:latin typeface="Calibri"/>
              <a:cs typeface="Calibri"/>
            </a:endParaRPr>
          </a:p>
          <a:p>
            <a:pPr marL="625475" indent="-274320">
              <a:lnSpc>
                <a:spcPts val="2100"/>
              </a:lnSpc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2000" spc="-5" b="1">
                <a:latin typeface="Calibri"/>
                <a:cs typeface="Calibri"/>
              </a:rPr>
              <a:t>Intuition: 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lower </a:t>
            </a:r>
            <a:r>
              <a:rPr dirty="0" sz="2000" spc="-5">
                <a:latin typeface="Calibri"/>
                <a:cs typeface="Calibri"/>
              </a:rPr>
              <a:t>the loss, the closer the prediction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10">
                <a:latin typeface="Calibri"/>
                <a:cs typeface="Calibri"/>
              </a:rPr>
              <a:t>to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one-hot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ts val="2820"/>
              </a:lnSpc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5" b="1">
                <a:latin typeface="Calibri"/>
                <a:cs typeface="Calibri"/>
              </a:rPr>
              <a:t>Total </a:t>
            </a:r>
            <a:r>
              <a:rPr dirty="0" sz="2600" spc="-5" b="1">
                <a:latin typeface="Calibri"/>
                <a:cs typeface="Calibri"/>
              </a:rPr>
              <a:t>loss </a:t>
            </a:r>
            <a:r>
              <a:rPr dirty="0" sz="2600" spc="-10" b="1">
                <a:latin typeface="Calibri"/>
                <a:cs typeface="Calibri"/>
              </a:rPr>
              <a:t>over </a:t>
            </a:r>
            <a:r>
              <a:rPr dirty="0" sz="2600" spc="-5" b="1">
                <a:latin typeface="Calibri"/>
                <a:cs typeface="Calibri"/>
              </a:rPr>
              <a:t>all </a:t>
            </a:r>
            <a:r>
              <a:rPr dirty="0" sz="2600" spc="-10" b="1">
                <a:latin typeface="Calibri"/>
                <a:cs typeface="Calibri"/>
              </a:rPr>
              <a:t>training</a:t>
            </a:r>
            <a:r>
              <a:rPr dirty="0" sz="2600" spc="1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examples: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200">
                <a:solidFill>
                  <a:srgbClr val="C00000"/>
                </a:solidFill>
                <a:latin typeface="Cambria Math"/>
                <a:cs typeface="Cambria Math"/>
              </a:rPr>
              <a:t>ℒ  </a:t>
            </a:r>
            <a:r>
              <a:rPr dirty="0" sz="2200">
                <a:latin typeface="Cambria Math"/>
                <a:cs typeface="Cambria Math"/>
              </a:rPr>
              <a:t>= </a:t>
            </a:r>
            <a:r>
              <a:rPr dirty="0" baseline="2525" sz="3300">
                <a:latin typeface="Cambria Math"/>
                <a:cs typeface="Cambria Math"/>
              </a:rPr>
              <a:t>∑ </a:t>
            </a:r>
            <a:r>
              <a:rPr dirty="0" baseline="-20833" sz="2400" spc="-7">
                <a:latin typeface="Cambria Math"/>
                <a:cs typeface="Cambria Math"/>
              </a:rPr>
              <a:t>𝒙,𝒚  </a:t>
            </a:r>
            <a:r>
              <a:rPr dirty="0" baseline="-20833" sz="2400">
                <a:latin typeface="Cambria Math"/>
                <a:cs typeface="Cambria Math"/>
              </a:rPr>
              <a:t>∈𝒯 </a:t>
            </a:r>
            <a:r>
              <a:rPr dirty="0" sz="2200">
                <a:solidFill>
                  <a:srgbClr val="C00000"/>
                </a:solidFill>
                <a:latin typeface="Cambria Math"/>
                <a:cs typeface="Cambria Math"/>
              </a:rPr>
              <a:t>CE  </a:t>
            </a:r>
            <a:r>
              <a:rPr dirty="0" sz="2200" spc="-5">
                <a:latin typeface="Cambria Math"/>
                <a:cs typeface="Cambria Math"/>
              </a:rPr>
              <a:t>𝒚, </a:t>
            </a:r>
            <a:r>
              <a:rPr dirty="0" sz="2200">
                <a:latin typeface="Cambria Math"/>
                <a:cs typeface="Cambria Math"/>
              </a:rPr>
              <a:t>𝑓</a:t>
            </a:r>
            <a:r>
              <a:rPr dirty="0" sz="2200" spc="250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𝒙</a:t>
            </a:r>
            <a:endParaRPr sz="22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464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  <a:tab pos="6131560" algn="l"/>
              </a:tabLst>
            </a:pPr>
            <a:r>
              <a:rPr dirty="0" sz="2000" spc="25">
                <a:latin typeface="Cambria Math"/>
                <a:cs typeface="Cambria Math"/>
              </a:rPr>
              <a:t>𝒯</a:t>
            </a:r>
            <a:r>
              <a:rPr dirty="0" sz="2000" spc="25">
                <a:latin typeface="Calibri"/>
                <a:cs typeface="Calibri"/>
              </a:rPr>
              <a:t>: </a:t>
            </a:r>
            <a:r>
              <a:rPr dirty="0" sz="2000" spc="-10">
                <a:latin typeface="Calibri"/>
                <a:cs typeface="Calibri"/>
              </a:rPr>
              <a:t>training </a:t>
            </a:r>
            <a:r>
              <a:rPr dirty="0" sz="2000" spc="-5">
                <a:latin typeface="Calibri"/>
                <a:cs typeface="Calibri"/>
              </a:rPr>
              <a:t>set </a:t>
            </a:r>
            <a:r>
              <a:rPr dirty="0" sz="2000" spc="-10">
                <a:latin typeface="Calibri"/>
                <a:cs typeface="Calibri"/>
              </a:rPr>
              <a:t>containing </a:t>
            </a:r>
            <a:r>
              <a:rPr dirty="0" sz="2000">
                <a:latin typeface="Calibri"/>
                <a:cs typeface="Calibri"/>
              </a:rPr>
              <a:t>all </a:t>
            </a:r>
            <a:r>
              <a:rPr dirty="0" sz="2000" spc="-10">
                <a:latin typeface="Calibri"/>
                <a:cs typeface="Calibri"/>
              </a:rPr>
              <a:t>pairs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-10">
                <a:latin typeface="Calibri"/>
                <a:cs typeface="Calibri"/>
              </a:rPr>
              <a:t>data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and</a:t>
            </a:r>
            <a:r>
              <a:rPr dirty="0" sz="2000" spc="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labels	</a:t>
            </a:r>
            <a:r>
              <a:rPr dirty="0" sz="2000" spc="-5">
                <a:latin typeface="Cambria Math"/>
                <a:cs typeface="Cambria Math"/>
              </a:rPr>
              <a:t>𝒙,</a:t>
            </a:r>
            <a:r>
              <a:rPr dirty="0" sz="2000" spc="-2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𝒚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2706914" y="2001338"/>
          <a:ext cx="3143250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</a:tblGrid>
              <a:tr h="330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2706914" y="3727450"/>
          <a:ext cx="3143250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</a:tblGrid>
              <a:tr h="330200"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0.3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0.4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7473263" y="2040636"/>
            <a:ext cx="12230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0070C0"/>
                </a:solidFill>
                <a:latin typeface="Cambria Math"/>
                <a:cs typeface="Cambria Math"/>
              </a:rPr>
              <a:t>𝑦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of class</a:t>
            </a:r>
            <a:r>
              <a:rPr dirty="0" sz="1400" spc="2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“3”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89218" y="2980448"/>
            <a:ext cx="185420" cy="141605"/>
          </a:xfrm>
          <a:custGeom>
            <a:avLst/>
            <a:gdLst/>
            <a:ahLst/>
            <a:cxnLst/>
            <a:rect l="l" t="t" r="r" b="b"/>
            <a:pathLst>
              <a:path w="185420" h="141605">
                <a:moveTo>
                  <a:pt x="140286" y="0"/>
                </a:moveTo>
                <a:lnTo>
                  <a:pt x="138277" y="5730"/>
                </a:lnTo>
                <a:lnTo>
                  <a:pt x="146449" y="9276"/>
                </a:lnTo>
                <a:lnTo>
                  <a:pt x="153476" y="14185"/>
                </a:lnTo>
                <a:lnTo>
                  <a:pt x="171913" y="57830"/>
                </a:lnTo>
                <a:lnTo>
                  <a:pt x="172434" y="69874"/>
                </a:lnTo>
                <a:lnTo>
                  <a:pt x="171910" y="82324"/>
                </a:lnTo>
                <a:lnTo>
                  <a:pt x="159325" y="120559"/>
                </a:lnTo>
                <a:lnTo>
                  <a:pt x="138501" y="135434"/>
                </a:lnTo>
                <a:lnTo>
                  <a:pt x="140286" y="141163"/>
                </a:lnTo>
                <a:lnTo>
                  <a:pt x="173699" y="116494"/>
                </a:lnTo>
                <a:lnTo>
                  <a:pt x="185306" y="70618"/>
                </a:lnTo>
                <a:lnTo>
                  <a:pt x="184579" y="57677"/>
                </a:lnTo>
                <a:lnTo>
                  <a:pt x="167208" y="16066"/>
                </a:lnTo>
                <a:lnTo>
                  <a:pt x="150520" y="3695"/>
                </a:lnTo>
                <a:lnTo>
                  <a:pt x="140286" y="0"/>
                </a:lnTo>
                <a:close/>
              </a:path>
              <a:path w="185420" h="141605">
                <a:moveTo>
                  <a:pt x="45021" y="0"/>
                </a:moveTo>
                <a:lnTo>
                  <a:pt x="11645" y="24742"/>
                </a:lnTo>
                <a:lnTo>
                  <a:pt x="0" y="70618"/>
                </a:lnTo>
                <a:lnTo>
                  <a:pt x="725" y="83587"/>
                </a:lnTo>
                <a:lnTo>
                  <a:pt x="18050" y="125138"/>
                </a:lnTo>
                <a:lnTo>
                  <a:pt x="45021" y="141163"/>
                </a:lnTo>
                <a:lnTo>
                  <a:pt x="46807" y="135434"/>
                </a:lnTo>
                <a:lnTo>
                  <a:pt x="38763" y="131871"/>
                </a:lnTo>
                <a:lnTo>
                  <a:pt x="31821" y="126913"/>
                </a:lnTo>
                <a:lnTo>
                  <a:pt x="13397" y="82324"/>
                </a:lnTo>
                <a:lnTo>
                  <a:pt x="12873" y="69874"/>
                </a:lnTo>
                <a:lnTo>
                  <a:pt x="13397" y="57830"/>
                </a:lnTo>
                <a:lnTo>
                  <a:pt x="25996" y="20456"/>
                </a:lnTo>
                <a:lnTo>
                  <a:pt x="47030" y="5730"/>
                </a:lnTo>
                <a:lnTo>
                  <a:pt x="4502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497281" y="3336048"/>
            <a:ext cx="185420" cy="141605"/>
          </a:xfrm>
          <a:custGeom>
            <a:avLst/>
            <a:gdLst/>
            <a:ahLst/>
            <a:cxnLst/>
            <a:rect l="l" t="t" r="r" b="b"/>
            <a:pathLst>
              <a:path w="185420" h="141604">
                <a:moveTo>
                  <a:pt x="140286" y="0"/>
                </a:moveTo>
                <a:lnTo>
                  <a:pt x="138277" y="5730"/>
                </a:lnTo>
                <a:lnTo>
                  <a:pt x="146449" y="9276"/>
                </a:lnTo>
                <a:lnTo>
                  <a:pt x="153476" y="14185"/>
                </a:lnTo>
                <a:lnTo>
                  <a:pt x="171912" y="57831"/>
                </a:lnTo>
                <a:lnTo>
                  <a:pt x="172432" y="69875"/>
                </a:lnTo>
                <a:lnTo>
                  <a:pt x="171909" y="82325"/>
                </a:lnTo>
                <a:lnTo>
                  <a:pt x="159325" y="120559"/>
                </a:lnTo>
                <a:lnTo>
                  <a:pt x="138501" y="135434"/>
                </a:lnTo>
                <a:lnTo>
                  <a:pt x="140286" y="141163"/>
                </a:lnTo>
                <a:lnTo>
                  <a:pt x="173699" y="116495"/>
                </a:lnTo>
                <a:lnTo>
                  <a:pt x="185306" y="70618"/>
                </a:lnTo>
                <a:lnTo>
                  <a:pt x="184579" y="57677"/>
                </a:lnTo>
                <a:lnTo>
                  <a:pt x="167208" y="16066"/>
                </a:lnTo>
                <a:lnTo>
                  <a:pt x="150520" y="3695"/>
                </a:lnTo>
                <a:lnTo>
                  <a:pt x="140286" y="0"/>
                </a:lnTo>
                <a:close/>
              </a:path>
              <a:path w="185420" h="141604">
                <a:moveTo>
                  <a:pt x="45020" y="0"/>
                </a:moveTo>
                <a:lnTo>
                  <a:pt x="11645" y="24742"/>
                </a:lnTo>
                <a:lnTo>
                  <a:pt x="0" y="70618"/>
                </a:lnTo>
                <a:lnTo>
                  <a:pt x="725" y="83587"/>
                </a:lnTo>
                <a:lnTo>
                  <a:pt x="18050" y="125139"/>
                </a:lnTo>
                <a:lnTo>
                  <a:pt x="45020" y="141163"/>
                </a:lnTo>
                <a:lnTo>
                  <a:pt x="46807" y="135434"/>
                </a:lnTo>
                <a:lnTo>
                  <a:pt x="38763" y="131871"/>
                </a:lnTo>
                <a:lnTo>
                  <a:pt x="31821" y="126913"/>
                </a:lnTo>
                <a:lnTo>
                  <a:pt x="13397" y="82325"/>
                </a:lnTo>
                <a:lnTo>
                  <a:pt x="12873" y="69875"/>
                </a:lnTo>
                <a:lnTo>
                  <a:pt x="13397" y="57831"/>
                </a:lnTo>
                <a:lnTo>
                  <a:pt x="25996" y="20457"/>
                </a:lnTo>
                <a:lnTo>
                  <a:pt x="47030" y="5730"/>
                </a:lnTo>
                <a:lnTo>
                  <a:pt x="4502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366858" y="2928620"/>
            <a:ext cx="1614805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97500"/>
              </a:lnSpc>
              <a:spcBef>
                <a:spcPts val="135"/>
              </a:spcBef>
            </a:pPr>
            <a:r>
              <a:rPr dirty="0" sz="1200">
                <a:solidFill>
                  <a:srgbClr val="0070C0"/>
                </a:solidFill>
                <a:latin typeface="Cambria Math"/>
                <a:cs typeface="Cambria Math"/>
              </a:rPr>
              <a:t>𝑔 𝑥 </a:t>
            </a:r>
            <a:r>
              <a:rPr dirty="0" baseline="-15432" sz="1350" spc="75">
                <a:solidFill>
                  <a:srgbClr val="0070C0"/>
                </a:solidFill>
                <a:latin typeface="Cambria Math"/>
                <a:cs typeface="Cambria Math"/>
              </a:rPr>
              <a:t>!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denotes </a:t>
            </a:r>
            <a:r>
              <a:rPr dirty="0" sz="1200" spc="0">
                <a:solidFill>
                  <a:srgbClr val="008000"/>
                </a:solidFill>
                <a:latin typeface="Cambria Math"/>
                <a:cs typeface="Cambria Math"/>
              </a:rPr>
              <a:t>𝑖</a:t>
            </a:r>
            <a:r>
              <a:rPr dirty="0" sz="1200" spc="0">
                <a:solidFill>
                  <a:srgbClr val="008000"/>
                </a:solidFill>
                <a:latin typeface="Arial"/>
                <a:cs typeface="Arial"/>
              </a:rPr>
              <a:t>-th 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coordinate of the</a:t>
            </a:r>
            <a:r>
              <a:rPr dirty="0" sz="1200" spc="-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vector  output of func. </a:t>
            </a:r>
            <a:r>
              <a:rPr dirty="0" sz="1200">
                <a:solidFill>
                  <a:srgbClr val="0070C0"/>
                </a:solidFill>
                <a:latin typeface="Cambria Math"/>
                <a:cs typeface="Cambria Math"/>
              </a:rPr>
              <a:t>𝑔</a:t>
            </a:r>
            <a:r>
              <a:rPr dirty="0" sz="1200" spc="20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070C0"/>
                </a:solidFill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613904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66890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How </a:t>
            </a:r>
            <a:r>
              <a:rPr dirty="0" sz="3000" spc="-20" b="1">
                <a:latin typeface="Calibri"/>
                <a:cs typeface="Calibri"/>
              </a:rPr>
              <a:t>to </a:t>
            </a:r>
            <a:r>
              <a:rPr dirty="0" sz="3000" spc="-15" b="1">
                <a:latin typeface="Calibri"/>
                <a:cs typeface="Calibri"/>
              </a:rPr>
              <a:t>optimize </a:t>
            </a:r>
            <a:r>
              <a:rPr dirty="0" sz="3000" spc="-5" b="1">
                <a:latin typeface="Calibri"/>
                <a:cs typeface="Calibri"/>
              </a:rPr>
              <a:t>the </a:t>
            </a:r>
            <a:r>
              <a:rPr dirty="0" sz="3000" spc="-10" b="1">
                <a:solidFill>
                  <a:srgbClr val="B48200"/>
                </a:solidFill>
                <a:latin typeface="Calibri"/>
                <a:cs typeface="Calibri"/>
              </a:rPr>
              <a:t>objective</a:t>
            </a:r>
            <a:r>
              <a:rPr dirty="0" sz="3000" spc="25" b="1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B48200"/>
                </a:solidFill>
                <a:latin typeface="Calibri"/>
                <a:cs typeface="Calibri"/>
              </a:rPr>
              <a:t>function</a:t>
            </a:r>
            <a:r>
              <a:rPr dirty="0" sz="3000" spc="-5"/>
              <a:t>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15516"/>
            <a:ext cx="729360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Gradient vector: </a:t>
            </a:r>
            <a:r>
              <a:rPr dirty="0" sz="3000" spc="-10">
                <a:latin typeface="Calibri"/>
                <a:cs typeface="Calibri"/>
              </a:rPr>
              <a:t>Direction </a:t>
            </a:r>
            <a:r>
              <a:rPr dirty="0" sz="3000" spc="-5">
                <a:latin typeface="Calibri"/>
                <a:cs typeface="Calibri"/>
              </a:rPr>
              <a:t>and </a:t>
            </a:r>
            <a:r>
              <a:rPr dirty="0" sz="3000" spc="-35">
                <a:latin typeface="Calibri"/>
                <a:cs typeface="Calibri"/>
              </a:rPr>
              <a:t>rate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25">
                <a:latin typeface="Calibri"/>
                <a:cs typeface="Calibri"/>
              </a:rPr>
              <a:t> </a:t>
            </a:r>
            <a:r>
              <a:rPr dirty="0" sz="3000" spc="-30">
                <a:latin typeface="Calibri"/>
                <a:cs typeface="Calibri"/>
              </a:rPr>
              <a:t>fastest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149" y="2123948"/>
            <a:ext cx="13119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>
                <a:latin typeface="Calibri"/>
                <a:cs typeface="Calibri"/>
              </a:rPr>
              <a:t>in</a:t>
            </a:r>
            <a:r>
              <a:rPr dirty="0" sz="3000" spc="-10">
                <a:latin typeface="Calibri"/>
                <a:cs typeface="Calibri"/>
              </a:rPr>
              <a:t>c</a:t>
            </a:r>
            <a:r>
              <a:rPr dirty="0" sz="3000" spc="-40">
                <a:latin typeface="Calibri"/>
                <a:cs typeface="Calibri"/>
              </a:rPr>
              <a:t>r</a:t>
            </a:r>
            <a:r>
              <a:rPr dirty="0" sz="3000" spc="-10">
                <a:latin typeface="Calibri"/>
                <a:cs typeface="Calibri"/>
              </a:rPr>
              <a:t>e</a:t>
            </a:r>
            <a:r>
              <a:rPr dirty="0" sz="3000">
                <a:latin typeface="Calibri"/>
                <a:cs typeface="Calibri"/>
              </a:rPr>
              <a:t>ase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46577" y="2950972"/>
            <a:ext cx="2292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975">
                <a:solidFill>
                  <a:srgbClr val="CF5B1B"/>
                </a:solidFill>
                <a:latin typeface="Cambria Math"/>
                <a:cs typeface="Cambria Math"/>
              </a:rPr>
              <a:t>!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6464" y="3050539"/>
            <a:ext cx="635000" cy="0"/>
          </a:xfrm>
          <a:custGeom>
            <a:avLst/>
            <a:gdLst/>
            <a:ahLst/>
            <a:cxnLst/>
            <a:rect l="l" t="t" r="r" b="b"/>
            <a:pathLst>
              <a:path w="635000" h="0">
                <a:moveTo>
                  <a:pt x="0" y="0"/>
                </a:moveTo>
                <a:lnTo>
                  <a:pt x="635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17364" y="3050539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 h="0">
                <a:moveTo>
                  <a:pt x="0" y="0"/>
                </a:moveTo>
                <a:lnTo>
                  <a:pt x="6477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57701" y="3026155"/>
            <a:ext cx="14992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4710" algn="l"/>
              </a:tabLst>
            </a:pPr>
            <a:r>
              <a:rPr dirty="0" sz="3000" spc="65">
                <a:latin typeface="Cambria Math"/>
                <a:cs typeface="Cambria Math"/>
              </a:rPr>
              <a:t>𝜕</a:t>
            </a:r>
            <a:r>
              <a:rPr dirty="0" sz="3000" spc="-70">
                <a:latin typeface="Cambria Math"/>
                <a:cs typeface="Cambria Math"/>
              </a:rPr>
              <a:t>Θ</a:t>
            </a:r>
            <a:r>
              <a:rPr dirty="0" baseline="-15151" sz="3300" spc="75">
                <a:latin typeface="Cambria Math"/>
                <a:cs typeface="Cambria Math"/>
              </a:rPr>
              <a:t>0</a:t>
            </a:r>
            <a:r>
              <a:rPr dirty="0" baseline="-15151" sz="3300">
                <a:latin typeface="Cambria Math"/>
                <a:cs typeface="Cambria Math"/>
              </a:rPr>
              <a:t>	</a:t>
            </a:r>
            <a:r>
              <a:rPr dirty="0" sz="3000" spc="65">
                <a:latin typeface="Cambria Math"/>
                <a:cs typeface="Cambria Math"/>
              </a:rPr>
              <a:t>𝜕</a:t>
            </a:r>
            <a:r>
              <a:rPr dirty="0" sz="3000">
                <a:latin typeface="Cambria Math"/>
                <a:cs typeface="Cambria Math"/>
              </a:rPr>
              <a:t>Θ</a:t>
            </a:r>
            <a:r>
              <a:rPr dirty="0" baseline="-15151" sz="3300" spc="1125">
                <a:latin typeface="Cambria Math"/>
                <a:cs typeface="Cambria Math"/>
              </a:rPr>
              <a:t>'</a:t>
            </a:r>
            <a:endParaRPr baseline="-15151" sz="3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9565" y="2770123"/>
            <a:ext cx="35642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8470" algn="l"/>
                <a:tab pos="2051050" algn="l"/>
                <a:tab pos="2291080" algn="l"/>
                <a:tab pos="2902585" algn="l"/>
              </a:tabLst>
            </a:pPr>
            <a:r>
              <a:rPr dirty="0" sz="3000">
                <a:latin typeface="Cambria Math"/>
                <a:cs typeface="Cambria Math"/>
              </a:rPr>
              <a:t>∇	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ℒ  </a:t>
            </a:r>
            <a:r>
              <a:rPr dirty="0" sz="3000">
                <a:latin typeface="Cambria Math"/>
                <a:cs typeface="Cambria Math"/>
              </a:rPr>
              <a:t>=</a:t>
            </a:r>
            <a:r>
              <a:rPr dirty="0" sz="3000" spc="-229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(</a:t>
            </a:r>
            <a:r>
              <a:rPr dirty="0" sz="3000" spc="75">
                <a:latin typeface="Cambria Math"/>
                <a:cs typeface="Cambria Math"/>
              </a:rPr>
              <a:t> </a:t>
            </a:r>
            <a:r>
              <a:rPr dirty="0" baseline="41666" sz="4500" spc="-7">
                <a:latin typeface="Cambria Math"/>
                <a:cs typeface="Cambria Math"/>
              </a:rPr>
              <a:t>𝜕ℒ	</a:t>
            </a:r>
            <a:r>
              <a:rPr dirty="0" sz="3000">
                <a:latin typeface="Cambria Math"/>
                <a:cs typeface="Cambria Math"/>
              </a:rPr>
              <a:t>,	</a:t>
            </a:r>
            <a:r>
              <a:rPr dirty="0" baseline="41666" sz="4500" spc="-7">
                <a:latin typeface="Cambria Math"/>
                <a:cs typeface="Cambria Math"/>
              </a:rPr>
              <a:t>𝜕ℒ	</a:t>
            </a:r>
            <a:r>
              <a:rPr dirty="0" sz="3000">
                <a:latin typeface="Cambria Math"/>
                <a:cs typeface="Cambria Math"/>
              </a:rPr>
              <a:t>, …</a:t>
            </a:r>
            <a:r>
              <a:rPr dirty="0" sz="3000" spc="-434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563" y="3887723"/>
            <a:ext cx="40036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25">
                <a:latin typeface="Cambria Math"/>
                <a:cs typeface="Cambria Math"/>
              </a:rPr>
              <a:t>Θ</a:t>
            </a:r>
            <a:r>
              <a:rPr dirty="0" baseline="-16081" sz="2850" spc="-37">
                <a:latin typeface="Cambria Math"/>
                <a:cs typeface="Cambria Math"/>
              </a:rPr>
              <a:t>#</a:t>
            </a:r>
            <a:r>
              <a:rPr dirty="0" sz="2600" spc="-25">
                <a:latin typeface="Cambria Math"/>
                <a:cs typeface="Cambria Math"/>
              </a:rPr>
              <a:t>, </a:t>
            </a:r>
            <a:r>
              <a:rPr dirty="0" sz="2600" spc="-300">
                <a:latin typeface="Cambria Math"/>
                <a:cs typeface="Cambria Math"/>
              </a:rPr>
              <a:t>Θ</a:t>
            </a:r>
            <a:r>
              <a:rPr dirty="0" baseline="-16081" sz="2850" spc="-450">
                <a:latin typeface="Cambria Math"/>
                <a:cs typeface="Cambria Math"/>
              </a:rPr>
              <a:t>%   </a:t>
            </a:r>
            <a:r>
              <a:rPr dirty="0" sz="2600">
                <a:latin typeface="Cambria Math"/>
                <a:cs typeface="Cambria Math"/>
              </a:rPr>
              <a:t>… </a:t>
            </a:r>
            <a:r>
              <a:rPr dirty="0" sz="2600">
                <a:latin typeface="Calibri"/>
                <a:cs typeface="Calibri"/>
              </a:rPr>
              <a:t>: </a:t>
            </a:r>
            <a:r>
              <a:rPr dirty="0" sz="2600" spc="-10">
                <a:latin typeface="Calibri"/>
                <a:cs typeface="Calibri"/>
              </a:rPr>
              <a:t>components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325">
                <a:solidFill>
                  <a:srgbClr val="CF5B1B"/>
                </a:solidFill>
                <a:latin typeface="Cambria Math"/>
                <a:cs typeface="Cambria Math"/>
              </a:rPr>
              <a:t>Θ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108" y="4230115"/>
            <a:ext cx="7862570" cy="2540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454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>
                <a:latin typeface="Calibri"/>
                <a:cs typeface="Calibri"/>
              </a:rPr>
              <a:t>Recall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directional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derivative</a:t>
            </a:r>
            <a:endParaRPr sz="3000">
              <a:latin typeface="Calibri"/>
              <a:cs typeface="Calibri"/>
            </a:endParaRPr>
          </a:p>
          <a:p>
            <a:pPr marL="332740" marR="5080">
              <a:lnSpc>
                <a:spcPct val="90300"/>
              </a:lnSpc>
              <a:spcBef>
                <a:spcPts val="204"/>
              </a:spcBef>
            </a:pPr>
            <a:r>
              <a:rPr dirty="0" sz="3000">
                <a:latin typeface="Calibri"/>
                <a:cs typeface="Calibri"/>
              </a:rPr>
              <a:t>of a </a:t>
            </a:r>
            <a:r>
              <a:rPr dirty="0" sz="3000" spc="-10">
                <a:latin typeface="Calibri"/>
                <a:cs typeface="Calibri"/>
              </a:rPr>
              <a:t>multi-variable </a:t>
            </a:r>
            <a:r>
              <a:rPr dirty="0" sz="3000" spc="-5">
                <a:latin typeface="Calibri"/>
                <a:cs typeface="Calibri"/>
              </a:rPr>
              <a:t>function </a:t>
            </a:r>
            <a:r>
              <a:rPr dirty="0" sz="3000">
                <a:latin typeface="Calibri"/>
                <a:cs typeface="Calibri"/>
              </a:rPr>
              <a:t>(e.g. </a:t>
            </a:r>
            <a:r>
              <a:rPr dirty="0" sz="3000" spc="40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r>
              <a:rPr dirty="0" sz="3000" spc="40">
                <a:latin typeface="Calibri"/>
                <a:cs typeface="Calibri"/>
              </a:rPr>
              <a:t>) </a:t>
            </a:r>
            <a:r>
              <a:rPr dirty="0" sz="3000" spc="-5">
                <a:latin typeface="Calibri"/>
                <a:cs typeface="Calibri"/>
              </a:rPr>
              <a:t>along </a:t>
            </a:r>
            <a:r>
              <a:rPr dirty="0" sz="3000">
                <a:latin typeface="Calibri"/>
                <a:cs typeface="Calibri"/>
              </a:rPr>
              <a:t>a </a:t>
            </a:r>
            <a:r>
              <a:rPr dirty="0" sz="3000" spc="-10">
                <a:latin typeface="Calibri"/>
                <a:cs typeface="Calibri"/>
              </a:rPr>
              <a:t>given  </a:t>
            </a:r>
            <a:r>
              <a:rPr dirty="0" sz="3000" spc="-15">
                <a:latin typeface="Calibri"/>
                <a:cs typeface="Calibri"/>
              </a:rPr>
              <a:t>vector represents </a:t>
            </a:r>
            <a:r>
              <a:rPr dirty="0" sz="3000" spc="-5">
                <a:latin typeface="Calibri"/>
                <a:cs typeface="Calibri"/>
              </a:rPr>
              <a:t>the </a:t>
            </a:r>
            <a:r>
              <a:rPr dirty="0" sz="3000" spc="-15">
                <a:latin typeface="Calibri"/>
                <a:cs typeface="Calibri"/>
              </a:rPr>
              <a:t>instantaneous </a:t>
            </a:r>
            <a:r>
              <a:rPr dirty="0" sz="3000" spc="-35">
                <a:latin typeface="Calibri"/>
                <a:cs typeface="Calibri"/>
              </a:rPr>
              <a:t>rate </a:t>
            </a:r>
            <a:r>
              <a:rPr dirty="0" sz="3000">
                <a:latin typeface="Calibri"/>
                <a:cs typeface="Calibri"/>
              </a:rPr>
              <a:t>of  </a:t>
            </a:r>
            <a:r>
              <a:rPr dirty="0" sz="3000" spc="-10">
                <a:latin typeface="Calibri"/>
                <a:cs typeface="Calibri"/>
              </a:rPr>
              <a:t>change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the function along the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60">
                <a:latin typeface="Calibri"/>
                <a:cs typeface="Calibri"/>
              </a:rPr>
              <a:t>vector.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29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solidFill>
                  <a:srgbClr val="D60093"/>
                </a:solidFill>
                <a:latin typeface="Calibri"/>
                <a:cs typeface="Calibri"/>
              </a:rPr>
              <a:t>Gradient </a:t>
            </a:r>
            <a:r>
              <a:rPr dirty="0" sz="3000" spc="-5">
                <a:solidFill>
                  <a:srgbClr val="D60093"/>
                </a:solidFill>
                <a:latin typeface="Calibri"/>
                <a:cs typeface="Calibri"/>
              </a:rPr>
              <a:t>is the </a:t>
            </a:r>
            <a:r>
              <a:rPr dirty="0" sz="3000" spc="-10">
                <a:solidFill>
                  <a:srgbClr val="D60093"/>
                </a:solidFill>
                <a:latin typeface="Calibri"/>
                <a:cs typeface="Calibri"/>
              </a:rPr>
              <a:t>directional </a:t>
            </a:r>
            <a:r>
              <a:rPr dirty="0" sz="3000" spc="-15">
                <a:solidFill>
                  <a:srgbClr val="D60093"/>
                </a:solidFill>
                <a:latin typeface="Calibri"/>
                <a:cs typeface="Calibri"/>
              </a:rPr>
              <a:t>derivative </a:t>
            </a:r>
            <a:r>
              <a:rPr dirty="0" sz="3000" spc="-5">
                <a:solidFill>
                  <a:srgbClr val="D60093"/>
                </a:solidFill>
                <a:latin typeface="Calibri"/>
                <a:cs typeface="Calibri"/>
              </a:rPr>
              <a:t>in</a:t>
            </a:r>
            <a:r>
              <a:rPr dirty="0" sz="3000" spc="-55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5">
                <a:solidFill>
                  <a:srgbClr val="D60093"/>
                </a:solidFill>
                <a:latin typeface="Calibri"/>
                <a:cs typeface="Calibri"/>
              </a:rPr>
              <a:t>the</a:t>
            </a:r>
            <a:endParaRPr sz="3000">
              <a:latin typeface="Calibri"/>
              <a:cs typeface="Calibri"/>
            </a:endParaRPr>
          </a:p>
          <a:p>
            <a:pPr marL="332740">
              <a:lnSpc>
                <a:spcPts val="3395"/>
              </a:lnSpc>
            </a:pP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direction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of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largest</a:t>
            </a:r>
            <a:r>
              <a:rPr dirty="0" sz="3000" spc="-4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increase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02942" y="2402677"/>
            <a:ext cx="1744639" cy="1748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60608" y="4094988"/>
            <a:ext cx="28225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u="sng">
                <a:solidFill>
                  <a:srgbClr val="168BBA"/>
                </a:solidFill>
                <a:latin typeface="Corbel"/>
                <a:cs typeface="Corbel"/>
              </a:rPr>
              <a:t>https://en.wikipedia.org/wiki/Gradient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36777" y="2032507"/>
            <a:ext cx="2465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Partial</a:t>
            </a:r>
            <a:r>
              <a:rPr dirty="0" sz="2400" spc="-70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derivative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94454" y="2542035"/>
            <a:ext cx="385445" cy="434975"/>
          </a:xfrm>
          <a:custGeom>
            <a:avLst/>
            <a:gdLst/>
            <a:ahLst/>
            <a:cxnLst/>
            <a:rect l="l" t="t" r="r" b="b"/>
            <a:pathLst>
              <a:path w="385445" h="434975">
                <a:moveTo>
                  <a:pt x="32660" y="310852"/>
                </a:moveTo>
                <a:lnTo>
                  <a:pt x="0" y="434399"/>
                </a:lnTo>
                <a:lnTo>
                  <a:pt x="94180" y="396229"/>
                </a:lnTo>
                <a:lnTo>
                  <a:pt x="51570" y="396229"/>
                </a:lnTo>
                <a:lnTo>
                  <a:pt x="44327" y="395290"/>
                </a:lnTo>
                <a:lnTo>
                  <a:pt x="37773" y="391512"/>
                </a:lnTo>
                <a:lnTo>
                  <a:pt x="33199" y="385488"/>
                </a:lnTo>
                <a:lnTo>
                  <a:pt x="31353" y="378422"/>
                </a:lnTo>
                <a:lnTo>
                  <a:pt x="32292" y="371180"/>
                </a:lnTo>
                <a:lnTo>
                  <a:pt x="36069" y="364625"/>
                </a:lnTo>
                <a:lnTo>
                  <a:pt x="44463" y="355095"/>
                </a:lnTo>
                <a:lnTo>
                  <a:pt x="32660" y="310852"/>
                </a:lnTo>
                <a:close/>
              </a:path>
              <a:path w="385445" h="434975">
                <a:moveTo>
                  <a:pt x="44463" y="355095"/>
                </a:moveTo>
                <a:lnTo>
                  <a:pt x="36069" y="364625"/>
                </a:lnTo>
                <a:lnTo>
                  <a:pt x="32292" y="371180"/>
                </a:lnTo>
                <a:lnTo>
                  <a:pt x="31353" y="378422"/>
                </a:lnTo>
                <a:lnTo>
                  <a:pt x="33199" y="385488"/>
                </a:lnTo>
                <a:lnTo>
                  <a:pt x="37773" y="391512"/>
                </a:lnTo>
                <a:lnTo>
                  <a:pt x="44327" y="395290"/>
                </a:lnTo>
                <a:lnTo>
                  <a:pt x="51570" y="396229"/>
                </a:lnTo>
                <a:lnTo>
                  <a:pt x="58636" y="394383"/>
                </a:lnTo>
                <a:lnTo>
                  <a:pt x="64660" y="389808"/>
                </a:lnTo>
                <a:lnTo>
                  <a:pt x="73054" y="380278"/>
                </a:lnTo>
                <a:lnTo>
                  <a:pt x="50365" y="377217"/>
                </a:lnTo>
                <a:lnTo>
                  <a:pt x="44463" y="355095"/>
                </a:lnTo>
                <a:close/>
              </a:path>
              <a:path w="385445" h="434975">
                <a:moveTo>
                  <a:pt x="73054" y="380278"/>
                </a:moveTo>
                <a:lnTo>
                  <a:pt x="64660" y="389808"/>
                </a:lnTo>
                <a:lnTo>
                  <a:pt x="58636" y="394383"/>
                </a:lnTo>
                <a:lnTo>
                  <a:pt x="51570" y="396229"/>
                </a:lnTo>
                <a:lnTo>
                  <a:pt x="94180" y="396229"/>
                </a:lnTo>
                <a:lnTo>
                  <a:pt x="118433" y="386399"/>
                </a:lnTo>
                <a:lnTo>
                  <a:pt x="73054" y="380278"/>
                </a:lnTo>
                <a:close/>
              </a:path>
              <a:path w="385445" h="434975">
                <a:moveTo>
                  <a:pt x="364657" y="0"/>
                </a:moveTo>
                <a:lnTo>
                  <a:pt x="357591" y="1845"/>
                </a:lnTo>
                <a:lnTo>
                  <a:pt x="351566" y="6420"/>
                </a:lnTo>
                <a:lnTo>
                  <a:pt x="44463" y="355095"/>
                </a:lnTo>
                <a:lnTo>
                  <a:pt x="50365" y="377217"/>
                </a:lnTo>
                <a:lnTo>
                  <a:pt x="73054" y="380278"/>
                </a:lnTo>
                <a:lnTo>
                  <a:pt x="380157" y="31602"/>
                </a:lnTo>
                <a:lnTo>
                  <a:pt x="383935" y="25048"/>
                </a:lnTo>
                <a:lnTo>
                  <a:pt x="384874" y="17806"/>
                </a:lnTo>
                <a:lnTo>
                  <a:pt x="383028" y="10740"/>
                </a:lnTo>
                <a:lnTo>
                  <a:pt x="378453" y="4716"/>
                </a:lnTo>
                <a:lnTo>
                  <a:pt x="371899" y="938"/>
                </a:lnTo>
                <a:lnTo>
                  <a:pt x="36465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26720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1655"/>
            <a:ext cx="7757159" cy="802640"/>
          </a:xfrm>
          <a:prstGeom prst="rect"/>
        </p:spPr>
        <p:txBody>
          <a:bodyPr wrap="square" lIns="0" tIns="62865" rIns="0" bIns="0" rtlCol="0" vert="horz">
            <a:spAutoFit/>
          </a:bodyPr>
          <a:lstStyle/>
          <a:p>
            <a:pPr marL="332740" marR="5080" indent="-320040">
              <a:lnSpc>
                <a:spcPts val="2880"/>
              </a:lnSpc>
              <a:spcBef>
                <a:spcPts val="495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0" b="1">
                <a:latin typeface="Calibri"/>
                <a:cs typeface="Calibri"/>
              </a:rPr>
              <a:t>Iterative </a:t>
            </a:r>
            <a:r>
              <a:rPr dirty="0" sz="2700" spc="-5" b="1">
                <a:latin typeface="Calibri"/>
                <a:cs typeface="Calibri"/>
              </a:rPr>
              <a:t>algorithm: </a:t>
            </a:r>
            <a:r>
              <a:rPr dirty="0" sz="2700" spc="-20"/>
              <a:t>repeatedly update </a:t>
            </a:r>
            <a:r>
              <a:rPr dirty="0" sz="2700" spc="-15"/>
              <a:t>weights </a:t>
            </a:r>
            <a:r>
              <a:rPr dirty="0" sz="2700"/>
              <a:t>in </a:t>
            </a:r>
            <a:r>
              <a:rPr dirty="0" sz="2700" spc="-10"/>
              <a:t>the  (opposite) direction </a:t>
            </a:r>
            <a:r>
              <a:rPr dirty="0" sz="2700"/>
              <a:t>of </a:t>
            </a:r>
            <a:r>
              <a:rPr dirty="0" sz="2700" spc="-15"/>
              <a:t>gradients until</a:t>
            </a:r>
            <a:r>
              <a:rPr dirty="0" sz="2700" spc="-5"/>
              <a:t> </a:t>
            </a:r>
            <a:r>
              <a:rPr dirty="0" sz="2700" spc="-20"/>
              <a:t>convergence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87790"/>
            <a:ext cx="5092065" cy="877569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09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5" b="1">
                <a:latin typeface="Calibri"/>
                <a:cs typeface="Calibri"/>
              </a:rPr>
              <a:t>Training: </a:t>
            </a:r>
            <a:r>
              <a:rPr dirty="0" sz="2700" spc="-15">
                <a:latin typeface="Calibri"/>
                <a:cs typeface="Calibri"/>
              </a:rPr>
              <a:t>Optimize </a:t>
            </a:r>
            <a:r>
              <a:rPr dirty="0" sz="2700">
                <a:solidFill>
                  <a:srgbClr val="CF5B1B"/>
                </a:solidFill>
                <a:latin typeface="Cambria Math"/>
                <a:cs typeface="Cambria Math"/>
              </a:rPr>
              <a:t>Θ</a:t>
            </a:r>
            <a:r>
              <a:rPr dirty="0" sz="2700" spc="55">
                <a:solidFill>
                  <a:srgbClr val="CF5B1B"/>
                </a:solidFill>
                <a:latin typeface="Cambria Math"/>
                <a:cs typeface="Cambria Math"/>
              </a:rPr>
              <a:t> </a:t>
            </a:r>
            <a:r>
              <a:rPr dirty="0" sz="2700" spc="-20">
                <a:latin typeface="Calibri"/>
                <a:cs typeface="Calibri"/>
              </a:rPr>
              <a:t>iteratively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Iteration</a:t>
            </a:r>
            <a:r>
              <a:rPr dirty="0" sz="2400" spc="-15">
                <a:latin typeface="Calibri"/>
                <a:cs typeface="Calibri"/>
              </a:rPr>
              <a:t>: </a:t>
            </a:r>
            <a:r>
              <a:rPr dirty="0" sz="2400">
                <a:latin typeface="Calibri"/>
                <a:cs typeface="Calibri"/>
              </a:rPr>
              <a:t>1 </a:t>
            </a:r>
            <a:r>
              <a:rPr dirty="0" sz="2400" spc="-15">
                <a:latin typeface="Calibri"/>
                <a:cs typeface="Calibri"/>
              </a:rPr>
              <a:t>step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5">
                <a:latin typeface="Calibri"/>
                <a:cs typeface="Calibri"/>
              </a:rPr>
              <a:t>gradient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70">
                <a:latin typeface="Calibri"/>
                <a:cs typeface="Calibri"/>
              </a:rPr>
              <a:t>descent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530790"/>
            <a:ext cx="7936865" cy="270637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09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solidFill>
                  <a:srgbClr val="0000FF"/>
                </a:solidFill>
                <a:latin typeface="Calibri"/>
                <a:cs typeface="Calibri"/>
              </a:rPr>
              <a:t>Learning </a:t>
            </a:r>
            <a:r>
              <a:rPr dirty="0" sz="2700" spc="-30" b="1">
                <a:solidFill>
                  <a:srgbClr val="0000FF"/>
                </a:solidFill>
                <a:latin typeface="Calibri"/>
                <a:cs typeface="Calibri"/>
              </a:rPr>
              <a:t>rate </a:t>
            </a:r>
            <a:r>
              <a:rPr dirty="0" sz="2700" spc="-5" b="1">
                <a:solidFill>
                  <a:srgbClr val="0000FF"/>
                </a:solidFill>
                <a:latin typeface="Calibri"/>
                <a:cs typeface="Calibri"/>
              </a:rPr>
              <a:t>(LR)</a:t>
            </a:r>
            <a:r>
              <a:rPr dirty="0" sz="2700" spc="-3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0000FF"/>
                </a:solidFill>
                <a:latin typeface="Cambria Math"/>
                <a:cs typeface="Cambria Math"/>
              </a:rPr>
              <a:t>𝜼</a:t>
            </a:r>
            <a:r>
              <a:rPr dirty="0" sz="2700" b="1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Hyperparameter that </a:t>
            </a:r>
            <a:r>
              <a:rPr dirty="0" sz="2400" spc="-15">
                <a:latin typeface="Calibri"/>
                <a:cs typeface="Calibri"/>
              </a:rPr>
              <a:t>controls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20">
                <a:latin typeface="Calibri"/>
                <a:cs typeface="Calibri"/>
              </a:rPr>
              <a:t>size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5">
                <a:latin typeface="Calibri"/>
                <a:cs typeface="Calibri"/>
              </a:rPr>
              <a:t>gradient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step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ts val="2695"/>
              </a:lnSpc>
              <a:spcBef>
                <a:spcPts val="3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Can </a:t>
            </a:r>
            <a:r>
              <a:rPr dirty="0" sz="2400" spc="-10">
                <a:latin typeface="Calibri"/>
                <a:cs typeface="Calibri"/>
              </a:rPr>
              <a:t>vary over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course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0">
                <a:latin typeface="Calibri"/>
                <a:cs typeface="Calibri"/>
              </a:rPr>
              <a:t>training </a:t>
            </a:r>
            <a:r>
              <a:rPr dirty="0" sz="2400" spc="-5">
                <a:latin typeface="Calibri"/>
                <a:cs typeface="Calibri"/>
              </a:rPr>
              <a:t>(LR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scheduling)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055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>
                <a:solidFill>
                  <a:srgbClr val="E66C7D"/>
                </a:solidFill>
                <a:latin typeface="Calibri"/>
                <a:cs typeface="Calibri"/>
              </a:rPr>
              <a:t>Ideal termination condition: </a:t>
            </a:r>
            <a:r>
              <a:rPr dirty="0" sz="2700" b="1">
                <a:latin typeface="Calibri"/>
                <a:cs typeface="Calibri"/>
              </a:rPr>
              <a:t>0</a:t>
            </a:r>
            <a:r>
              <a:rPr dirty="0" sz="2700" spc="25" b="1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gradient</a:t>
            </a:r>
            <a:endParaRPr sz="2700">
              <a:latin typeface="Calibri"/>
              <a:cs typeface="Calibri"/>
            </a:endParaRPr>
          </a:p>
          <a:p>
            <a:pPr lvl="1" marL="625475" marR="5080" indent="-274320">
              <a:lnSpc>
                <a:spcPct val="88700"/>
              </a:lnSpc>
              <a:spcBef>
                <a:spcPts val="6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practice,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0">
                <a:latin typeface="Calibri"/>
                <a:cs typeface="Calibri"/>
              </a:rPr>
              <a:t>stop </a:t>
            </a:r>
            <a:r>
              <a:rPr dirty="0" sz="2400" spc="-10">
                <a:latin typeface="Calibri"/>
                <a:cs typeface="Calibri"/>
              </a:rPr>
              <a:t>training </a:t>
            </a:r>
            <a:r>
              <a:rPr dirty="0" sz="2400" spc="-5">
                <a:latin typeface="Calibri"/>
                <a:cs typeface="Calibri"/>
              </a:rPr>
              <a:t>if it </a:t>
            </a:r>
            <a:r>
              <a:rPr dirty="0" sz="2400">
                <a:latin typeface="Calibri"/>
                <a:cs typeface="Calibri"/>
              </a:rPr>
              <a:t>no </a:t>
            </a:r>
            <a:r>
              <a:rPr dirty="0" sz="2400" spc="-10">
                <a:latin typeface="Calibri"/>
                <a:cs typeface="Calibri"/>
              </a:rPr>
              <a:t>longer </a:t>
            </a:r>
            <a:r>
              <a:rPr dirty="0" sz="2400" spc="-15">
                <a:latin typeface="Calibri"/>
                <a:cs typeface="Calibri"/>
              </a:rPr>
              <a:t>improves  </a:t>
            </a:r>
            <a:r>
              <a:rPr dirty="0" sz="2400" spc="-10">
                <a:latin typeface="Calibri"/>
                <a:cs typeface="Calibri"/>
              </a:rPr>
              <a:t>performance </a:t>
            </a:r>
            <a:r>
              <a:rPr dirty="0" sz="2400" spc="-5">
                <a:latin typeface="Calibri"/>
                <a:cs typeface="Calibri"/>
              </a:rPr>
              <a:t>on </a:t>
            </a:r>
            <a:r>
              <a:rPr dirty="0" sz="2400" spc="-10" b="1">
                <a:latin typeface="Calibri"/>
                <a:cs typeface="Calibri"/>
              </a:rPr>
              <a:t>validation </a:t>
            </a:r>
            <a:r>
              <a:rPr dirty="0" sz="2400" spc="-5" b="1">
                <a:latin typeface="Calibri"/>
                <a:cs typeface="Calibri"/>
              </a:rPr>
              <a:t>set </a:t>
            </a:r>
            <a:r>
              <a:rPr dirty="0" sz="2400" spc="-5">
                <a:latin typeface="Calibri"/>
                <a:cs typeface="Calibri"/>
              </a:rPr>
              <a:t>(part of </a:t>
            </a:r>
            <a:r>
              <a:rPr dirty="0" sz="2400" spc="-15">
                <a:latin typeface="Calibri"/>
                <a:cs typeface="Calibri"/>
              </a:rPr>
              <a:t>dataset we </a:t>
            </a:r>
            <a:r>
              <a:rPr dirty="0" sz="2400" spc="-5">
                <a:latin typeface="Calibri"/>
                <a:cs typeface="Calibri"/>
              </a:rPr>
              <a:t>hold out  </a:t>
            </a:r>
            <a:r>
              <a:rPr dirty="0" sz="2400" spc="-15">
                <a:latin typeface="Calibri"/>
                <a:cs typeface="Calibri"/>
              </a:rPr>
              <a:t>from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training)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841" y="2143251"/>
            <a:ext cx="21628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CF5B1B"/>
                </a:solidFill>
                <a:latin typeface="Cambria Math"/>
                <a:cs typeface="Cambria Math"/>
              </a:rPr>
              <a:t>Θ </a:t>
            </a:r>
            <a:r>
              <a:rPr dirty="0" sz="2600">
                <a:solidFill>
                  <a:srgbClr val="D60093"/>
                </a:solidFill>
                <a:latin typeface="Cambria Math"/>
                <a:cs typeface="Cambria Math"/>
              </a:rPr>
              <a:t>← </a:t>
            </a:r>
            <a:r>
              <a:rPr dirty="0" sz="2800">
                <a:solidFill>
                  <a:srgbClr val="CF5B1B"/>
                </a:solidFill>
                <a:latin typeface="Cambria Math"/>
                <a:cs typeface="Cambria Math"/>
              </a:rPr>
              <a:t>Θ </a:t>
            </a:r>
            <a:r>
              <a:rPr dirty="0" sz="2600">
                <a:solidFill>
                  <a:srgbClr val="D60093"/>
                </a:solidFill>
                <a:latin typeface="Cambria Math"/>
                <a:cs typeface="Cambria Math"/>
              </a:rPr>
              <a:t>−</a:t>
            </a:r>
            <a:r>
              <a:rPr dirty="0" sz="2600" spc="15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600" spc="229">
                <a:solidFill>
                  <a:srgbClr val="D60093"/>
                </a:solidFill>
                <a:latin typeface="Cambria Math"/>
                <a:cs typeface="Cambria Math"/>
              </a:rPr>
              <a:t>𝜂</a:t>
            </a:r>
            <a:r>
              <a:rPr dirty="0" sz="2800" spc="229">
                <a:latin typeface="Cambria Math"/>
                <a:cs typeface="Cambria Math"/>
              </a:rPr>
              <a:t>∇</a:t>
            </a:r>
            <a:r>
              <a:rPr dirty="0" baseline="-15277" sz="3000" spc="345">
                <a:solidFill>
                  <a:srgbClr val="CF5B1B"/>
                </a:solidFill>
                <a:latin typeface="Cambria Math"/>
                <a:cs typeface="Cambria Math"/>
              </a:rPr>
              <a:t>-</a:t>
            </a:r>
            <a:r>
              <a:rPr dirty="0" sz="2800" spc="229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8473440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6419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E66C7D"/>
                </a:solidFill>
                <a:latin typeface="Calibri"/>
                <a:cs typeface="Calibri"/>
              </a:rPr>
              <a:t>Problem </a:t>
            </a:r>
            <a:r>
              <a:rPr dirty="0" b="1">
                <a:solidFill>
                  <a:srgbClr val="E66C7D"/>
                </a:solidFill>
                <a:latin typeface="Calibri"/>
                <a:cs typeface="Calibri"/>
              </a:rPr>
              <a:t>with </a:t>
            </a:r>
            <a:r>
              <a:rPr dirty="0" spc="-20" b="1">
                <a:solidFill>
                  <a:srgbClr val="E66C7D"/>
                </a:solidFill>
                <a:latin typeface="Calibri"/>
                <a:cs typeface="Calibri"/>
              </a:rPr>
              <a:t>gradient</a:t>
            </a:r>
            <a:r>
              <a:rPr dirty="0" spc="-1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E66C7D"/>
                </a:solidFill>
                <a:latin typeface="Calibri"/>
                <a:cs typeface="Calibri"/>
              </a:rPr>
              <a:t>descent:</a:t>
            </a:r>
          </a:p>
        </p:txBody>
      </p:sp>
      <p:sp>
        <p:nvSpPr>
          <p:cNvPr id="4" name="object 4"/>
          <p:cNvSpPr/>
          <p:nvPr/>
        </p:nvSpPr>
        <p:spPr>
          <a:xfrm>
            <a:off x="7627694" y="2022273"/>
            <a:ext cx="437515" cy="329565"/>
          </a:xfrm>
          <a:custGeom>
            <a:avLst/>
            <a:gdLst/>
            <a:ahLst/>
            <a:cxnLst/>
            <a:rect l="l" t="t" r="r" b="b"/>
            <a:pathLst>
              <a:path w="437515" h="329564">
                <a:moveTo>
                  <a:pt x="332393" y="0"/>
                </a:moveTo>
                <a:lnTo>
                  <a:pt x="327705" y="13370"/>
                </a:lnTo>
                <a:lnTo>
                  <a:pt x="346772" y="21645"/>
                </a:lnTo>
                <a:lnTo>
                  <a:pt x="363169" y="33099"/>
                </a:lnTo>
                <a:lnTo>
                  <a:pt x="387955" y="65547"/>
                </a:lnTo>
                <a:lnTo>
                  <a:pt x="402541" y="109324"/>
                </a:lnTo>
                <a:lnTo>
                  <a:pt x="407403" y="163041"/>
                </a:lnTo>
                <a:lnTo>
                  <a:pt x="406182" y="192092"/>
                </a:lnTo>
                <a:lnTo>
                  <a:pt x="396415" y="242185"/>
                </a:lnTo>
                <a:lnTo>
                  <a:pt x="376816" y="281307"/>
                </a:lnTo>
                <a:lnTo>
                  <a:pt x="346995" y="307699"/>
                </a:lnTo>
                <a:lnTo>
                  <a:pt x="328226" y="316011"/>
                </a:lnTo>
                <a:lnTo>
                  <a:pt x="332393" y="329382"/>
                </a:lnTo>
                <a:lnTo>
                  <a:pt x="377320" y="308307"/>
                </a:lnTo>
                <a:lnTo>
                  <a:pt x="410354" y="271823"/>
                </a:lnTo>
                <a:lnTo>
                  <a:pt x="430669" y="222966"/>
                </a:lnTo>
                <a:lnTo>
                  <a:pt x="437441" y="164777"/>
                </a:lnTo>
                <a:lnTo>
                  <a:pt x="435743" y="134581"/>
                </a:lnTo>
                <a:lnTo>
                  <a:pt x="422156" y="81059"/>
                </a:lnTo>
                <a:lnTo>
                  <a:pt x="395210" y="37488"/>
                </a:lnTo>
                <a:lnTo>
                  <a:pt x="356273" y="8622"/>
                </a:lnTo>
                <a:lnTo>
                  <a:pt x="332393" y="0"/>
                </a:lnTo>
                <a:close/>
              </a:path>
              <a:path w="437515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920747"/>
            <a:ext cx="8343265" cy="39941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620395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7125334" algn="l"/>
                <a:tab pos="7477759" algn="l"/>
              </a:tabLst>
            </a:pPr>
            <a:r>
              <a:rPr dirty="0" sz="2800" spc="-5">
                <a:latin typeface="Calibri"/>
                <a:cs typeface="Calibri"/>
              </a:rPr>
              <a:t>E</a:t>
            </a:r>
            <a:r>
              <a:rPr dirty="0" sz="2800" spc="-55">
                <a:latin typeface="Calibri"/>
                <a:cs typeface="Calibri"/>
              </a:rPr>
              <a:t>x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ct </a:t>
            </a:r>
            <a:r>
              <a:rPr dirty="0" sz="2800" spc="-10">
                <a:latin typeface="Calibri"/>
                <a:cs typeface="Calibri"/>
              </a:rPr>
              <a:t>g</a:t>
            </a:r>
            <a:r>
              <a:rPr dirty="0" sz="2800" spc="-60">
                <a:latin typeface="Calibri"/>
                <a:cs typeface="Calibri"/>
              </a:rPr>
              <a:t>r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d</a:t>
            </a:r>
            <a:r>
              <a:rPr dirty="0" sz="2800" spc="-10">
                <a:latin typeface="Calibri"/>
                <a:cs typeface="Calibri"/>
              </a:rPr>
              <a:t>ie</a:t>
            </a:r>
            <a:r>
              <a:rPr dirty="0" sz="2800" spc="-25">
                <a:latin typeface="Calibri"/>
                <a:cs typeface="Calibri"/>
              </a:rPr>
              <a:t>n</a:t>
            </a:r>
            <a:r>
              <a:rPr dirty="0" sz="2800">
                <a:latin typeface="Calibri"/>
                <a:cs typeface="Calibri"/>
              </a:rPr>
              <a:t>t </a:t>
            </a:r>
            <a:r>
              <a:rPr dirty="0" sz="2800" spc="-40">
                <a:latin typeface="Calibri"/>
                <a:cs typeface="Calibri"/>
              </a:rPr>
              <a:t>r</a:t>
            </a:r>
            <a:r>
              <a:rPr dirty="0" sz="2800" spc="-10">
                <a:latin typeface="Calibri"/>
                <a:cs typeface="Calibri"/>
              </a:rPr>
              <a:t>e</a:t>
            </a:r>
            <a:r>
              <a:rPr dirty="0" sz="2800">
                <a:latin typeface="Calibri"/>
                <a:cs typeface="Calibri"/>
              </a:rPr>
              <a:t>qu</a:t>
            </a:r>
            <a:r>
              <a:rPr dirty="0" sz="2800" spc="-10">
                <a:latin typeface="Calibri"/>
                <a:cs typeface="Calibri"/>
              </a:rPr>
              <a:t>i</a:t>
            </a:r>
            <a:r>
              <a:rPr dirty="0" sz="2800" spc="-45">
                <a:latin typeface="Calibri"/>
                <a:cs typeface="Calibri"/>
              </a:rPr>
              <a:t>r</a:t>
            </a:r>
            <a:r>
              <a:rPr dirty="0" sz="2800" spc="-10">
                <a:latin typeface="Calibri"/>
                <a:cs typeface="Calibri"/>
              </a:rPr>
              <a:t>e</a:t>
            </a:r>
            <a:r>
              <a:rPr dirty="0" sz="2800">
                <a:latin typeface="Calibri"/>
                <a:cs typeface="Calibri"/>
              </a:rPr>
              <a:t>s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</a:t>
            </a:r>
            <a:r>
              <a:rPr dirty="0" sz="2800" spc="-5">
                <a:latin typeface="Calibri"/>
                <a:cs typeface="Calibri"/>
              </a:rPr>
              <a:t>o</a:t>
            </a:r>
            <a:r>
              <a:rPr dirty="0" sz="2800">
                <a:latin typeface="Calibri"/>
                <a:cs typeface="Calibri"/>
              </a:rPr>
              <a:t>mpu</a:t>
            </a:r>
            <a:r>
              <a:rPr dirty="0" sz="2800" spc="-5">
                <a:latin typeface="Calibri"/>
                <a:cs typeface="Calibri"/>
              </a:rPr>
              <a:t>t</a:t>
            </a:r>
            <a:r>
              <a:rPr dirty="0" sz="2800" spc="-10">
                <a:latin typeface="Calibri"/>
                <a:cs typeface="Calibri"/>
              </a:rPr>
              <a:t>i</a:t>
            </a:r>
            <a:r>
              <a:rPr dirty="0" sz="2800">
                <a:latin typeface="Calibri"/>
                <a:cs typeface="Calibri"/>
              </a:rPr>
              <a:t>ng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∇</a:t>
            </a:r>
            <a:r>
              <a:rPr dirty="0" baseline="-16666" sz="3000" spc="1327">
                <a:solidFill>
                  <a:srgbClr val="CF5B1B"/>
                </a:solidFill>
                <a:latin typeface="Cambria Math"/>
                <a:cs typeface="Cambria Math"/>
              </a:rPr>
              <a:t>-</a:t>
            </a:r>
            <a:r>
              <a:rPr dirty="0" sz="2800" spc="80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r>
              <a:rPr dirty="0" sz="2800">
                <a:latin typeface="Cambria Math"/>
                <a:cs typeface="Cambria Math"/>
              </a:rPr>
              <a:t>(𝒚,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𝑓	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2800">
                <a:latin typeface="Cambria Math"/>
                <a:cs typeface="Cambria Math"/>
              </a:rPr>
              <a:t>)</a:t>
            </a:r>
            <a:r>
              <a:rPr dirty="0" sz="2800">
                <a:latin typeface="Calibri"/>
                <a:cs typeface="Calibri"/>
              </a:rPr>
              <a:t>,  </a:t>
            </a: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𝒙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15" b="1">
                <a:latin typeface="Calibri"/>
                <a:cs typeface="Calibri"/>
              </a:rPr>
              <a:t>entire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dataset!</a:t>
            </a:r>
            <a:endParaRPr sz="2800">
              <a:latin typeface="Calibri"/>
              <a:cs typeface="Calibri"/>
            </a:endParaRPr>
          </a:p>
          <a:p>
            <a:pPr lvl="1" marL="890905" marR="572135" indent="-228600">
              <a:lnSpc>
                <a:spcPts val="2810"/>
              </a:lnSpc>
              <a:spcBef>
                <a:spcPts val="79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This means summing </a:t>
            </a:r>
            <a:r>
              <a:rPr dirty="0" sz="2400" spc="-15">
                <a:latin typeface="Calibri"/>
                <a:cs typeface="Calibri"/>
              </a:rPr>
              <a:t>gradient </a:t>
            </a:r>
            <a:r>
              <a:rPr dirty="0" sz="2400" spc="-10">
                <a:latin typeface="Calibri"/>
                <a:cs typeface="Calibri"/>
              </a:rPr>
              <a:t>contributions over </a:t>
            </a:r>
            <a:r>
              <a:rPr dirty="0" sz="2400" spc="-5">
                <a:latin typeface="Calibri"/>
                <a:cs typeface="Calibri"/>
              </a:rPr>
              <a:t>all </a:t>
            </a:r>
            <a:r>
              <a:rPr dirty="0" sz="2400" spc="-114">
                <a:latin typeface="Calibri"/>
                <a:cs typeface="Calibri"/>
              </a:rPr>
              <a:t>the  </a:t>
            </a:r>
            <a:r>
              <a:rPr dirty="0" sz="2400" spc="-10">
                <a:latin typeface="Calibri"/>
                <a:cs typeface="Calibri"/>
              </a:rPr>
              <a:t>points </a:t>
            </a:r>
            <a:r>
              <a:rPr dirty="0" sz="2400" spc="-5">
                <a:latin typeface="Calibri"/>
                <a:cs typeface="Calibri"/>
              </a:rPr>
              <a:t>in 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Modern </a:t>
            </a:r>
            <a:r>
              <a:rPr dirty="0" sz="2400" spc="-10">
                <a:latin typeface="Calibri"/>
                <a:cs typeface="Calibri"/>
              </a:rPr>
              <a:t>datasets often </a:t>
            </a:r>
            <a:r>
              <a:rPr dirty="0" sz="2400" spc="-15">
                <a:latin typeface="Calibri"/>
                <a:cs typeface="Calibri"/>
              </a:rPr>
              <a:t>contain </a:t>
            </a:r>
            <a:r>
              <a:rPr dirty="0" sz="2400" spc="-5">
                <a:latin typeface="Calibri"/>
                <a:cs typeface="Calibri"/>
              </a:rPr>
              <a:t>billions of </a:t>
            </a:r>
            <a:r>
              <a:rPr dirty="0" sz="2400" spc="-15">
                <a:latin typeface="Calibri"/>
                <a:cs typeface="Calibri"/>
              </a:rPr>
              <a:t>data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points</a:t>
            </a:r>
            <a:endParaRPr sz="24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Extremely expensive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10">
                <a:latin typeface="Calibri"/>
                <a:cs typeface="Calibri"/>
              </a:rPr>
              <a:t>every </a:t>
            </a:r>
            <a:r>
              <a:rPr dirty="0" sz="2400" spc="-15">
                <a:latin typeface="Calibri"/>
                <a:cs typeface="Calibri"/>
              </a:rPr>
              <a:t>gradient </a:t>
            </a:r>
            <a:r>
              <a:rPr dirty="0" sz="2400" spc="-5">
                <a:latin typeface="Calibri"/>
                <a:cs typeface="Calibri"/>
              </a:rPr>
              <a:t>descent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step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Solution: </a:t>
            </a:r>
            <a:r>
              <a:rPr dirty="0" sz="3200" spc="-10" b="1">
                <a:solidFill>
                  <a:srgbClr val="6BB76D"/>
                </a:solidFill>
                <a:latin typeface="Calibri"/>
                <a:cs typeface="Calibri"/>
              </a:rPr>
              <a:t>Stochastic </a:t>
            </a:r>
            <a:r>
              <a:rPr dirty="0" sz="3200" spc="-20" b="1">
                <a:solidFill>
                  <a:srgbClr val="6BB76D"/>
                </a:solidFill>
                <a:latin typeface="Calibri"/>
                <a:cs typeface="Calibri"/>
              </a:rPr>
              <a:t>gradient </a:t>
            </a:r>
            <a:r>
              <a:rPr dirty="0" sz="3200" spc="-10" b="1">
                <a:solidFill>
                  <a:srgbClr val="6BB76D"/>
                </a:solidFill>
                <a:latin typeface="Calibri"/>
                <a:cs typeface="Calibri"/>
              </a:rPr>
              <a:t>descent</a:t>
            </a:r>
            <a:r>
              <a:rPr dirty="0" sz="3200" spc="5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(SGD)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699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5">
                <a:latin typeface="Calibri"/>
                <a:cs typeface="Calibri"/>
              </a:rPr>
              <a:t>At </a:t>
            </a:r>
            <a:r>
              <a:rPr dirty="0" sz="2800" spc="-15">
                <a:latin typeface="Calibri"/>
                <a:cs typeface="Calibri"/>
              </a:rPr>
              <a:t>every step, </a:t>
            </a:r>
            <a:r>
              <a:rPr dirty="0" sz="2800" spc="-5">
                <a:latin typeface="Calibri"/>
                <a:cs typeface="Calibri"/>
              </a:rPr>
              <a:t>pick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minibatch </a:t>
            </a:r>
            <a:r>
              <a:rPr dirty="0" sz="2800">
                <a:latin typeface="Cambria Math"/>
                <a:cs typeface="Cambria Math"/>
              </a:rPr>
              <a:t>𝓑 </a:t>
            </a:r>
            <a:r>
              <a:rPr dirty="0" sz="2800" spc="-65">
                <a:latin typeface="Calibri"/>
                <a:cs typeface="Calibri"/>
              </a:rPr>
              <a:t>containing 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subset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5">
                <a:latin typeface="Calibri"/>
                <a:cs typeface="Calibri"/>
              </a:rPr>
              <a:t>dataset,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5">
                <a:latin typeface="Calibri"/>
                <a:cs typeface="Calibri"/>
              </a:rPr>
              <a:t>it as input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62712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18999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Co</a:t>
            </a:r>
            <a:r>
              <a:rPr dirty="0" sz="3000" b="1">
                <a:latin typeface="Calibri"/>
                <a:cs typeface="Calibri"/>
              </a:rPr>
              <a:t>n</a:t>
            </a:r>
            <a:r>
              <a:rPr dirty="0" sz="3000" spc="-5" b="1">
                <a:latin typeface="Calibri"/>
                <a:cs typeface="Calibri"/>
              </a:rPr>
              <a:t>c</a:t>
            </a:r>
            <a:r>
              <a:rPr dirty="0" sz="3000" b="1">
                <a:latin typeface="Calibri"/>
                <a:cs typeface="Calibri"/>
              </a:rPr>
              <a:t>e</a:t>
            </a:r>
            <a:r>
              <a:rPr dirty="0" sz="3000" spc="-15" b="1">
                <a:latin typeface="Calibri"/>
                <a:cs typeface="Calibri"/>
              </a:rPr>
              <a:t>p</a:t>
            </a:r>
            <a:r>
              <a:rPr dirty="0" sz="3000" spc="-5" b="1">
                <a:latin typeface="Calibri"/>
                <a:cs typeface="Calibri"/>
              </a:rPr>
              <a:t>t</a:t>
            </a:r>
            <a:r>
              <a:rPr dirty="0" sz="3000" b="1">
                <a:latin typeface="Calibri"/>
                <a:cs typeface="Calibri"/>
              </a:rPr>
              <a:t>s: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63914"/>
            <a:ext cx="7707630" cy="460311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Batch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size</a:t>
            </a:r>
            <a:r>
              <a:rPr dirty="0" sz="2600" spc="-10">
                <a:latin typeface="Calibri"/>
                <a:cs typeface="Calibri"/>
              </a:rPr>
              <a:t>: </a:t>
            </a:r>
            <a:r>
              <a:rPr dirty="0" sz="2600" spc="-5">
                <a:latin typeface="Calibri"/>
                <a:cs typeface="Calibri"/>
              </a:rPr>
              <a:t>the number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15">
                <a:latin typeface="Calibri"/>
                <a:cs typeface="Calibri"/>
              </a:rPr>
              <a:t>data </a:t>
            </a:r>
            <a:r>
              <a:rPr dirty="0" sz="2600" spc="-10">
                <a:latin typeface="Calibri"/>
                <a:cs typeface="Calibri"/>
              </a:rPr>
              <a:t>points </a:t>
            </a:r>
            <a:r>
              <a:rPr dirty="0" sz="2600">
                <a:latin typeface="Calibri"/>
                <a:cs typeface="Calibri"/>
              </a:rPr>
              <a:t>in a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minibatch</a:t>
            </a:r>
            <a:endParaRPr sz="2600">
              <a:latin typeface="Calibri"/>
              <a:cs typeface="Calibri"/>
            </a:endParaRPr>
          </a:p>
          <a:p>
            <a:pPr lvl="1" marL="890905" marR="662940" indent="-228600">
              <a:lnSpc>
                <a:spcPct val="100000"/>
              </a:lnSpc>
              <a:spcBef>
                <a:spcPts val="28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>
                <a:latin typeface="Calibri"/>
                <a:cs typeface="Calibri"/>
              </a:rPr>
              <a:t>E.g. </a:t>
            </a:r>
            <a:r>
              <a:rPr dirty="0" sz="2200" spc="-5">
                <a:latin typeface="Calibri"/>
                <a:cs typeface="Calibri"/>
              </a:rPr>
              <a:t>number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5">
                <a:latin typeface="Calibri"/>
                <a:cs typeface="Calibri"/>
              </a:rPr>
              <a:t>nodes </a:t>
            </a:r>
            <a:r>
              <a:rPr dirty="0" sz="2200" spc="-15">
                <a:latin typeface="Calibri"/>
                <a:cs typeface="Calibri"/>
              </a:rPr>
              <a:t>for </a:t>
            </a:r>
            <a:r>
              <a:rPr dirty="0" sz="2200" spc="-5">
                <a:latin typeface="Calibri"/>
                <a:cs typeface="Calibri"/>
              </a:rPr>
              <a:t>node </a:t>
            </a:r>
            <a:r>
              <a:rPr dirty="0" sz="2200" spc="-10">
                <a:latin typeface="Calibri"/>
                <a:cs typeface="Calibri"/>
              </a:rPr>
              <a:t>classification</a:t>
            </a:r>
            <a:r>
              <a:rPr dirty="0" sz="2200" spc="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task</a:t>
            </a:r>
            <a:endParaRPr sz="22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2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Iteration</a:t>
            </a:r>
            <a:r>
              <a:rPr dirty="0" sz="2600" spc="-15">
                <a:latin typeface="Calibri"/>
                <a:cs typeface="Calibri"/>
              </a:rPr>
              <a:t>: </a:t>
            </a:r>
            <a:r>
              <a:rPr dirty="0" sz="2600">
                <a:latin typeface="Calibri"/>
                <a:cs typeface="Calibri"/>
              </a:rPr>
              <a:t>1 </a:t>
            </a:r>
            <a:r>
              <a:rPr dirty="0" sz="2600" spc="-20">
                <a:latin typeface="Calibri"/>
                <a:cs typeface="Calibri"/>
              </a:rPr>
              <a:t>step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SGD </a:t>
            </a:r>
            <a:r>
              <a:rPr dirty="0" sz="2600">
                <a:latin typeface="Calibri"/>
                <a:cs typeface="Calibri"/>
              </a:rPr>
              <a:t>on 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minibatch</a:t>
            </a:r>
            <a:endParaRPr sz="2600">
              <a:latin typeface="Calibri"/>
              <a:cs typeface="Calibri"/>
            </a:endParaRPr>
          </a:p>
          <a:p>
            <a:pPr marL="625475" marR="167640" indent="-274320">
              <a:lnSpc>
                <a:spcPts val="2810"/>
              </a:lnSpc>
              <a:spcBef>
                <a:spcPts val="7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Epoch</a:t>
            </a:r>
            <a:r>
              <a:rPr dirty="0" sz="2600" spc="-5">
                <a:latin typeface="Calibri"/>
                <a:cs typeface="Calibri"/>
              </a:rPr>
              <a:t>: one full pass </a:t>
            </a:r>
            <a:r>
              <a:rPr dirty="0" sz="2600" spc="-15">
                <a:latin typeface="Calibri"/>
                <a:cs typeface="Calibri"/>
              </a:rPr>
              <a:t>over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dataset </a:t>
            </a:r>
            <a:r>
              <a:rPr dirty="0" sz="2600" spc="-5">
                <a:latin typeface="Calibri"/>
                <a:cs typeface="Calibri"/>
              </a:rPr>
              <a:t>(# </a:t>
            </a:r>
            <a:r>
              <a:rPr dirty="0" sz="2600" spc="-15">
                <a:latin typeface="Calibri"/>
                <a:cs typeface="Calibri"/>
              </a:rPr>
              <a:t>iterations </a:t>
            </a:r>
            <a:r>
              <a:rPr dirty="0" sz="2600" spc="-525">
                <a:latin typeface="Calibri"/>
                <a:cs typeface="Calibri"/>
              </a:rPr>
              <a:t>is  </a:t>
            </a:r>
            <a:r>
              <a:rPr dirty="0" sz="2600" spc="-5">
                <a:latin typeface="Calibri"/>
                <a:cs typeface="Calibri"/>
              </a:rPr>
              <a:t>equal </a:t>
            </a:r>
            <a:r>
              <a:rPr dirty="0" sz="2600" spc="-15">
                <a:latin typeface="Calibri"/>
                <a:cs typeface="Calibri"/>
              </a:rPr>
              <a:t>to ratio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15">
                <a:latin typeface="Calibri"/>
                <a:cs typeface="Calibri"/>
              </a:rPr>
              <a:t>dataset </a:t>
            </a:r>
            <a:r>
              <a:rPr dirty="0" sz="2600" spc="-20">
                <a:latin typeface="Calibri"/>
                <a:cs typeface="Calibri"/>
              </a:rPr>
              <a:t>size 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spc="-15">
                <a:latin typeface="Calibri"/>
                <a:cs typeface="Calibri"/>
              </a:rPr>
              <a:t>batch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size)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72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6BB76D"/>
                </a:solidFill>
                <a:latin typeface="Calibri"/>
                <a:cs typeface="Calibri"/>
              </a:rPr>
              <a:t>SGD is unbiased </a:t>
            </a:r>
            <a:r>
              <a:rPr dirty="0" sz="3000" spc="-15">
                <a:solidFill>
                  <a:srgbClr val="6BB76D"/>
                </a:solidFill>
                <a:latin typeface="Calibri"/>
                <a:cs typeface="Calibri"/>
              </a:rPr>
              <a:t>estimator </a:t>
            </a:r>
            <a:r>
              <a:rPr dirty="0" sz="3000">
                <a:solidFill>
                  <a:srgbClr val="6BB76D"/>
                </a:solidFill>
                <a:latin typeface="Calibri"/>
                <a:cs typeface="Calibri"/>
              </a:rPr>
              <a:t>of </a:t>
            </a:r>
            <a:r>
              <a:rPr dirty="0" sz="3000" spc="-5">
                <a:solidFill>
                  <a:srgbClr val="6BB76D"/>
                </a:solidFill>
                <a:latin typeface="Calibri"/>
                <a:cs typeface="Calibri"/>
              </a:rPr>
              <a:t>full</a:t>
            </a:r>
            <a:r>
              <a:rPr dirty="0" sz="3000" spc="-30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3000" spc="-15">
                <a:solidFill>
                  <a:srgbClr val="6BB76D"/>
                </a:solidFill>
                <a:latin typeface="Calibri"/>
                <a:cs typeface="Calibri"/>
              </a:rPr>
              <a:t>gradient: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But </a:t>
            </a:r>
            <a:r>
              <a:rPr dirty="0" sz="2600" spc="-10">
                <a:latin typeface="Calibri"/>
                <a:cs typeface="Calibri"/>
              </a:rPr>
              <a:t>there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no </a:t>
            </a:r>
            <a:r>
              <a:rPr dirty="0" sz="2600" spc="-15">
                <a:latin typeface="Calibri"/>
                <a:cs typeface="Calibri"/>
              </a:rPr>
              <a:t>guarantee </a:t>
            </a:r>
            <a:r>
              <a:rPr dirty="0" sz="2600">
                <a:latin typeface="Calibri"/>
                <a:cs typeface="Calibri"/>
              </a:rPr>
              <a:t>on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25">
                <a:latin typeface="Calibri"/>
                <a:cs typeface="Calibri"/>
              </a:rPr>
              <a:t>rate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 spc="-60">
                <a:latin typeface="Calibri"/>
                <a:cs typeface="Calibri"/>
              </a:rPr>
              <a:t>convergence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2910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In </a:t>
            </a:r>
            <a:r>
              <a:rPr dirty="0" sz="2600" spc="-10">
                <a:latin typeface="Calibri"/>
                <a:cs typeface="Calibri"/>
              </a:rPr>
              <a:t>practice often </a:t>
            </a:r>
            <a:r>
              <a:rPr dirty="0" sz="2600" spc="-15">
                <a:latin typeface="Calibri"/>
                <a:cs typeface="Calibri"/>
              </a:rPr>
              <a:t>requires </a:t>
            </a:r>
            <a:r>
              <a:rPr dirty="0" sz="2600" spc="-5">
                <a:latin typeface="Calibri"/>
                <a:cs typeface="Calibri"/>
              </a:rPr>
              <a:t>tuning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learning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rate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3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libri"/>
                <a:cs typeface="Calibri"/>
              </a:rPr>
              <a:t>Common </a:t>
            </a:r>
            <a:r>
              <a:rPr dirty="0" sz="3000" spc="-15">
                <a:latin typeface="Calibri"/>
                <a:cs typeface="Calibri"/>
              </a:rPr>
              <a:t>optimizer </a:t>
            </a:r>
            <a:r>
              <a:rPr dirty="0" sz="3000" spc="-10">
                <a:latin typeface="Calibri"/>
                <a:cs typeface="Calibri"/>
              </a:rPr>
              <a:t>that </a:t>
            </a:r>
            <a:r>
              <a:rPr dirty="0" sz="3000" spc="-15">
                <a:latin typeface="Calibri"/>
                <a:cs typeface="Calibri"/>
              </a:rPr>
              <a:t>improves over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SGD: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Adam, </a:t>
            </a:r>
            <a:r>
              <a:rPr dirty="0" sz="2600" spc="-10">
                <a:latin typeface="Calibri"/>
                <a:cs typeface="Calibri"/>
              </a:rPr>
              <a:t>Adagrad, Adadelta, RMSprop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…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16610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440396" y="14635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4" h="376555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8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5" y="219533"/>
                </a:lnTo>
                <a:lnTo>
                  <a:pt x="453953" y="276782"/>
                </a:lnTo>
                <a:lnTo>
                  <a:pt x="431554" y="321493"/>
                </a:lnTo>
                <a:lnTo>
                  <a:pt x="397472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0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6" y="9853"/>
                </a:lnTo>
                <a:lnTo>
                  <a:pt x="380785" y="0"/>
                </a:lnTo>
                <a:close/>
              </a:path>
              <a:path w="50101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5708" y="1348740"/>
            <a:ext cx="46926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4107179" algn="l"/>
                <a:tab pos="4511040" algn="l"/>
              </a:tabLst>
            </a:pPr>
            <a:r>
              <a:rPr dirty="0" spc="-5" b="1">
                <a:solidFill>
                  <a:srgbClr val="6BB76D"/>
                </a:solidFill>
                <a:latin typeface="Calibri"/>
                <a:cs typeface="Calibri"/>
              </a:rPr>
              <a:t>Obj</a:t>
            </a:r>
            <a:r>
              <a:rPr dirty="0" b="1">
                <a:solidFill>
                  <a:srgbClr val="6BB76D"/>
                </a:solidFill>
                <a:latin typeface="Calibri"/>
                <a:cs typeface="Calibri"/>
              </a:rPr>
              <a:t>e</a:t>
            </a:r>
            <a:r>
              <a:rPr dirty="0" spc="-5" b="1">
                <a:solidFill>
                  <a:srgbClr val="6BB76D"/>
                </a:solidFill>
                <a:latin typeface="Calibri"/>
                <a:cs typeface="Calibri"/>
              </a:rPr>
              <a:t>c</a:t>
            </a:r>
            <a:r>
              <a:rPr dirty="0" b="1">
                <a:solidFill>
                  <a:srgbClr val="6BB76D"/>
                </a:solidFill>
                <a:latin typeface="Calibri"/>
                <a:cs typeface="Calibri"/>
              </a:rPr>
              <a:t>ti</a:t>
            </a:r>
            <a:r>
              <a:rPr dirty="0" spc="-35" b="1">
                <a:solidFill>
                  <a:srgbClr val="6BB76D"/>
                </a:solidFill>
                <a:latin typeface="Calibri"/>
                <a:cs typeface="Calibri"/>
              </a:rPr>
              <a:t>v</a:t>
            </a:r>
            <a:r>
              <a:rPr dirty="0" b="1">
                <a:solidFill>
                  <a:srgbClr val="6BB76D"/>
                </a:solidFill>
                <a:latin typeface="Calibri"/>
                <a:cs typeface="Calibri"/>
              </a:rPr>
              <a:t>e:</a:t>
            </a:r>
            <a:r>
              <a:rPr dirty="0" spc="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pc="-5">
                <a:latin typeface="Cambria Math"/>
                <a:cs typeface="Cambria Math"/>
              </a:rPr>
              <a:t>mi</a:t>
            </a:r>
            <a:r>
              <a:rPr dirty="0">
                <a:latin typeface="Cambria Math"/>
                <a:cs typeface="Cambria Math"/>
              </a:rPr>
              <a:t>n</a:t>
            </a:r>
            <a:r>
              <a:rPr dirty="0" spc="-170">
                <a:latin typeface="Cambria Math"/>
                <a:cs typeface="Cambria Math"/>
              </a:rPr>
              <a:t> </a:t>
            </a:r>
            <a:r>
              <a:rPr dirty="0" spc="90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r>
              <a:rPr dirty="0" spc="-5">
                <a:latin typeface="Cambria Math"/>
                <a:cs typeface="Cambria Math"/>
              </a:rPr>
              <a:t>(</a:t>
            </a:r>
            <a:r>
              <a:rPr dirty="0">
                <a:latin typeface="Cambria Math"/>
                <a:cs typeface="Cambria Math"/>
              </a:rPr>
              <a:t>𝒚,</a:t>
            </a:r>
            <a:r>
              <a:rPr dirty="0" spc="-165"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𝑓	</a:t>
            </a:r>
            <a:r>
              <a:rPr dirty="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>
                <a:latin typeface="Cambria Math"/>
                <a:cs typeface="Cambria Math"/>
              </a:rPr>
              <a:t>)</a:t>
            </a:r>
          </a:p>
        </p:txBody>
      </p:sp>
      <p:sp>
        <p:nvSpPr>
          <p:cNvPr id="5" name="object 5"/>
          <p:cNvSpPr/>
          <p:nvPr/>
        </p:nvSpPr>
        <p:spPr>
          <a:xfrm>
            <a:off x="2593244" y="35590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4" h="376554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8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5" y="219533"/>
                </a:lnTo>
                <a:lnTo>
                  <a:pt x="453953" y="276782"/>
                </a:lnTo>
                <a:lnTo>
                  <a:pt x="431554" y="321493"/>
                </a:lnTo>
                <a:lnTo>
                  <a:pt x="397472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0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6" y="9853"/>
                </a:lnTo>
                <a:lnTo>
                  <a:pt x="380785" y="0"/>
                </a:lnTo>
                <a:close/>
              </a:path>
              <a:path w="501014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5708" y="1709927"/>
            <a:ext cx="8375015" cy="274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72360">
              <a:lnSpc>
                <a:spcPts val="2455"/>
              </a:lnSpc>
              <a:spcBef>
                <a:spcPts val="100"/>
              </a:spcBef>
            </a:pPr>
            <a:r>
              <a:rPr dirty="0" sz="2300" spc="505">
                <a:solidFill>
                  <a:srgbClr val="CF5B1B"/>
                </a:solidFill>
                <a:latin typeface="Cambria Math"/>
                <a:cs typeface="Cambria Math"/>
              </a:rPr>
              <a:t>$</a:t>
            </a:r>
            <a:endParaRPr sz="2300">
              <a:latin typeface="Cambria Math"/>
              <a:cs typeface="Cambria Math"/>
            </a:endParaRPr>
          </a:p>
          <a:p>
            <a:pPr marL="332740" indent="-320040">
              <a:lnSpc>
                <a:spcPts val="35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5">
                <a:latin typeface="Calibri"/>
                <a:cs typeface="Calibri"/>
              </a:rPr>
              <a:t>deep </a:t>
            </a:r>
            <a:r>
              <a:rPr dirty="0" sz="3200">
                <a:latin typeface="Calibri"/>
                <a:cs typeface="Calibri"/>
              </a:rPr>
              <a:t>learning, the </a:t>
            </a:r>
            <a:r>
              <a:rPr dirty="0" sz="3200" spc="-5">
                <a:latin typeface="Calibri"/>
                <a:cs typeface="Calibri"/>
              </a:rPr>
              <a:t>function 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𝑓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1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very</a:t>
            </a:r>
            <a:endParaRPr sz="3200">
              <a:latin typeface="Calibri"/>
              <a:cs typeface="Calibri"/>
            </a:endParaRPr>
          </a:p>
          <a:p>
            <a:pPr marL="332105">
              <a:lnSpc>
                <a:spcPts val="3829"/>
              </a:lnSpc>
            </a:pPr>
            <a:r>
              <a:rPr dirty="0" sz="3200" spc="-15">
                <a:latin typeface="Calibri"/>
                <a:cs typeface="Calibri"/>
              </a:rPr>
              <a:t>complex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45">
                <a:latin typeface="Calibri"/>
                <a:cs typeface="Calibri"/>
              </a:rPr>
              <a:t>To </a:t>
            </a:r>
            <a:r>
              <a:rPr dirty="0" sz="3200" spc="-20">
                <a:latin typeface="Calibri"/>
                <a:cs typeface="Calibri"/>
              </a:rPr>
              <a:t>start </a:t>
            </a:r>
            <a:r>
              <a:rPr dirty="0" sz="3200" spc="-5">
                <a:latin typeface="Calibri"/>
                <a:cs typeface="Calibri"/>
              </a:rPr>
              <a:t>simple, </a:t>
            </a:r>
            <a:r>
              <a:rPr dirty="0" sz="3200" spc="-10">
                <a:latin typeface="Calibri"/>
                <a:cs typeface="Calibri"/>
              </a:rPr>
              <a:t>consider </a:t>
            </a:r>
            <a:r>
              <a:rPr dirty="0" sz="3200" spc="-5">
                <a:latin typeface="Calibri"/>
                <a:cs typeface="Calibri"/>
              </a:rPr>
              <a:t>linear</a:t>
            </a:r>
            <a:r>
              <a:rPr dirty="0" sz="3200" spc="229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function</a:t>
            </a:r>
            <a:endParaRPr sz="3200">
              <a:latin typeface="Calibri"/>
              <a:cs typeface="Calibri"/>
            </a:endParaRPr>
          </a:p>
          <a:p>
            <a:pPr algn="ctr" marR="5715">
              <a:lnSpc>
                <a:spcPts val="3815"/>
              </a:lnSpc>
              <a:tabLst>
                <a:tab pos="403860" algn="l"/>
                <a:tab pos="920750" algn="l"/>
                <a:tab pos="3164840" algn="l"/>
              </a:tabLst>
            </a:pP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𝑓	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>
                <a:solidFill>
                  <a:srgbClr val="6BB76D"/>
                </a:solidFill>
                <a:latin typeface="Cambria Math"/>
                <a:cs typeface="Cambria Math"/>
              </a:rPr>
              <a:t>𝑊</a:t>
            </a:r>
            <a:r>
              <a:rPr dirty="0" sz="3200" spc="300">
                <a:solidFill>
                  <a:srgbClr val="6BB76D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⋅ 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r>
              <a:rPr dirty="0" sz="3200">
                <a:latin typeface="Cambria Math"/>
                <a:cs typeface="Cambria Math"/>
              </a:rPr>
              <a:t>,	</a:t>
            </a:r>
            <a:r>
              <a:rPr dirty="0" sz="3200">
                <a:solidFill>
                  <a:srgbClr val="CF5B1B"/>
                </a:solidFill>
                <a:latin typeface="Cambria Math"/>
                <a:cs typeface="Cambria Math"/>
              </a:rPr>
              <a:t>Θ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260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{</a:t>
            </a:r>
            <a:r>
              <a:rPr dirty="0" sz="3200" spc="-5">
                <a:solidFill>
                  <a:srgbClr val="6BB76D"/>
                </a:solidFill>
                <a:latin typeface="Cambria Math"/>
                <a:cs typeface="Cambria Math"/>
              </a:rPr>
              <a:t>W</a:t>
            </a:r>
            <a:r>
              <a:rPr dirty="0" sz="3200" spc="-5">
                <a:latin typeface="Cambria Math"/>
                <a:cs typeface="Cambria Math"/>
              </a:rPr>
              <a:t>}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If 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𝑓 </a:t>
            </a:r>
            <a:r>
              <a:rPr dirty="0" sz="3200" spc="-15">
                <a:latin typeface="Calibri"/>
                <a:cs typeface="Calibri"/>
              </a:rPr>
              <a:t>returns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45">
                <a:latin typeface="Calibri"/>
                <a:cs typeface="Calibri"/>
              </a:rPr>
              <a:t>scalar, </a:t>
            </a:r>
            <a:r>
              <a:rPr dirty="0" sz="3200" spc="-5">
                <a:latin typeface="Calibri"/>
                <a:cs typeface="Calibri"/>
              </a:rPr>
              <a:t>then </a:t>
            </a:r>
            <a:r>
              <a:rPr dirty="0" sz="3200">
                <a:solidFill>
                  <a:srgbClr val="6BB76D"/>
                </a:solidFill>
                <a:latin typeface="Cambria Math"/>
                <a:cs typeface="Cambria Math"/>
              </a:rPr>
              <a:t>𝑊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5">
                <a:latin typeface="Calibri"/>
                <a:cs typeface="Calibri"/>
              </a:rPr>
              <a:t>learnable</a:t>
            </a:r>
            <a:r>
              <a:rPr dirty="0" sz="3200" spc="335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vector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5588" y="4885944"/>
            <a:ext cx="31242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200">
                <a:solidFill>
                  <a:srgbClr val="6BB76D"/>
                </a:solidFill>
                <a:latin typeface="Cambria Math"/>
                <a:cs typeface="Cambria Math"/>
              </a:rPr>
              <a:t>%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01364" y="4993640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 h="0">
                <a:moveTo>
                  <a:pt x="0" y="0"/>
                </a:moveTo>
                <a:lnTo>
                  <a:pt x="698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28464" y="4993640"/>
            <a:ext cx="711200" cy="0"/>
          </a:xfrm>
          <a:custGeom>
            <a:avLst/>
            <a:gdLst/>
            <a:ahLst/>
            <a:cxnLst/>
            <a:rect l="l" t="t" r="r" b="b"/>
            <a:pathLst>
              <a:path w="711200" h="0">
                <a:moveTo>
                  <a:pt x="0" y="0"/>
                </a:moveTo>
                <a:lnTo>
                  <a:pt x="7112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55564" y="4993640"/>
            <a:ext cx="711200" cy="0"/>
          </a:xfrm>
          <a:custGeom>
            <a:avLst/>
            <a:gdLst/>
            <a:ahLst/>
            <a:cxnLst/>
            <a:rect l="l" t="t" r="r" b="b"/>
            <a:pathLst>
              <a:path w="711200" h="0">
                <a:moveTo>
                  <a:pt x="0" y="0"/>
                </a:moveTo>
                <a:lnTo>
                  <a:pt x="7112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91839" y="4960620"/>
            <a:ext cx="25685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3450" algn="l"/>
                <a:tab pos="1863725" algn="l"/>
              </a:tabLst>
            </a:pPr>
            <a:r>
              <a:rPr dirty="0" sz="3200" spc="75">
                <a:latin typeface="Cambria Math"/>
                <a:cs typeface="Cambria Math"/>
              </a:rPr>
              <a:t>𝜕</a:t>
            </a:r>
            <a:r>
              <a:rPr dirty="0" sz="3200" spc="-185">
                <a:solidFill>
                  <a:srgbClr val="6BB76D"/>
                </a:solidFill>
                <a:latin typeface="Cambria Math"/>
                <a:cs typeface="Cambria Math"/>
              </a:rPr>
              <a:t>𝑤</a:t>
            </a:r>
            <a:r>
              <a:rPr dirty="0" baseline="-15700" sz="3450" spc="-382">
                <a:solidFill>
                  <a:srgbClr val="6BB76D"/>
                </a:solidFill>
                <a:latin typeface="Cambria Math"/>
                <a:cs typeface="Cambria Math"/>
              </a:rPr>
              <a:t>&amp;</a:t>
            </a:r>
            <a:r>
              <a:rPr dirty="0" baseline="-15700" sz="3450">
                <a:solidFill>
                  <a:srgbClr val="6BB76D"/>
                </a:solidFill>
                <a:latin typeface="Cambria Math"/>
                <a:cs typeface="Cambria Math"/>
              </a:rPr>
              <a:t>	</a:t>
            </a:r>
            <a:r>
              <a:rPr dirty="0" sz="3200" spc="75">
                <a:latin typeface="Cambria Math"/>
                <a:cs typeface="Cambria Math"/>
              </a:rPr>
              <a:t>𝜕</a:t>
            </a:r>
            <a:r>
              <a:rPr dirty="0" sz="3200" spc="-110">
                <a:solidFill>
                  <a:srgbClr val="6BB76D"/>
                </a:solidFill>
                <a:latin typeface="Cambria Math"/>
                <a:cs typeface="Cambria Math"/>
              </a:rPr>
              <a:t>𝑤</a:t>
            </a:r>
            <a:r>
              <a:rPr dirty="0" baseline="-15700" sz="3450" spc="1170">
                <a:solidFill>
                  <a:srgbClr val="6BB76D"/>
                </a:solidFill>
                <a:latin typeface="Cambria Math"/>
                <a:cs typeface="Cambria Math"/>
              </a:rPr>
              <a:t>'</a:t>
            </a:r>
            <a:r>
              <a:rPr dirty="0" baseline="-15700" sz="3450">
                <a:solidFill>
                  <a:srgbClr val="6BB76D"/>
                </a:solidFill>
                <a:latin typeface="Cambria Math"/>
                <a:cs typeface="Cambria Math"/>
              </a:rPr>
              <a:t>	</a:t>
            </a:r>
            <a:r>
              <a:rPr dirty="0" sz="3200" spc="75">
                <a:latin typeface="Cambria Math"/>
                <a:cs typeface="Cambria Math"/>
              </a:rPr>
              <a:t>𝜕</a:t>
            </a:r>
            <a:r>
              <a:rPr dirty="0" sz="3200" spc="-110">
                <a:solidFill>
                  <a:srgbClr val="6BB76D"/>
                </a:solidFill>
                <a:latin typeface="Cambria Math"/>
                <a:cs typeface="Cambria Math"/>
              </a:rPr>
              <a:t>𝑤</a:t>
            </a:r>
            <a:r>
              <a:rPr dirty="0" baseline="-15700" sz="3450" spc="562">
                <a:solidFill>
                  <a:srgbClr val="6BB76D"/>
                </a:solidFill>
                <a:latin typeface="Cambria Math"/>
                <a:cs typeface="Cambria Math"/>
              </a:rPr>
              <a:t>(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2302700" y="4689348"/>
            <a:ext cx="46875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325" algn="l"/>
                <a:tab pos="2270760" algn="l"/>
                <a:tab pos="2546985" algn="l"/>
                <a:tab pos="3201035" algn="l"/>
                <a:tab pos="3477260" algn="l"/>
                <a:tab pos="4131310" algn="l"/>
              </a:tabLst>
            </a:pPr>
            <a:r>
              <a:rPr dirty="0" sz="3200">
                <a:latin typeface="Cambria Math"/>
                <a:cs typeface="Cambria Math"/>
              </a:rPr>
              <a:t>∇	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𝑓 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-24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(</a:t>
            </a:r>
            <a:r>
              <a:rPr dirty="0" sz="3200" spc="229">
                <a:latin typeface="Cambria Math"/>
                <a:cs typeface="Cambria Math"/>
              </a:rPr>
              <a:t> </a:t>
            </a:r>
            <a:r>
              <a:rPr dirty="0" baseline="41666" sz="4800" spc="-7">
                <a:latin typeface="Cambria Math"/>
                <a:cs typeface="Cambria Math"/>
              </a:rPr>
              <a:t>𝜕𝑓	</a:t>
            </a:r>
            <a:r>
              <a:rPr dirty="0" sz="3200">
                <a:latin typeface="Cambria Math"/>
                <a:cs typeface="Cambria Math"/>
              </a:rPr>
              <a:t>,	</a:t>
            </a:r>
            <a:r>
              <a:rPr dirty="0" baseline="41666" sz="4800" spc="-7">
                <a:latin typeface="Cambria Math"/>
                <a:cs typeface="Cambria Math"/>
              </a:rPr>
              <a:t>𝜕𝑓	</a:t>
            </a:r>
            <a:r>
              <a:rPr dirty="0" sz="3200">
                <a:latin typeface="Cambria Math"/>
                <a:cs typeface="Cambria Math"/>
              </a:rPr>
              <a:t>,	</a:t>
            </a:r>
            <a:r>
              <a:rPr dirty="0" baseline="41666" sz="4800" spc="-7">
                <a:latin typeface="Cambria Math"/>
                <a:cs typeface="Cambria Math"/>
              </a:rPr>
              <a:t>𝜕𝑓	</a:t>
            </a:r>
            <a:r>
              <a:rPr dirty="0" sz="3200">
                <a:latin typeface="Cambria Math"/>
                <a:cs typeface="Cambria Math"/>
              </a:rPr>
              <a:t>…</a:t>
            </a:r>
            <a:r>
              <a:rPr dirty="0" sz="3200" spc="-2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5708" y="5439155"/>
            <a:ext cx="84569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If 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𝑓 </a:t>
            </a:r>
            <a:r>
              <a:rPr dirty="0" sz="3200" spc="-15">
                <a:latin typeface="Calibri"/>
                <a:cs typeface="Calibri"/>
              </a:rPr>
              <a:t>returns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5">
                <a:latin typeface="Calibri"/>
                <a:cs typeface="Calibri"/>
              </a:rPr>
              <a:t>vector, </a:t>
            </a:r>
            <a:r>
              <a:rPr dirty="0" sz="3200" spc="-5">
                <a:latin typeface="Calibri"/>
                <a:cs typeface="Calibri"/>
              </a:rPr>
              <a:t>then </a:t>
            </a:r>
            <a:r>
              <a:rPr dirty="0" sz="3200">
                <a:solidFill>
                  <a:srgbClr val="6BB76D"/>
                </a:solidFill>
                <a:latin typeface="Cambria Math"/>
                <a:cs typeface="Cambria Math"/>
              </a:rPr>
              <a:t>𝑊 </a:t>
            </a:r>
            <a:r>
              <a:rPr dirty="0" sz="3200">
                <a:latin typeface="Calibri"/>
                <a:cs typeface="Calibri"/>
              </a:rPr>
              <a:t>is the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weight</a:t>
            </a:r>
            <a:r>
              <a:rPr dirty="0" sz="3200" spc="3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matrix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3124" y="5920740"/>
            <a:ext cx="19373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110">
                <a:latin typeface="Cambria Math"/>
                <a:cs typeface="Cambria Math"/>
              </a:rPr>
              <a:t>∇</a:t>
            </a:r>
            <a:r>
              <a:rPr dirty="0" baseline="-15700" sz="3450" spc="165">
                <a:solidFill>
                  <a:srgbClr val="6BB76D"/>
                </a:solidFill>
                <a:latin typeface="Cambria Math"/>
                <a:cs typeface="Cambria Math"/>
              </a:rPr>
              <a:t>%</a:t>
            </a:r>
            <a:r>
              <a:rPr dirty="0" sz="3200" spc="110">
                <a:solidFill>
                  <a:srgbClr val="D60093"/>
                </a:solidFill>
                <a:latin typeface="Cambria Math"/>
                <a:cs typeface="Cambria Math"/>
              </a:rPr>
              <a:t>𝑓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275">
                <a:latin typeface="Cambria Math"/>
                <a:cs typeface="Cambria Math"/>
              </a:rPr>
              <a:t> </a:t>
            </a:r>
            <a:r>
              <a:rPr dirty="0" sz="3200" spc="315">
                <a:solidFill>
                  <a:srgbClr val="6BB76D"/>
                </a:solidFill>
                <a:latin typeface="Cambria Math"/>
                <a:cs typeface="Cambria Math"/>
              </a:rPr>
              <a:t>𝑊</a:t>
            </a:r>
            <a:r>
              <a:rPr dirty="0" baseline="28985" sz="3450" spc="472">
                <a:latin typeface="Cambria Math"/>
                <a:cs typeface="Cambria Math"/>
              </a:rPr>
              <a:t>)</a:t>
            </a:r>
            <a:endParaRPr baseline="28985" sz="34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7572" y="5986779"/>
            <a:ext cx="27940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D60093"/>
                </a:solidFill>
                <a:latin typeface="Corbel"/>
                <a:cs typeface="Corbel"/>
              </a:rPr>
              <a:t>Jacobian matrix of</a:t>
            </a:r>
            <a:r>
              <a:rPr dirty="0" sz="2400" spc="-215" b="1">
                <a:solidFill>
                  <a:srgbClr val="D60093"/>
                </a:solidFill>
                <a:latin typeface="Corbel"/>
                <a:cs typeface="Corbel"/>
              </a:rPr>
              <a:t> </a:t>
            </a:r>
            <a:r>
              <a:rPr dirty="0" sz="4000">
                <a:solidFill>
                  <a:srgbClr val="D60093"/>
                </a:solidFill>
                <a:latin typeface="Cambria Math"/>
                <a:cs typeface="Cambria Math"/>
              </a:rPr>
              <a:t>𝑓</a:t>
            </a:r>
            <a:endParaRPr sz="4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2816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6179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E66C7D"/>
                </a:solidFill>
                <a:latin typeface="Calibri"/>
                <a:cs typeface="Calibri"/>
              </a:rPr>
              <a:t>How about </a:t>
            </a:r>
            <a:r>
              <a:rPr dirty="0" b="1">
                <a:solidFill>
                  <a:srgbClr val="E66C7D"/>
                </a:solidFill>
                <a:latin typeface="Calibri"/>
                <a:cs typeface="Calibri"/>
              </a:rPr>
              <a:t>a </a:t>
            </a:r>
            <a:r>
              <a:rPr dirty="0" spc="-15" b="1">
                <a:solidFill>
                  <a:srgbClr val="E66C7D"/>
                </a:solidFill>
                <a:latin typeface="Calibri"/>
                <a:cs typeface="Calibri"/>
              </a:rPr>
              <a:t>more complex</a:t>
            </a:r>
            <a:r>
              <a:rPr dirty="0" spc="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E66C7D"/>
                </a:solidFill>
                <a:latin typeface="Calibri"/>
                <a:cs typeface="Calibri"/>
              </a:rPr>
              <a:t>function:</a:t>
            </a:r>
          </a:p>
        </p:txBody>
      </p:sp>
      <p:sp>
        <p:nvSpPr>
          <p:cNvPr id="4" name="object 4"/>
          <p:cNvSpPr/>
          <p:nvPr/>
        </p:nvSpPr>
        <p:spPr>
          <a:xfrm>
            <a:off x="1919255" y="19461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4" h="376555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8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5" y="219533"/>
                </a:lnTo>
                <a:lnTo>
                  <a:pt x="453953" y="276782"/>
                </a:lnTo>
                <a:lnTo>
                  <a:pt x="431554" y="321493"/>
                </a:lnTo>
                <a:lnTo>
                  <a:pt x="397472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0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6" y="9853"/>
                </a:lnTo>
                <a:lnTo>
                  <a:pt x="380785" y="0"/>
                </a:lnTo>
                <a:close/>
              </a:path>
              <a:path w="501014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47014" y="1946172"/>
            <a:ext cx="1012190" cy="376555"/>
          </a:xfrm>
          <a:custGeom>
            <a:avLst/>
            <a:gdLst/>
            <a:ahLst/>
            <a:cxnLst/>
            <a:rect l="l" t="t" r="r" b="b"/>
            <a:pathLst>
              <a:path w="1012189" h="376555">
                <a:moveTo>
                  <a:pt x="891515" y="0"/>
                </a:moveTo>
                <a:lnTo>
                  <a:pt x="886157" y="15279"/>
                </a:lnTo>
                <a:lnTo>
                  <a:pt x="907948" y="24736"/>
                </a:lnTo>
                <a:lnTo>
                  <a:pt x="926688" y="37826"/>
                </a:lnTo>
                <a:lnTo>
                  <a:pt x="955015" y="74909"/>
                </a:lnTo>
                <a:lnTo>
                  <a:pt x="971684" y="124940"/>
                </a:lnTo>
                <a:lnTo>
                  <a:pt x="977240" y="186331"/>
                </a:lnTo>
                <a:lnTo>
                  <a:pt x="975845" y="219533"/>
                </a:lnTo>
                <a:lnTo>
                  <a:pt x="964683" y="276782"/>
                </a:lnTo>
                <a:lnTo>
                  <a:pt x="942284" y="321493"/>
                </a:lnTo>
                <a:lnTo>
                  <a:pt x="908203" y="351655"/>
                </a:lnTo>
                <a:lnTo>
                  <a:pt x="886753" y="361156"/>
                </a:lnTo>
                <a:lnTo>
                  <a:pt x="891515" y="376435"/>
                </a:lnTo>
                <a:lnTo>
                  <a:pt x="942861" y="352349"/>
                </a:lnTo>
                <a:lnTo>
                  <a:pt x="980613" y="310653"/>
                </a:lnTo>
                <a:lnTo>
                  <a:pt x="1003831" y="254818"/>
                </a:lnTo>
                <a:lnTo>
                  <a:pt x="1011570" y="188316"/>
                </a:lnTo>
                <a:lnTo>
                  <a:pt x="1009629" y="153807"/>
                </a:lnTo>
                <a:lnTo>
                  <a:pt x="994101" y="92638"/>
                </a:lnTo>
                <a:lnTo>
                  <a:pt x="963306" y="42843"/>
                </a:lnTo>
                <a:lnTo>
                  <a:pt x="918807" y="9853"/>
                </a:lnTo>
                <a:lnTo>
                  <a:pt x="891515" y="0"/>
                </a:lnTo>
                <a:close/>
              </a:path>
              <a:path w="1012189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1830324"/>
            <a:ext cx="4072254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9335">
              <a:lnSpc>
                <a:spcPct val="100000"/>
              </a:lnSpc>
              <a:spcBef>
                <a:spcPts val="100"/>
              </a:spcBef>
              <a:tabLst>
                <a:tab pos="1433830" algn="l"/>
                <a:tab pos="1950085" algn="l"/>
                <a:tab pos="3061335" algn="l"/>
                <a:tab pos="3975735" algn="l"/>
              </a:tabLst>
            </a:pP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𝑓	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 spc="-430">
                <a:latin typeface="Cambria Math"/>
                <a:cs typeface="Cambria Math"/>
              </a:rPr>
              <a:t>𝑊</a:t>
            </a:r>
            <a:r>
              <a:rPr dirty="0" baseline="-15700" sz="3450">
                <a:latin typeface="Cambria Math"/>
                <a:cs typeface="Cambria Math"/>
              </a:rPr>
              <a:t>𝟐	</a:t>
            </a:r>
            <a:r>
              <a:rPr dirty="0" sz="3200" spc="-505">
                <a:latin typeface="Cambria Math"/>
                <a:cs typeface="Cambria Math"/>
              </a:rPr>
              <a:t>𝑊</a:t>
            </a:r>
            <a:r>
              <a:rPr dirty="0" baseline="-15700" sz="3450" spc="-225">
                <a:latin typeface="Cambria Math"/>
                <a:cs typeface="Cambria Math"/>
              </a:rPr>
              <a:t>&amp;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3200">
                <a:latin typeface="Cambria Math"/>
                <a:cs typeface="Cambria Math"/>
              </a:rPr>
              <a:t>,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Recall </a:t>
            </a:r>
            <a:r>
              <a:rPr dirty="0" sz="3200" spc="-5" b="1">
                <a:latin typeface="Calibri"/>
                <a:cs typeface="Calibri"/>
              </a:rPr>
              <a:t>chain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rule</a:t>
            </a:r>
            <a:r>
              <a:rPr dirty="0" sz="3200" spc="-5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3915155"/>
            <a:ext cx="21228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0">
                <a:latin typeface="Calibri"/>
                <a:cs typeface="Calibri"/>
              </a:rPr>
              <a:t>E.g. </a:t>
            </a:r>
            <a:r>
              <a:rPr dirty="0" sz="3200" spc="30">
                <a:latin typeface="Cambria Math"/>
                <a:cs typeface="Cambria Math"/>
              </a:rPr>
              <a:t>∇</a:t>
            </a:r>
            <a:r>
              <a:rPr dirty="0" baseline="-15700" sz="3450" spc="44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r>
              <a:rPr dirty="0" sz="3200" spc="30">
                <a:solidFill>
                  <a:srgbClr val="D60093"/>
                </a:solidFill>
                <a:latin typeface="Cambria Math"/>
                <a:cs typeface="Cambria Math"/>
              </a:rPr>
              <a:t>𝑓</a:t>
            </a:r>
            <a:r>
              <a:rPr dirty="0" sz="3200" spc="20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36164" y="4218940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 h="0">
                <a:moveTo>
                  <a:pt x="0" y="0"/>
                </a:moveTo>
                <a:lnTo>
                  <a:pt x="1016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44264" y="4218940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 h="0">
                <a:moveTo>
                  <a:pt x="0" y="0"/>
                </a:moveTo>
                <a:lnTo>
                  <a:pt x="1016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48457" y="3677411"/>
            <a:ext cx="20224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3750" algn="l"/>
              </a:tabLst>
            </a:pPr>
            <a:r>
              <a:rPr dirty="0" sz="2300" spc="790">
                <a:latin typeface="Cambria Math"/>
                <a:cs typeface="Cambria Math"/>
              </a:rPr>
              <a:t>,</a:t>
            </a:r>
            <a:r>
              <a:rPr dirty="0" sz="2300" spc="790">
                <a:solidFill>
                  <a:srgbClr val="D60093"/>
                </a:solidFill>
                <a:latin typeface="Cambria Math"/>
                <a:cs typeface="Cambria Math"/>
              </a:rPr>
              <a:t>-	</a:t>
            </a:r>
            <a:r>
              <a:rPr dirty="0" baseline="-32118" sz="4800" spc="-1582">
                <a:latin typeface="Cambria Math"/>
                <a:cs typeface="Cambria Math"/>
              </a:rPr>
              <a:t>B</a:t>
            </a:r>
            <a:r>
              <a:rPr dirty="0" baseline="-32118" sz="4800" spc="-60">
                <a:latin typeface="Cambria Math"/>
                <a:cs typeface="Cambria Math"/>
              </a:rPr>
              <a:t> </a:t>
            </a:r>
            <a:r>
              <a:rPr dirty="0" sz="2300" spc="130">
                <a:latin typeface="Cambria Math"/>
                <a:cs typeface="Cambria Math"/>
              </a:rPr>
              <a:t>,(%</a:t>
            </a:r>
            <a:r>
              <a:rPr dirty="0" baseline="-13157" sz="2850" spc="195">
                <a:latin typeface="Cambria Math"/>
                <a:cs typeface="Cambria Math"/>
              </a:rPr>
              <a:t>&amp;</a:t>
            </a:r>
            <a:r>
              <a:rPr dirty="0" sz="2300" spc="13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r>
              <a:rPr dirty="0" sz="2300" spc="13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7527" y="4233671"/>
            <a:ext cx="201485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9095" algn="l"/>
              </a:tabLst>
            </a:pPr>
            <a:r>
              <a:rPr dirty="0" sz="2300" spc="1030">
                <a:latin typeface="Cambria Math"/>
                <a:cs typeface="Cambria Math"/>
              </a:rPr>
              <a:t>,</a:t>
            </a: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-130">
                <a:latin typeface="Cambria Math"/>
                <a:cs typeface="Cambria Math"/>
              </a:rPr>
              <a:t>%</a:t>
            </a:r>
            <a:r>
              <a:rPr dirty="0" baseline="-14619" sz="2850" spc="-150">
                <a:latin typeface="Cambria Math"/>
                <a:cs typeface="Cambria Math"/>
              </a:rPr>
              <a:t>&amp;</a:t>
            </a:r>
            <a:r>
              <a:rPr dirty="0" sz="2300" spc="15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r>
              <a:rPr dirty="0" sz="2300">
                <a:latin typeface="Cambria Math"/>
                <a:cs typeface="Cambria Math"/>
              </a:rPr>
              <a:t>)	</a:t>
            </a:r>
            <a:r>
              <a:rPr dirty="0" sz="2300" spc="975">
                <a:latin typeface="Cambria Math"/>
                <a:cs typeface="Cambria Math"/>
              </a:rPr>
              <a:t>,</a:t>
            </a:r>
            <a:r>
              <a:rPr dirty="0" sz="230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108" y="5058155"/>
            <a:ext cx="80867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Back-propagation</a:t>
            </a:r>
            <a:r>
              <a:rPr dirty="0" sz="3200" spc="-20">
                <a:latin typeface="Calibri"/>
                <a:cs typeface="Calibri"/>
              </a:rPr>
              <a:t>: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 b="1">
                <a:latin typeface="Calibri"/>
                <a:cs typeface="Calibri"/>
              </a:rPr>
              <a:t>chain rule </a:t>
            </a:r>
            <a:r>
              <a:rPr dirty="0" sz="3200" spc="-30">
                <a:latin typeface="Calibri"/>
                <a:cs typeface="Calibri"/>
              </a:rPr>
              <a:t>to  </a:t>
            </a:r>
            <a:r>
              <a:rPr dirty="0" sz="3200" spc="-20">
                <a:latin typeface="Calibri"/>
                <a:cs typeface="Calibri"/>
              </a:rPr>
              <a:t>propagate </a:t>
            </a:r>
            <a:r>
              <a:rPr dirty="0" sz="3200" spc="-15">
                <a:latin typeface="Calibri"/>
                <a:cs typeface="Calibri"/>
              </a:rPr>
              <a:t>gradients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15">
                <a:latin typeface="Calibri"/>
                <a:cs typeface="Calibri"/>
              </a:rPr>
              <a:t>intermediate </a:t>
            </a:r>
            <a:r>
              <a:rPr dirty="0" sz="3200" spc="-20">
                <a:latin typeface="Calibri"/>
                <a:cs typeface="Calibri"/>
              </a:rPr>
              <a:t>steps, </a:t>
            </a:r>
            <a:r>
              <a:rPr dirty="0" sz="3200">
                <a:latin typeface="Calibri"/>
                <a:cs typeface="Calibri"/>
              </a:rPr>
              <a:t>and  </a:t>
            </a:r>
            <a:r>
              <a:rPr dirty="0" sz="3200" spc="-5">
                <a:latin typeface="Calibri"/>
                <a:cs typeface="Calibri"/>
              </a:rPr>
              <a:t>finally </a:t>
            </a:r>
            <a:r>
              <a:rPr dirty="0" sz="3200" spc="-10">
                <a:latin typeface="Calibri"/>
                <a:cs typeface="Calibri"/>
              </a:rPr>
              <a:t>obtain </a:t>
            </a:r>
            <a:r>
              <a:rPr dirty="0" sz="3200" spc="-15">
                <a:latin typeface="Calibri"/>
                <a:cs typeface="Calibri"/>
              </a:rPr>
              <a:t>gradient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ℒ </a:t>
            </a:r>
            <a:r>
              <a:rPr dirty="0" sz="3200" spc="-105">
                <a:latin typeface="Calibri"/>
                <a:cs typeface="Calibri"/>
              </a:rPr>
              <a:t>w.r.t.</a:t>
            </a:r>
            <a:r>
              <a:rPr dirty="0" sz="3200" spc="155"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CF5B1B"/>
                </a:solidFill>
                <a:latin typeface="Cambria Math"/>
                <a:cs typeface="Cambria Math"/>
              </a:rPr>
              <a:t>Θ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71800" y="3225968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 h="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35400" y="3225968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 h="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440303" y="2921508"/>
            <a:ext cx="995044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7410" algn="l"/>
              </a:tabLst>
            </a:pPr>
            <a:r>
              <a:rPr dirty="0" sz="3200">
                <a:latin typeface="Cambria Math"/>
                <a:cs typeface="Cambria Math"/>
              </a:rPr>
              <a:t>=	</a:t>
            </a:r>
            <a:r>
              <a:rPr dirty="0" sz="3200" spc="-1055">
                <a:latin typeface="Cambria Math"/>
                <a:cs typeface="Cambria Math"/>
              </a:rPr>
              <a:t>B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08500" y="3225968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 h="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968498" y="2798064"/>
            <a:ext cx="19278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3919" algn="l"/>
                <a:tab pos="1543685" algn="l"/>
              </a:tabLst>
            </a:pPr>
            <a:r>
              <a:rPr dirty="0" sz="2300" spc="180">
                <a:latin typeface="Cambria Math"/>
                <a:cs typeface="Cambria Math"/>
              </a:rPr>
              <a:t>0</a:t>
            </a:r>
            <a:r>
              <a:rPr dirty="0" sz="2300" spc="-60">
                <a:latin typeface="Cambria Math"/>
                <a:cs typeface="Cambria Math"/>
              </a:rPr>
              <a:t>1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sz="2300" spc="180">
                <a:latin typeface="Cambria Math"/>
                <a:cs typeface="Cambria Math"/>
              </a:rPr>
              <a:t>0</a:t>
            </a:r>
            <a:r>
              <a:rPr dirty="0" sz="2300" spc="-60">
                <a:latin typeface="Cambria Math"/>
                <a:cs typeface="Cambria Math"/>
              </a:rPr>
              <a:t>1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sz="2300" spc="180">
                <a:latin typeface="Cambria Math"/>
                <a:cs typeface="Cambria Math"/>
              </a:rPr>
              <a:t>0</a:t>
            </a:r>
            <a:r>
              <a:rPr dirty="0" sz="2300" spc="175">
                <a:latin typeface="Cambria Math"/>
                <a:cs typeface="Cambria Math"/>
              </a:rPr>
              <a:t>3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100" y="3240023"/>
            <a:ext cx="19304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7569" algn="l"/>
                <a:tab pos="1558925" algn="l"/>
              </a:tabLst>
            </a:pPr>
            <a:r>
              <a:rPr dirty="0" sz="2300" spc="180">
                <a:latin typeface="Cambria Math"/>
                <a:cs typeface="Cambria Math"/>
              </a:rPr>
              <a:t>0</a:t>
            </a:r>
            <a:r>
              <a:rPr dirty="0" sz="2300" spc="80">
                <a:latin typeface="Cambria Math"/>
                <a:cs typeface="Cambria Math"/>
              </a:rPr>
              <a:t>2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sz="2300" spc="180">
                <a:latin typeface="Cambria Math"/>
                <a:cs typeface="Cambria Math"/>
              </a:rPr>
              <a:t>0</a:t>
            </a:r>
            <a:r>
              <a:rPr dirty="0" sz="2300" spc="175">
                <a:latin typeface="Cambria Math"/>
                <a:cs typeface="Cambria Math"/>
              </a:rPr>
              <a:t>3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sz="2300" spc="180">
                <a:latin typeface="Cambria Math"/>
                <a:cs typeface="Cambria Math"/>
              </a:rPr>
              <a:t>0</a:t>
            </a:r>
            <a:r>
              <a:rPr dirty="0" sz="2300" spc="80">
                <a:latin typeface="Cambria Math"/>
                <a:cs typeface="Cambria Math"/>
              </a:rPr>
              <a:t>2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01371" y="3092665"/>
            <a:ext cx="250825" cy="188595"/>
          </a:xfrm>
          <a:custGeom>
            <a:avLst/>
            <a:gdLst/>
            <a:ahLst/>
            <a:cxnLst/>
            <a:rect l="l" t="t" r="r" b="b"/>
            <a:pathLst>
              <a:path w="250825" h="188595">
                <a:moveTo>
                  <a:pt x="190393" y="0"/>
                </a:moveTo>
                <a:lnTo>
                  <a:pt x="187713" y="7640"/>
                </a:lnTo>
                <a:lnTo>
                  <a:pt x="198609" y="12368"/>
                </a:lnTo>
                <a:lnTo>
                  <a:pt x="207979" y="18913"/>
                </a:lnTo>
                <a:lnTo>
                  <a:pt x="230476" y="62470"/>
                </a:lnTo>
                <a:lnTo>
                  <a:pt x="233254" y="93165"/>
                </a:lnTo>
                <a:lnTo>
                  <a:pt x="232557" y="109767"/>
                </a:lnTo>
                <a:lnTo>
                  <a:pt x="222092" y="150416"/>
                </a:lnTo>
                <a:lnTo>
                  <a:pt x="188012" y="180577"/>
                </a:lnTo>
                <a:lnTo>
                  <a:pt x="190393" y="188217"/>
                </a:lnTo>
                <a:lnTo>
                  <a:pt x="226353" y="166852"/>
                </a:lnTo>
                <a:lnTo>
                  <a:pt x="246550" y="127409"/>
                </a:lnTo>
                <a:lnTo>
                  <a:pt x="250419" y="94159"/>
                </a:lnTo>
                <a:lnTo>
                  <a:pt x="249449" y="76904"/>
                </a:lnTo>
                <a:lnTo>
                  <a:pt x="234892" y="32990"/>
                </a:lnTo>
                <a:lnTo>
                  <a:pt x="204038" y="4926"/>
                </a:lnTo>
                <a:lnTo>
                  <a:pt x="190393" y="0"/>
                </a:lnTo>
                <a:close/>
              </a:path>
              <a:path w="250825" h="188595">
                <a:moveTo>
                  <a:pt x="60027" y="0"/>
                </a:moveTo>
                <a:lnTo>
                  <a:pt x="24131" y="21421"/>
                </a:lnTo>
                <a:lnTo>
                  <a:pt x="3881" y="60957"/>
                </a:lnTo>
                <a:lnTo>
                  <a:pt x="0" y="94159"/>
                </a:lnTo>
                <a:lnTo>
                  <a:pt x="967" y="111450"/>
                </a:lnTo>
                <a:lnTo>
                  <a:pt x="15477" y="155327"/>
                </a:lnTo>
                <a:lnTo>
                  <a:pt x="46341" y="183297"/>
                </a:lnTo>
                <a:lnTo>
                  <a:pt x="60027" y="188217"/>
                </a:lnTo>
                <a:lnTo>
                  <a:pt x="62409" y="180577"/>
                </a:lnTo>
                <a:lnTo>
                  <a:pt x="51683" y="175827"/>
                </a:lnTo>
                <a:lnTo>
                  <a:pt x="42428" y="169217"/>
                </a:lnTo>
                <a:lnTo>
                  <a:pt x="19955" y="124842"/>
                </a:lnTo>
                <a:lnTo>
                  <a:pt x="17165" y="93165"/>
                </a:lnTo>
                <a:lnTo>
                  <a:pt x="17862" y="77108"/>
                </a:lnTo>
                <a:lnTo>
                  <a:pt x="28327" y="37454"/>
                </a:lnTo>
                <a:lnTo>
                  <a:pt x="62706" y="7640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416838" y="3092665"/>
            <a:ext cx="506730" cy="188595"/>
          </a:xfrm>
          <a:custGeom>
            <a:avLst/>
            <a:gdLst/>
            <a:ahLst/>
            <a:cxnLst/>
            <a:rect l="l" t="t" r="r" b="b"/>
            <a:pathLst>
              <a:path w="506729" h="188595">
                <a:moveTo>
                  <a:pt x="446551" y="0"/>
                </a:moveTo>
                <a:lnTo>
                  <a:pt x="443872" y="7640"/>
                </a:lnTo>
                <a:lnTo>
                  <a:pt x="454768" y="12368"/>
                </a:lnTo>
                <a:lnTo>
                  <a:pt x="464138" y="18913"/>
                </a:lnTo>
                <a:lnTo>
                  <a:pt x="486635" y="62470"/>
                </a:lnTo>
                <a:lnTo>
                  <a:pt x="489413" y="93165"/>
                </a:lnTo>
                <a:lnTo>
                  <a:pt x="488716" y="109767"/>
                </a:lnTo>
                <a:lnTo>
                  <a:pt x="478251" y="150416"/>
                </a:lnTo>
                <a:lnTo>
                  <a:pt x="444169" y="180577"/>
                </a:lnTo>
                <a:lnTo>
                  <a:pt x="446551" y="188217"/>
                </a:lnTo>
                <a:lnTo>
                  <a:pt x="482512" y="166852"/>
                </a:lnTo>
                <a:lnTo>
                  <a:pt x="502709" y="127409"/>
                </a:lnTo>
                <a:lnTo>
                  <a:pt x="506578" y="94159"/>
                </a:lnTo>
                <a:lnTo>
                  <a:pt x="505608" y="76904"/>
                </a:lnTo>
                <a:lnTo>
                  <a:pt x="491050" y="32990"/>
                </a:lnTo>
                <a:lnTo>
                  <a:pt x="460197" y="4926"/>
                </a:lnTo>
                <a:lnTo>
                  <a:pt x="446551" y="0"/>
                </a:lnTo>
                <a:close/>
              </a:path>
              <a:path w="506729" h="188595">
                <a:moveTo>
                  <a:pt x="60026" y="0"/>
                </a:moveTo>
                <a:lnTo>
                  <a:pt x="24131" y="21421"/>
                </a:lnTo>
                <a:lnTo>
                  <a:pt x="3881" y="60957"/>
                </a:lnTo>
                <a:lnTo>
                  <a:pt x="0" y="94159"/>
                </a:lnTo>
                <a:lnTo>
                  <a:pt x="967" y="111450"/>
                </a:lnTo>
                <a:lnTo>
                  <a:pt x="15477" y="155327"/>
                </a:lnTo>
                <a:lnTo>
                  <a:pt x="46340" y="183297"/>
                </a:lnTo>
                <a:lnTo>
                  <a:pt x="60026" y="188217"/>
                </a:lnTo>
                <a:lnTo>
                  <a:pt x="62407" y="180577"/>
                </a:lnTo>
                <a:lnTo>
                  <a:pt x="51683" y="175827"/>
                </a:lnTo>
                <a:lnTo>
                  <a:pt x="42428" y="169217"/>
                </a:lnTo>
                <a:lnTo>
                  <a:pt x="19954" y="124842"/>
                </a:lnTo>
                <a:lnTo>
                  <a:pt x="17164" y="93165"/>
                </a:lnTo>
                <a:lnTo>
                  <a:pt x="17861" y="77108"/>
                </a:lnTo>
                <a:lnTo>
                  <a:pt x="28327" y="37454"/>
                </a:lnTo>
                <a:lnTo>
                  <a:pt x="62706" y="7640"/>
                </a:lnTo>
                <a:lnTo>
                  <a:pt x="60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822351" y="3587965"/>
            <a:ext cx="234950" cy="188595"/>
          </a:xfrm>
          <a:custGeom>
            <a:avLst/>
            <a:gdLst/>
            <a:ahLst/>
            <a:cxnLst/>
            <a:rect l="l" t="t" r="r" b="b"/>
            <a:pathLst>
              <a:path w="234950" h="188595">
                <a:moveTo>
                  <a:pt x="174834" y="0"/>
                </a:moveTo>
                <a:lnTo>
                  <a:pt x="172156" y="7639"/>
                </a:lnTo>
                <a:lnTo>
                  <a:pt x="183051" y="12367"/>
                </a:lnTo>
                <a:lnTo>
                  <a:pt x="192421" y="18913"/>
                </a:lnTo>
                <a:lnTo>
                  <a:pt x="214919" y="62470"/>
                </a:lnTo>
                <a:lnTo>
                  <a:pt x="217697" y="93165"/>
                </a:lnTo>
                <a:lnTo>
                  <a:pt x="216999" y="109766"/>
                </a:lnTo>
                <a:lnTo>
                  <a:pt x="206535" y="150414"/>
                </a:lnTo>
                <a:lnTo>
                  <a:pt x="172453" y="180577"/>
                </a:lnTo>
                <a:lnTo>
                  <a:pt x="174834" y="188217"/>
                </a:lnTo>
                <a:lnTo>
                  <a:pt x="210796" y="166852"/>
                </a:lnTo>
                <a:lnTo>
                  <a:pt x="230993" y="127409"/>
                </a:lnTo>
                <a:lnTo>
                  <a:pt x="234862" y="94157"/>
                </a:lnTo>
                <a:lnTo>
                  <a:pt x="233891" y="76903"/>
                </a:lnTo>
                <a:lnTo>
                  <a:pt x="219335" y="32989"/>
                </a:lnTo>
                <a:lnTo>
                  <a:pt x="188480" y="4926"/>
                </a:lnTo>
                <a:lnTo>
                  <a:pt x="174834" y="0"/>
                </a:lnTo>
                <a:close/>
              </a:path>
              <a:path w="234950" h="188595">
                <a:moveTo>
                  <a:pt x="60027" y="0"/>
                </a:moveTo>
                <a:lnTo>
                  <a:pt x="24131" y="21421"/>
                </a:lnTo>
                <a:lnTo>
                  <a:pt x="3881" y="60957"/>
                </a:lnTo>
                <a:lnTo>
                  <a:pt x="0" y="94157"/>
                </a:lnTo>
                <a:lnTo>
                  <a:pt x="967" y="111450"/>
                </a:lnTo>
                <a:lnTo>
                  <a:pt x="15477" y="155327"/>
                </a:lnTo>
                <a:lnTo>
                  <a:pt x="46341" y="183297"/>
                </a:lnTo>
                <a:lnTo>
                  <a:pt x="60027" y="188217"/>
                </a:lnTo>
                <a:lnTo>
                  <a:pt x="62409" y="180577"/>
                </a:lnTo>
                <a:lnTo>
                  <a:pt x="51683" y="175827"/>
                </a:lnTo>
                <a:lnTo>
                  <a:pt x="42428" y="169217"/>
                </a:lnTo>
                <a:lnTo>
                  <a:pt x="19955" y="124841"/>
                </a:lnTo>
                <a:lnTo>
                  <a:pt x="17165" y="93165"/>
                </a:lnTo>
                <a:lnTo>
                  <a:pt x="17862" y="77108"/>
                </a:lnTo>
                <a:lnTo>
                  <a:pt x="28327" y="37454"/>
                </a:lnTo>
                <a:lnTo>
                  <a:pt x="62706" y="7639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478526" y="1830324"/>
            <a:ext cx="3390900" cy="196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CF5B1B"/>
                </a:solidFill>
                <a:latin typeface="Cambria Math"/>
                <a:cs typeface="Cambria Math"/>
              </a:rPr>
              <a:t>Θ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-130">
                <a:latin typeface="Cambria Math"/>
                <a:cs typeface="Cambria Math"/>
              </a:rPr>
              <a:t>{W</a:t>
            </a:r>
            <a:r>
              <a:rPr dirty="0" baseline="-15700" sz="3450" spc="-195">
                <a:latin typeface="Cambria Math"/>
                <a:cs typeface="Cambria Math"/>
              </a:rPr>
              <a:t>&amp;</a:t>
            </a:r>
            <a:r>
              <a:rPr dirty="0" sz="3200" spc="-130">
                <a:latin typeface="Cambria Math"/>
                <a:cs typeface="Cambria Math"/>
              </a:rPr>
              <a:t>,</a:t>
            </a:r>
            <a:r>
              <a:rPr dirty="0" sz="3200" spc="114">
                <a:latin typeface="Cambria Math"/>
                <a:cs typeface="Cambria Math"/>
              </a:rPr>
              <a:t> </a:t>
            </a:r>
            <a:r>
              <a:rPr dirty="0" sz="3200" spc="200">
                <a:latin typeface="Cambria Math"/>
                <a:cs typeface="Cambria Math"/>
              </a:rPr>
              <a:t>W</a:t>
            </a:r>
            <a:r>
              <a:rPr dirty="0" baseline="-15700" sz="3450" spc="300">
                <a:latin typeface="Cambria Math"/>
                <a:cs typeface="Cambria Math"/>
              </a:rPr>
              <a:t>'</a:t>
            </a:r>
            <a:r>
              <a:rPr dirty="0" sz="3200" spc="200">
                <a:latin typeface="Cambria Math"/>
                <a:cs typeface="Cambria Math"/>
              </a:rPr>
              <a:t>}</a:t>
            </a:r>
            <a:endParaRPr sz="3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>
              <a:latin typeface="Times New Roman"/>
              <a:cs typeface="Times New Roman"/>
            </a:endParaRPr>
          </a:p>
          <a:p>
            <a:pPr marL="1939289">
              <a:lnSpc>
                <a:spcPts val="1860"/>
              </a:lnSpc>
            </a:pP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In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other</a:t>
            </a:r>
            <a:r>
              <a:rPr dirty="0" sz="16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words:</a:t>
            </a:r>
            <a:endParaRPr sz="1600">
              <a:latin typeface="Arial"/>
              <a:cs typeface="Arial"/>
            </a:endParaRPr>
          </a:p>
          <a:p>
            <a:pPr marL="2205990" marR="5080" indent="-219075">
              <a:lnSpc>
                <a:spcPts val="1900"/>
              </a:lnSpc>
              <a:spcBef>
                <a:spcPts val="15"/>
              </a:spcBef>
              <a:tabLst>
                <a:tab pos="2447290" algn="l"/>
              </a:tabLst>
            </a:pPr>
            <a:r>
              <a:rPr dirty="0" sz="1600">
                <a:solidFill>
                  <a:srgbClr val="D60093"/>
                </a:solidFill>
                <a:latin typeface="Cambria Math"/>
                <a:cs typeface="Cambria Math"/>
              </a:rPr>
              <a:t>𝑓  </a:t>
            </a:r>
            <a:r>
              <a:rPr dirty="0" sz="160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1600">
                <a:latin typeface="Cambria Math"/>
                <a:cs typeface="Cambria Math"/>
              </a:rPr>
              <a:t>=</a:t>
            </a:r>
            <a:r>
              <a:rPr dirty="0" sz="1600" spc="50">
                <a:latin typeface="Cambria Math"/>
                <a:cs typeface="Cambria Math"/>
              </a:rPr>
              <a:t> </a:t>
            </a:r>
            <a:r>
              <a:rPr dirty="0" sz="1600" spc="-105">
                <a:latin typeface="Cambria Math"/>
                <a:cs typeface="Cambria Math"/>
              </a:rPr>
              <a:t>𝑊</a:t>
            </a:r>
            <a:r>
              <a:rPr dirty="0" baseline="-13888" sz="1800" spc="-157">
                <a:latin typeface="Cambria Math"/>
                <a:cs typeface="Cambria Math"/>
              </a:rPr>
              <a:t>𝟐  </a:t>
            </a:r>
            <a:r>
              <a:rPr dirty="0" baseline="-13888" sz="1800" spc="-150">
                <a:latin typeface="Cambria Math"/>
                <a:cs typeface="Cambria Math"/>
              </a:rPr>
              <a:t> </a:t>
            </a:r>
            <a:r>
              <a:rPr dirty="0" sz="1600" spc="75">
                <a:latin typeface="Cambria Math"/>
                <a:cs typeface="Cambria Math"/>
              </a:rPr>
              <a:t>𝑊</a:t>
            </a:r>
            <a:r>
              <a:rPr dirty="0" baseline="-13888" sz="1800" spc="112">
                <a:latin typeface="Cambria Math"/>
                <a:cs typeface="Cambria Math"/>
              </a:rPr>
              <a:t>.</a:t>
            </a:r>
            <a:r>
              <a:rPr dirty="0" sz="1600" spc="75">
                <a:solidFill>
                  <a:srgbClr val="0070C0"/>
                </a:solidFill>
                <a:latin typeface="Cambria Math"/>
                <a:cs typeface="Cambria Math"/>
              </a:rPr>
              <a:t>𝒙 </a:t>
            </a:r>
            <a:r>
              <a:rPr dirty="0" sz="160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1600" spc="10">
                <a:latin typeface="Cambria Math"/>
                <a:cs typeface="Cambria Math"/>
              </a:rPr>
              <a:t>ℎ(𝑥) </a:t>
            </a:r>
            <a:r>
              <a:rPr dirty="0" sz="1600">
                <a:latin typeface="Cambria Math"/>
                <a:cs typeface="Cambria Math"/>
              </a:rPr>
              <a:t>=</a:t>
            </a:r>
            <a:r>
              <a:rPr dirty="0" sz="1600" spc="80">
                <a:latin typeface="Cambria Math"/>
                <a:cs typeface="Cambria Math"/>
              </a:rPr>
              <a:t> </a:t>
            </a:r>
            <a:r>
              <a:rPr dirty="0" sz="1600" spc="75">
                <a:latin typeface="Cambria Math"/>
                <a:cs typeface="Cambria Math"/>
              </a:rPr>
              <a:t>𝑊</a:t>
            </a:r>
            <a:r>
              <a:rPr dirty="0" baseline="-13888" sz="1800" spc="112">
                <a:latin typeface="Cambria Math"/>
                <a:cs typeface="Cambria Math"/>
              </a:rPr>
              <a:t>.</a:t>
            </a:r>
            <a:r>
              <a:rPr dirty="0" sz="1600" spc="75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endParaRPr sz="1600">
              <a:latin typeface="Cambria Math"/>
              <a:cs typeface="Cambria Math"/>
            </a:endParaRPr>
          </a:p>
          <a:p>
            <a:pPr marL="2225675">
              <a:lnSpc>
                <a:spcPct val="100000"/>
              </a:lnSpc>
              <a:spcBef>
                <a:spcPts val="10"/>
              </a:spcBef>
              <a:tabLst>
                <a:tab pos="2652395" algn="l"/>
              </a:tabLst>
            </a:pPr>
            <a:r>
              <a:rPr dirty="0" sz="1600">
                <a:latin typeface="Cambria Math"/>
                <a:cs typeface="Cambria Math"/>
              </a:rPr>
              <a:t>g</a:t>
            </a:r>
            <a:r>
              <a:rPr dirty="0" sz="1600" spc="30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𝑧	= </a:t>
            </a:r>
            <a:r>
              <a:rPr dirty="0" sz="1600" spc="-25">
                <a:latin typeface="Cambria Math"/>
                <a:cs typeface="Cambria Math"/>
              </a:rPr>
              <a:t>𝑊</a:t>
            </a:r>
            <a:r>
              <a:rPr dirty="0" baseline="-16203" sz="1800" spc="-37">
                <a:latin typeface="Cambria Math"/>
                <a:cs typeface="Cambria Math"/>
              </a:rPr>
              <a:t>/</a:t>
            </a:r>
            <a:r>
              <a:rPr dirty="0" sz="1600" spc="-25">
                <a:latin typeface="Cambria Math"/>
                <a:cs typeface="Cambria Math"/>
              </a:rPr>
              <a:t>𝑧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3609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249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E66C7D"/>
                </a:solidFill>
                <a:latin typeface="Calibri"/>
                <a:cs typeface="Calibri"/>
              </a:rPr>
              <a:t>Example: </a:t>
            </a:r>
            <a:r>
              <a:rPr dirty="0">
                <a:solidFill>
                  <a:srgbClr val="E66C7D"/>
                </a:solidFill>
              </a:rPr>
              <a:t>Simple </a:t>
            </a:r>
            <a:r>
              <a:rPr dirty="0" spc="-20">
                <a:solidFill>
                  <a:srgbClr val="E66C7D"/>
                </a:solidFill>
              </a:rPr>
              <a:t>2-layer </a:t>
            </a:r>
            <a:r>
              <a:rPr dirty="0" spc="-5">
                <a:solidFill>
                  <a:srgbClr val="E66C7D"/>
                </a:solidFill>
              </a:rPr>
              <a:t>linear</a:t>
            </a:r>
            <a:r>
              <a:rPr dirty="0" spc="5">
                <a:solidFill>
                  <a:srgbClr val="E66C7D"/>
                </a:solidFill>
              </a:rPr>
              <a:t> </a:t>
            </a:r>
            <a:r>
              <a:rPr dirty="0" spc="-10">
                <a:solidFill>
                  <a:srgbClr val="E66C7D"/>
                </a:solidFill>
              </a:rPr>
              <a:t>network</a:t>
            </a:r>
          </a:p>
        </p:txBody>
      </p:sp>
      <p:sp>
        <p:nvSpPr>
          <p:cNvPr id="4" name="object 4"/>
          <p:cNvSpPr/>
          <p:nvPr/>
        </p:nvSpPr>
        <p:spPr>
          <a:xfrm>
            <a:off x="1222343" y="19969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4" h="376555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9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5" y="219533"/>
                </a:lnTo>
                <a:lnTo>
                  <a:pt x="453953" y="276782"/>
                </a:lnTo>
                <a:lnTo>
                  <a:pt x="431554" y="321493"/>
                </a:lnTo>
                <a:lnTo>
                  <a:pt x="397473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1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7" y="9853"/>
                </a:lnTo>
                <a:lnTo>
                  <a:pt x="380785" y="0"/>
                </a:lnTo>
                <a:close/>
              </a:path>
              <a:path w="501014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5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79782" y="1939749"/>
            <a:ext cx="1091565" cy="491490"/>
          </a:xfrm>
          <a:custGeom>
            <a:avLst/>
            <a:gdLst/>
            <a:ahLst/>
            <a:cxnLst/>
            <a:rect l="l" t="t" r="r" b="b"/>
            <a:pathLst>
              <a:path w="1091564" h="491489">
                <a:moveTo>
                  <a:pt x="962579" y="0"/>
                </a:moveTo>
                <a:lnTo>
                  <a:pt x="957619" y="16272"/>
                </a:lnTo>
                <a:lnTo>
                  <a:pt x="980172" y="27967"/>
                </a:lnTo>
                <a:lnTo>
                  <a:pt x="999812" y="44996"/>
                </a:lnTo>
                <a:lnTo>
                  <a:pt x="1030347" y="95051"/>
                </a:lnTo>
                <a:lnTo>
                  <a:pt x="1048875" y="163066"/>
                </a:lnTo>
                <a:lnTo>
                  <a:pt x="1053508" y="202542"/>
                </a:lnTo>
                <a:lnTo>
                  <a:pt x="1055052" y="245666"/>
                </a:lnTo>
                <a:lnTo>
                  <a:pt x="1053508" y="288695"/>
                </a:lnTo>
                <a:lnTo>
                  <a:pt x="1048875" y="328091"/>
                </a:lnTo>
                <a:lnTo>
                  <a:pt x="1030347" y="395982"/>
                </a:lnTo>
                <a:lnTo>
                  <a:pt x="999812" y="445963"/>
                </a:lnTo>
                <a:lnTo>
                  <a:pt x="957619" y="474662"/>
                </a:lnTo>
                <a:lnTo>
                  <a:pt x="962579" y="490935"/>
                </a:lnTo>
                <a:lnTo>
                  <a:pt x="1017398" y="461715"/>
                </a:lnTo>
                <a:lnTo>
                  <a:pt x="1058029" y="406599"/>
                </a:lnTo>
                <a:lnTo>
                  <a:pt x="1072701" y="371004"/>
                </a:lnTo>
                <a:lnTo>
                  <a:pt x="1083181" y="332284"/>
                </a:lnTo>
                <a:lnTo>
                  <a:pt x="1089469" y="290438"/>
                </a:lnTo>
                <a:lnTo>
                  <a:pt x="1091564" y="245468"/>
                </a:lnTo>
                <a:lnTo>
                  <a:pt x="1089469" y="200497"/>
                </a:lnTo>
                <a:lnTo>
                  <a:pt x="1083181" y="158651"/>
                </a:lnTo>
                <a:lnTo>
                  <a:pt x="1072701" y="119931"/>
                </a:lnTo>
                <a:lnTo>
                  <a:pt x="1058029" y="84336"/>
                </a:lnTo>
                <a:lnTo>
                  <a:pt x="1017398" y="29220"/>
                </a:lnTo>
                <a:lnTo>
                  <a:pt x="991762" y="11373"/>
                </a:lnTo>
                <a:lnTo>
                  <a:pt x="962579" y="0"/>
                </a:lnTo>
                <a:close/>
              </a:path>
              <a:path w="1091564" h="491489">
                <a:moveTo>
                  <a:pt x="128983" y="0"/>
                </a:moveTo>
                <a:lnTo>
                  <a:pt x="74165" y="29220"/>
                </a:lnTo>
                <a:lnTo>
                  <a:pt x="33535" y="84336"/>
                </a:lnTo>
                <a:lnTo>
                  <a:pt x="18863" y="119931"/>
                </a:lnTo>
                <a:lnTo>
                  <a:pt x="8383" y="158651"/>
                </a:lnTo>
                <a:lnTo>
                  <a:pt x="2095" y="200497"/>
                </a:lnTo>
                <a:lnTo>
                  <a:pt x="0" y="245468"/>
                </a:lnTo>
                <a:lnTo>
                  <a:pt x="2095" y="290438"/>
                </a:lnTo>
                <a:lnTo>
                  <a:pt x="8383" y="332284"/>
                </a:lnTo>
                <a:lnTo>
                  <a:pt x="18863" y="371004"/>
                </a:lnTo>
                <a:lnTo>
                  <a:pt x="33535" y="406599"/>
                </a:lnTo>
                <a:lnTo>
                  <a:pt x="74165" y="461715"/>
                </a:lnTo>
                <a:lnTo>
                  <a:pt x="128983" y="490935"/>
                </a:lnTo>
                <a:lnTo>
                  <a:pt x="133945" y="474662"/>
                </a:lnTo>
                <a:lnTo>
                  <a:pt x="111391" y="462973"/>
                </a:lnTo>
                <a:lnTo>
                  <a:pt x="91752" y="445963"/>
                </a:lnTo>
                <a:lnTo>
                  <a:pt x="61217" y="395982"/>
                </a:lnTo>
                <a:lnTo>
                  <a:pt x="42688" y="328091"/>
                </a:lnTo>
                <a:lnTo>
                  <a:pt x="38056" y="288695"/>
                </a:lnTo>
                <a:lnTo>
                  <a:pt x="36512" y="245666"/>
                </a:lnTo>
                <a:lnTo>
                  <a:pt x="38056" y="202542"/>
                </a:lnTo>
                <a:lnTo>
                  <a:pt x="42688" y="163066"/>
                </a:lnTo>
                <a:lnTo>
                  <a:pt x="61217" y="95051"/>
                </a:lnTo>
                <a:lnTo>
                  <a:pt x="91752" y="44996"/>
                </a:lnTo>
                <a:lnTo>
                  <a:pt x="133945" y="16272"/>
                </a:lnTo>
                <a:lnTo>
                  <a:pt x="1289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94691" y="1996972"/>
            <a:ext cx="494665" cy="376555"/>
          </a:xfrm>
          <a:custGeom>
            <a:avLst/>
            <a:gdLst/>
            <a:ahLst/>
            <a:cxnLst/>
            <a:rect l="l" t="t" r="r" b="b"/>
            <a:pathLst>
              <a:path w="494664" h="376555">
                <a:moveTo>
                  <a:pt x="374054" y="0"/>
                </a:moveTo>
                <a:lnTo>
                  <a:pt x="368696" y="15279"/>
                </a:lnTo>
                <a:lnTo>
                  <a:pt x="390487" y="24736"/>
                </a:lnTo>
                <a:lnTo>
                  <a:pt x="409227" y="37826"/>
                </a:lnTo>
                <a:lnTo>
                  <a:pt x="437554" y="74909"/>
                </a:lnTo>
                <a:lnTo>
                  <a:pt x="454223" y="124940"/>
                </a:lnTo>
                <a:lnTo>
                  <a:pt x="459779" y="186331"/>
                </a:lnTo>
                <a:lnTo>
                  <a:pt x="458384" y="219533"/>
                </a:lnTo>
                <a:lnTo>
                  <a:pt x="447222" y="276782"/>
                </a:lnTo>
                <a:lnTo>
                  <a:pt x="424823" y="321493"/>
                </a:lnTo>
                <a:lnTo>
                  <a:pt x="390741" y="351655"/>
                </a:lnTo>
                <a:lnTo>
                  <a:pt x="369291" y="361156"/>
                </a:lnTo>
                <a:lnTo>
                  <a:pt x="374054" y="376435"/>
                </a:lnTo>
                <a:lnTo>
                  <a:pt x="425399" y="352349"/>
                </a:lnTo>
                <a:lnTo>
                  <a:pt x="463152" y="310653"/>
                </a:lnTo>
                <a:lnTo>
                  <a:pt x="486369" y="254818"/>
                </a:lnTo>
                <a:lnTo>
                  <a:pt x="494108" y="188316"/>
                </a:lnTo>
                <a:lnTo>
                  <a:pt x="492167" y="153807"/>
                </a:lnTo>
                <a:lnTo>
                  <a:pt x="476640" y="92638"/>
                </a:lnTo>
                <a:lnTo>
                  <a:pt x="445845" y="42843"/>
                </a:lnTo>
                <a:lnTo>
                  <a:pt x="401345" y="9853"/>
                </a:lnTo>
                <a:lnTo>
                  <a:pt x="374054" y="0"/>
                </a:lnTo>
                <a:close/>
              </a:path>
              <a:path w="49466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8108" y="1882140"/>
            <a:ext cx="27387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736600" algn="l"/>
                <a:tab pos="1253490" algn="l"/>
                <a:tab pos="2108200" algn="l"/>
                <a:tab pos="2508885" algn="l"/>
              </a:tabLst>
            </a:pP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𝑓	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𝑔	ℎ	𝑥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98282" y="1996972"/>
            <a:ext cx="1012190" cy="376555"/>
          </a:xfrm>
          <a:custGeom>
            <a:avLst/>
            <a:gdLst/>
            <a:ahLst/>
            <a:cxnLst/>
            <a:rect l="l" t="t" r="r" b="b"/>
            <a:pathLst>
              <a:path w="1012189" h="376555">
                <a:moveTo>
                  <a:pt x="891515" y="0"/>
                </a:moveTo>
                <a:lnTo>
                  <a:pt x="886157" y="15279"/>
                </a:lnTo>
                <a:lnTo>
                  <a:pt x="907948" y="24736"/>
                </a:lnTo>
                <a:lnTo>
                  <a:pt x="926688" y="37826"/>
                </a:lnTo>
                <a:lnTo>
                  <a:pt x="955015" y="74909"/>
                </a:lnTo>
                <a:lnTo>
                  <a:pt x="971684" y="124940"/>
                </a:lnTo>
                <a:lnTo>
                  <a:pt x="977240" y="186331"/>
                </a:lnTo>
                <a:lnTo>
                  <a:pt x="975845" y="219533"/>
                </a:lnTo>
                <a:lnTo>
                  <a:pt x="964683" y="276782"/>
                </a:lnTo>
                <a:lnTo>
                  <a:pt x="942284" y="321493"/>
                </a:lnTo>
                <a:lnTo>
                  <a:pt x="908202" y="351655"/>
                </a:lnTo>
                <a:lnTo>
                  <a:pt x="886753" y="361156"/>
                </a:lnTo>
                <a:lnTo>
                  <a:pt x="891515" y="376435"/>
                </a:lnTo>
                <a:lnTo>
                  <a:pt x="942861" y="352349"/>
                </a:lnTo>
                <a:lnTo>
                  <a:pt x="980613" y="310653"/>
                </a:lnTo>
                <a:lnTo>
                  <a:pt x="1003831" y="254818"/>
                </a:lnTo>
                <a:lnTo>
                  <a:pt x="1011570" y="188316"/>
                </a:lnTo>
                <a:lnTo>
                  <a:pt x="1009629" y="153807"/>
                </a:lnTo>
                <a:lnTo>
                  <a:pt x="994101" y="92638"/>
                </a:lnTo>
                <a:lnTo>
                  <a:pt x="963306" y="42843"/>
                </a:lnTo>
                <a:lnTo>
                  <a:pt x="918806" y="9853"/>
                </a:lnTo>
                <a:lnTo>
                  <a:pt x="891515" y="0"/>
                </a:lnTo>
                <a:close/>
              </a:path>
              <a:path w="1012189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807269" y="1882140"/>
            <a:ext cx="188213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</a:tabLst>
            </a:pP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 spc="-215">
                <a:latin typeface="Cambria Math"/>
                <a:cs typeface="Cambria Math"/>
              </a:rPr>
              <a:t>𝑊</a:t>
            </a:r>
            <a:r>
              <a:rPr dirty="0" baseline="-15700" sz="3450" spc="-322">
                <a:latin typeface="Cambria Math"/>
                <a:cs typeface="Cambria Math"/>
              </a:rPr>
              <a:t>𝟐	</a:t>
            </a:r>
            <a:r>
              <a:rPr dirty="0" sz="3200" spc="-220">
                <a:latin typeface="Cambria Math"/>
                <a:cs typeface="Cambria Math"/>
              </a:rPr>
              <a:t>𝑊</a:t>
            </a:r>
            <a:r>
              <a:rPr dirty="0" baseline="-15700" sz="3450" spc="-330">
                <a:latin typeface="Cambria Math"/>
                <a:cs typeface="Cambria Math"/>
              </a:rPr>
              <a:t>&amp;</a:t>
            </a:r>
            <a:r>
              <a:rPr dirty="0" sz="3200" spc="-22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46052" y="3307803"/>
            <a:ext cx="602615" cy="271145"/>
          </a:xfrm>
          <a:custGeom>
            <a:avLst/>
            <a:gdLst/>
            <a:ahLst/>
            <a:cxnLst/>
            <a:rect l="l" t="t" r="r" b="b"/>
            <a:pathLst>
              <a:path w="602614" h="271145">
                <a:moveTo>
                  <a:pt x="516299" y="0"/>
                </a:moveTo>
                <a:lnTo>
                  <a:pt x="512447" y="10981"/>
                </a:lnTo>
                <a:lnTo>
                  <a:pt x="528110" y="17778"/>
                </a:lnTo>
                <a:lnTo>
                  <a:pt x="541579" y="27187"/>
                </a:lnTo>
                <a:lnTo>
                  <a:pt x="568928" y="70800"/>
                </a:lnTo>
                <a:lnTo>
                  <a:pt x="576915" y="110843"/>
                </a:lnTo>
                <a:lnTo>
                  <a:pt x="577913" y="133926"/>
                </a:lnTo>
                <a:lnTo>
                  <a:pt x="576910" y="157789"/>
                </a:lnTo>
                <a:lnTo>
                  <a:pt x="568888" y="198937"/>
                </a:lnTo>
                <a:lnTo>
                  <a:pt x="541597" y="243249"/>
                </a:lnTo>
                <a:lnTo>
                  <a:pt x="512875" y="259580"/>
                </a:lnTo>
                <a:lnTo>
                  <a:pt x="516299" y="270563"/>
                </a:lnTo>
                <a:lnTo>
                  <a:pt x="553204" y="253251"/>
                </a:lnTo>
                <a:lnTo>
                  <a:pt x="580337" y="223282"/>
                </a:lnTo>
                <a:lnTo>
                  <a:pt x="597025" y="183150"/>
                </a:lnTo>
                <a:lnTo>
                  <a:pt x="602588" y="135352"/>
                </a:lnTo>
                <a:lnTo>
                  <a:pt x="601193" y="110548"/>
                </a:lnTo>
                <a:lnTo>
                  <a:pt x="590032" y="66584"/>
                </a:lnTo>
                <a:lnTo>
                  <a:pt x="567898" y="30793"/>
                </a:lnTo>
                <a:lnTo>
                  <a:pt x="535915" y="7082"/>
                </a:lnTo>
                <a:lnTo>
                  <a:pt x="516299" y="0"/>
                </a:lnTo>
                <a:close/>
              </a:path>
              <a:path w="602614" h="271145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8108" y="3107436"/>
            <a:ext cx="24701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aseline="14756" sz="4800">
                <a:solidFill>
                  <a:srgbClr val="C00000"/>
                </a:solidFill>
                <a:latin typeface="Cambria Math"/>
                <a:cs typeface="Cambria Math"/>
              </a:rPr>
              <a:t>ℒ </a:t>
            </a:r>
            <a:r>
              <a:rPr dirty="0" baseline="14756" sz="4800">
                <a:latin typeface="Cambria Math"/>
                <a:cs typeface="Cambria Math"/>
              </a:rPr>
              <a:t>= </a:t>
            </a:r>
            <a:r>
              <a:rPr dirty="0" baseline="17361" sz="4800">
                <a:latin typeface="Cambria Math"/>
                <a:cs typeface="Cambria Math"/>
              </a:rPr>
              <a:t>∑ </a:t>
            </a:r>
            <a:r>
              <a:rPr dirty="0" sz="2300" spc="0">
                <a:latin typeface="Cambria Math"/>
                <a:cs typeface="Cambria Math"/>
              </a:rPr>
              <a:t>𝒙,𝒚  </a:t>
            </a:r>
            <a:r>
              <a:rPr dirty="0" sz="2300" spc="85">
                <a:latin typeface="Cambria Math"/>
                <a:cs typeface="Cambria Math"/>
              </a:rPr>
              <a:t> </a:t>
            </a:r>
            <a:r>
              <a:rPr dirty="0" sz="2300" spc="0">
                <a:latin typeface="Cambria Math"/>
                <a:cs typeface="Cambria Math"/>
              </a:rPr>
              <a:t>∈𝓑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71067" y="2969379"/>
            <a:ext cx="0" cy="666750"/>
          </a:xfrm>
          <a:custGeom>
            <a:avLst/>
            <a:gdLst/>
            <a:ahLst/>
            <a:cxnLst/>
            <a:rect l="l" t="t" r="r" b="b"/>
            <a:pathLst>
              <a:path w="0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ln w="3234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12373" y="2969379"/>
            <a:ext cx="0" cy="666750"/>
          </a:xfrm>
          <a:custGeom>
            <a:avLst/>
            <a:gdLst/>
            <a:ahLst/>
            <a:cxnLst/>
            <a:rect l="l" t="t" r="r" b="b"/>
            <a:pathLst>
              <a:path w="0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ln w="3234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41587" y="3057349"/>
            <a:ext cx="0" cy="491490"/>
          </a:xfrm>
          <a:custGeom>
            <a:avLst/>
            <a:gdLst/>
            <a:ahLst/>
            <a:cxnLst/>
            <a:rect l="l" t="t" r="r" b="b"/>
            <a:pathLst>
              <a:path w="0" h="491489">
                <a:moveTo>
                  <a:pt x="0" y="0"/>
                </a:moveTo>
                <a:lnTo>
                  <a:pt x="0" y="490935"/>
                </a:lnTo>
              </a:path>
            </a:pathLst>
          </a:custGeom>
          <a:ln w="3056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41846" y="3057349"/>
            <a:ext cx="0" cy="491490"/>
          </a:xfrm>
          <a:custGeom>
            <a:avLst/>
            <a:gdLst/>
            <a:ahLst/>
            <a:cxnLst/>
            <a:rect l="l" t="t" r="r" b="b"/>
            <a:pathLst>
              <a:path w="0" h="491489">
                <a:moveTo>
                  <a:pt x="0" y="0"/>
                </a:moveTo>
                <a:lnTo>
                  <a:pt x="0" y="490935"/>
                </a:lnTo>
              </a:path>
            </a:pathLst>
          </a:custGeom>
          <a:ln w="30558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41858" y="3057349"/>
            <a:ext cx="1800225" cy="491490"/>
          </a:xfrm>
          <a:custGeom>
            <a:avLst/>
            <a:gdLst/>
            <a:ahLst/>
            <a:cxnLst/>
            <a:rect l="l" t="t" r="r" b="b"/>
            <a:pathLst>
              <a:path w="1800225" h="491489">
                <a:moveTo>
                  <a:pt x="1670731" y="0"/>
                </a:moveTo>
                <a:lnTo>
                  <a:pt x="1665771" y="16272"/>
                </a:lnTo>
                <a:lnTo>
                  <a:pt x="1688324" y="27967"/>
                </a:lnTo>
                <a:lnTo>
                  <a:pt x="1707964" y="44996"/>
                </a:lnTo>
                <a:lnTo>
                  <a:pt x="1738499" y="95051"/>
                </a:lnTo>
                <a:lnTo>
                  <a:pt x="1757027" y="163066"/>
                </a:lnTo>
                <a:lnTo>
                  <a:pt x="1761660" y="202542"/>
                </a:lnTo>
                <a:lnTo>
                  <a:pt x="1763204" y="245666"/>
                </a:lnTo>
                <a:lnTo>
                  <a:pt x="1761660" y="288695"/>
                </a:lnTo>
                <a:lnTo>
                  <a:pt x="1757027" y="328091"/>
                </a:lnTo>
                <a:lnTo>
                  <a:pt x="1738499" y="395982"/>
                </a:lnTo>
                <a:lnTo>
                  <a:pt x="1707964" y="445963"/>
                </a:lnTo>
                <a:lnTo>
                  <a:pt x="1665771" y="474662"/>
                </a:lnTo>
                <a:lnTo>
                  <a:pt x="1670731" y="490935"/>
                </a:lnTo>
                <a:lnTo>
                  <a:pt x="1725550" y="461715"/>
                </a:lnTo>
                <a:lnTo>
                  <a:pt x="1766180" y="406599"/>
                </a:lnTo>
                <a:lnTo>
                  <a:pt x="1780852" y="371004"/>
                </a:lnTo>
                <a:lnTo>
                  <a:pt x="1791332" y="332284"/>
                </a:lnTo>
                <a:lnTo>
                  <a:pt x="1797621" y="290438"/>
                </a:lnTo>
                <a:lnTo>
                  <a:pt x="1799717" y="245468"/>
                </a:lnTo>
                <a:lnTo>
                  <a:pt x="1797621" y="200497"/>
                </a:lnTo>
                <a:lnTo>
                  <a:pt x="1791332" y="158651"/>
                </a:lnTo>
                <a:lnTo>
                  <a:pt x="1780852" y="119931"/>
                </a:lnTo>
                <a:lnTo>
                  <a:pt x="1766180" y="84336"/>
                </a:lnTo>
                <a:lnTo>
                  <a:pt x="1725550" y="29220"/>
                </a:lnTo>
                <a:lnTo>
                  <a:pt x="1699914" y="11373"/>
                </a:lnTo>
                <a:lnTo>
                  <a:pt x="1670731" y="0"/>
                </a:lnTo>
                <a:close/>
              </a:path>
              <a:path w="1800225" h="491489">
                <a:moveTo>
                  <a:pt x="128983" y="0"/>
                </a:moveTo>
                <a:lnTo>
                  <a:pt x="74165" y="29220"/>
                </a:lnTo>
                <a:lnTo>
                  <a:pt x="33535" y="84336"/>
                </a:lnTo>
                <a:lnTo>
                  <a:pt x="18863" y="119931"/>
                </a:lnTo>
                <a:lnTo>
                  <a:pt x="8383" y="158651"/>
                </a:lnTo>
                <a:lnTo>
                  <a:pt x="2095" y="200497"/>
                </a:lnTo>
                <a:lnTo>
                  <a:pt x="0" y="245468"/>
                </a:lnTo>
                <a:lnTo>
                  <a:pt x="2095" y="290438"/>
                </a:lnTo>
                <a:lnTo>
                  <a:pt x="8383" y="332284"/>
                </a:lnTo>
                <a:lnTo>
                  <a:pt x="18863" y="371004"/>
                </a:lnTo>
                <a:lnTo>
                  <a:pt x="33535" y="406599"/>
                </a:lnTo>
                <a:lnTo>
                  <a:pt x="74165" y="461715"/>
                </a:lnTo>
                <a:lnTo>
                  <a:pt x="128983" y="490935"/>
                </a:lnTo>
                <a:lnTo>
                  <a:pt x="133944" y="474662"/>
                </a:lnTo>
                <a:lnTo>
                  <a:pt x="111391" y="462973"/>
                </a:lnTo>
                <a:lnTo>
                  <a:pt x="91752" y="445963"/>
                </a:lnTo>
                <a:lnTo>
                  <a:pt x="61217" y="395982"/>
                </a:lnTo>
                <a:lnTo>
                  <a:pt x="42688" y="328091"/>
                </a:lnTo>
                <a:lnTo>
                  <a:pt x="38056" y="288695"/>
                </a:lnTo>
                <a:lnTo>
                  <a:pt x="36512" y="245666"/>
                </a:lnTo>
                <a:lnTo>
                  <a:pt x="38056" y="202542"/>
                </a:lnTo>
                <a:lnTo>
                  <a:pt x="42688" y="163066"/>
                </a:lnTo>
                <a:lnTo>
                  <a:pt x="61217" y="95051"/>
                </a:lnTo>
                <a:lnTo>
                  <a:pt x="91752" y="44996"/>
                </a:lnTo>
                <a:lnTo>
                  <a:pt x="133944" y="16272"/>
                </a:lnTo>
                <a:lnTo>
                  <a:pt x="12898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58188" y="31145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4" h="376554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8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5" y="219533"/>
                </a:lnTo>
                <a:lnTo>
                  <a:pt x="453953" y="276782"/>
                </a:lnTo>
                <a:lnTo>
                  <a:pt x="431554" y="321493"/>
                </a:lnTo>
                <a:lnTo>
                  <a:pt x="397472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0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6" y="9853"/>
                </a:lnTo>
                <a:lnTo>
                  <a:pt x="380785" y="0"/>
                </a:lnTo>
                <a:close/>
              </a:path>
              <a:path w="501014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76002" y="3000756"/>
            <a:ext cx="13627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5060" algn="l"/>
              </a:tabLst>
            </a:pPr>
            <a:r>
              <a:rPr dirty="0" sz="3200">
                <a:latin typeface="Cambria Math"/>
                <a:cs typeface="Cambria Math"/>
              </a:rPr>
              <a:t>𝒚,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−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𝑓	</a:t>
            </a:r>
            <a:r>
              <a:rPr dirty="0" sz="3200">
                <a:latin typeface="Cambria Math"/>
                <a:cs typeface="Cambria Math"/>
              </a:rPr>
              <a:t>𝒙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23547" y="3395471"/>
            <a:ext cx="2006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10313" y="3000756"/>
            <a:ext cx="31140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libri"/>
                <a:cs typeface="Calibri"/>
              </a:rPr>
              <a:t>sums </a:t>
            </a:r>
            <a:r>
              <a:rPr dirty="0" sz="3200">
                <a:latin typeface="Calibri"/>
                <a:cs typeface="Calibri"/>
              </a:rPr>
              <a:t>the L2 </a:t>
            </a:r>
            <a:r>
              <a:rPr dirty="0" sz="3200" spc="-5">
                <a:latin typeface="Calibri"/>
                <a:cs typeface="Calibri"/>
              </a:rPr>
              <a:t>loss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0513" y="5832273"/>
            <a:ext cx="437515" cy="329565"/>
          </a:xfrm>
          <a:custGeom>
            <a:avLst/>
            <a:gdLst/>
            <a:ahLst/>
            <a:cxnLst/>
            <a:rect l="l" t="t" r="r" b="b"/>
            <a:pathLst>
              <a:path w="437514" h="329564">
                <a:moveTo>
                  <a:pt x="332394" y="0"/>
                </a:moveTo>
                <a:lnTo>
                  <a:pt x="327705" y="13369"/>
                </a:lnTo>
                <a:lnTo>
                  <a:pt x="346772" y="21644"/>
                </a:lnTo>
                <a:lnTo>
                  <a:pt x="363170" y="33098"/>
                </a:lnTo>
                <a:lnTo>
                  <a:pt x="387957" y="65546"/>
                </a:lnTo>
                <a:lnTo>
                  <a:pt x="402541" y="109323"/>
                </a:lnTo>
                <a:lnTo>
                  <a:pt x="407403" y="163041"/>
                </a:lnTo>
                <a:lnTo>
                  <a:pt x="406182" y="192092"/>
                </a:lnTo>
                <a:lnTo>
                  <a:pt x="396415" y="242185"/>
                </a:lnTo>
                <a:lnTo>
                  <a:pt x="376816" y="281306"/>
                </a:lnTo>
                <a:lnTo>
                  <a:pt x="346995" y="307699"/>
                </a:lnTo>
                <a:lnTo>
                  <a:pt x="328226" y="316011"/>
                </a:lnTo>
                <a:lnTo>
                  <a:pt x="332394" y="329381"/>
                </a:lnTo>
                <a:lnTo>
                  <a:pt x="377321" y="308306"/>
                </a:lnTo>
                <a:lnTo>
                  <a:pt x="410354" y="271822"/>
                </a:lnTo>
                <a:lnTo>
                  <a:pt x="430669" y="222966"/>
                </a:lnTo>
                <a:lnTo>
                  <a:pt x="437441" y="164777"/>
                </a:lnTo>
                <a:lnTo>
                  <a:pt x="435743" y="134581"/>
                </a:lnTo>
                <a:lnTo>
                  <a:pt x="422156" y="81059"/>
                </a:lnTo>
                <a:lnTo>
                  <a:pt x="395211" y="37488"/>
                </a:lnTo>
                <a:lnTo>
                  <a:pt x="356274" y="8621"/>
                </a:lnTo>
                <a:lnTo>
                  <a:pt x="332394" y="0"/>
                </a:lnTo>
                <a:close/>
              </a:path>
              <a:path w="437514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50" y="296130"/>
                </a:lnTo>
                <a:lnTo>
                  <a:pt x="49573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39"/>
                </a:lnTo>
                <a:lnTo>
                  <a:pt x="41027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6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18108" y="3659123"/>
            <a:ext cx="8248650" cy="252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minibatch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𝓑</a:t>
            </a:r>
            <a:endParaRPr sz="3200">
              <a:latin typeface="Cambria Math"/>
              <a:cs typeface="Cambria Math"/>
            </a:endParaRPr>
          </a:p>
          <a:p>
            <a:pPr marL="332740" marR="328295" indent="-320040">
              <a:lnSpc>
                <a:spcPts val="379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Hidden </a:t>
            </a:r>
            <a:r>
              <a:rPr dirty="0" sz="3200" spc="-20" b="1">
                <a:solidFill>
                  <a:srgbClr val="60B5CC"/>
                </a:solidFill>
                <a:latin typeface="Calibri"/>
                <a:cs typeface="Calibri"/>
              </a:rPr>
              <a:t>layer: </a:t>
            </a:r>
            <a:r>
              <a:rPr dirty="0" sz="3200" spc="-15">
                <a:latin typeface="Calibri"/>
                <a:cs typeface="Calibri"/>
              </a:rPr>
              <a:t>intermediate representation </a:t>
            </a:r>
            <a:r>
              <a:rPr dirty="0" sz="3200" spc="-25">
                <a:latin typeface="Calibri"/>
                <a:cs typeface="Calibri"/>
              </a:rPr>
              <a:t>for  </a:t>
            </a:r>
            <a:r>
              <a:rPr dirty="0" sz="3200">
                <a:latin typeface="Calibri"/>
                <a:cs typeface="Calibri"/>
              </a:rPr>
              <a:t>input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endParaRPr sz="32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Here we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25">
                <a:latin typeface="Cambria Math"/>
                <a:cs typeface="Cambria Math"/>
              </a:rPr>
              <a:t>ℎ(𝑥)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130">
                <a:latin typeface="Cambria Math"/>
                <a:cs typeface="Cambria Math"/>
              </a:rPr>
              <a:t>𝑊</a:t>
            </a:r>
            <a:r>
              <a:rPr dirty="0" baseline="-16666" sz="3000" spc="195">
                <a:latin typeface="Cambria Math"/>
                <a:cs typeface="Cambria Math"/>
              </a:rPr>
              <a:t>.</a:t>
            </a:r>
            <a:r>
              <a:rPr dirty="0" sz="2800" spc="130">
                <a:solidFill>
                  <a:srgbClr val="0070C0"/>
                </a:solidFill>
                <a:latin typeface="Cambria Math"/>
                <a:cs typeface="Cambria Math"/>
              </a:rPr>
              <a:t>𝒙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denote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hidden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978535" algn="l"/>
                <a:tab pos="1429385" algn="l"/>
              </a:tabLst>
            </a:pPr>
            <a:r>
              <a:rPr dirty="0" sz="2800">
                <a:solidFill>
                  <a:srgbClr val="D60093"/>
                </a:solidFill>
                <a:latin typeface="Cambria Math"/>
                <a:cs typeface="Cambria Math"/>
              </a:rPr>
              <a:t>𝑓	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𝑊</a:t>
            </a:r>
            <a:r>
              <a:rPr dirty="0" baseline="-16666" sz="3000">
                <a:latin typeface="Cambria Math"/>
                <a:cs typeface="Cambria Math"/>
              </a:rPr>
              <a:t>/</a:t>
            </a:r>
            <a:r>
              <a:rPr dirty="0" sz="2800">
                <a:latin typeface="Cambria Math"/>
                <a:cs typeface="Cambria Math"/>
              </a:rPr>
              <a:t>ℎ(𝑥)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825196" y="2073907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30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825196" y="2517550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30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10341" y="2065953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30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210341" y="2527776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30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324360" y="2284986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30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48132" y="2155299"/>
            <a:ext cx="377190" cy="85725"/>
          </a:xfrm>
          <a:custGeom>
            <a:avLst/>
            <a:gdLst/>
            <a:ahLst/>
            <a:cxnLst/>
            <a:rect l="l" t="t" r="r" b="b"/>
            <a:pathLst>
              <a:path w="377190" h="85725">
                <a:moveTo>
                  <a:pt x="292299" y="0"/>
                </a:moveTo>
                <a:lnTo>
                  <a:pt x="291672" y="28568"/>
                </a:lnTo>
                <a:lnTo>
                  <a:pt x="313844" y="29055"/>
                </a:lnTo>
                <a:lnTo>
                  <a:pt x="320100" y="35590"/>
                </a:lnTo>
                <a:lnTo>
                  <a:pt x="319754" y="51367"/>
                </a:lnTo>
                <a:lnTo>
                  <a:pt x="313218" y="57622"/>
                </a:lnTo>
                <a:lnTo>
                  <a:pt x="291034" y="57622"/>
                </a:lnTo>
                <a:lnTo>
                  <a:pt x="290418" y="85704"/>
                </a:lnTo>
                <a:lnTo>
                  <a:pt x="349805" y="57622"/>
                </a:lnTo>
                <a:lnTo>
                  <a:pt x="313218" y="57622"/>
                </a:lnTo>
                <a:lnTo>
                  <a:pt x="291045" y="57136"/>
                </a:lnTo>
                <a:lnTo>
                  <a:pt x="350834" y="57136"/>
                </a:lnTo>
                <a:lnTo>
                  <a:pt x="377063" y="44733"/>
                </a:lnTo>
                <a:lnTo>
                  <a:pt x="292299" y="0"/>
                </a:lnTo>
                <a:close/>
              </a:path>
              <a:path w="377190" h="85725">
                <a:moveTo>
                  <a:pt x="291672" y="28568"/>
                </a:moveTo>
                <a:lnTo>
                  <a:pt x="291045" y="57136"/>
                </a:lnTo>
                <a:lnTo>
                  <a:pt x="313218" y="57622"/>
                </a:lnTo>
                <a:lnTo>
                  <a:pt x="319754" y="51367"/>
                </a:lnTo>
                <a:lnTo>
                  <a:pt x="320100" y="35590"/>
                </a:lnTo>
                <a:lnTo>
                  <a:pt x="313844" y="29055"/>
                </a:lnTo>
                <a:lnTo>
                  <a:pt x="291672" y="28568"/>
                </a:lnTo>
                <a:close/>
              </a:path>
              <a:path w="377190" h="85725">
                <a:moveTo>
                  <a:pt x="6880" y="22320"/>
                </a:moveTo>
                <a:lnTo>
                  <a:pt x="352" y="28568"/>
                </a:lnTo>
                <a:lnTo>
                  <a:pt x="0" y="44353"/>
                </a:lnTo>
                <a:lnTo>
                  <a:pt x="6254" y="50888"/>
                </a:lnTo>
                <a:lnTo>
                  <a:pt x="291045" y="57136"/>
                </a:lnTo>
                <a:lnTo>
                  <a:pt x="291672" y="28568"/>
                </a:lnTo>
                <a:lnTo>
                  <a:pt x="6880" y="22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446507" y="2175996"/>
            <a:ext cx="379095" cy="467995"/>
          </a:xfrm>
          <a:custGeom>
            <a:avLst/>
            <a:gdLst/>
            <a:ahLst/>
            <a:cxnLst/>
            <a:rect l="l" t="t" r="r" b="b"/>
            <a:pathLst>
              <a:path w="379095" h="467994">
                <a:moveTo>
                  <a:pt x="313876" y="409778"/>
                </a:moveTo>
                <a:lnTo>
                  <a:pt x="291594" y="427669"/>
                </a:lnTo>
                <a:lnTo>
                  <a:pt x="378687" y="467677"/>
                </a:lnTo>
                <a:lnTo>
                  <a:pt x="370122" y="428054"/>
                </a:lnTo>
                <a:lnTo>
                  <a:pt x="336754" y="428054"/>
                </a:lnTo>
                <a:lnTo>
                  <a:pt x="327761" y="427071"/>
                </a:lnTo>
                <a:lnTo>
                  <a:pt x="313876" y="409778"/>
                </a:lnTo>
                <a:close/>
              </a:path>
              <a:path w="379095" h="467994">
                <a:moveTo>
                  <a:pt x="336157" y="391888"/>
                </a:moveTo>
                <a:lnTo>
                  <a:pt x="313876" y="409778"/>
                </a:lnTo>
                <a:lnTo>
                  <a:pt x="327761" y="427071"/>
                </a:lnTo>
                <a:lnTo>
                  <a:pt x="336754" y="428054"/>
                </a:lnTo>
                <a:lnTo>
                  <a:pt x="349059" y="418174"/>
                </a:lnTo>
                <a:lnTo>
                  <a:pt x="350042" y="409181"/>
                </a:lnTo>
                <a:lnTo>
                  <a:pt x="336157" y="391888"/>
                </a:lnTo>
                <a:close/>
              </a:path>
              <a:path w="379095" h="467994">
                <a:moveTo>
                  <a:pt x="358438" y="373997"/>
                </a:moveTo>
                <a:lnTo>
                  <a:pt x="336157" y="391888"/>
                </a:lnTo>
                <a:lnTo>
                  <a:pt x="350042" y="409181"/>
                </a:lnTo>
                <a:lnTo>
                  <a:pt x="349059" y="418174"/>
                </a:lnTo>
                <a:lnTo>
                  <a:pt x="336754" y="428054"/>
                </a:lnTo>
                <a:lnTo>
                  <a:pt x="370122" y="428054"/>
                </a:lnTo>
                <a:lnTo>
                  <a:pt x="358438" y="373997"/>
                </a:lnTo>
                <a:close/>
              </a:path>
              <a:path w="379095" h="467994">
                <a:moveTo>
                  <a:pt x="13288" y="0"/>
                </a:moveTo>
                <a:lnTo>
                  <a:pt x="982" y="9880"/>
                </a:lnTo>
                <a:lnTo>
                  <a:pt x="0" y="18873"/>
                </a:lnTo>
                <a:lnTo>
                  <a:pt x="313876" y="409778"/>
                </a:lnTo>
                <a:lnTo>
                  <a:pt x="336157" y="391888"/>
                </a:lnTo>
                <a:lnTo>
                  <a:pt x="22280" y="982"/>
                </a:lnTo>
                <a:lnTo>
                  <a:pt x="13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46501" y="2200032"/>
            <a:ext cx="379095" cy="470534"/>
          </a:xfrm>
          <a:custGeom>
            <a:avLst/>
            <a:gdLst/>
            <a:ahLst/>
            <a:cxnLst/>
            <a:rect l="l" t="t" r="r" b="b"/>
            <a:pathLst>
              <a:path w="379095" h="470535">
                <a:moveTo>
                  <a:pt x="314023" y="58056"/>
                </a:moveTo>
                <a:lnTo>
                  <a:pt x="0" y="451114"/>
                </a:lnTo>
                <a:lnTo>
                  <a:pt x="1004" y="460104"/>
                </a:lnTo>
                <a:lnTo>
                  <a:pt x="13333" y="469955"/>
                </a:lnTo>
                <a:lnTo>
                  <a:pt x="22324" y="468950"/>
                </a:lnTo>
                <a:lnTo>
                  <a:pt x="336348" y="75892"/>
                </a:lnTo>
                <a:lnTo>
                  <a:pt x="314023" y="58056"/>
                </a:lnTo>
                <a:close/>
              </a:path>
              <a:path w="379095" h="470535">
                <a:moveTo>
                  <a:pt x="370208" y="39724"/>
                </a:moveTo>
                <a:lnTo>
                  <a:pt x="336857" y="39724"/>
                </a:lnTo>
                <a:lnTo>
                  <a:pt x="349186" y="49574"/>
                </a:lnTo>
                <a:lnTo>
                  <a:pt x="350192" y="58564"/>
                </a:lnTo>
                <a:lnTo>
                  <a:pt x="336348" y="75892"/>
                </a:lnTo>
                <a:lnTo>
                  <a:pt x="358673" y="93728"/>
                </a:lnTo>
                <a:lnTo>
                  <a:pt x="370208" y="39724"/>
                </a:lnTo>
                <a:close/>
              </a:path>
              <a:path w="379095" h="470535">
                <a:moveTo>
                  <a:pt x="336857" y="39724"/>
                </a:moveTo>
                <a:lnTo>
                  <a:pt x="327867" y="40728"/>
                </a:lnTo>
                <a:lnTo>
                  <a:pt x="314023" y="58056"/>
                </a:lnTo>
                <a:lnTo>
                  <a:pt x="336348" y="75892"/>
                </a:lnTo>
                <a:lnTo>
                  <a:pt x="350192" y="58564"/>
                </a:lnTo>
                <a:lnTo>
                  <a:pt x="349186" y="49574"/>
                </a:lnTo>
                <a:lnTo>
                  <a:pt x="336857" y="39724"/>
                </a:lnTo>
                <a:close/>
              </a:path>
              <a:path w="379095" h="470535">
                <a:moveTo>
                  <a:pt x="378693" y="0"/>
                </a:moveTo>
                <a:lnTo>
                  <a:pt x="291698" y="40220"/>
                </a:lnTo>
                <a:lnTo>
                  <a:pt x="314023" y="58056"/>
                </a:lnTo>
                <a:lnTo>
                  <a:pt x="327867" y="40728"/>
                </a:lnTo>
                <a:lnTo>
                  <a:pt x="336857" y="39724"/>
                </a:lnTo>
                <a:lnTo>
                  <a:pt x="370208" y="39724"/>
                </a:lnTo>
                <a:lnTo>
                  <a:pt x="3786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48084" y="2603244"/>
            <a:ext cx="377190" cy="85725"/>
          </a:xfrm>
          <a:custGeom>
            <a:avLst/>
            <a:gdLst/>
            <a:ahLst/>
            <a:cxnLst/>
            <a:rect l="l" t="t" r="r" b="b"/>
            <a:pathLst>
              <a:path w="377190" h="85725">
                <a:moveTo>
                  <a:pt x="350264" y="27938"/>
                </a:moveTo>
                <a:lnTo>
                  <a:pt x="313187" y="27938"/>
                </a:lnTo>
                <a:lnTo>
                  <a:pt x="319761" y="34152"/>
                </a:lnTo>
                <a:lnTo>
                  <a:pt x="320206" y="49927"/>
                </a:lnTo>
                <a:lnTo>
                  <a:pt x="313993" y="56502"/>
                </a:lnTo>
                <a:lnTo>
                  <a:pt x="291823" y="57127"/>
                </a:lnTo>
                <a:lnTo>
                  <a:pt x="292629" y="85690"/>
                </a:lnTo>
                <a:lnTo>
                  <a:pt x="377111" y="40429"/>
                </a:lnTo>
                <a:lnTo>
                  <a:pt x="350264" y="27938"/>
                </a:lnTo>
                <a:close/>
              </a:path>
              <a:path w="377190" h="85725">
                <a:moveTo>
                  <a:pt x="291018" y="28563"/>
                </a:moveTo>
                <a:lnTo>
                  <a:pt x="6214" y="36596"/>
                </a:lnTo>
                <a:lnTo>
                  <a:pt x="0" y="43169"/>
                </a:lnTo>
                <a:lnTo>
                  <a:pt x="445" y="58945"/>
                </a:lnTo>
                <a:lnTo>
                  <a:pt x="7020" y="65159"/>
                </a:lnTo>
                <a:lnTo>
                  <a:pt x="291823" y="57127"/>
                </a:lnTo>
                <a:lnTo>
                  <a:pt x="291018" y="28563"/>
                </a:lnTo>
                <a:close/>
              </a:path>
              <a:path w="377190" h="85725">
                <a:moveTo>
                  <a:pt x="313187" y="27938"/>
                </a:moveTo>
                <a:lnTo>
                  <a:pt x="291018" y="28563"/>
                </a:lnTo>
                <a:lnTo>
                  <a:pt x="291823" y="57127"/>
                </a:lnTo>
                <a:lnTo>
                  <a:pt x="313993" y="56502"/>
                </a:lnTo>
                <a:lnTo>
                  <a:pt x="320206" y="49927"/>
                </a:lnTo>
                <a:lnTo>
                  <a:pt x="319761" y="34152"/>
                </a:lnTo>
                <a:lnTo>
                  <a:pt x="313187" y="27938"/>
                </a:lnTo>
                <a:close/>
              </a:path>
              <a:path w="377190" h="85725">
                <a:moveTo>
                  <a:pt x="290212" y="0"/>
                </a:moveTo>
                <a:lnTo>
                  <a:pt x="291018" y="28563"/>
                </a:lnTo>
                <a:lnTo>
                  <a:pt x="313187" y="27938"/>
                </a:lnTo>
                <a:lnTo>
                  <a:pt x="350264" y="27938"/>
                </a:lnTo>
                <a:lnTo>
                  <a:pt x="2902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079056" y="2169706"/>
            <a:ext cx="245745" cy="241935"/>
          </a:xfrm>
          <a:custGeom>
            <a:avLst/>
            <a:gdLst/>
            <a:ahLst/>
            <a:cxnLst/>
            <a:rect l="l" t="t" r="r" b="b"/>
            <a:pathLst>
              <a:path w="245745" h="241935">
                <a:moveTo>
                  <a:pt x="174155" y="191498"/>
                </a:moveTo>
                <a:lnTo>
                  <a:pt x="154123" y="211876"/>
                </a:lnTo>
                <a:lnTo>
                  <a:pt x="245305" y="241405"/>
                </a:lnTo>
                <a:lnTo>
                  <a:pt x="233524" y="207045"/>
                </a:lnTo>
                <a:lnTo>
                  <a:pt x="189971" y="207045"/>
                </a:lnTo>
                <a:lnTo>
                  <a:pt x="174155" y="191498"/>
                </a:lnTo>
                <a:close/>
              </a:path>
              <a:path w="245745" h="241935">
                <a:moveTo>
                  <a:pt x="194186" y="171120"/>
                </a:moveTo>
                <a:lnTo>
                  <a:pt x="174155" y="191498"/>
                </a:lnTo>
                <a:lnTo>
                  <a:pt x="189971" y="207045"/>
                </a:lnTo>
                <a:lnTo>
                  <a:pt x="199017" y="206968"/>
                </a:lnTo>
                <a:lnTo>
                  <a:pt x="210080" y="195714"/>
                </a:lnTo>
                <a:lnTo>
                  <a:pt x="210003" y="186668"/>
                </a:lnTo>
                <a:lnTo>
                  <a:pt x="194186" y="171120"/>
                </a:lnTo>
                <a:close/>
              </a:path>
              <a:path w="245745" h="241935">
                <a:moveTo>
                  <a:pt x="214218" y="150742"/>
                </a:moveTo>
                <a:lnTo>
                  <a:pt x="194186" y="171120"/>
                </a:lnTo>
                <a:lnTo>
                  <a:pt x="210003" y="186668"/>
                </a:lnTo>
                <a:lnTo>
                  <a:pt x="210080" y="195714"/>
                </a:lnTo>
                <a:lnTo>
                  <a:pt x="199017" y="206968"/>
                </a:lnTo>
                <a:lnTo>
                  <a:pt x="189971" y="207045"/>
                </a:lnTo>
                <a:lnTo>
                  <a:pt x="233524" y="207045"/>
                </a:lnTo>
                <a:lnTo>
                  <a:pt x="214218" y="150742"/>
                </a:lnTo>
                <a:close/>
              </a:path>
              <a:path w="245745" h="241935">
                <a:moveTo>
                  <a:pt x="20109" y="0"/>
                </a:moveTo>
                <a:lnTo>
                  <a:pt x="11062" y="77"/>
                </a:lnTo>
                <a:lnTo>
                  <a:pt x="0" y="11332"/>
                </a:lnTo>
                <a:lnTo>
                  <a:pt x="77" y="20378"/>
                </a:lnTo>
                <a:lnTo>
                  <a:pt x="174155" y="191498"/>
                </a:lnTo>
                <a:lnTo>
                  <a:pt x="194186" y="171120"/>
                </a:lnTo>
                <a:lnTo>
                  <a:pt x="201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072166" y="2411111"/>
            <a:ext cx="252729" cy="249554"/>
          </a:xfrm>
          <a:custGeom>
            <a:avLst/>
            <a:gdLst/>
            <a:ahLst/>
            <a:cxnLst/>
            <a:rect l="l" t="t" r="r" b="b"/>
            <a:pathLst>
              <a:path w="252729" h="249555">
                <a:moveTo>
                  <a:pt x="181138" y="50037"/>
                </a:moveTo>
                <a:lnTo>
                  <a:pt x="59" y="228701"/>
                </a:lnTo>
                <a:lnTo>
                  <a:pt x="0" y="237747"/>
                </a:lnTo>
                <a:lnTo>
                  <a:pt x="11083" y="248980"/>
                </a:lnTo>
                <a:lnTo>
                  <a:pt x="20129" y="249041"/>
                </a:lnTo>
                <a:lnTo>
                  <a:pt x="201207" y="70378"/>
                </a:lnTo>
                <a:lnTo>
                  <a:pt x="181138" y="50037"/>
                </a:lnTo>
                <a:close/>
              </a:path>
              <a:path w="252729" h="249555">
                <a:moveTo>
                  <a:pt x="240450" y="34461"/>
                </a:moveTo>
                <a:lnTo>
                  <a:pt x="196924" y="34461"/>
                </a:lnTo>
                <a:lnTo>
                  <a:pt x="205971" y="34521"/>
                </a:lnTo>
                <a:lnTo>
                  <a:pt x="217055" y="45755"/>
                </a:lnTo>
                <a:lnTo>
                  <a:pt x="216994" y="54801"/>
                </a:lnTo>
                <a:lnTo>
                  <a:pt x="201207" y="70378"/>
                </a:lnTo>
                <a:lnTo>
                  <a:pt x="221277" y="90718"/>
                </a:lnTo>
                <a:lnTo>
                  <a:pt x="240450" y="34461"/>
                </a:lnTo>
                <a:close/>
              </a:path>
              <a:path w="252729" h="249555">
                <a:moveTo>
                  <a:pt x="196924" y="34461"/>
                </a:moveTo>
                <a:lnTo>
                  <a:pt x="181138" y="50037"/>
                </a:lnTo>
                <a:lnTo>
                  <a:pt x="201207" y="70378"/>
                </a:lnTo>
                <a:lnTo>
                  <a:pt x="216994" y="54801"/>
                </a:lnTo>
                <a:lnTo>
                  <a:pt x="217055" y="45755"/>
                </a:lnTo>
                <a:lnTo>
                  <a:pt x="205971" y="34521"/>
                </a:lnTo>
                <a:lnTo>
                  <a:pt x="196924" y="34461"/>
                </a:lnTo>
                <a:close/>
              </a:path>
              <a:path w="252729" h="249555">
                <a:moveTo>
                  <a:pt x="252195" y="0"/>
                </a:moveTo>
                <a:lnTo>
                  <a:pt x="161069" y="29696"/>
                </a:lnTo>
                <a:lnTo>
                  <a:pt x="181138" y="50037"/>
                </a:lnTo>
                <a:lnTo>
                  <a:pt x="196924" y="34461"/>
                </a:lnTo>
                <a:lnTo>
                  <a:pt x="240450" y="34461"/>
                </a:lnTo>
                <a:lnTo>
                  <a:pt x="2521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95937" y="2142063"/>
            <a:ext cx="332740" cy="85725"/>
          </a:xfrm>
          <a:custGeom>
            <a:avLst/>
            <a:gdLst/>
            <a:ahLst/>
            <a:cxnLst/>
            <a:rect l="l" t="t" r="r" b="b"/>
            <a:pathLst>
              <a:path w="332740" h="85725">
                <a:moveTo>
                  <a:pt x="247335" y="0"/>
                </a:moveTo>
                <a:lnTo>
                  <a:pt x="247051" y="28573"/>
                </a:lnTo>
                <a:lnTo>
                  <a:pt x="269228" y="28793"/>
                </a:lnTo>
                <a:lnTo>
                  <a:pt x="275562" y="35252"/>
                </a:lnTo>
                <a:lnTo>
                  <a:pt x="275405" y="51033"/>
                </a:lnTo>
                <a:lnTo>
                  <a:pt x="268945" y="57367"/>
                </a:lnTo>
                <a:lnTo>
                  <a:pt x="246766" y="57367"/>
                </a:lnTo>
                <a:lnTo>
                  <a:pt x="246485" y="85719"/>
                </a:lnTo>
                <a:lnTo>
                  <a:pt x="304624" y="57367"/>
                </a:lnTo>
                <a:lnTo>
                  <a:pt x="268945" y="57367"/>
                </a:lnTo>
                <a:lnTo>
                  <a:pt x="305075" y="57147"/>
                </a:lnTo>
                <a:lnTo>
                  <a:pt x="332630" y="43709"/>
                </a:lnTo>
                <a:lnTo>
                  <a:pt x="247335" y="0"/>
                </a:lnTo>
                <a:close/>
              </a:path>
              <a:path w="332740" h="85725">
                <a:moveTo>
                  <a:pt x="247051" y="28573"/>
                </a:moveTo>
                <a:lnTo>
                  <a:pt x="246768" y="57147"/>
                </a:lnTo>
                <a:lnTo>
                  <a:pt x="268945" y="57367"/>
                </a:lnTo>
                <a:lnTo>
                  <a:pt x="275405" y="51033"/>
                </a:lnTo>
                <a:lnTo>
                  <a:pt x="275562" y="35252"/>
                </a:lnTo>
                <a:lnTo>
                  <a:pt x="269228" y="28793"/>
                </a:lnTo>
                <a:lnTo>
                  <a:pt x="247051" y="28573"/>
                </a:lnTo>
                <a:close/>
              </a:path>
              <a:path w="332740" h="85725">
                <a:moveTo>
                  <a:pt x="6616" y="26189"/>
                </a:moveTo>
                <a:lnTo>
                  <a:pt x="156" y="32522"/>
                </a:lnTo>
                <a:lnTo>
                  <a:pt x="0" y="48303"/>
                </a:lnTo>
                <a:lnTo>
                  <a:pt x="6333" y="54763"/>
                </a:lnTo>
                <a:lnTo>
                  <a:pt x="246768" y="57147"/>
                </a:lnTo>
                <a:lnTo>
                  <a:pt x="247051" y="28573"/>
                </a:lnTo>
                <a:lnTo>
                  <a:pt x="6616" y="261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84139" y="2621573"/>
            <a:ext cx="332740" cy="85725"/>
          </a:xfrm>
          <a:custGeom>
            <a:avLst/>
            <a:gdLst/>
            <a:ahLst/>
            <a:cxnLst/>
            <a:rect l="l" t="t" r="r" b="b"/>
            <a:pathLst>
              <a:path w="332740" h="85725">
                <a:moveTo>
                  <a:pt x="247335" y="0"/>
                </a:moveTo>
                <a:lnTo>
                  <a:pt x="247051" y="28573"/>
                </a:lnTo>
                <a:lnTo>
                  <a:pt x="269228" y="28793"/>
                </a:lnTo>
                <a:lnTo>
                  <a:pt x="275562" y="35253"/>
                </a:lnTo>
                <a:lnTo>
                  <a:pt x="275405" y="51034"/>
                </a:lnTo>
                <a:lnTo>
                  <a:pt x="268945" y="57367"/>
                </a:lnTo>
                <a:lnTo>
                  <a:pt x="246766" y="57367"/>
                </a:lnTo>
                <a:lnTo>
                  <a:pt x="246485" y="85721"/>
                </a:lnTo>
                <a:lnTo>
                  <a:pt x="304627" y="57367"/>
                </a:lnTo>
                <a:lnTo>
                  <a:pt x="268945" y="57367"/>
                </a:lnTo>
                <a:lnTo>
                  <a:pt x="305078" y="57147"/>
                </a:lnTo>
                <a:lnTo>
                  <a:pt x="332630" y="43710"/>
                </a:lnTo>
                <a:lnTo>
                  <a:pt x="247335" y="0"/>
                </a:lnTo>
                <a:close/>
              </a:path>
              <a:path w="332740" h="85725">
                <a:moveTo>
                  <a:pt x="247051" y="28573"/>
                </a:moveTo>
                <a:lnTo>
                  <a:pt x="246768" y="57147"/>
                </a:lnTo>
                <a:lnTo>
                  <a:pt x="268945" y="57367"/>
                </a:lnTo>
                <a:lnTo>
                  <a:pt x="275405" y="51034"/>
                </a:lnTo>
                <a:lnTo>
                  <a:pt x="275562" y="35253"/>
                </a:lnTo>
                <a:lnTo>
                  <a:pt x="269228" y="28793"/>
                </a:lnTo>
                <a:lnTo>
                  <a:pt x="247051" y="28573"/>
                </a:lnTo>
                <a:close/>
              </a:path>
              <a:path w="332740" h="85725">
                <a:moveTo>
                  <a:pt x="6616" y="26191"/>
                </a:moveTo>
                <a:lnTo>
                  <a:pt x="156" y="32523"/>
                </a:lnTo>
                <a:lnTo>
                  <a:pt x="0" y="48304"/>
                </a:lnTo>
                <a:lnTo>
                  <a:pt x="6333" y="54763"/>
                </a:lnTo>
                <a:lnTo>
                  <a:pt x="246768" y="57147"/>
                </a:lnTo>
                <a:lnTo>
                  <a:pt x="247051" y="28573"/>
                </a:lnTo>
                <a:lnTo>
                  <a:pt x="6616" y="26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588966" y="1983739"/>
            <a:ext cx="147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  <p:sp>
        <p:nvSpPr>
          <p:cNvPr id="37" name="object 37"/>
          <p:cNvSpPr txBox="1"/>
          <p:nvPr/>
        </p:nvSpPr>
        <p:spPr>
          <a:xfrm>
            <a:off x="6703711" y="2092960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75">
                <a:latin typeface="Cambria Math"/>
                <a:cs typeface="Cambria Math"/>
              </a:rPr>
              <a:t>!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89477" y="2471420"/>
            <a:ext cx="241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latin typeface="Cambria Math"/>
                <a:cs typeface="Cambria Math"/>
              </a:rPr>
              <a:t>𝑥</a:t>
            </a:r>
            <a:r>
              <a:rPr dirty="0" baseline="-14957" sz="1950" spc="35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07086" y="1880107"/>
            <a:ext cx="311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40">
                <a:latin typeface="Cambria Math"/>
                <a:cs typeface="Cambria Math"/>
              </a:rPr>
              <a:t>𝑊</a:t>
            </a:r>
            <a:r>
              <a:rPr dirty="0" baseline="-14957" sz="1950">
                <a:latin typeface="Cambria Math"/>
                <a:cs typeface="Cambria Math"/>
              </a:rPr>
              <a:t>𝟐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59117" y="1803907"/>
            <a:ext cx="311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40">
                <a:latin typeface="Cambria Math"/>
                <a:cs typeface="Cambria Math"/>
              </a:rPr>
              <a:t>𝑊</a:t>
            </a:r>
            <a:r>
              <a:rPr dirty="0" baseline="-14957" sz="1950">
                <a:latin typeface="Cambria Math"/>
                <a:cs typeface="Cambria Math"/>
              </a:rPr>
              <a:t>𝟏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20146" y="2230627"/>
            <a:ext cx="479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latin typeface="Cambria Math"/>
                <a:cs typeface="Cambria Math"/>
              </a:rPr>
              <a:t>𝑓</a:t>
            </a:r>
            <a:r>
              <a:rPr dirty="0" sz="1800">
                <a:latin typeface="Cambria Math"/>
                <a:cs typeface="Cambria Math"/>
              </a:rPr>
              <a:t>(</a:t>
            </a:r>
            <a:r>
              <a:rPr dirty="0" sz="1800" spc="-5">
                <a:latin typeface="Cambria Math"/>
                <a:cs typeface="Cambria Math"/>
              </a:rPr>
              <a:t>𝒙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2522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95427" y="14635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4" h="376555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8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5" y="219533"/>
                </a:lnTo>
                <a:lnTo>
                  <a:pt x="453953" y="276782"/>
                </a:lnTo>
                <a:lnTo>
                  <a:pt x="431554" y="321493"/>
                </a:lnTo>
                <a:lnTo>
                  <a:pt x="397472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0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6" y="9853"/>
                </a:lnTo>
                <a:lnTo>
                  <a:pt x="380785" y="0"/>
                </a:lnTo>
                <a:close/>
              </a:path>
              <a:path w="50101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23186" y="1463572"/>
            <a:ext cx="1012190" cy="376555"/>
          </a:xfrm>
          <a:custGeom>
            <a:avLst/>
            <a:gdLst/>
            <a:ahLst/>
            <a:cxnLst/>
            <a:rect l="l" t="t" r="r" b="b"/>
            <a:pathLst>
              <a:path w="1012189" h="376555">
                <a:moveTo>
                  <a:pt x="891515" y="0"/>
                </a:moveTo>
                <a:lnTo>
                  <a:pt x="886157" y="15279"/>
                </a:lnTo>
                <a:lnTo>
                  <a:pt x="907948" y="24736"/>
                </a:lnTo>
                <a:lnTo>
                  <a:pt x="926688" y="37826"/>
                </a:lnTo>
                <a:lnTo>
                  <a:pt x="955015" y="74909"/>
                </a:lnTo>
                <a:lnTo>
                  <a:pt x="971684" y="124940"/>
                </a:lnTo>
                <a:lnTo>
                  <a:pt x="977240" y="186331"/>
                </a:lnTo>
                <a:lnTo>
                  <a:pt x="975845" y="219533"/>
                </a:lnTo>
                <a:lnTo>
                  <a:pt x="964683" y="276782"/>
                </a:lnTo>
                <a:lnTo>
                  <a:pt x="942284" y="321493"/>
                </a:lnTo>
                <a:lnTo>
                  <a:pt x="908202" y="351655"/>
                </a:lnTo>
                <a:lnTo>
                  <a:pt x="886753" y="361156"/>
                </a:lnTo>
                <a:lnTo>
                  <a:pt x="891515" y="376435"/>
                </a:lnTo>
                <a:lnTo>
                  <a:pt x="942861" y="352349"/>
                </a:lnTo>
                <a:lnTo>
                  <a:pt x="980613" y="310653"/>
                </a:lnTo>
                <a:lnTo>
                  <a:pt x="1003831" y="254818"/>
                </a:lnTo>
                <a:lnTo>
                  <a:pt x="1011570" y="188316"/>
                </a:lnTo>
                <a:lnTo>
                  <a:pt x="1009629" y="153807"/>
                </a:lnTo>
                <a:lnTo>
                  <a:pt x="994101" y="92638"/>
                </a:lnTo>
                <a:lnTo>
                  <a:pt x="963306" y="42843"/>
                </a:lnTo>
                <a:lnTo>
                  <a:pt x="918807" y="9853"/>
                </a:lnTo>
                <a:lnTo>
                  <a:pt x="891515" y="0"/>
                </a:lnTo>
                <a:close/>
              </a:path>
              <a:path w="1012189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57405" y="24414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4" h="376555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8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5" y="219533"/>
                </a:lnTo>
                <a:lnTo>
                  <a:pt x="453953" y="276782"/>
                </a:lnTo>
                <a:lnTo>
                  <a:pt x="431554" y="321493"/>
                </a:lnTo>
                <a:lnTo>
                  <a:pt x="397472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0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6" y="9853"/>
                </a:lnTo>
                <a:lnTo>
                  <a:pt x="380785" y="0"/>
                </a:lnTo>
                <a:close/>
              </a:path>
              <a:path w="50101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2809875" algn="l"/>
                <a:tab pos="3326129" algn="l"/>
                <a:tab pos="4437380" algn="l"/>
                <a:tab pos="5351780" algn="l"/>
              </a:tabLst>
            </a:pPr>
            <a:r>
              <a:rPr dirty="0" spc="-10"/>
              <a:t>Note that</a:t>
            </a:r>
            <a:r>
              <a:rPr dirty="0" spc="5"/>
              <a:t> </a:t>
            </a:r>
            <a:r>
              <a:rPr dirty="0"/>
              <a:t>in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𝑓	</a:t>
            </a:r>
            <a:r>
              <a:rPr dirty="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dirty="0" spc="175">
                <a:latin typeface="Cambria Math"/>
                <a:cs typeface="Cambria Math"/>
              </a:rPr>
              <a:t> </a:t>
            </a:r>
            <a:r>
              <a:rPr dirty="0" spc="-215">
                <a:latin typeface="Cambria Math"/>
                <a:cs typeface="Cambria Math"/>
              </a:rPr>
              <a:t>𝑊</a:t>
            </a:r>
            <a:r>
              <a:rPr dirty="0" baseline="-15700" sz="3450" spc="-322">
                <a:latin typeface="Cambria Math"/>
                <a:cs typeface="Cambria Math"/>
              </a:rPr>
              <a:t>𝟐	</a:t>
            </a:r>
            <a:r>
              <a:rPr dirty="0" sz="3200" spc="-220">
                <a:latin typeface="Cambria Math"/>
                <a:cs typeface="Cambria Math"/>
              </a:rPr>
              <a:t>𝑊</a:t>
            </a:r>
            <a:r>
              <a:rPr dirty="0" baseline="-15700" sz="3450" spc="-330">
                <a:latin typeface="Cambria Math"/>
                <a:cs typeface="Cambria Math"/>
              </a:rPr>
              <a:t>&amp;</a:t>
            </a:r>
            <a:r>
              <a:rPr dirty="0" sz="3200" spc="-22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3200"/>
              <a:t>,</a:t>
            </a:r>
            <a:r>
              <a:rPr dirty="0" sz="3200" spc="-45"/>
              <a:t> </a:t>
            </a:r>
            <a:r>
              <a:rPr dirty="0" sz="3200" spc="-275">
                <a:latin typeface="Cambria Math"/>
                <a:cs typeface="Cambria Math"/>
              </a:rPr>
              <a:t>𝑊</a:t>
            </a:r>
            <a:r>
              <a:rPr dirty="0" baseline="-15700" sz="3450" spc="-412">
                <a:latin typeface="Cambria Math"/>
                <a:cs typeface="Cambria Math"/>
              </a:rPr>
              <a:t>𝟐</a:t>
            </a:r>
            <a:r>
              <a:rPr dirty="0" sz="3200" spc="-275">
                <a:latin typeface="Cambria Math"/>
                <a:cs typeface="Cambria Math"/>
              </a:rPr>
              <a:t>𝑊</a:t>
            </a:r>
            <a:r>
              <a:rPr dirty="0" baseline="-15700" sz="3450" spc="-412">
                <a:latin typeface="Cambria Math"/>
                <a:cs typeface="Cambria Math"/>
              </a:rPr>
              <a:t>&amp; </a:t>
            </a:r>
            <a:r>
              <a:rPr dirty="0" baseline="-15700" sz="3450" spc="-225">
                <a:latin typeface="Cambria Math"/>
                <a:cs typeface="Cambria Math"/>
              </a:rPr>
              <a:t> </a:t>
            </a:r>
            <a:r>
              <a:rPr dirty="0" sz="3200"/>
              <a:t>is  </a:t>
            </a:r>
            <a:r>
              <a:rPr dirty="0" sz="3200" spc="-5"/>
              <a:t>another matrix </a:t>
            </a:r>
            <a:r>
              <a:rPr dirty="0" sz="2400" spc="-35">
                <a:solidFill>
                  <a:srgbClr val="7F7F7F"/>
                </a:solidFill>
              </a:rPr>
              <a:t>(vector, </a:t>
            </a:r>
            <a:r>
              <a:rPr dirty="0" sz="2400" spc="-5">
                <a:solidFill>
                  <a:srgbClr val="7F7F7F"/>
                </a:solidFill>
              </a:rPr>
              <a:t>if </a:t>
            </a:r>
            <a:r>
              <a:rPr dirty="0" sz="2400" spc="-15">
                <a:solidFill>
                  <a:srgbClr val="7F7F7F"/>
                </a:solidFill>
              </a:rPr>
              <a:t>we </a:t>
            </a:r>
            <a:r>
              <a:rPr dirty="0" sz="2400">
                <a:solidFill>
                  <a:srgbClr val="7F7F7F"/>
                </a:solidFill>
              </a:rPr>
              <a:t>do binary</a:t>
            </a:r>
            <a:r>
              <a:rPr dirty="0" sz="2400" spc="60">
                <a:solidFill>
                  <a:srgbClr val="7F7F7F"/>
                </a:solidFill>
              </a:rPr>
              <a:t> </a:t>
            </a:r>
            <a:r>
              <a:rPr dirty="0" sz="2400" spc="-10">
                <a:solidFill>
                  <a:srgbClr val="7F7F7F"/>
                </a:solidFill>
              </a:rPr>
              <a:t>classification)</a:t>
            </a:r>
            <a:endParaRPr sz="2400">
              <a:latin typeface="Cambria Math"/>
              <a:cs typeface="Cambria Math"/>
            </a:endParaRPr>
          </a:p>
          <a:p>
            <a:pPr marL="332740" marR="19939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871980" algn="l"/>
                <a:tab pos="2367280" algn="l"/>
              </a:tabLst>
            </a:pPr>
            <a:r>
              <a:rPr dirty="0" spc="-5"/>
              <a:t>Hence</a:t>
            </a:r>
            <a:r>
              <a:rPr dirty="0" spc="0"/>
              <a:t>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𝑓	</a:t>
            </a:r>
            <a:r>
              <a:rPr dirty="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/>
              <a:t>is </a:t>
            </a:r>
            <a:r>
              <a:rPr dirty="0" spc="-10"/>
              <a:t>still </a:t>
            </a:r>
            <a:r>
              <a:rPr dirty="0" spc="-5"/>
              <a:t>linear </a:t>
            </a:r>
            <a:r>
              <a:rPr dirty="0" spc="-105"/>
              <a:t>w.r.t. </a:t>
            </a:r>
            <a:r>
              <a:rPr dirty="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r>
              <a:rPr dirty="0" spc="13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/>
              <a:t>no</a:t>
            </a:r>
            <a:r>
              <a:rPr dirty="0" spc="-5"/>
              <a:t> </a:t>
            </a:r>
            <a:r>
              <a:rPr dirty="0" spc="-20"/>
              <a:t>matter </a:t>
            </a:r>
            <a:r>
              <a:rPr dirty="0"/>
              <a:t> </a:t>
            </a:r>
            <a:r>
              <a:rPr dirty="0" spc="-5"/>
              <a:t>how </a:t>
            </a:r>
            <a:r>
              <a:rPr dirty="0" spc="-15"/>
              <a:t>many </a:t>
            </a:r>
            <a:r>
              <a:rPr dirty="0" spc="-10"/>
              <a:t>weight </a:t>
            </a:r>
            <a:r>
              <a:rPr dirty="0" spc="-5"/>
              <a:t>matrices </a:t>
            </a:r>
            <a:r>
              <a:rPr dirty="0" spc="-15"/>
              <a:t>we </a:t>
            </a:r>
            <a:r>
              <a:rPr dirty="0" spc="-10"/>
              <a:t>compose</a:t>
            </a:r>
          </a:p>
        </p:txBody>
      </p:sp>
      <p:sp>
        <p:nvSpPr>
          <p:cNvPr id="7" name="object 7"/>
          <p:cNvSpPr/>
          <p:nvPr/>
        </p:nvSpPr>
        <p:spPr>
          <a:xfrm>
            <a:off x="2155201" y="4409873"/>
            <a:ext cx="432434" cy="329565"/>
          </a:xfrm>
          <a:custGeom>
            <a:avLst/>
            <a:gdLst/>
            <a:ahLst/>
            <a:cxnLst/>
            <a:rect l="l" t="t" r="r" b="b"/>
            <a:pathLst>
              <a:path w="432435" h="329564">
                <a:moveTo>
                  <a:pt x="327314" y="0"/>
                </a:moveTo>
                <a:lnTo>
                  <a:pt x="322625" y="13370"/>
                </a:lnTo>
                <a:lnTo>
                  <a:pt x="341692" y="21644"/>
                </a:lnTo>
                <a:lnTo>
                  <a:pt x="358090" y="33099"/>
                </a:lnTo>
                <a:lnTo>
                  <a:pt x="382877" y="65547"/>
                </a:lnTo>
                <a:lnTo>
                  <a:pt x="397461" y="109324"/>
                </a:lnTo>
                <a:lnTo>
                  <a:pt x="402323" y="163041"/>
                </a:lnTo>
                <a:lnTo>
                  <a:pt x="401102" y="192092"/>
                </a:lnTo>
                <a:lnTo>
                  <a:pt x="391335" y="242185"/>
                </a:lnTo>
                <a:lnTo>
                  <a:pt x="371736" y="281307"/>
                </a:lnTo>
                <a:lnTo>
                  <a:pt x="341915" y="307699"/>
                </a:lnTo>
                <a:lnTo>
                  <a:pt x="323146" y="316011"/>
                </a:lnTo>
                <a:lnTo>
                  <a:pt x="327314" y="329382"/>
                </a:lnTo>
                <a:lnTo>
                  <a:pt x="372241" y="308306"/>
                </a:lnTo>
                <a:lnTo>
                  <a:pt x="405274" y="271821"/>
                </a:lnTo>
                <a:lnTo>
                  <a:pt x="425589" y="222966"/>
                </a:lnTo>
                <a:lnTo>
                  <a:pt x="432361" y="164777"/>
                </a:lnTo>
                <a:lnTo>
                  <a:pt x="430663" y="134581"/>
                </a:lnTo>
                <a:lnTo>
                  <a:pt x="417076" y="81059"/>
                </a:lnTo>
                <a:lnTo>
                  <a:pt x="390131" y="37488"/>
                </a:lnTo>
                <a:lnTo>
                  <a:pt x="351194" y="8621"/>
                </a:lnTo>
                <a:lnTo>
                  <a:pt x="327314" y="0"/>
                </a:lnTo>
                <a:close/>
              </a:path>
              <a:path w="432435" h="329564">
                <a:moveTo>
                  <a:pt x="105048" y="0"/>
                </a:moveTo>
                <a:lnTo>
                  <a:pt x="60229" y="21117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6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108" y="3212664"/>
            <a:ext cx="4595495" cy="205613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Introduce</a:t>
            </a:r>
            <a:r>
              <a:rPr dirty="0" sz="3200" spc="-3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non-linearity: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Rectified linear unit</a:t>
            </a:r>
            <a:r>
              <a:rPr dirty="0" sz="2800" spc="-10" b="1">
                <a:latin typeface="Calibri"/>
                <a:cs typeface="Calibri"/>
              </a:rPr>
              <a:t> </a:t>
            </a:r>
            <a:r>
              <a:rPr dirty="0" sz="2800" spc="-114" b="1">
                <a:latin typeface="Calibri"/>
                <a:cs typeface="Calibri"/>
              </a:rPr>
              <a:t>(ReLU)</a:t>
            </a:r>
            <a:endParaRPr sz="2800">
              <a:latin typeface="Calibri"/>
              <a:cs typeface="Calibri"/>
            </a:endParaRPr>
          </a:p>
          <a:p>
            <a:pPr marL="661670">
              <a:lnSpc>
                <a:spcPct val="100000"/>
              </a:lnSpc>
              <a:spcBef>
                <a:spcPts val="45"/>
              </a:spcBef>
              <a:tabLst>
                <a:tab pos="1652905" algn="l"/>
                <a:tab pos="2099310" algn="l"/>
              </a:tabLst>
            </a:pPr>
            <a:r>
              <a:rPr dirty="0" sz="2800" spc="-5">
                <a:latin typeface="Cambria Math"/>
                <a:cs typeface="Cambria Math"/>
              </a:rPr>
              <a:t>𝑅𝑒𝐿𝑈	</a:t>
            </a:r>
            <a:r>
              <a:rPr dirty="0" sz="2800">
                <a:latin typeface="Cambria Math"/>
                <a:cs typeface="Cambria Math"/>
              </a:rPr>
              <a:t>𝑥	= </a:t>
            </a:r>
            <a:r>
              <a:rPr dirty="0" sz="2800" spc="5">
                <a:latin typeface="Cambria Math"/>
                <a:cs typeface="Cambria Math"/>
              </a:rPr>
              <a:t>max(𝑥,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0)</a:t>
            </a:r>
            <a:endParaRPr sz="28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Sigmoid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00312" y="4257743"/>
            <a:ext cx="2066925" cy="76200"/>
          </a:xfrm>
          <a:custGeom>
            <a:avLst/>
            <a:gdLst/>
            <a:ahLst/>
            <a:cxnLst/>
            <a:rect l="l" t="t" r="r" b="b"/>
            <a:pathLst>
              <a:path w="2066925" h="76200">
                <a:moveTo>
                  <a:pt x="1990725" y="0"/>
                </a:moveTo>
                <a:lnTo>
                  <a:pt x="1990725" y="76200"/>
                </a:lnTo>
                <a:lnTo>
                  <a:pt x="2047875" y="47625"/>
                </a:lnTo>
                <a:lnTo>
                  <a:pt x="2008687" y="47625"/>
                </a:lnTo>
                <a:lnTo>
                  <a:pt x="2012952" y="43360"/>
                </a:lnTo>
                <a:lnTo>
                  <a:pt x="2012951" y="32838"/>
                </a:lnTo>
                <a:lnTo>
                  <a:pt x="2008687" y="28575"/>
                </a:lnTo>
                <a:lnTo>
                  <a:pt x="2047875" y="28575"/>
                </a:lnTo>
                <a:lnTo>
                  <a:pt x="1990725" y="0"/>
                </a:lnTo>
                <a:close/>
              </a:path>
              <a:path w="2066925" h="76200">
                <a:moveTo>
                  <a:pt x="1990725" y="28575"/>
                </a:moveTo>
                <a:lnTo>
                  <a:pt x="4264" y="28575"/>
                </a:lnTo>
                <a:lnTo>
                  <a:pt x="0" y="32838"/>
                </a:lnTo>
                <a:lnTo>
                  <a:pt x="0" y="43360"/>
                </a:lnTo>
                <a:lnTo>
                  <a:pt x="4264" y="47625"/>
                </a:lnTo>
                <a:lnTo>
                  <a:pt x="1990725" y="47625"/>
                </a:lnTo>
                <a:lnTo>
                  <a:pt x="1990725" y="28575"/>
                </a:lnTo>
                <a:close/>
              </a:path>
              <a:path w="2066925" h="76200">
                <a:moveTo>
                  <a:pt x="2047875" y="28575"/>
                </a:moveTo>
                <a:lnTo>
                  <a:pt x="2008687" y="28575"/>
                </a:lnTo>
                <a:lnTo>
                  <a:pt x="2012951" y="32838"/>
                </a:lnTo>
                <a:lnTo>
                  <a:pt x="2012952" y="43360"/>
                </a:lnTo>
                <a:lnTo>
                  <a:pt x="2008687" y="47625"/>
                </a:lnTo>
                <a:lnTo>
                  <a:pt x="2047875" y="47625"/>
                </a:lnTo>
                <a:lnTo>
                  <a:pt x="2066925" y="38100"/>
                </a:lnTo>
                <a:lnTo>
                  <a:pt x="20478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62338" y="3457643"/>
            <a:ext cx="76200" cy="1381125"/>
          </a:xfrm>
          <a:custGeom>
            <a:avLst/>
            <a:gdLst/>
            <a:ahLst/>
            <a:cxnLst/>
            <a:rect l="l" t="t" r="r" b="b"/>
            <a:pathLst>
              <a:path w="76200" h="1381125">
                <a:moveTo>
                  <a:pt x="43360" y="53973"/>
                </a:moveTo>
                <a:lnTo>
                  <a:pt x="32839" y="53973"/>
                </a:lnTo>
                <a:lnTo>
                  <a:pt x="28575" y="58238"/>
                </a:lnTo>
                <a:lnTo>
                  <a:pt x="28573" y="1376860"/>
                </a:lnTo>
                <a:lnTo>
                  <a:pt x="32838" y="1381125"/>
                </a:lnTo>
                <a:lnTo>
                  <a:pt x="43359" y="1381125"/>
                </a:lnTo>
                <a:lnTo>
                  <a:pt x="47623" y="1376860"/>
                </a:lnTo>
                <a:lnTo>
                  <a:pt x="47625" y="58238"/>
                </a:lnTo>
                <a:lnTo>
                  <a:pt x="43360" y="53973"/>
                </a:lnTo>
                <a:close/>
              </a:path>
              <a:path w="76200" h="1381125">
                <a:moveTo>
                  <a:pt x="38100" y="0"/>
                </a:moveTo>
                <a:lnTo>
                  <a:pt x="0" y="76200"/>
                </a:lnTo>
                <a:lnTo>
                  <a:pt x="28574" y="76200"/>
                </a:lnTo>
                <a:lnTo>
                  <a:pt x="28575" y="58238"/>
                </a:lnTo>
                <a:lnTo>
                  <a:pt x="32839" y="53973"/>
                </a:lnTo>
                <a:lnTo>
                  <a:pt x="65086" y="53973"/>
                </a:lnTo>
                <a:lnTo>
                  <a:pt x="38100" y="0"/>
                </a:lnTo>
                <a:close/>
              </a:path>
              <a:path w="76200" h="1381125">
                <a:moveTo>
                  <a:pt x="65086" y="53973"/>
                </a:moveTo>
                <a:lnTo>
                  <a:pt x="43360" y="53973"/>
                </a:lnTo>
                <a:lnTo>
                  <a:pt x="47625" y="58238"/>
                </a:lnTo>
                <a:lnTo>
                  <a:pt x="47624" y="76200"/>
                </a:lnTo>
                <a:lnTo>
                  <a:pt x="76200" y="76200"/>
                </a:lnTo>
                <a:lnTo>
                  <a:pt x="65086" y="53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14637" y="4295843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0">
                <a:moveTo>
                  <a:pt x="685800" y="0"/>
                </a:moveTo>
                <a:lnTo>
                  <a:pt x="0" y="1"/>
                </a:lnTo>
              </a:path>
            </a:pathLst>
          </a:custGeom>
          <a:ln w="476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00437" y="368624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0"/>
                </a:moveTo>
                <a:lnTo>
                  <a:pt x="0" y="609600"/>
                </a:lnTo>
              </a:path>
            </a:pathLst>
          </a:custGeom>
          <a:ln w="476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 rot="10800000">
            <a:off x="7440991" y="4354985"/>
            <a:ext cx="25908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609" y="3382771"/>
            <a:ext cx="153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23399" y="4296155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12269" y="5888676"/>
            <a:ext cx="2066925" cy="76200"/>
          </a:xfrm>
          <a:custGeom>
            <a:avLst/>
            <a:gdLst/>
            <a:ahLst/>
            <a:cxnLst/>
            <a:rect l="l" t="t" r="r" b="b"/>
            <a:pathLst>
              <a:path w="2066925" h="76200">
                <a:moveTo>
                  <a:pt x="1990724" y="47624"/>
                </a:moveTo>
                <a:lnTo>
                  <a:pt x="1990724" y="76200"/>
                </a:lnTo>
                <a:lnTo>
                  <a:pt x="2047874" y="47625"/>
                </a:lnTo>
                <a:lnTo>
                  <a:pt x="1990724" y="47624"/>
                </a:lnTo>
                <a:close/>
              </a:path>
              <a:path w="2066925" h="76200">
                <a:moveTo>
                  <a:pt x="1990724" y="28574"/>
                </a:moveTo>
                <a:lnTo>
                  <a:pt x="1990724" y="47624"/>
                </a:lnTo>
                <a:lnTo>
                  <a:pt x="2008688" y="47623"/>
                </a:lnTo>
                <a:lnTo>
                  <a:pt x="2012952" y="43360"/>
                </a:lnTo>
                <a:lnTo>
                  <a:pt x="2012951" y="32838"/>
                </a:lnTo>
                <a:lnTo>
                  <a:pt x="2008687" y="28575"/>
                </a:lnTo>
                <a:lnTo>
                  <a:pt x="1990724" y="28574"/>
                </a:lnTo>
                <a:close/>
              </a:path>
              <a:path w="2066925" h="76200">
                <a:moveTo>
                  <a:pt x="1990724" y="0"/>
                </a:moveTo>
                <a:lnTo>
                  <a:pt x="1990724" y="28574"/>
                </a:lnTo>
                <a:lnTo>
                  <a:pt x="2003427" y="28575"/>
                </a:lnTo>
                <a:lnTo>
                  <a:pt x="2008687" y="28575"/>
                </a:lnTo>
                <a:lnTo>
                  <a:pt x="2012951" y="32838"/>
                </a:lnTo>
                <a:lnTo>
                  <a:pt x="2012952" y="43360"/>
                </a:lnTo>
                <a:lnTo>
                  <a:pt x="2008687" y="47625"/>
                </a:lnTo>
                <a:lnTo>
                  <a:pt x="2047877" y="47623"/>
                </a:lnTo>
                <a:lnTo>
                  <a:pt x="2066924" y="38100"/>
                </a:lnTo>
                <a:lnTo>
                  <a:pt x="1990724" y="0"/>
                </a:lnTo>
                <a:close/>
              </a:path>
              <a:path w="2066925" h="76200">
                <a:moveTo>
                  <a:pt x="9525" y="28573"/>
                </a:moveTo>
                <a:lnTo>
                  <a:pt x="4263" y="28575"/>
                </a:lnTo>
                <a:lnTo>
                  <a:pt x="0" y="32838"/>
                </a:lnTo>
                <a:lnTo>
                  <a:pt x="0" y="43360"/>
                </a:lnTo>
                <a:lnTo>
                  <a:pt x="4264" y="47623"/>
                </a:lnTo>
                <a:lnTo>
                  <a:pt x="1990724" y="47624"/>
                </a:lnTo>
                <a:lnTo>
                  <a:pt x="1990724" y="28574"/>
                </a:lnTo>
                <a:lnTo>
                  <a:pt x="9525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74295" y="5088575"/>
            <a:ext cx="76200" cy="1381125"/>
          </a:xfrm>
          <a:custGeom>
            <a:avLst/>
            <a:gdLst/>
            <a:ahLst/>
            <a:cxnLst/>
            <a:rect l="l" t="t" r="r" b="b"/>
            <a:pathLst>
              <a:path w="76200" h="1381125">
                <a:moveTo>
                  <a:pt x="43360" y="53974"/>
                </a:moveTo>
                <a:lnTo>
                  <a:pt x="32839" y="53974"/>
                </a:lnTo>
                <a:lnTo>
                  <a:pt x="28575" y="58239"/>
                </a:lnTo>
                <a:lnTo>
                  <a:pt x="28573" y="1376861"/>
                </a:lnTo>
                <a:lnTo>
                  <a:pt x="32838" y="1381125"/>
                </a:lnTo>
                <a:lnTo>
                  <a:pt x="43359" y="1381125"/>
                </a:lnTo>
                <a:lnTo>
                  <a:pt x="47623" y="1376861"/>
                </a:lnTo>
                <a:lnTo>
                  <a:pt x="47625" y="58239"/>
                </a:lnTo>
                <a:lnTo>
                  <a:pt x="43360" y="53974"/>
                </a:lnTo>
                <a:close/>
              </a:path>
              <a:path w="76200" h="1381125">
                <a:moveTo>
                  <a:pt x="38100" y="0"/>
                </a:moveTo>
                <a:lnTo>
                  <a:pt x="0" y="76199"/>
                </a:lnTo>
                <a:lnTo>
                  <a:pt x="28574" y="76199"/>
                </a:lnTo>
                <a:lnTo>
                  <a:pt x="28575" y="58239"/>
                </a:lnTo>
                <a:lnTo>
                  <a:pt x="32839" y="53974"/>
                </a:lnTo>
                <a:lnTo>
                  <a:pt x="65087" y="53974"/>
                </a:lnTo>
                <a:lnTo>
                  <a:pt x="38100" y="0"/>
                </a:lnTo>
                <a:close/>
              </a:path>
              <a:path w="76200" h="1381125">
                <a:moveTo>
                  <a:pt x="65087" y="53974"/>
                </a:moveTo>
                <a:lnTo>
                  <a:pt x="43360" y="53974"/>
                </a:lnTo>
                <a:lnTo>
                  <a:pt x="47625" y="58239"/>
                </a:lnTo>
                <a:lnTo>
                  <a:pt x="47624" y="76199"/>
                </a:lnTo>
                <a:lnTo>
                  <a:pt x="76200" y="76199"/>
                </a:lnTo>
                <a:lnTo>
                  <a:pt x="65087" y="53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 rot="10800000">
            <a:off x="7452949" y="5988713"/>
            <a:ext cx="25908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5356" y="5926835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18958" y="5498462"/>
            <a:ext cx="1958975" cy="369570"/>
          </a:xfrm>
          <a:custGeom>
            <a:avLst/>
            <a:gdLst/>
            <a:ahLst/>
            <a:cxnLst/>
            <a:rect l="l" t="t" r="r" b="b"/>
            <a:pathLst>
              <a:path w="1958975" h="369570">
                <a:moveTo>
                  <a:pt x="0" y="369018"/>
                </a:moveTo>
                <a:lnTo>
                  <a:pt x="68148" y="368454"/>
                </a:lnTo>
                <a:lnTo>
                  <a:pt x="136015" y="366800"/>
                </a:lnTo>
                <a:lnTo>
                  <a:pt x="203318" y="364105"/>
                </a:lnTo>
                <a:lnTo>
                  <a:pt x="269776" y="360423"/>
                </a:lnTo>
                <a:lnTo>
                  <a:pt x="335106" y="355805"/>
                </a:lnTo>
                <a:lnTo>
                  <a:pt x="399028" y="350303"/>
                </a:lnTo>
                <a:lnTo>
                  <a:pt x="461259" y="343970"/>
                </a:lnTo>
                <a:lnTo>
                  <a:pt x="521517" y="336857"/>
                </a:lnTo>
                <a:lnTo>
                  <a:pt x="579521" y="329016"/>
                </a:lnTo>
                <a:lnTo>
                  <a:pt x="634988" y="320499"/>
                </a:lnTo>
                <a:lnTo>
                  <a:pt x="687638" y="311358"/>
                </a:lnTo>
                <a:lnTo>
                  <a:pt x="737188" y="301646"/>
                </a:lnTo>
                <a:lnTo>
                  <a:pt x="783356" y="291414"/>
                </a:lnTo>
                <a:lnTo>
                  <a:pt x="825860" y="280714"/>
                </a:lnTo>
                <a:lnTo>
                  <a:pt x="864420" y="269598"/>
                </a:lnTo>
                <a:lnTo>
                  <a:pt x="928576" y="246326"/>
                </a:lnTo>
                <a:lnTo>
                  <a:pt x="973570" y="222015"/>
                </a:lnTo>
                <a:lnTo>
                  <a:pt x="1000201" y="184509"/>
                </a:lnTo>
                <a:lnTo>
                  <a:pt x="1003409" y="171339"/>
                </a:lnTo>
                <a:lnTo>
                  <a:pt x="1049059" y="132429"/>
                </a:lnTo>
                <a:lnTo>
                  <a:pt x="1106405" y="107585"/>
                </a:lnTo>
                <a:lnTo>
                  <a:pt x="1182383" y="84175"/>
                </a:lnTo>
                <a:lnTo>
                  <a:pt x="1226583" y="73158"/>
                </a:lnTo>
                <a:lnTo>
                  <a:pt x="1274510" y="62678"/>
                </a:lnTo>
                <a:lnTo>
                  <a:pt x="1325852" y="52796"/>
                </a:lnTo>
                <a:lnTo>
                  <a:pt x="1380300" y="43572"/>
                </a:lnTo>
                <a:lnTo>
                  <a:pt x="1437543" y="35064"/>
                </a:lnTo>
                <a:lnTo>
                  <a:pt x="1497270" y="27334"/>
                </a:lnTo>
                <a:lnTo>
                  <a:pt x="1559171" y="20441"/>
                </a:lnTo>
                <a:lnTo>
                  <a:pt x="1622935" y="14444"/>
                </a:lnTo>
                <a:lnTo>
                  <a:pt x="1688252" y="9403"/>
                </a:lnTo>
                <a:lnTo>
                  <a:pt x="1754810" y="5379"/>
                </a:lnTo>
                <a:lnTo>
                  <a:pt x="1822301" y="2430"/>
                </a:lnTo>
                <a:lnTo>
                  <a:pt x="1890412" y="617"/>
                </a:lnTo>
                <a:lnTo>
                  <a:pt x="1958835" y="0"/>
                </a:lnTo>
              </a:path>
            </a:pathLst>
          </a:custGeom>
          <a:ln w="412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06250" y="5464813"/>
            <a:ext cx="2030095" cy="10160"/>
          </a:xfrm>
          <a:custGeom>
            <a:avLst/>
            <a:gdLst/>
            <a:ahLst/>
            <a:cxnLst/>
            <a:rect l="l" t="t" r="r" b="b"/>
            <a:pathLst>
              <a:path w="2030095" h="10160">
                <a:moveTo>
                  <a:pt x="2027709" y="0"/>
                </a:moveTo>
                <a:lnTo>
                  <a:pt x="2022440" y="0"/>
                </a:lnTo>
                <a:lnTo>
                  <a:pt x="2020308" y="2132"/>
                </a:lnTo>
                <a:lnTo>
                  <a:pt x="2020308" y="7392"/>
                </a:lnTo>
                <a:lnTo>
                  <a:pt x="2022440" y="9525"/>
                </a:lnTo>
                <a:lnTo>
                  <a:pt x="2027709" y="9525"/>
                </a:lnTo>
                <a:lnTo>
                  <a:pt x="2029842" y="7392"/>
                </a:lnTo>
                <a:lnTo>
                  <a:pt x="2029842" y="2132"/>
                </a:lnTo>
                <a:lnTo>
                  <a:pt x="2027709" y="0"/>
                </a:lnTo>
                <a:close/>
              </a:path>
              <a:path w="2030095" h="10160">
                <a:moveTo>
                  <a:pt x="2008651" y="0"/>
                </a:moveTo>
                <a:lnTo>
                  <a:pt x="2003380" y="0"/>
                </a:lnTo>
                <a:lnTo>
                  <a:pt x="2001248" y="2132"/>
                </a:lnTo>
                <a:lnTo>
                  <a:pt x="2001248" y="7392"/>
                </a:lnTo>
                <a:lnTo>
                  <a:pt x="2003380" y="9525"/>
                </a:lnTo>
                <a:lnTo>
                  <a:pt x="2008651" y="9525"/>
                </a:lnTo>
                <a:lnTo>
                  <a:pt x="2010783" y="7392"/>
                </a:lnTo>
                <a:lnTo>
                  <a:pt x="2010783" y="2132"/>
                </a:lnTo>
                <a:lnTo>
                  <a:pt x="2008651" y="0"/>
                </a:lnTo>
                <a:close/>
              </a:path>
              <a:path w="2030095" h="10160">
                <a:moveTo>
                  <a:pt x="1989590" y="0"/>
                </a:moveTo>
                <a:lnTo>
                  <a:pt x="1984321" y="0"/>
                </a:lnTo>
                <a:lnTo>
                  <a:pt x="1982189" y="2132"/>
                </a:lnTo>
                <a:lnTo>
                  <a:pt x="1982189" y="7392"/>
                </a:lnTo>
                <a:lnTo>
                  <a:pt x="1984321" y="9525"/>
                </a:lnTo>
                <a:lnTo>
                  <a:pt x="1989590" y="9525"/>
                </a:lnTo>
                <a:lnTo>
                  <a:pt x="1991723" y="7392"/>
                </a:lnTo>
                <a:lnTo>
                  <a:pt x="1991723" y="2132"/>
                </a:lnTo>
                <a:lnTo>
                  <a:pt x="1989590" y="0"/>
                </a:lnTo>
                <a:close/>
              </a:path>
              <a:path w="2030095" h="10160">
                <a:moveTo>
                  <a:pt x="1970531" y="0"/>
                </a:moveTo>
                <a:lnTo>
                  <a:pt x="1965261" y="0"/>
                </a:lnTo>
                <a:lnTo>
                  <a:pt x="1963129" y="2132"/>
                </a:lnTo>
                <a:lnTo>
                  <a:pt x="1963129" y="7392"/>
                </a:lnTo>
                <a:lnTo>
                  <a:pt x="1965261" y="9525"/>
                </a:lnTo>
                <a:lnTo>
                  <a:pt x="1970531" y="9525"/>
                </a:lnTo>
                <a:lnTo>
                  <a:pt x="1972664" y="7392"/>
                </a:lnTo>
                <a:lnTo>
                  <a:pt x="1972664" y="2132"/>
                </a:lnTo>
                <a:lnTo>
                  <a:pt x="1970531" y="0"/>
                </a:lnTo>
                <a:close/>
              </a:path>
              <a:path w="2030095" h="10160">
                <a:moveTo>
                  <a:pt x="1951471" y="0"/>
                </a:moveTo>
                <a:lnTo>
                  <a:pt x="1946202" y="0"/>
                </a:lnTo>
                <a:lnTo>
                  <a:pt x="1944070" y="2132"/>
                </a:lnTo>
                <a:lnTo>
                  <a:pt x="1944070" y="7392"/>
                </a:lnTo>
                <a:lnTo>
                  <a:pt x="1946202" y="9525"/>
                </a:lnTo>
                <a:lnTo>
                  <a:pt x="1951471" y="9525"/>
                </a:lnTo>
                <a:lnTo>
                  <a:pt x="1953604" y="7392"/>
                </a:lnTo>
                <a:lnTo>
                  <a:pt x="1953604" y="2132"/>
                </a:lnTo>
                <a:lnTo>
                  <a:pt x="1951471" y="0"/>
                </a:lnTo>
                <a:close/>
              </a:path>
              <a:path w="2030095" h="10160">
                <a:moveTo>
                  <a:pt x="1932412" y="0"/>
                </a:moveTo>
                <a:lnTo>
                  <a:pt x="1927142" y="0"/>
                </a:lnTo>
                <a:lnTo>
                  <a:pt x="1925010" y="2132"/>
                </a:lnTo>
                <a:lnTo>
                  <a:pt x="1925010" y="7392"/>
                </a:lnTo>
                <a:lnTo>
                  <a:pt x="1927142" y="9525"/>
                </a:lnTo>
                <a:lnTo>
                  <a:pt x="1932412" y="9525"/>
                </a:lnTo>
                <a:lnTo>
                  <a:pt x="1934545" y="7392"/>
                </a:lnTo>
                <a:lnTo>
                  <a:pt x="1934545" y="2132"/>
                </a:lnTo>
                <a:lnTo>
                  <a:pt x="1932412" y="0"/>
                </a:lnTo>
                <a:close/>
              </a:path>
              <a:path w="2030095" h="10160">
                <a:moveTo>
                  <a:pt x="1913352" y="0"/>
                </a:moveTo>
                <a:lnTo>
                  <a:pt x="1908083" y="0"/>
                </a:lnTo>
                <a:lnTo>
                  <a:pt x="1905951" y="2132"/>
                </a:lnTo>
                <a:lnTo>
                  <a:pt x="1905951" y="7392"/>
                </a:lnTo>
                <a:lnTo>
                  <a:pt x="1908083" y="9525"/>
                </a:lnTo>
                <a:lnTo>
                  <a:pt x="1913352" y="9525"/>
                </a:lnTo>
                <a:lnTo>
                  <a:pt x="1915485" y="7392"/>
                </a:lnTo>
                <a:lnTo>
                  <a:pt x="1915485" y="2132"/>
                </a:lnTo>
                <a:lnTo>
                  <a:pt x="1913352" y="0"/>
                </a:lnTo>
                <a:close/>
              </a:path>
              <a:path w="2030095" h="10160">
                <a:moveTo>
                  <a:pt x="1894293" y="0"/>
                </a:moveTo>
                <a:lnTo>
                  <a:pt x="1889023" y="0"/>
                </a:lnTo>
                <a:lnTo>
                  <a:pt x="1886891" y="2132"/>
                </a:lnTo>
                <a:lnTo>
                  <a:pt x="1886891" y="7392"/>
                </a:lnTo>
                <a:lnTo>
                  <a:pt x="1889023" y="9525"/>
                </a:lnTo>
                <a:lnTo>
                  <a:pt x="1894293" y="9525"/>
                </a:lnTo>
                <a:lnTo>
                  <a:pt x="1896426" y="7392"/>
                </a:lnTo>
                <a:lnTo>
                  <a:pt x="1896426" y="2132"/>
                </a:lnTo>
                <a:lnTo>
                  <a:pt x="1894293" y="0"/>
                </a:lnTo>
                <a:close/>
              </a:path>
              <a:path w="2030095" h="10160">
                <a:moveTo>
                  <a:pt x="1875233" y="0"/>
                </a:moveTo>
                <a:lnTo>
                  <a:pt x="1869964" y="0"/>
                </a:lnTo>
                <a:lnTo>
                  <a:pt x="1867832" y="2132"/>
                </a:lnTo>
                <a:lnTo>
                  <a:pt x="1867832" y="7392"/>
                </a:lnTo>
                <a:lnTo>
                  <a:pt x="1869964" y="9525"/>
                </a:lnTo>
                <a:lnTo>
                  <a:pt x="1875233" y="9525"/>
                </a:lnTo>
                <a:lnTo>
                  <a:pt x="1877366" y="7392"/>
                </a:lnTo>
                <a:lnTo>
                  <a:pt x="1877366" y="2132"/>
                </a:lnTo>
                <a:lnTo>
                  <a:pt x="1875233" y="0"/>
                </a:lnTo>
                <a:close/>
              </a:path>
              <a:path w="2030095" h="10160">
                <a:moveTo>
                  <a:pt x="1856174" y="0"/>
                </a:moveTo>
                <a:lnTo>
                  <a:pt x="1850904" y="0"/>
                </a:lnTo>
                <a:lnTo>
                  <a:pt x="1848772" y="2132"/>
                </a:lnTo>
                <a:lnTo>
                  <a:pt x="1848772" y="7392"/>
                </a:lnTo>
                <a:lnTo>
                  <a:pt x="1850904" y="9525"/>
                </a:lnTo>
                <a:lnTo>
                  <a:pt x="1856174" y="9525"/>
                </a:lnTo>
                <a:lnTo>
                  <a:pt x="1858307" y="7392"/>
                </a:lnTo>
                <a:lnTo>
                  <a:pt x="1858307" y="2132"/>
                </a:lnTo>
                <a:lnTo>
                  <a:pt x="1856174" y="0"/>
                </a:lnTo>
                <a:close/>
              </a:path>
              <a:path w="2030095" h="10160">
                <a:moveTo>
                  <a:pt x="1837114" y="0"/>
                </a:moveTo>
                <a:lnTo>
                  <a:pt x="1831845" y="0"/>
                </a:lnTo>
                <a:lnTo>
                  <a:pt x="1829713" y="2132"/>
                </a:lnTo>
                <a:lnTo>
                  <a:pt x="1829713" y="7392"/>
                </a:lnTo>
                <a:lnTo>
                  <a:pt x="1831845" y="9525"/>
                </a:lnTo>
                <a:lnTo>
                  <a:pt x="1837114" y="9525"/>
                </a:lnTo>
                <a:lnTo>
                  <a:pt x="1839247" y="7392"/>
                </a:lnTo>
                <a:lnTo>
                  <a:pt x="1839247" y="2132"/>
                </a:lnTo>
                <a:lnTo>
                  <a:pt x="1837114" y="0"/>
                </a:lnTo>
                <a:close/>
              </a:path>
              <a:path w="2030095" h="10160">
                <a:moveTo>
                  <a:pt x="1818055" y="0"/>
                </a:moveTo>
                <a:lnTo>
                  <a:pt x="1812785" y="0"/>
                </a:lnTo>
                <a:lnTo>
                  <a:pt x="1810652" y="2132"/>
                </a:lnTo>
                <a:lnTo>
                  <a:pt x="1810652" y="7392"/>
                </a:lnTo>
                <a:lnTo>
                  <a:pt x="1812785" y="9525"/>
                </a:lnTo>
                <a:lnTo>
                  <a:pt x="1818055" y="9525"/>
                </a:lnTo>
                <a:lnTo>
                  <a:pt x="1820188" y="7392"/>
                </a:lnTo>
                <a:lnTo>
                  <a:pt x="1820188" y="2132"/>
                </a:lnTo>
                <a:lnTo>
                  <a:pt x="1818055" y="0"/>
                </a:lnTo>
                <a:close/>
              </a:path>
              <a:path w="2030095" h="10160">
                <a:moveTo>
                  <a:pt x="1798995" y="0"/>
                </a:moveTo>
                <a:lnTo>
                  <a:pt x="1793726" y="0"/>
                </a:lnTo>
                <a:lnTo>
                  <a:pt x="1791594" y="2132"/>
                </a:lnTo>
                <a:lnTo>
                  <a:pt x="1791594" y="7392"/>
                </a:lnTo>
                <a:lnTo>
                  <a:pt x="1793726" y="9525"/>
                </a:lnTo>
                <a:lnTo>
                  <a:pt x="1798995" y="9525"/>
                </a:lnTo>
                <a:lnTo>
                  <a:pt x="1801127" y="7392"/>
                </a:lnTo>
                <a:lnTo>
                  <a:pt x="1801127" y="2132"/>
                </a:lnTo>
                <a:lnTo>
                  <a:pt x="1798995" y="0"/>
                </a:lnTo>
                <a:close/>
              </a:path>
              <a:path w="2030095" h="10160">
                <a:moveTo>
                  <a:pt x="1779936" y="0"/>
                </a:moveTo>
                <a:lnTo>
                  <a:pt x="1774666" y="0"/>
                </a:lnTo>
                <a:lnTo>
                  <a:pt x="1772533" y="2132"/>
                </a:lnTo>
                <a:lnTo>
                  <a:pt x="1772533" y="7392"/>
                </a:lnTo>
                <a:lnTo>
                  <a:pt x="1774666" y="9525"/>
                </a:lnTo>
                <a:lnTo>
                  <a:pt x="1779936" y="9525"/>
                </a:lnTo>
                <a:lnTo>
                  <a:pt x="1782069" y="7392"/>
                </a:lnTo>
                <a:lnTo>
                  <a:pt x="1782069" y="2132"/>
                </a:lnTo>
                <a:lnTo>
                  <a:pt x="1779936" y="0"/>
                </a:lnTo>
                <a:close/>
              </a:path>
              <a:path w="2030095" h="10160">
                <a:moveTo>
                  <a:pt x="1760876" y="0"/>
                </a:moveTo>
                <a:lnTo>
                  <a:pt x="1755607" y="0"/>
                </a:lnTo>
                <a:lnTo>
                  <a:pt x="1753475" y="2132"/>
                </a:lnTo>
                <a:lnTo>
                  <a:pt x="1753475" y="7392"/>
                </a:lnTo>
                <a:lnTo>
                  <a:pt x="1755607" y="9525"/>
                </a:lnTo>
                <a:lnTo>
                  <a:pt x="1760876" y="9525"/>
                </a:lnTo>
                <a:lnTo>
                  <a:pt x="1763008" y="7392"/>
                </a:lnTo>
                <a:lnTo>
                  <a:pt x="1763008" y="2132"/>
                </a:lnTo>
                <a:lnTo>
                  <a:pt x="1760876" y="0"/>
                </a:lnTo>
                <a:close/>
              </a:path>
              <a:path w="2030095" h="10160">
                <a:moveTo>
                  <a:pt x="1741817" y="0"/>
                </a:moveTo>
                <a:lnTo>
                  <a:pt x="1736547" y="0"/>
                </a:lnTo>
                <a:lnTo>
                  <a:pt x="1734414" y="2132"/>
                </a:lnTo>
                <a:lnTo>
                  <a:pt x="1734414" y="7392"/>
                </a:lnTo>
                <a:lnTo>
                  <a:pt x="1736547" y="9525"/>
                </a:lnTo>
                <a:lnTo>
                  <a:pt x="1741817" y="9525"/>
                </a:lnTo>
                <a:lnTo>
                  <a:pt x="1743950" y="7392"/>
                </a:lnTo>
                <a:lnTo>
                  <a:pt x="1743950" y="2132"/>
                </a:lnTo>
                <a:lnTo>
                  <a:pt x="1741817" y="0"/>
                </a:lnTo>
                <a:close/>
              </a:path>
              <a:path w="2030095" h="10160">
                <a:moveTo>
                  <a:pt x="1722757" y="0"/>
                </a:moveTo>
                <a:lnTo>
                  <a:pt x="1717488" y="0"/>
                </a:lnTo>
                <a:lnTo>
                  <a:pt x="1715355" y="2132"/>
                </a:lnTo>
                <a:lnTo>
                  <a:pt x="1715355" y="7392"/>
                </a:lnTo>
                <a:lnTo>
                  <a:pt x="1717488" y="9525"/>
                </a:lnTo>
                <a:lnTo>
                  <a:pt x="1722757" y="9525"/>
                </a:lnTo>
                <a:lnTo>
                  <a:pt x="1724889" y="7392"/>
                </a:lnTo>
                <a:lnTo>
                  <a:pt x="1724889" y="2132"/>
                </a:lnTo>
                <a:lnTo>
                  <a:pt x="1722757" y="0"/>
                </a:lnTo>
                <a:close/>
              </a:path>
              <a:path w="2030095" h="10160">
                <a:moveTo>
                  <a:pt x="1703698" y="0"/>
                </a:moveTo>
                <a:lnTo>
                  <a:pt x="1698428" y="0"/>
                </a:lnTo>
                <a:lnTo>
                  <a:pt x="1696295" y="2132"/>
                </a:lnTo>
                <a:lnTo>
                  <a:pt x="1696295" y="7392"/>
                </a:lnTo>
                <a:lnTo>
                  <a:pt x="1698428" y="9525"/>
                </a:lnTo>
                <a:lnTo>
                  <a:pt x="1703698" y="9525"/>
                </a:lnTo>
                <a:lnTo>
                  <a:pt x="1705830" y="7392"/>
                </a:lnTo>
                <a:lnTo>
                  <a:pt x="1705830" y="2132"/>
                </a:lnTo>
                <a:lnTo>
                  <a:pt x="1703698" y="0"/>
                </a:lnTo>
                <a:close/>
              </a:path>
              <a:path w="2030095" h="10160">
                <a:moveTo>
                  <a:pt x="1684638" y="0"/>
                </a:moveTo>
                <a:lnTo>
                  <a:pt x="1679369" y="0"/>
                </a:lnTo>
                <a:lnTo>
                  <a:pt x="1677236" y="2132"/>
                </a:lnTo>
                <a:lnTo>
                  <a:pt x="1677236" y="7392"/>
                </a:lnTo>
                <a:lnTo>
                  <a:pt x="1679369" y="9525"/>
                </a:lnTo>
                <a:lnTo>
                  <a:pt x="1684638" y="9525"/>
                </a:lnTo>
                <a:lnTo>
                  <a:pt x="1686770" y="7392"/>
                </a:lnTo>
                <a:lnTo>
                  <a:pt x="1686770" y="2132"/>
                </a:lnTo>
                <a:lnTo>
                  <a:pt x="1684638" y="0"/>
                </a:lnTo>
                <a:close/>
              </a:path>
              <a:path w="2030095" h="10160">
                <a:moveTo>
                  <a:pt x="1665579" y="0"/>
                </a:moveTo>
                <a:lnTo>
                  <a:pt x="1660309" y="0"/>
                </a:lnTo>
                <a:lnTo>
                  <a:pt x="1658176" y="2132"/>
                </a:lnTo>
                <a:lnTo>
                  <a:pt x="1658176" y="7392"/>
                </a:lnTo>
                <a:lnTo>
                  <a:pt x="1660309" y="9525"/>
                </a:lnTo>
                <a:lnTo>
                  <a:pt x="1665579" y="9525"/>
                </a:lnTo>
                <a:lnTo>
                  <a:pt x="1667711" y="7392"/>
                </a:lnTo>
                <a:lnTo>
                  <a:pt x="1667711" y="2132"/>
                </a:lnTo>
                <a:lnTo>
                  <a:pt x="1665579" y="0"/>
                </a:lnTo>
                <a:close/>
              </a:path>
              <a:path w="2030095" h="10160">
                <a:moveTo>
                  <a:pt x="1646519" y="0"/>
                </a:moveTo>
                <a:lnTo>
                  <a:pt x="1641250" y="0"/>
                </a:lnTo>
                <a:lnTo>
                  <a:pt x="1639117" y="2132"/>
                </a:lnTo>
                <a:lnTo>
                  <a:pt x="1639117" y="7392"/>
                </a:lnTo>
                <a:lnTo>
                  <a:pt x="1641250" y="9525"/>
                </a:lnTo>
                <a:lnTo>
                  <a:pt x="1646519" y="9525"/>
                </a:lnTo>
                <a:lnTo>
                  <a:pt x="1648651" y="7392"/>
                </a:lnTo>
                <a:lnTo>
                  <a:pt x="1648651" y="2132"/>
                </a:lnTo>
                <a:lnTo>
                  <a:pt x="1646519" y="0"/>
                </a:lnTo>
                <a:close/>
              </a:path>
              <a:path w="2030095" h="10160">
                <a:moveTo>
                  <a:pt x="1627460" y="0"/>
                </a:moveTo>
                <a:lnTo>
                  <a:pt x="1622190" y="0"/>
                </a:lnTo>
                <a:lnTo>
                  <a:pt x="1620057" y="2132"/>
                </a:lnTo>
                <a:lnTo>
                  <a:pt x="1620057" y="7392"/>
                </a:lnTo>
                <a:lnTo>
                  <a:pt x="1622190" y="9525"/>
                </a:lnTo>
                <a:lnTo>
                  <a:pt x="1627460" y="9525"/>
                </a:lnTo>
                <a:lnTo>
                  <a:pt x="1629592" y="7392"/>
                </a:lnTo>
                <a:lnTo>
                  <a:pt x="1629592" y="2132"/>
                </a:lnTo>
                <a:lnTo>
                  <a:pt x="1627460" y="0"/>
                </a:lnTo>
                <a:close/>
              </a:path>
              <a:path w="2030095" h="10160">
                <a:moveTo>
                  <a:pt x="1608400" y="0"/>
                </a:moveTo>
                <a:lnTo>
                  <a:pt x="1603131" y="0"/>
                </a:lnTo>
                <a:lnTo>
                  <a:pt x="1600998" y="2132"/>
                </a:lnTo>
                <a:lnTo>
                  <a:pt x="1600998" y="7392"/>
                </a:lnTo>
                <a:lnTo>
                  <a:pt x="1603131" y="9525"/>
                </a:lnTo>
                <a:lnTo>
                  <a:pt x="1608400" y="9525"/>
                </a:lnTo>
                <a:lnTo>
                  <a:pt x="1610532" y="7392"/>
                </a:lnTo>
                <a:lnTo>
                  <a:pt x="1610532" y="2132"/>
                </a:lnTo>
                <a:lnTo>
                  <a:pt x="1608400" y="0"/>
                </a:lnTo>
                <a:close/>
              </a:path>
              <a:path w="2030095" h="10160">
                <a:moveTo>
                  <a:pt x="1589341" y="0"/>
                </a:moveTo>
                <a:lnTo>
                  <a:pt x="1584071" y="0"/>
                </a:lnTo>
                <a:lnTo>
                  <a:pt x="1581938" y="2132"/>
                </a:lnTo>
                <a:lnTo>
                  <a:pt x="1581938" y="7392"/>
                </a:lnTo>
                <a:lnTo>
                  <a:pt x="1584071" y="9525"/>
                </a:lnTo>
                <a:lnTo>
                  <a:pt x="1589341" y="9525"/>
                </a:lnTo>
                <a:lnTo>
                  <a:pt x="1591473" y="7392"/>
                </a:lnTo>
                <a:lnTo>
                  <a:pt x="1591473" y="2132"/>
                </a:lnTo>
                <a:lnTo>
                  <a:pt x="1589341" y="0"/>
                </a:lnTo>
                <a:close/>
              </a:path>
              <a:path w="2030095" h="10160">
                <a:moveTo>
                  <a:pt x="1570281" y="0"/>
                </a:moveTo>
                <a:lnTo>
                  <a:pt x="1565012" y="0"/>
                </a:lnTo>
                <a:lnTo>
                  <a:pt x="1562879" y="2132"/>
                </a:lnTo>
                <a:lnTo>
                  <a:pt x="1562879" y="7392"/>
                </a:lnTo>
                <a:lnTo>
                  <a:pt x="1565012" y="9525"/>
                </a:lnTo>
                <a:lnTo>
                  <a:pt x="1570281" y="9525"/>
                </a:lnTo>
                <a:lnTo>
                  <a:pt x="1572413" y="7392"/>
                </a:lnTo>
                <a:lnTo>
                  <a:pt x="1572413" y="2132"/>
                </a:lnTo>
                <a:lnTo>
                  <a:pt x="1570281" y="0"/>
                </a:lnTo>
                <a:close/>
              </a:path>
              <a:path w="2030095" h="10160">
                <a:moveTo>
                  <a:pt x="1551222" y="0"/>
                </a:moveTo>
                <a:lnTo>
                  <a:pt x="1545951" y="0"/>
                </a:lnTo>
                <a:lnTo>
                  <a:pt x="1543819" y="2132"/>
                </a:lnTo>
                <a:lnTo>
                  <a:pt x="1543819" y="7392"/>
                </a:lnTo>
                <a:lnTo>
                  <a:pt x="1545951" y="9525"/>
                </a:lnTo>
                <a:lnTo>
                  <a:pt x="1551222" y="9525"/>
                </a:lnTo>
                <a:lnTo>
                  <a:pt x="1553354" y="7392"/>
                </a:lnTo>
                <a:lnTo>
                  <a:pt x="1553354" y="2132"/>
                </a:lnTo>
                <a:lnTo>
                  <a:pt x="1551222" y="0"/>
                </a:lnTo>
                <a:close/>
              </a:path>
              <a:path w="2030095" h="10160">
                <a:moveTo>
                  <a:pt x="1532162" y="0"/>
                </a:moveTo>
                <a:lnTo>
                  <a:pt x="1526893" y="0"/>
                </a:lnTo>
                <a:lnTo>
                  <a:pt x="1524760" y="2132"/>
                </a:lnTo>
                <a:lnTo>
                  <a:pt x="1524760" y="7392"/>
                </a:lnTo>
                <a:lnTo>
                  <a:pt x="1526893" y="9525"/>
                </a:lnTo>
                <a:lnTo>
                  <a:pt x="1532162" y="9525"/>
                </a:lnTo>
                <a:lnTo>
                  <a:pt x="1534294" y="7392"/>
                </a:lnTo>
                <a:lnTo>
                  <a:pt x="1534294" y="2132"/>
                </a:lnTo>
                <a:lnTo>
                  <a:pt x="1532162" y="0"/>
                </a:lnTo>
                <a:close/>
              </a:path>
              <a:path w="2030095" h="10160">
                <a:moveTo>
                  <a:pt x="1513103" y="0"/>
                </a:moveTo>
                <a:lnTo>
                  <a:pt x="1507832" y="0"/>
                </a:lnTo>
                <a:lnTo>
                  <a:pt x="1505700" y="2132"/>
                </a:lnTo>
                <a:lnTo>
                  <a:pt x="1505700" y="7392"/>
                </a:lnTo>
                <a:lnTo>
                  <a:pt x="1507832" y="9525"/>
                </a:lnTo>
                <a:lnTo>
                  <a:pt x="1513103" y="9525"/>
                </a:lnTo>
                <a:lnTo>
                  <a:pt x="1515235" y="7392"/>
                </a:lnTo>
                <a:lnTo>
                  <a:pt x="1515235" y="2132"/>
                </a:lnTo>
                <a:lnTo>
                  <a:pt x="1513103" y="0"/>
                </a:lnTo>
                <a:close/>
              </a:path>
              <a:path w="2030095" h="10160">
                <a:moveTo>
                  <a:pt x="1494043" y="0"/>
                </a:moveTo>
                <a:lnTo>
                  <a:pt x="1488774" y="0"/>
                </a:lnTo>
                <a:lnTo>
                  <a:pt x="1486641" y="2132"/>
                </a:lnTo>
                <a:lnTo>
                  <a:pt x="1486641" y="7392"/>
                </a:lnTo>
                <a:lnTo>
                  <a:pt x="1488774" y="9525"/>
                </a:lnTo>
                <a:lnTo>
                  <a:pt x="1494043" y="9525"/>
                </a:lnTo>
                <a:lnTo>
                  <a:pt x="1496175" y="7392"/>
                </a:lnTo>
                <a:lnTo>
                  <a:pt x="1496175" y="2132"/>
                </a:lnTo>
                <a:lnTo>
                  <a:pt x="1494043" y="0"/>
                </a:lnTo>
                <a:close/>
              </a:path>
              <a:path w="2030095" h="10160">
                <a:moveTo>
                  <a:pt x="1474984" y="0"/>
                </a:moveTo>
                <a:lnTo>
                  <a:pt x="1469713" y="0"/>
                </a:lnTo>
                <a:lnTo>
                  <a:pt x="1467581" y="2132"/>
                </a:lnTo>
                <a:lnTo>
                  <a:pt x="1467581" y="7392"/>
                </a:lnTo>
                <a:lnTo>
                  <a:pt x="1469713" y="9525"/>
                </a:lnTo>
                <a:lnTo>
                  <a:pt x="1474984" y="9525"/>
                </a:lnTo>
                <a:lnTo>
                  <a:pt x="1477116" y="7392"/>
                </a:lnTo>
                <a:lnTo>
                  <a:pt x="1477116" y="2132"/>
                </a:lnTo>
                <a:lnTo>
                  <a:pt x="1474984" y="0"/>
                </a:lnTo>
                <a:close/>
              </a:path>
              <a:path w="2030095" h="10160">
                <a:moveTo>
                  <a:pt x="1455924" y="0"/>
                </a:moveTo>
                <a:lnTo>
                  <a:pt x="1450654" y="0"/>
                </a:lnTo>
                <a:lnTo>
                  <a:pt x="1448522" y="2132"/>
                </a:lnTo>
                <a:lnTo>
                  <a:pt x="1448522" y="7392"/>
                </a:lnTo>
                <a:lnTo>
                  <a:pt x="1450654" y="9525"/>
                </a:lnTo>
                <a:lnTo>
                  <a:pt x="1455924" y="9525"/>
                </a:lnTo>
                <a:lnTo>
                  <a:pt x="1458056" y="7392"/>
                </a:lnTo>
                <a:lnTo>
                  <a:pt x="1458056" y="2132"/>
                </a:lnTo>
                <a:lnTo>
                  <a:pt x="1455924" y="0"/>
                </a:lnTo>
                <a:close/>
              </a:path>
              <a:path w="2030095" h="10160">
                <a:moveTo>
                  <a:pt x="1436865" y="0"/>
                </a:moveTo>
                <a:lnTo>
                  <a:pt x="1431594" y="0"/>
                </a:lnTo>
                <a:lnTo>
                  <a:pt x="1429462" y="2132"/>
                </a:lnTo>
                <a:lnTo>
                  <a:pt x="1429462" y="7392"/>
                </a:lnTo>
                <a:lnTo>
                  <a:pt x="1431594" y="9525"/>
                </a:lnTo>
                <a:lnTo>
                  <a:pt x="1436865" y="9525"/>
                </a:lnTo>
                <a:lnTo>
                  <a:pt x="1438997" y="7392"/>
                </a:lnTo>
                <a:lnTo>
                  <a:pt x="1438997" y="2132"/>
                </a:lnTo>
                <a:lnTo>
                  <a:pt x="1436865" y="0"/>
                </a:lnTo>
                <a:close/>
              </a:path>
              <a:path w="2030095" h="10160">
                <a:moveTo>
                  <a:pt x="1417805" y="0"/>
                </a:moveTo>
                <a:lnTo>
                  <a:pt x="1412535" y="0"/>
                </a:lnTo>
                <a:lnTo>
                  <a:pt x="1410403" y="2132"/>
                </a:lnTo>
                <a:lnTo>
                  <a:pt x="1410403" y="7392"/>
                </a:lnTo>
                <a:lnTo>
                  <a:pt x="1412535" y="9525"/>
                </a:lnTo>
                <a:lnTo>
                  <a:pt x="1417805" y="9525"/>
                </a:lnTo>
                <a:lnTo>
                  <a:pt x="1419937" y="7392"/>
                </a:lnTo>
                <a:lnTo>
                  <a:pt x="1419937" y="2132"/>
                </a:lnTo>
                <a:lnTo>
                  <a:pt x="1417805" y="0"/>
                </a:lnTo>
                <a:close/>
              </a:path>
              <a:path w="2030095" h="10160">
                <a:moveTo>
                  <a:pt x="1398746" y="0"/>
                </a:moveTo>
                <a:lnTo>
                  <a:pt x="1393475" y="0"/>
                </a:lnTo>
                <a:lnTo>
                  <a:pt x="1391343" y="2132"/>
                </a:lnTo>
                <a:lnTo>
                  <a:pt x="1391343" y="7392"/>
                </a:lnTo>
                <a:lnTo>
                  <a:pt x="1393475" y="9525"/>
                </a:lnTo>
                <a:lnTo>
                  <a:pt x="1398746" y="9525"/>
                </a:lnTo>
                <a:lnTo>
                  <a:pt x="1400878" y="7392"/>
                </a:lnTo>
                <a:lnTo>
                  <a:pt x="1400878" y="2132"/>
                </a:lnTo>
                <a:lnTo>
                  <a:pt x="1398746" y="0"/>
                </a:lnTo>
                <a:close/>
              </a:path>
              <a:path w="2030095" h="10160">
                <a:moveTo>
                  <a:pt x="1379686" y="0"/>
                </a:moveTo>
                <a:lnTo>
                  <a:pt x="1374416" y="0"/>
                </a:lnTo>
                <a:lnTo>
                  <a:pt x="1372284" y="2132"/>
                </a:lnTo>
                <a:lnTo>
                  <a:pt x="1372284" y="7392"/>
                </a:lnTo>
                <a:lnTo>
                  <a:pt x="1374416" y="9525"/>
                </a:lnTo>
                <a:lnTo>
                  <a:pt x="1379686" y="9525"/>
                </a:lnTo>
                <a:lnTo>
                  <a:pt x="1381818" y="7392"/>
                </a:lnTo>
                <a:lnTo>
                  <a:pt x="1381818" y="2132"/>
                </a:lnTo>
                <a:lnTo>
                  <a:pt x="1379686" y="0"/>
                </a:lnTo>
                <a:close/>
              </a:path>
              <a:path w="2030095" h="10160">
                <a:moveTo>
                  <a:pt x="1360627" y="0"/>
                </a:moveTo>
                <a:lnTo>
                  <a:pt x="1355356" y="0"/>
                </a:lnTo>
                <a:lnTo>
                  <a:pt x="1353224" y="2132"/>
                </a:lnTo>
                <a:lnTo>
                  <a:pt x="1353224" y="7392"/>
                </a:lnTo>
                <a:lnTo>
                  <a:pt x="1355356" y="9525"/>
                </a:lnTo>
                <a:lnTo>
                  <a:pt x="1360627" y="9525"/>
                </a:lnTo>
                <a:lnTo>
                  <a:pt x="1362759" y="7392"/>
                </a:lnTo>
                <a:lnTo>
                  <a:pt x="1362759" y="2132"/>
                </a:lnTo>
                <a:lnTo>
                  <a:pt x="1360627" y="0"/>
                </a:lnTo>
                <a:close/>
              </a:path>
              <a:path w="2030095" h="10160">
                <a:moveTo>
                  <a:pt x="1341567" y="0"/>
                </a:moveTo>
                <a:lnTo>
                  <a:pt x="1336297" y="0"/>
                </a:lnTo>
                <a:lnTo>
                  <a:pt x="1334165" y="2132"/>
                </a:lnTo>
                <a:lnTo>
                  <a:pt x="1334165" y="7392"/>
                </a:lnTo>
                <a:lnTo>
                  <a:pt x="1336297" y="9525"/>
                </a:lnTo>
                <a:lnTo>
                  <a:pt x="1341567" y="9525"/>
                </a:lnTo>
                <a:lnTo>
                  <a:pt x="1343699" y="7392"/>
                </a:lnTo>
                <a:lnTo>
                  <a:pt x="1343699" y="2132"/>
                </a:lnTo>
                <a:lnTo>
                  <a:pt x="1341567" y="0"/>
                </a:lnTo>
                <a:close/>
              </a:path>
              <a:path w="2030095" h="10160">
                <a:moveTo>
                  <a:pt x="1322508" y="0"/>
                </a:moveTo>
                <a:lnTo>
                  <a:pt x="1317237" y="0"/>
                </a:lnTo>
                <a:lnTo>
                  <a:pt x="1315105" y="2132"/>
                </a:lnTo>
                <a:lnTo>
                  <a:pt x="1315105" y="7392"/>
                </a:lnTo>
                <a:lnTo>
                  <a:pt x="1317237" y="9525"/>
                </a:lnTo>
                <a:lnTo>
                  <a:pt x="1322508" y="9525"/>
                </a:lnTo>
                <a:lnTo>
                  <a:pt x="1324640" y="7392"/>
                </a:lnTo>
                <a:lnTo>
                  <a:pt x="1324640" y="2132"/>
                </a:lnTo>
                <a:lnTo>
                  <a:pt x="1322508" y="0"/>
                </a:lnTo>
                <a:close/>
              </a:path>
              <a:path w="2030095" h="10160">
                <a:moveTo>
                  <a:pt x="1303449" y="0"/>
                </a:moveTo>
                <a:lnTo>
                  <a:pt x="1298178" y="0"/>
                </a:lnTo>
                <a:lnTo>
                  <a:pt x="1296046" y="2132"/>
                </a:lnTo>
                <a:lnTo>
                  <a:pt x="1296046" y="7392"/>
                </a:lnTo>
                <a:lnTo>
                  <a:pt x="1298178" y="9525"/>
                </a:lnTo>
                <a:lnTo>
                  <a:pt x="1303449" y="9525"/>
                </a:lnTo>
                <a:lnTo>
                  <a:pt x="1305580" y="7392"/>
                </a:lnTo>
                <a:lnTo>
                  <a:pt x="1305580" y="2132"/>
                </a:lnTo>
                <a:lnTo>
                  <a:pt x="1303449" y="0"/>
                </a:lnTo>
                <a:close/>
              </a:path>
              <a:path w="2030095" h="10160">
                <a:moveTo>
                  <a:pt x="1284389" y="0"/>
                </a:moveTo>
                <a:lnTo>
                  <a:pt x="1279118" y="0"/>
                </a:lnTo>
                <a:lnTo>
                  <a:pt x="1276987" y="2132"/>
                </a:lnTo>
                <a:lnTo>
                  <a:pt x="1276987" y="7392"/>
                </a:lnTo>
                <a:lnTo>
                  <a:pt x="1279118" y="9525"/>
                </a:lnTo>
                <a:lnTo>
                  <a:pt x="1284389" y="9525"/>
                </a:lnTo>
                <a:lnTo>
                  <a:pt x="1286521" y="7392"/>
                </a:lnTo>
                <a:lnTo>
                  <a:pt x="1286521" y="2132"/>
                </a:lnTo>
                <a:lnTo>
                  <a:pt x="1284389" y="0"/>
                </a:lnTo>
                <a:close/>
              </a:path>
              <a:path w="2030095" h="10160">
                <a:moveTo>
                  <a:pt x="1265330" y="0"/>
                </a:moveTo>
                <a:lnTo>
                  <a:pt x="1260059" y="0"/>
                </a:lnTo>
                <a:lnTo>
                  <a:pt x="1257927" y="2132"/>
                </a:lnTo>
                <a:lnTo>
                  <a:pt x="1257927" y="7392"/>
                </a:lnTo>
                <a:lnTo>
                  <a:pt x="1260059" y="9525"/>
                </a:lnTo>
                <a:lnTo>
                  <a:pt x="1265330" y="9525"/>
                </a:lnTo>
                <a:lnTo>
                  <a:pt x="1267462" y="7392"/>
                </a:lnTo>
                <a:lnTo>
                  <a:pt x="1267462" y="2132"/>
                </a:lnTo>
                <a:lnTo>
                  <a:pt x="1265330" y="0"/>
                </a:lnTo>
                <a:close/>
              </a:path>
              <a:path w="2030095" h="10160">
                <a:moveTo>
                  <a:pt x="1246270" y="0"/>
                </a:moveTo>
                <a:lnTo>
                  <a:pt x="1240999" y="0"/>
                </a:lnTo>
                <a:lnTo>
                  <a:pt x="1238868" y="2132"/>
                </a:lnTo>
                <a:lnTo>
                  <a:pt x="1238868" y="7392"/>
                </a:lnTo>
                <a:lnTo>
                  <a:pt x="1240999" y="9525"/>
                </a:lnTo>
                <a:lnTo>
                  <a:pt x="1246270" y="9525"/>
                </a:lnTo>
                <a:lnTo>
                  <a:pt x="1248402" y="7392"/>
                </a:lnTo>
                <a:lnTo>
                  <a:pt x="1248402" y="2132"/>
                </a:lnTo>
                <a:lnTo>
                  <a:pt x="1246270" y="0"/>
                </a:lnTo>
                <a:close/>
              </a:path>
              <a:path w="2030095" h="10160">
                <a:moveTo>
                  <a:pt x="1227211" y="0"/>
                </a:moveTo>
                <a:lnTo>
                  <a:pt x="1221940" y="0"/>
                </a:lnTo>
                <a:lnTo>
                  <a:pt x="1219808" y="2132"/>
                </a:lnTo>
                <a:lnTo>
                  <a:pt x="1219808" y="7392"/>
                </a:lnTo>
                <a:lnTo>
                  <a:pt x="1221940" y="9525"/>
                </a:lnTo>
                <a:lnTo>
                  <a:pt x="1227211" y="9525"/>
                </a:lnTo>
                <a:lnTo>
                  <a:pt x="1229343" y="7392"/>
                </a:lnTo>
                <a:lnTo>
                  <a:pt x="1229343" y="2132"/>
                </a:lnTo>
                <a:lnTo>
                  <a:pt x="1227211" y="0"/>
                </a:lnTo>
                <a:close/>
              </a:path>
              <a:path w="2030095" h="10160">
                <a:moveTo>
                  <a:pt x="1208151" y="0"/>
                </a:moveTo>
                <a:lnTo>
                  <a:pt x="1202881" y="0"/>
                </a:lnTo>
                <a:lnTo>
                  <a:pt x="1200749" y="2132"/>
                </a:lnTo>
                <a:lnTo>
                  <a:pt x="1200749" y="7392"/>
                </a:lnTo>
                <a:lnTo>
                  <a:pt x="1202881" y="9525"/>
                </a:lnTo>
                <a:lnTo>
                  <a:pt x="1208151" y="9525"/>
                </a:lnTo>
                <a:lnTo>
                  <a:pt x="1210283" y="7392"/>
                </a:lnTo>
                <a:lnTo>
                  <a:pt x="1210283" y="2132"/>
                </a:lnTo>
                <a:lnTo>
                  <a:pt x="1208151" y="0"/>
                </a:lnTo>
                <a:close/>
              </a:path>
              <a:path w="2030095" h="10160">
                <a:moveTo>
                  <a:pt x="1189092" y="0"/>
                </a:moveTo>
                <a:lnTo>
                  <a:pt x="1183821" y="0"/>
                </a:lnTo>
                <a:lnTo>
                  <a:pt x="1181689" y="2132"/>
                </a:lnTo>
                <a:lnTo>
                  <a:pt x="1181689" y="7392"/>
                </a:lnTo>
                <a:lnTo>
                  <a:pt x="1183821" y="9525"/>
                </a:lnTo>
                <a:lnTo>
                  <a:pt x="1189092" y="9525"/>
                </a:lnTo>
                <a:lnTo>
                  <a:pt x="1191224" y="7392"/>
                </a:lnTo>
                <a:lnTo>
                  <a:pt x="1191224" y="2132"/>
                </a:lnTo>
                <a:lnTo>
                  <a:pt x="1189092" y="0"/>
                </a:lnTo>
                <a:close/>
              </a:path>
              <a:path w="2030095" h="10160">
                <a:moveTo>
                  <a:pt x="1170031" y="0"/>
                </a:moveTo>
                <a:lnTo>
                  <a:pt x="1164762" y="0"/>
                </a:lnTo>
                <a:lnTo>
                  <a:pt x="1162630" y="2132"/>
                </a:lnTo>
                <a:lnTo>
                  <a:pt x="1162630" y="7392"/>
                </a:lnTo>
                <a:lnTo>
                  <a:pt x="1164762" y="9525"/>
                </a:lnTo>
                <a:lnTo>
                  <a:pt x="1170031" y="9525"/>
                </a:lnTo>
                <a:lnTo>
                  <a:pt x="1172164" y="7392"/>
                </a:lnTo>
                <a:lnTo>
                  <a:pt x="1172164" y="2132"/>
                </a:lnTo>
                <a:lnTo>
                  <a:pt x="1170031" y="0"/>
                </a:lnTo>
                <a:close/>
              </a:path>
              <a:path w="2030095" h="10160">
                <a:moveTo>
                  <a:pt x="1150973" y="0"/>
                </a:moveTo>
                <a:lnTo>
                  <a:pt x="1145702" y="0"/>
                </a:lnTo>
                <a:lnTo>
                  <a:pt x="1143570" y="2132"/>
                </a:lnTo>
                <a:lnTo>
                  <a:pt x="1143570" y="7392"/>
                </a:lnTo>
                <a:lnTo>
                  <a:pt x="1145702" y="9525"/>
                </a:lnTo>
                <a:lnTo>
                  <a:pt x="1150973" y="9525"/>
                </a:lnTo>
                <a:lnTo>
                  <a:pt x="1153105" y="7392"/>
                </a:lnTo>
                <a:lnTo>
                  <a:pt x="1153105" y="2132"/>
                </a:lnTo>
                <a:lnTo>
                  <a:pt x="1150973" y="0"/>
                </a:lnTo>
                <a:close/>
              </a:path>
              <a:path w="2030095" h="10160">
                <a:moveTo>
                  <a:pt x="1131912" y="0"/>
                </a:moveTo>
                <a:lnTo>
                  <a:pt x="1126643" y="0"/>
                </a:lnTo>
                <a:lnTo>
                  <a:pt x="1124511" y="2132"/>
                </a:lnTo>
                <a:lnTo>
                  <a:pt x="1124511" y="7392"/>
                </a:lnTo>
                <a:lnTo>
                  <a:pt x="1126643" y="9525"/>
                </a:lnTo>
                <a:lnTo>
                  <a:pt x="1131912" y="9525"/>
                </a:lnTo>
                <a:lnTo>
                  <a:pt x="1134045" y="7392"/>
                </a:lnTo>
                <a:lnTo>
                  <a:pt x="1134045" y="2132"/>
                </a:lnTo>
                <a:lnTo>
                  <a:pt x="1131912" y="0"/>
                </a:lnTo>
                <a:close/>
              </a:path>
              <a:path w="2030095" h="10160">
                <a:moveTo>
                  <a:pt x="1112854" y="0"/>
                </a:moveTo>
                <a:lnTo>
                  <a:pt x="1107583" y="0"/>
                </a:lnTo>
                <a:lnTo>
                  <a:pt x="1105451" y="2132"/>
                </a:lnTo>
                <a:lnTo>
                  <a:pt x="1105451" y="7392"/>
                </a:lnTo>
                <a:lnTo>
                  <a:pt x="1107583" y="9525"/>
                </a:lnTo>
                <a:lnTo>
                  <a:pt x="1112854" y="9525"/>
                </a:lnTo>
                <a:lnTo>
                  <a:pt x="1114986" y="7392"/>
                </a:lnTo>
                <a:lnTo>
                  <a:pt x="1114986" y="2132"/>
                </a:lnTo>
                <a:lnTo>
                  <a:pt x="1112854" y="0"/>
                </a:lnTo>
                <a:close/>
              </a:path>
              <a:path w="2030095" h="10160">
                <a:moveTo>
                  <a:pt x="1093793" y="0"/>
                </a:moveTo>
                <a:lnTo>
                  <a:pt x="1088524" y="0"/>
                </a:lnTo>
                <a:lnTo>
                  <a:pt x="1086392" y="2132"/>
                </a:lnTo>
                <a:lnTo>
                  <a:pt x="1086392" y="7392"/>
                </a:lnTo>
                <a:lnTo>
                  <a:pt x="1088524" y="9525"/>
                </a:lnTo>
                <a:lnTo>
                  <a:pt x="1093793" y="9525"/>
                </a:lnTo>
                <a:lnTo>
                  <a:pt x="1095926" y="7392"/>
                </a:lnTo>
                <a:lnTo>
                  <a:pt x="1095926" y="2132"/>
                </a:lnTo>
                <a:lnTo>
                  <a:pt x="1093793" y="0"/>
                </a:lnTo>
                <a:close/>
              </a:path>
              <a:path w="2030095" h="10160">
                <a:moveTo>
                  <a:pt x="1074734" y="0"/>
                </a:moveTo>
                <a:lnTo>
                  <a:pt x="1069464" y="0"/>
                </a:lnTo>
                <a:lnTo>
                  <a:pt x="1067332" y="2132"/>
                </a:lnTo>
                <a:lnTo>
                  <a:pt x="1067332" y="7392"/>
                </a:lnTo>
                <a:lnTo>
                  <a:pt x="1069464" y="9525"/>
                </a:lnTo>
                <a:lnTo>
                  <a:pt x="1074734" y="9525"/>
                </a:lnTo>
                <a:lnTo>
                  <a:pt x="1076867" y="7392"/>
                </a:lnTo>
                <a:lnTo>
                  <a:pt x="1076867" y="2132"/>
                </a:lnTo>
                <a:lnTo>
                  <a:pt x="1074734" y="0"/>
                </a:lnTo>
                <a:close/>
              </a:path>
              <a:path w="2030095" h="10160">
                <a:moveTo>
                  <a:pt x="1055674" y="0"/>
                </a:moveTo>
                <a:lnTo>
                  <a:pt x="1050405" y="0"/>
                </a:lnTo>
                <a:lnTo>
                  <a:pt x="1048273" y="2132"/>
                </a:lnTo>
                <a:lnTo>
                  <a:pt x="1048273" y="7392"/>
                </a:lnTo>
                <a:lnTo>
                  <a:pt x="1050405" y="9525"/>
                </a:lnTo>
                <a:lnTo>
                  <a:pt x="1055674" y="9525"/>
                </a:lnTo>
                <a:lnTo>
                  <a:pt x="1057807" y="7392"/>
                </a:lnTo>
                <a:lnTo>
                  <a:pt x="1057807" y="2132"/>
                </a:lnTo>
                <a:lnTo>
                  <a:pt x="1055674" y="0"/>
                </a:lnTo>
                <a:close/>
              </a:path>
              <a:path w="2030095" h="10160">
                <a:moveTo>
                  <a:pt x="1036615" y="0"/>
                </a:moveTo>
                <a:lnTo>
                  <a:pt x="1031345" y="0"/>
                </a:lnTo>
                <a:lnTo>
                  <a:pt x="1029213" y="2132"/>
                </a:lnTo>
                <a:lnTo>
                  <a:pt x="1029213" y="7392"/>
                </a:lnTo>
                <a:lnTo>
                  <a:pt x="1031345" y="9525"/>
                </a:lnTo>
                <a:lnTo>
                  <a:pt x="1036615" y="9525"/>
                </a:lnTo>
                <a:lnTo>
                  <a:pt x="1038748" y="7392"/>
                </a:lnTo>
                <a:lnTo>
                  <a:pt x="1038748" y="2132"/>
                </a:lnTo>
                <a:lnTo>
                  <a:pt x="1036615" y="0"/>
                </a:lnTo>
                <a:close/>
              </a:path>
              <a:path w="2030095" h="10160">
                <a:moveTo>
                  <a:pt x="1017555" y="0"/>
                </a:moveTo>
                <a:lnTo>
                  <a:pt x="1012286" y="0"/>
                </a:lnTo>
                <a:lnTo>
                  <a:pt x="1010154" y="2132"/>
                </a:lnTo>
                <a:lnTo>
                  <a:pt x="1010154" y="7392"/>
                </a:lnTo>
                <a:lnTo>
                  <a:pt x="1012286" y="9525"/>
                </a:lnTo>
                <a:lnTo>
                  <a:pt x="1017555" y="9525"/>
                </a:lnTo>
                <a:lnTo>
                  <a:pt x="1019688" y="7392"/>
                </a:lnTo>
                <a:lnTo>
                  <a:pt x="1019688" y="2132"/>
                </a:lnTo>
                <a:lnTo>
                  <a:pt x="1017555" y="0"/>
                </a:lnTo>
                <a:close/>
              </a:path>
              <a:path w="2030095" h="10160">
                <a:moveTo>
                  <a:pt x="998496" y="0"/>
                </a:moveTo>
                <a:lnTo>
                  <a:pt x="993226" y="0"/>
                </a:lnTo>
                <a:lnTo>
                  <a:pt x="991094" y="2132"/>
                </a:lnTo>
                <a:lnTo>
                  <a:pt x="991094" y="7392"/>
                </a:lnTo>
                <a:lnTo>
                  <a:pt x="993226" y="9525"/>
                </a:lnTo>
                <a:lnTo>
                  <a:pt x="998496" y="9525"/>
                </a:lnTo>
                <a:lnTo>
                  <a:pt x="1000629" y="7392"/>
                </a:lnTo>
                <a:lnTo>
                  <a:pt x="1000629" y="2132"/>
                </a:lnTo>
                <a:lnTo>
                  <a:pt x="998496" y="0"/>
                </a:lnTo>
                <a:close/>
              </a:path>
              <a:path w="2030095" h="10160">
                <a:moveTo>
                  <a:pt x="979436" y="0"/>
                </a:moveTo>
                <a:lnTo>
                  <a:pt x="974167" y="0"/>
                </a:lnTo>
                <a:lnTo>
                  <a:pt x="972035" y="2132"/>
                </a:lnTo>
                <a:lnTo>
                  <a:pt x="972035" y="7392"/>
                </a:lnTo>
                <a:lnTo>
                  <a:pt x="974167" y="9525"/>
                </a:lnTo>
                <a:lnTo>
                  <a:pt x="979436" y="9525"/>
                </a:lnTo>
                <a:lnTo>
                  <a:pt x="981569" y="7392"/>
                </a:lnTo>
                <a:lnTo>
                  <a:pt x="981569" y="2132"/>
                </a:lnTo>
                <a:lnTo>
                  <a:pt x="979436" y="0"/>
                </a:lnTo>
                <a:close/>
              </a:path>
              <a:path w="2030095" h="10160">
                <a:moveTo>
                  <a:pt x="960377" y="0"/>
                </a:moveTo>
                <a:lnTo>
                  <a:pt x="955107" y="0"/>
                </a:lnTo>
                <a:lnTo>
                  <a:pt x="952974" y="2132"/>
                </a:lnTo>
                <a:lnTo>
                  <a:pt x="952974" y="7392"/>
                </a:lnTo>
                <a:lnTo>
                  <a:pt x="955107" y="9525"/>
                </a:lnTo>
                <a:lnTo>
                  <a:pt x="960377" y="9525"/>
                </a:lnTo>
                <a:lnTo>
                  <a:pt x="962510" y="7392"/>
                </a:lnTo>
                <a:lnTo>
                  <a:pt x="962510" y="2132"/>
                </a:lnTo>
                <a:lnTo>
                  <a:pt x="960377" y="0"/>
                </a:lnTo>
                <a:close/>
              </a:path>
              <a:path w="2030095" h="10160">
                <a:moveTo>
                  <a:pt x="941317" y="0"/>
                </a:moveTo>
                <a:lnTo>
                  <a:pt x="936048" y="0"/>
                </a:lnTo>
                <a:lnTo>
                  <a:pt x="933916" y="2132"/>
                </a:lnTo>
                <a:lnTo>
                  <a:pt x="933916" y="7392"/>
                </a:lnTo>
                <a:lnTo>
                  <a:pt x="936048" y="9525"/>
                </a:lnTo>
                <a:lnTo>
                  <a:pt x="941317" y="9525"/>
                </a:lnTo>
                <a:lnTo>
                  <a:pt x="943449" y="7392"/>
                </a:lnTo>
                <a:lnTo>
                  <a:pt x="943449" y="2132"/>
                </a:lnTo>
                <a:lnTo>
                  <a:pt x="941317" y="0"/>
                </a:lnTo>
                <a:close/>
              </a:path>
              <a:path w="2030095" h="10160">
                <a:moveTo>
                  <a:pt x="922258" y="0"/>
                </a:moveTo>
                <a:lnTo>
                  <a:pt x="916988" y="0"/>
                </a:lnTo>
                <a:lnTo>
                  <a:pt x="914855" y="2132"/>
                </a:lnTo>
                <a:lnTo>
                  <a:pt x="914855" y="7392"/>
                </a:lnTo>
                <a:lnTo>
                  <a:pt x="916988" y="9525"/>
                </a:lnTo>
                <a:lnTo>
                  <a:pt x="922258" y="9525"/>
                </a:lnTo>
                <a:lnTo>
                  <a:pt x="924391" y="7392"/>
                </a:lnTo>
                <a:lnTo>
                  <a:pt x="924391" y="2132"/>
                </a:lnTo>
                <a:lnTo>
                  <a:pt x="922258" y="0"/>
                </a:lnTo>
                <a:close/>
              </a:path>
              <a:path w="2030095" h="10160">
                <a:moveTo>
                  <a:pt x="903199" y="0"/>
                </a:moveTo>
                <a:lnTo>
                  <a:pt x="897929" y="0"/>
                </a:lnTo>
                <a:lnTo>
                  <a:pt x="895797" y="2132"/>
                </a:lnTo>
                <a:lnTo>
                  <a:pt x="895797" y="7392"/>
                </a:lnTo>
                <a:lnTo>
                  <a:pt x="897929" y="9525"/>
                </a:lnTo>
                <a:lnTo>
                  <a:pt x="903199" y="9525"/>
                </a:lnTo>
                <a:lnTo>
                  <a:pt x="905330" y="7392"/>
                </a:lnTo>
                <a:lnTo>
                  <a:pt x="905330" y="2132"/>
                </a:lnTo>
                <a:lnTo>
                  <a:pt x="903199" y="0"/>
                </a:lnTo>
                <a:close/>
              </a:path>
              <a:path w="2030095" h="10160">
                <a:moveTo>
                  <a:pt x="884139" y="0"/>
                </a:moveTo>
                <a:lnTo>
                  <a:pt x="878869" y="0"/>
                </a:lnTo>
                <a:lnTo>
                  <a:pt x="876736" y="2132"/>
                </a:lnTo>
                <a:lnTo>
                  <a:pt x="876736" y="7392"/>
                </a:lnTo>
                <a:lnTo>
                  <a:pt x="878869" y="9525"/>
                </a:lnTo>
                <a:lnTo>
                  <a:pt x="884139" y="9525"/>
                </a:lnTo>
                <a:lnTo>
                  <a:pt x="886272" y="7392"/>
                </a:lnTo>
                <a:lnTo>
                  <a:pt x="886272" y="2132"/>
                </a:lnTo>
                <a:lnTo>
                  <a:pt x="884139" y="0"/>
                </a:lnTo>
                <a:close/>
              </a:path>
              <a:path w="2030095" h="10160">
                <a:moveTo>
                  <a:pt x="865080" y="0"/>
                </a:moveTo>
                <a:lnTo>
                  <a:pt x="859810" y="0"/>
                </a:lnTo>
                <a:lnTo>
                  <a:pt x="857677" y="2132"/>
                </a:lnTo>
                <a:lnTo>
                  <a:pt x="857677" y="7392"/>
                </a:lnTo>
                <a:lnTo>
                  <a:pt x="859810" y="9525"/>
                </a:lnTo>
                <a:lnTo>
                  <a:pt x="865080" y="9525"/>
                </a:lnTo>
                <a:lnTo>
                  <a:pt x="867211" y="7392"/>
                </a:lnTo>
                <a:lnTo>
                  <a:pt x="867211" y="2132"/>
                </a:lnTo>
                <a:lnTo>
                  <a:pt x="865080" y="0"/>
                </a:lnTo>
                <a:close/>
              </a:path>
              <a:path w="2030095" h="10160">
                <a:moveTo>
                  <a:pt x="846020" y="0"/>
                </a:moveTo>
                <a:lnTo>
                  <a:pt x="840750" y="0"/>
                </a:lnTo>
                <a:lnTo>
                  <a:pt x="838619" y="2132"/>
                </a:lnTo>
                <a:lnTo>
                  <a:pt x="838619" y="7392"/>
                </a:lnTo>
                <a:lnTo>
                  <a:pt x="840750" y="9525"/>
                </a:lnTo>
                <a:lnTo>
                  <a:pt x="846020" y="9525"/>
                </a:lnTo>
                <a:lnTo>
                  <a:pt x="848152" y="7392"/>
                </a:lnTo>
                <a:lnTo>
                  <a:pt x="848152" y="2132"/>
                </a:lnTo>
                <a:lnTo>
                  <a:pt x="846020" y="0"/>
                </a:lnTo>
                <a:close/>
              </a:path>
              <a:path w="2030095" h="10160">
                <a:moveTo>
                  <a:pt x="826961" y="0"/>
                </a:moveTo>
                <a:lnTo>
                  <a:pt x="821691" y="0"/>
                </a:lnTo>
                <a:lnTo>
                  <a:pt x="819558" y="2132"/>
                </a:lnTo>
                <a:lnTo>
                  <a:pt x="819558" y="7392"/>
                </a:lnTo>
                <a:lnTo>
                  <a:pt x="821691" y="9525"/>
                </a:lnTo>
                <a:lnTo>
                  <a:pt x="826961" y="9525"/>
                </a:lnTo>
                <a:lnTo>
                  <a:pt x="829094" y="7392"/>
                </a:lnTo>
                <a:lnTo>
                  <a:pt x="829094" y="2132"/>
                </a:lnTo>
                <a:lnTo>
                  <a:pt x="826961" y="0"/>
                </a:lnTo>
                <a:close/>
              </a:path>
              <a:path w="2030095" h="10160">
                <a:moveTo>
                  <a:pt x="807901" y="0"/>
                </a:moveTo>
                <a:lnTo>
                  <a:pt x="802632" y="0"/>
                </a:lnTo>
                <a:lnTo>
                  <a:pt x="800500" y="2132"/>
                </a:lnTo>
                <a:lnTo>
                  <a:pt x="800500" y="7392"/>
                </a:lnTo>
                <a:lnTo>
                  <a:pt x="802632" y="9525"/>
                </a:lnTo>
                <a:lnTo>
                  <a:pt x="807901" y="9525"/>
                </a:lnTo>
                <a:lnTo>
                  <a:pt x="810033" y="7392"/>
                </a:lnTo>
                <a:lnTo>
                  <a:pt x="810033" y="2132"/>
                </a:lnTo>
                <a:lnTo>
                  <a:pt x="807901" y="0"/>
                </a:lnTo>
                <a:close/>
              </a:path>
              <a:path w="2030095" h="10160">
                <a:moveTo>
                  <a:pt x="788842" y="0"/>
                </a:moveTo>
                <a:lnTo>
                  <a:pt x="783572" y="0"/>
                </a:lnTo>
                <a:lnTo>
                  <a:pt x="781439" y="2132"/>
                </a:lnTo>
                <a:lnTo>
                  <a:pt x="781439" y="7392"/>
                </a:lnTo>
                <a:lnTo>
                  <a:pt x="783572" y="9525"/>
                </a:lnTo>
                <a:lnTo>
                  <a:pt x="788842" y="9525"/>
                </a:lnTo>
                <a:lnTo>
                  <a:pt x="790975" y="7392"/>
                </a:lnTo>
                <a:lnTo>
                  <a:pt x="790975" y="2132"/>
                </a:lnTo>
                <a:lnTo>
                  <a:pt x="788842" y="0"/>
                </a:lnTo>
                <a:close/>
              </a:path>
              <a:path w="2030095" h="10160">
                <a:moveTo>
                  <a:pt x="769782" y="0"/>
                </a:moveTo>
                <a:lnTo>
                  <a:pt x="764513" y="0"/>
                </a:lnTo>
                <a:lnTo>
                  <a:pt x="762380" y="2132"/>
                </a:lnTo>
                <a:lnTo>
                  <a:pt x="762380" y="7392"/>
                </a:lnTo>
                <a:lnTo>
                  <a:pt x="764513" y="9525"/>
                </a:lnTo>
                <a:lnTo>
                  <a:pt x="769782" y="9525"/>
                </a:lnTo>
                <a:lnTo>
                  <a:pt x="771914" y="7392"/>
                </a:lnTo>
                <a:lnTo>
                  <a:pt x="771914" y="2132"/>
                </a:lnTo>
                <a:lnTo>
                  <a:pt x="769782" y="0"/>
                </a:lnTo>
                <a:close/>
              </a:path>
              <a:path w="2030095" h="10160">
                <a:moveTo>
                  <a:pt x="750723" y="0"/>
                </a:moveTo>
                <a:lnTo>
                  <a:pt x="745453" y="0"/>
                </a:lnTo>
                <a:lnTo>
                  <a:pt x="743320" y="2132"/>
                </a:lnTo>
                <a:lnTo>
                  <a:pt x="743320" y="7392"/>
                </a:lnTo>
                <a:lnTo>
                  <a:pt x="745453" y="9525"/>
                </a:lnTo>
                <a:lnTo>
                  <a:pt x="750723" y="9525"/>
                </a:lnTo>
                <a:lnTo>
                  <a:pt x="752855" y="7392"/>
                </a:lnTo>
                <a:lnTo>
                  <a:pt x="752855" y="2132"/>
                </a:lnTo>
                <a:lnTo>
                  <a:pt x="750723" y="0"/>
                </a:lnTo>
                <a:close/>
              </a:path>
              <a:path w="2030095" h="10160">
                <a:moveTo>
                  <a:pt x="731663" y="0"/>
                </a:moveTo>
                <a:lnTo>
                  <a:pt x="726394" y="0"/>
                </a:lnTo>
                <a:lnTo>
                  <a:pt x="724261" y="2132"/>
                </a:lnTo>
                <a:lnTo>
                  <a:pt x="724261" y="7392"/>
                </a:lnTo>
                <a:lnTo>
                  <a:pt x="726394" y="9525"/>
                </a:lnTo>
                <a:lnTo>
                  <a:pt x="731663" y="9525"/>
                </a:lnTo>
                <a:lnTo>
                  <a:pt x="733795" y="7392"/>
                </a:lnTo>
                <a:lnTo>
                  <a:pt x="733795" y="2132"/>
                </a:lnTo>
                <a:lnTo>
                  <a:pt x="731663" y="0"/>
                </a:lnTo>
                <a:close/>
              </a:path>
              <a:path w="2030095" h="10160">
                <a:moveTo>
                  <a:pt x="712604" y="0"/>
                </a:moveTo>
                <a:lnTo>
                  <a:pt x="707334" y="0"/>
                </a:lnTo>
                <a:lnTo>
                  <a:pt x="705201" y="2132"/>
                </a:lnTo>
                <a:lnTo>
                  <a:pt x="705201" y="7392"/>
                </a:lnTo>
                <a:lnTo>
                  <a:pt x="707334" y="9525"/>
                </a:lnTo>
                <a:lnTo>
                  <a:pt x="712604" y="9525"/>
                </a:lnTo>
                <a:lnTo>
                  <a:pt x="714736" y="7392"/>
                </a:lnTo>
                <a:lnTo>
                  <a:pt x="714736" y="2132"/>
                </a:lnTo>
                <a:lnTo>
                  <a:pt x="712604" y="0"/>
                </a:lnTo>
                <a:close/>
              </a:path>
              <a:path w="2030095" h="10160">
                <a:moveTo>
                  <a:pt x="693544" y="0"/>
                </a:moveTo>
                <a:lnTo>
                  <a:pt x="688275" y="0"/>
                </a:lnTo>
                <a:lnTo>
                  <a:pt x="686142" y="2132"/>
                </a:lnTo>
                <a:lnTo>
                  <a:pt x="686142" y="7392"/>
                </a:lnTo>
                <a:lnTo>
                  <a:pt x="688275" y="9525"/>
                </a:lnTo>
                <a:lnTo>
                  <a:pt x="693544" y="9525"/>
                </a:lnTo>
                <a:lnTo>
                  <a:pt x="695676" y="7392"/>
                </a:lnTo>
                <a:lnTo>
                  <a:pt x="695676" y="2132"/>
                </a:lnTo>
                <a:lnTo>
                  <a:pt x="693544" y="0"/>
                </a:lnTo>
                <a:close/>
              </a:path>
              <a:path w="2030095" h="10160">
                <a:moveTo>
                  <a:pt x="674485" y="0"/>
                </a:moveTo>
                <a:lnTo>
                  <a:pt x="669215" y="0"/>
                </a:lnTo>
                <a:lnTo>
                  <a:pt x="667082" y="2132"/>
                </a:lnTo>
                <a:lnTo>
                  <a:pt x="667082" y="7392"/>
                </a:lnTo>
                <a:lnTo>
                  <a:pt x="669215" y="9525"/>
                </a:lnTo>
                <a:lnTo>
                  <a:pt x="674485" y="9525"/>
                </a:lnTo>
                <a:lnTo>
                  <a:pt x="676617" y="7392"/>
                </a:lnTo>
                <a:lnTo>
                  <a:pt x="676617" y="2132"/>
                </a:lnTo>
                <a:lnTo>
                  <a:pt x="674485" y="0"/>
                </a:lnTo>
                <a:close/>
              </a:path>
              <a:path w="2030095" h="10160">
                <a:moveTo>
                  <a:pt x="655425" y="0"/>
                </a:moveTo>
                <a:lnTo>
                  <a:pt x="650156" y="0"/>
                </a:lnTo>
                <a:lnTo>
                  <a:pt x="648023" y="2132"/>
                </a:lnTo>
                <a:lnTo>
                  <a:pt x="648023" y="7392"/>
                </a:lnTo>
                <a:lnTo>
                  <a:pt x="650156" y="9525"/>
                </a:lnTo>
                <a:lnTo>
                  <a:pt x="655425" y="9525"/>
                </a:lnTo>
                <a:lnTo>
                  <a:pt x="657557" y="7392"/>
                </a:lnTo>
                <a:lnTo>
                  <a:pt x="657557" y="2132"/>
                </a:lnTo>
                <a:lnTo>
                  <a:pt x="655425" y="0"/>
                </a:lnTo>
                <a:close/>
              </a:path>
              <a:path w="2030095" h="10160">
                <a:moveTo>
                  <a:pt x="636366" y="0"/>
                </a:moveTo>
                <a:lnTo>
                  <a:pt x="631096" y="0"/>
                </a:lnTo>
                <a:lnTo>
                  <a:pt x="628963" y="2132"/>
                </a:lnTo>
                <a:lnTo>
                  <a:pt x="628963" y="7392"/>
                </a:lnTo>
                <a:lnTo>
                  <a:pt x="631096" y="9525"/>
                </a:lnTo>
                <a:lnTo>
                  <a:pt x="636366" y="9525"/>
                </a:lnTo>
                <a:lnTo>
                  <a:pt x="638498" y="7392"/>
                </a:lnTo>
                <a:lnTo>
                  <a:pt x="638498" y="2132"/>
                </a:lnTo>
                <a:lnTo>
                  <a:pt x="636366" y="0"/>
                </a:lnTo>
                <a:close/>
              </a:path>
              <a:path w="2030095" h="10160">
                <a:moveTo>
                  <a:pt x="617306" y="0"/>
                </a:moveTo>
                <a:lnTo>
                  <a:pt x="612037" y="0"/>
                </a:lnTo>
                <a:lnTo>
                  <a:pt x="609904" y="2132"/>
                </a:lnTo>
                <a:lnTo>
                  <a:pt x="609904" y="7392"/>
                </a:lnTo>
                <a:lnTo>
                  <a:pt x="612037" y="9525"/>
                </a:lnTo>
                <a:lnTo>
                  <a:pt x="617306" y="9525"/>
                </a:lnTo>
                <a:lnTo>
                  <a:pt x="619438" y="7392"/>
                </a:lnTo>
                <a:lnTo>
                  <a:pt x="619438" y="2132"/>
                </a:lnTo>
                <a:lnTo>
                  <a:pt x="617306" y="0"/>
                </a:lnTo>
                <a:close/>
              </a:path>
              <a:path w="2030095" h="10160">
                <a:moveTo>
                  <a:pt x="598247" y="0"/>
                </a:moveTo>
                <a:lnTo>
                  <a:pt x="592976" y="0"/>
                </a:lnTo>
                <a:lnTo>
                  <a:pt x="590844" y="2132"/>
                </a:lnTo>
                <a:lnTo>
                  <a:pt x="590844" y="7392"/>
                </a:lnTo>
                <a:lnTo>
                  <a:pt x="592976" y="9525"/>
                </a:lnTo>
                <a:lnTo>
                  <a:pt x="598247" y="9525"/>
                </a:lnTo>
                <a:lnTo>
                  <a:pt x="600379" y="7392"/>
                </a:lnTo>
                <a:lnTo>
                  <a:pt x="600379" y="2132"/>
                </a:lnTo>
                <a:lnTo>
                  <a:pt x="598247" y="0"/>
                </a:lnTo>
                <a:close/>
              </a:path>
              <a:path w="2030095" h="10160">
                <a:moveTo>
                  <a:pt x="579187" y="0"/>
                </a:moveTo>
                <a:lnTo>
                  <a:pt x="573918" y="0"/>
                </a:lnTo>
                <a:lnTo>
                  <a:pt x="571785" y="2132"/>
                </a:lnTo>
                <a:lnTo>
                  <a:pt x="571785" y="7392"/>
                </a:lnTo>
                <a:lnTo>
                  <a:pt x="573918" y="9525"/>
                </a:lnTo>
                <a:lnTo>
                  <a:pt x="579187" y="9525"/>
                </a:lnTo>
                <a:lnTo>
                  <a:pt x="581319" y="7392"/>
                </a:lnTo>
                <a:lnTo>
                  <a:pt x="581319" y="2132"/>
                </a:lnTo>
                <a:lnTo>
                  <a:pt x="579187" y="0"/>
                </a:lnTo>
                <a:close/>
              </a:path>
              <a:path w="2030095" h="10160">
                <a:moveTo>
                  <a:pt x="560128" y="0"/>
                </a:moveTo>
                <a:lnTo>
                  <a:pt x="554857" y="0"/>
                </a:lnTo>
                <a:lnTo>
                  <a:pt x="552725" y="2132"/>
                </a:lnTo>
                <a:lnTo>
                  <a:pt x="552725" y="7392"/>
                </a:lnTo>
                <a:lnTo>
                  <a:pt x="554857" y="9525"/>
                </a:lnTo>
                <a:lnTo>
                  <a:pt x="560128" y="9525"/>
                </a:lnTo>
                <a:lnTo>
                  <a:pt x="562260" y="7392"/>
                </a:lnTo>
                <a:lnTo>
                  <a:pt x="562260" y="2132"/>
                </a:lnTo>
                <a:lnTo>
                  <a:pt x="560128" y="0"/>
                </a:lnTo>
                <a:close/>
              </a:path>
              <a:path w="2030095" h="10160">
                <a:moveTo>
                  <a:pt x="541068" y="0"/>
                </a:moveTo>
                <a:lnTo>
                  <a:pt x="535799" y="0"/>
                </a:lnTo>
                <a:lnTo>
                  <a:pt x="533666" y="2132"/>
                </a:lnTo>
                <a:lnTo>
                  <a:pt x="533666" y="7392"/>
                </a:lnTo>
                <a:lnTo>
                  <a:pt x="535799" y="9525"/>
                </a:lnTo>
                <a:lnTo>
                  <a:pt x="541068" y="9525"/>
                </a:lnTo>
                <a:lnTo>
                  <a:pt x="543200" y="7392"/>
                </a:lnTo>
                <a:lnTo>
                  <a:pt x="543200" y="2132"/>
                </a:lnTo>
                <a:lnTo>
                  <a:pt x="541068" y="0"/>
                </a:lnTo>
                <a:close/>
              </a:path>
              <a:path w="2030095" h="10160">
                <a:moveTo>
                  <a:pt x="522009" y="0"/>
                </a:moveTo>
                <a:lnTo>
                  <a:pt x="516738" y="0"/>
                </a:lnTo>
                <a:lnTo>
                  <a:pt x="514606" y="2132"/>
                </a:lnTo>
                <a:lnTo>
                  <a:pt x="514606" y="7392"/>
                </a:lnTo>
                <a:lnTo>
                  <a:pt x="516738" y="9525"/>
                </a:lnTo>
                <a:lnTo>
                  <a:pt x="522009" y="9525"/>
                </a:lnTo>
                <a:lnTo>
                  <a:pt x="524141" y="7392"/>
                </a:lnTo>
                <a:lnTo>
                  <a:pt x="524141" y="2132"/>
                </a:lnTo>
                <a:lnTo>
                  <a:pt x="522009" y="0"/>
                </a:lnTo>
                <a:close/>
              </a:path>
              <a:path w="2030095" h="10160">
                <a:moveTo>
                  <a:pt x="502949" y="0"/>
                </a:moveTo>
                <a:lnTo>
                  <a:pt x="497679" y="0"/>
                </a:lnTo>
                <a:lnTo>
                  <a:pt x="495547" y="2132"/>
                </a:lnTo>
                <a:lnTo>
                  <a:pt x="495547" y="7392"/>
                </a:lnTo>
                <a:lnTo>
                  <a:pt x="497679" y="9525"/>
                </a:lnTo>
                <a:lnTo>
                  <a:pt x="502949" y="9525"/>
                </a:lnTo>
                <a:lnTo>
                  <a:pt x="505081" y="7392"/>
                </a:lnTo>
                <a:lnTo>
                  <a:pt x="505081" y="2132"/>
                </a:lnTo>
                <a:lnTo>
                  <a:pt x="502949" y="0"/>
                </a:lnTo>
                <a:close/>
              </a:path>
              <a:path w="2030095" h="10160">
                <a:moveTo>
                  <a:pt x="483890" y="0"/>
                </a:moveTo>
                <a:lnTo>
                  <a:pt x="478619" y="0"/>
                </a:lnTo>
                <a:lnTo>
                  <a:pt x="476487" y="2132"/>
                </a:lnTo>
                <a:lnTo>
                  <a:pt x="476487" y="7392"/>
                </a:lnTo>
                <a:lnTo>
                  <a:pt x="478619" y="9525"/>
                </a:lnTo>
                <a:lnTo>
                  <a:pt x="483890" y="9525"/>
                </a:lnTo>
                <a:lnTo>
                  <a:pt x="486022" y="7392"/>
                </a:lnTo>
                <a:lnTo>
                  <a:pt x="486022" y="2132"/>
                </a:lnTo>
                <a:lnTo>
                  <a:pt x="483890" y="0"/>
                </a:lnTo>
                <a:close/>
              </a:path>
              <a:path w="2030095" h="10160">
                <a:moveTo>
                  <a:pt x="464830" y="0"/>
                </a:moveTo>
                <a:lnTo>
                  <a:pt x="459560" y="0"/>
                </a:lnTo>
                <a:lnTo>
                  <a:pt x="457428" y="2132"/>
                </a:lnTo>
                <a:lnTo>
                  <a:pt x="457428" y="7392"/>
                </a:lnTo>
                <a:lnTo>
                  <a:pt x="459560" y="9525"/>
                </a:lnTo>
                <a:lnTo>
                  <a:pt x="464830" y="9525"/>
                </a:lnTo>
                <a:lnTo>
                  <a:pt x="466962" y="7392"/>
                </a:lnTo>
                <a:lnTo>
                  <a:pt x="466962" y="2132"/>
                </a:lnTo>
                <a:lnTo>
                  <a:pt x="464830" y="0"/>
                </a:lnTo>
                <a:close/>
              </a:path>
              <a:path w="2030095" h="10160">
                <a:moveTo>
                  <a:pt x="445771" y="0"/>
                </a:moveTo>
                <a:lnTo>
                  <a:pt x="440500" y="0"/>
                </a:lnTo>
                <a:lnTo>
                  <a:pt x="438368" y="2132"/>
                </a:lnTo>
                <a:lnTo>
                  <a:pt x="438368" y="7392"/>
                </a:lnTo>
                <a:lnTo>
                  <a:pt x="440500" y="9525"/>
                </a:lnTo>
                <a:lnTo>
                  <a:pt x="445771" y="9525"/>
                </a:lnTo>
                <a:lnTo>
                  <a:pt x="447903" y="7392"/>
                </a:lnTo>
                <a:lnTo>
                  <a:pt x="447903" y="2132"/>
                </a:lnTo>
                <a:lnTo>
                  <a:pt x="445771" y="0"/>
                </a:lnTo>
                <a:close/>
              </a:path>
              <a:path w="2030095" h="10160">
                <a:moveTo>
                  <a:pt x="426712" y="0"/>
                </a:moveTo>
                <a:lnTo>
                  <a:pt x="421441" y="0"/>
                </a:lnTo>
                <a:lnTo>
                  <a:pt x="419309" y="2132"/>
                </a:lnTo>
                <a:lnTo>
                  <a:pt x="419309" y="7392"/>
                </a:lnTo>
                <a:lnTo>
                  <a:pt x="421441" y="9525"/>
                </a:lnTo>
                <a:lnTo>
                  <a:pt x="426712" y="9525"/>
                </a:lnTo>
                <a:lnTo>
                  <a:pt x="428843" y="7392"/>
                </a:lnTo>
                <a:lnTo>
                  <a:pt x="428843" y="2132"/>
                </a:lnTo>
                <a:lnTo>
                  <a:pt x="426712" y="0"/>
                </a:lnTo>
                <a:close/>
              </a:path>
              <a:path w="2030095" h="10160">
                <a:moveTo>
                  <a:pt x="407652" y="0"/>
                </a:moveTo>
                <a:lnTo>
                  <a:pt x="402381" y="0"/>
                </a:lnTo>
                <a:lnTo>
                  <a:pt x="400249" y="2132"/>
                </a:lnTo>
                <a:lnTo>
                  <a:pt x="400249" y="7392"/>
                </a:lnTo>
                <a:lnTo>
                  <a:pt x="402381" y="9525"/>
                </a:lnTo>
                <a:lnTo>
                  <a:pt x="407652" y="9525"/>
                </a:lnTo>
                <a:lnTo>
                  <a:pt x="409784" y="7392"/>
                </a:lnTo>
                <a:lnTo>
                  <a:pt x="409784" y="2132"/>
                </a:lnTo>
                <a:lnTo>
                  <a:pt x="407652" y="0"/>
                </a:lnTo>
                <a:close/>
              </a:path>
              <a:path w="2030095" h="10160">
                <a:moveTo>
                  <a:pt x="388593" y="0"/>
                </a:moveTo>
                <a:lnTo>
                  <a:pt x="383322" y="0"/>
                </a:lnTo>
                <a:lnTo>
                  <a:pt x="381190" y="2132"/>
                </a:lnTo>
                <a:lnTo>
                  <a:pt x="381190" y="7392"/>
                </a:lnTo>
                <a:lnTo>
                  <a:pt x="383322" y="9525"/>
                </a:lnTo>
                <a:lnTo>
                  <a:pt x="388593" y="9525"/>
                </a:lnTo>
                <a:lnTo>
                  <a:pt x="390724" y="7392"/>
                </a:lnTo>
                <a:lnTo>
                  <a:pt x="390724" y="2132"/>
                </a:lnTo>
                <a:lnTo>
                  <a:pt x="388593" y="0"/>
                </a:lnTo>
                <a:close/>
              </a:path>
              <a:path w="2030095" h="10160">
                <a:moveTo>
                  <a:pt x="369533" y="0"/>
                </a:moveTo>
                <a:lnTo>
                  <a:pt x="364262" y="0"/>
                </a:lnTo>
                <a:lnTo>
                  <a:pt x="362131" y="2132"/>
                </a:lnTo>
                <a:lnTo>
                  <a:pt x="362131" y="7392"/>
                </a:lnTo>
                <a:lnTo>
                  <a:pt x="364262" y="9525"/>
                </a:lnTo>
                <a:lnTo>
                  <a:pt x="369533" y="9525"/>
                </a:lnTo>
                <a:lnTo>
                  <a:pt x="371665" y="7392"/>
                </a:lnTo>
                <a:lnTo>
                  <a:pt x="371665" y="2132"/>
                </a:lnTo>
                <a:lnTo>
                  <a:pt x="369533" y="0"/>
                </a:lnTo>
                <a:close/>
              </a:path>
              <a:path w="2030095" h="10160">
                <a:moveTo>
                  <a:pt x="350474" y="0"/>
                </a:moveTo>
                <a:lnTo>
                  <a:pt x="345203" y="0"/>
                </a:lnTo>
                <a:lnTo>
                  <a:pt x="343071" y="2132"/>
                </a:lnTo>
                <a:lnTo>
                  <a:pt x="343071" y="7392"/>
                </a:lnTo>
                <a:lnTo>
                  <a:pt x="345203" y="9525"/>
                </a:lnTo>
                <a:lnTo>
                  <a:pt x="350474" y="9525"/>
                </a:lnTo>
                <a:lnTo>
                  <a:pt x="352606" y="7392"/>
                </a:lnTo>
                <a:lnTo>
                  <a:pt x="352606" y="2132"/>
                </a:lnTo>
                <a:lnTo>
                  <a:pt x="350474" y="0"/>
                </a:lnTo>
                <a:close/>
              </a:path>
              <a:path w="2030095" h="10160">
                <a:moveTo>
                  <a:pt x="331414" y="0"/>
                </a:moveTo>
                <a:lnTo>
                  <a:pt x="326144" y="0"/>
                </a:lnTo>
                <a:lnTo>
                  <a:pt x="324012" y="2132"/>
                </a:lnTo>
                <a:lnTo>
                  <a:pt x="324012" y="7392"/>
                </a:lnTo>
                <a:lnTo>
                  <a:pt x="326144" y="9525"/>
                </a:lnTo>
                <a:lnTo>
                  <a:pt x="331414" y="9525"/>
                </a:lnTo>
                <a:lnTo>
                  <a:pt x="333546" y="7392"/>
                </a:lnTo>
                <a:lnTo>
                  <a:pt x="333546" y="2132"/>
                </a:lnTo>
                <a:lnTo>
                  <a:pt x="331414" y="0"/>
                </a:lnTo>
                <a:close/>
              </a:path>
              <a:path w="2030095" h="10160">
                <a:moveTo>
                  <a:pt x="312355" y="0"/>
                </a:moveTo>
                <a:lnTo>
                  <a:pt x="307084" y="0"/>
                </a:lnTo>
                <a:lnTo>
                  <a:pt x="304952" y="2132"/>
                </a:lnTo>
                <a:lnTo>
                  <a:pt x="304952" y="7392"/>
                </a:lnTo>
                <a:lnTo>
                  <a:pt x="307084" y="9525"/>
                </a:lnTo>
                <a:lnTo>
                  <a:pt x="312355" y="9525"/>
                </a:lnTo>
                <a:lnTo>
                  <a:pt x="314487" y="7392"/>
                </a:lnTo>
                <a:lnTo>
                  <a:pt x="314487" y="2132"/>
                </a:lnTo>
                <a:lnTo>
                  <a:pt x="312355" y="0"/>
                </a:lnTo>
                <a:close/>
              </a:path>
              <a:path w="2030095" h="10160">
                <a:moveTo>
                  <a:pt x="293295" y="0"/>
                </a:moveTo>
                <a:lnTo>
                  <a:pt x="288025" y="0"/>
                </a:lnTo>
                <a:lnTo>
                  <a:pt x="285893" y="2132"/>
                </a:lnTo>
                <a:lnTo>
                  <a:pt x="285893" y="7392"/>
                </a:lnTo>
                <a:lnTo>
                  <a:pt x="288025" y="9525"/>
                </a:lnTo>
                <a:lnTo>
                  <a:pt x="293295" y="9525"/>
                </a:lnTo>
                <a:lnTo>
                  <a:pt x="295427" y="7392"/>
                </a:lnTo>
                <a:lnTo>
                  <a:pt x="295427" y="2132"/>
                </a:lnTo>
                <a:lnTo>
                  <a:pt x="293295" y="0"/>
                </a:lnTo>
                <a:close/>
              </a:path>
              <a:path w="2030095" h="10160">
                <a:moveTo>
                  <a:pt x="274236" y="0"/>
                </a:moveTo>
                <a:lnTo>
                  <a:pt x="268965" y="0"/>
                </a:lnTo>
                <a:lnTo>
                  <a:pt x="266833" y="2132"/>
                </a:lnTo>
                <a:lnTo>
                  <a:pt x="266833" y="7392"/>
                </a:lnTo>
                <a:lnTo>
                  <a:pt x="268965" y="9525"/>
                </a:lnTo>
                <a:lnTo>
                  <a:pt x="274236" y="9525"/>
                </a:lnTo>
                <a:lnTo>
                  <a:pt x="276368" y="7392"/>
                </a:lnTo>
                <a:lnTo>
                  <a:pt x="276368" y="2132"/>
                </a:lnTo>
                <a:lnTo>
                  <a:pt x="274236" y="0"/>
                </a:lnTo>
                <a:close/>
              </a:path>
              <a:path w="2030095" h="10160">
                <a:moveTo>
                  <a:pt x="255176" y="0"/>
                </a:moveTo>
                <a:lnTo>
                  <a:pt x="249906" y="0"/>
                </a:lnTo>
                <a:lnTo>
                  <a:pt x="247774" y="2132"/>
                </a:lnTo>
                <a:lnTo>
                  <a:pt x="247774" y="7392"/>
                </a:lnTo>
                <a:lnTo>
                  <a:pt x="249906" y="9525"/>
                </a:lnTo>
                <a:lnTo>
                  <a:pt x="255176" y="9525"/>
                </a:lnTo>
                <a:lnTo>
                  <a:pt x="257308" y="7392"/>
                </a:lnTo>
                <a:lnTo>
                  <a:pt x="257308" y="2132"/>
                </a:lnTo>
                <a:lnTo>
                  <a:pt x="255176" y="0"/>
                </a:lnTo>
                <a:close/>
              </a:path>
              <a:path w="2030095" h="10160">
                <a:moveTo>
                  <a:pt x="236117" y="0"/>
                </a:moveTo>
                <a:lnTo>
                  <a:pt x="230846" y="0"/>
                </a:lnTo>
                <a:lnTo>
                  <a:pt x="228714" y="2132"/>
                </a:lnTo>
                <a:lnTo>
                  <a:pt x="228714" y="7392"/>
                </a:lnTo>
                <a:lnTo>
                  <a:pt x="230846" y="9525"/>
                </a:lnTo>
                <a:lnTo>
                  <a:pt x="236117" y="9525"/>
                </a:lnTo>
                <a:lnTo>
                  <a:pt x="238249" y="7392"/>
                </a:lnTo>
                <a:lnTo>
                  <a:pt x="238249" y="2132"/>
                </a:lnTo>
                <a:lnTo>
                  <a:pt x="236117" y="0"/>
                </a:lnTo>
                <a:close/>
              </a:path>
              <a:path w="2030095" h="10160">
                <a:moveTo>
                  <a:pt x="217056" y="0"/>
                </a:moveTo>
                <a:lnTo>
                  <a:pt x="211787" y="0"/>
                </a:lnTo>
                <a:lnTo>
                  <a:pt x="209655" y="2132"/>
                </a:lnTo>
                <a:lnTo>
                  <a:pt x="209655" y="7393"/>
                </a:lnTo>
                <a:lnTo>
                  <a:pt x="211787" y="9525"/>
                </a:lnTo>
                <a:lnTo>
                  <a:pt x="217056" y="9525"/>
                </a:lnTo>
                <a:lnTo>
                  <a:pt x="219189" y="7393"/>
                </a:lnTo>
                <a:lnTo>
                  <a:pt x="219189" y="2132"/>
                </a:lnTo>
                <a:lnTo>
                  <a:pt x="217056" y="0"/>
                </a:lnTo>
                <a:close/>
              </a:path>
              <a:path w="2030095" h="10160">
                <a:moveTo>
                  <a:pt x="197998" y="0"/>
                </a:moveTo>
                <a:lnTo>
                  <a:pt x="192727" y="0"/>
                </a:lnTo>
                <a:lnTo>
                  <a:pt x="190595" y="2132"/>
                </a:lnTo>
                <a:lnTo>
                  <a:pt x="190595" y="7393"/>
                </a:lnTo>
                <a:lnTo>
                  <a:pt x="192727" y="9525"/>
                </a:lnTo>
                <a:lnTo>
                  <a:pt x="197998" y="9525"/>
                </a:lnTo>
                <a:lnTo>
                  <a:pt x="200130" y="7393"/>
                </a:lnTo>
                <a:lnTo>
                  <a:pt x="200130" y="2132"/>
                </a:lnTo>
                <a:lnTo>
                  <a:pt x="197998" y="0"/>
                </a:lnTo>
                <a:close/>
              </a:path>
              <a:path w="2030095" h="10160">
                <a:moveTo>
                  <a:pt x="178937" y="0"/>
                </a:moveTo>
                <a:lnTo>
                  <a:pt x="173668" y="0"/>
                </a:lnTo>
                <a:lnTo>
                  <a:pt x="171536" y="2132"/>
                </a:lnTo>
                <a:lnTo>
                  <a:pt x="171536" y="7393"/>
                </a:lnTo>
                <a:lnTo>
                  <a:pt x="173668" y="9525"/>
                </a:lnTo>
                <a:lnTo>
                  <a:pt x="178937" y="9525"/>
                </a:lnTo>
                <a:lnTo>
                  <a:pt x="181070" y="7393"/>
                </a:lnTo>
                <a:lnTo>
                  <a:pt x="181070" y="2132"/>
                </a:lnTo>
                <a:lnTo>
                  <a:pt x="178937" y="0"/>
                </a:lnTo>
                <a:close/>
              </a:path>
              <a:path w="2030095" h="10160">
                <a:moveTo>
                  <a:pt x="159879" y="0"/>
                </a:moveTo>
                <a:lnTo>
                  <a:pt x="154608" y="0"/>
                </a:lnTo>
                <a:lnTo>
                  <a:pt x="152476" y="2132"/>
                </a:lnTo>
                <a:lnTo>
                  <a:pt x="152476" y="7393"/>
                </a:lnTo>
                <a:lnTo>
                  <a:pt x="154608" y="9525"/>
                </a:lnTo>
                <a:lnTo>
                  <a:pt x="159879" y="9525"/>
                </a:lnTo>
                <a:lnTo>
                  <a:pt x="162011" y="7393"/>
                </a:lnTo>
                <a:lnTo>
                  <a:pt x="162011" y="2132"/>
                </a:lnTo>
                <a:lnTo>
                  <a:pt x="159879" y="0"/>
                </a:lnTo>
                <a:close/>
              </a:path>
              <a:path w="2030095" h="10160">
                <a:moveTo>
                  <a:pt x="140818" y="0"/>
                </a:moveTo>
                <a:lnTo>
                  <a:pt x="135549" y="0"/>
                </a:lnTo>
                <a:lnTo>
                  <a:pt x="133417" y="2132"/>
                </a:lnTo>
                <a:lnTo>
                  <a:pt x="133417" y="7393"/>
                </a:lnTo>
                <a:lnTo>
                  <a:pt x="135549" y="9525"/>
                </a:lnTo>
                <a:lnTo>
                  <a:pt x="140818" y="9525"/>
                </a:lnTo>
                <a:lnTo>
                  <a:pt x="142951" y="7393"/>
                </a:lnTo>
                <a:lnTo>
                  <a:pt x="142951" y="2132"/>
                </a:lnTo>
                <a:lnTo>
                  <a:pt x="140818" y="0"/>
                </a:lnTo>
                <a:close/>
              </a:path>
              <a:path w="2030095" h="10160">
                <a:moveTo>
                  <a:pt x="121759" y="0"/>
                </a:moveTo>
                <a:lnTo>
                  <a:pt x="116489" y="0"/>
                </a:lnTo>
                <a:lnTo>
                  <a:pt x="114357" y="2132"/>
                </a:lnTo>
                <a:lnTo>
                  <a:pt x="114357" y="7393"/>
                </a:lnTo>
                <a:lnTo>
                  <a:pt x="116489" y="9525"/>
                </a:lnTo>
                <a:lnTo>
                  <a:pt x="121759" y="9525"/>
                </a:lnTo>
                <a:lnTo>
                  <a:pt x="123892" y="7393"/>
                </a:lnTo>
                <a:lnTo>
                  <a:pt x="123892" y="2132"/>
                </a:lnTo>
                <a:lnTo>
                  <a:pt x="121759" y="0"/>
                </a:lnTo>
                <a:close/>
              </a:path>
              <a:path w="2030095" h="10160">
                <a:moveTo>
                  <a:pt x="102699" y="0"/>
                </a:moveTo>
                <a:lnTo>
                  <a:pt x="97430" y="0"/>
                </a:lnTo>
                <a:lnTo>
                  <a:pt x="95298" y="2132"/>
                </a:lnTo>
                <a:lnTo>
                  <a:pt x="95298" y="7393"/>
                </a:lnTo>
                <a:lnTo>
                  <a:pt x="97430" y="9525"/>
                </a:lnTo>
                <a:lnTo>
                  <a:pt x="102699" y="9525"/>
                </a:lnTo>
                <a:lnTo>
                  <a:pt x="104832" y="7393"/>
                </a:lnTo>
                <a:lnTo>
                  <a:pt x="104832" y="2132"/>
                </a:lnTo>
                <a:lnTo>
                  <a:pt x="102699" y="0"/>
                </a:lnTo>
                <a:close/>
              </a:path>
              <a:path w="2030095" h="10160">
                <a:moveTo>
                  <a:pt x="83640" y="0"/>
                </a:moveTo>
                <a:lnTo>
                  <a:pt x="78370" y="0"/>
                </a:lnTo>
                <a:lnTo>
                  <a:pt x="76238" y="2132"/>
                </a:lnTo>
                <a:lnTo>
                  <a:pt x="76238" y="7393"/>
                </a:lnTo>
                <a:lnTo>
                  <a:pt x="78370" y="9525"/>
                </a:lnTo>
                <a:lnTo>
                  <a:pt x="83640" y="9525"/>
                </a:lnTo>
                <a:lnTo>
                  <a:pt x="85773" y="7393"/>
                </a:lnTo>
                <a:lnTo>
                  <a:pt x="85773" y="2132"/>
                </a:lnTo>
                <a:lnTo>
                  <a:pt x="83640" y="0"/>
                </a:lnTo>
                <a:close/>
              </a:path>
              <a:path w="2030095" h="10160">
                <a:moveTo>
                  <a:pt x="64580" y="0"/>
                </a:moveTo>
                <a:lnTo>
                  <a:pt x="59311" y="0"/>
                </a:lnTo>
                <a:lnTo>
                  <a:pt x="57179" y="2132"/>
                </a:lnTo>
                <a:lnTo>
                  <a:pt x="57179" y="7393"/>
                </a:lnTo>
                <a:lnTo>
                  <a:pt x="59311" y="9525"/>
                </a:lnTo>
                <a:lnTo>
                  <a:pt x="64580" y="9525"/>
                </a:lnTo>
                <a:lnTo>
                  <a:pt x="66713" y="7393"/>
                </a:lnTo>
                <a:lnTo>
                  <a:pt x="66713" y="2132"/>
                </a:lnTo>
                <a:lnTo>
                  <a:pt x="64580" y="0"/>
                </a:lnTo>
                <a:close/>
              </a:path>
              <a:path w="2030095" h="10160">
                <a:moveTo>
                  <a:pt x="45521" y="1"/>
                </a:moveTo>
                <a:lnTo>
                  <a:pt x="40251" y="1"/>
                </a:lnTo>
                <a:lnTo>
                  <a:pt x="38119" y="2132"/>
                </a:lnTo>
                <a:lnTo>
                  <a:pt x="38119" y="7393"/>
                </a:lnTo>
                <a:lnTo>
                  <a:pt x="40251" y="9526"/>
                </a:lnTo>
                <a:lnTo>
                  <a:pt x="45521" y="9526"/>
                </a:lnTo>
                <a:lnTo>
                  <a:pt x="47654" y="7393"/>
                </a:lnTo>
                <a:lnTo>
                  <a:pt x="47654" y="2132"/>
                </a:lnTo>
                <a:lnTo>
                  <a:pt x="45521" y="1"/>
                </a:lnTo>
                <a:close/>
              </a:path>
              <a:path w="2030095" h="10160">
                <a:moveTo>
                  <a:pt x="26461" y="1"/>
                </a:moveTo>
                <a:lnTo>
                  <a:pt x="21192" y="1"/>
                </a:lnTo>
                <a:lnTo>
                  <a:pt x="19060" y="2132"/>
                </a:lnTo>
                <a:lnTo>
                  <a:pt x="19060" y="7393"/>
                </a:lnTo>
                <a:lnTo>
                  <a:pt x="21192" y="9526"/>
                </a:lnTo>
                <a:lnTo>
                  <a:pt x="26461" y="9526"/>
                </a:lnTo>
                <a:lnTo>
                  <a:pt x="28594" y="7393"/>
                </a:lnTo>
                <a:lnTo>
                  <a:pt x="28594" y="2132"/>
                </a:lnTo>
                <a:lnTo>
                  <a:pt x="26461" y="1"/>
                </a:lnTo>
                <a:close/>
              </a:path>
              <a:path w="2030095" h="10160">
                <a:moveTo>
                  <a:pt x="7402" y="1"/>
                </a:moveTo>
                <a:lnTo>
                  <a:pt x="2132" y="1"/>
                </a:lnTo>
                <a:lnTo>
                  <a:pt x="0" y="2132"/>
                </a:lnTo>
                <a:lnTo>
                  <a:pt x="0" y="7393"/>
                </a:lnTo>
                <a:lnTo>
                  <a:pt x="2132" y="9526"/>
                </a:lnTo>
                <a:lnTo>
                  <a:pt x="7402" y="9526"/>
                </a:lnTo>
                <a:lnTo>
                  <a:pt x="9535" y="7393"/>
                </a:lnTo>
                <a:lnTo>
                  <a:pt x="9535" y="2132"/>
                </a:lnTo>
                <a:lnTo>
                  <a:pt x="7402" y="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374566" y="5013452"/>
            <a:ext cx="184785" cy="64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  <a:p>
            <a:pPr marL="73025">
              <a:lnSpc>
                <a:spcPct val="100000"/>
              </a:lnSpc>
              <a:spcBef>
                <a:spcPts val="1000"/>
              </a:spcBef>
            </a:pPr>
            <a:r>
              <a:rPr dirty="0" sz="140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56920" y="5517860"/>
            <a:ext cx="432434" cy="329565"/>
          </a:xfrm>
          <a:custGeom>
            <a:avLst/>
            <a:gdLst/>
            <a:ahLst/>
            <a:cxnLst/>
            <a:rect l="l" t="t" r="r" b="b"/>
            <a:pathLst>
              <a:path w="432435" h="329564">
                <a:moveTo>
                  <a:pt x="327313" y="0"/>
                </a:moveTo>
                <a:lnTo>
                  <a:pt x="322625" y="13369"/>
                </a:lnTo>
                <a:lnTo>
                  <a:pt x="341692" y="21643"/>
                </a:lnTo>
                <a:lnTo>
                  <a:pt x="358089" y="33098"/>
                </a:lnTo>
                <a:lnTo>
                  <a:pt x="382875" y="65545"/>
                </a:lnTo>
                <a:lnTo>
                  <a:pt x="397461" y="109323"/>
                </a:lnTo>
                <a:lnTo>
                  <a:pt x="402323" y="163041"/>
                </a:lnTo>
                <a:lnTo>
                  <a:pt x="401102" y="192091"/>
                </a:lnTo>
                <a:lnTo>
                  <a:pt x="391335" y="242185"/>
                </a:lnTo>
                <a:lnTo>
                  <a:pt x="371736" y="281306"/>
                </a:lnTo>
                <a:lnTo>
                  <a:pt x="341915" y="307698"/>
                </a:lnTo>
                <a:lnTo>
                  <a:pt x="323146" y="316011"/>
                </a:lnTo>
                <a:lnTo>
                  <a:pt x="327313" y="329381"/>
                </a:lnTo>
                <a:lnTo>
                  <a:pt x="372240" y="308306"/>
                </a:lnTo>
                <a:lnTo>
                  <a:pt x="405274" y="271822"/>
                </a:lnTo>
                <a:lnTo>
                  <a:pt x="425589" y="222966"/>
                </a:lnTo>
                <a:lnTo>
                  <a:pt x="432361" y="164777"/>
                </a:lnTo>
                <a:lnTo>
                  <a:pt x="430663" y="134581"/>
                </a:lnTo>
                <a:lnTo>
                  <a:pt x="417076" y="81059"/>
                </a:lnTo>
                <a:lnTo>
                  <a:pt x="390130" y="37488"/>
                </a:lnTo>
                <a:lnTo>
                  <a:pt x="351193" y="8621"/>
                </a:lnTo>
                <a:lnTo>
                  <a:pt x="327313" y="0"/>
                </a:lnTo>
                <a:close/>
              </a:path>
              <a:path w="432435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2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296305" y="5416803"/>
            <a:ext cx="11017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6555" algn="l"/>
                <a:tab pos="822960" algn="l"/>
              </a:tabLst>
            </a:pPr>
            <a:r>
              <a:rPr dirty="0" sz="2800">
                <a:latin typeface="Cambria Math"/>
                <a:cs typeface="Cambria Math"/>
              </a:rPr>
              <a:t>𝜎	𝑥	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81342" y="5682526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 h="0">
                <a:moveTo>
                  <a:pt x="0" y="0"/>
                </a:moveTo>
                <a:lnTo>
                  <a:pt x="118109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962036" y="5145532"/>
            <a:ext cx="2228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1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  <p:sp>
        <p:nvSpPr>
          <p:cNvPr id="27" name="object 27"/>
          <p:cNvSpPr txBox="1"/>
          <p:nvPr/>
        </p:nvSpPr>
        <p:spPr>
          <a:xfrm>
            <a:off x="2470547" y="5654547"/>
            <a:ext cx="11798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1 +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 spc="190">
                <a:latin typeface="Cambria Math"/>
                <a:cs typeface="Cambria Math"/>
              </a:rPr>
              <a:t>𝑒</a:t>
            </a:r>
            <a:r>
              <a:rPr dirty="0" baseline="23611" sz="3000" spc="284">
                <a:latin typeface="Cambria Math"/>
                <a:cs typeface="Cambria Math"/>
              </a:rPr>
              <a:t>01</a:t>
            </a:r>
            <a:endParaRPr baseline="23611"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9411" y="4686300"/>
            <a:ext cx="424815" cy="1217930"/>
          </a:xfrm>
          <a:custGeom>
            <a:avLst/>
            <a:gdLst/>
            <a:ahLst/>
            <a:cxnLst/>
            <a:rect l="l" t="t" r="r" b="b"/>
            <a:pathLst>
              <a:path w="424814" h="1217929">
                <a:moveTo>
                  <a:pt x="0" y="0"/>
                </a:moveTo>
                <a:lnTo>
                  <a:pt x="424541" y="0"/>
                </a:lnTo>
                <a:lnTo>
                  <a:pt x="424541" y="1217831"/>
                </a:lnTo>
                <a:lnTo>
                  <a:pt x="0" y="1217831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25411" y="4662299"/>
            <a:ext cx="473075" cy="1266190"/>
          </a:xfrm>
          <a:custGeom>
            <a:avLst/>
            <a:gdLst/>
            <a:ahLst/>
            <a:cxnLst/>
            <a:rect l="l" t="t" r="r" b="b"/>
            <a:pathLst>
              <a:path w="473075" h="1266189">
                <a:moveTo>
                  <a:pt x="448542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1241832"/>
                </a:lnTo>
                <a:lnTo>
                  <a:pt x="1886" y="1251174"/>
                </a:lnTo>
                <a:lnTo>
                  <a:pt x="7029" y="1258802"/>
                </a:lnTo>
                <a:lnTo>
                  <a:pt x="14658" y="1263946"/>
                </a:lnTo>
                <a:lnTo>
                  <a:pt x="24000" y="1265832"/>
                </a:lnTo>
                <a:lnTo>
                  <a:pt x="448542" y="1265832"/>
                </a:lnTo>
                <a:lnTo>
                  <a:pt x="457884" y="1263946"/>
                </a:lnTo>
                <a:lnTo>
                  <a:pt x="465513" y="1258802"/>
                </a:lnTo>
                <a:lnTo>
                  <a:pt x="470656" y="1251174"/>
                </a:lnTo>
                <a:lnTo>
                  <a:pt x="472542" y="1241832"/>
                </a:lnTo>
                <a:lnTo>
                  <a:pt x="472542" y="1237032"/>
                </a:lnTo>
                <a:lnTo>
                  <a:pt x="28799" y="1237032"/>
                </a:lnTo>
                <a:lnTo>
                  <a:pt x="28799" y="28799"/>
                </a:lnTo>
                <a:lnTo>
                  <a:pt x="472542" y="28799"/>
                </a:lnTo>
                <a:lnTo>
                  <a:pt x="472542" y="24000"/>
                </a:lnTo>
                <a:lnTo>
                  <a:pt x="470656" y="14658"/>
                </a:lnTo>
                <a:lnTo>
                  <a:pt x="465513" y="7029"/>
                </a:lnTo>
                <a:lnTo>
                  <a:pt x="457884" y="1886"/>
                </a:lnTo>
                <a:lnTo>
                  <a:pt x="448542" y="0"/>
                </a:lnTo>
                <a:close/>
              </a:path>
              <a:path w="473075" h="1266189">
                <a:moveTo>
                  <a:pt x="472542" y="28799"/>
                </a:moveTo>
                <a:lnTo>
                  <a:pt x="443743" y="28799"/>
                </a:lnTo>
                <a:lnTo>
                  <a:pt x="443743" y="1237032"/>
                </a:lnTo>
                <a:lnTo>
                  <a:pt x="472542" y="1237032"/>
                </a:lnTo>
                <a:lnTo>
                  <a:pt x="472542" y="28799"/>
                </a:lnTo>
                <a:close/>
              </a:path>
              <a:path w="473075" h="1266189">
                <a:moveTo>
                  <a:pt x="434143" y="38399"/>
                </a:moveTo>
                <a:lnTo>
                  <a:pt x="38399" y="38399"/>
                </a:lnTo>
                <a:lnTo>
                  <a:pt x="38399" y="1227432"/>
                </a:lnTo>
                <a:lnTo>
                  <a:pt x="434143" y="1227432"/>
                </a:lnTo>
                <a:lnTo>
                  <a:pt x="434143" y="1217832"/>
                </a:lnTo>
                <a:lnTo>
                  <a:pt x="47999" y="1217832"/>
                </a:lnTo>
                <a:lnTo>
                  <a:pt x="47999" y="48000"/>
                </a:lnTo>
                <a:lnTo>
                  <a:pt x="434143" y="48000"/>
                </a:lnTo>
                <a:lnTo>
                  <a:pt x="434143" y="38399"/>
                </a:lnTo>
                <a:close/>
              </a:path>
              <a:path w="473075" h="1266189">
                <a:moveTo>
                  <a:pt x="434143" y="48000"/>
                </a:moveTo>
                <a:lnTo>
                  <a:pt x="424543" y="48000"/>
                </a:lnTo>
                <a:lnTo>
                  <a:pt x="424543" y="1217832"/>
                </a:lnTo>
                <a:lnTo>
                  <a:pt x="434143" y="1217832"/>
                </a:lnTo>
                <a:lnTo>
                  <a:pt x="434143" y="4800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7472"/>
            <a:ext cx="707440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60334" cy="82740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32740" marR="5080" indent="-320040">
              <a:lnSpc>
                <a:spcPct val="102299"/>
              </a:lnSpc>
              <a:spcBef>
                <a:spcPts val="25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15" b="1">
                <a:latin typeface="Calibri"/>
                <a:cs typeface="Calibri"/>
              </a:rPr>
              <a:t>Each layer </a:t>
            </a:r>
            <a:r>
              <a:rPr dirty="0" sz="2600" b="1">
                <a:latin typeface="Calibri"/>
                <a:cs typeface="Calibri"/>
              </a:rPr>
              <a:t>of MLP </a:t>
            </a:r>
            <a:r>
              <a:rPr dirty="0" sz="2600" spc="-5" b="1">
                <a:latin typeface="Calibri"/>
                <a:cs typeface="Calibri"/>
              </a:rPr>
              <a:t>combines linear </a:t>
            </a:r>
            <a:r>
              <a:rPr dirty="0" sz="2600" spc="-15" b="1">
                <a:latin typeface="Calibri"/>
                <a:cs typeface="Calibri"/>
              </a:rPr>
              <a:t>transformation </a:t>
            </a:r>
            <a:r>
              <a:rPr dirty="0" sz="2600" b="1">
                <a:latin typeface="Calibri"/>
                <a:cs typeface="Calibri"/>
              </a:rPr>
              <a:t>and  </a:t>
            </a:r>
            <a:r>
              <a:rPr dirty="0" sz="2600" spc="-5" b="1">
                <a:latin typeface="Calibri"/>
                <a:cs typeface="Calibri"/>
              </a:rPr>
              <a:t>non-linearity: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2580132"/>
            <a:ext cx="7620000" cy="1769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marR="508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2000" spc="-10">
                <a:latin typeface="Calibri"/>
                <a:cs typeface="Calibri"/>
              </a:rPr>
              <a:t>where </a:t>
            </a:r>
            <a:r>
              <a:rPr dirty="0" sz="2000" spc="-250">
                <a:latin typeface="Cambria Math"/>
                <a:cs typeface="Cambria Math"/>
              </a:rPr>
              <a:t>𝑊</a:t>
            </a:r>
            <a:r>
              <a:rPr dirty="0" baseline="-14814" sz="2250" spc="-375">
                <a:latin typeface="Cambria Math"/>
                <a:cs typeface="Cambria Math"/>
              </a:rPr>
              <a:t>$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10">
                <a:latin typeface="Calibri"/>
                <a:cs typeface="Calibri"/>
              </a:rPr>
              <a:t>weight </a:t>
            </a:r>
            <a:r>
              <a:rPr dirty="0" sz="2000" spc="-5">
                <a:latin typeface="Calibri"/>
                <a:cs typeface="Calibri"/>
              </a:rPr>
              <a:t>matrix that </a:t>
            </a:r>
            <a:r>
              <a:rPr dirty="0" sz="2000" spc="-15">
                <a:latin typeface="Calibri"/>
                <a:cs typeface="Calibri"/>
              </a:rPr>
              <a:t>transforms </a:t>
            </a:r>
            <a:r>
              <a:rPr dirty="0" sz="2000" spc="-5">
                <a:latin typeface="Calibri"/>
                <a:cs typeface="Calibri"/>
              </a:rPr>
              <a:t>hidden </a:t>
            </a:r>
            <a:r>
              <a:rPr dirty="0" sz="2000" spc="-10">
                <a:latin typeface="Calibri"/>
                <a:cs typeface="Calibri"/>
              </a:rPr>
              <a:t>representation at  </a:t>
            </a:r>
            <a:r>
              <a:rPr dirty="0" sz="2000" spc="-15">
                <a:latin typeface="Calibri"/>
                <a:cs typeface="Calibri"/>
              </a:rPr>
              <a:t>layer </a:t>
            </a:r>
            <a:r>
              <a:rPr dirty="0" sz="2000">
                <a:latin typeface="Cambria Math"/>
                <a:cs typeface="Cambria Math"/>
              </a:rPr>
              <a:t>𝑙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 spc="-15">
                <a:latin typeface="Calibri"/>
                <a:cs typeface="Calibri"/>
              </a:rPr>
              <a:t>layer </a:t>
            </a:r>
            <a:r>
              <a:rPr dirty="0" sz="2000">
                <a:latin typeface="Cambria Math"/>
                <a:cs typeface="Cambria Math"/>
              </a:rPr>
              <a:t>𝑙 +</a:t>
            </a:r>
            <a:r>
              <a:rPr dirty="0" sz="2000" spc="1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  <a:p>
            <a:pPr marL="625475" indent="-274320">
              <a:lnSpc>
                <a:spcPct val="100000"/>
              </a:lnSpc>
              <a:spcBef>
                <a:spcPts val="505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2000" spc="-90">
                <a:latin typeface="Cambria Math"/>
                <a:cs typeface="Cambria Math"/>
              </a:rPr>
              <a:t>𝑏</a:t>
            </a:r>
            <a:r>
              <a:rPr dirty="0" baseline="27777" sz="2250" spc="-135">
                <a:latin typeface="Cambria Math"/>
                <a:cs typeface="Cambria Math"/>
              </a:rPr>
              <a:t>$ 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bias </a:t>
            </a:r>
            <a:r>
              <a:rPr dirty="0" sz="2000" spc="-10">
                <a:latin typeface="Calibri"/>
                <a:cs typeface="Calibri"/>
              </a:rPr>
              <a:t>at </a:t>
            </a:r>
            <a:r>
              <a:rPr dirty="0" sz="2000" spc="-15">
                <a:latin typeface="Calibri"/>
                <a:cs typeface="Calibri"/>
              </a:rPr>
              <a:t>layer </a:t>
            </a:r>
            <a:r>
              <a:rPr dirty="0" sz="2000" spc="25">
                <a:latin typeface="Cambria Math"/>
                <a:cs typeface="Cambria Math"/>
              </a:rPr>
              <a:t>𝑙</a:t>
            </a:r>
            <a:r>
              <a:rPr dirty="0" sz="2000" spc="25">
                <a:latin typeface="Calibri"/>
                <a:cs typeface="Calibri"/>
              </a:rPr>
              <a:t>, </a:t>
            </a:r>
            <a:r>
              <a:rPr dirty="0" sz="2000" spc="-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added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 spc="-5">
                <a:latin typeface="Calibri"/>
                <a:cs typeface="Calibri"/>
              </a:rPr>
              <a:t>the linear </a:t>
            </a:r>
            <a:r>
              <a:rPr dirty="0" sz="2000" spc="-10">
                <a:latin typeface="Calibri"/>
                <a:cs typeface="Calibri"/>
              </a:rPr>
              <a:t>transformation </a:t>
            </a:r>
            <a:r>
              <a:rPr dirty="0" sz="2000" spc="-5">
                <a:latin typeface="Calibri"/>
                <a:cs typeface="Calibri"/>
              </a:rPr>
              <a:t>of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>
                <a:latin typeface="Cambria Math"/>
                <a:cs typeface="Cambria Math"/>
              </a:rPr>
              <a:t>𝒙</a:t>
            </a:r>
            <a:endParaRPr sz="2000">
              <a:latin typeface="Cambria Math"/>
              <a:cs typeface="Cambria Math"/>
            </a:endParaRPr>
          </a:p>
          <a:p>
            <a:pPr marL="625475" indent="-274320">
              <a:lnSpc>
                <a:spcPct val="100000"/>
              </a:lnSpc>
              <a:spcBef>
                <a:spcPts val="505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2000">
                <a:latin typeface="Cambria Math"/>
                <a:cs typeface="Cambria Math"/>
              </a:rPr>
              <a:t>𝜎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non-linearity function </a:t>
            </a:r>
            <a:r>
              <a:rPr dirty="0" sz="2000">
                <a:latin typeface="Calibri"/>
                <a:cs typeface="Calibri"/>
              </a:rPr>
              <a:t>(e.g.,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sigmod)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>
                <a:latin typeface="Calibri"/>
                <a:cs typeface="Calibri"/>
              </a:rPr>
              <a:t>Suppose </a:t>
            </a:r>
            <a:r>
              <a:rPr dirty="0" sz="2600">
                <a:solidFill>
                  <a:srgbClr val="0070C0"/>
                </a:solidFill>
                <a:latin typeface="Cambria Math"/>
                <a:cs typeface="Cambria Math"/>
              </a:rPr>
              <a:t>𝒙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2-dimensional, </a:t>
            </a:r>
            <a:r>
              <a:rPr dirty="0" sz="2600">
                <a:latin typeface="Calibri"/>
                <a:cs typeface="Calibri"/>
              </a:rPr>
              <a:t>with </a:t>
            </a:r>
            <a:r>
              <a:rPr dirty="0" sz="2600" spc="-10">
                <a:latin typeface="Calibri"/>
                <a:cs typeface="Calibri"/>
              </a:rPr>
              <a:t>entries </a:t>
            </a:r>
            <a:r>
              <a:rPr dirty="0" sz="2600" spc="-85">
                <a:latin typeface="Cambria Math"/>
                <a:cs typeface="Cambria Math"/>
              </a:rPr>
              <a:t>𝑥</a:t>
            </a:r>
            <a:r>
              <a:rPr dirty="0" baseline="-16081" sz="2850" spc="-127">
                <a:latin typeface="Cambria Math"/>
                <a:cs typeface="Cambria Math"/>
              </a:rPr>
              <a:t>#  </a:t>
            </a:r>
            <a:r>
              <a:rPr dirty="0" sz="2600" spc="-5">
                <a:latin typeface="Calibri"/>
                <a:cs typeface="Calibri"/>
              </a:rPr>
              <a:t>and</a:t>
            </a:r>
            <a:r>
              <a:rPr dirty="0" sz="2600" spc="-170">
                <a:latin typeface="Calibri"/>
                <a:cs typeface="Calibri"/>
              </a:rPr>
              <a:t> </a:t>
            </a:r>
            <a:r>
              <a:rPr dirty="0" sz="2600" spc="-310">
                <a:latin typeface="Cambria Math"/>
                <a:cs typeface="Cambria Math"/>
              </a:rPr>
              <a:t>𝑥</a:t>
            </a:r>
            <a:r>
              <a:rPr dirty="0" baseline="-16081" sz="2850" spc="-465">
                <a:latin typeface="Cambria Math"/>
                <a:cs typeface="Cambria Math"/>
              </a:rPr>
              <a:t>%</a:t>
            </a:r>
            <a:endParaRPr baseline="-16081" sz="28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50224" y="2217623"/>
            <a:ext cx="269875" cy="235585"/>
          </a:xfrm>
          <a:custGeom>
            <a:avLst/>
            <a:gdLst/>
            <a:ahLst/>
            <a:cxnLst/>
            <a:rect l="l" t="t" r="r" b="b"/>
            <a:pathLst>
              <a:path w="269875" h="235585">
                <a:moveTo>
                  <a:pt x="194398" y="0"/>
                </a:moveTo>
                <a:lnTo>
                  <a:pt x="191049" y="9550"/>
                </a:lnTo>
                <a:lnTo>
                  <a:pt x="204668" y="15460"/>
                </a:lnTo>
                <a:lnTo>
                  <a:pt x="216381" y="23642"/>
                </a:lnTo>
                <a:lnTo>
                  <a:pt x="240163" y="61565"/>
                </a:lnTo>
                <a:lnTo>
                  <a:pt x="247976" y="116457"/>
                </a:lnTo>
                <a:lnTo>
                  <a:pt x="247104" y="137208"/>
                </a:lnTo>
                <a:lnTo>
                  <a:pt x="234024" y="188019"/>
                </a:lnTo>
                <a:lnTo>
                  <a:pt x="204828" y="219785"/>
                </a:lnTo>
                <a:lnTo>
                  <a:pt x="191422" y="225723"/>
                </a:lnTo>
                <a:lnTo>
                  <a:pt x="194398" y="235272"/>
                </a:lnTo>
                <a:lnTo>
                  <a:pt x="239348" y="208564"/>
                </a:lnTo>
                <a:lnTo>
                  <a:pt x="264595" y="159261"/>
                </a:lnTo>
                <a:lnTo>
                  <a:pt x="269433" y="117698"/>
                </a:lnTo>
                <a:lnTo>
                  <a:pt x="268219" y="96129"/>
                </a:lnTo>
                <a:lnTo>
                  <a:pt x="258514" y="57899"/>
                </a:lnTo>
                <a:lnTo>
                  <a:pt x="226412" y="15084"/>
                </a:lnTo>
                <a:lnTo>
                  <a:pt x="211455" y="6158"/>
                </a:lnTo>
                <a:lnTo>
                  <a:pt x="194398" y="0"/>
                </a:lnTo>
                <a:close/>
              </a:path>
              <a:path w="26987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3"/>
                </a:lnTo>
                <a:lnTo>
                  <a:pt x="64604" y="219785"/>
                </a:lnTo>
                <a:lnTo>
                  <a:pt x="53035" y="211522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00815" y="2039619"/>
            <a:ext cx="25374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4200" spc="195">
                <a:solidFill>
                  <a:srgbClr val="C00000"/>
                </a:solidFill>
                <a:latin typeface="Cambria Math"/>
                <a:cs typeface="Cambria Math"/>
              </a:rPr>
              <a:t>𝒙</a:t>
            </a:r>
            <a:r>
              <a:rPr dirty="0" sz="2000" spc="130">
                <a:solidFill>
                  <a:srgbClr val="C00000"/>
                </a:solidFill>
                <a:latin typeface="Cambria Math"/>
                <a:cs typeface="Cambria Math"/>
              </a:rPr>
              <a:t>(89.) </a:t>
            </a:r>
            <a:r>
              <a:rPr dirty="0" baseline="-20833" sz="4200">
                <a:solidFill>
                  <a:srgbClr val="C00000"/>
                </a:solidFill>
                <a:latin typeface="Cambria Math"/>
                <a:cs typeface="Cambria Math"/>
              </a:rPr>
              <a:t>= </a:t>
            </a:r>
            <a:r>
              <a:rPr dirty="0" baseline="-20833" sz="4200" spc="-172">
                <a:solidFill>
                  <a:srgbClr val="C00000"/>
                </a:solidFill>
                <a:latin typeface="Cambria Math"/>
                <a:cs typeface="Cambria Math"/>
              </a:rPr>
              <a:t>𝜎(𝑊</a:t>
            </a:r>
            <a:r>
              <a:rPr dirty="0" baseline="-44444" sz="3000" spc="-172">
                <a:solidFill>
                  <a:srgbClr val="C00000"/>
                </a:solidFill>
                <a:latin typeface="Cambria Math"/>
                <a:cs typeface="Cambria Math"/>
              </a:rPr>
              <a:t>8</a:t>
            </a:r>
            <a:r>
              <a:rPr dirty="0" baseline="-20833" sz="4200" spc="-172">
                <a:solidFill>
                  <a:srgbClr val="C00000"/>
                </a:solidFill>
                <a:latin typeface="Cambria Math"/>
                <a:cs typeface="Cambria Math"/>
              </a:rPr>
              <a:t>𝒙 </a:t>
            </a:r>
            <a:r>
              <a:rPr dirty="0" baseline="-20833" sz="4200" spc="-14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405">
                <a:solidFill>
                  <a:srgbClr val="C00000"/>
                </a:solidFill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5346" y="2170683"/>
            <a:ext cx="83629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r>
              <a:rPr dirty="0" sz="2800" spc="-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6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r>
              <a:rPr dirty="0" baseline="29166" sz="3000" spc="-89">
                <a:solidFill>
                  <a:srgbClr val="C00000"/>
                </a:solidFill>
                <a:latin typeface="Cambria Math"/>
                <a:cs typeface="Cambria Math"/>
              </a:rPr>
              <a:t>8</a:t>
            </a:r>
            <a:r>
              <a:rPr dirty="0" sz="2800" spc="-60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39168" y="4806819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126123" y="0"/>
                </a:moveTo>
                <a:lnTo>
                  <a:pt x="77030" y="9911"/>
                </a:lnTo>
                <a:lnTo>
                  <a:pt x="36940" y="36941"/>
                </a:lnTo>
                <a:lnTo>
                  <a:pt x="9911" y="77031"/>
                </a:lnTo>
                <a:lnTo>
                  <a:pt x="0" y="126124"/>
                </a:lnTo>
                <a:lnTo>
                  <a:pt x="9911" y="175217"/>
                </a:lnTo>
                <a:lnTo>
                  <a:pt x="36940" y="215307"/>
                </a:lnTo>
                <a:lnTo>
                  <a:pt x="77030" y="242337"/>
                </a:lnTo>
                <a:lnTo>
                  <a:pt x="126123" y="252248"/>
                </a:lnTo>
                <a:lnTo>
                  <a:pt x="175216" y="242337"/>
                </a:lnTo>
                <a:lnTo>
                  <a:pt x="215306" y="215307"/>
                </a:lnTo>
                <a:lnTo>
                  <a:pt x="242335" y="175217"/>
                </a:lnTo>
                <a:lnTo>
                  <a:pt x="252247" y="126124"/>
                </a:lnTo>
                <a:lnTo>
                  <a:pt x="242335" y="77031"/>
                </a:lnTo>
                <a:lnTo>
                  <a:pt x="215306" y="36941"/>
                </a:lnTo>
                <a:lnTo>
                  <a:pt x="175216" y="9911"/>
                </a:lnTo>
                <a:lnTo>
                  <a:pt x="1261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39168" y="4806819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39168" y="5181351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126123" y="0"/>
                </a:moveTo>
                <a:lnTo>
                  <a:pt x="77030" y="9911"/>
                </a:lnTo>
                <a:lnTo>
                  <a:pt x="36940" y="36941"/>
                </a:lnTo>
                <a:lnTo>
                  <a:pt x="9911" y="77031"/>
                </a:lnTo>
                <a:lnTo>
                  <a:pt x="0" y="126124"/>
                </a:lnTo>
                <a:lnTo>
                  <a:pt x="9911" y="175217"/>
                </a:lnTo>
                <a:lnTo>
                  <a:pt x="36940" y="215307"/>
                </a:lnTo>
                <a:lnTo>
                  <a:pt x="77030" y="242337"/>
                </a:lnTo>
                <a:lnTo>
                  <a:pt x="126123" y="252248"/>
                </a:lnTo>
                <a:lnTo>
                  <a:pt x="175216" y="242337"/>
                </a:lnTo>
                <a:lnTo>
                  <a:pt x="215306" y="215307"/>
                </a:lnTo>
                <a:lnTo>
                  <a:pt x="242335" y="175217"/>
                </a:lnTo>
                <a:lnTo>
                  <a:pt x="252247" y="126124"/>
                </a:lnTo>
                <a:lnTo>
                  <a:pt x="242335" y="77031"/>
                </a:lnTo>
                <a:lnTo>
                  <a:pt x="215306" y="36941"/>
                </a:lnTo>
                <a:lnTo>
                  <a:pt x="175216" y="9911"/>
                </a:lnTo>
                <a:lnTo>
                  <a:pt x="1261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39168" y="5181351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39168" y="5555884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126123" y="0"/>
                </a:moveTo>
                <a:lnTo>
                  <a:pt x="77030" y="9911"/>
                </a:lnTo>
                <a:lnTo>
                  <a:pt x="36940" y="36940"/>
                </a:lnTo>
                <a:lnTo>
                  <a:pt x="9911" y="77030"/>
                </a:lnTo>
                <a:lnTo>
                  <a:pt x="0" y="126123"/>
                </a:lnTo>
                <a:lnTo>
                  <a:pt x="9911" y="175216"/>
                </a:lnTo>
                <a:lnTo>
                  <a:pt x="36940" y="215306"/>
                </a:lnTo>
                <a:lnTo>
                  <a:pt x="77030" y="242336"/>
                </a:lnTo>
                <a:lnTo>
                  <a:pt x="126123" y="252247"/>
                </a:lnTo>
                <a:lnTo>
                  <a:pt x="175216" y="242336"/>
                </a:lnTo>
                <a:lnTo>
                  <a:pt x="215306" y="215306"/>
                </a:lnTo>
                <a:lnTo>
                  <a:pt x="242335" y="175216"/>
                </a:lnTo>
                <a:lnTo>
                  <a:pt x="252247" y="126123"/>
                </a:lnTo>
                <a:lnTo>
                  <a:pt x="242335" y="77030"/>
                </a:lnTo>
                <a:lnTo>
                  <a:pt x="215306" y="36940"/>
                </a:lnTo>
                <a:lnTo>
                  <a:pt x="175216" y="9911"/>
                </a:lnTo>
                <a:lnTo>
                  <a:pt x="1261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39168" y="5555884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70596" y="4932944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70596" y="5394766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24313" y="494240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24313" y="540422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59327" y="5161437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124"/>
                </a:moveTo>
                <a:lnTo>
                  <a:pt x="9911" y="77030"/>
                </a:lnTo>
                <a:lnTo>
                  <a:pt x="36940" y="36940"/>
                </a:lnTo>
                <a:lnTo>
                  <a:pt x="77030" y="9911"/>
                </a:lnTo>
                <a:lnTo>
                  <a:pt x="126124" y="0"/>
                </a:lnTo>
                <a:lnTo>
                  <a:pt x="175217" y="9911"/>
                </a:lnTo>
                <a:lnTo>
                  <a:pt x="215307" y="36940"/>
                </a:lnTo>
                <a:lnTo>
                  <a:pt x="242336" y="77030"/>
                </a:lnTo>
                <a:lnTo>
                  <a:pt x="252248" y="126124"/>
                </a:lnTo>
                <a:lnTo>
                  <a:pt x="242336" y="175217"/>
                </a:lnTo>
                <a:lnTo>
                  <a:pt x="215307" y="215307"/>
                </a:lnTo>
                <a:lnTo>
                  <a:pt x="175217" y="242336"/>
                </a:lnTo>
                <a:lnTo>
                  <a:pt x="126124" y="252248"/>
                </a:lnTo>
                <a:lnTo>
                  <a:pt x="77030" y="242336"/>
                </a:lnTo>
                <a:lnTo>
                  <a:pt x="36940" y="215307"/>
                </a:lnTo>
                <a:lnTo>
                  <a:pt x="9911" y="175217"/>
                </a:lnTo>
                <a:lnTo>
                  <a:pt x="0" y="12612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60415" y="4922819"/>
            <a:ext cx="379095" cy="161925"/>
          </a:xfrm>
          <a:custGeom>
            <a:avLst/>
            <a:gdLst/>
            <a:ahLst/>
            <a:cxnLst/>
            <a:rect l="l" t="t" r="r" b="b"/>
            <a:pathLst>
              <a:path w="379095" h="161925">
                <a:moveTo>
                  <a:pt x="293453" y="26765"/>
                </a:moveTo>
                <a:lnTo>
                  <a:pt x="3750" y="135088"/>
                </a:lnTo>
                <a:lnTo>
                  <a:pt x="0" y="143320"/>
                </a:lnTo>
                <a:lnTo>
                  <a:pt x="5527" y="158102"/>
                </a:lnTo>
                <a:lnTo>
                  <a:pt x="13759" y="161853"/>
                </a:lnTo>
                <a:lnTo>
                  <a:pt x="303461" y="53530"/>
                </a:lnTo>
                <a:lnTo>
                  <a:pt x="293453" y="26765"/>
                </a:lnTo>
                <a:close/>
              </a:path>
              <a:path w="379095" h="161925">
                <a:moveTo>
                  <a:pt x="370496" y="18997"/>
                </a:moveTo>
                <a:lnTo>
                  <a:pt x="314227" y="18997"/>
                </a:lnTo>
                <a:lnTo>
                  <a:pt x="322458" y="22749"/>
                </a:lnTo>
                <a:lnTo>
                  <a:pt x="327986" y="37531"/>
                </a:lnTo>
                <a:lnTo>
                  <a:pt x="324234" y="45763"/>
                </a:lnTo>
                <a:lnTo>
                  <a:pt x="303461" y="53530"/>
                </a:lnTo>
                <a:lnTo>
                  <a:pt x="313469" y="80295"/>
                </a:lnTo>
                <a:lnTo>
                  <a:pt x="370496" y="18997"/>
                </a:lnTo>
                <a:close/>
              </a:path>
              <a:path w="379095" h="161925">
                <a:moveTo>
                  <a:pt x="314227" y="18997"/>
                </a:moveTo>
                <a:lnTo>
                  <a:pt x="293453" y="26765"/>
                </a:lnTo>
                <a:lnTo>
                  <a:pt x="303461" y="53530"/>
                </a:lnTo>
                <a:lnTo>
                  <a:pt x="324234" y="45763"/>
                </a:lnTo>
                <a:lnTo>
                  <a:pt x="327986" y="37531"/>
                </a:lnTo>
                <a:lnTo>
                  <a:pt x="322458" y="22749"/>
                </a:lnTo>
                <a:lnTo>
                  <a:pt x="314227" y="18997"/>
                </a:lnTo>
                <a:close/>
              </a:path>
              <a:path w="379095" h="161925">
                <a:moveTo>
                  <a:pt x="283444" y="0"/>
                </a:moveTo>
                <a:lnTo>
                  <a:pt x="293453" y="26765"/>
                </a:lnTo>
                <a:lnTo>
                  <a:pt x="314227" y="18997"/>
                </a:lnTo>
                <a:lnTo>
                  <a:pt x="370496" y="18997"/>
                </a:lnTo>
                <a:lnTo>
                  <a:pt x="378752" y="10124"/>
                </a:lnTo>
                <a:lnTo>
                  <a:pt x="2834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60289" y="5052255"/>
            <a:ext cx="379095" cy="255270"/>
          </a:xfrm>
          <a:custGeom>
            <a:avLst/>
            <a:gdLst/>
            <a:ahLst/>
            <a:cxnLst/>
            <a:rect l="l" t="t" r="r" b="b"/>
            <a:pathLst>
              <a:path w="379095" h="255270">
                <a:moveTo>
                  <a:pt x="299436" y="219980"/>
                </a:moveTo>
                <a:lnTo>
                  <a:pt x="283712" y="243841"/>
                </a:lnTo>
                <a:lnTo>
                  <a:pt x="378877" y="255220"/>
                </a:lnTo>
                <a:lnTo>
                  <a:pt x="365550" y="232183"/>
                </a:lnTo>
                <a:lnTo>
                  <a:pt x="317954" y="232183"/>
                </a:lnTo>
                <a:lnTo>
                  <a:pt x="299436" y="219980"/>
                </a:lnTo>
                <a:close/>
              </a:path>
              <a:path w="379095" h="255270">
                <a:moveTo>
                  <a:pt x="315159" y="196120"/>
                </a:moveTo>
                <a:lnTo>
                  <a:pt x="299436" y="219980"/>
                </a:lnTo>
                <a:lnTo>
                  <a:pt x="317954" y="232183"/>
                </a:lnTo>
                <a:lnTo>
                  <a:pt x="326816" y="230362"/>
                </a:lnTo>
                <a:lnTo>
                  <a:pt x="335499" y="217185"/>
                </a:lnTo>
                <a:lnTo>
                  <a:pt x="333678" y="208324"/>
                </a:lnTo>
                <a:lnTo>
                  <a:pt x="315159" y="196120"/>
                </a:lnTo>
                <a:close/>
              </a:path>
              <a:path w="379095" h="255270">
                <a:moveTo>
                  <a:pt x="330883" y="172260"/>
                </a:moveTo>
                <a:lnTo>
                  <a:pt x="315159" y="196120"/>
                </a:lnTo>
                <a:lnTo>
                  <a:pt x="333678" y="208324"/>
                </a:lnTo>
                <a:lnTo>
                  <a:pt x="335499" y="217185"/>
                </a:lnTo>
                <a:lnTo>
                  <a:pt x="326816" y="230362"/>
                </a:lnTo>
                <a:lnTo>
                  <a:pt x="317954" y="232183"/>
                </a:lnTo>
                <a:lnTo>
                  <a:pt x="365550" y="232183"/>
                </a:lnTo>
                <a:lnTo>
                  <a:pt x="330883" y="172260"/>
                </a:lnTo>
                <a:close/>
              </a:path>
              <a:path w="379095" h="255270">
                <a:moveTo>
                  <a:pt x="17543" y="0"/>
                </a:moveTo>
                <a:lnTo>
                  <a:pt x="8682" y="1821"/>
                </a:lnTo>
                <a:lnTo>
                  <a:pt x="0" y="14998"/>
                </a:lnTo>
                <a:lnTo>
                  <a:pt x="1821" y="23859"/>
                </a:lnTo>
                <a:lnTo>
                  <a:pt x="299436" y="219980"/>
                </a:lnTo>
                <a:lnTo>
                  <a:pt x="315159" y="196120"/>
                </a:lnTo>
                <a:lnTo>
                  <a:pt x="175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83361" y="5324135"/>
            <a:ext cx="287655" cy="196850"/>
          </a:xfrm>
          <a:custGeom>
            <a:avLst/>
            <a:gdLst/>
            <a:ahLst/>
            <a:cxnLst/>
            <a:rect l="l" t="t" r="r" b="b"/>
            <a:pathLst>
              <a:path w="287654" h="196850">
                <a:moveTo>
                  <a:pt x="207968" y="161123"/>
                </a:moveTo>
                <a:lnTo>
                  <a:pt x="192126" y="184905"/>
                </a:lnTo>
                <a:lnTo>
                  <a:pt x="287234" y="196754"/>
                </a:lnTo>
                <a:lnTo>
                  <a:pt x="273887" y="173418"/>
                </a:lnTo>
                <a:lnTo>
                  <a:pt x="226427" y="173418"/>
                </a:lnTo>
                <a:lnTo>
                  <a:pt x="207968" y="161123"/>
                </a:lnTo>
                <a:close/>
              </a:path>
              <a:path w="287654" h="196850">
                <a:moveTo>
                  <a:pt x="223809" y="137340"/>
                </a:moveTo>
                <a:lnTo>
                  <a:pt x="207968" y="161123"/>
                </a:lnTo>
                <a:lnTo>
                  <a:pt x="226427" y="173418"/>
                </a:lnTo>
                <a:lnTo>
                  <a:pt x="235296" y="171640"/>
                </a:lnTo>
                <a:lnTo>
                  <a:pt x="244045" y="158506"/>
                </a:lnTo>
                <a:lnTo>
                  <a:pt x="242267" y="149635"/>
                </a:lnTo>
                <a:lnTo>
                  <a:pt x="223809" y="137340"/>
                </a:lnTo>
                <a:close/>
              </a:path>
              <a:path w="287654" h="196850">
                <a:moveTo>
                  <a:pt x="239650" y="113558"/>
                </a:moveTo>
                <a:lnTo>
                  <a:pt x="223809" y="137340"/>
                </a:lnTo>
                <a:lnTo>
                  <a:pt x="242267" y="149635"/>
                </a:lnTo>
                <a:lnTo>
                  <a:pt x="244045" y="158506"/>
                </a:lnTo>
                <a:lnTo>
                  <a:pt x="235296" y="171640"/>
                </a:lnTo>
                <a:lnTo>
                  <a:pt x="226427" y="173418"/>
                </a:lnTo>
                <a:lnTo>
                  <a:pt x="273887" y="173418"/>
                </a:lnTo>
                <a:lnTo>
                  <a:pt x="239650" y="113558"/>
                </a:lnTo>
                <a:close/>
              </a:path>
              <a:path w="287654" h="196850">
                <a:moveTo>
                  <a:pt x="17618" y="0"/>
                </a:moveTo>
                <a:lnTo>
                  <a:pt x="8749" y="1776"/>
                </a:lnTo>
                <a:lnTo>
                  <a:pt x="0" y="14912"/>
                </a:lnTo>
                <a:lnTo>
                  <a:pt x="1778" y="23782"/>
                </a:lnTo>
                <a:lnTo>
                  <a:pt x="207968" y="161123"/>
                </a:lnTo>
                <a:lnTo>
                  <a:pt x="223809" y="137340"/>
                </a:lnTo>
                <a:lnTo>
                  <a:pt x="176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60252" y="4932944"/>
            <a:ext cx="379095" cy="614045"/>
          </a:xfrm>
          <a:custGeom>
            <a:avLst/>
            <a:gdLst/>
            <a:ahLst/>
            <a:cxnLst/>
            <a:rect l="l" t="t" r="r" b="b"/>
            <a:pathLst>
              <a:path w="379095" h="614045">
                <a:moveTo>
                  <a:pt x="322221" y="65869"/>
                </a:moveTo>
                <a:lnTo>
                  <a:pt x="0" y="596737"/>
                </a:lnTo>
                <a:lnTo>
                  <a:pt x="2148" y="605525"/>
                </a:lnTo>
                <a:lnTo>
                  <a:pt x="15640" y="613713"/>
                </a:lnTo>
                <a:lnTo>
                  <a:pt x="24427" y="611564"/>
                </a:lnTo>
                <a:lnTo>
                  <a:pt x="346648" y="80695"/>
                </a:lnTo>
                <a:lnTo>
                  <a:pt x="322221" y="65869"/>
                </a:lnTo>
                <a:close/>
              </a:path>
              <a:path w="379095" h="614045">
                <a:moveTo>
                  <a:pt x="375241" y="44761"/>
                </a:moveTo>
                <a:lnTo>
                  <a:pt x="342516" y="44761"/>
                </a:lnTo>
                <a:lnTo>
                  <a:pt x="356007" y="52948"/>
                </a:lnTo>
                <a:lnTo>
                  <a:pt x="358156" y="61735"/>
                </a:lnTo>
                <a:lnTo>
                  <a:pt x="346648" y="80695"/>
                </a:lnTo>
                <a:lnTo>
                  <a:pt x="371076" y="95521"/>
                </a:lnTo>
                <a:lnTo>
                  <a:pt x="375241" y="44761"/>
                </a:lnTo>
                <a:close/>
              </a:path>
              <a:path w="379095" h="614045">
                <a:moveTo>
                  <a:pt x="342516" y="44761"/>
                </a:moveTo>
                <a:lnTo>
                  <a:pt x="333729" y="46909"/>
                </a:lnTo>
                <a:lnTo>
                  <a:pt x="322221" y="65869"/>
                </a:lnTo>
                <a:lnTo>
                  <a:pt x="346648" y="80695"/>
                </a:lnTo>
                <a:lnTo>
                  <a:pt x="358156" y="61735"/>
                </a:lnTo>
                <a:lnTo>
                  <a:pt x="356007" y="52948"/>
                </a:lnTo>
                <a:lnTo>
                  <a:pt x="342516" y="44761"/>
                </a:lnTo>
                <a:close/>
              </a:path>
              <a:path w="379095" h="614045">
                <a:moveTo>
                  <a:pt x="378914" y="0"/>
                </a:moveTo>
                <a:lnTo>
                  <a:pt x="297793" y="51042"/>
                </a:lnTo>
                <a:lnTo>
                  <a:pt x="322221" y="65869"/>
                </a:lnTo>
                <a:lnTo>
                  <a:pt x="333729" y="46909"/>
                </a:lnTo>
                <a:lnTo>
                  <a:pt x="342516" y="44761"/>
                </a:lnTo>
                <a:lnTo>
                  <a:pt x="375241" y="44761"/>
                </a:lnTo>
                <a:lnTo>
                  <a:pt x="3789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60256" y="5307476"/>
            <a:ext cx="379095" cy="239395"/>
          </a:xfrm>
          <a:custGeom>
            <a:avLst/>
            <a:gdLst/>
            <a:ahLst/>
            <a:cxnLst/>
            <a:rect l="l" t="t" r="r" b="b"/>
            <a:pathLst>
              <a:path w="379095" h="239395">
                <a:moveTo>
                  <a:pt x="298397" y="32716"/>
                </a:moveTo>
                <a:lnTo>
                  <a:pt x="2100" y="214833"/>
                </a:lnTo>
                <a:lnTo>
                  <a:pt x="0" y="223633"/>
                </a:lnTo>
                <a:lnTo>
                  <a:pt x="8263" y="237077"/>
                </a:lnTo>
                <a:lnTo>
                  <a:pt x="17063" y="239177"/>
                </a:lnTo>
                <a:lnTo>
                  <a:pt x="313359" y="57060"/>
                </a:lnTo>
                <a:lnTo>
                  <a:pt x="298397" y="32716"/>
                </a:lnTo>
                <a:close/>
              </a:path>
              <a:path w="379095" h="239395">
                <a:moveTo>
                  <a:pt x="365796" y="21103"/>
                </a:moveTo>
                <a:lnTo>
                  <a:pt x="317291" y="21103"/>
                </a:lnTo>
                <a:lnTo>
                  <a:pt x="326091" y="23202"/>
                </a:lnTo>
                <a:lnTo>
                  <a:pt x="334355" y="36648"/>
                </a:lnTo>
                <a:lnTo>
                  <a:pt x="332254" y="45446"/>
                </a:lnTo>
                <a:lnTo>
                  <a:pt x="313359" y="57060"/>
                </a:lnTo>
                <a:lnTo>
                  <a:pt x="328322" y="81405"/>
                </a:lnTo>
                <a:lnTo>
                  <a:pt x="365796" y="21103"/>
                </a:lnTo>
                <a:close/>
              </a:path>
              <a:path w="379095" h="239395">
                <a:moveTo>
                  <a:pt x="317291" y="21103"/>
                </a:moveTo>
                <a:lnTo>
                  <a:pt x="298397" y="32716"/>
                </a:lnTo>
                <a:lnTo>
                  <a:pt x="313359" y="57060"/>
                </a:lnTo>
                <a:lnTo>
                  <a:pt x="332254" y="45446"/>
                </a:lnTo>
                <a:lnTo>
                  <a:pt x="334355" y="36648"/>
                </a:lnTo>
                <a:lnTo>
                  <a:pt x="326091" y="23202"/>
                </a:lnTo>
                <a:lnTo>
                  <a:pt x="317291" y="21103"/>
                </a:lnTo>
                <a:close/>
              </a:path>
              <a:path w="379095" h="239395">
                <a:moveTo>
                  <a:pt x="378910" y="0"/>
                </a:moveTo>
                <a:lnTo>
                  <a:pt x="283434" y="8373"/>
                </a:lnTo>
                <a:lnTo>
                  <a:pt x="298397" y="32716"/>
                </a:lnTo>
                <a:lnTo>
                  <a:pt x="317291" y="21103"/>
                </a:lnTo>
                <a:lnTo>
                  <a:pt x="365796" y="21103"/>
                </a:lnTo>
                <a:lnTo>
                  <a:pt x="378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60335" y="5514124"/>
            <a:ext cx="379095" cy="174625"/>
          </a:xfrm>
          <a:custGeom>
            <a:avLst/>
            <a:gdLst/>
            <a:ahLst/>
            <a:cxnLst/>
            <a:rect l="l" t="t" r="r" b="b"/>
            <a:pathLst>
              <a:path w="379095" h="174625">
                <a:moveTo>
                  <a:pt x="294233" y="147987"/>
                </a:moveTo>
                <a:lnTo>
                  <a:pt x="283207" y="174349"/>
                </a:lnTo>
                <a:lnTo>
                  <a:pt x="378832" y="167883"/>
                </a:lnTo>
                <a:lnTo>
                  <a:pt x="369066" y="156545"/>
                </a:lnTo>
                <a:lnTo>
                  <a:pt x="314694" y="156545"/>
                </a:lnTo>
                <a:lnTo>
                  <a:pt x="294233" y="147987"/>
                </a:lnTo>
                <a:close/>
              </a:path>
              <a:path w="379095" h="174625">
                <a:moveTo>
                  <a:pt x="305258" y="121625"/>
                </a:moveTo>
                <a:lnTo>
                  <a:pt x="294233" y="147987"/>
                </a:lnTo>
                <a:lnTo>
                  <a:pt x="314694" y="156545"/>
                </a:lnTo>
                <a:lnTo>
                  <a:pt x="323063" y="153111"/>
                </a:lnTo>
                <a:lnTo>
                  <a:pt x="329153" y="138552"/>
                </a:lnTo>
                <a:lnTo>
                  <a:pt x="325719" y="130183"/>
                </a:lnTo>
                <a:lnTo>
                  <a:pt x="305258" y="121625"/>
                </a:lnTo>
                <a:close/>
              </a:path>
              <a:path w="379095" h="174625">
                <a:moveTo>
                  <a:pt x="316284" y="95263"/>
                </a:moveTo>
                <a:lnTo>
                  <a:pt x="305258" y="121625"/>
                </a:lnTo>
                <a:lnTo>
                  <a:pt x="325719" y="130183"/>
                </a:lnTo>
                <a:lnTo>
                  <a:pt x="329153" y="138552"/>
                </a:lnTo>
                <a:lnTo>
                  <a:pt x="323063" y="153111"/>
                </a:lnTo>
                <a:lnTo>
                  <a:pt x="314694" y="156545"/>
                </a:lnTo>
                <a:lnTo>
                  <a:pt x="369066" y="156545"/>
                </a:lnTo>
                <a:lnTo>
                  <a:pt x="316284" y="95263"/>
                </a:lnTo>
                <a:close/>
              </a:path>
              <a:path w="379095" h="174625">
                <a:moveTo>
                  <a:pt x="14458" y="0"/>
                </a:moveTo>
                <a:lnTo>
                  <a:pt x="6089" y="3432"/>
                </a:lnTo>
                <a:lnTo>
                  <a:pt x="0" y="17992"/>
                </a:lnTo>
                <a:lnTo>
                  <a:pt x="3432" y="26362"/>
                </a:lnTo>
                <a:lnTo>
                  <a:pt x="294233" y="147987"/>
                </a:lnTo>
                <a:lnTo>
                  <a:pt x="305258" y="121625"/>
                </a:lnTo>
                <a:lnTo>
                  <a:pt x="14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75146" y="4916674"/>
            <a:ext cx="295910" cy="146685"/>
          </a:xfrm>
          <a:custGeom>
            <a:avLst/>
            <a:gdLst/>
            <a:ahLst/>
            <a:cxnLst/>
            <a:rect l="l" t="t" r="r" b="b"/>
            <a:pathLst>
              <a:path w="295910" h="146685">
                <a:moveTo>
                  <a:pt x="211445" y="120120"/>
                </a:moveTo>
                <a:lnTo>
                  <a:pt x="199680" y="146161"/>
                </a:lnTo>
                <a:lnTo>
                  <a:pt x="295450" y="142393"/>
                </a:lnTo>
                <a:lnTo>
                  <a:pt x="284761" y="129251"/>
                </a:lnTo>
                <a:lnTo>
                  <a:pt x="231656" y="129251"/>
                </a:lnTo>
                <a:lnTo>
                  <a:pt x="211445" y="120120"/>
                </a:lnTo>
                <a:close/>
              </a:path>
              <a:path w="295910" h="146685">
                <a:moveTo>
                  <a:pt x="223209" y="94079"/>
                </a:moveTo>
                <a:lnTo>
                  <a:pt x="211445" y="120120"/>
                </a:lnTo>
                <a:lnTo>
                  <a:pt x="231656" y="129251"/>
                </a:lnTo>
                <a:lnTo>
                  <a:pt x="240120" y="126056"/>
                </a:lnTo>
                <a:lnTo>
                  <a:pt x="246617" y="111673"/>
                </a:lnTo>
                <a:lnTo>
                  <a:pt x="243420" y="103210"/>
                </a:lnTo>
                <a:lnTo>
                  <a:pt x="223209" y="94079"/>
                </a:lnTo>
                <a:close/>
              </a:path>
              <a:path w="295910" h="146685">
                <a:moveTo>
                  <a:pt x="234974" y="68038"/>
                </a:moveTo>
                <a:lnTo>
                  <a:pt x="223209" y="94079"/>
                </a:lnTo>
                <a:lnTo>
                  <a:pt x="243420" y="103210"/>
                </a:lnTo>
                <a:lnTo>
                  <a:pt x="246617" y="111673"/>
                </a:lnTo>
                <a:lnTo>
                  <a:pt x="240120" y="126056"/>
                </a:lnTo>
                <a:lnTo>
                  <a:pt x="231656" y="129251"/>
                </a:lnTo>
                <a:lnTo>
                  <a:pt x="284761" y="129251"/>
                </a:lnTo>
                <a:lnTo>
                  <a:pt x="234974" y="68038"/>
                </a:lnTo>
                <a:close/>
              </a:path>
              <a:path w="295910" h="146685">
                <a:moveTo>
                  <a:pt x="14960" y="0"/>
                </a:moveTo>
                <a:lnTo>
                  <a:pt x="6497" y="3196"/>
                </a:lnTo>
                <a:lnTo>
                  <a:pt x="0" y="17578"/>
                </a:lnTo>
                <a:lnTo>
                  <a:pt x="3196" y="26041"/>
                </a:lnTo>
                <a:lnTo>
                  <a:pt x="211445" y="120120"/>
                </a:lnTo>
                <a:lnTo>
                  <a:pt x="223209" y="94079"/>
                </a:lnTo>
                <a:lnTo>
                  <a:pt x="14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75496" y="5059067"/>
            <a:ext cx="295275" cy="264795"/>
          </a:xfrm>
          <a:custGeom>
            <a:avLst/>
            <a:gdLst/>
            <a:ahLst/>
            <a:cxnLst/>
            <a:rect l="l" t="t" r="r" b="b"/>
            <a:pathLst>
              <a:path w="295275" h="264795">
                <a:moveTo>
                  <a:pt x="221559" y="46309"/>
                </a:moveTo>
                <a:lnTo>
                  <a:pt x="527" y="242978"/>
                </a:lnTo>
                <a:lnTo>
                  <a:pt x="0" y="252009"/>
                </a:lnTo>
                <a:lnTo>
                  <a:pt x="10490" y="263800"/>
                </a:lnTo>
                <a:lnTo>
                  <a:pt x="19521" y="264327"/>
                </a:lnTo>
                <a:lnTo>
                  <a:pt x="240554" y="67657"/>
                </a:lnTo>
                <a:lnTo>
                  <a:pt x="221559" y="46309"/>
                </a:lnTo>
                <a:close/>
              </a:path>
              <a:path w="295275" h="264795">
                <a:moveTo>
                  <a:pt x="282490" y="31567"/>
                </a:moveTo>
                <a:lnTo>
                  <a:pt x="238128" y="31567"/>
                </a:lnTo>
                <a:lnTo>
                  <a:pt x="247159" y="32094"/>
                </a:lnTo>
                <a:lnTo>
                  <a:pt x="257649" y="43884"/>
                </a:lnTo>
                <a:lnTo>
                  <a:pt x="257122" y="52915"/>
                </a:lnTo>
                <a:lnTo>
                  <a:pt x="240554" y="67657"/>
                </a:lnTo>
                <a:lnTo>
                  <a:pt x="259548" y="89005"/>
                </a:lnTo>
                <a:lnTo>
                  <a:pt x="282490" y="31567"/>
                </a:lnTo>
                <a:close/>
              </a:path>
              <a:path w="295275" h="264795">
                <a:moveTo>
                  <a:pt x="238128" y="31567"/>
                </a:moveTo>
                <a:lnTo>
                  <a:pt x="221559" y="46309"/>
                </a:lnTo>
                <a:lnTo>
                  <a:pt x="240554" y="67657"/>
                </a:lnTo>
                <a:lnTo>
                  <a:pt x="257122" y="52915"/>
                </a:lnTo>
                <a:lnTo>
                  <a:pt x="257649" y="43884"/>
                </a:lnTo>
                <a:lnTo>
                  <a:pt x="247159" y="32094"/>
                </a:lnTo>
                <a:lnTo>
                  <a:pt x="238128" y="31567"/>
                </a:lnTo>
                <a:close/>
              </a:path>
              <a:path w="295275" h="264795">
                <a:moveTo>
                  <a:pt x="295099" y="0"/>
                </a:moveTo>
                <a:lnTo>
                  <a:pt x="202564" y="24961"/>
                </a:lnTo>
                <a:lnTo>
                  <a:pt x="221559" y="46309"/>
                </a:lnTo>
                <a:lnTo>
                  <a:pt x="238128" y="31567"/>
                </a:lnTo>
                <a:lnTo>
                  <a:pt x="282490" y="31567"/>
                </a:lnTo>
                <a:lnTo>
                  <a:pt x="295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75151" y="5059067"/>
            <a:ext cx="299720" cy="639445"/>
          </a:xfrm>
          <a:custGeom>
            <a:avLst/>
            <a:gdLst/>
            <a:ahLst/>
            <a:cxnLst/>
            <a:rect l="l" t="t" r="r" b="b"/>
            <a:pathLst>
              <a:path w="299720" h="639445">
                <a:moveTo>
                  <a:pt x="247347" y="72384"/>
                </a:moveTo>
                <a:lnTo>
                  <a:pt x="0" y="624297"/>
                </a:lnTo>
                <a:lnTo>
                  <a:pt x="3220" y="632751"/>
                </a:lnTo>
                <a:lnTo>
                  <a:pt x="17622" y="639205"/>
                </a:lnTo>
                <a:lnTo>
                  <a:pt x="26075" y="635984"/>
                </a:lnTo>
                <a:lnTo>
                  <a:pt x="273424" y="84071"/>
                </a:lnTo>
                <a:lnTo>
                  <a:pt x="247347" y="72384"/>
                </a:lnTo>
                <a:close/>
              </a:path>
              <a:path w="299720" h="639445">
                <a:moveTo>
                  <a:pt x="297517" y="48925"/>
                </a:moveTo>
                <a:lnTo>
                  <a:pt x="264872" y="48925"/>
                </a:lnTo>
                <a:lnTo>
                  <a:pt x="279273" y="55379"/>
                </a:lnTo>
                <a:lnTo>
                  <a:pt x="282494" y="63832"/>
                </a:lnTo>
                <a:lnTo>
                  <a:pt x="273424" y="84071"/>
                </a:lnTo>
                <a:lnTo>
                  <a:pt x="299500" y="95757"/>
                </a:lnTo>
                <a:lnTo>
                  <a:pt x="297517" y="48925"/>
                </a:lnTo>
                <a:close/>
              </a:path>
              <a:path w="299720" h="639445">
                <a:moveTo>
                  <a:pt x="264872" y="48925"/>
                </a:moveTo>
                <a:lnTo>
                  <a:pt x="256418" y="52146"/>
                </a:lnTo>
                <a:lnTo>
                  <a:pt x="247347" y="72384"/>
                </a:lnTo>
                <a:lnTo>
                  <a:pt x="273424" y="84071"/>
                </a:lnTo>
                <a:lnTo>
                  <a:pt x="282494" y="63832"/>
                </a:lnTo>
                <a:lnTo>
                  <a:pt x="279273" y="55379"/>
                </a:lnTo>
                <a:lnTo>
                  <a:pt x="264872" y="48925"/>
                </a:lnTo>
                <a:close/>
              </a:path>
              <a:path w="299720" h="639445">
                <a:moveTo>
                  <a:pt x="295445" y="0"/>
                </a:moveTo>
                <a:lnTo>
                  <a:pt x="221272" y="60698"/>
                </a:lnTo>
                <a:lnTo>
                  <a:pt x="247347" y="72384"/>
                </a:lnTo>
                <a:lnTo>
                  <a:pt x="256418" y="52146"/>
                </a:lnTo>
                <a:lnTo>
                  <a:pt x="264872" y="48925"/>
                </a:lnTo>
                <a:lnTo>
                  <a:pt x="297517" y="48925"/>
                </a:lnTo>
                <a:lnTo>
                  <a:pt x="2954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75130" y="4906834"/>
            <a:ext cx="298450" cy="614680"/>
          </a:xfrm>
          <a:custGeom>
            <a:avLst/>
            <a:gdLst/>
            <a:ahLst/>
            <a:cxnLst/>
            <a:rect l="l" t="t" r="r" b="b"/>
            <a:pathLst>
              <a:path w="298450" h="614679">
                <a:moveTo>
                  <a:pt x="246245" y="542430"/>
                </a:moveTo>
                <a:lnTo>
                  <a:pt x="220355" y="554522"/>
                </a:lnTo>
                <a:lnTo>
                  <a:pt x="295465" y="614056"/>
                </a:lnTo>
                <a:lnTo>
                  <a:pt x="296760" y="565614"/>
                </a:lnTo>
                <a:lnTo>
                  <a:pt x="264133" y="565614"/>
                </a:lnTo>
                <a:lnTo>
                  <a:pt x="255630" y="562526"/>
                </a:lnTo>
                <a:lnTo>
                  <a:pt x="246245" y="542430"/>
                </a:lnTo>
                <a:close/>
              </a:path>
              <a:path w="298450" h="614679">
                <a:moveTo>
                  <a:pt x="272136" y="530339"/>
                </a:moveTo>
                <a:lnTo>
                  <a:pt x="246245" y="542430"/>
                </a:lnTo>
                <a:lnTo>
                  <a:pt x="255630" y="562526"/>
                </a:lnTo>
                <a:lnTo>
                  <a:pt x="264133" y="565614"/>
                </a:lnTo>
                <a:lnTo>
                  <a:pt x="278432" y="558935"/>
                </a:lnTo>
                <a:lnTo>
                  <a:pt x="281520" y="550433"/>
                </a:lnTo>
                <a:lnTo>
                  <a:pt x="272136" y="530339"/>
                </a:lnTo>
                <a:close/>
              </a:path>
              <a:path w="298450" h="614679">
                <a:moveTo>
                  <a:pt x="298025" y="518247"/>
                </a:moveTo>
                <a:lnTo>
                  <a:pt x="272136" y="530339"/>
                </a:lnTo>
                <a:lnTo>
                  <a:pt x="281520" y="550433"/>
                </a:lnTo>
                <a:lnTo>
                  <a:pt x="278432" y="558935"/>
                </a:lnTo>
                <a:lnTo>
                  <a:pt x="264133" y="565614"/>
                </a:lnTo>
                <a:lnTo>
                  <a:pt x="296760" y="565614"/>
                </a:lnTo>
                <a:lnTo>
                  <a:pt x="298025" y="518247"/>
                </a:lnTo>
                <a:close/>
              </a:path>
              <a:path w="298450" h="614679">
                <a:moveTo>
                  <a:pt x="17388" y="0"/>
                </a:moveTo>
                <a:lnTo>
                  <a:pt x="3089" y="6678"/>
                </a:lnTo>
                <a:lnTo>
                  <a:pt x="0" y="15181"/>
                </a:lnTo>
                <a:lnTo>
                  <a:pt x="246245" y="542430"/>
                </a:lnTo>
                <a:lnTo>
                  <a:pt x="272136" y="530339"/>
                </a:lnTo>
                <a:lnTo>
                  <a:pt x="25891" y="3089"/>
                </a:lnTo>
                <a:lnTo>
                  <a:pt x="17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14022" y="5046155"/>
            <a:ext cx="245745" cy="241935"/>
          </a:xfrm>
          <a:custGeom>
            <a:avLst/>
            <a:gdLst/>
            <a:ahLst/>
            <a:cxnLst/>
            <a:rect l="l" t="t" r="r" b="b"/>
            <a:pathLst>
              <a:path w="245745" h="241935">
                <a:moveTo>
                  <a:pt x="174155" y="191499"/>
                </a:moveTo>
                <a:lnTo>
                  <a:pt x="154124" y="211876"/>
                </a:lnTo>
                <a:lnTo>
                  <a:pt x="245305" y="241405"/>
                </a:lnTo>
                <a:lnTo>
                  <a:pt x="233524" y="207046"/>
                </a:lnTo>
                <a:lnTo>
                  <a:pt x="189971" y="207046"/>
                </a:lnTo>
                <a:lnTo>
                  <a:pt x="174155" y="191499"/>
                </a:lnTo>
                <a:close/>
              </a:path>
              <a:path w="245745" h="241935">
                <a:moveTo>
                  <a:pt x="194187" y="171121"/>
                </a:moveTo>
                <a:lnTo>
                  <a:pt x="174155" y="191499"/>
                </a:lnTo>
                <a:lnTo>
                  <a:pt x="189971" y="207046"/>
                </a:lnTo>
                <a:lnTo>
                  <a:pt x="199017" y="206969"/>
                </a:lnTo>
                <a:lnTo>
                  <a:pt x="210080" y="195714"/>
                </a:lnTo>
                <a:lnTo>
                  <a:pt x="210003" y="186668"/>
                </a:lnTo>
                <a:lnTo>
                  <a:pt x="194187" y="171121"/>
                </a:lnTo>
                <a:close/>
              </a:path>
              <a:path w="245745" h="241935">
                <a:moveTo>
                  <a:pt x="214219" y="150742"/>
                </a:moveTo>
                <a:lnTo>
                  <a:pt x="194187" y="171121"/>
                </a:lnTo>
                <a:lnTo>
                  <a:pt x="210003" y="186668"/>
                </a:lnTo>
                <a:lnTo>
                  <a:pt x="210080" y="195714"/>
                </a:lnTo>
                <a:lnTo>
                  <a:pt x="199017" y="206969"/>
                </a:lnTo>
                <a:lnTo>
                  <a:pt x="189971" y="207046"/>
                </a:lnTo>
                <a:lnTo>
                  <a:pt x="233524" y="207046"/>
                </a:lnTo>
                <a:lnTo>
                  <a:pt x="214219" y="150742"/>
                </a:lnTo>
                <a:close/>
              </a:path>
              <a:path w="245745" h="241935">
                <a:moveTo>
                  <a:pt x="20109" y="0"/>
                </a:moveTo>
                <a:lnTo>
                  <a:pt x="11062" y="78"/>
                </a:lnTo>
                <a:lnTo>
                  <a:pt x="0" y="11332"/>
                </a:lnTo>
                <a:lnTo>
                  <a:pt x="77" y="20378"/>
                </a:lnTo>
                <a:lnTo>
                  <a:pt x="174155" y="191499"/>
                </a:lnTo>
                <a:lnTo>
                  <a:pt x="194187" y="171121"/>
                </a:lnTo>
                <a:lnTo>
                  <a:pt x="201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775096" y="5520890"/>
            <a:ext cx="295910" cy="177800"/>
          </a:xfrm>
          <a:custGeom>
            <a:avLst/>
            <a:gdLst/>
            <a:ahLst/>
            <a:cxnLst/>
            <a:rect l="l" t="t" r="r" b="b"/>
            <a:pathLst>
              <a:path w="295910" h="177800">
                <a:moveTo>
                  <a:pt x="214110" y="30474"/>
                </a:moveTo>
                <a:lnTo>
                  <a:pt x="2343" y="152686"/>
                </a:lnTo>
                <a:lnTo>
                  <a:pt x="0" y="161424"/>
                </a:lnTo>
                <a:lnTo>
                  <a:pt x="7889" y="175093"/>
                </a:lnTo>
                <a:lnTo>
                  <a:pt x="16626" y="177436"/>
                </a:lnTo>
                <a:lnTo>
                  <a:pt x="228394" y="55224"/>
                </a:lnTo>
                <a:lnTo>
                  <a:pt x="214110" y="30474"/>
                </a:lnTo>
                <a:close/>
              </a:path>
              <a:path w="295910" h="177800">
                <a:moveTo>
                  <a:pt x="282693" y="19389"/>
                </a:moveTo>
                <a:lnTo>
                  <a:pt x="233319" y="19389"/>
                </a:lnTo>
                <a:lnTo>
                  <a:pt x="242056" y="21732"/>
                </a:lnTo>
                <a:lnTo>
                  <a:pt x="249946" y="35399"/>
                </a:lnTo>
                <a:lnTo>
                  <a:pt x="247603" y="44138"/>
                </a:lnTo>
                <a:lnTo>
                  <a:pt x="228394" y="55224"/>
                </a:lnTo>
                <a:lnTo>
                  <a:pt x="242676" y="79973"/>
                </a:lnTo>
                <a:lnTo>
                  <a:pt x="282693" y="19389"/>
                </a:lnTo>
                <a:close/>
              </a:path>
              <a:path w="295910" h="177800">
                <a:moveTo>
                  <a:pt x="233319" y="19389"/>
                </a:moveTo>
                <a:lnTo>
                  <a:pt x="214110" y="30474"/>
                </a:lnTo>
                <a:lnTo>
                  <a:pt x="228394" y="55224"/>
                </a:lnTo>
                <a:lnTo>
                  <a:pt x="247603" y="44138"/>
                </a:lnTo>
                <a:lnTo>
                  <a:pt x="249946" y="35399"/>
                </a:lnTo>
                <a:lnTo>
                  <a:pt x="242056" y="21732"/>
                </a:lnTo>
                <a:lnTo>
                  <a:pt x="233319" y="19389"/>
                </a:lnTo>
                <a:close/>
              </a:path>
              <a:path w="295910" h="177800">
                <a:moveTo>
                  <a:pt x="295499" y="0"/>
                </a:moveTo>
                <a:lnTo>
                  <a:pt x="199828" y="5725"/>
                </a:lnTo>
                <a:lnTo>
                  <a:pt x="214110" y="30474"/>
                </a:lnTo>
                <a:lnTo>
                  <a:pt x="233319" y="19389"/>
                </a:lnTo>
                <a:lnTo>
                  <a:pt x="282693" y="19389"/>
                </a:lnTo>
                <a:lnTo>
                  <a:pt x="295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07132" y="5287561"/>
            <a:ext cx="252729" cy="249554"/>
          </a:xfrm>
          <a:custGeom>
            <a:avLst/>
            <a:gdLst/>
            <a:ahLst/>
            <a:cxnLst/>
            <a:rect l="l" t="t" r="r" b="b"/>
            <a:pathLst>
              <a:path w="252729" h="249554">
                <a:moveTo>
                  <a:pt x="181138" y="50038"/>
                </a:moveTo>
                <a:lnTo>
                  <a:pt x="60" y="228701"/>
                </a:lnTo>
                <a:lnTo>
                  <a:pt x="0" y="237747"/>
                </a:lnTo>
                <a:lnTo>
                  <a:pt x="11084" y="248980"/>
                </a:lnTo>
                <a:lnTo>
                  <a:pt x="20129" y="249041"/>
                </a:lnTo>
                <a:lnTo>
                  <a:pt x="201207" y="70378"/>
                </a:lnTo>
                <a:lnTo>
                  <a:pt x="181138" y="50038"/>
                </a:lnTo>
                <a:close/>
              </a:path>
              <a:path w="252729" h="249554">
                <a:moveTo>
                  <a:pt x="240450" y="34461"/>
                </a:moveTo>
                <a:lnTo>
                  <a:pt x="196926" y="34461"/>
                </a:lnTo>
                <a:lnTo>
                  <a:pt x="205972" y="34521"/>
                </a:lnTo>
                <a:lnTo>
                  <a:pt x="217055" y="45755"/>
                </a:lnTo>
                <a:lnTo>
                  <a:pt x="216994" y="54801"/>
                </a:lnTo>
                <a:lnTo>
                  <a:pt x="201207" y="70378"/>
                </a:lnTo>
                <a:lnTo>
                  <a:pt x="221277" y="90718"/>
                </a:lnTo>
                <a:lnTo>
                  <a:pt x="240450" y="34461"/>
                </a:lnTo>
                <a:close/>
              </a:path>
              <a:path w="252729" h="249554">
                <a:moveTo>
                  <a:pt x="196926" y="34461"/>
                </a:moveTo>
                <a:lnTo>
                  <a:pt x="181138" y="50038"/>
                </a:lnTo>
                <a:lnTo>
                  <a:pt x="201207" y="70378"/>
                </a:lnTo>
                <a:lnTo>
                  <a:pt x="216994" y="54801"/>
                </a:lnTo>
                <a:lnTo>
                  <a:pt x="217055" y="45755"/>
                </a:lnTo>
                <a:lnTo>
                  <a:pt x="205972" y="34521"/>
                </a:lnTo>
                <a:lnTo>
                  <a:pt x="196926" y="34461"/>
                </a:lnTo>
                <a:close/>
              </a:path>
              <a:path w="252729" h="249554">
                <a:moveTo>
                  <a:pt x="252195" y="0"/>
                </a:moveTo>
                <a:lnTo>
                  <a:pt x="161069" y="29697"/>
                </a:lnTo>
                <a:lnTo>
                  <a:pt x="181138" y="50038"/>
                </a:lnTo>
                <a:lnTo>
                  <a:pt x="196926" y="34461"/>
                </a:lnTo>
                <a:lnTo>
                  <a:pt x="240450" y="34461"/>
                </a:lnTo>
                <a:lnTo>
                  <a:pt x="2521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804109" y="5247006"/>
            <a:ext cx="332740" cy="85725"/>
          </a:xfrm>
          <a:custGeom>
            <a:avLst/>
            <a:gdLst/>
            <a:ahLst/>
            <a:cxnLst/>
            <a:rect l="l" t="t" r="r" b="b"/>
            <a:pathLst>
              <a:path w="332739" h="85725">
                <a:moveTo>
                  <a:pt x="247335" y="0"/>
                </a:moveTo>
                <a:lnTo>
                  <a:pt x="247051" y="28573"/>
                </a:lnTo>
                <a:lnTo>
                  <a:pt x="269228" y="28793"/>
                </a:lnTo>
                <a:lnTo>
                  <a:pt x="275562" y="35252"/>
                </a:lnTo>
                <a:lnTo>
                  <a:pt x="275405" y="51033"/>
                </a:lnTo>
                <a:lnTo>
                  <a:pt x="268945" y="57367"/>
                </a:lnTo>
                <a:lnTo>
                  <a:pt x="246766" y="57367"/>
                </a:lnTo>
                <a:lnTo>
                  <a:pt x="246485" y="85719"/>
                </a:lnTo>
                <a:lnTo>
                  <a:pt x="304624" y="57367"/>
                </a:lnTo>
                <a:lnTo>
                  <a:pt x="268945" y="57367"/>
                </a:lnTo>
                <a:lnTo>
                  <a:pt x="305075" y="57147"/>
                </a:lnTo>
                <a:lnTo>
                  <a:pt x="332630" y="43709"/>
                </a:lnTo>
                <a:lnTo>
                  <a:pt x="247335" y="0"/>
                </a:lnTo>
                <a:close/>
              </a:path>
              <a:path w="332739" h="85725">
                <a:moveTo>
                  <a:pt x="247051" y="28573"/>
                </a:moveTo>
                <a:lnTo>
                  <a:pt x="246768" y="57147"/>
                </a:lnTo>
                <a:lnTo>
                  <a:pt x="268945" y="57367"/>
                </a:lnTo>
                <a:lnTo>
                  <a:pt x="275405" y="51033"/>
                </a:lnTo>
                <a:lnTo>
                  <a:pt x="275562" y="35252"/>
                </a:lnTo>
                <a:lnTo>
                  <a:pt x="269228" y="28793"/>
                </a:lnTo>
                <a:lnTo>
                  <a:pt x="247051" y="28573"/>
                </a:lnTo>
                <a:close/>
              </a:path>
              <a:path w="332739" h="85725">
                <a:moveTo>
                  <a:pt x="6615" y="26189"/>
                </a:moveTo>
                <a:lnTo>
                  <a:pt x="156" y="32522"/>
                </a:lnTo>
                <a:lnTo>
                  <a:pt x="0" y="48303"/>
                </a:lnTo>
                <a:lnTo>
                  <a:pt x="6332" y="54763"/>
                </a:lnTo>
                <a:lnTo>
                  <a:pt x="246768" y="57147"/>
                </a:lnTo>
                <a:lnTo>
                  <a:pt x="247051" y="28573"/>
                </a:lnTo>
                <a:lnTo>
                  <a:pt x="6615" y="261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09909" y="5018513"/>
            <a:ext cx="332740" cy="85725"/>
          </a:xfrm>
          <a:custGeom>
            <a:avLst/>
            <a:gdLst/>
            <a:ahLst/>
            <a:cxnLst/>
            <a:rect l="l" t="t" r="r" b="b"/>
            <a:pathLst>
              <a:path w="332739" h="85725">
                <a:moveTo>
                  <a:pt x="247335" y="0"/>
                </a:moveTo>
                <a:lnTo>
                  <a:pt x="247051" y="28573"/>
                </a:lnTo>
                <a:lnTo>
                  <a:pt x="269228" y="28793"/>
                </a:lnTo>
                <a:lnTo>
                  <a:pt x="275562" y="35252"/>
                </a:lnTo>
                <a:lnTo>
                  <a:pt x="275405" y="51033"/>
                </a:lnTo>
                <a:lnTo>
                  <a:pt x="268945" y="57367"/>
                </a:lnTo>
                <a:lnTo>
                  <a:pt x="246766" y="57367"/>
                </a:lnTo>
                <a:lnTo>
                  <a:pt x="246485" y="85719"/>
                </a:lnTo>
                <a:lnTo>
                  <a:pt x="304624" y="57367"/>
                </a:lnTo>
                <a:lnTo>
                  <a:pt x="268945" y="57367"/>
                </a:lnTo>
                <a:lnTo>
                  <a:pt x="305075" y="57147"/>
                </a:lnTo>
                <a:lnTo>
                  <a:pt x="332630" y="43709"/>
                </a:lnTo>
                <a:lnTo>
                  <a:pt x="247335" y="0"/>
                </a:lnTo>
                <a:close/>
              </a:path>
              <a:path w="332739" h="85725">
                <a:moveTo>
                  <a:pt x="247051" y="28573"/>
                </a:moveTo>
                <a:lnTo>
                  <a:pt x="246768" y="57147"/>
                </a:lnTo>
                <a:lnTo>
                  <a:pt x="268945" y="57367"/>
                </a:lnTo>
                <a:lnTo>
                  <a:pt x="275405" y="51033"/>
                </a:lnTo>
                <a:lnTo>
                  <a:pt x="275562" y="35252"/>
                </a:lnTo>
                <a:lnTo>
                  <a:pt x="269228" y="28793"/>
                </a:lnTo>
                <a:lnTo>
                  <a:pt x="247051" y="28573"/>
                </a:lnTo>
                <a:close/>
              </a:path>
              <a:path w="332739" h="85725">
                <a:moveTo>
                  <a:pt x="6616" y="26189"/>
                </a:moveTo>
                <a:lnTo>
                  <a:pt x="156" y="32523"/>
                </a:lnTo>
                <a:lnTo>
                  <a:pt x="0" y="48303"/>
                </a:lnTo>
                <a:lnTo>
                  <a:pt x="6333" y="54763"/>
                </a:lnTo>
                <a:lnTo>
                  <a:pt x="246768" y="57147"/>
                </a:lnTo>
                <a:lnTo>
                  <a:pt x="247051" y="28573"/>
                </a:lnTo>
                <a:lnTo>
                  <a:pt x="6616" y="261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624691" y="5498024"/>
            <a:ext cx="332740" cy="85725"/>
          </a:xfrm>
          <a:custGeom>
            <a:avLst/>
            <a:gdLst/>
            <a:ahLst/>
            <a:cxnLst/>
            <a:rect l="l" t="t" r="r" b="b"/>
            <a:pathLst>
              <a:path w="332739" h="85725">
                <a:moveTo>
                  <a:pt x="247335" y="0"/>
                </a:moveTo>
                <a:lnTo>
                  <a:pt x="247051" y="28573"/>
                </a:lnTo>
                <a:lnTo>
                  <a:pt x="269228" y="28793"/>
                </a:lnTo>
                <a:lnTo>
                  <a:pt x="275562" y="35252"/>
                </a:lnTo>
                <a:lnTo>
                  <a:pt x="275405" y="51033"/>
                </a:lnTo>
                <a:lnTo>
                  <a:pt x="268945" y="57367"/>
                </a:lnTo>
                <a:lnTo>
                  <a:pt x="246766" y="57367"/>
                </a:lnTo>
                <a:lnTo>
                  <a:pt x="246485" y="85719"/>
                </a:lnTo>
                <a:lnTo>
                  <a:pt x="304624" y="57367"/>
                </a:lnTo>
                <a:lnTo>
                  <a:pt x="268945" y="57367"/>
                </a:lnTo>
                <a:lnTo>
                  <a:pt x="305075" y="57147"/>
                </a:lnTo>
                <a:lnTo>
                  <a:pt x="332630" y="43709"/>
                </a:lnTo>
                <a:lnTo>
                  <a:pt x="247335" y="0"/>
                </a:lnTo>
                <a:close/>
              </a:path>
              <a:path w="332739" h="85725">
                <a:moveTo>
                  <a:pt x="247051" y="28573"/>
                </a:moveTo>
                <a:lnTo>
                  <a:pt x="246768" y="57147"/>
                </a:lnTo>
                <a:lnTo>
                  <a:pt x="268945" y="57367"/>
                </a:lnTo>
                <a:lnTo>
                  <a:pt x="275405" y="51033"/>
                </a:lnTo>
                <a:lnTo>
                  <a:pt x="275562" y="35252"/>
                </a:lnTo>
                <a:lnTo>
                  <a:pt x="269228" y="28793"/>
                </a:lnTo>
                <a:lnTo>
                  <a:pt x="247051" y="28573"/>
                </a:lnTo>
                <a:close/>
              </a:path>
              <a:path w="332739" h="85725">
                <a:moveTo>
                  <a:pt x="6615" y="26189"/>
                </a:moveTo>
                <a:lnTo>
                  <a:pt x="156" y="32522"/>
                </a:lnTo>
                <a:lnTo>
                  <a:pt x="0" y="48303"/>
                </a:lnTo>
                <a:lnTo>
                  <a:pt x="6332" y="54763"/>
                </a:lnTo>
                <a:lnTo>
                  <a:pt x="246768" y="57147"/>
                </a:lnTo>
                <a:lnTo>
                  <a:pt x="247051" y="28573"/>
                </a:lnTo>
                <a:lnTo>
                  <a:pt x="6615" y="261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160272" y="5098510"/>
            <a:ext cx="379095" cy="583565"/>
          </a:xfrm>
          <a:custGeom>
            <a:avLst/>
            <a:gdLst/>
            <a:ahLst/>
            <a:cxnLst/>
            <a:rect l="l" t="t" r="r" b="b"/>
            <a:pathLst>
              <a:path w="379095" h="583564">
                <a:moveTo>
                  <a:pt x="320683" y="518965"/>
                </a:moveTo>
                <a:lnTo>
                  <a:pt x="296607" y="534357"/>
                </a:lnTo>
                <a:lnTo>
                  <a:pt x="378894" y="583497"/>
                </a:lnTo>
                <a:lnTo>
                  <a:pt x="374260" y="539595"/>
                </a:lnTo>
                <a:lnTo>
                  <a:pt x="341463" y="539595"/>
                </a:lnTo>
                <a:lnTo>
                  <a:pt x="332629" y="537651"/>
                </a:lnTo>
                <a:lnTo>
                  <a:pt x="320683" y="518965"/>
                </a:lnTo>
                <a:close/>
              </a:path>
              <a:path w="379095" h="583564">
                <a:moveTo>
                  <a:pt x="344759" y="503574"/>
                </a:moveTo>
                <a:lnTo>
                  <a:pt x="320683" y="518965"/>
                </a:lnTo>
                <a:lnTo>
                  <a:pt x="332629" y="537651"/>
                </a:lnTo>
                <a:lnTo>
                  <a:pt x="341463" y="539595"/>
                </a:lnTo>
                <a:lnTo>
                  <a:pt x="354760" y="531095"/>
                </a:lnTo>
                <a:lnTo>
                  <a:pt x="356704" y="522260"/>
                </a:lnTo>
                <a:lnTo>
                  <a:pt x="344759" y="503574"/>
                </a:lnTo>
                <a:close/>
              </a:path>
              <a:path w="379095" h="583564">
                <a:moveTo>
                  <a:pt x="368834" y="488182"/>
                </a:moveTo>
                <a:lnTo>
                  <a:pt x="344759" y="503574"/>
                </a:lnTo>
                <a:lnTo>
                  <a:pt x="356704" y="522260"/>
                </a:lnTo>
                <a:lnTo>
                  <a:pt x="354760" y="531095"/>
                </a:lnTo>
                <a:lnTo>
                  <a:pt x="341463" y="539595"/>
                </a:lnTo>
                <a:lnTo>
                  <a:pt x="374260" y="539595"/>
                </a:lnTo>
                <a:lnTo>
                  <a:pt x="368834" y="488182"/>
                </a:lnTo>
                <a:close/>
              </a:path>
              <a:path w="379095" h="583564">
                <a:moveTo>
                  <a:pt x="15241" y="0"/>
                </a:moveTo>
                <a:lnTo>
                  <a:pt x="1944" y="8501"/>
                </a:lnTo>
                <a:lnTo>
                  <a:pt x="0" y="17335"/>
                </a:lnTo>
                <a:lnTo>
                  <a:pt x="320683" y="518965"/>
                </a:lnTo>
                <a:lnTo>
                  <a:pt x="344759" y="503574"/>
                </a:lnTo>
                <a:lnTo>
                  <a:pt x="24075" y="1944"/>
                </a:lnTo>
                <a:lnTo>
                  <a:pt x="152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50436" y="5904132"/>
            <a:ext cx="640080" cy="196215"/>
          </a:xfrm>
          <a:custGeom>
            <a:avLst/>
            <a:gdLst/>
            <a:ahLst/>
            <a:cxnLst/>
            <a:rect l="l" t="t" r="r" b="b"/>
            <a:pathLst>
              <a:path w="640079" h="196214">
                <a:moveTo>
                  <a:pt x="639820" y="0"/>
                </a:moveTo>
                <a:lnTo>
                  <a:pt x="638538" y="38086"/>
                </a:lnTo>
                <a:lnTo>
                  <a:pt x="635043" y="69188"/>
                </a:lnTo>
                <a:lnTo>
                  <a:pt x="629860" y="90158"/>
                </a:lnTo>
                <a:lnTo>
                  <a:pt x="623513" y="97847"/>
                </a:lnTo>
                <a:lnTo>
                  <a:pt x="336216" y="97847"/>
                </a:lnTo>
                <a:lnTo>
                  <a:pt x="329869" y="105537"/>
                </a:lnTo>
                <a:lnTo>
                  <a:pt x="324686" y="126506"/>
                </a:lnTo>
                <a:lnTo>
                  <a:pt x="321191" y="157608"/>
                </a:lnTo>
                <a:lnTo>
                  <a:pt x="319910" y="195695"/>
                </a:lnTo>
                <a:lnTo>
                  <a:pt x="318628" y="157608"/>
                </a:lnTo>
                <a:lnTo>
                  <a:pt x="315133" y="126506"/>
                </a:lnTo>
                <a:lnTo>
                  <a:pt x="309950" y="105537"/>
                </a:lnTo>
                <a:lnTo>
                  <a:pt x="303603" y="97847"/>
                </a:lnTo>
                <a:lnTo>
                  <a:pt x="16306" y="97847"/>
                </a:lnTo>
                <a:lnTo>
                  <a:pt x="9959" y="90158"/>
                </a:lnTo>
                <a:lnTo>
                  <a:pt x="4776" y="69188"/>
                </a:lnTo>
                <a:lnTo>
                  <a:pt x="1281" y="38086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246840" y="4858003"/>
            <a:ext cx="132143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4290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latin typeface="Cambria Math"/>
                <a:cs typeface="Cambria Math"/>
              </a:rPr>
              <a:t>𝑥</a:t>
            </a:r>
            <a:r>
              <a:rPr dirty="0" baseline="-17094" sz="1950" spc="562">
                <a:latin typeface="Cambria Math"/>
                <a:cs typeface="Cambria Math"/>
              </a:rPr>
              <a:t>!</a:t>
            </a:r>
            <a:endParaRPr baseline="-17094" sz="1950">
              <a:latin typeface="Cambria Math"/>
              <a:cs typeface="Cambria Math"/>
            </a:endParaRPr>
          </a:p>
          <a:p>
            <a:pPr algn="r" marR="28575">
              <a:lnSpc>
                <a:spcPct val="100000"/>
              </a:lnSpc>
              <a:spcBef>
                <a:spcPts val="1700"/>
              </a:spcBef>
            </a:pPr>
            <a:r>
              <a:rPr dirty="0" sz="1800" spc="-15">
                <a:latin typeface="Cambria Math"/>
                <a:cs typeface="Cambria Math"/>
              </a:rPr>
              <a:t>𝑥</a:t>
            </a:r>
            <a:r>
              <a:rPr dirty="0" baseline="-14957" sz="1950" spc="35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1889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Every</a:t>
            </a:r>
            <a:r>
              <a:rPr dirty="0" sz="1800" spc="-10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layer: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46840" y="6129020"/>
            <a:ext cx="2585085" cy="5803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Linear transformation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+ 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non-linearity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75262" y="4376420"/>
            <a:ext cx="2375535" cy="122364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CF5B1B"/>
                </a:solidFill>
                <a:latin typeface="Arial"/>
                <a:cs typeface="Arial"/>
              </a:rPr>
              <a:t>3-dimensional hidden  representation</a:t>
            </a:r>
            <a:endParaRPr sz="1800">
              <a:latin typeface="Arial"/>
              <a:cs typeface="Arial"/>
            </a:endParaRPr>
          </a:p>
          <a:p>
            <a:pPr marL="689610" marR="140335">
              <a:lnSpc>
                <a:spcPts val="2090"/>
              </a:lnSpc>
              <a:spcBef>
                <a:spcPts val="975"/>
              </a:spcBef>
            </a:pPr>
            <a:r>
              <a:rPr dirty="0" sz="1800" spc="-5" b="1">
                <a:latin typeface="Arial"/>
                <a:cs typeface="Arial"/>
              </a:rPr>
              <a:t>1</a:t>
            </a:r>
            <a:r>
              <a:rPr dirty="0" sz="1800" b="1">
                <a:latin typeface="Arial"/>
                <a:cs typeface="Arial"/>
              </a:rPr>
              <a:t>-dim</a:t>
            </a: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n</a:t>
            </a:r>
            <a:r>
              <a:rPr dirty="0" sz="1800" spc="-5" b="1">
                <a:latin typeface="Arial"/>
                <a:cs typeface="Arial"/>
              </a:rPr>
              <a:t>s</a:t>
            </a:r>
            <a:r>
              <a:rPr dirty="0" sz="1800" b="1">
                <a:latin typeface="Arial"/>
                <a:cs typeface="Arial"/>
              </a:rPr>
              <a:t>ion</a:t>
            </a:r>
            <a:r>
              <a:rPr dirty="0" sz="1800" spc="-5" b="1">
                <a:latin typeface="Arial"/>
                <a:cs typeface="Arial"/>
              </a:rPr>
              <a:t>a</a:t>
            </a:r>
            <a:r>
              <a:rPr dirty="0" sz="1800" b="1">
                <a:latin typeface="Arial"/>
                <a:cs typeface="Arial"/>
              </a:rPr>
              <a:t>l  output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873954" y="4647771"/>
            <a:ext cx="541655" cy="184785"/>
          </a:xfrm>
          <a:custGeom>
            <a:avLst/>
            <a:gdLst/>
            <a:ahLst/>
            <a:cxnLst/>
            <a:rect l="l" t="t" r="r" b="b"/>
            <a:pathLst>
              <a:path w="541654" h="184785">
                <a:moveTo>
                  <a:pt x="95591" y="74237"/>
                </a:moveTo>
                <a:lnTo>
                  <a:pt x="0" y="159049"/>
                </a:lnTo>
                <a:lnTo>
                  <a:pt x="125204" y="184634"/>
                </a:lnTo>
                <a:lnTo>
                  <a:pt x="116784" y="153245"/>
                </a:lnTo>
                <a:lnTo>
                  <a:pt x="89383" y="153245"/>
                </a:lnTo>
                <a:lnTo>
                  <a:pt x="82477" y="150871"/>
                </a:lnTo>
                <a:lnTo>
                  <a:pt x="76965" y="146080"/>
                </a:lnTo>
                <a:lnTo>
                  <a:pt x="73597" y="139306"/>
                </a:lnTo>
                <a:lnTo>
                  <a:pt x="73122" y="131756"/>
                </a:lnTo>
                <a:lnTo>
                  <a:pt x="75497" y="124850"/>
                </a:lnTo>
                <a:lnTo>
                  <a:pt x="80288" y="119338"/>
                </a:lnTo>
                <a:lnTo>
                  <a:pt x="87062" y="115971"/>
                </a:lnTo>
                <a:lnTo>
                  <a:pt x="105462" y="111036"/>
                </a:lnTo>
                <a:lnTo>
                  <a:pt x="95591" y="74237"/>
                </a:lnTo>
                <a:close/>
              </a:path>
              <a:path w="541654" h="184785">
                <a:moveTo>
                  <a:pt x="105462" y="111036"/>
                </a:moveTo>
                <a:lnTo>
                  <a:pt x="87062" y="115971"/>
                </a:lnTo>
                <a:lnTo>
                  <a:pt x="80288" y="119338"/>
                </a:lnTo>
                <a:lnTo>
                  <a:pt x="75497" y="124850"/>
                </a:lnTo>
                <a:lnTo>
                  <a:pt x="73122" y="131756"/>
                </a:lnTo>
                <a:lnTo>
                  <a:pt x="73597" y="139306"/>
                </a:lnTo>
                <a:lnTo>
                  <a:pt x="76965" y="146080"/>
                </a:lnTo>
                <a:lnTo>
                  <a:pt x="82477" y="150871"/>
                </a:lnTo>
                <a:lnTo>
                  <a:pt x="89383" y="153245"/>
                </a:lnTo>
                <a:lnTo>
                  <a:pt x="96932" y="152770"/>
                </a:lnTo>
                <a:lnTo>
                  <a:pt x="115333" y="147834"/>
                </a:lnTo>
                <a:lnTo>
                  <a:pt x="105462" y="111036"/>
                </a:lnTo>
                <a:close/>
              </a:path>
              <a:path w="541654" h="184785">
                <a:moveTo>
                  <a:pt x="115333" y="147834"/>
                </a:moveTo>
                <a:lnTo>
                  <a:pt x="96932" y="152770"/>
                </a:lnTo>
                <a:lnTo>
                  <a:pt x="89383" y="153245"/>
                </a:lnTo>
                <a:lnTo>
                  <a:pt x="116784" y="153245"/>
                </a:lnTo>
                <a:lnTo>
                  <a:pt x="115333" y="147834"/>
                </a:lnTo>
                <a:close/>
              </a:path>
              <a:path w="541654" h="184785">
                <a:moveTo>
                  <a:pt x="525182" y="0"/>
                </a:moveTo>
                <a:lnTo>
                  <a:pt x="517632" y="475"/>
                </a:lnTo>
                <a:lnTo>
                  <a:pt x="105462" y="111036"/>
                </a:lnTo>
                <a:lnTo>
                  <a:pt x="115333" y="147834"/>
                </a:lnTo>
                <a:lnTo>
                  <a:pt x="527503" y="37273"/>
                </a:lnTo>
                <a:lnTo>
                  <a:pt x="534277" y="33907"/>
                </a:lnTo>
                <a:lnTo>
                  <a:pt x="539068" y="28395"/>
                </a:lnTo>
                <a:lnTo>
                  <a:pt x="541442" y="21489"/>
                </a:lnTo>
                <a:lnTo>
                  <a:pt x="540967" y="13938"/>
                </a:lnTo>
                <a:lnTo>
                  <a:pt x="537600" y="7165"/>
                </a:lnTo>
                <a:lnTo>
                  <a:pt x="532088" y="2374"/>
                </a:lnTo>
                <a:lnTo>
                  <a:pt x="525182" y="0"/>
                </a:lnTo>
                <a:close/>
              </a:path>
            </a:pathLst>
          </a:custGeom>
          <a:solidFill>
            <a:srgbClr val="CF5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5648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latin typeface="Calibri"/>
                <a:cs typeface="Calibri"/>
              </a:rPr>
              <a:t>Objective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function:</a:t>
            </a:r>
          </a:p>
        </p:txBody>
      </p:sp>
      <p:sp>
        <p:nvSpPr>
          <p:cNvPr id="4" name="object 4"/>
          <p:cNvSpPr/>
          <p:nvPr/>
        </p:nvSpPr>
        <p:spPr>
          <a:xfrm>
            <a:off x="5057616" y="19588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4" h="376555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8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4" y="219533"/>
                </a:lnTo>
                <a:lnTo>
                  <a:pt x="453952" y="276782"/>
                </a:lnTo>
                <a:lnTo>
                  <a:pt x="431554" y="321493"/>
                </a:lnTo>
                <a:lnTo>
                  <a:pt x="397472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0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6" y="9853"/>
                </a:lnTo>
                <a:lnTo>
                  <a:pt x="380785" y="0"/>
                </a:lnTo>
                <a:close/>
              </a:path>
              <a:path w="50101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842516"/>
            <a:ext cx="7823200" cy="455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6675">
              <a:lnSpc>
                <a:spcPts val="3340"/>
              </a:lnSpc>
              <a:spcBef>
                <a:spcPts val="100"/>
              </a:spcBef>
              <a:tabLst>
                <a:tab pos="4572000" algn="l"/>
                <a:tab pos="4975860" algn="l"/>
              </a:tabLst>
            </a:pPr>
            <a:r>
              <a:rPr dirty="0" sz="3200" spc="-5">
                <a:latin typeface="Cambria Math"/>
                <a:cs typeface="Cambria Math"/>
              </a:rPr>
              <a:t>min</a:t>
            </a:r>
            <a:r>
              <a:rPr dirty="0" sz="3200" spc="-170">
                <a:latin typeface="Cambria Math"/>
                <a:cs typeface="Cambria Math"/>
              </a:rPr>
              <a:t> </a:t>
            </a:r>
            <a:r>
              <a:rPr dirty="0" sz="3200" spc="15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r>
              <a:rPr dirty="0" sz="3200" spc="15">
                <a:latin typeface="Cambria Math"/>
                <a:cs typeface="Cambria Math"/>
              </a:rPr>
              <a:t>(𝒚,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𝑓	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	</a:t>
            </a:r>
            <a:r>
              <a:rPr dirty="0" sz="320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  <a:p>
            <a:pPr algn="ctr" marR="1926589">
              <a:lnSpc>
                <a:spcPts val="1920"/>
              </a:lnSpc>
            </a:pPr>
            <a:r>
              <a:rPr dirty="0" sz="2300" spc="505">
                <a:solidFill>
                  <a:srgbClr val="CF5B1B"/>
                </a:solidFill>
                <a:latin typeface="Cambria Math"/>
                <a:cs typeface="Cambria Math"/>
              </a:rPr>
              <a:t>$</a:t>
            </a:r>
            <a:endParaRPr sz="2300">
              <a:latin typeface="Cambria Math"/>
              <a:cs typeface="Cambria Math"/>
            </a:endParaRPr>
          </a:p>
          <a:p>
            <a:pPr marL="332740" indent="-320040">
              <a:lnSpc>
                <a:spcPts val="35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mbria Math"/>
                <a:cs typeface="Cambria Math"/>
              </a:rPr>
              <a:t>𝑓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a </a:t>
            </a:r>
            <a:r>
              <a:rPr dirty="0" sz="3200" spc="-5">
                <a:latin typeface="Calibri"/>
                <a:cs typeface="Calibri"/>
              </a:rPr>
              <a:t>simple linear </a:t>
            </a:r>
            <a:r>
              <a:rPr dirty="0" sz="3200" spc="-65">
                <a:latin typeface="Calibri"/>
                <a:cs typeface="Calibri"/>
              </a:rPr>
              <a:t>layer,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00">
                <a:latin typeface="Calibri"/>
                <a:cs typeface="Calibri"/>
              </a:rPr>
              <a:t>MLP,</a:t>
            </a:r>
            <a:r>
              <a:rPr dirty="0" sz="3200" spc="18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or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  <a:spcBef>
                <a:spcPts val="45"/>
              </a:spcBef>
            </a:pPr>
            <a:r>
              <a:rPr dirty="0" sz="3200" spc="-5">
                <a:latin typeface="Calibri"/>
                <a:cs typeface="Calibri"/>
              </a:rPr>
              <a:t>other </a:t>
            </a:r>
            <a:r>
              <a:rPr dirty="0" sz="3200" spc="-15">
                <a:latin typeface="Calibri"/>
                <a:cs typeface="Calibri"/>
              </a:rPr>
              <a:t>neural networks </a:t>
            </a:r>
            <a:r>
              <a:rPr dirty="0" sz="3200">
                <a:latin typeface="Calibri"/>
                <a:cs typeface="Calibri"/>
              </a:rPr>
              <a:t>(e.g., a </a:t>
            </a:r>
            <a:r>
              <a:rPr dirty="0" sz="3200" spc="-5">
                <a:latin typeface="Calibri"/>
                <a:cs typeface="Calibri"/>
              </a:rPr>
              <a:t>GNN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later)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Sample a </a:t>
            </a:r>
            <a:r>
              <a:rPr dirty="0" sz="3200" spc="-10">
                <a:latin typeface="Calibri"/>
                <a:cs typeface="Calibri"/>
              </a:rPr>
              <a:t>minibatch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input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spcBef>
                <a:spcPts val="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Forward propagation: </a:t>
            </a:r>
            <a:r>
              <a:rPr dirty="0" sz="3200" spc="-10">
                <a:latin typeface="Calibri"/>
                <a:cs typeface="Calibri"/>
              </a:rPr>
              <a:t>compute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ℒ </a:t>
            </a:r>
            <a:r>
              <a:rPr dirty="0" sz="3200" spc="-10">
                <a:latin typeface="Calibri"/>
                <a:cs typeface="Calibri"/>
              </a:rPr>
              <a:t>given</a:t>
            </a:r>
            <a:r>
              <a:rPr dirty="0" sz="3200" spc="105"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𝒙</a:t>
            </a:r>
            <a:endParaRPr sz="3200">
              <a:latin typeface="Cambria Math"/>
              <a:cs typeface="Cambria Math"/>
            </a:endParaRPr>
          </a:p>
          <a:p>
            <a:pPr marL="332740" marR="5080" indent="-320040">
              <a:lnSpc>
                <a:spcPts val="3820"/>
              </a:lnSpc>
              <a:spcBef>
                <a:spcPts val="1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latin typeface="Calibri"/>
                <a:cs typeface="Calibri"/>
              </a:rPr>
              <a:t>Back-propagation: </a:t>
            </a:r>
            <a:r>
              <a:rPr dirty="0" sz="3200" spc="-10">
                <a:latin typeface="Calibri"/>
                <a:cs typeface="Calibri"/>
              </a:rPr>
              <a:t>obtain </a:t>
            </a:r>
            <a:r>
              <a:rPr dirty="0" sz="3200" spc="-15">
                <a:latin typeface="Calibri"/>
                <a:cs typeface="Calibri"/>
              </a:rPr>
              <a:t>gradient </a:t>
            </a:r>
            <a:r>
              <a:rPr dirty="0" sz="3200" spc="200">
                <a:latin typeface="Cambria Math"/>
                <a:cs typeface="Cambria Math"/>
              </a:rPr>
              <a:t>∇</a:t>
            </a:r>
            <a:r>
              <a:rPr dirty="0" baseline="-15700" sz="3450" spc="300">
                <a:solidFill>
                  <a:srgbClr val="CF5B1B"/>
                </a:solidFill>
                <a:latin typeface="Cambria Math"/>
                <a:cs typeface="Cambria Math"/>
              </a:rPr>
              <a:t>$</a:t>
            </a:r>
            <a:r>
              <a:rPr dirty="0" sz="3200" spc="200">
                <a:solidFill>
                  <a:srgbClr val="C00000"/>
                </a:solidFill>
                <a:latin typeface="Cambria Math"/>
                <a:cs typeface="Cambria Math"/>
              </a:rPr>
              <a:t>ℒ </a:t>
            </a:r>
            <a:r>
              <a:rPr dirty="0" sz="3200" spc="-5">
                <a:latin typeface="Calibri"/>
                <a:cs typeface="Calibri"/>
              </a:rPr>
              <a:t>using 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chain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rule</a:t>
            </a:r>
            <a:endParaRPr sz="3200">
              <a:latin typeface="Calibri"/>
              <a:cs typeface="Calibri"/>
            </a:endParaRPr>
          </a:p>
          <a:p>
            <a:pPr marL="332740" marR="708660" indent="-320040">
              <a:lnSpc>
                <a:spcPts val="3790"/>
              </a:lnSpc>
              <a:spcBef>
                <a:spcPts val="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 spc="-15" b="1">
                <a:latin typeface="Calibri"/>
                <a:cs typeface="Calibri"/>
              </a:rPr>
              <a:t>stochastic </a:t>
            </a:r>
            <a:r>
              <a:rPr dirty="0" sz="3200" spc="-20" b="1">
                <a:latin typeface="Calibri"/>
                <a:cs typeface="Calibri"/>
              </a:rPr>
              <a:t>gradient </a:t>
            </a:r>
            <a:r>
              <a:rPr dirty="0" sz="3200" spc="-10" b="1">
                <a:latin typeface="Calibri"/>
                <a:cs typeface="Calibri"/>
              </a:rPr>
              <a:t>descent </a:t>
            </a:r>
            <a:r>
              <a:rPr dirty="0" sz="3200" spc="-5" b="1">
                <a:latin typeface="Calibri"/>
                <a:cs typeface="Calibri"/>
              </a:rPr>
              <a:t>(SGD) </a:t>
            </a:r>
            <a:r>
              <a:rPr dirty="0" sz="3200" spc="-30">
                <a:latin typeface="Calibri"/>
                <a:cs typeface="Calibri"/>
              </a:rPr>
              <a:t>to  </a:t>
            </a:r>
            <a:r>
              <a:rPr dirty="0" sz="3200" spc="-15">
                <a:latin typeface="Calibri"/>
                <a:cs typeface="Calibri"/>
              </a:rPr>
              <a:t>optimize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>
                <a:solidFill>
                  <a:srgbClr val="CF5B1B"/>
                </a:solidFill>
                <a:latin typeface="Cambria Math"/>
                <a:cs typeface="Cambria Math"/>
              </a:rPr>
              <a:t>Θ </a:t>
            </a:r>
            <a:r>
              <a:rPr dirty="0" sz="3200" spc="-15">
                <a:latin typeface="Calibri"/>
                <a:cs typeface="Calibri"/>
              </a:rPr>
              <a:t>over many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iterations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649224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3631" y="1417827"/>
            <a:ext cx="7942580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/>
              <a:tabLst>
                <a:tab pos="526415" algn="l"/>
                <a:tab pos="527050" algn="l"/>
              </a:tabLst>
            </a:pPr>
            <a:r>
              <a:rPr dirty="0" sz="4000" spc="-5" b="1">
                <a:latin typeface="Calibri"/>
                <a:cs typeface="Calibri"/>
              </a:rPr>
              <a:t>Basics of deep</a:t>
            </a:r>
            <a:r>
              <a:rPr dirty="0" sz="4000" spc="-20" b="1">
                <a:latin typeface="Calibri"/>
                <a:cs typeface="Calibri"/>
              </a:rPr>
              <a:t> </a:t>
            </a:r>
            <a:r>
              <a:rPr dirty="0" sz="4000" spc="-5" b="1">
                <a:latin typeface="Calibri"/>
                <a:cs typeface="Calibri"/>
              </a:rPr>
              <a:t>learning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Font typeface="Calibri"/>
              <a:buAutoNum type="arabicPeriod"/>
            </a:pPr>
            <a:endParaRPr sz="41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526415" algn="l"/>
                <a:tab pos="527050" algn="l"/>
              </a:tabLst>
            </a:pPr>
            <a:r>
              <a:rPr dirty="0" sz="4000" spc="-5" b="1">
                <a:latin typeface="Calibri"/>
                <a:cs typeface="Calibri"/>
              </a:rPr>
              <a:t>Deep learning </a:t>
            </a:r>
            <a:r>
              <a:rPr dirty="0" sz="4000" spc="-25" b="1">
                <a:latin typeface="Calibri"/>
                <a:cs typeface="Calibri"/>
              </a:rPr>
              <a:t>for</a:t>
            </a:r>
            <a:r>
              <a:rPr dirty="0" sz="4000" spc="-45" b="1">
                <a:latin typeface="Calibri"/>
                <a:cs typeface="Calibri"/>
              </a:rPr>
              <a:t> </a:t>
            </a:r>
            <a:r>
              <a:rPr dirty="0" sz="4000" spc="-15" b="1">
                <a:latin typeface="Calibri"/>
                <a:cs typeface="Calibri"/>
              </a:rPr>
              <a:t>graphs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Font typeface="Calibri"/>
              <a:buAutoNum type="arabicPeriod"/>
            </a:pPr>
            <a:endParaRPr sz="4150">
              <a:latin typeface="Times New Roman"/>
              <a:cs typeface="Times New Roman"/>
            </a:endParaRPr>
          </a:p>
          <a:p>
            <a:pPr marL="527050" marR="5080" indent="-51435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526415" algn="l"/>
                <a:tab pos="527050" algn="l"/>
              </a:tabLst>
            </a:pPr>
            <a:r>
              <a:rPr dirty="0" sz="4000" spc="-20" b="1">
                <a:latin typeface="Calibri"/>
                <a:cs typeface="Calibri"/>
              </a:rPr>
              <a:t>Graph </a:t>
            </a:r>
            <a:r>
              <a:rPr dirty="0" sz="4000" spc="-10" b="1">
                <a:latin typeface="Calibri"/>
                <a:cs typeface="Calibri"/>
              </a:rPr>
              <a:t>Convolutional </a:t>
            </a:r>
            <a:r>
              <a:rPr dirty="0" sz="4000" spc="-15" b="1">
                <a:latin typeface="Calibri"/>
                <a:cs typeface="Calibri"/>
              </a:rPr>
              <a:t>Networks </a:t>
            </a:r>
            <a:r>
              <a:rPr dirty="0" sz="4000" spc="-5" b="1">
                <a:latin typeface="Calibri"/>
                <a:cs typeface="Calibri"/>
              </a:rPr>
              <a:t>and  </a:t>
            </a:r>
            <a:r>
              <a:rPr dirty="0" sz="4000" spc="-25" b="1">
                <a:latin typeface="Calibri"/>
                <a:cs typeface="Calibri"/>
              </a:rPr>
              <a:t>GraphSAGE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1" y="2590800"/>
            <a:ext cx="380419" cy="971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81222" y="2590800"/>
            <a:ext cx="971387" cy="3804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00801" y="2590800"/>
            <a:ext cx="1351808" cy="13518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00801" y="3562188"/>
            <a:ext cx="971387" cy="3804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72188" y="2971220"/>
            <a:ext cx="380420" cy="9713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24600" y="1447800"/>
            <a:ext cx="703392" cy="6660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9872" y="3557015"/>
            <a:ext cx="6504432" cy="1298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71856"/>
            <a:ext cx="1984248" cy="402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667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Local network</a:t>
            </a:r>
            <a:r>
              <a:rPr dirty="0" spc="-5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neighborhoods: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6553834" cy="4024629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Describe </a:t>
            </a:r>
            <a:r>
              <a:rPr dirty="0" sz="2800" spc="-15">
                <a:latin typeface="Calibri"/>
                <a:cs typeface="Calibri"/>
              </a:rPr>
              <a:t>aggregation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strategies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Define computation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Stacking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multiple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layers: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Describe the model, </a:t>
            </a:r>
            <a:r>
              <a:rPr dirty="0" sz="2800" spc="-20">
                <a:latin typeface="Calibri"/>
                <a:cs typeface="Calibri"/>
              </a:rPr>
              <a:t>parameters,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training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fit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model?</a:t>
            </a:r>
            <a:endParaRPr sz="2800">
              <a:latin typeface="Calibri"/>
              <a:cs typeface="Calibri"/>
            </a:endParaRPr>
          </a:p>
          <a:p>
            <a:pPr lvl="1" marL="625475" marR="513080" indent="-274320">
              <a:lnSpc>
                <a:spcPct val="100699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Simple </a:t>
            </a:r>
            <a:r>
              <a:rPr dirty="0" sz="2800" spc="-20">
                <a:latin typeface="Calibri"/>
                <a:cs typeface="Calibri"/>
              </a:rPr>
              <a:t>example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>
                <a:latin typeface="Calibri"/>
                <a:cs typeface="Calibri"/>
              </a:rPr>
              <a:t>unsupervised </a:t>
            </a:r>
            <a:r>
              <a:rPr dirty="0" sz="2800" spc="-140">
                <a:latin typeface="Calibri"/>
                <a:cs typeface="Calibri"/>
              </a:rPr>
              <a:t>and  </a:t>
            </a:r>
            <a:r>
              <a:rPr dirty="0" sz="2800" spc="-5">
                <a:latin typeface="Calibri"/>
                <a:cs typeface="Calibri"/>
              </a:rPr>
              <a:t>supervised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training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1426464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49860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Assume </a:t>
            </a:r>
            <a:r>
              <a:rPr dirty="0" spc="-15" b="1">
                <a:latin typeface="Calibri"/>
                <a:cs typeface="Calibri"/>
              </a:rPr>
              <a:t>we </a:t>
            </a:r>
            <a:r>
              <a:rPr dirty="0" spc="-25" b="1">
                <a:latin typeface="Calibri"/>
                <a:cs typeface="Calibri"/>
              </a:rPr>
              <a:t>have </a:t>
            </a:r>
            <a:r>
              <a:rPr dirty="0" b="1">
                <a:latin typeface="Calibri"/>
                <a:cs typeface="Calibri"/>
              </a:rPr>
              <a:t>a </a:t>
            </a:r>
            <a:r>
              <a:rPr dirty="0" spc="-20" b="1">
                <a:latin typeface="Calibri"/>
                <a:cs typeface="Calibri"/>
              </a:rPr>
              <a:t>graph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>
                <a:latin typeface="Cambria Math"/>
                <a:cs typeface="Cambria Math"/>
              </a:rPr>
              <a:t>𝑮</a:t>
            </a:r>
            <a:r>
              <a:rPr dirty="0" b="1">
                <a:latin typeface="Calibri"/>
                <a:cs typeface="Calibri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3753179" y="33557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6" y="0"/>
                </a:moveTo>
                <a:lnTo>
                  <a:pt x="327007" y="13370"/>
                </a:lnTo>
                <a:lnTo>
                  <a:pt x="346074" y="21645"/>
                </a:lnTo>
                <a:lnTo>
                  <a:pt x="362471" y="33099"/>
                </a:lnTo>
                <a:lnTo>
                  <a:pt x="387258" y="65547"/>
                </a:lnTo>
                <a:lnTo>
                  <a:pt x="401843" y="109324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7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6" y="329382"/>
                </a:lnTo>
                <a:lnTo>
                  <a:pt x="376622" y="308307"/>
                </a:lnTo>
                <a:lnTo>
                  <a:pt x="409656" y="271823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5" y="8622"/>
                </a:lnTo>
                <a:lnTo>
                  <a:pt x="331696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59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6563" y="1789683"/>
            <a:ext cx="7089140" cy="46018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𝑉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20" b="1">
                <a:solidFill>
                  <a:srgbClr val="D60093"/>
                </a:solidFill>
                <a:latin typeface="Calibri"/>
                <a:cs typeface="Calibri"/>
              </a:rPr>
              <a:t>vertex</a:t>
            </a:r>
            <a:r>
              <a:rPr dirty="0" sz="2800" spc="4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𝑨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adjacency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matrix </a:t>
            </a:r>
            <a:r>
              <a:rPr dirty="0" sz="2800" spc="-5">
                <a:latin typeface="Calibri"/>
                <a:cs typeface="Calibri"/>
              </a:rPr>
              <a:t>(assume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binary)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𝑿 ∈ </a:t>
            </a:r>
            <a:r>
              <a:rPr dirty="0" sz="2800" spc="225">
                <a:latin typeface="Cambria Math"/>
                <a:cs typeface="Cambria Math"/>
              </a:rPr>
              <a:t>ℝ</a:t>
            </a:r>
            <a:r>
              <a:rPr dirty="0" baseline="27777" sz="3000" spc="337">
                <a:latin typeface="Cambria Math"/>
                <a:cs typeface="Cambria Math"/>
              </a:rPr>
              <a:t>:×|=|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matrix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node</a:t>
            </a:r>
            <a:r>
              <a:rPr dirty="0" sz="2800" spc="19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2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2912745" algn="l"/>
                <a:tab pos="3264535" algn="l"/>
              </a:tabLst>
            </a:pPr>
            <a:r>
              <a:rPr dirty="0" sz="2800" spc="30"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: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in </a:t>
            </a:r>
            <a:r>
              <a:rPr dirty="0" sz="2800" spc="35">
                <a:latin typeface="Cambria Math"/>
                <a:cs typeface="Cambria Math"/>
              </a:rPr>
              <a:t>𝑉</a:t>
            </a:r>
            <a:r>
              <a:rPr dirty="0" sz="2800" spc="35">
                <a:latin typeface="Calibri"/>
                <a:cs typeface="Calibri"/>
              </a:rPr>
              <a:t>;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𝑁	𝑣	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30"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Node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features: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5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Social </a:t>
            </a:r>
            <a:r>
              <a:rPr dirty="0" sz="2400" spc="-10">
                <a:latin typeface="Calibri"/>
                <a:cs typeface="Calibri"/>
              </a:rPr>
              <a:t>networks: </a:t>
            </a:r>
            <a:r>
              <a:rPr dirty="0" sz="2400" spc="-5">
                <a:latin typeface="Calibri"/>
                <a:cs typeface="Calibri"/>
              </a:rPr>
              <a:t>User </a:t>
            </a:r>
            <a:r>
              <a:rPr dirty="0" sz="2400" spc="-10">
                <a:latin typeface="Calibri"/>
                <a:cs typeface="Calibri"/>
              </a:rPr>
              <a:t>profile, </a:t>
            </a:r>
            <a:r>
              <a:rPr dirty="0" sz="2400" spc="-5">
                <a:latin typeface="Calibri"/>
                <a:cs typeface="Calibri"/>
              </a:rPr>
              <a:t>User</a:t>
            </a:r>
            <a:r>
              <a:rPr dirty="0" sz="2400" spc="-10">
                <a:latin typeface="Calibri"/>
                <a:cs typeface="Calibri"/>
              </a:rPr>
              <a:t> image</a:t>
            </a:r>
            <a:endParaRPr sz="2400">
              <a:latin typeface="Calibri"/>
              <a:cs typeface="Calibri"/>
            </a:endParaRPr>
          </a:p>
          <a:p>
            <a:pPr lvl="1" marL="552450" marR="189230" indent="-228600">
              <a:lnSpc>
                <a:spcPts val="2620"/>
              </a:lnSpc>
              <a:spcBef>
                <a:spcPts val="61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Biological networks: </a:t>
            </a:r>
            <a:r>
              <a:rPr dirty="0" sz="2400" spc="-5">
                <a:latin typeface="Calibri"/>
                <a:cs typeface="Calibri"/>
              </a:rPr>
              <a:t>Gene </a:t>
            </a:r>
            <a:r>
              <a:rPr dirty="0" sz="2400" spc="-10">
                <a:latin typeface="Calibri"/>
                <a:cs typeface="Calibri"/>
              </a:rPr>
              <a:t>expression profiles, </a:t>
            </a:r>
            <a:r>
              <a:rPr dirty="0" sz="2400" spc="-100">
                <a:latin typeface="Calibri"/>
                <a:cs typeface="Calibri"/>
              </a:rPr>
              <a:t>gene  </a:t>
            </a:r>
            <a:r>
              <a:rPr dirty="0" sz="2400" spc="-5">
                <a:latin typeface="Calibri"/>
                <a:cs typeface="Calibri"/>
              </a:rPr>
              <a:t>functional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16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When </a:t>
            </a:r>
            <a:r>
              <a:rPr dirty="0" sz="2400" spc="-10">
                <a:latin typeface="Calibri"/>
                <a:cs typeface="Calibri"/>
              </a:rPr>
              <a:t>there </a:t>
            </a:r>
            <a:r>
              <a:rPr dirty="0" sz="2400">
                <a:latin typeface="Calibri"/>
                <a:cs typeface="Calibri"/>
              </a:rPr>
              <a:t>is no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20">
                <a:latin typeface="Calibri"/>
                <a:cs typeface="Calibri"/>
              </a:rPr>
              <a:t>feature </a:t>
            </a:r>
            <a:r>
              <a:rPr dirty="0" sz="2400" spc="-5">
                <a:latin typeface="Calibri"/>
                <a:cs typeface="Calibri"/>
              </a:rPr>
              <a:t>in the </a:t>
            </a:r>
            <a:r>
              <a:rPr dirty="0" sz="2400" spc="-15">
                <a:latin typeface="Calibri"/>
                <a:cs typeface="Calibri"/>
              </a:rPr>
              <a:t>graph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dataset:</a:t>
            </a:r>
            <a:endParaRPr sz="2400">
              <a:latin typeface="Calibri"/>
              <a:cs typeface="Calibri"/>
            </a:endParaRPr>
          </a:p>
          <a:p>
            <a:pPr lvl="2" marL="771525" indent="-182880">
              <a:lnSpc>
                <a:spcPct val="100000"/>
              </a:lnSpc>
              <a:spcBef>
                <a:spcPts val="300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2000" spc="-10">
                <a:latin typeface="Calibri"/>
                <a:cs typeface="Calibri"/>
              </a:rPr>
              <a:t>Indicator </a:t>
            </a:r>
            <a:r>
              <a:rPr dirty="0" sz="2000" spc="-15">
                <a:latin typeface="Calibri"/>
                <a:cs typeface="Calibri"/>
              </a:rPr>
              <a:t>vectors </a:t>
            </a:r>
            <a:r>
              <a:rPr dirty="0" sz="2000" spc="-5">
                <a:latin typeface="Calibri"/>
                <a:cs typeface="Calibri"/>
              </a:rPr>
              <a:t>(one-hot encoding of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node)</a:t>
            </a:r>
            <a:endParaRPr sz="2000">
              <a:latin typeface="Calibri"/>
              <a:cs typeface="Calibri"/>
            </a:endParaRPr>
          </a:p>
          <a:p>
            <a:pPr lvl="2" marL="771525" indent="-182880">
              <a:lnSpc>
                <a:spcPct val="100000"/>
              </a:lnSpc>
              <a:spcBef>
                <a:spcPts val="215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2000" spc="-20">
                <a:latin typeface="Calibri"/>
                <a:cs typeface="Calibri"/>
              </a:rPr>
              <a:t>Vector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-15">
                <a:latin typeface="Calibri"/>
                <a:cs typeface="Calibri"/>
              </a:rPr>
              <a:t>constant </a:t>
            </a:r>
            <a:r>
              <a:rPr dirty="0" sz="2000" spc="-5">
                <a:latin typeface="Calibri"/>
                <a:cs typeface="Calibri"/>
              </a:rPr>
              <a:t>1: [1, 1, …,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1]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3708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552956"/>
            <a:ext cx="60540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Join </a:t>
            </a:r>
            <a:r>
              <a:rPr dirty="0" spc="-5"/>
              <a:t>adjacency </a:t>
            </a:r>
            <a:r>
              <a:rPr dirty="0" spc="-10"/>
              <a:t>matrix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 spc="-25"/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034540"/>
            <a:ext cx="59632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Feed </a:t>
            </a:r>
            <a:r>
              <a:rPr dirty="0" sz="3200" spc="-5">
                <a:latin typeface="Calibri"/>
                <a:cs typeface="Calibri"/>
              </a:rPr>
              <a:t>them </a:t>
            </a:r>
            <a:r>
              <a:rPr dirty="0" sz="3200" spc="-15">
                <a:latin typeface="Calibri"/>
                <a:cs typeface="Calibri"/>
              </a:rPr>
              <a:t>into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deep </a:t>
            </a:r>
            <a:r>
              <a:rPr dirty="0" sz="3200" spc="-15">
                <a:latin typeface="Calibri"/>
                <a:cs typeface="Calibri"/>
              </a:rPr>
              <a:t>neural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net: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808" y="3971687"/>
            <a:ext cx="3743960" cy="496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685"/>
              </a:lnSpc>
            </a:pPr>
            <a:r>
              <a:rPr dirty="0" sz="2600" spc="509">
                <a:solidFill>
                  <a:srgbClr val="F0AD00"/>
                </a:solidFill>
                <a:latin typeface="Arial"/>
                <a:cs typeface="Arial"/>
              </a:rPr>
              <a:t>▪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Issues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with this</a:t>
            </a:r>
            <a:r>
              <a:rPr dirty="0" sz="3200" spc="-4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idea: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4336941"/>
            <a:ext cx="6607175" cy="215074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marR="2830195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Issues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with this</a:t>
            </a:r>
            <a:r>
              <a:rPr dirty="0" sz="32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idea: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15">
                <a:latin typeface="Cambria Math"/>
                <a:cs typeface="Cambria Math"/>
              </a:rPr>
              <a:t>𝑂(|𝑉|)</a:t>
            </a:r>
            <a:r>
              <a:rPr dirty="0" sz="2800" spc="-45">
                <a:latin typeface="Cambria Math"/>
                <a:cs typeface="Cambria Math"/>
              </a:rPr>
              <a:t> </a:t>
            </a:r>
            <a:r>
              <a:rPr dirty="0" sz="2800" spc="-20">
                <a:latin typeface="Calibri"/>
                <a:cs typeface="Calibri"/>
              </a:rPr>
              <a:t>parameters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Not </a:t>
            </a:r>
            <a:r>
              <a:rPr dirty="0" sz="2800" spc="-10">
                <a:latin typeface="Calibri"/>
                <a:cs typeface="Calibri"/>
              </a:rPr>
              <a:t>applicable </a:t>
            </a:r>
            <a:r>
              <a:rPr dirty="0" sz="2800" spc="-15">
                <a:latin typeface="Calibri"/>
                <a:cs typeface="Calibri"/>
              </a:rPr>
              <a:t>to graphs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different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 spc="-125">
                <a:latin typeface="Calibri"/>
                <a:cs typeface="Calibri"/>
              </a:rPr>
              <a:t>sizes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Sensitive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ordering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2715068"/>
            <a:ext cx="9144000" cy="1831975"/>
          </a:xfrm>
          <a:custGeom>
            <a:avLst/>
            <a:gdLst/>
            <a:ahLst/>
            <a:cxnLst/>
            <a:rect l="l" t="t" r="r" b="b"/>
            <a:pathLst>
              <a:path w="9144000" h="1831975">
                <a:moveTo>
                  <a:pt x="0" y="1831533"/>
                </a:moveTo>
                <a:lnTo>
                  <a:pt x="9144000" y="1831533"/>
                </a:lnTo>
                <a:lnTo>
                  <a:pt x="9144000" y="0"/>
                </a:lnTo>
                <a:lnTo>
                  <a:pt x="0" y="0"/>
                </a:lnTo>
                <a:lnTo>
                  <a:pt x="0" y="18315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88586" y="3150515"/>
            <a:ext cx="2141855" cy="1268095"/>
          </a:xfrm>
          <a:custGeom>
            <a:avLst/>
            <a:gdLst/>
            <a:ahLst/>
            <a:cxnLst/>
            <a:rect l="l" t="t" r="r" b="b"/>
            <a:pathLst>
              <a:path w="2141854" h="1268095">
                <a:moveTo>
                  <a:pt x="2061945" y="0"/>
                </a:moveTo>
                <a:lnTo>
                  <a:pt x="79305" y="0"/>
                </a:lnTo>
                <a:lnTo>
                  <a:pt x="48435" y="6270"/>
                </a:lnTo>
                <a:lnTo>
                  <a:pt x="23227" y="23371"/>
                </a:lnTo>
                <a:lnTo>
                  <a:pt x="6232" y="48734"/>
                </a:lnTo>
                <a:lnTo>
                  <a:pt x="0" y="79792"/>
                </a:lnTo>
                <a:lnTo>
                  <a:pt x="0" y="1188032"/>
                </a:lnTo>
                <a:lnTo>
                  <a:pt x="6232" y="1219091"/>
                </a:lnTo>
                <a:lnTo>
                  <a:pt x="23227" y="1244454"/>
                </a:lnTo>
                <a:lnTo>
                  <a:pt x="48435" y="1261555"/>
                </a:lnTo>
                <a:lnTo>
                  <a:pt x="79305" y="1267825"/>
                </a:lnTo>
                <a:lnTo>
                  <a:pt x="2061945" y="1267825"/>
                </a:lnTo>
                <a:lnTo>
                  <a:pt x="2092814" y="1261555"/>
                </a:lnTo>
                <a:lnTo>
                  <a:pt x="2118022" y="1244454"/>
                </a:lnTo>
                <a:lnTo>
                  <a:pt x="2135018" y="1219091"/>
                </a:lnTo>
                <a:lnTo>
                  <a:pt x="2141250" y="1188032"/>
                </a:lnTo>
                <a:lnTo>
                  <a:pt x="2141250" y="79792"/>
                </a:lnTo>
                <a:lnTo>
                  <a:pt x="2135018" y="48734"/>
                </a:lnTo>
                <a:lnTo>
                  <a:pt x="2118022" y="23371"/>
                </a:lnTo>
                <a:lnTo>
                  <a:pt x="2092814" y="6270"/>
                </a:lnTo>
                <a:lnTo>
                  <a:pt x="20619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88585" y="3150515"/>
            <a:ext cx="2141855" cy="1268095"/>
          </a:xfrm>
          <a:custGeom>
            <a:avLst/>
            <a:gdLst/>
            <a:ahLst/>
            <a:cxnLst/>
            <a:rect l="l" t="t" r="r" b="b"/>
            <a:pathLst>
              <a:path w="2141854" h="1268095">
                <a:moveTo>
                  <a:pt x="79305" y="0"/>
                </a:moveTo>
                <a:lnTo>
                  <a:pt x="2061945" y="0"/>
                </a:lnTo>
                <a:lnTo>
                  <a:pt x="2092815" y="6270"/>
                </a:lnTo>
                <a:lnTo>
                  <a:pt x="2118023" y="23370"/>
                </a:lnTo>
                <a:lnTo>
                  <a:pt x="2135019" y="48733"/>
                </a:lnTo>
                <a:lnTo>
                  <a:pt x="2141251" y="79793"/>
                </a:lnTo>
                <a:lnTo>
                  <a:pt x="2141251" y="1188032"/>
                </a:lnTo>
                <a:lnTo>
                  <a:pt x="2135019" y="1219092"/>
                </a:lnTo>
                <a:lnTo>
                  <a:pt x="2118023" y="1244455"/>
                </a:lnTo>
                <a:lnTo>
                  <a:pt x="2092815" y="1261555"/>
                </a:lnTo>
                <a:lnTo>
                  <a:pt x="2061945" y="1267826"/>
                </a:lnTo>
                <a:lnTo>
                  <a:pt x="79305" y="1267826"/>
                </a:lnTo>
                <a:lnTo>
                  <a:pt x="48436" y="1261555"/>
                </a:lnTo>
                <a:lnTo>
                  <a:pt x="23227" y="1244455"/>
                </a:lnTo>
                <a:lnTo>
                  <a:pt x="6232" y="1219092"/>
                </a:lnTo>
                <a:lnTo>
                  <a:pt x="0" y="1188032"/>
                </a:lnTo>
                <a:lnTo>
                  <a:pt x="0" y="79793"/>
                </a:lnTo>
                <a:lnTo>
                  <a:pt x="6232" y="48733"/>
                </a:lnTo>
                <a:lnTo>
                  <a:pt x="23227" y="23370"/>
                </a:lnTo>
                <a:lnTo>
                  <a:pt x="48436" y="6270"/>
                </a:lnTo>
                <a:lnTo>
                  <a:pt x="79305" y="0"/>
                </a:lnTo>
                <a:close/>
              </a:path>
            </a:pathLst>
          </a:custGeom>
          <a:ln w="17703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50267" y="3061856"/>
            <a:ext cx="2026920" cy="1454150"/>
          </a:xfrm>
          <a:custGeom>
            <a:avLst/>
            <a:gdLst/>
            <a:ahLst/>
            <a:cxnLst/>
            <a:rect l="l" t="t" r="r" b="b"/>
            <a:pathLst>
              <a:path w="2026920" h="1454150">
                <a:moveTo>
                  <a:pt x="0" y="0"/>
                </a:moveTo>
                <a:lnTo>
                  <a:pt x="2026699" y="0"/>
                </a:lnTo>
                <a:lnTo>
                  <a:pt x="2026699" y="1454010"/>
                </a:lnTo>
                <a:lnTo>
                  <a:pt x="0" y="14540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80451" y="2950032"/>
            <a:ext cx="10788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  <a:tab pos="489584" algn="l"/>
                <a:tab pos="734695" algn="l"/>
                <a:tab pos="979805" algn="l"/>
              </a:tabLst>
            </a:pPr>
            <a:r>
              <a:rPr dirty="0" sz="1050" spc="-50" b="1">
                <a:solidFill>
                  <a:srgbClr val="941751"/>
                </a:solidFill>
                <a:latin typeface="Arial"/>
                <a:cs typeface="Arial"/>
              </a:rPr>
              <a:t>A</a:t>
            </a:r>
            <a:r>
              <a:rPr dirty="0" sz="1050" spc="-50" b="1">
                <a:solidFill>
                  <a:srgbClr val="941751"/>
                </a:solidFill>
                <a:latin typeface="Arial"/>
                <a:cs typeface="Arial"/>
              </a:rPr>
              <a:t>	</a:t>
            </a:r>
            <a:r>
              <a:rPr dirty="0" sz="1050" spc="-30" b="1">
                <a:solidFill>
                  <a:srgbClr val="941751"/>
                </a:solidFill>
                <a:latin typeface="Arial"/>
                <a:cs typeface="Arial"/>
              </a:rPr>
              <a:t>B</a:t>
            </a:r>
            <a:r>
              <a:rPr dirty="0" sz="1050" spc="-30" b="1">
                <a:solidFill>
                  <a:srgbClr val="941751"/>
                </a:solidFill>
                <a:latin typeface="Arial"/>
                <a:cs typeface="Arial"/>
              </a:rPr>
              <a:t>	</a:t>
            </a:r>
            <a:r>
              <a:rPr dirty="0" sz="1050" spc="5" b="1">
                <a:solidFill>
                  <a:srgbClr val="941751"/>
                </a:solidFill>
                <a:latin typeface="Arial"/>
                <a:cs typeface="Arial"/>
              </a:rPr>
              <a:t>C</a:t>
            </a:r>
            <a:r>
              <a:rPr dirty="0" sz="1050" spc="5" b="1">
                <a:solidFill>
                  <a:srgbClr val="941751"/>
                </a:solidFill>
                <a:latin typeface="Arial"/>
                <a:cs typeface="Arial"/>
              </a:rPr>
              <a:t>	</a:t>
            </a:r>
            <a:r>
              <a:rPr dirty="0" sz="1050" spc="5" b="1">
                <a:solidFill>
                  <a:srgbClr val="941751"/>
                </a:solidFill>
                <a:latin typeface="Arial"/>
                <a:cs typeface="Arial"/>
              </a:rPr>
              <a:t>D</a:t>
            </a:r>
            <a:r>
              <a:rPr dirty="0" sz="1050" spc="5" b="1">
                <a:solidFill>
                  <a:srgbClr val="941751"/>
                </a:solidFill>
                <a:latin typeface="Arial"/>
                <a:cs typeface="Arial"/>
              </a:rPr>
              <a:t>	</a:t>
            </a:r>
            <a:r>
              <a:rPr dirty="0" sz="1050" spc="-30" b="1">
                <a:solidFill>
                  <a:srgbClr val="941751"/>
                </a:solidFill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665624" y="3203261"/>
          <a:ext cx="2258060" cy="1170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520"/>
                <a:gridCol w="313180"/>
                <a:gridCol w="257214"/>
                <a:gridCol w="257214"/>
                <a:gridCol w="257214"/>
                <a:gridCol w="349076"/>
                <a:gridCol w="349076"/>
                <a:gridCol w="197102"/>
              </a:tblGrid>
              <a:tr h="203200">
                <a:tc>
                  <a:txBody>
                    <a:bodyPr/>
                    <a:lstStyle/>
                    <a:p>
                      <a:pPr marL="34925">
                        <a:lnSpc>
                          <a:spcPts val="1230"/>
                        </a:lnSpc>
                      </a:pPr>
                      <a:r>
                        <a:rPr dirty="0" sz="1050" b="1">
                          <a:solidFill>
                            <a:srgbClr val="94175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5240"/>
                </a:tc>
              </a:tr>
              <a:tr h="241300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050" b="1">
                          <a:solidFill>
                            <a:srgbClr val="94175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</a:tr>
              <a:tr h="241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050" b="1">
                          <a:solidFill>
                            <a:srgbClr val="94175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</a:tr>
              <a:tr h="241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050" b="1">
                          <a:solidFill>
                            <a:srgbClr val="941751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</a:tr>
              <a:tr h="203200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050" b="1">
                          <a:solidFill>
                            <a:srgbClr val="941751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ts val="1175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ts val="1175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175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175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ts val="1175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  <a:spcBef>
                          <a:spcPts val="3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586266" y="2950032"/>
            <a:ext cx="3022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941751"/>
                </a:solidFill>
                <a:latin typeface="Arial"/>
                <a:cs typeface="Arial"/>
              </a:rPr>
              <a:t>Feat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019" y="2676523"/>
            <a:ext cx="1079500" cy="306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85"/>
              </a:lnSpc>
              <a:tabLst>
                <a:tab pos="273050" algn="l"/>
              </a:tabLst>
            </a:pPr>
            <a:r>
              <a:rPr dirty="0" sz="2150">
                <a:latin typeface="Arial"/>
                <a:cs typeface="Arial"/>
              </a:rPr>
              <a:t>•</a:t>
            </a:r>
            <a:r>
              <a:rPr dirty="0" sz="2150">
                <a:latin typeface="Arial"/>
                <a:cs typeface="Arial"/>
              </a:rPr>
              <a:t>	</a:t>
            </a:r>
            <a:r>
              <a:rPr dirty="0" sz="2150">
                <a:latin typeface="Arial"/>
                <a:cs typeface="Arial"/>
              </a:rPr>
              <a:t>Done?</a:t>
            </a:r>
            <a:endParaRPr sz="2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49562" y="2719116"/>
            <a:ext cx="3471722" cy="17281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92284" y="3679085"/>
            <a:ext cx="601980" cy="0"/>
          </a:xfrm>
          <a:custGeom>
            <a:avLst/>
            <a:gdLst/>
            <a:ahLst/>
            <a:cxnLst/>
            <a:rect l="l" t="t" r="r" b="b"/>
            <a:pathLst>
              <a:path w="601979" h="0">
                <a:moveTo>
                  <a:pt x="0" y="0"/>
                </a:moveTo>
                <a:lnTo>
                  <a:pt x="574185" y="0"/>
                </a:lnTo>
                <a:lnTo>
                  <a:pt x="601521" y="0"/>
                </a:lnTo>
              </a:path>
            </a:pathLst>
          </a:custGeom>
          <a:ln w="548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66468" y="3563873"/>
            <a:ext cx="229870" cy="230504"/>
          </a:xfrm>
          <a:custGeom>
            <a:avLst/>
            <a:gdLst/>
            <a:ahLst/>
            <a:cxnLst/>
            <a:rect l="l" t="t" r="r" b="b"/>
            <a:pathLst>
              <a:path w="229870" h="230504">
                <a:moveTo>
                  <a:pt x="0" y="0"/>
                </a:moveTo>
                <a:lnTo>
                  <a:pt x="0" y="230423"/>
                </a:lnTo>
                <a:lnTo>
                  <a:pt x="229626" y="1152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654612" y="3159033"/>
            <a:ext cx="417830" cy="799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50" spc="0" b="1">
                <a:latin typeface="Arial"/>
                <a:cs typeface="Arial"/>
              </a:rPr>
              <a:t>?</a:t>
            </a:r>
            <a:endParaRPr sz="50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9285" y="3405770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4" h="156210">
                <a:moveTo>
                  <a:pt x="77037" y="0"/>
                </a:moveTo>
                <a:lnTo>
                  <a:pt x="48048" y="5699"/>
                </a:lnTo>
                <a:lnTo>
                  <a:pt x="22563" y="22796"/>
                </a:lnTo>
                <a:lnTo>
                  <a:pt x="5640" y="48542"/>
                </a:lnTo>
                <a:lnTo>
                  <a:pt x="0" y="77830"/>
                </a:lnTo>
                <a:lnTo>
                  <a:pt x="5640" y="107118"/>
                </a:lnTo>
                <a:lnTo>
                  <a:pt x="22563" y="132864"/>
                </a:lnTo>
                <a:lnTo>
                  <a:pt x="48048" y="149961"/>
                </a:lnTo>
                <a:lnTo>
                  <a:pt x="77037" y="155660"/>
                </a:lnTo>
                <a:lnTo>
                  <a:pt x="106026" y="149961"/>
                </a:lnTo>
                <a:lnTo>
                  <a:pt x="131511" y="132864"/>
                </a:lnTo>
                <a:lnTo>
                  <a:pt x="148434" y="107118"/>
                </a:lnTo>
                <a:lnTo>
                  <a:pt x="154075" y="77830"/>
                </a:lnTo>
                <a:lnTo>
                  <a:pt x="148434" y="48542"/>
                </a:lnTo>
                <a:lnTo>
                  <a:pt x="131511" y="22796"/>
                </a:lnTo>
                <a:lnTo>
                  <a:pt x="106026" y="5699"/>
                </a:lnTo>
                <a:lnTo>
                  <a:pt x="770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9285" y="3405769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4" h="156210">
                <a:moveTo>
                  <a:pt x="131511" y="22796"/>
                </a:moveTo>
                <a:lnTo>
                  <a:pt x="148433" y="48542"/>
                </a:lnTo>
                <a:lnTo>
                  <a:pt x="154074" y="77830"/>
                </a:lnTo>
                <a:lnTo>
                  <a:pt x="148433" y="107118"/>
                </a:lnTo>
                <a:lnTo>
                  <a:pt x="131511" y="132865"/>
                </a:lnTo>
                <a:lnTo>
                  <a:pt x="106026" y="149962"/>
                </a:lnTo>
                <a:lnTo>
                  <a:pt x="77037" y="155661"/>
                </a:lnTo>
                <a:lnTo>
                  <a:pt x="48048" y="149962"/>
                </a:lnTo>
                <a:lnTo>
                  <a:pt x="22563" y="132865"/>
                </a:lnTo>
                <a:lnTo>
                  <a:pt x="5640" y="107118"/>
                </a:lnTo>
                <a:lnTo>
                  <a:pt x="0" y="77830"/>
                </a:lnTo>
                <a:lnTo>
                  <a:pt x="5640" y="48542"/>
                </a:lnTo>
                <a:lnTo>
                  <a:pt x="22563" y="22796"/>
                </a:lnTo>
                <a:lnTo>
                  <a:pt x="48048" y="5699"/>
                </a:lnTo>
                <a:lnTo>
                  <a:pt x="77037" y="0"/>
                </a:lnTo>
                <a:lnTo>
                  <a:pt x="106026" y="5699"/>
                </a:lnTo>
                <a:lnTo>
                  <a:pt x="131511" y="22796"/>
                </a:lnTo>
              </a:path>
            </a:pathLst>
          </a:custGeom>
          <a:ln w="11262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4726" y="3392761"/>
            <a:ext cx="10604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0" b="1">
                <a:solidFill>
                  <a:srgbClr val="941751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9285" y="3909548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4" h="156210">
                <a:moveTo>
                  <a:pt x="77037" y="0"/>
                </a:moveTo>
                <a:lnTo>
                  <a:pt x="48048" y="5699"/>
                </a:lnTo>
                <a:lnTo>
                  <a:pt x="22563" y="22796"/>
                </a:lnTo>
                <a:lnTo>
                  <a:pt x="5640" y="48543"/>
                </a:lnTo>
                <a:lnTo>
                  <a:pt x="0" y="77830"/>
                </a:lnTo>
                <a:lnTo>
                  <a:pt x="5640" y="107118"/>
                </a:lnTo>
                <a:lnTo>
                  <a:pt x="22563" y="132865"/>
                </a:lnTo>
                <a:lnTo>
                  <a:pt x="48048" y="149962"/>
                </a:lnTo>
                <a:lnTo>
                  <a:pt x="77037" y="155661"/>
                </a:lnTo>
                <a:lnTo>
                  <a:pt x="106026" y="149962"/>
                </a:lnTo>
                <a:lnTo>
                  <a:pt x="131511" y="132865"/>
                </a:lnTo>
                <a:lnTo>
                  <a:pt x="148434" y="107118"/>
                </a:lnTo>
                <a:lnTo>
                  <a:pt x="154075" y="77830"/>
                </a:lnTo>
                <a:lnTo>
                  <a:pt x="148434" y="48543"/>
                </a:lnTo>
                <a:lnTo>
                  <a:pt x="131511" y="22796"/>
                </a:lnTo>
                <a:lnTo>
                  <a:pt x="106026" y="5699"/>
                </a:lnTo>
                <a:lnTo>
                  <a:pt x="770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9285" y="3909547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4" h="156210">
                <a:moveTo>
                  <a:pt x="131511" y="22796"/>
                </a:moveTo>
                <a:lnTo>
                  <a:pt x="148433" y="48542"/>
                </a:lnTo>
                <a:lnTo>
                  <a:pt x="154074" y="77830"/>
                </a:lnTo>
                <a:lnTo>
                  <a:pt x="148433" y="107118"/>
                </a:lnTo>
                <a:lnTo>
                  <a:pt x="131511" y="132865"/>
                </a:lnTo>
                <a:lnTo>
                  <a:pt x="106026" y="149962"/>
                </a:lnTo>
                <a:lnTo>
                  <a:pt x="77037" y="155661"/>
                </a:lnTo>
                <a:lnTo>
                  <a:pt x="48048" y="149962"/>
                </a:lnTo>
                <a:lnTo>
                  <a:pt x="22563" y="132865"/>
                </a:lnTo>
                <a:lnTo>
                  <a:pt x="5640" y="107118"/>
                </a:lnTo>
                <a:lnTo>
                  <a:pt x="0" y="77830"/>
                </a:lnTo>
                <a:lnTo>
                  <a:pt x="5640" y="48542"/>
                </a:lnTo>
                <a:lnTo>
                  <a:pt x="22563" y="22796"/>
                </a:lnTo>
                <a:lnTo>
                  <a:pt x="48048" y="5699"/>
                </a:lnTo>
                <a:lnTo>
                  <a:pt x="77037" y="0"/>
                </a:lnTo>
                <a:lnTo>
                  <a:pt x="106026" y="5699"/>
                </a:lnTo>
                <a:lnTo>
                  <a:pt x="131511" y="22796"/>
                </a:lnTo>
              </a:path>
            </a:pathLst>
          </a:custGeom>
          <a:ln w="11262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1431" y="3896539"/>
            <a:ext cx="11303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30" b="1">
                <a:solidFill>
                  <a:srgbClr val="941751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9168" y="3405770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5" h="156210">
                <a:moveTo>
                  <a:pt x="77037" y="0"/>
                </a:moveTo>
                <a:lnTo>
                  <a:pt x="48048" y="5699"/>
                </a:lnTo>
                <a:lnTo>
                  <a:pt x="22563" y="22796"/>
                </a:lnTo>
                <a:lnTo>
                  <a:pt x="5640" y="48542"/>
                </a:lnTo>
                <a:lnTo>
                  <a:pt x="0" y="77830"/>
                </a:lnTo>
                <a:lnTo>
                  <a:pt x="5640" y="107118"/>
                </a:lnTo>
                <a:lnTo>
                  <a:pt x="22563" y="132864"/>
                </a:lnTo>
                <a:lnTo>
                  <a:pt x="48048" y="149961"/>
                </a:lnTo>
                <a:lnTo>
                  <a:pt x="77037" y="155660"/>
                </a:lnTo>
                <a:lnTo>
                  <a:pt x="106026" y="149961"/>
                </a:lnTo>
                <a:lnTo>
                  <a:pt x="131511" y="132864"/>
                </a:lnTo>
                <a:lnTo>
                  <a:pt x="148433" y="107118"/>
                </a:lnTo>
                <a:lnTo>
                  <a:pt x="154074" y="77830"/>
                </a:lnTo>
                <a:lnTo>
                  <a:pt x="148433" y="48542"/>
                </a:lnTo>
                <a:lnTo>
                  <a:pt x="131511" y="22796"/>
                </a:lnTo>
                <a:lnTo>
                  <a:pt x="106026" y="5699"/>
                </a:lnTo>
                <a:lnTo>
                  <a:pt x="770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9167" y="3405769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5" h="156210">
                <a:moveTo>
                  <a:pt x="131511" y="22796"/>
                </a:moveTo>
                <a:lnTo>
                  <a:pt x="148433" y="48542"/>
                </a:lnTo>
                <a:lnTo>
                  <a:pt x="154074" y="77830"/>
                </a:lnTo>
                <a:lnTo>
                  <a:pt x="148433" y="107118"/>
                </a:lnTo>
                <a:lnTo>
                  <a:pt x="131511" y="132865"/>
                </a:lnTo>
                <a:lnTo>
                  <a:pt x="106026" y="149962"/>
                </a:lnTo>
                <a:lnTo>
                  <a:pt x="77037" y="155661"/>
                </a:lnTo>
                <a:lnTo>
                  <a:pt x="48048" y="149962"/>
                </a:lnTo>
                <a:lnTo>
                  <a:pt x="22563" y="132865"/>
                </a:lnTo>
                <a:lnTo>
                  <a:pt x="5640" y="107118"/>
                </a:lnTo>
                <a:lnTo>
                  <a:pt x="0" y="77830"/>
                </a:lnTo>
                <a:lnTo>
                  <a:pt x="5640" y="48542"/>
                </a:lnTo>
                <a:lnTo>
                  <a:pt x="22563" y="22796"/>
                </a:lnTo>
                <a:lnTo>
                  <a:pt x="48048" y="5699"/>
                </a:lnTo>
                <a:lnTo>
                  <a:pt x="77037" y="0"/>
                </a:lnTo>
                <a:lnTo>
                  <a:pt x="106026" y="5699"/>
                </a:lnTo>
                <a:lnTo>
                  <a:pt x="131511" y="22796"/>
                </a:lnTo>
              </a:path>
            </a:pathLst>
          </a:custGeom>
          <a:ln w="11262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93490" y="3392761"/>
            <a:ext cx="10858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941751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70568" y="3909548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5" h="156210">
                <a:moveTo>
                  <a:pt x="77037" y="0"/>
                </a:moveTo>
                <a:lnTo>
                  <a:pt x="48048" y="5699"/>
                </a:lnTo>
                <a:lnTo>
                  <a:pt x="22563" y="22796"/>
                </a:lnTo>
                <a:lnTo>
                  <a:pt x="5640" y="48543"/>
                </a:lnTo>
                <a:lnTo>
                  <a:pt x="0" y="77830"/>
                </a:lnTo>
                <a:lnTo>
                  <a:pt x="5640" y="107118"/>
                </a:lnTo>
                <a:lnTo>
                  <a:pt x="22563" y="132865"/>
                </a:lnTo>
                <a:lnTo>
                  <a:pt x="48048" y="149962"/>
                </a:lnTo>
                <a:lnTo>
                  <a:pt x="77037" y="155661"/>
                </a:lnTo>
                <a:lnTo>
                  <a:pt x="106026" y="149962"/>
                </a:lnTo>
                <a:lnTo>
                  <a:pt x="131511" y="132865"/>
                </a:lnTo>
                <a:lnTo>
                  <a:pt x="148433" y="107118"/>
                </a:lnTo>
                <a:lnTo>
                  <a:pt x="154074" y="77830"/>
                </a:lnTo>
                <a:lnTo>
                  <a:pt x="148433" y="48543"/>
                </a:lnTo>
                <a:lnTo>
                  <a:pt x="131511" y="22796"/>
                </a:lnTo>
                <a:lnTo>
                  <a:pt x="106026" y="5699"/>
                </a:lnTo>
                <a:lnTo>
                  <a:pt x="770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70568" y="3909547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5" h="156210">
                <a:moveTo>
                  <a:pt x="131511" y="22796"/>
                </a:moveTo>
                <a:lnTo>
                  <a:pt x="148433" y="48542"/>
                </a:lnTo>
                <a:lnTo>
                  <a:pt x="154074" y="77830"/>
                </a:lnTo>
                <a:lnTo>
                  <a:pt x="148433" y="107118"/>
                </a:lnTo>
                <a:lnTo>
                  <a:pt x="131511" y="132865"/>
                </a:lnTo>
                <a:lnTo>
                  <a:pt x="106026" y="149962"/>
                </a:lnTo>
                <a:lnTo>
                  <a:pt x="77037" y="155661"/>
                </a:lnTo>
                <a:lnTo>
                  <a:pt x="48048" y="149962"/>
                </a:lnTo>
                <a:lnTo>
                  <a:pt x="22563" y="132865"/>
                </a:lnTo>
                <a:lnTo>
                  <a:pt x="5640" y="107118"/>
                </a:lnTo>
                <a:lnTo>
                  <a:pt x="0" y="77830"/>
                </a:lnTo>
                <a:lnTo>
                  <a:pt x="5640" y="48542"/>
                </a:lnTo>
                <a:lnTo>
                  <a:pt x="22563" y="22796"/>
                </a:lnTo>
                <a:lnTo>
                  <a:pt x="48048" y="5699"/>
                </a:lnTo>
                <a:lnTo>
                  <a:pt x="77037" y="0"/>
                </a:lnTo>
                <a:lnTo>
                  <a:pt x="106026" y="5699"/>
                </a:lnTo>
                <a:lnTo>
                  <a:pt x="131511" y="22796"/>
                </a:lnTo>
              </a:path>
            </a:pathLst>
          </a:custGeom>
          <a:ln w="11262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95516" y="3896539"/>
            <a:ext cx="11303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30" b="1">
                <a:solidFill>
                  <a:srgbClr val="941751"/>
                </a:solidFill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65009" y="3656244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5" h="156210">
                <a:moveTo>
                  <a:pt x="77037" y="0"/>
                </a:moveTo>
                <a:lnTo>
                  <a:pt x="48048" y="5699"/>
                </a:lnTo>
                <a:lnTo>
                  <a:pt x="22563" y="22797"/>
                </a:lnTo>
                <a:lnTo>
                  <a:pt x="5640" y="48543"/>
                </a:lnTo>
                <a:lnTo>
                  <a:pt x="0" y="77830"/>
                </a:lnTo>
                <a:lnTo>
                  <a:pt x="5640" y="107118"/>
                </a:lnTo>
                <a:lnTo>
                  <a:pt x="22563" y="132864"/>
                </a:lnTo>
                <a:lnTo>
                  <a:pt x="48048" y="149962"/>
                </a:lnTo>
                <a:lnTo>
                  <a:pt x="77037" y="155661"/>
                </a:lnTo>
                <a:lnTo>
                  <a:pt x="106027" y="149962"/>
                </a:lnTo>
                <a:lnTo>
                  <a:pt x="131512" y="132864"/>
                </a:lnTo>
                <a:lnTo>
                  <a:pt x="148434" y="107118"/>
                </a:lnTo>
                <a:lnTo>
                  <a:pt x="154075" y="77830"/>
                </a:lnTo>
                <a:lnTo>
                  <a:pt x="148434" y="48543"/>
                </a:lnTo>
                <a:lnTo>
                  <a:pt x="131512" y="22797"/>
                </a:lnTo>
                <a:lnTo>
                  <a:pt x="106027" y="5699"/>
                </a:lnTo>
                <a:lnTo>
                  <a:pt x="770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65009" y="3656243"/>
            <a:ext cx="154305" cy="156210"/>
          </a:xfrm>
          <a:custGeom>
            <a:avLst/>
            <a:gdLst/>
            <a:ahLst/>
            <a:cxnLst/>
            <a:rect l="l" t="t" r="r" b="b"/>
            <a:pathLst>
              <a:path w="154305" h="156210">
                <a:moveTo>
                  <a:pt x="131511" y="22796"/>
                </a:moveTo>
                <a:lnTo>
                  <a:pt x="148433" y="48542"/>
                </a:lnTo>
                <a:lnTo>
                  <a:pt x="154074" y="77830"/>
                </a:lnTo>
                <a:lnTo>
                  <a:pt x="148433" y="107118"/>
                </a:lnTo>
                <a:lnTo>
                  <a:pt x="131511" y="132865"/>
                </a:lnTo>
                <a:lnTo>
                  <a:pt x="106026" y="149962"/>
                </a:lnTo>
                <a:lnTo>
                  <a:pt x="77037" y="155661"/>
                </a:lnTo>
                <a:lnTo>
                  <a:pt x="48048" y="149962"/>
                </a:lnTo>
                <a:lnTo>
                  <a:pt x="22563" y="132865"/>
                </a:lnTo>
                <a:lnTo>
                  <a:pt x="5640" y="107118"/>
                </a:lnTo>
                <a:lnTo>
                  <a:pt x="0" y="77830"/>
                </a:lnTo>
                <a:lnTo>
                  <a:pt x="5640" y="48542"/>
                </a:lnTo>
                <a:lnTo>
                  <a:pt x="22563" y="22796"/>
                </a:lnTo>
                <a:lnTo>
                  <a:pt x="48048" y="5699"/>
                </a:lnTo>
                <a:lnTo>
                  <a:pt x="77037" y="0"/>
                </a:lnTo>
                <a:lnTo>
                  <a:pt x="106026" y="5699"/>
                </a:lnTo>
                <a:lnTo>
                  <a:pt x="131511" y="22796"/>
                </a:lnTo>
              </a:path>
            </a:pathLst>
          </a:custGeom>
          <a:ln w="11262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89880" y="3643234"/>
            <a:ext cx="10223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941751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29048" y="3537963"/>
            <a:ext cx="455930" cy="395605"/>
          </a:xfrm>
          <a:custGeom>
            <a:avLst/>
            <a:gdLst/>
            <a:ahLst/>
            <a:cxnLst/>
            <a:rect l="l" t="t" r="r" b="b"/>
            <a:pathLst>
              <a:path w="455930" h="395604">
                <a:moveTo>
                  <a:pt x="0" y="0"/>
                </a:moveTo>
                <a:lnTo>
                  <a:pt x="455830" y="395051"/>
                </a:lnTo>
              </a:path>
            </a:pathLst>
          </a:custGeom>
          <a:ln w="11271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36262" y="3643234"/>
            <a:ext cx="441959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8625" algn="l"/>
              </a:tabLst>
            </a:pPr>
            <a:r>
              <a:rPr dirty="0" sz="900" spc="0" u="sng">
                <a:solidFill>
                  <a:srgbClr val="941751"/>
                </a:solidFill>
                <a:latin typeface="Times New Roman"/>
                <a:cs typeface="Times New Roman"/>
              </a:rPr>
              <a:t> </a:t>
            </a:r>
            <a:r>
              <a:rPr dirty="0" sz="900" spc="0" u="sng">
                <a:solidFill>
                  <a:srgbClr val="941751"/>
                </a:solidFill>
                <a:latin typeface="Times New Roman"/>
                <a:cs typeface="Times New Roman"/>
              </a:rPr>
              <a:t>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48962" y="3485015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5" h="0">
                <a:moveTo>
                  <a:pt x="0" y="0"/>
                </a:moveTo>
                <a:lnTo>
                  <a:pt x="414602" y="0"/>
                </a:lnTo>
              </a:path>
            </a:pathLst>
          </a:custGeom>
          <a:ln w="11320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46437" y="3567091"/>
            <a:ext cx="1270" cy="337185"/>
          </a:xfrm>
          <a:custGeom>
            <a:avLst/>
            <a:gdLst/>
            <a:ahLst/>
            <a:cxnLst/>
            <a:rect l="l" t="t" r="r" b="b"/>
            <a:pathLst>
              <a:path w="1270" h="337185">
                <a:moveTo>
                  <a:pt x="936" y="336796"/>
                </a:moveTo>
                <a:lnTo>
                  <a:pt x="0" y="0"/>
                </a:lnTo>
              </a:path>
            </a:pathLst>
          </a:custGeom>
          <a:ln w="11205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7723" y="3567091"/>
            <a:ext cx="0" cy="337185"/>
          </a:xfrm>
          <a:custGeom>
            <a:avLst/>
            <a:gdLst/>
            <a:ahLst/>
            <a:cxnLst/>
            <a:rect l="l" t="t" r="r" b="b"/>
            <a:pathLst>
              <a:path w="0" h="337185">
                <a:moveTo>
                  <a:pt x="0" y="0"/>
                </a:moveTo>
                <a:lnTo>
                  <a:pt x="0" y="336795"/>
                </a:lnTo>
              </a:path>
            </a:pathLst>
          </a:custGeom>
          <a:ln w="11205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17205" y="3526364"/>
            <a:ext cx="347980" cy="209550"/>
          </a:xfrm>
          <a:custGeom>
            <a:avLst/>
            <a:gdLst/>
            <a:ahLst/>
            <a:cxnLst/>
            <a:rect l="l" t="t" r="r" b="b"/>
            <a:pathLst>
              <a:path w="347980" h="209550">
                <a:moveTo>
                  <a:pt x="347804" y="209485"/>
                </a:moveTo>
                <a:lnTo>
                  <a:pt x="0" y="0"/>
                </a:lnTo>
              </a:path>
            </a:pathLst>
          </a:custGeom>
          <a:ln w="11290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24643" y="3772100"/>
            <a:ext cx="344170" cy="177800"/>
          </a:xfrm>
          <a:custGeom>
            <a:avLst/>
            <a:gdLst/>
            <a:ahLst/>
            <a:cxnLst/>
            <a:rect l="l" t="t" r="r" b="b"/>
            <a:pathLst>
              <a:path w="344169" h="177800">
                <a:moveTo>
                  <a:pt x="343807" y="0"/>
                </a:moveTo>
                <a:lnTo>
                  <a:pt x="0" y="177643"/>
                </a:lnTo>
              </a:path>
            </a:pathLst>
          </a:custGeom>
          <a:ln w="11296">
            <a:solidFill>
              <a:srgbClr val="0119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6730" y="2717801"/>
            <a:ext cx="1102995" cy="406400"/>
          </a:xfrm>
          <a:custGeom>
            <a:avLst/>
            <a:gdLst/>
            <a:ahLst/>
            <a:cxnLst/>
            <a:rect l="l" t="t" r="r" b="b"/>
            <a:pathLst>
              <a:path w="1102995" h="406400">
                <a:moveTo>
                  <a:pt x="0" y="0"/>
                </a:moveTo>
                <a:lnTo>
                  <a:pt x="1102469" y="0"/>
                </a:lnTo>
                <a:lnTo>
                  <a:pt x="1102469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2731" y="2693800"/>
            <a:ext cx="1150620" cy="454659"/>
          </a:xfrm>
          <a:custGeom>
            <a:avLst/>
            <a:gdLst/>
            <a:ahLst/>
            <a:cxnLst/>
            <a:rect l="l" t="t" r="r" b="b"/>
            <a:pathLst>
              <a:path w="1150620" h="454660">
                <a:moveTo>
                  <a:pt x="1126468" y="0"/>
                </a:moveTo>
                <a:lnTo>
                  <a:pt x="23999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430400"/>
                </a:lnTo>
                <a:lnTo>
                  <a:pt x="1886" y="439742"/>
                </a:lnTo>
                <a:lnTo>
                  <a:pt x="7029" y="447370"/>
                </a:lnTo>
                <a:lnTo>
                  <a:pt x="14658" y="452513"/>
                </a:lnTo>
                <a:lnTo>
                  <a:pt x="23999" y="454399"/>
                </a:lnTo>
                <a:lnTo>
                  <a:pt x="1126468" y="454399"/>
                </a:lnTo>
                <a:lnTo>
                  <a:pt x="1135810" y="452513"/>
                </a:lnTo>
                <a:lnTo>
                  <a:pt x="1143439" y="447370"/>
                </a:lnTo>
                <a:lnTo>
                  <a:pt x="1148582" y="439742"/>
                </a:lnTo>
                <a:lnTo>
                  <a:pt x="1150468" y="430400"/>
                </a:lnTo>
                <a:lnTo>
                  <a:pt x="1150468" y="425599"/>
                </a:lnTo>
                <a:lnTo>
                  <a:pt x="28799" y="425599"/>
                </a:lnTo>
                <a:lnTo>
                  <a:pt x="28799" y="28799"/>
                </a:lnTo>
                <a:lnTo>
                  <a:pt x="1150468" y="28799"/>
                </a:lnTo>
                <a:lnTo>
                  <a:pt x="1150468" y="24000"/>
                </a:lnTo>
                <a:lnTo>
                  <a:pt x="1148582" y="14658"/>
                </a:lnTo>
                <a:lnTo>
                  <a:pt x="1143439" y="7029"/>
                </a:lnTo>
                <a:lnTo>
                  <a:pt x="1135810" y="1886"/>
                </a:lnTo>
                <a:lnTo>
                  <a:pt x="1126468" y="0"/>
                </a:lnTo>
                <a:close/>
              </a:path>
              <a:path w="1150620" h="454660">
                <a:moveTo>
                  <a:pt x="1150468" y="28799"/>
                </a:moveTo>
                <a:lnTo>
                  <a:pt x="1121669" y="28799"/>
                </a:lnTo>
                <a:lnTo>
                  <a:pt x="1121669" y="425599"/>
                </a:lnTo>
                <a:lnTo>
                  <a:pt x="1150468" y="425599"/>
                </a:lnTo>
                <a:lnTo>
                  <a:pt x="1150468" y="28799"/>
                </a:lnTo>
                <a:close/>
              </a:path>
              <a:path w="1150620" h="454660">
                <a:moveTo>
                  <a:pt x="1112068" y="38399"/>
                </a:moveTo>
                <a:lnTo>
                  <a:pt x="38400" y="38399"/>
                </a:lnTo>
                <a:lnTo>
                  <a:pt x="38400" y="415999"/>
                </a:lnTo>
                <a:lnTo>
                  <a:pt x="1112068" y="415999"/>
                </a:lnTo>
                <a:lnTo>
                  <a:pt x="1112068" y="406400"/>
                </a:lnTo>
                <a:lnTo>
                  <a:pt x="47999" y="406400"/>
                </a:lnTo>
                <a:lnTo>
                  <a:pt x="47999" y="47999"/>
                </a:lnTo>
                <a:lnTo>
                  <a:pt x="1112068" y="47999"/>
                </a:lnTo>
                <a:lnTo>
                  <a:pt x="1112068" y="38399"/>
                </a:lnTo>
                <a:close/>
              </a:path>
              <a:path w="1150620" h="454660">
                <a:moveTo>
                  <a:pt x="1112068" y="47999"/>
                </a:moveTo>
                <a:lnTo>
                  <a:pt x="1102468" y="47999"/>
                </a:lnTo>
                <a:lnTo>
                  <a:pt x="1102468" y="406400"/>
                </a:lnTo>
                <a:lnTo>
                  <a:pt x="1112068" y="406400"/>
                </a:lnTo>
                <a:lnTo>
                  <a:pt x="1112068" y="4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033399" y="3404999"/>
            <a:ext cx="1953260" cy="276860"/>
          </a:xfrm>
          <a:custGeom>
            <a:avLst/>
            <a:gdLst/>
            <a:ahLst/>
            <a:cxnLst/>
            <a:rect l="l" t="t" r="r" b="b"/>
            <a:pathLst>
              <a:path w="1953260" h="276860">
                <a:moveTo>
                  <a:pt x="1929000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252600"/>
                </a:lnTo>
                <a:lnTo>
                  <a:pt x="1886" y="261942"/>
                </a:lnTo>
                <a:lnTo>
                  <a:pt x="7029" y="269571"/>
                </a:lnTo>
                <a:lnTo>
                  <a:pt x="14658" y="274714"/>
                </a:lnTo>
                <a:lnTo>
                  <a:pt x="24000" y="276600"/>
                </a:lnTo>
                <a:lnTo>
                  <a:pt x="1929000" y="276600"/>
                </a:lnTo>
                <a:lnTo>
                  <a:pt x="1938342" y="274714"/>
                </a:lnTo>
                <a:lnTo>
                  <a:pt x="1945971" y="269571"/>
                </a:lnTo>
                <a:lnTo>
                  <a:pt x="1951114" y="261942"/>
                </a:lnTo>
                <a:lnTo>
                  <a:pt x="1953000" y="252600"/>
                </a:lnTo>
                <a:lnTo>
                  <a:pt x="1953000" y="247799"/>
                </a:lnTo>
                <a:lnTo>
                  <a:pt x="28799" y="247799"/>
                </a:lnTo>
                <a:lnTo>
                  <a:pt x="28799" y="28799"/>
                </a:lnTo>
                <a:lnTo>
                  <a:pt x="1953000" y="28799"/>
                </a:lnTo>
                <a:lnTo>
                  <a:pt x="1953000" y="24000"/>
                </a:lnTo>
                <a:lnTo>
                  <a:pt x="1951114" y="14658"/>
                </a:lnTo>
                <a:lnTo>
                  <a:pt x="1945971" y="7029"/>
                </a:lnTo>
                <a:lnTo>
                  <a:pt x="1938342" y="1886"/>
                </a:lnTo>
                <a:lnTo>
                  <a:pt x="1929000" y="0"/>
                </a:lnTo>
                <a:close/>
              </a:path>
              <a:path w="1953260" h="276860">
                <a:moveTo>
                  <a:pt x="1953000" y="28799"/>
                </a:moveTo>
                <a:lnTo>
                  <a:pt x="1924199" y="28799"/>
                </a:lnTo>
                <a:lnTo>
                  <a:pt x="1924199" y="247799"/>
                </a:lnTo>
                <a:lnTo>
                  <a:pt x="1953000" y="247799"/>
                </a:lnTo>
                <a:lnTo>
                  <a:pt x="1953000" y="28799"/>
                </a:lnTo>
                <a:close/>
              </a:path>
              <a:path w="1953260" h="276860">
                <a:moveTo>
                  <a:pt x="1914599" y="38400"/>
                </a:moveTo>
                <a:lnTo>
                  <a:pt x="38400" y="38400"/>
                </a:lnTo>
                <a:lnTo>
                  <a:pt x="38400" y="238199"/>
                </a:lnTo>
                <a:lnTo>
                  <a:pt x="1914599" y="238199"/>
                </a:lnTo>
                <a:lnTo>
                  <a:pt x="1914599" y="228599"/>
                </a:lnTo>
                <a:lnTo>
                  <a:pt x="48000" y="228599"/>
                </a:lnTo>
                <a:lnTo>
                  <a:pt x="48000" y="48000"/>
                </a:lnTo>
                <a:lnTo>
                  <a:pt x="1914599" y="48000"/>
                </a:lnTo>
                <a:lnTo>
                  <a:pt x="1914599" y="38400"/>
                </a:lnTo>
                <a:close/>
              </a:path>
              <a:path w="1953260" h="276860">
                <a:moveTo>
                  <a:pt x="1914599" y="48000"/>
                </a:moveTo>
                <a:lnTo>
                  <a:pt x="1905000" y="48000"/>
                </a:lnTo>
                <a:lnTo>
                  <a:pt x="1905000" y="228599"/>
                </a:lnTo>
                <a:lnTo>
                  <a:pt x="1914599" y="228599"/>
                </a:lnTo>
                <a:lnTo>
                  <a:pt x="1914599" y="4800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081400" y="2903275"/>
            <a:ext cx="276860" cy="1540510"/>
          </a:xfrm>
          <a:custGeom>
            <a:avLst/>
            <a:gdLst/>
            <a:ahLst/>
            <a:cxnLst/>
            <a:rect l="l" t="t" r="r" b="b"/>
            <a:pathLst>
              <a:path w="276860" h="1540510">
                <a:moveTo>
                  <a:pt x="252599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8" y="7029"/>
                </a:lnTo>
                <a:lnTo>
                  <a:pt x="1885" y="14658"/>
                </a:lnTo>
                <a:lnTo>
                  <a:pt x="0" y="24000"/>
                </a:lnTo>
                <a:lnTo>
                  <a:pt x="0" y="1516325"/>
                </a:lnTo>
                <a:lnTo>
                  <a:pt x="1885" y="1525667"/>
                </a:lnTo>
                <a:lnTo>
                  <a:pt x="7028" y="1533296"/>
                </a:lnTo>
                <a:lnTo>
                  <a:pt x="14657" y="1538439"/>
                </a:lnTo>
                <a:lnTo>
                  <a:pt x="23999" y="1540325"/>
                </a:lnTo>
                <a:lnTo>
                  <a:pt x="252599" y="1540325"/>
                </a:lnTo>
                <a:lnTo>
                  <a:pt x="261941" y="1538439"/>
                </a:lnTo>
                <a:lnTo>
                  <a:pt x="269570" y="1533296"/>
                </a:lnTo>
                <a:lnTo>
                  <a:pt x="274713" y="1525667"/>
                </a:lnTo>
                <a:lnTo>
                  <a:pt x="276599" y="1516325"/>
                </a:lnTo>
                <a:lnTo>
                  <a:pt x="276599" y="1511526"/>
                </a:lnTo>
                <a:lnTo>
                  <a:pt x="28799" y="1511526"/>
                </a:lnTo>
                <a:lnTo>
                  <a:pt x="28799" y="28801"/>
                </a:lnTo>
                <a:lnTo>
                  <a:pt x="276599" y="28801"/>
                </a:lnTo>
                <a:lnTo>
                  <a:pt x="276599" y="24000"/>
                </a:lnTo>
                <a:lnTo>
                  <a:pt x="274713" y="14658"/>
                </a:lnTo>
                <a:lnTo>
                  <a:pt x="269570" y="7029"/>
                </a:lnTo>
                <a:lnTo>
                  <a:pt x="261941" y="1886"/>
                </a:lnTo>
                <a:lnTo>
                  <a:pt x="252599" y="0"/>
                </a:lnTo>
                <a:close/>
              </a:path>
              <a:path w="276860" h="1540510">
                <a:moveTo>
                  <a:pt x="276599" y="28801"/>
                </a:moveTo>
                <a:lnTo>
                  <a:pt x="247799" y="28801"/>
                </a:lnTo>
                <a:lnTo>
                  <a:pt x="247799" y="1511526"/>
                </a:lnTo>
                <a:lnTo>
                  <a:pt x="276599" y="1511526"/>
                </a:lnTo>
                <a:lnTo>
                  <a:pt x="276599" y="28801"/>
                </a:lnTo>
                <a:close/>
              </a:path>
              <a:path w="276860" h="1540510">
                <a:moveTo>
                  <a:pt x="238199" y="38400"/>
                </a:moveTo>
                <a:lnTo>
                  <a:pt x="38399" y="38400"/>
                </a:lnTo>
                <a:lnTo>
                  <a:pt x="38399" y="1501926"/>
                </a:lnTo>
                <a:lnTo>
                  <a:pt x="238199" y="1501926"/>
                </a:lnTo>
                <a:lnTo>
                  <a:pt x="238199" y="1492324"/>
                </a:lnTo>
                <a:lnTo>
                  <a:pt x="47999" y="1492324"/>
                </a:lnTo>
                <a:lnTo>
                  <a:pt x="47999" y="48000"/>
                </a:lnTo>
                <a:lnTo>
                  <a:pt x="238199" y="48000"/>
                </a:lnTo>
                <a:lnTo>
                  <a:pt x="238199" y="38400"/>
                </a:lnTo>
                <a:close/>
              </a:path>
              <a:path w="276860" h="1540510">
                <a:moveTo>
                  <a:pt x="238199" y="48000"/>
                </a:moveTo>
                <a:lnTo>
                  <a:pt x="228600" y="48000"/>
                </a:lnTo>
                <a:lnTo>
                  <a:pt x="228600" y="1492324"/>
                </a:lnTo>
                <a:lnTo>
                  <a:pt x="238199" y="1492324"/>
                </a:lnTo>
                <a:lnTo>
                  <a:pt x="238199" y="4800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072" y="2108201"/>
            <a:ext cx="6989727" cy="3136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84671" y="367641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0" y="0"/>
                </a:moveTo>
                <a:lnTo>
                  <a:pt x="508000" y="0"/>
                </a:lnTo>
                <a:lnTo>
                  <a:pt x="508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60671" y="3652409"/>
            <a:ext cx="556260" cy="454659"/>
          </a:xfrm>
          <a:custGeom>
            <a:avLst/>
            <a:gdLst/>
            <a:ahLst/>
            <a:cxnLst/>
            <a:rect l="l" t="t" r="r" b="b"/>
            <a:pathLst>
              <a:path w="556260" h="454660">
                <a:moveTo>
                  <a:pt x="532000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430400"/>
                </a:lnTo>
                <a:lnTo>
                  <a:pt x="1886" y="439742"/>
                </a:lnTo>
                <a:lnTo>
                  <a:pt x="7029" y="447371"/>
                </a:lnTo>
                <a:lnTo>
                  <a:pt x="14658" y="452514"/>
                </a:lnTo>
                <a:lnTo>
                  <a:pt x="24000" y="454400"/>
                </a:lnTo>
                <a:lnTo>
                  <a:pt x="532000" y="454400"/>
                </a:lnTo>
                <a:lnTo>
                  <a:pt x="541342" y="452514"/>
                </a:lnTo>
                <a:lnTo>
                  <a:pt x="548971" y="447371"/>
                </a:lnTo>
                <a:lnTo>
                  <a:pt x="554114" y="439742"/>
                </a:lnTo>
                <a:lnTo>
                  <a:pt x="556000" y="430400"/>
                </a:lnTo>
                <a:lnTo>
                  <a:pt x="556000" y="425599"/>
                </a:lnTo>
                <a:lnTo>
                  <a:pt x="28801" y="425599"/>
                </a:lnTo>
                <a:lnTo>
                  <a:pt x="28801" y="28799"/>
                </a:lnTo>
                <a:lnTo>
                  <a:pt x="556000" y="28799"/>
                </a:lnTo>
                <a:lnTo>
                  <a:pt x="556000" y="24000"/>
                </a:lnTo>
                <a:lnTo>
                  <a:pt x="554114" y="14658"/>
                </a:lnTo>
                <a:lnTo>
                  <a:pt x="548971" y="7029"/>
                </a:lnTo>
                <a:lnTo>
                  <a:pt x="541342" y="1886"/>
                </a:lnTo>
                <a:lnTo>
                  <a:pt x="532000" y="0"/>
                </a:lnTo>
                <a:close/>
              </a:path>
              <a:path w="556260" h="454660">
                <a:moveTo>
                  <a:pt x="556000" y="28799"/>
                </a:moveTo>
                <a:lnTo>
                  <a:pt x="527201" y="28799"/>
                </a:lnTo>
                <a:lnTo>
                  <a:pt x="527201" y="425599"/>
                </a:lnTo>
                <a:lnTo>
                  <a:pt x="556000" y="425599"/>
                </a:lnTo>
                <a:lnTo>
                  <a:pt x="556000" y="28799"/>
                </a:lnTo>
                <a:close/>
              </a:path>
              <a:path w="556260" h="454660">
                <a:moveTo>
                  <a:pt x="517599" y="38400"/>
                </a:moveTo>
                <a:lnTo>
                  <a:pt x="38400" y="38400"/>
                </a:lnTo>
                <a:lnTo>
                  <a:pt x="38400" y="415999"/>
                </a:lnTo>
                <a:lnTo>
                  <a:pt x="517599" y="415999"/>
                </a:lnTo>
                <a:lnTo>
                  <a:pt x="517599" y="406400"/>
                </a:lnTo>
                <a:lnTo>
                  <a:pt x="48000" y="406400"/>
                </a:lnTo>
                <a:lnTo>
                  <a:pt x="48000" y="48000"/>
                </a:lnTo>
                <a:lnTo>
                  <a:pt x="517599" y="48000"/>
                </a:lnTo>
                <a:lnTo>
                  <a:pt x="517599" y="38400"/>
                </a:lnTo>
                <a:close/>
              </a:path>
              <a:path w="556260" h="454660">
                <a:moveTo>
                  <a:pt x="517599" y="48000"/>
                </a:moveTo>
                <a:lnTo>
                  <a:pt x="508000" y="48000"/>
                </a:lnTo>
                <a:lnTo>
                  <a:pt x="508000" y="406400"/>
                </a:lnTo>
                <a:lnTo>
                  <a:pt x="517599" y="406400"/>
                </a:lnTo>
                <a:lnTo>
                  <a:pt x="517599" y="4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73200" y="3733801"/>
            <a:ext cx="6197600" cy="1906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263" y="338327"/>
            <a:ext cx="7735824" cy="4511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9363" y="1565148"/>
            <a:ext cx="353250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 b="1">
                <a:solidFill>
                  <a:srgbClr val="0000FF"/>
                </a:solidFill>
                <a:latin typeface="Arial"/>
                <a:cs typeface="Arial"/>
              </a:rPr>
              <a:t>CNN </a:t>
            </a:r>
            <a:r>
              <a:rPr dirty="0" spc="-35" b="1">
                <a:solidFill>
                  <a:srgbClr val="0000FF"/>
                </a:solidFill>
                <a:latin typeface="Arial"/>
                <a:cs typeface="Arial"/>
              </a:rPr>
              <a:t>on </a:t>
            </a:r>
            <a:r>
              <a:rPr dirty="0" b="1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dirty="0" spc="-12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pc="-15" b="1">
                <a:solidFill>
                  <a:srgbClr val="0000FF"/>
                </a:solidFill>
                <a:latin typeface="Arial"/>
                <a:cs typeface="Arial"/>
              </a:rPr>
              <a:t>image: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73615" y="6699893"/>
            <a:ext cx="161417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290910" y="5636259"/>
            <a:ext cx="8622030" cy="934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100"/>
              </a:spcBef>
            </a:pPr>
            <a:r>
              <a:rPr dirty="0" sz="2800" spc="-80">
                <a:latin typeface="Arial"/>
                <a:cs typeface="Arial"/>
              </a:rPr>
              <a:t>Goal </a:t>
            </a:r>
            <a:r>
              <a:rPr dirty="0" sz="2800" spc="-85">
                <a:latin typeface="Arial"/>
                <a:cs typeface="Arial"/>
              </a:rPr>
              <a:t>is </a:t>
            </a:r>
            <a:r>
              <a:rPr dirty="0" sz="2800" spc="15">
                <a:latin typeface="Arial"/>
                <a:cs typeface="Arial"/>
              </a:rPr>
              <a:t>to </a:t>
            </a:r>
            <a:r>
              <a:rPr dirty="0" sz="2800" spc="-90">
                <a:latin typeface="Arial"/>
                <a:cs typeface="Arial"/>
              </a:rPr>
              <a:t>generalize </a:t>
            </a:r>
            <a:r>
              <a:rPr dirty="0" sz="2800" spc="-40">
                <a:latin typeface="Arial"/>
                <a:cs typeface="Arial"/>
              </a:rPr>
              <a:t>convolutions </a:t>
            </a:r>
            <a:r>
              <a:rPr dirty="0" sz="2800" spc="-30">
                <a:latin typeface="Arial"/>
                <a:cs typeface="Arial"/>
              </a:rPr>
              <a:t>beyond </a:t>
            </a:r>
            <a:r>
              <a:rPr dirty="0" sz="2800" spc="-60">
                <a:latin typeface="Arial"/>
                <a:cs typeface="Arial"/>
              </a:rPr>
              <a:t>simple </a:t>
            </a:r>
            <a:r>
              <a:rPr dirty="0" sz="2800" spc="-50">
                <a:latin typeface="Arial"/>
                <a:cs typeface="Arial"/>
              </a:rPr>
              <a:t>lattices  </a:t>
            </a:r>
            <a:r>
              <a:rPr dirty="0" sz="2800" spc="-85">
                <a:latin typeface="Arial"/>
                <a:cs typeface="Arial"/>
              </a:rPr>
              <a:t>Leverage </a:t>
            </a:r>
            <a:r>
              <a:rPr dirty="0" sz="2800" spc="-30">
                <a:latin typeface="Arial"/>
                <a:cs typeface="Arial"/>
              </a:rPr>
              <a:t>node </a:t>
            </a:r>
            <a:r>
              <a:rPr dirty="0" sz="2800" spc="-40">
                <a:latin typeface="Arial"/>
                <a:cs typeface="Arial"/>
              </a:rPr>
              <a:t>features/attributes </a:t>
            </a:r>
            <a:r>
              <a:rPr dirty="0" sz="2800" spc="-65">
                <a:latin typeface="Arial"/>
                <a:cs typeface="Arial"/>
              </a:rPr>
              <a:t>(e.g., </a:t>
            </a:r>
            <a:r>
              <a:rPr dirty="0" sz="2800" spc="-20">
                <a:latin typeface="Arial"/>
                <a:cs typeface="Arial"/>
              </a:rPr>
              <a:t>text,</a:t>
            </a:r>
            <a:r>
              <a:rPr dirty="0" sz="2800" spc="260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images)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53847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680972"/>
            <a:ext cx="55829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 b="1">
                <a:solidFill>
                  <a:srgbClr val="C00000"/>
                </a:solidFill>
                <a:latin typeface="Arial"/>
                <a:cs typeface="Arial"/>
              </a:rPr>
              <a:t>But </a:t>
            </a:r>
            <a:r>
              <a:rPr dirty="0" spc="-25" b="1">
                <a:solidFill>
                  <a:srgbClr val="C00000"/>
                </a:solidFill>
                <a:latin typeface="Arial"/>
                <a:cs typeface="Arial"/>
              </a:rPr>
              <a:t>our </a:t>
            </a:r>
            <a:r>
              <a:rPr dirty="0" spc="-15" b="1">
                <a:solidFill>
                  <a:srgbClr val="C00000"/>
                </a:solidFill>
                <a:latin typeface="Arial"/>
                <a:cs typeface="Arial"/>
              </a:rPr>
              <a:t>graphs </a:t>
            </a:r>
            <a:r>
              <a:rPr dirty="0" spc="-10" b="1">
                <a:solidFill>
                  <a:srgbClr val="C00000"/>
                </a:solidFill>
                <a:latin typeface="Arial"/>
                <a:cs typeface="Arial"/>
              </a:rPr>
              <a:t>look </a:t>
            </a:r>
            <a:r>
              <a:rPr dirty="0" spc="-5" b="1">
                <a:solidFill>
                  <a:srgbClr val="C00000"/>
                </a:solidFill>
                <a:latin typeface="Arial"/>
                <a:cs typeface="Arial"/>
              </a:rPr>
              <a:t>like</a:t>
            </a:r>
            <a:r>
              <a:rPr dirty="0" spc="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pc="-65" b="1">
                <a:solidFill>
                  <a:srgbClr val="C00000"/>
                </a:solidFill>
                <a:latin typeface="Arial"/>
                <a:cs typeface="Arial"/>
              </a:rPr>
              <a:t>this:</a:t>
            </a:r>
          </a:p>
        </p:txBody>
      </p:sp>
      <p:sp>
        <p:nvSpPr>
          <p:cNvPr id="4" name="object 4"/>
          <p:cNvSpPr/>
          <p:nvPr/>
        </p:nvSpPr>
        <p:spPr>
          <a:xfrm>
            <a:off x="1424120" y="3342191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8"/>
                </a:lnTo>
                <a:lnTo>
                  <a:pt x="0" y="78385"/>
                </a:lnTo>
                <a:lnTo>
                  <a:pt x="5741" y="107881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5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75262" y="3930079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5" y="22958"/>
                </a:lnTo>
                <a:lnTo>
                  <a:pt x="5741" y="48888"/>
                </a:lnTo>
                <a:lnTo>
                  <a:pt x="0" y="78384"/>
                </a:lnTo>
                <a:lnTo>
                  <a:pt x="5741" y="107881"/>
                </a:lnTo>
                <a:lnTo>
                  <a:pt x="22965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4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51504" y="4188749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8"/>
                </a:lnTo>
                <a:lnTo>
                  <a:pt x="0" y="78385"/>
                </a:lnTo>
                <a:lnTo>
                  <a:pt x="5741" y="107881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5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57297" y="3710600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7" y="0"/>
                </a:moveTo>
                <a:lnTo>
                  <a:pt x="48903" y="5739"/>
                </a:lnTo>
                <a:lnTo>
                  <a:pt x="22965" y="22958"/>
                </a:lnTo>
                <a:lnTo>
                  <a:pt x="5741" y="48889"/>
                </a:lnTo>
                <a:lnTo>
                  <a:pt x="0" y="78385"/>
                </a:lnTo>
                <a:lnTo>
                  <a:pt x="5741" y="107882"/>
                </a:lnTo>
                <a:lnTo>
                  <a:pt x="22965" y="133812"/>
                </a:lnTo>
                <a:lnTo>
                  <a:pt x="48903" y="151031"/>
                </a:lnTo>
                <a:lnTo>
                  <a:pt x="78407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2"/>
                </a:lnTo>
                <a:lnTo>
                  <a:pt x="156816" y="78385"/>
                </a:lnTo>
                <a:lnTo>
                  <a:pt x="151075" y="48889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7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15926" y="3593024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8"/>
                </a:lnTo>
                <a:lnTo>
                  <a:pt x="0" y="78384"/>
                </a:lnTo>
                <a:lnTo>
                  <a:pt x="5741" y="107881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4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94570" y="2542664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4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9"/>
                </a:lnTo>
                <a:lnTo>
                  <a:pt x="0" y="78385"/>
                </a:lnTo>
                <a:lnTo>
                  <a:pt x="5741" y="107882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2"/>
                </a:lnTo>
                <a:lnTo>
                  <a:pt x="156816" y="78385"/>
                </a:lnTo>
                <a:lnTo>
                  <a:pt x="151075" y="48889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17975" y="4282811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8"/>
                </a:lnTo>
                <a:lnTo>
                  <a:pt x="0" y="78385"/>
                </a:lnTo>
                <a:lnTo>
                  <a:pt x="5741" y="107881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5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1968" y="3224613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5" y="22958"/>
                </a:lnTo>
                <a:lnTo>
                  <a:pt x="5741" y="48889"/>
                </a:lnTo>
                <a:lnTo>
                  <a:pt x="0" y="78385"/>
                </a:lnTo>
                <a:lnTo>
                  <a:pt x="5741" y="107882"/>
                </a:lnTo>
                <a:lnTo>
                  <a:pt x="22965" y="133812"/>
                </a:lnTo>
                <a:lnTo>
                  <a:pt x="48903" y="151031"/>
                </a:lnTo>
                <a:lnTo>
                  <a:pt x="78408" y="156771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2"/>
                </a:lnTo>
                <a:lnTo>
                  <a:pt x="156816" y="78385"/>
                </a:lnTo>
                <a:lnTo>
                  <a:pt x="151075" y="48889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14113" y="3044328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4">
                <a:moveTo>
                  <a:pt x="78408" y="0"/>
                </a:moveTo>
                <a:lnTo>
                  <a:pt x="48902" y="5739"/>
                </a:lnTo>
                <a:lnTo>
                  <a:pt x="22963" y="22958"/>
                </a:lnTo>
                <a:lnTo>
                  <a:pt x="5740" y="48889"/>
                </a:lnTo>
                <a:lnTo>
                  <a:pt x="0" y="78385"/>
                </a:lnTo>
                <a:lnTo>
                  <a:pt x="5740" y="107882"/>
                </a:lnTo>
                <a:lnTo>
                  <a:pt x="22963" y="133812"/>
                </a:lnTo>
                <a:lnTo>
                  <a:pt x="48902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2"/>
                </a:lnTo>
                <a:lnTo>
                  <a:pt x="156817" y="78385"/>
                </a:lnTo>
                <a:lnTo>
                  <a:pt x="151075" y="48889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7647" y="3316318"/>
            <a:ext cx="527685" cy="91440"/>
          </a:xfrm>
          <a:custGeom>
            <a:avLst/>
            <a:gdLst/>
            <a:ahLst/>
            <a:cxnLst/>
            <a:rect l="l" t="t" r="r" b="b"/>
            <a:pathLst>
              <a:path w="527685" h="91439">
                <a:moveTo>
                  <a:pt x="0" y="0"/>
                </a:moveTo>
                <a:lnTo>
                  <a:pt x="527609" y="90939"/>
                </a:lnTo>
              </a:path>
            </a:pathLst>
          </a:custGeom>
          <a:ln w="2351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34928" y="3380029"/>
            <a:ext cx="104775" cy="551815"/>
          </a:xfrm>
          <a:custGeom>
            <a:avLst/>
            <a:gdLst/>
            <a:ahLst/>
            <a:cxnLst/>
            <a:rect l="l" t="t" r="r" b="b"/>
            <a:pathLst>
              <a:path w="104775" h="551814">
                <a:moveTo>
                  <a:pt x="0" y="0"/>
                </a:moveTo>
                <a:lnTo>
                  <a:pt x="104188" y="551403"/>
                </a:lnTo>
              </a:path>
            </a:pathLst>
          </a:custGeom>
          <a:ln w="23522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87869" y="2660981"/>
            <a:ext cx="1017905" cy="602615"/>
          </a:xfrm>
          <a:custGeom>
            <a:avLst/>
            <a:gdLst/>
            <a:ahLst/>
            <a:cxnLst/>
            <a:rect l="l" t="t" r="r" b="b"/>
            <a:pathLst>
              <a:path w="1017905" h="602614">
                <a:moveTo>
                  <a:pt x="0" y="602084"/>
                </a:moveTo>
                <a:lnTo>
                  <a:pt x="1017614" y="0"/>
                </a:lnTo>
              </a:path>
            </a:pathLst>
          </a:custGeom>
          <a:ln w="23517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74530" y="3153796"/>
            <a:ext cx="546100" cy="236220"/>
          </a:xfrm>
          <a:custGeom>
            <a:avLst/>
            <a:gdLst/>
            <a:ahLst/>
            <a:cxnLst/>
            <a:rect l="l" t="t" r="r" b="b"/>
            <a:pathLst>
              <a:path w="546100" h="236220">
                <a:moveTo>
                  <a:pt x="0" y="235697"/>
                </a:moveTo>
                <a:lnTo>
                  <a:pt x="545988" y="0"/>
                </a:lnTo>
              </a:path>
            </a:pathLst>
          </a:custGeom>
          <a:ln w="23516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42288" y="2688628"/>
            <a:ext cx="391160" cy="664845"/>
          </a:xfrm>
          <a:custGeom>
            <a:avLst/>
            <a:gdLst/>
            <a:ahLst/>
            <a:cxnLst/>
            <a:rect l="l" t="t" r="r" b="b"/>
            <a:pathLst>
              <a:path w="391160" h="664845">
                <a:moveTo>
                  <a:pt x="390928" y="0"/>
                </a:moveTo>
                <a:lnTo>
                  <a:pt x="0" y="664369"/>
                </a:lnTo>
              </a:path>
            </a:pathLst>
          </a:custGeom>
          <a:ln w="23520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04411" y="2692881"/>
            <a:ext cx="156845" cy="358140"/>
          </a:xfrm>
          <a:custGeom>
            <a:avLst/>
            <a:gdLst/>
            <a:ahLst/>
            <a:cxnLst/>
            <a:rect l="l" t="t" r="r" b="b"/>
            <a:pathLst>
              <a:path w="156844" h="358139">
                <a:moveTo>
                  <a:pt x="0" y="0"/>
                </a:moveTo>
                <a:lnTo>
                  <a:pt x="156675" y="357999"/>
                </a:lnTo>
              </a:path>
            </a:pathLst>
          </a:custGeom>
          <a:ln w="2352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53667" y="3199025"/>
            <a:ext cx="121285" cy="513715"/>
          </a:xfrm>
          <a:custGeom>
            <a:avLst/>
            <a:gdLst/>
            <a:ahLst/>
            <a:cxnLst/>
            <a:rect l="l" t="t" r="r" b="b"/>
            <a:pathLst>
              <a:path w="121285" h="513714">
                <a:moveTo>
                  <a:pt x="120889" y="0"/>
                </a:moveTo>
                <a:lnTo>
                  <a:pt x="0" y="513649"/>
                </a:lnTo>
              </a:path>
            </a:pathLst>
          </a:custGeom>
          <a:ln w="23522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12897" y="3685189"/>
            <a:ext cx="504825" cy="90170"/>
          </a:xfrm>
          <a:custGeom>
            <a:avLst/>
            <a:gdLst/>
            <a:ahLst/>
            <a:cxnLst/>
            <a:rect l="l" t="t" r="r" b="b"/>
            <a:pathLst>
              <a:path w="504825" h="90170">
                <a:moveTo>
                  <a:pt x="0" y="90015"/>
                </a:moveTo>
                <a:lnTo>
                  <a:pt x="504243" y="0"/>
                </a:lnTo>
              </a:path>
            </a:pathLst>
          </a:custGeom>
          <a:ln w="2351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77511" y="3855316"/>
            <a:ext cx="277495" cy="440055"/>
          </a:xfrm>
          <a:custGeom>
            <a:avLst/>
            <a:gdLst/>
            <a:ahLst/>
            <a:cxnLst/>
            <a:rect l="l" t="t" r="r" b="b"/>
            <a:pathLst>
              <a:path w="277494" h="440054">
                <a:moveTo>
                  <a:pt x="0" y="0"/>
                </a:moveTo>
                <a:lnTo>
                  <a:pt x="277063" y="439548"/>
                </a:lnTo>
              </a:path>
            </a:pathLst>
          </a:custGeom>
          <a:ln w="23520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72158" y="3855040"/>
            <a:ext cx="221615" cy="346075"/>
          </a:xfrm>
          <a:custGeom>
            <a:avLst/>
            <a:gdLst/>
            <a:ahLst/>
            <a:cxnLst/>
            <a:rect l="l" t="t" r="r" b="b"/>
            <a:pathLst>
              <a:path w="221614" h="346075">
                <a:moveTo>
                  <a:pt x="221299" y="0"/>
                </a:moveTo>
                <a:lnTo>
                  <a:pt x="0" y="346038"/>
                </a:lnTo>
              </a:path>
            </a:pathLst>
          </a:custGeom>
          <a:ln w="23520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67042" y="3465152"/>
            <a:ext cx="404495" cy="279400"/>
          </a:xfrm>
          <a:custGeom>
            <a:avLst/>
            <a:gdLst/>
            <a:ahLst/>
            <a:cxnLst/>
            <a:rect l="l" t="t" r="r" b="b"/>
            <a:pathLst>
              <a:path w="404494" h="279400">
                <a:moveTo>
                  <a:pt x="0" y="0"/>
                </a:moveTo>
                <a:lnTo>
                  <a:pt x="404147" y="279257"/>
                </a:lnTo>
              </a:path>
            </a:pathLst>
          </a:custGeom>
          <a:ln w="23517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22867" y="3496292"/>
            <a:ext cx="187325" cy="695325"/>
          </a:xfrm>
          <a:custGeom>
            <a:avLst/>
            <a:gdLst/>
            <a:ahLst/>
            <a:cxnLst/>
            <a:rect l="l" t="t" r="r" b="b"/>
            <a:pathLst>
              <a:path w="187325" h="695325">
                <a:moveTo>
                  <a:pt x="0" y="0"/>
                </a:moveTo>
                <a:lnTo>
                  <a:pt x="186705" y="695126"/>
                </a:lnTo>
              </a:path>
            </a:pathLst>
          </a:custGeom>
          <a:ln w="23522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28071" y="4033256"/>
            <a:ext cx="628015" cy="209550"/>
          </a:xfrm>
          <a:custGeom>
            <a:avLst/>
            <a:gdLst/>
            <a:ahLst/>
            <a:cxnLst/>
            <a:rect l="l" t="t" r="r" b="b"/>
            <a:pathLst>
              <a:path w="628014" h="209550">
                <a:moveTo>
                  <a:pt x="0" y="0"/>
                </a:moveTo>
                <a:lnTo>
                  <a:pt x="627438" y="209084"/>
                </a:lnTo>
              </a:path>
            </a:pathLst>
          </a:custGeom>
          <a:ln w="23516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24120" y="3342191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8"/>
                </a:lnTo>
                <a:lnTo>
                  <a:pt x="0" y="78385"/>
                </a:lnTo>
                <a:lnTo>
                  <a:pt x="5741" y="107881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5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75262" y="3930079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5" y="22958"/>
                </a:lnTo>
                <a:lnTo>
                  <a:pt x="5741" y="48888"/>
                </a:lnTo>
                <a:lnTo>
                  <a:pt x="0" y="78384"/>
                </a:lnTo>
                <a:lnTo>
                  <a:pt x="5741" y="107881"/>
                </a:lnTo>
                <a:lnTo>
                  <a:pt x="22965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4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51504" y="4188749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8"/>
                </a:lnTo>
                <a:lnTo>
                  <a:pt x="0" y="78385"/>
                </a:lnTo>
                <a:lnTo>
                  <a:pt x="5741" y="107881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5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57297" y="3710600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7" y="0"/>
                </a:moveTo>
                <a:lnTo>
                  <a:pt x="48903" y="5739"/>
                </a:lnTo>
                <a:lnTo>
                  <a:pt x="22965" y="22958"/>
                </a:lnTo>
                <a:lnTo>
                  <a:pt x="5741" y="48889"/>
                </a:lnTo>
                <a:lnTo>
                  <a:pt x="0" y="78385"/>
                </a:lnTo>
                <a:lnTo>
                  <a:pt x="5741" y="107882"/>
                </a:lnTo>
                <a:lnTo>
                  <a:pt x="22965" y="133812"/>
                </a:lnTo>
                <a:lnTo>
                  <a:pt x="48903" y="151031"/>
                </a:lnTo>
                <a:lnTo>
                  <a:pt x="78407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2"/>
                </a:lnTo>
                <a:lnTo>
                  <a:pt x="156816" y="78385"/>
                </a:lnTo>
                <a:lnTo>
                  <a:pt x="151075" y="48889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7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615926" y="3593024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8"/>
                </a:lnTo>
                <a:lnTo>
                  <a:pt x="0" y="78384"/>
                </a:lnTo>
                <a:lnTo>
                  <a:pt x="5741" y="107881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4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894570" y="2542664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4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9"/>
                </a:lnTo>
                <a:lnTo>
                  <a:pt x="0" y="78385"/>
                </a:lnTo>
                <a:lnTo>
                  <a:pt x="5741" y="107882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2"/>
                </a:lnTo>
                <a:lnTo>
                  <a:pt x="156816" y="78385"/>
                </a:lnTo>
                <a:lnTo>
                  <a:pt x="151075" y="48889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17975" y="4282811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4" y="22958"/>
                </a:lnTo>
                <a:lnTo>
                  <a:pt x="5741" y="48888"/>
                </a:lnTo>
                <a:lnTo>
                  <a:pt x="0" y="78385"/>
                </a:lnTo>
                <a:lnTo>
                  <a:pt x="5741" y="107881"/>
                </a:lnTo>
                <a:lnTo>
                  <a:pt x="22964" y="133812"/>
                </a:lnTo>
                <a:lnTo>
                  <a:pt x="48903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1"/>
                </a:lnTo>
                <a:lnTo>
                  <a:pt x="156816" y="78385"/>
                </a:lnTo>
                <a:lnTo>
                  <a:pt x="151075" y="48888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1968" y="3224613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5">
                <a:moveTo>
                  <a:pt x="78408" y="0"/>
                </a:moveTo>
                <a:lnTo>
                  <a:pt x="48903" y="5739"/>
                </a:lnTo>
                <a:lnTo>
                  <a:pt x="22965" y="22958"/>
                </a:lnTo>
                <a:lnTo>
                  <a:pt x="5741" y="48889"/>
                </a:lnTo>
                <a:lnTo>
                  <a:pt x="0" y="78385"/>
                </a:lnTo>
                <a:lnTo>
                  <a:pt x="5741" y="107882"/>
                </a:lnTo>
                <a:lnTo>
                  <a:pt x="22965" y="133812"/>
                </a:lnTo>
                <a:lnTo>
                  <a:pt x="48903" y="151031"/>
                </a:lnTo>
                <a:lnTo>
                  <a:pt x="78408" y="156771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2"/>
                </a:lnTo>
                <a:lnTo>
                  <a:pt x="156816" y="78385"/>
                </a:lnTo>
                <a:lnTo>
                  <a:pt x="151075" y="48889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114113" y="3044328"/>
            <a:ext cx="156845" cy="156845"/>
          </a:xfrm>
          <a:custGeom>
            <a:avLst/>
            <a:gdLst/>
            <a:ahLst/>
            <a:cxnLst/>
            <a:rect l="l" t="t" r="r" b="b"/>
            <a:pathLst>
              <a:path w="156844" h="156844">
                <a:moveTo>
                  <a:pt x="78408" y="0"/>
                </a:moveTo>
                <a:lnTo>
                  <a:pt x="48902" y="5739"/>
                </a:lnTo>
                <a:lnTo>
                  <a:pt x="22963" y="22958"/>
                </a:lnTo>
                <a:lnTo>
                  <a:pt x="5740" y="48889"/>
                </a:lnTo>
                <a:lnTo>
                  <a:pt x="0" y="78385"/>
                </a:lnTo>
                <a:lnTo>
                  <a:pt x="5740" y="107882"/>
                </a:lnTo>
                <a:lnTo>
                  <a:pt x="22963" y="133812"/>
                </a:lnTo>
                <a:lnTo>
                  <a:pt x="48902" y="151031"/>
                </a:lnTo>
                <a:lnTo>
                  <a:pt x="78408" y="156770"/>
                </a:lnTo>
                <a:lnTo>
                  <a:pt x="107913" y="151031"/>
                </a:lnTo>
                <a:lnTo>
                  <a:pt x="133851" y="133812"/>
                </a:lnTo>
                <a:lnTo>
                  <a:pt x="151075" y="107882"/>
                </a:lnTo>
                <a:lnTo>
                  <a:pt x="156817" y="78385"/>
                </a:lnTo>
                <a:lnTo>
                  <a:pt x="151075" y="48889"/>
                </a:lnTo>
                <a:lnTo>
                  <a:pt x="133851" y="22958"/>
                </a:lnTo>
                <a:lnTo>
                  <a:pt x="107913" y="5739"/>
                </a:lnTo>
                <a:lnTo>
                  <a:pt x="78408" y="0"/>
                </a:lnTo>
                <a:close/>
              </a:path>
            </a:pathLst>
          </a:custGeom>
          <a:solidFill>
            <a:srgbClr val="499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97647" y="3316318"/>
            <a:ext cx="527685" cy="91440"/>
          </a:xfrm>
          <a:custGeom>
            <a:avLst/>
            <a:gdLst/>
            <a:ahLst/>
            <a:cxnLst/>
            <a:rect l="l" t="t" r="r" b="b"/>
            <a:pathLst>
              <a:path w="527685" h="91439">
                <a:moveTo>
                  <a:pt x="0" y="0"/>
                </a:moveTo>
                <a:lnTo>
                  <a:pt x="527609" y="90939"/>
                </a:lnTo>
              </a:path>
            </a:pathLst>
          </a:custGeom>
          <a:ln w="2351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34928" y="3380029"/>
            <a:ext cx="104775" cy="551815"/>
          </a:xfrm>
          <a:custGeom>
            <a:avLst/>
            <a:gdLst/>
            <a:ahLst/>
            <a:cxnLst/>
            <a:rect l="l" t="t" r="r" b="b"/>
            <a:pathLst>
              <a:path w="104775" h="551814">
                <a:moveTo>
                  <a:pt x="0" y="0"/>
                </a:moveTo>
                <a:lnTo>
                  <a:pt x="104188" y="551403"/>
                </a:lnTo>
              </a:path>
            </a:pathLst>
          </a:custGeom>
          <a:ln w="23522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87869" y="2660981"/>
            <a:ext cx="1017905" cy="602615"/>
          </a:xfrm>
          <a:custGeom>
            <a:avLst/>
            <a:gdLst/>
            <a:ahLst/>
            <a:cxnLst/>
            <a:rect l="l" t="t" r="r" b="b"/>
            <a:pathLst>
              <a:path w="1017905" h="602614">
                <a:moveTo>
                  <a:pt x="0" y="602084"/>
                </a:moveTo>
                <a:lnTo>
                  <a:pt x="1017614" y="0"/>
                </a:lnTo>
              </a:path>
            </a:pathLst>
          </a:custGeom>
          <a:ln w="23517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74530" y="3153796"/>
            <a:ext cx="546100" cy="236220"/>
          </a:xfrm>
          <a:custGeom>
            <a:avLst/>
            <a:gdLst/>
            <a:ahLst/>
            <a:cxnLst/>
            <a:rect l="l" t="t" r="r" b="b"/>
            <a:pathLst>
              <a:path w="546100" h="236220">
                <a:moveTo>
                  <a:pt x="0" y="235697"/>
                </a:moveTo>
                <a:lnTo>
                  <a:pt x="545988" y="0"/>
                </a:lnTo>
              </a:path>
            </a:pathLst>
          </a:custGeom>
          <a:ln w="23516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542288" y="2688628"/>
            <a:ext cx="391160" cy="664845"/>
          </a:xfrm>
          <a:custGeom>
            <a:avLst/>
            <a:gdLst/>
            <a:ahLst/>
            <a:cxnLst/>
            <a:rect l="l" t="t" r="r" b="b"/>
            <a:pathLst>
              <a:path w="391160" h="664845">
                <a:moveTo>
                  <a:pt x="390928" y="0"/>
                </a:moveTo>
                <a:lnTo>
                  <a:pt x="0" y="664369"/>
                </a:lnTo>
              </a:path>
            </a:pathLst>
          </a:custGeom>
          <a:ln w="23520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004411" y="2692881"/>
            <a:ext cx="156845" cy="358140"/>
          </a:xfrm>
          <a:custGeom>
            <a:avLst/>
            <a:gdLst/>
            <a:ahLst/>
            <a:cxnLst/>
            <a:rect l="l" t="t" r="r" b="b"/>
            <a:pathLst>
              <a:path w="156844" h="358139">
                <a:moveTo>
                  <a:pt x="0" y="0"/>
                </a:moveTo>
                <a:lnTo>
                  <a:pt x="156675" y="357999"/>
                </a:lnTo>
              </a:path>
            </a:pathLst>
          </a:custGeom>
          <a:ln w="2352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53667" y="3199025"/>
            <a:ext cx="121285" cy="513715"/>
          </a:xfrm>
          <a:custGeom>
            <a:avLst/>
            <a:gdLst/>
            <a:ahLst/>
            <a:cxnLst/>
            <a:rect l="l" t="t" r="r" b="b"/>
            <a:pathLst>
              <a:path w="121285" h="513714">
                <a:moveTo>
                  <a:pt x="120889" y="0"/>
                </a:moveTo>
                <a:lnTo>
                  <a:pt x="0" y="513649"/>
                </a:lnTo>
              </a:path>
            </a:pathLst>
          </a:custGeom>
          <a:ln w="23522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112897" y="3685189"/>
            <a:ext cx="504825" cy="90170"/>
          </a:xfrm>
          <a:custGeom>
            <a:avLst/>
            <a:gdLst/>
            <a:ahLst/>
            <a:cxnLst/>
            <a:rect l="l" t="t" r="r" b="b"/>
            <a:pathLst>
              <a:path w="504825" h="90170">
                <a:moveTo>
                  <a:pt x="0" y="90015"/>
                </a:moveTo>
                <a:lnTo>
                  <a:pt x="504243" y="0"/>
                </a:lnTo>
              </a:path>
            </a:pathLst>
          </a:custGeom>
          <a:ln w="2351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077511" y="3855316"/>
            <a:ext cx="277495" cy="440055"/>
          </a:xfrm>
          <a:custGeom>
            <a:avLst/>
            <a:gdLst/>
            <a:ahLst/>
            <a:cxnLst/>
            <a:rect l="l" t="t" r="r" b="b"/>
            <a:pathLst>
              <a:path w="277494" h="440054">
                <a:moveTo>
                  <a:pt x="0" y="0"/>
                </a:moveTo>
                <a:lnTo>
                  <a:pt x="277063" y="439548"/>
                </a:lnTo>
              </a:path>
            </a:pathLst>
          </a:custGeom>
          <a:ln w="23520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72158" y="3855040"/>
            <a:ext cx="221615" cy="346075"/>
          </a:xfrm>
          <a:custGeom>
            <a:avLst/>
            <a:gdLst/>
            <a:ahLst/>
            <a:cxnLst/>
            <a:rect l="l" t="t" r="r" b="b"/>
            <a:pathLst>
              <a:path w="221614" h="346075">
                <a:moveTo>
                  <a:pt x="221299" y="0"/>
                </a:moveTo>
                <a:lnTo>
                  <a:pt x="0" y="346038"/>
                </a:lnTo>
              </a:path>
            </a:pathLst>
          </a:custGeom>
          <a:ln w="23520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567042" y="3465152"/>
            <a:ext cx="404495" cy="279400"/>
          </a:xfrm>
          <a:custGeom>
            <a:avLst/>
            <a:gdLst/>
            <a:ahLst/>
            <a:cxnLst/>
            <a:rect l="l" t="t" r="r" b="b"/>
            <a:pathLst>
              <a:path w="404494" h="279400">
                <a:moveTo>
                  <a:pt x="0" y="0"/>
                </a:moveTo>
                <a:lnTo>
                  <a:pt x="404147" y="279257"/>
                </a:lnTo>
              </a:path>
            </a:pathLst>
          </a:custGeom>
          <a:ln w="23517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522867" y="3496292"/>
            <a:ext cx="187325" cy="695325"/>
          </a:xfrm>
          <a:custGeom>
            <a:avLst/>
            <a:gdLst/>
            <a:ahLst/>
            <a:cxnLst/>
            <a:rect l="l" t="t" r="r" b="b"/>
            <a:pathLst>
              <a:path w="187325" h="695325">
                <a:moveTo>
                  <a:pt x="0" y="0"/>
                </a:moveTo>
                <a:lnTo>
                  <a:pt x="186705" y="695126"/>
                </a:lnTo>
              </a:path>
            </a:pathLst>
          </a:custGeom>
          <a:ln w="23522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28071" y="4033256"/>
            <a:ext cx="628015" cy="209550"/>
          </a:xfrm>
          <a:custGeom>
            <a:avLst/>
            <a:gdLst/>
            <a:ahLst/>
            <a:cxnLst/>
            <a:rect l="l" t="t" r="r" b="b"/>
            <a:pathLst>
              <a:path w="628014" h="209550">
                <a:moveTo>
                  <a:pt x="0" y="0"/>
                </a:moveTo>
                <a:lnTo>
                  <a:pt x="627438" y="209084"/>
                </a:lnTo>
              </a:path>
            </a:pathLst>
          </a:custGeom>
          <a:ln w="23516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54866" y="2214440"/>
            <a:ext cx="4239750" cy="25605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677813" y="2895384"/>
            <a:ext cx="519430" cy="316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55"/>
              </a:lnSpc>
            </a:pPr>
            <a:r>
              <a:rPr dirty="0" sz="2200">
                <a:latin typeface="Arial"/>
                <a:cs typeface="Arial"/>
              </a:rPr>
              <a:t>t</a:t>
            </a:r>
            <a:r>
              <a:rPr dirty="0" sz="2200" spc="5">
                <a:latin typeface="Arial"/>
                <a:cs typeface="Arial"/>
              </a:rPr>
              <a:t>his:</a:t>
            </a:r>
            <a:endParaRPr sz="2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307072" y="2942844"/>
            <a:ext cx="12134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5">
                <a:latin typeface="Arial"/>
                <a:cs typeface="Arial"/>
              </a:rPr>
              <a:t>or</a:t>
            </a:r>
            <a:r>
              <a:rPr dirty="0" sz="3200" spc="-70">
                <a:latin typeface="Arial"/>
                <a:cs typeface="Arial"/>
              </a:rPr>
              <a:t> </a:t>
            </a:r>
            <a:r>
              <a:rPr dirty="0" sz="3200" spc="-45">
                <a:latin typeface="Arial"/>
                <a:cs typeface="Arial"/>
              </a:rPr>
              <a:t>this:</a:t>
            </a:r>
            <a:endParaRPr sz="3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72392" y="4887467"/>
            <a:ext cx="7832725" cy="159258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55600" marR="5080" indent="-342900">
              <a:lnSpc>
                <a:spcPct val="101299"/>
              </a:lnSpc>
              <a:spcBef>
                <a:spcPts val="5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3200" spc="-125">
                <a:latin typeface="Arial"/>
                <a:cs typeface="Arial"/>
              </a:rPr>
              <a:t>There </a:t>
            </a:r>
            <a:r>
              <a:rPr dirty="0" sz="3200" spc="-95">
                <a:latin typeface="Arial"/>
                <a:cs typeface="Arial"/>
              </a:rPr>
              <a:t>is </a:t>
            </a:r>
            <a:r>
              <a:rPr dirty="0" sz="3200" spc="-40">
                <a:latin typeface="Arial"/>
                <a:cs typeface="Arial"/>
              </a:rPr>
              <a:t>no </a:t>
            </a:r>
            <a:r>
              <a:rPr dirty="0" sz="3200" spc="-65">
                <a:latin typeface="Arial"/>
                <a:cs typeface="Arial"/>
              </a:rPr>
              <a:t>fixed </a:t>
            </a:r>
            <a:r>
              <a:rPr dirty="0" sz="3200" spc="-35">
                <a:latin typeface="Arial"/>
                <a:cs typeface="Arial"/>
              </a:rPr>
              <a:t>notion of </a:t>
            </a:r>
            <a:r>
              <a:rPr dirty="0" sz="3200" spc="-65">
                <a:latin typeface="Arial"/>
                <a:cs typeface="Arial"/>
              </a:rPr>
              <a:t>locality </a:t>
            </a:r>
            <a:r>
              <a:rPr dirty="0" sz="3200" spc="-35">
                <a:latin typeface="Arial"/>
                <a:cs typeface="Arial"/>
              </a:rPr>
              <a:t>or </a:t>
            </a:r>
            <a:r>
              <a:rPr dirty="0" sz="3200" spc="-170">
                <a:latin typeface="Arial"/>
                <a:cs typeface="Arial"/>
              </a:rPr>
              <a:t>sliding  </a:t>
            </a:r>
            <a:r>
              <a:rPr dirty="0" sz="3200" spc="-10">
                <a:latin typeface="Arial"/>
                <a:cs typeface="Arial"/>
              </a:rPr>
              <a:t>window </a:t>
            </a:r>
            <a:r>
              <a:rPr dirty="0" sz="3200" spc="-40">
                <a:latin typeface="Arial"/>
                <a:cs typeface="Arial"/>
              </a:rPr>
              <a:t>on </a:t>
            </a:r>
            <a:r>
              <a:rPr dirty="0" sz="3200" spc="-45">
                <a:latin typeface="Arial"/>
                <a:cs typeface="Arial"/>
              </a:rPr>
              <a:t>the</a:t>
            </a:r>
            <a:r>
              <a:rPr dirty="0" sz="3200" spc="-20">
                <a:latin typeface="Arial"/>
                <a:cs typeface="Arial"/>
              </a:rPr>
              <a:t> </a:t>
            </a:r>
            <a:r>
              <a:rPr dirty="0" sz="3200" spc="-40">
                <a:latin typeface="Arial"/>
                <a:cs typeface="Arial"/>
              </a:rPr>
              <a:t>graph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3200" spc="-60">
                <a:latin typeface="Arial"/>
                <a:cs typeface="Arial"/>
              </a:rPr>
              <a:t>Graph </a:t>
            </a:r>
            <a:r>
              <a:rPr dirty="0" sz="3200" spc="-95">
                <a:latin typeface="Arial"/>
                <a:cs typeface="Arial"/>
              </a:rPr>
              <a:t>is </a:t>
            </a:r>
            <a:r>
              <a:rPr dirty="0" sz="3200" spc="-40">
                <a:latin typeface="Arial"/>
                <a:cs typeface="Arial"/>
              </a:rPr>
              <a:t>permutation</a:t>
            </a:r>
            <a:r>
              <a:rPr dirty="0" sz="3200" spc="80">
                <a:latin typeface="Arial"/>
                <a:cs typeface="Arial"/>
              </a:rPr>
              <a:t> </a:t>
            </a:r>
            <a:r>
              <a:rPr dirty="0" sz="3200" spc="-85">
                <a:latin typeface="Arial"/>
                <a:cs typeface="Arial"/>
              </a:rPr>
              <a:t>invariant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695164" y="2925566"/>
            <a:ext cx="1249045" cy="1088390"/>
          </a:xfrm>
          <a:custGeom>
            <a:avLst/>
            <a:gdLst/>
            <a:ahLst/>
            <a:cxnLst/>
            <a:rect l="l" t="t" r="r" b="b"/>
            <a:pathLst>
              <a:path w="1249045" h="1088389">
                <a:moveTo>
                  <a:pt x="1220191" y="0"/>
                </a:moveTo>
                <a:lnTo>
                  <a:pt x="28575" y="0"/>
                </a:lnTo>
                <a:lnTo>
                  <a:pt x="17452" y="2245"/>
                </a:lnTo>
                <a:lnTo>
                  <a:pt x="8369" y="8369"/>
                </a:lnTo>
                <a:lnTo>
                  <a:pt x="2245" y="17452"/>
                </a:lnTo>
                <a:lnTo>
                  <a:pt x="0" y="28575"/>
                </a:lnTo>
                <a:lnTo>
                  <a:pt x="0" y="1059619"/>
                </a:lnTo>
                <a:lnTo>
                  <a:pt x="2245" y="1070741"/>
                </a:lnTo>
                <a:lnTo>
                  <a:pt x="8369" y="1079824"/>
                </a:lnTo>
                <a:lnTo>
                  <a:pt x="17452" y="1085948"/>
                </a:lnTo>
                <a:lnTo>
                  <a:pt x="28575" y="1088194"/>
                </a:lnTo>
                <a:lnTo>
                  <a:pt x="1220191" y="1088194"/>
                </a:lnTo>
                <a:lnTo>
                  <a:pt x="1231314" y="1085948"/>
                </a:lnTo>
                <a:lnTo>
                  <a:pt x="1240397" y="1079824"/>
                </a:lnTo>
                <a:lnTo>
                  <a:pt x="1246521" y="1070741"/>
                </a:lnTo>
                <a:lnTo>
                  <a:pt x="1248766" y="1059619"/>
                </a:lnTo>
                <a:lnTo>
                  <a:pt x="1248766" y="1053904"/>
                </a:lnTo>
                <a:lnTo>
                  <a:pt x="34290" y="1053904"/>
                </a:lnTo>
                <a:lnTo>
                  <a:pt x="34290" y="34289"/>
                </a:lnTo>
                <a:lnTo>
                  <a:pt x="1248766" y="34289"/>
                </a:lnTo>
                <a:lnTo>
                  <a:pt x="1248766" y="28575"/>
                </a:lnTo>
                <a:lnTo>
                  <a:pt x="1246521" y="17452"/>
                </a:lnTo>
                <a:lnTo>
                  <a:pt x="1240397" y="8369"/>
                </a:lnTo>
                <a:lnTo>
                  <a:pt x="1231314" y="2245"/>
                </a:lnTo>
                <a:lnTo>
                  <a:pt x="1220191" y="0"/>
                </a:lnTo>
                <a:close/>
              </a:path>
              <a:path w="1249045" h="1088389">
                <a:moveTo>
                  <a:pt x="1248766" y="34289"/>
                </a:moveTo>
                <a:lnTo>
                  <a:pt x="1214476" y="34289"/>
                </a:lnTo>
                <a:lnTo>
                  <a:pt x="1214476" y="1053904"/>
                </a:lnTo>
                <a:lnTo>
                  <a:pt x="1248766" y="1053904"/>
                </a:lnTo>
                <a:lnTo>
                  <a:pt x="1248766" y="34289"/>
                </a:lnTo>
                <a:close/>
              </a:path>
              <a:path w="1249045" h="1088389">
                <a:moveTo>
                  <a:pt x="1203046" y="45720"/>
                </a:moveTo>
                <a:lnTo>
                  <a:pt x="45719" y="45720"/>
                </a:lnTo>
                <a:lnTo>
                  <a:pt x="45719" y="1042474"/>
                </a:lnTo>
                <a:lnTo>
                  <a:pt x="1203046" y="1042474"/>
                </a:lnTo>
                <a:lnTo>
                  <a:pt x="1203046" y="1031044"/>
                </a:lnTo>
                <a:lnTo>
                  <a:pt x="57150" y="1031044"/>
                </a:lnTo>
                <a:lnTo>
                  <a:pt x="57150" y="57150"/>
                </a:lnTo>
                <a:lnTo>
                  <a:pt x="1203046" y="57150"/>
                </a:lnTo>
                <a:lnTo>
                  <a:pt x="1203046" y="45720"/>
                </a:lnTo>
                <a:close/>
              </a:path>
              <a:path w="1249045" h="1088389">
                <a:moveTo>
                  <a:pt x="1203046" y="57150"/>
                </a:moveTo>
                <a:lnTo>
                  <a:pt x="1191616" y="57150"/>
                </a:lnTo>
                <a:lnTo>
                  <a:pt x="1191616" y="1031044"/>
                </a:lnTo>
                <a:lnTo>
                  <a:pt x="1203046" y="1031044"/>
                </a:lnTo>
                <a:lnTo>
                  <a:pt x="1203046" y="5715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673615" y="6699893"/>
            <a:ext cx="161417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6570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181100"/>
            <a:ext cx="7978140" cy="998219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3820"/>
              </a:lnSpc>
              <a:spcBef>
                <a:spcPts val="240"/>
              </a:spcBef>
            </a:pPr>
            <a:r>
              <a:rPr dirty="0"/>
              <a:t>Single </a:t>
            </a:r>
            <a:r>
              <a:rPr dirty="0" spc="-10"/>
              <a:t>Convolutional </a:t>
            </a:r>
            <a:r>
              <a:rPr dirty="0" spc="-15"/>
              <a:t>neural </a:t>
            </a:r>
            <a:r>
              <a:rPr dirty="0" spc="-10"/>
              <a:t>network </a:t>
            </a:r>
            <a:r>
              <a:rPr dirty="0" spc="-5"/>
              <a:t>(CNN) </a:t>
            </a:r>
            <a:r>
              <a:rPr dirty="0" spc="-25"/>
              <a:t>layer  </a:t>
            </a:r>
            <a:r>
              <a:rPr dirty="0" spc="-5"/>
              <a:t>with </a:t>
            </a:r>
            <a:r>
              <a:rPr dirty="0"/>
              <a:t>3x3</a:t>
            </a:r>
            <a:r>
              <a:rPr dirty="0" spc="-40"/>
              <a:t> </a:t>
            </a:r>
            <a:r>
              <a:rPr dirty="0" spc="-10"/>
              <a:t>filter:</a:t>
            </a:r>
          </a:p>
        </p:txBody>
      </p:sp>
      <p:sp>
        <p:nvSpPr>
          <p:cNvPr id="4" name="object 4"/>
          <p:cNvSpPr/>
          <p:nvPr/>
        </p:nvSpPr>
        <p:spPr>
          <a:xfrm>
            <a:off x="1168002" y="2256075"/>
            <a:ext cx="2230104" cy="26151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83691" y="4727781"/>
            <a:ext cx="186055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65"/>
              </a:lnSpc>
            </a:pPr>
            <a:r>
              <a:rPr dirty="0" sz="1050" spc="-40">
                <a:latin typeface="Arial"/>
                <a:cs typeface="Arial"/>
              </a:rPr>
              <a:t>V</a:t>
            </a:r>
            <a:r>
              <a:rPr dirty="0" sz="1050" spc="-1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9645" y="4578810"/>
            <a:ext cx="630555" cy="29908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indent="79375">
              <a:lnSpc>
                <a:spcPts val="1170"/>
              </a:lnSpc>
              <a:spcBef>
                <a:spcPts val="20"/>
              </a:spcBef>
            </a:pPr>
            <a:r>
              <a:rPr dirty="0" sz="1050" spc="-15">
                <a:latin typeface="Arial"/>
                <a:cs typeface="Arial"/>
              </a:rPr>
              <a:t>(Anima</a:t>
            </a:r>
            <a:r>
              <a:rPr dirty="0" sz="1050" spc="-15">
                <a:latin typeface="Arial"/>
                <a:cs typeface="Arial"/>
              </a:rPr>
              <a:t>t</a:t>
            </a:r>
            <a:r>
              <a:rPr dirty="0" sz="1050" spc="-10">
                <a:latin typeface="Arial"/>
                <a:cs typeface="Arial"/>
              </a:rPr>
              <a:t>io  </a:t>
            </a:r>
            <a:r>
              <a:rPr dirty="0" sz="1050" spc="-15">
                <a:latin typeface="Arial"/>
                <a:cs typeface="Arial"/>
              </a:rPr>
              <a:t>cent</a:t>
            </a:r>
            <a:r>
              <a:rPr dirty="0" sz="1050" spc="-8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Dumo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02431" y="4541060"/>
            <a:ext cx="596265" cy="356870"/>
          </a:xfrm>
          <a:custGeom>
            <a:avLst/>
            <a:gdLst/>
            <a:ahLst/>
            <a:cxnLst/>
            <a:rect l="l" t="t" r="r" b="b"/>
            <a:pathLst>
              <a:path w="596264" h="356870">
                <a:moveTo>
                  <a:pt x="0" y="0"/>
                </a:moveTo>
                <a:lnTo>
                  <a:pt x="595675" y="0"/>
                </a:lnTo>
                <a:lnTo>
                  <a:pt x="595675" y="356615"/>
                </a:lnTo>
                <a:lnTo>
                  <a:pt x="0" y="356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78432" y="4517059"/>
            <a:ext cx="643890" cy="405130"/>
          </a:xfrm>
          <a:custGeom>
            <a:avLst/>
            <a:gdLst/>
            <a:ahLst/>
            <a:cxnLst/>
            <a:rect l="l" t="t" r="r" b="b"/>
            <a:pathLst>
              <a:path w="643889" h="405129">
                <a:moveTo>
                  <a:pt x="619674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8" y="7029"/>
                </a:lnTo>
                <a:lnTo>
                  <a:pt x="1885" y="14658"/>
                </a:lnTo>
                <a:lnTo>
                  <a:pt x="0" y="24000"/>
                </a:lnTo>
                <a:lnTo>
                  <a:pt x="0" y="380616"/>
                </a:lnTo>
                <a:lnTo>
                  <a:pt x="1885" y="389958"/>
                </a:lnTo>
                <a:lnTo>
                  <a:pt x="7028" y="397586"/>
                </a:lnTo>
                <a:lnTo>
                  <a:pt x="14657" y="402729"/>
                </a:lnTo>
                <a:lnTo>
                  <a:pt x="23999" y="404615"/>
                </a:lnTo>
                <a:lnTo>
                  <a:pt x="619674" y="404615"/>
                </a:lnTo>
                <a:lnTo>
                  <a:pt x="629016" y="402729"/>
                </a:lnTo>
                <a:lnTo>
                  <a:pt x="636645" y="397586"/>
                </a:lnTo>
                <a:lnTo>
                  <a:pt x="641788" y="389958"/>
                </a:lnTo>
                <a:lnTo>
                  <a:pt x="643674" y="380616"/>
                </a:lnTo>
                <a:lnTo>
                  <a:pt x="643674" y="375815"/>
                </a:lnTo>
                <a:lnTo>
                  <a:pt x="28799" y="375815"/>
                </a:lnTo>
                <a:lnTo>
                  <a:pt x="28799" y="28799"/>
                </a:lnTo>
                <a:lnTo>
                  <a:pt x="643674" y="28799"/>
                </a:lnTo>
                <a:lnTo>
                  <a:pt x="643674" y="24000"/>
                </a:lnTo>
                <a:lnTo>
                  <a:pt x="641788" y="14658"/>
                </a:lnTo>
                <a:lnTo>
                  <a:pt x="636645" y="7029"/>
                </a:lnTo>
                <a:lnTo>
                  <a:pt x="629016" y="1886"/>
                </a:lnTo>
                <a:lnTo>
                  <a:pt x="619674" y="0"/>
                </a:lnTo>
                <a:close/>
              </a:path>
              <a:path w="643889" h="405129">
                <a:moveTo>
                  <a:pt x="643674" y="28799"/>
                </a:moveTo>
                <a:lnTo>
                  <a:pt x="614874" y="28799"/>
                </a:lnTo>
                <a:lnTo>
                  <a:pt x="614874" y="375815"/>
                </a:lnTo>
                <a:lnTo>
                  <a:pt x="643674" y="375815"/>
                </a:lnTo>
                <a:lnTo>
                  <a:pt x="643674" y="28799"/>
                </a:lnTo>
                <a:close/>
              </a:path>
              <a:path w="643889" h="405129">
                <a:moveTo>
                  <a:pt x="605274" y="38399"/>
                </a:moveTo>
                <a:lnTo>
                  <a:pt x="38399" y="38399"/>
                </a:lnTo>
                <a:lnTo>
                  <a:pt x="38399" y="366215"/>
                </a:lnTo>
                <a:lnTo>
                  <a:pt x="605274" y="366215"/>
                </a:lnTo>
                <a:lnTo>
                  <a:pt x="605274" y="356616"/>
                </a:lnTo>
                <a:lnTo>
                  <a:pt x="47999" y="356616"/>
                </a:lnTo>
                <a:lnTo>
                  <a:pt x="47999" y="47999"/>
                </a:lnTo>
                <a:lnTo>
                  <a:pt x="605274" y="47999"/>
                </a:lnTo>
                <a:lnTo>
                  <a:pt x="605274" y="38399"/>
                </a:lnTo>
                <a:close/>
              </a:path>
              <a:path w="643889" h="405129">
                <a:moveTo>
                  <a:pt x="605274" y="47999"/>
                </a:moveTo>
                <a:lnTo>
                  <a:pt x="595674" y="47999"/>
                </a:lnTo>
                <a:lnTo>
                  <a:pt x="595674" y="356616"/>
                </a:lnTo>
                <a:lnTo>
                  <a:pt x="605274" y="356616"/>
                </a:lnTo>
                <a:lnTo>
                  <a:pt x="605274" y="4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67596" y="4663235"/>
            <a:ext cx="596265" cy="234950"/>
          </a:xfrm>
          <a:custGeom>
            <a:avLst/>
            <a:gdLst/>
            <a:ahLst/>
            <a:cxnLst/>
            <a:rect l="l" t="t" r="r" b="b"/>
            <a:pathLst>
              <a:path w="596264" h="234950">
                <a:moveTo>
                  <a:pt x="0" y="0"/>
                </a:moveTo>
                <a:lnTo>
                  <a:pt x="595674" y="0"/>
                </a:lnTo>
                <a:lnTo>
                  <a:pt x="595674" y="234440"/>
                </a:lnTo>
                <a:lnTo>
                  <a:pt x="0" y="2344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43595" y="4639236"/>
            <a:ext cx="643890" cy="282575"/>
          </a:xfrm>
          <a:custGeom>
            <a:avLst/>
            <a:gdLst/>
            <a:ahLst/>
            <a:cxnLst/>
            <a:rect l="l" t="t" r="r" b="b"/>
            <a:pathLst>
              <a:path w="643889" h="282575">
                <a:moveTo>
                  <a:pt x="619674" y="0"/>
                </a:moveTo>
                <a:lnTo>
                  <a:pt x="24000" y="0"/>
                </a:lnTo>
                <a:lnTo>
                  <a:pt x="14658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258439"/>
                </a:lnTo>
                <a:lnTo>
                  <a:pt x="1886" y="267781"/>
                </a:lnTo>
                <a:lnTo>
                  <a:pt x="7029" y="275410"/>
                </a:lnTo>
                <a:lnTo>
                  <a:pt x="14658" y="280553"/>
                </a:lnTo>
                <a:lnTo>
                  <a:pt x="24000" y="282439"/>
                </a:lnTo>
                <a:lnTo>
                  <a:pt x="619674" y="282439"/>
                </a:lnTo>
                <a:lnTo>
                  <a:pt x="629016" y="280553"/>
                </a:lnTo>
                <a:lnTo>
                  <a:pt x="636645" y="275410"/>
                </a:lnTo>
                <a:lnTo>
                  <a:pt x="641789" y="267781"/>
                </a:lnTo>
                <a:lnTo>
                  <a:pt x="643675" y="258439"/>
                </a:lnTo>
                <a:lnTo>
                  <a:pt x="643675" y="253639"/>
                </a:lnTo>
                <a:lnTo>
                  <a:pt x="28799" y="253639"/>
                </a:lnTo>
                <a:lnTo>
                  <a:pt x="28799" y="28799"/>
                </a:lnTo>
                <a:lnTo>
                  <a:pt x="643675" y="28799"/>
                </a:lnTo>
                <a:lnTo>
                  <a:pt x="643675" y="23999"/>
                </a:lnTo>
                <a:lnTo>
                  <a:pt x="641789" y="14657"/>
                </a:lnTo>
                <a:lnTo>
                  <a:pt x="636645" y="7028"/>
                </a:lnTo>
                <a:lnTo>
                  <a:pt x="629016" y="1885"/>
                </a:lnTo>
                <a:lnTo>
                  <a:pt x="619674" y="0"/>
                </a:lnTo>
                <a:close/>
              </a:path>
              <a:path w="643889" h="282575">
                <a:moveTo>
                  <a:pt x="643675" y="28799"/>
                </a:moveTo>
                <a:lnTo>
                  <a:pt x="614875" y="28799"/>
                </a:lnTo>
                <a:lnTo>
                  <a:pt x="614875" y="253639"/>
                </a:lnTo>
                <a:lnTo>
                  <a:pt x="643675" y="253639"/>
                </a:lnTo>
                <a:lnTo>
                  <a:pt x="643675" y="28799"/>
                </a:lnTo>
                <a:close/>
              </a:path>
              <a:path w="643889" h="282575">
                <a:moveTo>
                  <a:pt x="605275" y="38399"/>
                </a:moveTo>
                <a:lnTo>
                  <a:pt x="38400" y="38399"/>
                </a:lnTo>
                <a:lnTo>
                  <a:pt x="38400" y="244039"/>
                </a:lnTo>
                <a:lnTo>
                  <a:pt x="605275" y="244039"/>
                </a:lnTo>
                <a:lnTo>
                  <a:pt x="605275" y="234439"/>
                </a:lnTo>
                <a:lnTo>
                  <a:pt x="48000" y="234439"/>
                </a:lnTo>
                <a:lnTo>
                  <a:pt x="48000" y="47999"/>
                </a:lnTo>
                <a:lnTo>
                  <a:pt x="605275" y="47999"/>
                </a:lnTo>
                <a:lnTo>
                  <a:pt x="605275" y="38399"/>
                </a:lnTo>
                <a:close/>
              </a:path>
              <a:path w="643889" h="282575">
                <a:moveTo>
                  <a:pt x="605275" y="47999"/>
                </a:moveTo>
                <a:lnTo>
                  <a:pt x="595675" y="47999"/>
                </a:lnTo>
                <a:lnTo>
                  <a:pt x="595675" y="234439"/>
                </a:lnTo>
                <a:lnTo>
                  <a:pt x="605275" y="234439"/>
                </a:lnTo>
                <a:lnTo>
                  <a:pt x="605275" y="4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14976" y="2496086"/>
            <a:ext cx="2140752" cy="2115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2635" y="4770486"/>
            <a:ext cx="7883525" cy="160020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315085">
              <a:lnSpc>
                <a:spcPct val="100000"/>
              </a:lnSpc>
              <a:spcBef>
                <a:spcPts val="935"/>
              </a:spcBef>
              <a:tabLst>
                <a:tab pos="5492750" algn="l"/>
              </a:tabLst>
            </a:pPr>
            <a:r>
              <a:rPr dirty="0" sz="2650" spc="-55">
                <a:solidFill>
                  <a:srgbClr val="C00000"/>
                </a:solidFill>
                <a:latin typeface="Arial"/>
                <a:cs typeface="Arial"/>
              </a:rPr>
              <a:t>Image	</a:t>
            </a:r>
            <a:r>
              <a:rPr dirty="0" baseline="1048" sz="3975" spc="-60">
                <a:solidFill>
                  <a:srgbClr val="C00000"/>
                </a:solidFill>
                <a:latin typeface="Arial"/>
                <a:cs typeface="Arial"/>
              </a:rPr>
              <a:t>Graph</a:t>
            </a:r>
            <a:endParaRPr baseline="1048" sz="3975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500" spc="-5" b="1">
                <a:latin typeface="Calibri"/>
                <a:cs typeface="Calibri"/>
              </a:rPr>
              <a:t>Idea: </a:t>
            </a:r>
            <a:r>
              <a:rPr dirty="0" sz="2500" spc="-20">
                <a:latin typeface="Calibri"/>
                <a:cs typeface="Calibri"/>
              </a:rPr>
              <a:t>transform </a:t>
            </a:r>
            <a:r>
              <a:rPr dirty="0" sz="2500" spc="-15">
                <a:latin typeface="Calibri"/>
                <a:cs typeface="Calibri"/>
              </a:rPr>
              <a:t>information at </a:t>
            </a:r>
            <a:r>
              <a:rPr dirty="0" sz="2500">
                <a:latin typeface="Calibri"/>
                <a:cs typeface="Calibri"/>
              </a:rPr>
              <a:t>the </a:t>
            </a:r>
            <a:r>
              <a:rPr dirty="0" sz="2500" spc="-10">
                <a:latin typeface="Calibri"/>
                <a:cs typeface="Calibri"/>
              </a:rPr>
              <a:t>neighbors </a:t>
            </a:r>
            <a:r>
              <a:rPr dirty="0" sz="2500" spc="-5">
                <a:latin typeface="Calibri"/>
                <a:cs typeface="Calibri"/>
              </a:rPr>
              <a:t>and </a:t>
            </a:r>
            <a:r>
              <a:rPr dirty="0" sz="2500" spc="-10">
                <a:latin typeface="Calibri"/>
                <a:cs typeface="Calibri"/>
              </a:rPr>
              <a:t>combine</a:t>
            </a:r>
            <a:r>
              <a:rPr dirty="0" sz="2500" spc="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it:</a:t>
            </a:r>
            <a:endParaRPr sz="2500">
              <a:latin typeface="Calibri"/>
              <a:cs typeface="Calibri"/>
            </a:endParaRPr>
          </a:p>
          <a:p>
            <a:pPr marL="963930" indent="-228600">
              <a:lnSpc>
                <a:spcPct val="100000"/>
              </a:lnSpc>
              <a:buClr>
                <a:srgbClr val="E66C7D"/>
              </a:buClr>
              <a:buFont typeface="Malgun Gothic"/>
              <a:buChar char="▪"/>
              <a:tabLst>
                <a:tab pos="963930" algn="l"/>
              </a:tabLst>
            </a:pPr>
            <a:r>
              <a:rPr dirty="0" sz="1900" spc="-30">
                <a:latin typeface="Calibri"/>
                <a:cs typeface="Calibri"/>
              </a:rPr>
              <a:t>Transform </a:t>
            </a:r>
            <a:r>
              <a:rPr dirty="0" sz="1900" spc="-5">
                <a:latin typeface="Calibri"/>
                <a:cs typeface="Calibri"/>
              </a:rPr>
              <a:t>“messages” </a:t>
            </a:r>
            <a:r>
              <a:rPr dirty="0" sz="1900" spc="-114">
                <a:latin typeface="Cambria Math"/>
                <a:cs typeface="Cambria Math"/>
              </a:rPr>
              <a:t>ℎ</a:t>
            </a:r>
            <a:r>
              <a:rPr dirty="0" baseline="-15873" sz="2100" spc="-172">
                <a:latin typeface="Cambria Math"/>
                <a:cs typeface="Cambria Math"/>
              </a:rPr>
              <a:t>$  </a:t>
            </a:r>
            <a:r>
              <a:rPr dirty="0" sz="1900" spc="-15">
                <a:latin typeface="Calibri"/>
                <a:cs typeface="Calibri"/>
              </a:rPr>
              <a:t>from </a:t>
            </a:r>
            <a:r>
              <a:rPr dirty="0" sz="1900" spc="-5">
                <a:latin typeface="Calibri"/>
                <a:cs typeface="Calibri"/>
              </a:rPr>
              <a:t>neighbors: </a:t>
            </a:r>
            <a:r>
              <a:rPr dirty="0" sz="1900" spc="-240">
                <a:latin typeface="Cambria Math"/>
                <a:cs typeface="Cambria Math"/>
              </a:rPr>
              <a:t>𝑊</a:t>
            </a:r>
            <a:r>
              <a:rPr dirty="0" baseline="-15873" sz="2100" spc="-359">
                <a:latin typeface="Cambria Math"/>
                <a:cs typeface="Cambria Math"/>
              </a:rPr>
              <a:t>$     </a:t>
            </a:r>
            <a:r>
              <a:rPr dirty="0" baseline="-15873" sz="2100" spc="-352">
                <a:latin typeface="Cambria Math"/>
                <a:cs typeface="Cambria Math"/>
              </a:rPr>
              <a:t> </a:t>
            </a:r>
            <a:r>
              <a:rPr dirty="0" sz="1900" spc="-114">
                <a:latin typeface="Cambria Math"/>
                <a:cs typeface="Cambria Math"/>
              </a:rPr>
              <a:t>ℎ</a:t>
            </a:r>
            <a:r>
              <a:rPr dirty="0" baseline="-15873" sz="2100" spc="-172">
                <a:latin typeface="Cambria Math"/>
                <a:cs typeface="Cambria Math"/>
              </a:rPr>
              <a:t>$</a:t>
            </a:r>
            <a:endParaRPr baseline="-15873" sz="2100">
              <a:latin typeface="Cambria Math"/>
              <a:cs typeface="Cambria Math"/>
            </a:endParaRPr>
          </a:p>
          <a:p>
            <a:pPr marL="963930" indent="-228600">
              <a:lnSpc>
                <a:spcPct val="100000"/>
              </a:lnSpc>
              <a:spcBef>
                <a:spcPts val="25"/>
              </a:spcBef>
              <a:buClr>
                <a:srgbClr val="E66C7D"/>
              </a:buClr>
              <a:buFont typeface="Malgun Gothic"/>
              <a:buChar char="▪"/>
              <a:tabLst>
                <a:tab pos="963930" algn="l"/>
              </a:tabLst>
            </a:pPr>
            <a:r>
              <a:rPr dirty="0" sz="1900">
                <a:latin typeface="Calibri"/>
                <a:cs typeface="Calibri"/>
              </a:rPr>
              <a:t>Add them up: </a:t>
            </a:r>
            <a:r>
              <a:rPr dirty="0" baseline="1461" sz="2850" spc="-172">
                <a:latin typeface="Cambria Math"/>
                <a:cs typeface="Cambria Math"/>
              </a:rPr>
              <a:t>∑</a:t>
            </a:r>
            <a:r>
              <a:rPr dirty="0" baseline="-19841" sz="2100" spc="-172">
                <a:latin typeface="Cambria Math"/>
                <a:cs typeface="Cambria Math"/>
              </a:rPr>
              <a:t>$  </a:t>
            </a:r>
            <a:r>
              <a:rPr dirty="0" sz="1900" spc="-240">
                <a:latin typeface="Cambria Math"/>
                <a:cs typeface="Cambria Math"/>
              </a:rPr>
              <a:t>𝑊</a:t>
            </a:r>
            <a:r>
              <a:rPr dirty="0" baseline="-15873" sz="2100" spc="-359">
                <a:latin typeface="Cambria Math"/>
                <a:cs typeface="Cambria Math"/>
              </a:rPr>
              <a:t>$ </a:t>
            </a:r>
            <a:r>
              <a:rPr dirty="0" baseline="-15873" sz="2100" spc="-307">
                <a:latin typeface="Cambria Math"/>
                <a:cs typeface="Cambria Math"/>
              </a:rPr>
              <a:t> </a:t>
            </a:r>
            <a:r>
              <a:rPr dirty="0" sz="1900" spc="-114">
                <a:latin typeface="Cambria Math"/>
                <a:cs typeface="Cambria Math"/>
              </a:rPr>
              <a:t>ℎ</a:t>
            </a:r>
            <a:r>
              <a:rPr dirty="0" baseline="-15873" sz="2100" spc="-172">
                <a:latin typeface="Cambria Math"/>
                <a:cs typeface="Cambria Math"/>
              </a:rPr>
              <a:t>$</a:t>
            </a:r>
            <a:endParaRPr baseline="-15873" sz="2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5468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2355215" marR="5080" indent="-1452245">
              <a:lnSpc>
                <a:spcPts val="3790"/>
              </a:lnSpc>
              <a:spcBef>
                <a:spcPts val="265"/>
              </a:spcBef>
            </a:pPr>
            <a:r>
              <a:rPr dirty="0" spc="-5">
                <a:solidFill>
                  <a:srgbClr val="C00000"/>
                </a:solidFill>
              </a:rPr>
              <a:t>Idea: </a:t>
            </a:r>
            <a:r>
              <a:rPr dirty="0" spc="-35"/>
              <a:t>Node’s </a:t>
            </a:r>
            <a:r>
              <a:rPr dirty="0" spc="-5"/>
              <a:t>neighborhood </a:t>
            </a:r>
            <a:r>
              <a:rPr dirty="0" spc="-10"/>
              <a:t>defines </a:t>
            </a:r>
            <a:r>
              <a:rPr dirty="0"/>
              <a:t>a  </a:t>
            </a:r>
            <a:r>
              <a:rPr dirty="0" spc="-10"/>
              <a:t>computation</a:t>
            </a:r>
            <a:r>
              <a:rPr dirty="0" spc="-45"/>
              <a:t> </a:t>
            </a:r>
            <a:r>
              <a:rPr dirty="0" spc="-15"/>
              <a:t>graph</a:t>
            </a:r>
          </a:p>
        </p:txBody>
      </p:sp>
      <p:sp>
        <p:nvSpPr>
          <p:cNvPr id="4" name="object 4"/>
          <p:cNvSpPr/>
          <p:nvPr/>
        </p:nvSpPr>
        <p:spPr>
          <a:xfrm>
            <a:off x="1752600" y="2362200"/>
            <a:ext cx="5715001" cy="24968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57740" y="4777232"/>
            <a:ext cx="2125980" cy="67818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 indent="121285">
              <a:lnSpc>
                <a:spcPct val="103800"/>
              </a:lnSpc>
              <a:spcBef>
                <a:spcPts val="5"/>
              </a:spcBef>
            </a:pP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Determine </a:t>
            </a:r>
            <a:r>
              <a:rPr dirty="0" sz="2100" spc="5">
                <a:solidFill>
                  <a:srgbClr val="C00000"/>
                </a:solidFill>
                <a:latin typeface="Calibri"/>
                <a:cs typeface="Calibri"/>
              </a:rPr>
              <a:t>node  </a:t>
            </a: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computation</a:t>
            </a:r>
            <a:r>
              <a:rPr dirty="0" sz="210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spc="-5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6356" y="3458171"/>
            <a:ext cx="220979" cy="217804"/>
          </a:xfrm>
          <a:custGeom>
            <a:avLst/>
            <a:gdLst/>
            <a:ahLst/>
            <a:cxnLst/>
            <a:rect l="l" t="t" r="r" b="b"/>
            <a:pathLst>
              <a:path w="220979" h="217804">
                <a:moveTo>
                  <a:pt x="112270" y="0"/>
                </a:moveTo>
                <a:lnTo>
                  <a:pt x="69159" y="7789"/>
                </a:lnTo>
                <a:lnTo>
                  <a:pt x="33669" y="30463"/>
                </a:lnTo>
                <a:lnTo>
                  <a:pt x="9412" y="64589"/>
                </a:lnTo>
                <a:lnTo>
                  <a:pt x="0" y="106734"/>
                </a:lnTo>
                <a:lnTo>
                  <a:pt x="7935" y="149181"/>
                </a:lnTo>
                <a:lnTo>
                  <a:pt x="30987" y="184133"/>
                </a:lnTo>
                <a:lnTo>
                  <a:pt x="65663" y="208033"/>
                </a:lnTo>
                <a:lnTo>
                  <a:pt x="108477" y="217322"/>
                </a:lnTo>
                <a:lnTo>
                  <a:pt x="151588" y="209533"/>
                </a:lnTo>
                <a:lnTo>
                  <a:pt x="187078" y="186858"/>
                </a:lnTo>
                <a:lnTo>
                  <a:pt x="211334" y="152732"/>
                </a:lnTo>
                <a:lnTo>
                  <a:pt x="220746" y="110587"/>
                </a:lnTo>
                <a:lnTo>
                  <a:pt x="212811" y="68140"/>
                </a:lnTo>
                <a:lnTo>
                  <a:pt x="189760" y="33187"/>
                </a:lnTo>
                <a:lnTo>
                  <a:pt x="155083" y="9288"/>
                </a:lnTo>
                <a:lnTo>
                  <a:pt x="1122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04772" y="3456580"/>
            <a:ext cx="224154" cy="220979"/>
          </a:xfrm>
          <a:custGeom>
            <a:avLst/>
            <a:gdLst/>
            <a:ahLst/>
            <a:cxnLst/>
            <a:rect l="l" t="t" r="r" b="b"/>
            <a:pathLst>
              <a:path w="224154" h="220979">
                <a:moveTo>
                  <a:pt x="113828" y="0"/>
                </a:moveTo>
                <a:lnTo>
                  <a:pt x="70110" y="7919"/>
                </a:lnTo>
                <a:lnTo>
                  <a:pt x="34121" y="30937"/>
                </a:lnTo>
                <a:lnTo>
                  <a:pt x="9523" y="65577"/>
                </a:lnTo>
                <a:lnTo>
                  <a:pt x="0" y="108216"/>
                </a:lnTo>
                <a:lnTo>
                  <a:pt x="373" y="119499"/>
                </a:lnTo>
                <a:lnTo>
                  <a:pt x="18074" y="170327"/>
                </a:lnTo>
                <a:lnTo>
                  <a:pt x="47831" y="200626"/>
                </a:lnTo>
                <a:lnTo>
                  <a:pt x="87566" y="217882"/>
                </a:lnTo>
                <a:lnTo>
                  <a:pt x="110084" y="220505"/>
                </a:lnTo>
                <a:lnTo>
                  <a:pt x="132679" y="218649"/>
                </a:lnTo>
                <a:lnTo>
                  <a:pt x="132869" y="218594"/>
                </a:lnTo>
                <a:lnTo>
                  <a:pt x="110065" y="218594"/>
                </a:lnTo>
                <a:lnTo>
                  <a:pt x="87923" y="216006"/>
                </a:lnTo>
                <a:lnTo>
                  <a:pt x="48855" y="199016"/>
                </a:lnTo>
                <a:lnTo>
                  <a:pt x="19640" y="169232"/>
                </a:lnTo>
                <a:lnTo>
                  <a:pt x="3755" y="130196"/>
                </a:lnTo>
                <a:lnTo>
                  <a:pt x="1910" y="108216"/>
                </a:lnTo>
                <a:lnTo>
                  <a:pt x="2645" y="97496"/>
                </a:lnTo>
                <a:lnTo>
                  <a:pt x="21755" y="48086"/>
                </a:lnTo>
                <a:lnTo>
                  <a:pt x="51991" y="19339"/>
                </a:lnTo>
                <a:lnTo>
                  <a:pt x="91629" y="3723"/>
                </a:lnTo>
                <a:lnTo>
                  <a:pt x="113849" y="1910"/>
                </a:lnTo>
                <a:lnTo>
                  <a:pt x="130230" y="1910"/>
                </a:lnTo>
                <a:lnTo>
                  <a:pt x="113828" y="0"/>
                </a:lnTo>
                <a:close/>
              </a:path>
              <a:path w="224154" h="220979">
                <a:moveTo>
                  <a:pt x="130230" y="1910"/>
                </a:moveTo>
                <a:lnTo>
                  <a:pt x="113849" y="1910"/>
                </a:lnTo>
                <a:lnTo>
                  <a:pt x="135991" y="4498"/>
                </a:lnTo>
                <a:lnTo>
                  <a:pt x="156540" y="11172"/>
                </a:lnTo>
                <a:lnTo>
                  <a:pt x="191115" y="35002"/>
                </a:lnTo>
                <a:lnTo>
                  <a:pt x="214100" y="69852"/>
                </a:lnTo>
                <a:lnTo>
                  <a:pt x="222004" y="112288"/>
                </a:lnTo>
                <a:lnTo>
                  <a:pt x="221269" y="123008"/>
                </a:lnTo>
                <a:lnTo>
                  <a:pt x="202159" y="172419"/>
                </a:lnTo>
                <a:lnTo>
                  <a:pt x="171923" y="201164"/>
                </a:lnTo>
                <a:lnTo>
                  <a:pt x="132285" y="216780"/>
                </a:lnTo>
                <a:lnTo>
                  <a:pt x="110065" y="218594"/>
                </a:lnTo>
                <a:lnTo>
                  <a:pt x="132869" y="218594"/>
                </a:lnTo>
                <a:lnTo>
                  <a:pt x="172994" y="202745"/>
                </a:lnTo>
                <a:lnTo>
                  <a:pt x="203746" y="173483"/>
                </a:lnTo>
                <a:lnTo>
                  <a:pt x="221270" y="134308"/>
                </a:lnTo>
                <a:lnTo>
                  <a:pt x="223914" y="112288"/>
                </a:lnTo>
                <a:lnTo>
                  <a:pt x="223541" y="101005"/>
                </a:lnTo>
                <a:lnTo>
                  <a:pt x="205840" y="50177"/>
                </a:lnTo>
                <a:lnTo>
                  <a:pt x="176081" y="19876"/>
                </a:lnTo>
                <a:lnTo>
                  <a:pt x="136348" y="2622"/>
                </a:lnTo>
                <a:lnTo>
                  <a:pt x="130230" y="1910"/>
                </a:lnTo>
                <a:close/>
              </a:path>
              <a:path w="224154" h="220979">
                <a:moveTo>
                  <a:pt x="113837" y="2547"/>
                </a:moveTo>
                <a:lnTo>
                  <a:pt x="71094" y="10270"/>
                </a:lnTo>
                <a:lnTo>
                  <a:pt x="35911" y="32748"/>
                </a:lnTo>
                <a:lnTo>
                  <a:pt x="11869" y="66573"/>
                </a:lnTo>
                <a:lnTo>
                  <a:pt x="2546" y="108216"/>
                </a:lnTo>
                <a:lnTo>
                  <a:pt x="2923" y="119499"/>
                </a:lnTo>
                <a:lnTo>
                  <a:pt x="20172" y="168880"/>
                </a:lnTo>
                <a:lnTo>
                  <a:pt x="49217" y="198490"/>
                </a:lnTo>
                <a:lnTo>
                  <a:pt x="88059" y="215383"/>
                </a:lnTo>
                <a:lnTo>
                  <a:pt x="110077" y="217956"/>
                </a:lnTo>
                <a:lnTo>
                  <a:pt x="117888" y="217318"/>
                </a:lnTo>
                <a:lnTo>
                  <a:pt x="110088" y="217318"/>
                </a:lnTo>
                <a:lnTo>
                  <a:pt x="88196" y="214759"/>
                </a:lnTo>
                <a:lnTo>
                  <a:pt x="49579" y="197966"/>
                </a:lnTo>
                <a:lnTo>
                  <a:pt x="20704" y="168530"/>
                </a:lnTo>
                <a:lnTo>
                  <a:pt x="5001" y="129928"/>
                </a:lnTo>
                <a:lnTo>
                  <a:pt x="3183" y="108216"/>
                </a:lnTo>
                <a:lnTo>
                  <a:pt x="3912" y="97496"/>
                </a:lnTo>
                <a:lnTo>
                  <a:pt x="22793" y="48825"/>
                </a:lnTo>
                <a:lnTo>
                  <a:pt x="52678" y="20415"/>
                </a:lnTo>
                <a:lnTo>
                  <a:pt x="91857" y="4979"/>
                </a:lnTo>
                <a:lnTo>
                  <a:pt x="113826" y="3186"/>
                </a:lnTo>
                <a:lnTo>
                  <a:pt x="119301" y="3186"/>
                </a:lnTo>
                <a:lnTo>
                  <a:pt x="113837" y="2547"/>
                </a:lnTo>
                <a:close/>
              </a:path>
              <a:path w="224154" h="220979">
                <a:moveTo>
                  <a:pt x="119301" y="3186"/>
                </a:moveTo>
                <a:lnTo>
                  <a:pt x="113826" y="3186"/>
                </a:lnTo>
                <a:lnTo>
                  <a:pt x="135718" y="5745"/>
                </a:lnTo>
                <a:lnTo>
                  <a:pt x="156029" y="12341"/>
                </a:lnTo>
                <a:lnTo>
                  <a:pt x="190205" y="35895"/>
                </a:lnTo>
                <a:lnTo>
                  <a:pt x="212918" y="70333"/>
                </a:lnTo>
                <a:lnTo>
                  <a:pt x="220613" y="108216"/>
                </a:lnTo>
                <a:lnTo>
                  <a:pt x="220731" y="112288"/>
                </a:lnTo>
                <a:lnTo>
                  <a:pt x="220002" y="123008"/>
                </a:lnTo>
                <a:lnTo>
                  <a:pt x="201119" y="171678"/>
                </a:lnTo>
                <a:lnTo>
                  <a:pt x="171236" y="200089"/>
                </a:lnTo>
                <a:lnTo>
                  <a:pt x="132057" y="215525"/>
                </a:lnTo>
                <a:lnTo>
                  <a:pt x="110088" y="217318"/>
                </a:lnTo>
                <a:lnTo>
                  <a:pt x="117888" y="217318"/>
                </a:lnTo>
                <a:lnTo>
                  <a:pt x="171592" y="200616"/>
                </a:lnTo>
                <a:lnTo>
                  <a:pt x="201640" y="172049"/>
                </a:lnTo>
                <a:lnTo>
                  <a:pt x="218728" y="133960"/>
                </a:lnTo>
                <a:lnTo>
                  <a:pt x="221368" y="112288"/>
                </a:lnTo>
                <a:lnTo>
                  <a:pt x="220991" y="101005"/>
                </a:lnTo>
                <a:lnTo>
                  <a:pt x="203742" y="51622"/>
                </a:lnTo>
                <a:lnTo>
                  <a:pt x="174697" y="22012"/>
                </a:lnTo>
                <a:lnTo>
                  <a:pt x="135855" y="5121"/>
                </a:lnTo>
                <a:lnTo>
                  <a:pt x="119301" y="31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 rot="60000">
            <a:off x="3186155" y="3458222"/>
            <a:ext cx="213273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>
                <a:solidFill>
                  <a:srgbClr val="FFFFFF"/>
                </a:solidFill>
                <a:latin typeface="Cambria Math"/>
                <a:cs typeface="Cambria Math"/>
              </a:rPr>
              <a:t>𝑖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7492" y="4777232"/>
            <a:ext cx="2467610" cy="67818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 indent="424815">
              <a:lnSpc>
                <a:spcPct val="103800"/>
              </a:lnSpc>
              <a:spcBef>
                <a:spcPts val="5"/>
              </a:spcBef>
            </a:pPr>
            <a:r>
              <a:rPr dirty="0" sz="2100" spc="-5">
                <a:solidFill>
                  <a:srgbClr val="C00000"/>
                </a:solidFill>
                <a:latin typeface="Calibri"/>
                <a:cs typeface="Calibri"/>
              </a:rPr>
              <a:t>Propagate </a:t>
            </a:r>
            <a:r>
              <a:rPr dirty="0" sz="2100" spc="0">
                <a:solidFill>
                  <a:srgbClr val="C00000"/>
                </a:solidFill>
                <a:latin typeface="Calibri"/>
                <a:cs typeface="Calibri"/>
              </a:rPr>
              <a:t>and  </a:t>
            </a:r>
            <a:r>
              <a:rPr dirty="0" sz="2100" spc="-10">
                <a:solidFill>
                  <a:srgbClr val="C00000"/>
                </a:solidFill>
                <a:latin typeface="Calibri"/>
                <a:cs typeface="Calibri"/>
              </a:rPr>
              <a:t>transform</a:t>
            </a:r>
            <a:r>
              <a:rPr dirty="0" sz="2100" spc="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spc="-5">
                <a:solidFill>
                  <a:srgbClr val="C00000"/>
                </a:solidFill>
                <a:latin typeface="Calibri"/>
                <a:cs typeface="Calibri"/>
              </a:rPr>
              <a:t>information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43598" y="3497737"/>
            <a:ext cx="182880" cy="179705"/>
          </a:xfrm>
          <a:custGeom>
            <a:avLst/>
            <a:gdLst/>
            <a:ahLst/>
            <a:cxnLst/>
            <a:rect l="l" t="t" r="r" b="b"/>
            <a:pathLst>
              <a:path w="182879" h="179704">
                <a:moveTo>
                  <a:pt x="91258" y="0"/>
                </a:moveTo>
                <a:lnTo>
                  <a:pt x="55736" y="7060"/>
                </a:lnTo>
                <a:lnTo>
                  <a:pt x="26729" y="26314"/>
                </a:lnTo>
                <a:lnTo>
                  <a:pt x="7171" y="54871"/>
                </a:lnTo>
                <a:lnTo>
                  <a:pt x="0" y="89842"/>
                </a:lnTo>
                <a:lnTo>
                  <a:pt x="7171" y="124813"/>
                </a:lnTo>
                <a:lnTo>
                  <a:pt x="26729" y="153371"/>
                </a:lnTo>
                <a:lnTo>
                  <a:pt x="55736" y="172625"/>
                </a:lnTo>
                <a:lnTo>
                  <a:pt x="91258" y="179685"/>
                </a:lnTo>
                <a:lnTo>
                  <a:pt x="126780" y="172625"/>
                </a:lnTo>
                <a:lnTo>
                  <a:pt x="155788" y="153371"/>
                </a:lnTo>
                <a:lnTo>
                  <a:pt x="175345" y="124813"/>
                </a:lnTo>
                <a:lnTo>
                  <a:pt x="182516" y="89842"/>
                </a:lnTo>
                <a:lnTo>
                  <a:pt x="175345" y="54871"/>
                </a:lnTo>
                <a:lnTo>
                  <a:pt x="155788" y="26314"/>
                </a:lnTo>
                <a:lnTo>
                  <a:pt x="126780" y="7060"/>
                </a:lnTo>
                <a:lnTo>
                  <a:pt x="912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42019" y="3496147"/>
            <a:ext cx="186055" cy="182880"/>
          </a:xfrm>
          <a:custGeom>
            <a:avLst/>
            <a:gdLst/>
            <a:ahLst/>
            <a:cxnLst/>
            <a:rect l="l" t="t" r="r" b="b"/>
            <a:pathLst>
              <a:path w="186054" h="182879">
                <a:moveTo>
                  <a:pt x="92890" y="0"/>
                </a:moveTo>
                <a:lnTo>
                  <a:pt x="40891" y="15637"/>
                </a:lnTo>
                <a:lnTo>
                  <a:pt x="7268" y="55883"/>
                </a:lnTo>
                <a:lnTo>
                  <a:pt x="0" y="91271"/>
                </a:lnTo>
                <a:lnTo>
                  <a:pt x="11" y="91594"/>
                </a:lnTo>
                <a:lnTo>
                  <a:pt x="15881" y="142607"/>
                </a:lnTo>
                <a:lnTo>
                  <a:pt x="56752" y="175704"/>
                </a:lnTo>
                <a:lnTo>
                  <a:pt x="92785" y="182866"/>
                </a:lnTo>
                <a:lnTo>
                  <a:pt x="111592" y="181000"/>
                </a:lnTo>
                <a:lnTo>
                  <a:pt x="111733" y="180957"/>
                </a:lnTo>
                <a:lnTo>
                  <a:pt x="92837" y="180957"/>
                </a:lnTo>
                <a:lnTo>
                  <a:pt x="74508" y="179138"/>
                </a:lnTo>
                <a:lnTo>
                  <a:pt x="28532" y="154734"/>
                </a:lnTo>
                <a:lnTo>
                  <a:pt x="3850" y="109808"/>
                </a:lnTo>
                <a:lnTo>
                  <a:pt x="1915" y="91271"/>
                </a:lnTo>
                <a:lnTo>
                  <a:pt x="3745" y="73390"/>
                </a:lnTo>
                <a:lnTo>
                  <a:pt x="28532" y="28131"/>
                </a:lnTo>
                <a:lnTo>
                  <a:pt x="74508" y="3727"/>
                </a:lnTo>
                <a:lnTo>
                  <a:pt x="92837" y="1908"/>
                </a:lnTo>
                <a:lnTo>
                  <a:pt x="111699" y="1908"/>
                </a:lnTo>
                <a:lnTo>
                  <a:pt x="111491" y="1845"/>
                </a:lnTo>
                <a:lnTo>
                  <a:pt x="92890" y="0"/>
                </a:lnTo>
                <a:close/>
              </a:path>
              <a:path w="186054" h="182879">
                <a:moveTo>
                  <a:pt x="111699" y="1908"/>
                </a:moveTo>
                <a:lnTo>
                  <a:pt x="92837" y="1908"/>
                </a:lnTo>
                <a:lnTo>
                  <a:pt x="111167" y="3727"/>
                </a:lnTo>
                <a:lnTo>
                  <a:pt x="128237" y="8944"/>
                </a:lnTo>
                <a:lnTo>
                  <a:pt x="168247" y="41380"/>
                </a:lnTo>
                <a:lnTo>
                  <a:pt x="183760" y="91271"/>
                </a:lnTo>
                <a:lnTo>
                  <a:pt x="183760" y="91594"/>
                </a:lnTo>
                <a:lnTo>
                  <a:pt x="168247" y="141485"/>
                </a:lnTo>
                <a:lnTo>
                  <a:pt x="128237" y="173921"/>
                </a:lnTo>
                <a:lnTo>
                  <a:pt x="92837" y="180957"/>
                </a:lnTo>
                <a:lnTo>
                  <a:pt x="111733" y="180957"/>
                </a:lnTo>
                <a:lnTo>
                  <a:pt x="158519" y="156058"/>
                </a:lnTo>
                <a:lnTo>
                  <a:pt x="183776" y="109914"/>
                </a:lnTo>
                <a:lnTo>
                  <a:pt x="185675" y="91594"/>
                </a:lnTo>
                <a:lnTo>
                  <a:pt x="185675" y="91271"/>
                </a:lnTo>
                <a:lnTo>
                  <a:pt x="169793" y="40259"/>
                </a:lnTo>
                <a:lnTo>
                  <a:pt x="128921" y="7161"/>
                </a:lnTo>
                <a:lnTo>
                  <a:pt x="111699" y="1908"/>
                </a:lnTo>
                <a:close/>
              </a:path>
              <a:path w="186054" h="182879">
                <a:moveTo>
                  <a:pt x="92837" y="2546"/>
                </a:moveTo>
                <a:lnTo>
                  <a:pt x="42343" y="17730"/>
                </a:lnTo>
                <a:lnTo>
                  <a:pt x="9630" y="56838"/>
                </a:lnTo>
                <a:lnTo>
                  <a:pt x="2553" y="91271"/>
                </a:lnTo>
                <a:lnTo>
                  <a:pt x="2553" y="91594"/>
                </a:lnTo>
                <a:lnTo>
                  <a:pt x="17954" y="141124"/>
                </a:lnTo>
                <a:lnTo>
                  <a:pt x="57682" y="173332"/>
                </a:lnTo>
                <a:lnTo>
                  <a:pt x="92837" y="180319"/>
                </a:lnTo>
                <a:lnTo>
                  <a:pt x="99272" y="179680"/>
                </a:lnTo>
                <a:lnTo>
                  <a:pt x="92837" y="179680"/>
                </a:lnTo>
                <a:lnTo>
                  <a:pt x="74758" y="177887"/>
                </a:lnTo>
                <a:lnTo>
                  <a:pt x="29427" y="153826"/>
                </a:lnTo>
                <a:lnTo>
                  <a:pt x="4996" y="109216"/>
                </a:lnTo>
                <a:lnTo>
                  <a:pt x="3191" y="91271"/>
                </a:lnTo>
                <a:lnTo>
                  <a:pt x="4996" y="73649"/>
                </a:lnTo>
                <a:lnTo>
                  <a:pt x="29427" y="29039"/>
                </a:lnTo>
                <a:lnTo>
                  <a:pt x="74758" y="4978"/>
                </a:lnTo>
                <a:lnTo>
                  <a:pt x="92837" y="3185"/>
                </a:lnTo>
                <a:lnTo>
                  <a:pt x="99272" y="3185"/>
                </a:lnTo>
                <a:lnTo>
                  <a:pt x="92837" y="2546"/>
                </a:lnTo>
                <a:close/>
              </a:path>
              <a:path w="186054" h="182879">
                <a:moveTo>
                  <a:pt x="99272" y="3185"/>
                </a:moveTo>
                <a:lnTo>
                  <a:pt x="92837" y="3185"/>
                </a:lnTo>
                <a:lnTo>
                  <a:pt x="110915" y="4978"/>
                </a:lnTo>
                <a:lnTo>
                  <a:pt x="127748" y="10123"/>
                </a:lnTo>
                <a:lnTo>
                  <a:pt x="167194" y="42101"/>
                </a:lnTo>
                <a:lnTo>
                  <a:pt x="182484" y="91271"/>
                </a:lnTo>
                <a:lnTo>
                  <a:pt x="182484" y="91594"/>
                </a:lnTo>
                <a:lnTo>
                  <a:pt x="167194" y="140764"/>
                </a:lnTo>
                <a:lnTo>
                  <a:pt x="127748" y="172742"/>
                </a:lnTo>
                <a:lnTo>
                  <a:pt x="92837" y="179680"/>
                </a:lnTo>
                <a:lnTo>
                  <a:pt x="99272" y="179680"/>
                </a:lnTo>
                <a:lnTo>
                  <a:pt x="143331" y="165135"/>
                </a:lnTo>
                <a:lnTo>
                  <a:pt x="176045" y="126027"/>
                </a:lnTo>
                <a:lnTo>
                  <a:pt x="183121" y="91271"/>
                </a:lnTo>
                <a:lnTo>
                  <a:pt x="181317" y="73649"/>
                </a:lnTo>
                <a:lnTo>
                  <a:pt x="156695" y="28586"/>
                </a:lnTo>
                <a:lnTo>
                  <a:pt x="111041" y="4353"/>
                </a:lnTo>
                <a:lnTo>
                  <a:pt x="99272" y="31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965737" y="3441700"/>
            <a:ext cx="90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Cambria Math"/>
                <a:cs typeface="Cambria Math"/>
              </a:rPr>
              <a:t>𝑖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958055" y="5560059"/>
            <a:ext cx="7228205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150620" marR="5080" indent="-1138555">
              <a:lnSpc>
                <a:spcPct val="101400"/>
              </a:lnSpc>
              <a:spcBef>
                <a:spcPts val="50"/>
              </a:spcBef>
            </a:pP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Learn how </a:t>
            </a:r>
            <a:r>
              <a:rPr dirty="0" sz="2800" b="1">
                <a:solidFill>
                  <a:srgbClr val="0070C0"/>
                </a:solidFill>
                <a:latin typeface="Corbel"/>
                <a:cs typeface="Corbel"/>
              </a:rPr>
              <a:t>to </a:t>
            </a: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propagate information across </a:t>
            </a:r>
            <a:r>
              <a:rPr dirty="0" sz="2800" spc="-10" b="1">
                <a:solidFill>
                  <a:srgbClr val="0070C0"/>
                </a:solidFill>
                <a:latin typeface="Corbel"/>
                <a:cs typeface="Corbel"/>
              </a:rPr>
              <a:t>the  </a:t>
            </a: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graph </a:t>
            </a:r>
            <a:r>
              <a:rPr dirty="0" sz="2800" b="1">
                <a:solidFill>
                  <a:srgbClr val="0070C0"/>
                </a:solidFill>
                <a:latin typeface="Corbel"/>
                <a:cs typeface="Corbel"/>
              </a:rPr>
              <a:t>to </a:t>
            </a: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compute node</a:t>
            </a:r>
            <a:r>
              <a:rPr dirty="0" sz="2800" spc="-40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orbel"/>
                <a:cs typeface="Corbel"/>
              </a:rPr>
              <a:t>features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8227" y="33019"/>
            <a:ext cx="2719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[Kipf </a:t>
            </a: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and </a:t>
            </a:r>
            <a:r>
              <a:rPr dirty="0" sz="1800" spc="-15">
                <a:solidFill>
                  <a:srgbClr val="FFFFFF"/>
                </a:solidFill>
                <a:latin typeface="Corbel"/>
                <a:cs typeface="Corbel"/>
              </a:rPr>
              <a:t>Welling,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ICLR</a:t>
            </a:r>
            <a:r>
              <a:rPr dirty="0" sz="1800" spc="-1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800" spc="-15">
                <a:solidFill>
                  <a:srgbClr val="FFFFFF"/>
                </a:solidFill>
                <a:latin typeface="Corbel"/>
                <a:cs typeface="Corbel"/>
              </a:rPr>
              <a:t>2017]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68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4032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 b="1">
                <a:solidFill>
                  <a:srgbClr val="D60093"/>
                </a:solidFill>
                <a:latin typeface="Calibri"/>
                <a:cs typeface="Calibri"/>
              </a:rPr>
              <a:t>Key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idea: </a:t>
            </a:r>
            <a:r>
              <a:rPr dirty="0" spc="-20"/>
              <a:t>Generate </a:t>
            </a:r>
            <a:r>
              <a:rPr dirty="0" spc="-5"/>
              <a:t>node embeddings based  on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local network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neighborhoods</a:t>
            </a:r>
          </a:p>
        </p:txBody>
      </p:sp>
      <p:sp>
        <p:nvSpPr>
          <p:cNvPr id="4" name="object 4"/>
          <p:cNvSpPr/>
          <p:nvPr/>
        </p:nvSpPr>
        <p:spPr>
          <a:xfrm>
            <a:off x="4668711" y="4650990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3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1561" y="4311065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41561" y="4311065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07083" y="5005719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30302" y="4719035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14781" y="4654558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6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19413" y="4929848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31061" y="4855423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2"/>
                </a:lnTo>
                <a:lnTo>
                  <a:pt x="140164" y="3376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21767" y="3721615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31061" y="4422706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66686" y="325440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299008" y="0"/>
                </a:moveTo>
                <a:lnTo>
                  <a:pt x="0" y="85738"/>
                </a:lnTo>
                <a:lnTo>
                  <a:pt x="94053" y="413738"/>
                </a:lnTo>
                <a:lnTo>
                  <a:pt x="393059" y="327999"/>
                </a:lnTo>
                <a:lnTo>
                  <a:pt x="2990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66686" y="325440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99077" y="3061364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29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30168" y="3311997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37489" y="3510633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27555" y="3470357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96346" y="446604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5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96346" y="446604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20676" y="4654144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05422" y="4594475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7" y="0"/>
                </a:moveTo>
                <a:lnTo>
                  <a:pt x="0" y="73084"/>
                </a:lnTo>
                <a:lnTo>
                  <a:pt x="133033" y="128657"/>
                </a:lnTo>
                <a:lnTo>
                  <a:pt x="12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90335" y="5581203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3"/>
                </a:lnTo>
                <a:lnTo>
                  <a:pt x="302467" y="404393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90334" y="5581202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07217" y="5847368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35385" y="5809757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0"/>
                </a:lnTo>
                <a:lnTo>
                  <a:pt x="68943" y="78363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48206" y="5737155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35046" y="5676698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8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90488" y="4801154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30128" y="4758552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19818" y="4698816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49035" y="466213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1"/>
                </a:lnTo>
                <a:lnTo>
                  <a:pt x="65669" y="77215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93073" y="4105616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32712" y="4481210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22403" y="4415399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751621" y="4579811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008457" y="4403578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89925" y="4306211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11673" y="3661499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281969" y="5874246"/>
            <a:ext cx="10725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34940" y="3686809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95789" y="4024679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83468" y="3456357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168385" y="3642864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144956" y="347273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59"/>
                </a:lnTo>
                <a:lnTo>
                  <a:pt x="115049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222259" y="344561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64765" y="4370179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09423" y="505322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84959" y="503067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869460" y="532775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940172" y="53127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700077" y="4495375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763020" y="480829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3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826732" y="478888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520673" y="428548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584943" y="426500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27442" y="460433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398360" y="45739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945550" y="345937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7017740" y="343217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905669" y="45385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964009" y="452022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835326" y="55422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910279" y="552768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019120" y="41768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080478" y="414411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820174" y="3479733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746608" y="3440225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5">
                <a:moveTo>
                  <a:pt x="83963" y="0"/>
                </a:moveTo>
                <a:lnTo>
                  <a:pt x="0" y="32705"/>
                </a:lnTo>
                <a:lnTo>
                  <a:pt x="76542" y="80252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269048" y="586599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334147" y="583663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418271" y="297664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481907" y="294860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424830" y="341484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481907" y="339188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239580" y="507072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307282" y="505753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380151" y="429090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363190" y="473260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428176" y="470828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288456" y="395224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361012" y="3792175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84" name="object 8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68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177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Intuition: </a:t>
            </a:r>
            <a:r>
              <a:rPr dirty="0" spc="-5"/>
              <a:t>Nodes </a:t>
            </a:r>
            <a:r>
              <a:rPr dirty="0" spc="-20"/>
              <a:t>aggregate </a:t>
            </a:r>
            <a:r>
              <a:rPr dirty="0" spc="-15"/>
              <a:t>information from  </a:t>
            </a:r>
            <a:r>
              <a:rPr dirty="0" spc="-5"/>
              <a:t>their </a:t>
            </a:r>
            <a:r>
              <a:rPr dirty="0" spc="-10"/>
              <a:t>neighbors </a:t>
            </a:r>
            <a:r>
              <a:rPr dirty="0" spc="-5"/>
              <a:t>using </a:t>
            </a:r>
            <a:r>
              <a:rPr dirty="0" spc="-15"/>
              <a:t>neural</a:t>
            </a:r>
            <a:r>
              <a:rPr dirty="0" spc="25"/>
              <a:t> </a:t>
            </a:r>
            <a:r>
              <a:rPr dirty="0" spc="-15"/>
              <a:t>networks</a:t>
            </a:r>
          </a:p>
        </p:txBody>
      </p:sp>
      <p:sp>
        <p:nvSpPr>
          <p:cNvPr id="4" name="object 4"/>
          <p:cNvSpPr/>
          <p:nvPr/>
        </p:nvSpPr>
        <p:spPr>
          <a:xfrm>
            <a:off x="4668711" y="4313521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4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1561" y="3973597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41561" y="3973597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07083" y="4668251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30302" y="4381568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14781" y="4317090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7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19413" y="4592381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31061" y="4517956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1"/>
                </a:lnTo>
                <a:lnTo>
                  <a:pt x="140164" y="3376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21767" y="3384147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31061" y="4085238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66686" y="2916941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299008" y="0"/>
                </a:moveTo>
                <a:lnTo>
                  <a:pt x="0" y="85738"/>
                </a:lnTo>
                <a:lnTo>
                  <a:pt x="94053" y="413738"/>
                </a:lnTo>
                <a:lnTo>
                  <a:pt x="393059" y="328000"/>
                </a:lnTo>
                <a:lnTo>
                  <a:pt x="2990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66686" y="2916940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99077" y="2723895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30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30168" y="2974529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37489" y="3173164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27555" y="3132889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96346" y="4128573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7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96346" y="4128574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20676" y="4316676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05422" y="4257008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7" y="0"/>
                </a:moveTo>
                <a:lnTo>
                  <a:pt x="0" y="73084"/>
                </a:lnTo>
                <a:lnTo>
                  <a:pt x="133033" y="128657"/>
                </a:lnTo>
                <a:lnTo>
                  <a:pt x="12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90335" y="5243736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2"/>
                </a:lnTo>
                <a:lnTo>
                  <a:pt x="302467" y="404392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90334" y="5243736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07217" y="5509901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35385" y="5472288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1"/>
                </a:lnTo>
                <a:lnTo>
                  <a:pt x="68943" y="78364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48206" y="5399687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35046" y="5339229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9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90488" y="4463686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30128" y="4421084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19818" y="4361348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49035" y="4324666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0"/>
                </a:lnTo>
                <a:lnTo>
                  <a:pt x="65669" y="77214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93073" y="3768148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32712" y="4143742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22403" y="4077930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751621" y="424234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008457" y="4066109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89925" y="3968743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11673" y="3324031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34940" y="3349341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95789" y="3687211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83468" y="3118889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68385" y="3305397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144956" y="313526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222259" y="3108143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64765" y="4032711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09423" y="471575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69460" y="49902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84959" y="4636785"/>
            <a:ext cx="1569720" cy="110617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  <a:p>
            <a:pPr marL="1167765">
              <a:lnSpc>
                <a:spcPct val="100000"/>
              </a:lnSpc>
              <a:spcBef>
                <a:spcPts val="48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Times New Roman"/>
              <a:cs typeface="Times New Roman"/>
            </a:endParaRPr>
          </a:p>
          <a:p>
            <a:pPr marL="509270">
              <a:lnSpc>
                <a:spcPct val="100000"/>
              </a:lnSpc>
              <a:spcBef>
                <a:spcPts val="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700077" y="4157907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763020" y="447082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826732" y="445141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520673" y="394801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584943" y="392753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327442" y="426686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398360" y="423649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945550" y="312191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7017740" y="309471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905669" y="420106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1"/>
                </a:lnTo>
                <a:lnTo>
                  <a:pt x="38733" y="232907"/>
                </a:lnTo>
                <a:lnTo>
                  <a:pt x="74485" y="258659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964009" y="41827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35326" y="520473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9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910279" y="519021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19120" y="383936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080478" y="380664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820174" y="3142265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746608" y="3102757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4">
                <a:moveTo>
                  <a:pt x="83963" y="0"/>
                </a:moveTo>
                <a:lnTo>
                  <a:pt x="0" y="32705"/>
                </a:lnTo>
                <a:lnTo>
                  <a:pt x="76542" y="80253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269048" y="552852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8334147" y="549916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418271" y="26391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481907" y="261113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424830" y="30773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481907" y="305441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239580" y="473325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380151" y="395343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363190" y="439513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307282" y="4247238"/>
            <a:ext cx="259715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288456" y="361477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8361012" y="3454707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5197476" y="4920331"/>
            <a:ext cx="171450" cy="1044575"/>
          </a:xfrm>
          <a:custGeom>
            <a:avLst/>
            <a:gdLst/>
            <a:ahLst/>
            <a:cxnLst/>
            <a:rect l="l" t="t" r="r" b="b"/>
            <a:pathLst>
              <a:path w="171450" h="1044575">
                <a:moveTo>
                  <a:pt x="85725" y="114300"/>
                </a:moveTo>
                <a:lnTo>
                  <a:pt x="57150" y="142875"/>
                </a:lnTo>
                <a:lnTo>
                  <a:pt x="57148" y="1016000"/>
                </a:lnTo>
                <a:lnTo>
                  <a:pt x="59394" y="1027122"/>
                </a:lnTo>
                <a:lnTo>
                  <a:pt x="65518" y="1036205"/>
                </a:lnTo>
                <a:lnTo>
                  <a:pt x="74601" y="1042329"/>
                </a:lnTo>
                <a:lnTo>
                  <a:pt x="85723" y="1044575"/>
                </a:lnTo>
                <a:lnTo>
                  <a:pt x="96846" y="1042329"/>
                </a:lnTo>
                <a:lnTo>
                  <a:pt x="105929" y="1036205"/>
                </a:lnTo>
                <a:lnTo>
                  <a:pt x="112053" y="1027122"/>
                </a:lnTo>
                <a:lnTo>
                  <a:pt x="114298" y="1016000"/>
                </a:lnTo>
                <a:lnTo>
                  <a:pt x="114300" y="142875"/>
                </a:lnTo>
                <a:lnTo>
                  <a:pt x="112054" y="131752"/>
                </a:lnTo>
                <a:lnTo>
                  <a:pt x="105930" y="122669"/>
                </a:lnTo>
                <a:lnTo>
                  <a:pt x="96847" y="116545"/>
                </a:lnTo>
                <a:lnTo>
                  <a:pt x="85725" y="114300"/>
                </a:lnTo>
                <a:close/>
              </a:path>
              <a:path w="171450" h="1044575">
                <a:moveTo>
                  <a:pt x="85725" y="0"/>
                </a:moveTo>
                <a:lnTo>
                  <a:pt x="0" y="171450"/>
                </a:lnTo>
                <a:lnTo>
                  <a:pt x="57149" y="171450"/>
                </a:lnTo>
                <a:lnTo>
                  <a:pt x="57150" y="142875"/>
                </a:lnTo>
                <a:lnTo>
                  <a:pt x="59395" y="131752"/>
                </a:lnTo>
                <a:lnTo>
                  <a:pt x="65519" y="122669"/>
                </a:lnTo>
                <a:lnTo>
                  <a:pt x="74602" y="116545"/>
                </a:lnTo>
                <a:lnTo>
                  <a:pt x="85725" y="114300"/>
                </a:lnTo>
                <a:lnTo>
                  <a:pt x="142875" y="114300"/>
                </a:lnTo>
                <a:lnTo>
                  <a:pt x="85725" y="0"/>
                </a:lnTo>
                <a:close/>
              </a:path>
              <a:path w="171450" h="1044575">
                <a:moveTo>
                  <a:pt x="142875" y="114300"/>
                </a:moveTo>
                <a:lnTo>
                  <a:pt x="85725" y="114300"/>
                </a:lnTo>
                <a:lnTo>
                  <a:pt x="96847" y="116545"/>
                </a:lnTo>
                <a:lnTo>
                  <a:pt x="105930" y="122669"/>
                </a:lnTo>
                <a:lnTo>
                  <a:pt x="112054" y="131752"/>
                </a:lnTo>
                <a:lnTo>
                  <a:pt x="114300" y="142875"/>
                </a:lnTo>
                <a:lnTo>
                  <a:pt x="114299" y="171450"/>
                </a:lnTo>
                <a:lnTo>
                  <a:pt x="171450" y="171450"/>
                </a:lnTo>
                <a:lnTo>
                  <a:pt x="142875" y="11430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4193524" y="5959347"/>
            <a:ext cx="2475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Neural</a:t>
            </a:r>
            <a:r>
              <a:rPr dirty="0" sz="280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5253683" y="3396334"/>
            <a:ext cx="2163445" cy="2568575"/>
          </a:xfrm>
          <a:custGeom>
            <a:avLst/>
            <a:gdLst/>
            <a:ahLst/>
            <a:cxnLst/>
            <a:rect l="l" t="t" r="r" b="b"/>
            <a:pathLst>
              <a:path w="2163445" h="2568575">
                <a:moveTo>
                  <a:pt x="2030933" y="112869"/>
                </a:moveTo>
                <a:lnTo>
                  <a:pt x="6592" y="2521614"/>
                </a:lnTo>
                <a:lnTo>
                  <a:pt x="1155" y="2531573"/>
                </a:lnTo>
                <a:lnTo>
                  <a:pt x="0" y="2542467"/>
                </a:lnTo>
                <a:lnTo>
                  <a:pt x="3013" y="2552999"/>
                </a:lnTo>
                <a:lnTo>
                  <a:pt x="10083" y="2561874"/>
                </a:lnTo>
                <a:lnTo>
                  <a:pt x="20043" y="2567311"/>
                </a:lnTo>
                <a:lnTo>
                  <a:pt x="30936" y="2568466"/>
                </a:lnTo>
                <a:lnTo>
                  <a:pt x="41468" y="2565453"/>
                </a:lnTo>
                <a:lnTo>
                  <a:pt x="50344" y="2558383"/>
                </a:lnTo>
                <a:lnTo>
                  <a:pt x="2074684" y="149637"/>
                </a:lnTo>
                <a:lnTo>
                  <a:pt x="2030933" y="112869"/>
                </a:lnTo>
                <a:close/>
              </a:path>
              <a:path w="2163445" h="2568575">
                <a:moveTo>
                  <a:pt x="2143722" y="80909"/>
                </a:moveTo>
                <a:lnTo>
                  <a:pt x="2068725" y="80909"/>
                </a:lnTo>
                <a:lnTo>
                  <a:pt x="2079618" y="82064"/>
                </a:lnTo>
                <a:lnTo>
                  <a:pt x="2089577" y="87501"/>
                </a:lnTo>
                <a:lnTo>
                  <a:pt x="2096648" y="96377"/>
                </a:lnTo>
                <a:lnTo>
                  <a:pt x="2099661" y="106908"/>
                </a:lnTo>
                <a:lnTo>
                  <a:pt x="2098506" y="117802"/>
                </a:lnTo>
                <a:lnTo>
                  <a:pt x="2093069" y="127762"/>
                </a:lnTo>
                <a:lnTo>
                  <a:pt x="2074684" y="149637"/>
                </a:lnTo>
                <a:lnTo>
                  <a:pt x="2118436" y="186406"/>
                </a:lnTo>
                <a:lnTo>
                  <a:pt x="2143722" y="80909"/>
                </a:lnTo>
                <a:close/>
              </a:path>
              <a:path w="2163445" h="2568575">
                <a:moveTo>
                  <a:pt x="2068725" y="80909"/>
                </a:moveTo>
                <a:lnTo>
                  <a:pt x="2058193" y="83922"/>
                </a:lnTo>
                <a:lnTo>
                  <a:pt x="2049318" y="90992"/>
                </a:lnTo>
                <a:lnTo>
                  <a:pt x="2030933" y="112869"/>
                </a:lnTo>
                <a:lnTo>
                  <a:pt x="2074684" y="149637"/>
                </a:lnTo>
                <a:lnTo>
                  <a:pt x="2093069" y="127762"/>
                </a:lnTo>
                <a:lnTo>
                  <a:pt x="2098506" y="117802"/>
                </a:lnTo>
                <a:lnTo>
                  <a:pt x="2099661" y="106908"/>
                </a:lnTo>
                <a:lnTo>
                  <a:pt x="2096648" y="96377"/>
                </a:lnTo>
                <a:lnTo>
                  <a:pt x="2089577" y="87501"/>
                </a:lnTo>
                <a:lnTo>
                  <a:pt x="2079618" y="82064"/>
                </a:lnTo>
                <a:lnTo>
                  <a:pt x="2068725" y="80909"/>
                </a:lnTo>
                <a:close/>
              </a:path>
              <a:path w="2163445" h="2568575">
                <a:moveTo>
                  <a:pt x="2163116" y="0"/>
                </a:moveTo>
                <a:lnTo>
                  <a:pt x="1987181" y="76099"/>
                </a:lnTo>
                <a:lnTo>
                  <a:pt x="2030933" y="112869"/>
                </a:lnTo>
                <a:lnTo>
                  <a:pt x="2049318" y="90992"/>
                </a:lnTo>
                <a:lnTo>
                  <a:pt x="2058193" y="83922"/>
                </a:lnTo>
                <a:lnTo>
                  <a:pt x="2068725" y="80909"/>
                </a:lnTo>
                <a:lnTo>
                  <a:pt x="2143722" y="80909"/>
                </a:lnTo>
                <a:lnTo>
                  <a:pt x="2163116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255123" y="4513934"/>
            <a:ext cx="2162175" cy="1450975"/>
          </a:xfrm>
          <a:custGeom>
            <a:avLst/>
            <a:gdLst/>
            <a:ahLst/>
            <a:cxnLst/>
            <a:rect l="l" t="t" r="r" b="b"/>
            <a:pathLst>
              <a:path w="2162175" h="1450975">
                <a:moveTo>
                  <a:pt x="2003170" y="71326"/>
                </a:moveTo>
                <a:lnTo>
                  <a:pt x="12226" y="1398622"/>
                </a:lnTo>
                <a:lnTo>
                  <a:pt x="4217" y="1406660"/>
                </a:lnTo>
                <a:lnTo>
                  <a:pt x="57" y="1416794"/>
                </a:lnTo>
                <a:lnTo>
                  <a:pt x="0" y="1427748"/>
                </a:lnTo>
                <a:lnTo>
                  <a:pt x="4301" y="1438249"/>
                </a:lnTo>
                <a:lnTo>
                  <a:pt x="12339" y="1446258"/>
                </a:lnTo>
                <a:lnTo>
                  <a:pt x="22473" y="1450418"/>
                </a:lnTo>
                <a:lnTo>
                  <a:pt x="33427" y="1450475"/>
                </a:lnTo>
                <a:lnTo>
                  <a:pt x="43927" y="1446174"/>
                </a:lnTo>
                <a:lnTo>
                  <a:pt x="2034872" y="118879"/>
                </a:lnTo>
                <a:lnTo>
                  <a:pt x="2003170" y="71326"/>
                </a:lnTo>
                <a:close/>
              </a:path>
              <a:path w="2162175" h="1450975">
                <a:moveTo>
                  <a:pt x="2132433" y="51176"/>
                </a:moveTo>
                <a:lnTo>
                  <a:pt x="2037445" y="51176"/>
                </a:lnTo>
                <a:lnTo>
                  <a:pt x="2048399" y="51233"/>
                </a:lnTo>
                <a:lnTo>
                  <a:pt x="2058533" y="55394"/>
                </a:lnTo>
                <a:lnTo>
                  <a:pt x="2066571" y="63403"/>
                </a:lnTo>
                <a:lnTo>
                  <a:pt x="2070873" y="73903"/>
                </a:lnTo>
                <a:lnTo>
                  <a:pt x="2070816" y="84857"/>
                </a:lnTo>
                <a:lnTo>
                  <a:pt x="2066655" y="94991"/>
                </a:lnTo>
                <a:lnTo>
                  <a:pt x="2058645" y="103030"/>
                </a:lnTo>
                <a:lnTo>
                  <a:pt x="2034872" y="118879"/>
                </a:lnTo>
                <a:lnTo>
                  <a:pt x="2066573" y="166430"/>
                </a:lnTo>
                <a:lnTo>
                  <a:pt x="2132433" y="51176"/>
                </a:lnTo>
                <a:close/>
              </a:path>
              <a:path w="2162175" h="1450975">
                <a:moveTo>
                  <a:pt x="2037445" y="51176"/>
                </a:moveTo>
                <a:lnTo>
                  <a:pt x="2026945" y="55477"/>
                </a:lnTo>
                <a:lnTo>
                  <a:pt x="2003170" y="71326"/>
                </a:lnTo>
                <a:lnTo>
                  <a:pt x="2034872" y="118879"/>
                </a:lnTo>
                <a:lnTo>
                  <a:pt x="2058645" y="103030"/>
                </a:lnTo>
                <a:lnTo>
                  <a:pt x="2066655" y="94991"/>
                </a:lnTo>
                <a:lnTo>
                  <a:pt x="2070816" y="84857"/>
                </a:lnTo>
                <a:lnTo>
                  <a:pt x="2070873" y="73903"/>
                </a:lnTo>
                <a:lnTo>
                  <a:pt x="2066571" y="63403"/>
                </a:lnTo>
                <a:lnTo>
                  <a:pt x="2058533" y="55394"/>
                </a:lnTo>
                <a:lnTo>
                  <a:pt x="2048399" y="51233"/>
                </a:lnTo>
                <a:lnTo>
                  <a:pt x="2037445" y="51176"/>
                </a:lnTo>
                <a:close/>
              </a:path>
              <a:path w="2162175" h="1450975">
                <a:moveTo>
                  <a:pt x="2161677" y="0"/>
                </a:moveTo>
                <a:lnTo>
                  <a:pt x="1971470" y="23775"/>
                </a:lnTo>
                <a:lnTo>
                  <a:pt x="2003170" y="71326"/>
                </a:lnTo>
                <a:lnTo>
                  <a:pt x="2026945" y="55477"/>
                </a:lnTo>
                <a:lnTo>
                  <a:pt x="2037445" y="51176"/>
                </a:lnTo>
                <a:lnTo>
                  <a:pt x="2132433" y="51176"/>
                </a:lnTo>
                <a:lnTo>
                  <a:pt x="216167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254113" y="5485460"/>
            <a:ext cx="2010410" cy="488315"/>
          </a:xfrm>
          <a:custGeom>
            <a:avLst/>
            <a:gdLst/>
            <a:ahLst/>
            <a:cxnLst/>
            <a:rect l="l" t="t" r="r" b="b"/>
            <a:pathLst>
              <a:path w="2010409" h="488314">
                <a:moveTo>
                  <a:pt x="1836604" y="55962"/>
                </a:moveTo>
                <a:lnTo>
                  <a:pt x="22243" y="431717"/>
                </a:lnTo>
                <a:lnTo>
                  <a:pt x="11807" y="436171"/>
                </a:lnTo>
                <a:lnTo>
                  <a:pt x="4154" y="444010"/>
                </a:lnTo>
                <a:lnTo>
                  <a:pt x="0" y="454146"/>
                </a:lnTo>
                <a:lnTo>
                  <a:pt x="56" y="465493"/>
                </a:lnTo>
                <a:lnTo>
                  <a:pt x="4511" y="475929"/>
                </a:lnTo>
                <a:lnTo>
                  <a:pt x="12349" y="483581"/>
                </a:lnTo>
                <a:lnTo>
                  <a:pt x="22486" y="487736"/>
                </a:lnTo>
                <a:lnTo>
                  <a:pt x="33833" y="487679"/>
                </a:lnTo>
                <a:lnTo>
                  <a:pt x="1848194" y="111925"/>
                </a:lnTo>
                <a:lnTo>
                  <a:pt x="1836604" y="55962"/>
                </a:lnTo>
                <a:close/>
              </a:path>
              <a:path w="2010409" h="488314">
                <a:moveTo>
                  <a:pt x="2009100" y="50110"/>
                </a:moveTo>
                <a:lnTo>
                  <a:pt x="1875933" y="50110"/>
                </a:lnTo>
                <a:lnTo>
                  <a:pt x="1886069" y="54265"/>
                </a:lnTo>
                <a:lnTo>
                  <a:pt x="1893907" y="61918"/>
                </a:lnTo>
                <a:lnTo>
                  <a:pt x="1898362" y="72354"/>
                </a:lnTo>
                <a:lnTo>
                  <a:pt x="1898419" y="83701"/>
                </a:lnTo>
                <a:lnTo>
                  <a:pt x="1894264" y="93837"/>
                </a:lnTo>
                <a:lnTo>
                  <a:pt x="1886612" y="101675"/>
                </a:lnTo>
                <a:lnTo>
                  <a:pt x="1876175" y="106130"/>
                </a:lnTo>
                <a:lnTo>
                  <a:pt x="1848194" y="111925"/>
                </a:lnTo>
                <a:lnTo>
                  <a:pt x="1859784" y="167887"/>
                </a:lnTo>
                <a:lnTo>
                  <a:pt x="2009100" y="50110"/>
                </a:lnTo>
                <a:close/>
              </a:path>
              <a:path w="2010409" h="488314">
                <a:moveTo>
                  <a:pt x="1875933" y="50110"/>
                </a:moveTo>
                <a:lnTo>
                  <a:pt x="1864586" y="50167"/>
                </a:lnTo>
                <a:lnTo>
                  <a:pt x="1836604" y="55962"/>
                </a:lnTo>
                <a:lnTo>
                  <a:pt x="1848194" y="111925"/>
                </a:lnTo>
                <a:lnTo>
                  <a:pt x="1876175" y="106130"/>
                </a:lnTo>
                <a:lnTo>
                  <a:pt x="1886612" y="101675"/>
                </a:lnTo>
                <a:lnTo>
                  <a:pt x="1894264" y="93837"/>
                </a:lnTo>
                <a:lnTo>
                  <a:pt x="1898419" y="83701"/>
                </a:lnTo>
                <a:lnTo>
                  <a:pt x="1898362" y="72354"/>
                </a:lnTo>
                <a:lnTo>
                  <a:pt x="1893907" y="61918"/>
                </a:lnTo>
                <a:lnTo>
                  <a:pt x="1886069" y="54265"/>
                </a:lnTo>
                <a:lnTo>
                  <a:pt x="1875933" y="50110"/>
                </a:lnTo>
                <a:close/>
              </a:path>
              <a:path w="2010409" h="488314">
                <a:moveTo>
                  <a:pt x="1825014" y="0"/>
                </a:moveTo>
                <a:lnTo>
                  <a:pt x="1836604" y="55962"/>
                </a:lnTo>
                <a:lnTo>
                  <a:pt x="1864586" y="50167"/>
                </a:lnTo>
                <a:lnTo>
                  <a:pt x="2009100" y="50110"/>
                </a:lnTo>
                <a:lnTo>
                  <a:pt x="2010287" y="49174"/>
                </a:lnTo>
                <a:lnTo>
                  <a:pt x="182501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86" name="object 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7" name="object 8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68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5363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Intuition: </a:t>
            </a:r>
            <a:r>
              <a:rPr dirty="0" spc="-10"/>
              <a:t>Network </a:t>
            </a:r>
            <a:r>
              <a:rPr dirty="0" spc="-5"/>
              <a:t>neighborhood </a:t>
            </a:r>
            <a:r>
              <a:rPr dirty="0" spc="-10"/>
              <a:t>defines </a:t>
            </a:r>
            <a:r>
              <a:rPr dirty="0"/>
              <a:t>a </a:t>
            </a:r>
            <a:r>
              <a:rPr dirty="0">
                <a:solidFill>
                  <a:srgbClr val="D60093"/>
                </a:solidFill>
              </a:rPr>
              <a:t> </a:t>
            </a:r>
            <a:r>
              <a:rPr dirty="0" spc="-10">
                <a:solidFill>
                  <a:srgbClr val="D60093"/>
                </a:solidFill>
              </a:rPr>
              <a:t>computation</a:t>
            </a:r>
            <a:r>
              <a:rPr dirty="0" spc="-45">
                <a:solidFill>
                  <a:srgbClr val="D60093"/>
                </a:solidFill>
              </a:rPr>
              <a:t> </a:t>
            </a:r>
            <a:r>
              <a:rPr dirty="0" spc="-15">
                <a:solidFill>
                  <a:srgbClr val="D60093"/>
                </a:solidFill>
              </a:rPr>
              <a:t>graph</a:t>
            </a:r>
          </a:p>
        </p:txBody>
      </p:sp>
      <p:sp>
        <p:nvSpPr>
          <p:cNvPr id="4" name="object 4"/>
          <p:cNvSpPr/>
          <p:nvPr/>
        </p:nvSpPr>
        <p:spPr>
          <a:xfrm>
            <a:off x="19221" y="4773758"/>
            <a:ext cx="9124778" cy="15965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88000" y="2031560"/>
            <a:ext cx="2183359" cy="2209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28989" y="3514789"/>
            <a:ext cx="5502275" cy="1458595"/>
          </a:xfrm>
          <a:custGeom>
            <a:avLst/>
            <a:gdLst/>
            <a:ahLst/>
            <a:cxnLst/>
            <a:rect l="l" t="t" r="r" b="b"/>
            <a:pathLst>
              <a:path w="5502275" h="1458595">
                <a:moveTo>
                  <a:pt x="5415642" y="1430526"/>
                </a:moveTo>
                <a:lnTo>
                  <a:pt x="5408471" y="1458187"/>
                </a:lnTo>
                <a:lnTo>
                  <a:pt x="5502210" y="1438210"/>
                </a:lnTo>
                <a:lnTo>
                  <a:pt x="5499777" y="1436088"/>
                </a:lnTo>
                <a:lnTo>
                  <a:pt x="5437093" y="1436088"/>
                </a:lnTo>
                <a:lnTo>
                  <a:pt x="5415642" y="1430526"/>
                </a:lnTo>
                <a:close/>
              </a:path>
              <a:path w="5502275" h="1458595">
                <a:moveTo>
                  <a:pt x="5422814" y="1402866"/>
                </a:moveTo>
                <a:lnTo>
                  <a:pt x="5415642" y="1430526"/>
                </a:lnTo>
                <a:lnTo>
                  <a:pt x="5437093" y="1436088"/>
                </a:lnTo>
                <a:lnTo>
                  <a:pt x="5444891" y="1431500"/>
                </a:lnTo>
                <a:lnTo>
                  <a:pt x="5448851" y="1416225"/>
                </a:lnTo>
                <a:lnTo>
                  <a:pt x="5444265" y="1408427"/>
                </a:lnTo>
                <a:lnTo>
                  <a:pt x="5422814" y="1402866"/>
                </a:lnTo>
                <a:close/>
              </a:path>
              <a:path w="5502275" h="1458595">
                <a:moveTo>
                  <a:pt x="5429985" y="1375205"/>
                </a:moveTo>
                <a:lnTo>
                  <a:pt x="5422814" y="1402866"/>
                </a:lnTo>
                <a:lnTo>
                  <a:pt x="5444265" y="1408427"/>
                </a:lnTo>
                <a:lnTo>
                  <a:pt x="5448851" y="1416225"/>
                </a:lnTo>
                <a:lnTo>
                  <a:pt x="5444891" y="1431500"/>
                </a:lnTo>
                <a:lnTo>
                  <a:pt x="5437093" y="1436088"/>
                </a:lnTo>
                <a:lnTo>
                  <a:pt x="5499777" y="1436088"/>
                </a:lnTo>
                <a:lnTo>
                  <a:pt x="5429985" y="1375205"/>
                </a:lnTo>
                <a:close/>
              </a:path>
              <a:path w="5502275" h="1458595">
                <a:moveTo>
                  <a:pt x="11757" y="0"/>
                </a:moveTo>
                <a:lnTo>
                  <a:pt x="3959" y="4585"/>
                </a:lnTo>
                <a:lnTo>
                  <a:pt x="0" y="19862"/>
                </a:lnTo>
                <a:lnTo>
                  <a:pt x="4585" y="27660"/>
                </a:lnTo>
                <a:lnTo>
                  <a:pt x="5415642" y="1430526"/>
                </a:lnTo>
                <a:lnTo>
                  <a:pt x="5422814" y="1402866"/>
                </a:lnTo>
                <a:lnTo>
                  <a:pt x="1175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12279" y="3520046"/>
            <a:ext cx="3987165" cy="1348740"/>
          </a:xfrm>
          <a:custGeom>
            <a:avLst/>
            <a:gdLst/>
            <a:ahLst/>
            <a:cxnLst/>
            <a:rect l="l" t="t" r="r" b="b"/>
            <a:pathLst>
              <a:path w="3987165" h="1348739">
                <a:moveTo>
                  <a:pt x="3900825" y="1321326"/>
                </a:moveTo>
                <a:lnTo>
                  <a:pt x="3891819" y="1348444"/>
                </a:lnTo>
                <a:lnTo>
                  <a:pt x="3986684" y="1334786"/>
                </a:lnTo>
                <a:lnTo>
                  <a:pt x="3980200" y="1328315"/>
                </a:lnTo>
                <a:lnTo>
                  <a:pt x="3921870" y="1328315"/>
                </a:lnTo>
                <a:lnTo>
                  <a:pt x="3900825" y="1321326"/>
                </a:lnTo>
                <a:close/>
              </a:path>
              <a:path w="3987165" h="1348739">
                <a:moveTo>
                  <a:pt x="3909832" y="1294206"/>
                </a:moveTo>
                <a:lnTo>
                  <a:pt x="3900825" y="1321326"/>
                </a:lnTo>
                <a:lnTo>
                  <a:pt x="3921870" y="1328315"/>
                </a:lnTo>
                <a:lnTo>
                  <a:pt x="3929957" y="1324260"/>
                </a:lnTo>
                <a:lnTo>
                  <a:pt x="3934932" y="1309283"/>
                </a:lnTo>
                <a:lnTo>
                  <a:pt x="3930877" y="1301196"/>
                </a:lnTo>
                <a:lnTo>
                  <a:pt x="3909832" y="1294206"/>
                </a:lnTo>
                <a:close/>
              </a:path>
              <a:path w="3987165" h="1348739">
                <a:moveTo>
                  <a:pt x="3918839" y="1267089"/>
                </a:moveTo>
                <a:lnTo>
                  <a:pt x="3909832" y="1294206"/>
                </a:lnTo>
                <a:lnTo>
                  <a:pt x="3930877" y="1301196"/>
                </a:lnTo>
                <a:lnTo>
                  <a:pt x="3934932" y="1309283"/>
                </a:lnTo>
                <a:lnTo>
                  <a:pt x="3929957" y="1324260"/>
                </a:lnTo>
                <a:lnTo>
                  <a:pt x="3921870" y="1328315"/>
                </a:lnTo>
                <a:lnTo>
                  <a:pt x="3980200" y="1328315"/>
                </a:lnTo>
                <a:lnTo>
                  <a:pt x="3918839" y="1267089"/>
                </a:lnTo>
                <a:close/>
              </a:path>
              <a:path w="3987165" h="1348739">
                <a:moveTo>
                  <a:pt x="13060" y="0"/>
                </a:moveTo>
                <a:lnTo>
                  <a:pt x="4973" y="4055"/>
                </a:lnTo>
                <a:lnTo>
                  <a:pt x="0" y="19032"/>
                </a:lnTo>
                <a:lnTo>
                  <a:pt x="4053" y="27118"/>
                </a:lnTo>
                <a:lnTo>
                  <a:pt x="3900825" y="1321326"/>
                </a:lnTo>
                <a:lnTo>
                  <a:pt x="3909832" y="1294206"/>
                </a:lnTo>
                <a:lnTo>
                  <a:pt x="13060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95553" y="3514306"/>
            <a:ext cx="2729865" cy="1320165"/>
          </a:xfrm>
          <a:custGeom>
            <a:avLst/>
            <a:gdLst/>
            <a:ahLst/>
            <a:cxnLst/>
            <a:rect l="l" t="t" r="r" b="b"/>
            <a:pathLst>
              <a:path w="2729865" h="1320164">
                <a:moveTo>
                  <a:pt x="2645824" y="1294344"/>
                </a:moveTo>
                <a:lnTo>
                  <a:pt x="2633459" y="1320105"/>
                </a:lnTo>
                <a:lnTo>
                  <a:pt x="2729289" y="1318559"/>
                </a:lnTo>
                <a:lnTo>
                  <a:pt x="2717955" y="1303944"/>
                </a:lnTo>
                <a:lnTo>
                  <a:pt x="2665823" y="1303944"/>
                </a:lnTo>
                <a:lnTo>
                  <a:pt x="2645824" y="1294344"/>
                </a:lnTo>
                <a:close/>
              </a:path>
              <a:path w="2729865" h="1320164">
                <a:moveTo>
                  <a:pt x="2658189" y="1268582"/>
                </a:moveTo>
                <a:lnTo>
                  <a:pt x="2645824" y="1294344"/>
                </a:lnTo>
                <a:lnTo>
                  <a:pt x="2665823" y="1303944"/>
                </a:lnTo>
                <a:lnTo>
                  <a:pt x="2674359" y="1300944"/>
                </a:lnTo>
                <a:lnTo>
                  <a:pt x="2681188" y="1286718"/>
                </a:lnTo>
                <a:lnTo>
                  <a:pt x="2678189" y="1278182"/>
                </a:lnTo>
                <a:lnTo>
                  <a:pt x="2658189" y="1268582"/>
                </a:lnTo>
                <a:close/>
              </a:path>
              <a:path w="2729865" h="1320164">
                <a:moveTo>
                  <a:pt x="2670554" y="1242822"/>
                </a:moveTo>
                <a:lnTo>
                  <a:pt x="2658189" y="1268582"/>
                </a:lnTo>
                <a:lnTo>
                  <a:pt x="2678189" y="1278182"/>
                </a:lnTo>
                <a:lnTo>
                  <a:pt x="2681188" y="1286718"/>
                </a:lnTo>
                <a:lnTo>
                  <a:pt x="2674359" y="1300944"/>
                </a:lnTo>
                <a:lnTo>
                  <a:pt x="2665823" y="1303944"/>
                </a:lnTo>
                <a:lnTo>
                  <a:pt x="2717955" y="1303944"/>
                </a:lnTo>
                <a:lnTo>
                  <a:pt x="2670554" y="1242822"/>
                </a:lnTo>
                <a:close/>
              </a:path>
              <a:path w="2729865" h="1320164">
                <a:moveTo>
                  <a:pt x="15364" y="0"/>
                </a:moveTo>
                <a:lnTo>
                  <a:pt x="6828" y="2998"/>
                </a:lnTo>
                <a:lnTo>
                  <a:pt x="0" y="17226"/>
                </a:lnTo>
                <a:lnTo>
                  <a:pt x="2998" y="25760"/>
                </a:lnTo>
                <a:lnTo>
                  <a:pt x="2645824" y="1294344"/>
                </a:lnTo>
                <a:lnTo>
                  <a:pt x="2658189" y="1268582"/>
                </a:lnTo>
                <a:lnTo>
                  <a:pt x="1536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18701" y="3498570"/>
            <a:ext cx="523240" cy="1334770"/>
          </a:xfrm>
          <a:custGeom>
            <a:avLst/>
            <a:gdLst/>
            <a:ahLst/>
            <a:cxnLst/>
            <a:rect l="l" t="t" r="r" b="b"/>
            <a:pathLst>
              <a:path w="523239" h="1334770">
                <a:moveTo>
                  <a:pt x="0" y="1238959"/>
                </a:moveTo>
                <a:lnTo>
                  <a:pt x="9861" y="1334293"/>
                </a:lnTo>
                <a:lnTo>
                  <a:pt x="64649" y="1283602"/>
                </a:lnTo>
                <a:lnTo>
                  <a:pt x="37407" y="1283602"/>
                </a:lnTo>
                <a:lnTo>
                  <a:pt x="22641" y="1278035"/>
                </a:lnTo>
                <a:lnTo>
                  <a:pt x="18912" y="1269792"/>
                </a:lnTo>
                <a:lnTo>
                  <a:pt x="26737" y="1249041"/>
                </a:lnTo>
                <a:lnTo>
                  <a:pt x="0" y="1238959"/>
                </a:lnTo>
                <a:close/>
              </a:path>
              <a:path w="523239" h="1334770">
                <a:moveTo>
                  <a:pt x="26737" y="1249041"/>
                </a:moveTo>
                <a:lnTo>
                  <a:pt x="18912" y="1269792"/>
                </a:lnTo>
                <a:lnTo>
                  <a:pt x="22641" y="1278035"/>
                </a:lnTo>
                <a:lnTo>
                  <a:pt x="37407" y="1283602"/>
                </a:lnTo>
                <a:lnTo>
                  <a:pt x="45650" y="1279874"/>
                </a:lnTo>
                <a:lnTo>
                  <a:pt x="53474" y="1259122"/>
                </a:lnTo>
                <a:lnTo>
                  <a:pt x="26737" y="1249041"/>
                </a:lnTo>
                <a:close/>
              </a:path>
              <a:path w="523239" h="1334770">
                <a:moveTo>
                  <a:pt x="53474" y="1259122"/>
                </a:moveTo>
                <a:lnTo>
                  <a:pt x="45650" y="1279874"/>
                </a:lnTo>
                <a:lnTo>
                  <a:pt x="37407" y="1283602"/>
                </a:lnTo>
                <a:lnTo>
                  <a:pt x="64649" y="1283602"/>
                </a:lnTo>
                <a:lnTo>
                  <a:pt x="80213" y="1269203"/>
                </a:lnTo>
                <a:lnTo>
                  <a:pt x="53474" y="1259122"/>
                </a:lnTo>
                <a:close/>
              </a:path>
              <a:path w="523239" h="1334770">
                <a:moveTo>
                  <a:pt x="504535" y="0"/>
                </a:moveTo>
                <a:lnTo>
                  <a:pt x="496293" y="3728"/>
                </a:lnTo>
                <a:lnTo>
                  <a:pt x="26737" y="1249041"/>
                </a:lnTo>
                <a:lnTo>
                  <a:pt x="53474" y="1259122"/>
                </a:lnTo>
                <a:lnTo>
                  <a:pt x="523030" y="13811"/>
                </a:lnTo>
                <a:lnTo>
                  <a:pt x="519301" y="5568"/>
                </a:lnTo>
                <a:lnTo>
                  <a:pt x="504535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13309" y="3516692"/>
            <a:ext cx="1240155" cy="1349375"/>
          </a:xfrm>
          <a:custGeom>
            <a:avLst/>
            <a:gdLst/>
            <a:ahLst/>
            <a:cxnLst/>
            <a:rect l="l" t="t" r="r" b="b"/>
            <a:pathLst>
              <a:path w="1240154" h="1349375">
                <a:moveTo>
                  <a:pt x="1171212" y="1295633"/>
                </a:moveTo>
                <a:lnTo>
                  <a:pt x="1150161" y="1314956"/>
                </a:lnTo>
                <a:lnTo>
                  <a:pt x="1239707" y="1349124"/>
                </a:lnTo>
                <a:lnTo>
                  <a:pt x="1229176" y="1312359"/>
                </a:lnTo>
                <a:lnTo>
                  <a:pt x="1195249" y="1312359"/>
                </a:lnTo>
                <a:lnTo>
                  <a:pt x="1186211" y="1311973"/>
                </a:lnTo>
                <a:lnTo>
                  <a:pt x="1171212" y="1295633"/>
                </a:lnTo>
                <a:close/>
              </a:path>
              <a:path w="1240154" h="1349375">
                <a:moveTo>
                  <a:pt x="1192262" y="1276310"/>
                </a:moveTo>
                <a:lnTo>
                  <a:pt x="1171212" y="1295633"/>
                </a:lnTo>
                <a:lnTo>
                  <a:pt x="1186211" y="1311973"/>
                </a:lnTo>
                <a:lnTo>
                  <a:pt x="1195249" y="1312359"/>
                </a:lnTo>
                <a:lnTo>
                  <a:pt x="1206875" y="1301687"/>
                </a:lnTo>
                <a:lnTo>
                  <a:pt x="1207262" y="1292650"/>
                </a:lnTo>
                <a:lnTo>
                  <a:pt x="1192262" y="1276310"/>
                </a:lnTo>
                <a:close/>
              </a:path>
              <a:path w="1240154" h="1349375">
                <a:moveTo>
                  <a:pt x="1213314" y="1256986"/>
                </a:moveTo>
                <a:lnTo>
                  <a:pt x="1192262" y="1276310"/>
                </a:lnTo>
                <a:lnTo>
                  <a:pt x="1207262" y="1292650"/>
                </a:lnTo>
                <a:lnTo>
                  <a:pt x="1206875" y="1301687"/>
                </a:lnTo>
                <a:lnTo>
                  <a:pt x="1195249" y="1312359"/>
                </a:lnTo>
                <a:lnTo>
                  <a:pt x="1229176" y="1312359"/>
                </a:lnTo>
                <a:lnTo>
                  <a:pt x="1213314" y="1256986"/>
                </a:lnTo>
                <a:close/>
              </a:path>
              <a:path w="1240154" h="1349375">
                <a:moveTo>
                  <a:pt x="12011" y="0"/>
                </a:moveTo>
                <a:lnTo>
                  <a:pt x="386" y="10671"/>
                </a:lnTo>
                <a:lnTo>
                  <a:pt x="0" y="19710"/>
                </a:lnTo>
                <a:lnTo>
                  <a:pt x="1171212" y="1295633"/>
                </a:lnTo>
                <a:lnTo>
                  <a:pt x="1192262" y="1276310"/>
                </a:lnTo>
                <a:lnTo>
                  <a:pt x="21050" y="387"/>
                </a:lnTo>
                <a:lnTo>
                  <a:pt x="12011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5341" y="3516289"/>
            <a:ext cx="2052320" cy="1377315"/>
          </a:xfrm>
          <a:custGeom>
            <a:avLst/>
            <a:gdLst/>
            <a:ahLst/>
            <a:cxnLst/>
            <a:rect l="l" t="t" r="r" b="b"/>
            <a:pathLst>
              <a:path w="2052320" h="1377314">
                <a:moveTo>
                  <a:pt x="47455" y="1293715"/>
                </a:moveTo>
                <a:lnTo>
                  <a:pt x="0" y="1376986"/>
                </a:lnTo>
                <a:lnTo>
                  <a:pt x="95089" y="1364989"/>
                </a:lnTo>
                <a:lnTo>
                  <a:pt x="87445" y="1353552"/>
                </a:lnTo>
                <a:lnTo>
                  <a:pt x="60777" y="1353552"/>
                </a:lnTo>
                <a:lnTo>
                  <a:pt x="51904" y="1351788"/>
                </a:lnTo>
                <a:lnTo>
                  <a:pt x="43135" y="1338667"/>
                </a:lnTo>
                <a:lnTo>
                  <a:pt x="44899" y="1329794"/>
                </a:lnTo>
                <a:lnTo>
                  <a:pt x="63333" y="1317473"/>
                </a:lnTo>
                <a:lnTo>
                  <a:pt x="47455" y="1293715"/>
                </a:lnTo>
                <a:close/>
              </a:path>
              <a:path w="2052320" h="1377314">
                <a:moveTo>
                  <a:pt x="63333" y="1317473"/>
                </a:moveTo>
                <a:lnTo>
                  <a:pt x="44899" y="1329794"/>
                </a:lnTo>
                <a:lnTo>
                  <a:pt x="43135" y="1338667"/>
                </a:lnTo>
                <a:lnTo>
                  <a:pt x="51904" y="1351788"/>
                </a:lnTo>
                <a:lnTo>
                  <a:pt x="60777" y="1353552"/>
                </a:lnTo>
                <a:lnTo>
                  <a:pt x="79211" y="1341231"/>
                </a:lnTo>
                <a:lnTo>
                  <a:pt x="63333" y="1317473"/>
                </a:lnTo>
                <a:close/>
              </a:path>
              <a:path w="2052320" h="1377314">
                <a:moveTo>
                  <a:pt x="79211" y="1341231"/>
                </a:moveTo>
                <a:lnTo>
                  <a:pt x="60777" y="1353552"/>
                </a:lnTo>
                <a:lnTo>
                  <a:pt x="87445" y="1353552"/>
                </a:lnTo>
                <a:lnTo>
                  <a:pt x="79211" y="1341231"/>
                </a:lnTo>
                <a:close/>
              </a:path>
              <a:path w="2052320" h="1377314">
                <a:moveTo>
                  <a:pt x="2034633" y="0"/>
                </a:moveTo>
                <a:lnTo>
                  <a:pt x="63333" y="1317473"/>
                </a:lnTo>
                <a:lnTo>
                  <a:pt x="79211" y="1341231"/>
                </a:lnTo>
                <a:lnTo>
                  <a:pt x="2050510" y="23757"/>
                </a:lnTo>
                <a:lnTo>
                  <a:pt x="2052274" y="14884"/>
                </a:lnTo>
                <a:lnTo>
                  <a:pt x="2043505" y="1764"/>
                </a:lnTo>
                <a:lnTo>
                  <a:pt x="2034633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8005" y="2698495"/>
            <a:ext cx="4707255" cy="842644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28575" marR="5080" indent="-16510">
              <a:lnSpc>
                <a:spcPts val="3190"/>
              </a:lnSpc>
              <a:spcBef>
                <a:spcPts val="245"/>
              </a:spcBef>
            </a:pPr>
            <a:r>
              <a:rPr dirty="0" sz="2700" spc="-35">
                <a:solidFill>
                  <a:srgbClr val="D60093"/>
                </a:solidFill>
                <a:latin typeface="Calibri"/>
                <a:cs typeface="Calibri"/>
              </a:rPr>
              <a:t>Every </a:t>
            </a:r>
            <a:r>
              <a:rPr dirty="0" sz="2700" spc="-15">
                <a:solidFill>
                  <a:srgbClr val="D60093"/>
                </a:solidFill>
                <a:latin typeface="Calibri"/>
                <a:cs typeface="Calibri"/>
              </a:rPr>
              <a:t>node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defines </a:t>
            </a:r>
            <a:r>
              <a:rPr dirty="0" sz="2700">
                <a:solidFill>
                  <a:srgbClr val="D60093"/>
                </a:solidFill>
                <a:latin typeface="Calibri"/>
                <a:cs typeface="Calibri"/>
              </a:rPr>
              <a:t>a</a:t>
            </a:r>
            <a:r>
              <a:rPr dirty="0" sz="2700" spc="-11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D60093"/>
                </a:solidFill>
                <a:latin typeface="Calibri"/>
                <a:cs typeface="Calibri"/>
              </a:rPr>
              <a:t>computation  </a:t>
            </a:r>
            <a:r>
              <a:rPr dirty="0" sz="2700" spc="-30">
                <a:solidFill>
                  <a:srgbClr val="D60093"/>
                </a:solidFill>
                <a:latin typeface="Calibri"/>
                <a:cs typeface="Calibri"/>
              </a:rPr>
              <a:t>graph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based </a:t>
            </a:r>
            <a:r>
              <a:rPr dirty="0" sz="2700" spc="-10">
                <a:solidFill>
                  <a:srgbClr val="D60093"/>
                </a:solidFill>
                <a:latin typeface="Calibri"/>
                <a:cs typeface="Calibri"/>
              </a:rPr>
              <a:t>on its</a:t>
            </a:r>
            <a:r>
              <a:rPr dirty="0" sz="2700" spc="-9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neighborhood!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1545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7340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Model </a:t>
            </a:r>
            <a:r>
              <a:rPr dirty="0" spc="-10"/>
              <a:t>can </a:t>
            </a:r>
            <a:r>
              <a:rPr dirty="0"/>
              <a:t>be </a:t>
            </a:r>
            <a:r>
              <a:rPr dirty="0" spc="-5">
                <a:solidFill>
                  <a:srgbClr val="C00000"/>
                </a:solidFill>
              </a:rPr>
              <a:t>of </a:t>
            </a:r>
            <a:r>
              <a:rPr dirty="0" spc="-10">
                <a:solidFill>
                  <a:srgbClr val="C00000"/>
                </a:solidFill>
              </a:rPr>
              <a:t>arbitrary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depth: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51151"/>
            <a:ext cx="7590155" cy="189103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700" spc="-15">
                <a:latin typeface="Calibri"/>
                <a:cs typeface="Calibri"/>
              </a:rPr>
              <a:t>Nodes </a:t>
            </a:r>
            <a:r>
              <a:rPr dirty="0" sz="2700" spc="-35">
                <a:latin typeface="Calibri"/>
                <a:cs typeface="Calibri"/>
              </a:rPr>
              <a:t>have </a:t>
            </a:r>
            <a:r>
              <a:rPr dirty="0" sz="2700" spc="-20">
                <a:latin typeface="Calibri"/>
                <a:cs typeface="Calibri"/>
              </a:rPr>
              <a:t>embeddings </a:t>
            </a:r>
            <a:r>
              <a:rPr dirty="0" sz="2700" spc="-25">
                <a:latin typeface="Calibri"/>
                <a:cs typeface="Calibri"/>
              </a:rPr>
              <a:t>at </a:t>
            </a:r>
            <a:r>
              <a:rPr dirty="0" sz="2700" spc="-15">
                <a:latin typeface="Calibri"/>
                <a:cs typeface="Calibri"/>
              </a:rPr>
              <a:t>each</a:t>
            </a:r>
            <a:r>
              <a:rPr dirty="0" sz="2700" spc="-125">
                <a:latin typeface="Calibri"/>
                <a:cs typeface="Calibri"/>
              </a:rPr>
              <a:t> </a:t>
            </a:r>
            <a:r>
              <a:rPr dirty="0" sz="2700" spc="-35">
                <a:latin typeface="Calibri"/>
                <a:cs typeface="Calibri"/>
              </a:rPr>
              <a:t>layer</a:t>
            </a:r>
            <a:endParaRPr sz="27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700" spc="-40">
                <a:latin typeface="Calibri"/>
                <a:cs typeface="Calibri"/>
              </a:rPr>
              <a:t>Layer-0 </a:t>
            </a:r>
            <a:r>
              <a:rPr dirty="0" sz="2700" spc="-20">
                <a:latin typeface="Calibri"/>
                <a:cs typeface="Calibri"/>
              </a:rPr>
              <a:t>embedding </a:t>
            </a:r>
            <a:r>
              <a:rPr dirty="0" sz="2700" spc="-10">
                <a:latin typeface="Calibri"/>
                <a:cs typeface="Calibri"/>
              </a:rPr>
              <a:t>of </a:t>
            </a:r>
            <a:r>
              <a:rPr dirty="0" sz="2700" spc="-15">
                <a:latin typeface="Calibri"/>
                <a:cs typeface="Calibri"/>
              </a:rPr>
              <a:t>node </a:t>
            </a:r>
            <a:r>
              <a:rPr dirty="0" sz="2700">
                <a:latin typeface="Cambria Math"/>
                <a:cs typeface="Cambria Math"/>
              </a:rPr>
              <a:t>𝑢 </a:t>
            </a:r>
            <a:r>
              <a:rPr dirty="0" sz="2700" spc="-5">
                <a:latin typeface="Calibri"/>
                <a:cs typeface="Calibri"/>
              </a:rPr>
              <a:t>is </a:t>
            </a:r>
            <a:r>
              <a:rPr dirty="0" sz="2700" spc="-10">
                <a:latin typeface="Calibri"/>
                <a:cs typeface="Calibri"/>
              </a:rPr>
              <a:t>its </a:t>
            </a:r>
            <a:r>
              <a:rPr dirty="0" sz="2700" spc="-15">
                <a:latin typeface="Calibri"/>
                <a:cs typeface="Calibri"/>
              </a:rPr>
              <a:t>input </a:t>
            </a:r>
            <a:r>
              <a:rPr dirty="0" sz="2700" spc="-35">
                <a:latin typeface="Calibri"/>
                <a:cs typeface="Calibri"/>
              </a:rPr>
              <a:t>feature,</a:t>
            </a:r>
            <a:r>
              <a:rPr dirty="0" sz="2700" spc="-114">
                <a:latin typeface="Calibri"/>
                <a:cs typeface="Calibri"/>
              </a:rPr>
              <a:t> </a:t>
            </a:r>
            <a:r>
              <a:rPr dirty="0" sz="2700" spc="-10">
                <a:latin typeface="Cambria Math"/>
                <a:cs typeface="Cambria Math"/>
              </a:rPr>
              <a:t>𝑥</a:t>
            </a:r>
            <a:r>
              <a:rPr dirty="0" baseline="-18518" sz="2700" spc="-15">
                <a:latin typeface="Cambria Math"/>
                <a:cs typeface="Cambria Math"/>
              </a:rPr>
              <a:t>𝑢</a:t>
            </a:r>
            <a:endParaRPr baseline="-18518" sz="2700">
              <a:latin typeface="Cambria Math"/>
              <a:cs typeface="Cambria Math"/>
            </a:endParaRPr>
          </a:p>
          <a:p>
            <a:pPr marL="287020" marR="5080" indent="-274320">
              <a:lnSpc>
                <a:spcPts val="3220"/>
              </a:lnSpc>
              <a:spcBef>
                <a:spcPts val="77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700" spc="-40">
                <a:latin typeface="Calibri"/>
                <a:cs typeface="Calibri"/>
              </a:rPr>
              <a:t>Layer-</a:t>
            </a:r>
            <a:r>
              <a:rPr dirty="0" sz="2700" spc="-40">
                <a:latin typeface="Cambria Math"/>
                <a:cs typeface="Cambria Math"/>
              </a:rPr>
              <a:t>𝑘 </a:t>
            </a:r>
            <a:r>
              <a:rPr dirty="0" sz="2700" spc="-20">
                <a:latin typeface="Calibri"/>
                <a:cs typeface="Calibri"/>
              </a:rPr>
              <a:t>embedding </a:t>
            </a:r>
            <a:r>
              <a:rPr dirty="0" sz="2700" spc="-25">
                <a:latin typeface="Calibri"/>
                <a:cs typeface="Calibri"/>
              </a:rPr>
              <a:t>gets information from </a:t>
            </a:r>
            <a:r>
              <a:rPr dirty="0" sz="2700" spc="-15">
                <a:latin typeface="Calibri"/>
                <a:cs typeface="Calibri"/>
              </a:rPr>
              <a:t>nodes </a:t>
            </a:r>
            <a:r>
              <a:rPr dirty="0" sz="2700" spc="-170">
                <a:latin typeface="Calibri"/>
                <a:cs typeface="Calibri"/>
              </a:rPr>
              <a:t>that  </a:t>
            </a:r>
            <a:r>
              <a:rPr dirty="0" sz="2700" spc="-25">
                <a:latin typeface="Calibri"/>
                <a:cs typeface="Calibri"/>
              </a:rPr>
              <a:t>are </a:t>
            </a:r>
            <a:r>
              <a:rPr dirty="0" sz="2700">
                <a:latin typeface="Calibri"/>
                <a:cs typeface="Calibri"/>
              </a:rPr>
              <a:t>K </a:t>
            </a:r>
            <a:r>
              <a:rPr dirty="0" sz="2700" spc="-20">
                <a:latin typeface="Calibri"/>
                <a:cs typeface="Calibri"/>
              </a:rPr>
              <a:t>hops</a:t>
            </a:r>
            <a:r>
              <a:rPr dirty="0" sz="2700" spc="-155">
                <a:latin typeface="Calibri"/>
                <a:cs typeface="Calibri"/>
              </a:rPr>
              <a:t> </a:t>
            </a:r>
            <a:r>
              <a:rPr dirty="0" sz="2700" spc="-40">
                <a:latin typeface="Calibri"/>
                <a:cs typeface="Calibri"/>
              </a:rPr>
              <a:t>away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04165" y="541331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569" y="0"/>
                </a:lnTo>
              </a:path>
            </a:pathLst>
          </a:custGeom>
          <a:ln w="222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08309" y="5359807"/>
            <a:ext cx="107314" cy="107314"/>
          </a:xfrm>
          <a:custGeom>
            <a:avLst/>
            <a:gdLst/>
            <a:ahLst/>
            <a:cxnLst/>
            <a:rect l="l" t="t" r="r" b="b"/>
            <a:pathLst>
              <a:path w="107314" h="107314">
                <a:moveTo>
                  <a:pt x="107003" y="0"/>
                </a:moveTo>
                <a:lnTo>
                  <a:pt x="0" y="53502"/>
                </a:lnTo>
                <a:lnTo>
                  <a:pt x="107003" y="107003"/>
                </a:lnTo>
                <a:lnTo>
                  <a:pt x="107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51735" y="5077745"/>
            <a:ext cx="727710" cy="661035"/>
          </a:xfrm>
          <a:custGeom>
            <a:avLst/>
            <a:gdLst/>
            <a:ahLst/>
            <a:cxnLst/>
            <a:rect l="l" t="t" r="r" b="b"/>
            <a:pathLst>
              <a:path w="727710" h="661035">
                <a:moveTo>
                  <a:pt x="0" y="660656"/>
                </a:moveTo>
                <a:lnTo>
                  <a:pt x="727120" y="660656"/>
                </a:lnTo>
                <a:lnTo>
                  <a:pt x="727120" y="0"/>
                </a:lnTo>
                <a:lnTo>
                  <a:pt x="0" y="0"/>
                </a:lnTo>
                <a:lnTo>
                  <a:pt x="0" y="660656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51735" y="5077745"/>
            <a:ext cx="727710" cy="661035"/>
          </a:xfrm>
          <a:custGeom>
            <a:avLst/>
            <a:gdLst/>
            <a:ahLst/>
            <a:cxnLst/>
            <a:rect l="l" t="t" r="r" b="b"/>
            <a:pathLst>
              <a:path w="727710" h="661035">
                <a:moveTo>
                  <a:pt x="0" y="0"/>
                </a:moveTo>
                <a:lnTo>
                  <a:pt x="727121" y="0"/>
                </a:lnTo>
                <a:lnTo>
                  <a:pt x="727121" y="660656"/>
                </a:lnTo>
                <a:lnTo>
                  <a:pt x="0" y="6606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82721" y="5654155"/>
            <a:ext cx="583565" cy="374650"/>
          </a:xfrm>
          <a:custGeom>
            <a:avLst/>
            <a:gdLst/>
            <a:ahLst/>
            <a:cxnLst/>
            <a:rect l="l" t="t" r="r" b="b"/>
            <a:pathLst>
              <a:path w="583564" h="374650">
                <a:moveTo>
                  <a:pt x="0" y="364910"/>
                </a:moveTo>
                <a:lnTo>
                  <a:pt x="577377" y="0"/>
                </a:lnTo>
                <a:lnTo>
                  <a:pt x="583332" y="9422"/>
                </a:lnTo>
                <a:lnTo>
                  <a:pt x="5954" y="374332"/>
                </a:lnTo>
                <a:lnTo>
                  <a:pt x="0" y="36491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55149" y="5416271"/>
            <a:ext cx="805815" cy="0"/>
          </a:xfrm>
          <a:custGeom>
            <a:avLst/>
            <a:gdLst/>
            <a:ahLst/>
            <a:cxnLst/>
            <a:rect l="l" t="t" r="r" b="b"/>
            <a:pathLst>
              <a:path w="805814" h="0">
                <a:moveTo>
                  <a:pt x="0" y="0"/>
                </a:moveTo>
                <a:lnTo>
                  <a:pt x="11146" y="0"/>
                </a:lnTo>
                <a:lnTo>
                  <a:pt x="805467" y="0"/>
                </a:lnTo>
              </a:path>
            </a:pathLst>
          </a:custGeom>
          <a:ln w="2229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59292" y="5362769"/>
            <a:ext cx="107314" cy="107314"/>
          </a:xfrm>
          <a:custGeom>
            <a:avLst/>
            <a:gdLst/>
            <a:ahLst/>
            <a:cxnLst/>
            <a:rect l="l" t="t" r="r" b="b"/>
            <a:pathLst>
              <a:path w="107314" h="107314">
                <a:moveTo>
                  <a:pt x="107003" y="0"/>
                </a:moveTo>
                <a:lnTo>
                  <a:pt x="0" y="53502"/>
                </a:lnTo>
                <a:lnTo>
                  <a:pt x="107003" y="107003"/>
                </a:lnTo>
                <a:lnTo>
                  <a:pt x="10700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46114" y="5591199"/>
            <a:ext cx="718185" cy="605155"/>
          </a:xfrm>
          <a:custGeom>
            <a:avLst/>
            <a:gdLst/>
            <a:ahLst/>
            <a:cxnLst/>
            <a:rect l="l" t="t" r="r" b="b"/>
            <a:pathLst>
              <a:path w="718185" h="605154">
                <a:moveTo>
                  <a:pt x="0" y="0"/>
                </a:moveTo>
                <a:lnTo>
                  <a:pt x="8524" y="7180"/>
                </a:lnTo>
                <a:lnTo>
                  <a:pt x="717738" y="604597"/>
                </a:lnTo>
              </a:path>
            </a:pathLst>
          </a:custGeom>
          <a:ln w="2229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2801" y="5529442"/>
            <a:ext cx="116839" cy="110489"/>
          </a:xfrm>
          <a:custGeom>
            <a:avLst/>
            <a:gdLst/>
            <a:ahLst/>
            <a:cxnLst/>
            <a:rect l="l" t="t" r="r" b="b"/>
            <a:pathLst>
              <a:path w="116839" h="110489">
                <a:moveTo>
                  <a:pt x="0" y="0"/>
                </a:moveTo>
                <a:lnTo>
                  <a:pt x="47369" y="109856"/>
                </a:lnTo>
                <a:lnTo>
                  <a:pt x="116306" y="28018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48067" y="4588632"/>
            <a:ext cx="800100" cy="631190"/>
          </a:xfrm>
          <a:custGeom>
            <a:avLst/>
            <a:gdLst/>
            <a:ahLst/>
            <a:cxnLst/>
            <a:rect l="l" t="t" r="r" b="b"/>
            <a:pathLst>
              <a:path w="800100" h="631189">
                <a:moveTo>
                  <a:pt x="0" y="630660"/>
                </a:moveTo>
                <a:lnTo>
                  <a:pt x="8751" y="623758"/>
                </a:lnTo>
                <a:lnTo>
                  <a:pt x="799652" y="0"/>
                </a:lnTo>
              </a:path>
            </a:pathLst>
          </a:custGeom>
          <a:ln w="2229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2801" y="5170383"/>
            <a:ext cx="117475" cy="108585"/>
          </a:xfrm>
          <a:custGeom>
            <a:avLst/>
            <a:gdLst/>
            <a:ahLst/>
            <a:cxnLst/>
            <a:rect l="l" t="t" r="r" b="b"/>
            <a:pathLst>
              <a:path w="117475" h="108585">
                <a:moveTo>
                  <a:pt x="50887" y="0"/>
                </a:moveTo>
                <a:lnTo>
                  <a:pt x="0" y="108270"/>
                </a:lnTo>
                <a:lnTo>
                  <a:pt x="117149" y="84016"/>
                </a:lnTo>
                <a:lnTo>
                  <a:pt x="5088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447031" y="4200954"/>
            <a:ext cx="326390" cy="343535"/>
          </a:xfrm>
          <a:custGeom>
            <a:avLst/>
            <a:gdLst/>
            <a:ahLst/>
            <a:cxnLst/>
            <a:rect l="l" t="t" r="r" b="b"/>
            <a:pathLst>
              <a:path w="326390" h="343535">
                <a:moveTo>
                  <a:pt x="248111" y="0"/>
                </a:moveTo>
                <a:lnTo>
                  <a:pt x="0" y="71145"/>
                </a:lnTo>
                <a:lnTo>
                  <a:pt x="78042" y="343311"/>
                </a:lnTo>
                <a:lnTo>
                  <a:pt x="326152" y="272167"/>
                </a:lnTo>
                <a:lnTo>
                  <a:pt x="248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47032" y="4200954"/>
            <a:ext cx="326390" cy="343535"/>
          </a:xfrm>
          <a:custGeom>
            <a:avLst/>
            <a:gdLst/>
            <a:ahLst/>
            <a:cxnLst/>
            <a:rect l="l" t="t" r="r" b="b"/>
            <a:pathLst>
              <a:path w="326390" h="343535">
                <a:moveTo>
                  <a:pt x="0" y="71144"/>
                </a:moveTo>
                <a:lnTo>
                  <a:pt x="248110" y="0"/>
                </a:lnTo>
                <a:lnTo>
                  <a:pt x="326153" y="272166"/>
                </a:lnTo>
                <a:lnTo>
                  <a:pt x="78042" y="343311"/>
                </a:lnTo>
                <a:lnTo>
                  <a:pt x="0" y="71144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05820" y="4040769"/>
            <a:ext cx="624205" cy="241300"/>
          </a:xfrm>
          <a:custGeom>
            <a:avLst/>
            <a:gdLst/>
            <a:ahLst/>
            <a:cxnLst/>
            <a:rect l="l" t="t" r="r" b="b"/>
            <a:pathLst>
              <a:path w="624204" h="241300">
                <a:moveTo>
                  <a:pt x="0" y="241168"/>
                </a:moveTo>
                <a:lnTo>
                  <a:pt x="5198" y="239159"/>
                </a:lnTo>
                <a:lnTo>
                  <a:pt x="623752" y="0"/>
                </a:lnTo>
              </a:path>
            </a:pathLst>
          </a:custGeom>
          <a:ln w="11146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748641" y="4248740"/>
            <a:ext cx="74930" cy="62865"/>
          </a:xfrm>
          <a:custGeom>
            <a:avLst/>
            <a:gdLst/>
            <a:ahLst/>
            <a:cxnLst/>
            <a:rect l="l" t="t" r="r" b="b"/>
            <a:pathLst>
              <a:path w="74929" h="62864">
                <a:moveTo>
                  <a:pt x="50318" y="0"/>
                </a:moveTo>
                <a:lnTo>
                  <a:pt x="0" y="55305"/>
                </a:lnTo>
                <a:lnTo>
                  <a:pt x="74437" y="62377"/>
                </a:lnTo>
                <a:lnTo>
                  <a:pt x="5031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422804" y="4413563"/>
            <a:ext cx="65405" cy="20955"/>
          </a:xfrm>
          <a:custGeom>
            <a:avLst/>
            <a:gdLst/>
            <a:ahLst/>
            <a:cxnLst/>
            <a:rect l="l" t="t" r="r" b="b"/>
            <a:pathLst>
              <a:path w="65404" h="20954">
                <a:moveTo>
                  <a:pt x="64790" y="0"/>
                </a:moveTo>
                <a:lnTo>
                  <a:pt x="10607" y="17493"/>
                </a:lnTo>
                <a:lnTo>
                  <a:pt x="0" y="20918"/>
                </a:lnTo>
              </a:path>
            </a:pathLst>
          </a:custGeom>
          <a:ln w="222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31584" y="4380143"/>
            <a:ext cx="118745" cy="102235"/>
          </a:xfrm>
          <a:custGeom>
            <a:avLst/>
            <a:gdLst/>
            <a:ahLst/>
            <a:cxnLst/>
            <a:rect l="l" t="t" r="r" b="b"/>
            <a:pathLst>
              <a:path w="118745" h="102235">
                <a:moveTo>
                  <a:pt x="85389" y="0"/>
                </a:moveTo>
                <a:lnTo>
                  <a:pt x="0" y="83790"/>
                </a:lnTo>
                <a:lnTo>
                  <a:pt x="118264" y="101828"/>
                </a:lnTo>
                <a:lnTo>
                  <a:pt x="85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71642" y="5206342"/>
            <a:ext cx="267970" cy="292100"/>
          </a:xfrm>
          <a:custGeom>
            <a:avLst/>
            <a:gdLst/>
            <a:ahLst/>
            <a:cxnLst/>
            <a:rect l="l" t="t" r="r" b="b"/>
            <a:pathLst>
              <a:path w="267970" h="292100">
                <a:moveTo>
                  <a:pt x="257952" y="0"/>
                </a:moveTo>
                <a:lnTo>
                  <a:pt x="0" y="9008"/>
                </a:lnTo>
                <a:lnTo>
                  <a:pt x="9881" y="291970"/>
                </a:lnTo>
                <a:lnTo>
                  <a:pt x="267832" y="282962"/>
                </a:lnTo>
                <a:lnTo>
                  <a:pt x="25795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71643" y="5206342"/>
            <a:ext cx="267970" cy="292100"/>
          </a:xfrm>
          <a:custGeom>
            <a:avLst/>
            <a:gdLst/>
            <a:ahLst/>
            <a:cxnLst/>
            <a:rect l="l" t="t" r="r" b="b"/>
            <a:pathLst>
              <a:path w="267970" h="292100">
                <a:moveTo>
                  <a:pt x="0" y="9007"/>
                </a:moveTo>
                <a:lnTo>
                  <a:pt x="257951" y="0"/>
                </a:lnTo>
                <a:lnTo>
                  <a:pt x="267833" y="282962"/>
                </a:lnTo>
                <a:lnTo>
                  <a:pt x="9881" y="291970"/>
                </a:lnTo>
                <a:lnTo>
                  <a:pt x="0" y="9007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408853" y="5362426"/>
            <a:ext cx="67945" cy="5080"/>
          </a:xfrm>
          <a:custGeom>
            <a:avLst/>
            <a:gdLst/>
            <a:ahLst/>
            <a:cxnLst/>
            <a:rect l="l" t="t" r="r" b="b"/>
            <a:pathLst>
              <a:path w="67945" h="5079">
                <a:moveTo>
                  <a:pt x="67926" y="0"/>
                </a:moveTo>
                <a:lnTo>
                  <a:pt x="11120" y="3866"/>
                </a:lnTo>
                <a:lnTo>
                  <a:pt x="0" y="4622"/>
                </a:lnTo>
              </a:path>
            </a:pathLst>
          </a:custGeom>
          <a:ln w="222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13218" y="5312914"/>
            <a:ext cx="110489" cy="107314"/>
          </a:xfrm>
          <a:custGeom>
            <a:avLst/>
            <a:gdLst/>
            <a:ahLst/>
            <a:cxnLst/>
            <a:rect l="l" t="t" r="r" b="b"/>
            <a:pathLst>
              <a:path w="110489" h="107314">
                <a:moveTo>
                  <a:pt x="103122" y="0"/>
                </a:moveTo>
                <a:lnTo>
                  <a:pt x="0" y="60643"/>
                </a:lnTo>
                <a:lnTo>
                  <a:pt x="110388" y="106756"/>
                </a:lnTo>
                <a:lnTo>
                  <a:pt x="1031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83677" y="6131679"/>
            <a:ext cx="317500" cy="335915"/>
          </a:xfrm>
          <a:custGeom>
            <a:avLst/>
            <a:gdLst/>
            <a:ahLst/>
            <a:cxnLst/>
            <a:rect l="l" t="t" r="r" b="b"/>
            <a:pathLst>
              <a:path w="317500" h="335914">
                <a:moveTo>
                  <a:pt x="66081" y="0"/>
                </a:moveTo>
                <a:lnTo>
                  <a:pt x="0" y="275315"/>
                </a:lnTo>
                <a:lnTo>
                  <a:pt x="250981" y="335556"/>
                </a:lnTo>
                <a:lnTo>
                  <a:pt x="317063" y="60241"/>
                </a:lnTo>
                <a:lnTo>
                  <a:pt x="6608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383677" y="6131679"/>
            <a:ext cx="317500" cy="335915"/>
          </a:xfrm>
          <a:custGeom>
            <a:avLst/>
            <a:gdLst/>
            <a:ahLst/>
            <a:cxnLst/>
            <a:rect l="l" t="t" r="r" b="b"/>
            <a:pathLst>
              <a:path w="317500" h="335914">
                <a:moveTo>
                  <a:pt x="66082" y="0"/>
                </a:moveTo>
                <a:lnTo>
                  <a:pt x="317063" y="60241"/>
                </a:lnTo>
                <a:lnTo>
                  <a:pt x="250980" y="335556"/>
                </a:lnTo>
                <a:lnTo>
                  <a:pt x="0" y="275315"/>
                </a:lnTo>
                <a:lnTo>
                  <a:pt x="66082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729596" y="6352538"/>
            <a:ext cx="542290" cy="130810"/>
          </a:xfrm>
          <a:custGeom>
            <a:avLst/>
            <a:gdLst/>
            <a:ahLst/>
            <a:cxnLst/>
            <a:rect l="l" t="t" r="r" b="b"/>
            <a:pathLst>
              <a:path w="542290" h="130810">
                <a:moveTo>
                  <a:pt x="0" y="0"/>
                </a:moveTo>
                <a:lnTo>
                  <a:pt x="5418" y="1302"/>
                </a:lnTo>
                <a:lnTo>
                  <a:pt x="542131" y="130343"/>
                </a:lnTo>
              </a:path>
            </a:pathLst>
          </a:custGeom>
          <a:ln w="11146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669992" y="6321329"/>
            <a:ext cx="73025" cy="65405"/>
          </a:xfrm>
          <a:custGeom>
            <a:avLst/>
            <a:gdLst/>
            <a:ahLst/>
            <a:cxnLst/>
            <a:rect l="l" t="t" r="r" b="b"/>
            <a:pathLst>
              <a:path w="73025" h="65404">
                <a:moveTo>
                  <a:pt x="72842" y="0"/>
                </a:moveTo>
                <a:lnTo>
                  <a:pt x="0" y="16878"/>
                </a:lnTo>
                <a:lnTo>
                  <a:pt x="57208" y="65024"/>
                </a:lnTo>
                <a:lnTo>
                  <a:pt x="7284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48719" y="6261086"/>
            <a:ext cx="67310" cy="13970"/>
          </a:xfrm>
          <a:custGeom>
            <a:avLst/>
            <a:gdLst/>
            <a:ahLst/>
            <a:cxnLst/>
            <a:rect l="l" t="t" r="r" b="b"/>
            <a:pathLst>
              <a:path w="67310" h="13970">
                <a:moveTo>
                  <a:pt x="66692" y="13694"/>
                </a:moveTo>
                <a:lnTo>
                  <a:pt x="10918" y="2242"/>
                </a:lnTo>
                <a:lnTo>
                  <a:pt x="0" y="0"/>
                </a:lnTo>
              </a:path>
            </a:pathLst>
          </a:custGeom>
          <a:ln w="222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54822" y="6210919"/>
            <a:ext cx="116205" cy="105410"/>
          </a:xfrm>
          <a:custGeom>
            <a:avLst/>
            <a:gdLst/>
            <a:ahLst/>
            <a:cxnLst/>
            <a:rect l="l" t="t" r="r" b="b"/>
            <a:pathLst>
              <a:path w="116204" h="105410">
                <a:moveTo>
                  <a:pt x="115577" y="0"/>
                </a:moveTo>
                <a:lnTo>
                  <a:pt x="0" y="30885"/>
                </a:lnTo>
                <a:lnTo>
                  <a:pt x="94054" y="104816"/>
                </a:lnTo>
                <a:lnTo>
                  <a:pt x="1155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98694" y="5484410"/>
            <a:ext cx="485140" cy="342265"/>
          </a:xfrm>
          <a:custGeom>
            <a:avLst/>
            <a:gdLst/>
            <a:ahLst/>
            <a:cxnLst/>
            <a:rect l="l" t="t" r="r" b="b"/>
            <a:pathLst>
              <a:path w="485140" h="342264">
                <a:moveTo>
                  <a:pt x="0" y="0"/>
                </a:moveTo>
                <a:lnTo>
                  <a:pt x="4553" y="3213"/>
                </a:lnTo>
                <a:lnTo>
                  <a:pt x="484835" y="342192"/>
                </a:lnTo>
              </a:path>
            </a:pathLst>
          </a:custGeom>
          <a:ln w="11146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748608" y="5449060"/>
            <a:ext cx="74295" cy="66040"/>
          </a:xfrm>
          <a:custGeom>
            <a:avLst/>
            <a:gdLst/>
            <a:ahLst/>
            <a:cxnLst/>
            <a:rect l="l" t="t" r="r" b="b"/>
            <a:pathLst>
              <a:path w="74295" h="66039">
                <a:moveTo>
                  <a:pt x="0" y="0"/>
                </a:moveTo>
                <a:lnTo>
                  <a:pt x="35358" y="65883"/>
                </a:lnTo>
                <a:lnTo>
                  <a:pt x="73921" y="11244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23031" y="5399494"/>
            <a:ext cx="568960" cy="170180"/>
          </a:xfrm>
          <a:custGeom>
            <a:avLst/>
            <a:gdLst/>
            <a:ahLst/>
            <a:cxnLst/>
            <a:rect l="l" t="t" r="r" b="b"/>
            <a:pathLst>
              <a:path w="568959" h="170179">
                <a:moveTo>
                  <a:pt x="0" y="0"/>
                </a:moveTo>
                <a:lnTo>
                  <a:pt x="5339" y="1597"/>
                </a:lnTo>
                <a:lnTo>
                  <a:pt x="568542" y="170059"/>
                </a:lnTo>
              </a:path>
            </a:pathLst>
          </a:custGeom>
          <a:ln w="11146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64297" y="5369054"/>
            <a:ext cx="73660" cy="64135"/>
          </a:xfrm>
          <a:custGeom>
            <a:avLst/>
            <a:gdLst/>
            <a:ahLst/>
            <a:cxnLst/>
            <a:rect l="l" t="t" r="r" b="b"/>
            <a:pathLst>
              <a:path w="73659" h="64135">
                <a:moveTo>
                  <a:pt x="73654" y="0"/>
                </a:moveTo>
                <a:lnTo>
                  <a:pt x="0" y="12871"/>
                </a:lnTo>
                <a:lnTo>
                  <a:pt x="54490" y="64071"/>
                </a:lnTo>
                <a:lnTo>
                  <a:pt x="736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00839" y="4907268"/>
            <a:ext cx="485140" cy="342265"/>
          </a:xfrm>
          <a:custGeom>
            <a:avLst/>
            <a:gdLst/>
            <a:ahLst/>
            <a:cxnLst/>
            <a:rect l="l" t="t" r="r" b="b"/>
            <a:pathLst>
              <a:path w="485140" h="342264">
                <a:moveTo>
                  <a:pt x="0" y="342192"/>
                </a:moveTo>
                <a:lnTo>
                  <a:pt x="4553" y="338978"/>
                </a:lnTo>
                <a:lnTo>
                  <a:pt x="484835" y="0"/>
                </a:lnTo>
              </a:path>
            </a:pathLst>
          </a:custGeom>
          <a:ln w="11146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750753" y="5218927"/>
            <a:ext cx="74295" cy="66040"/>
          </a:xfrm>
          <a:custGeom>
            <a:avLst/>
            <a:gdLst/>
            <a:ahLst/>
            <a:cxnLst/>
            <a:rect l="l" t="t" r="r" b="b"/>
            <a:pathLst>
              <a:path w="74295" h="66039">
                <a:moveTo>
                  <a:pt x="35356" y="0"/>
                </a:moveTo>
                <a:lnTo>
                  <a:pt x="0" y="65882"/>
                </a:lnTo>
                <a:lnTo>
                  <a:pt x="73920" y="54639"/>
                </a:lnTo>
                <a:lnTo>
                  <a:pt x="35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825175" y="5164319"/>
            <a:ext cx="568960" cy="170180"/>
          </a:xfrm>
          <a:custGeom>
            <a:avLst/>
            <a:gdLst/>
            <a:ahLst/>
            <a:cxnLst/>
            <a:rect l="l" t="t" r="r" b="b"/>
            <a:pathLst>
              <a:path w="568959" h="170179">
                <a:moveTo>
                  <a:pt x="0" y="170059"/>
                </a:moveTo>
                <a:lnTo>
                  <a:pt x="5339" y="168462"/>
                </a:lnTo>
                <a:lnTo>
                  <a:pt x="568542" y="0"/>
                </a:lnTo>
              </a:path>
            </a:pathLst>
          </a:custGeom>
          <a:ln w="11146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766442" y="5300745"/>
            <a:ext cx="73660" cy="64135"/>
          </a:xfrm>
          <a:custGeom>
            <a:avLst/>
            <a:gdLst/>
            <a:ahLst/>
            <a:cxnLst/>
            <a:rect l="l" t="t" r="r" b="b"/>
            <a:pathLst>
              <a:path w="73659" h="64135">
                <a:moveTo>
                  <a:pt x="54489" y="0"/>
                </a:moveTo>
                <a:lnTo>
                  <a:pt x="0" y="51201"/>
                </a:lnTo>
                <a:lnTo>
                  <a:pt x="73654" y="64071"/>
                </a:lnTo>
                <a:lnTo>
                  <a:pt x="5448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000885" y="5154510"/>
            <a:ext cx="570230" cy="857250"/>
          </a:xfrm>
          <a:custGeom>
            <a:avLst/>
            <a:gdLst/>
            <a:ahLst/>
            <a:cxnLst/>
            <a:rect l="l" t="t" r="r" b="b"/>
            <a:pathLst>
              <a:path w="570230" h="857250">
                <a:moveTo>
                  <a:pt x="0" y="850858"/>
                </a:moveTo>
                <a:lnTo>
                  <a:pt x="560782" y="0"/>
                </a:lnTo>
                <a:lnTo>
                  <a:pt x="570088" y="6133"/>
                </a:lnTo>
                <a:lnTo>
                  <a:pt x="9306" y="856992"/>
                </a:lnTo>
                <a:lnTo>
                  <a:pt x="0" y="85085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321683" y="5073717"/>
            <a:ext cx="1257300" cy="113664"/>
          </a:xfrm>
          <a:custGeom>
            <a:avLst/>
            <a:gdLst/>
            <a:ahLst/>
            <a:cxnLst/>
            <a:rect l="l" t="t" r="r" b="b"/>
            <a:pathLst>
              <a:path w="1257300" h="113664">
                <a:moveTo>
                  <a:pt x="904" y="0"/>
                </a:moveTo>
                <a:lnTo>
                  <a:pt x="1257072" y="102271"/>
                </a:lnTo>
                <a:lnTo>
                  <a:pt x="1256168" y="113380"/>
                </a:lnTo>
                <a:lnTo>
                  <a:pt x="0" y="11109"/>
                </a:lnTo>
                <a:lnTo>
                  <a:pt x="90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252486" y="4538750"/>
            <a:ext cx="279400" cy="645795"/>
          </a:xfrm>
          <a:custGeom>
            <a:avLst/>
            <a:gdLst/>
            <a:ahLst/>
            <a:cxnLst/>
            <a:rect l="l" t="t" r="r" b="b"/>
            <a:pathLst>
              <a:path w="279400" h="645795">
                <a:moveTo>
                  <a:pt x="10277" y="0"/>
                </a:moveTo>
                <a:lnTo>
                  <a:pt x="279310" y="641050"/>
                </a:lnTo>
                <a:lnTo>
                  <a:pt x="269032" y="645364"/>
                </a:lnTo>
                <a:lnTo>
                  <a:pt x="0" y="4313"/>
                </a:lnTo>
                <a:lnTo>
                  <a:pt x="102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395897" y="6372679"/>
            <a:ext cx="89471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10" b="1">
                <a:latin typeface="Arial"/>
                <a:cs typeface="Arial"/>
              </a:rPr>
              <a:t>INPUT</a:t>
            </a:r>
            <a:r>
              <a:rPr dirty="0" sz="950" spc="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276057" y="4559750"/>
            <a:ext cx="1270" cy="286385"/>
          </a:xfrm>
          <a:custGeom>
            <a:avLst/>
            <a:gdLst/>
            <a:ahLst/>
            <a:cxnLst/>
            <a:rect l="l" t="t" r="r" b="b"/>
            <a:pathLst>
              <a:path w="1269" h="286385">
                <a:moveTo>
                  <a:pt x="0" y="0"/>
                </a:moveTo>
                <a:lnTo>
                  <a:pt x="951" y="280471"/>
                </a:lnTo>
                <a:lnTo>
                  <a:pt x="970" y="286044"/>
                </a:lnTo>
              </a:path>
            </a:pathLst>
          </a:custGeom>
          <a:ln w="111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43571" y="4840108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09" h="67310">
                <a:moveTo>
                  <a:pt x="66876" y="0"/>
                </a:moveTo>
                <a:lnTo>
                  <a:pt x="0" y="227"/>
                </a:lnTo>
                <a:lnTo>
                  <a:pt x="33664" y="66989"/>
                </a:lnTo>
                <a:lnTo>
                  <a:pt x="66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816295" y="4366364"/>
            <a:ext cx="890269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30">
                <a:latin typeface="Arial"/>
                <a:cs typeface="Arial"/>
              </a:rPr>
              <a:t>TARGET</a:t>
            </a:r>
            <a:r>
              <a:rPr dirty="0" sz="950" spc="-25">
                <a:latin typeface="Arial"/>
                <a:cs typeface="Arial"/>
              </a:rPr>
              <a:t> </a:t>
            </a:r>
            <a:r>
              <a:rPr dirty="0" sz="950" spc="5">
                <a:latin typeface="Arial"/>
                <a:cs typeface="Arial"/>
              </a:rPr>
              <a:t>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303809" y="4523286"/>
            <a:ext cx="920115" cy="541020"/>
          </a:xfrm>
          <a:custGeom>
            <a:avLst/>
            <a:gdLst/>
            <a:ahLst/>
            <a:cxnLst/>
            <a:rect l="l" t="t" r="r" b="b"/>
            <a:pathLst>
              <a:path w="920114" h="541020">
                <a:moveTo>
                  <a:pt x="919643" y="9636"/>
                </a:moveTo>
                <a:lnTo>
                  <a:pt x="5601" y="540978"/>
                </a:lnTo>
                <a:lnTo>
                  <a:pt x="0" y="531342"/>
                </a:lnTo>
                <a:lnTo>
                  <a:pt x="914041" y="0"/>
                </a:lnTo>
                <a:lnTo>
                  <a:pt x="919643" y="963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112809" y="4380778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5" h="228600">
                <a:moveTo>
                  <a:pt x="114300" y="0"/>
                </a:moveTo>
                <a:lnTo>
                  <a:pt x="71288" y="8346"/>
                </a:lnTo>
                <a:lnTo>
                  <a:pt x="33477" y="33387"/>
                </a:lnTo>
                <a:lnTo>
                  <a:pt x="8369" y="71096"/>
                </a:lnTo>
                <a:lnTo>
                  <a:pt x="0" y="113992"/>
                </a:lnTo>
                <a:lnTo>
                  <a:pt x="8369" y="156888"/>
                </a:lnTo>
                <a:lnTo>
                  <a:pt x="33477" y="194598"/>
                </a:lnTo>
                <a:lnTo>
                  <a:pt x="71288" y="219639"/>
                </a:lnTo>
                <a:lnTo>
                  <a:pt x="114300" y="227986"/>
                </a:lnTo>
                <a:lnTo>
                  <a:pt x="157312" y="219639"/>
                </a:lnTo>
                <a:lnTo>
                  <a:pt x="195124" y="194598"/>
                </a:lnTo>
                <a:lnTo>
                  <a:pt x="220232" y="156888"/>
                </a:lnTo>
                <a:lnTo>
                  <a:pt x="228601" y="113992"/>
                </a:lnTo>
                <a:lnTo>
                  <a:pt x="220232" y="71096"/>
                </a:lnTo>
                <a:lnTo>
                  <a:pt x="195124" y="33387"/>
                </a:lnTo>
                <a:lnTo>
                  <a:pt x="157312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176131" y="4357448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B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68894" y="5126797"/>
            <a:ext cx="340360" cy="733425"/>
          </a:xfrm>
          <a:custGeom>
            <a:avLst/>
            <a:gdLst/>
            <a:ahLst/>
            <a:cxnLst/>
            <a:rect l="l" t="t" r="r" b="b"/>
            <a:pathLst>
              <a:path w="340359" h="733425">
                <a:moveTo>
                  <a:pt x="339838" y="4594"/>
                </a:moveTo>
                <a:lnTo>
                  <a:pt x="10155" y="733278"/>
                </a:lnTo>
                <a:lnTo>
                  <a:pt x="0" y="728683"/>
                </a:lnTo>
                <a:lnTo>
                  <a:pt x="329683" y="0"/>
                </a:lnTo>
                <a:lnTo>
                  <a:pt x="339838" y="459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921633" y="5692236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4" h="228600">
                <a:moveTo>
                  <a:pt x="114301" y="0"/>
                </a:moveTo>
                <a:lnTo>
                  <a:pt x="71289" y="8346"/>
                </a:lnTo>
                <a:lnTo>
                  <a:pt x="33477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8"/>
                </a:lnTo>
                <a:lnTo>
                  <a:pt x="33477" y="194598"/>
                </a:lnTo>
                <a:lnTo>
                  <a:pt x="71289" y="219639"/>
                </a:lnTo>
                <a:lnTo>
                  <a:pt x="114301" y="227986"/>
                </a:lnTo>
                <a:lnTo>
                  <a:pt x="157312" y="219639"/>
                </a:lnTo>
                <a:lnTo>
                  <a:pt x="195123" y="194598"/>
                </a:lnTo>
                <a:lnTo>
                  <a:pt x="220232" y="156888"/>
                </a:lnTo>
                <a:lnTo>
                  <a:pt x="228601" y="113993"/>
                </a:lnTo>
                <a:lnTo>
                  <a:pt x="220232" y="71097"/>
                </a:lnTo>
                <a:lnTo>
                  <a:pt x="195123" y="33387"/>
                </a:lnTo>
                <a:lnTo>
                  <a:pt x="157312" y="8346"/>
                </a:lnTo>
                <a:lnTo>
                  <a:pt x="11430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983488" y="5672698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84207" y="5920038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5" h="228600">
                <a:moveTo>
                  <a:pt x="114301" y="0"/>
                </a:moveTo>
                <a:lnTo>
                  <a:pt x="71289" y="8346"/>
                </a:lnTo>
                <a:lnTo>
                  <a:pt x="33478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8"/>
                </a:lnTo>
                <a:lnTo>
                  <a:pt x="33478" y="194598"/>
                </a:lnTo>
                <a:lnTo>
                  <a:pt x="71289" y="219639"/>
                </a:lnTo>
                <a:lnTo>
                  <a:pt x="114301" y="227986"/>
                </a:lnTo>
                <a:lnTo>
                  <a:pt x="157312" y="219639"/>
                </a:lnTo>
                <a:lnTo>
                  <a:pt x="195124" y="194598"/>
                </a:lnTo>
                <a:lnTo>
                  <a:pt x="220232" y="156888"/>
                </a:lnTo>
                <a:lnTo>
                  <a:pt x="228602" y="113993"/>
                </a:lnTo>
                <a:lnTo>
                  <a:pt x="220232" y="71097"/>
                </a:lnTo>
                <a:lnTo>
                  <a:pt x="195124" y="33387"/>
                </a:lnTo>
                <a:lnTo>
                  <a:pt x="157312" y="8346"/>
                </a:lnTo>
                <a:lnTo>
                  <a:pt x="11430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942061" y="5906768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574775" y="5230681"/>
            <a:ext cx="178435" cy="355600"/>
          </a:xfrm>
          <a:custGeom>
            <a:avLst/>
            <a:gdLst/>
            <a:ahLst/>
            <a:cxnLst/>
            <a:rect l="l" t="t" r="r" b="b"/>
            <a:pathLst>
              <a:path w="178435" h="355600">
                <a:moveTo>
                  <a:pt x="10049" y="0"/>
                </a:moveTo>
                <a:lnTo>
                  <a:pt x="178197" y="350485"/>
                </a:lnTo>
                <a:lnTo>
                  <a:pt x="168148" y="355307"/>
                </a:lnTo>
                <a:lnTo>
                  <a:pt x="0" y="4821"/>
                </a:lnTo>
                <a:lnTo>
                  <a:pt x="1004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625666" y="54890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71288" y="8346"/>
                </a:lnTo>
                <a:lnTo>
                  <a:pt x="33477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9"/>
                </a:lnTo>
                <a:lnTo>
                  <a:pt x="33477" y="194598"/>
                </a:lnTo>
                <a:lnTo>
                  <a:pt x="71288" y="219639"/>
                </a:lnTo>
                <a:lnTo>
                  <a:pt x="114300" y="227986"/>
                </a:lnTo>
                <a:lnTo>
                  <a:pt x="157311" y="219639"/>
                </a:lnTo>
                <a:lnTo>
                  <a:pt x="195123" y="194598"/>
                </a:lnTo>
                <a:lnTo>
                  <a:pt x="220231" y="156889"/>
                </a:lnTo>
                <a:lnTo>
                  <a:pt x="228600" y="113993"/>
                </a:lnTo>
                <a:lnTo>
                  <a:pt x="220231" y="71097"/>
                </a:lnTo>
                <a:lnTo>
                  <a:pt x="195123" y="33387"/>
                </a:lnTo>
                <a:lnTo>
                  <a:pt x="157311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677710" y="5472066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F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424570" y="5055182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5" h="228600">
                <a:moveTo>
                  <a:pt x="114301" y="0"/>
                </a:moveTo>
                <a:lnTo>
                  <a:pt x="71290" y="8346"/>
                </a:lnTo>
                <a:lnTo>
                  <a:pt x="33478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9"/>
                </a:lnTo>
                <a:lnTo>
                  <a:pt x="33478" y="194599"/>
                </a:lnTo>
                <a:lnTo>
                  <a:pt x="71290" y="219639"/>
                </a:lnTo>
                <a:lnTo>
                  <a:pt x="114301" y="227986"/>
                </a:lnTo>
                <a:lnTo>
                  <a:pt x="157313" y="219639"/>
                </a:lnTo>
                <a:lnTo>
                  <a:pt x="195124" y="194599"/>
                </a:lnTo>
                <a:lnTo>
                  <a:pt x="220232" y="156889"/>
                </a:lnTo>
                <a:lnTo>
                  <a:pt x="228602" y="113993"/>
                </a:lnTo>
                <a:lnTo>
                  <a:pt x="220232" y="71097"/>
                </a:lnTo>
                <a:lnTo>
                  <a:pt x="195124" y="33387"/>
                </a:lnTo>
                <a:lnTo>
                  <a:pt x="157313" y="8346"/>
                </a:lnTo>
                <a:lnTo>
                  <a:pt x="114301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2477079" y="5037365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C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923790" y="5319757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5" h="228600">
                <a:moveTo>
                  <a:pt x="114301" y="0"/>
                </a:moveTo>
                <a:lnTo>
                  <a:pt x="71290" y="8346"/>
                </a:lnTo>
                <a:lnTo>
                  <a:pt x="33478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8"/>
                </a:lnTo>
                <a:lnTo>
                  <a:pt x="33478" y="194597"/>
                </a:lnTo>
                <a:lnTo>
                  <a:pt x="71290" y="219639"/>
                </a:lnTo>
                <a:lnTo>
                  <a:pt x="114301" y="227986"/>
                </a:lnTo>
                <a:lnTo>
                  <a:pt x="157313" y="219639"/>
                </a:lnTo>
                <a:lnTo>
                  <a:pt x="195124" y="194597"/>
                </a:lnTo>
                <a:lnTo>
                  <a:pt x="220232" y="156888"/>
                </a:lnTo>
                <a:lnTo>
                  <a:pt x="228602" y="113993"/>
                </a:lnTo>
                <a:lnTo>
                  <a:pt x="220232" y="71097"/>
                </a:lnTo>
                <a:lnTo>
                  <a:pt x="195124" y="33387"/>
                </a:lnTo>
                <a:lnTo>
                  <a:pt x="157313" y="8346"/>
                </a:lnTo>
                <a:lnTo>
                  <a:pt x="11430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981814" y="5293727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A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096242" y="4369698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5" h="228600">
                <a:moveTo>
                  <a:pt x="114300" y="0"/>
                </a:moveTo>
                <a:lnTo>
                  <a:pt x="71289" y="8346"/>
                </a:lnTo>
                <a:lnTo>
                  <a:pt x="33478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8"/>
                </a:lnTo>
                <a:lnTo>
                  <a:pt x="33478" y="194597"/>
                </a:lnTo>
                <a:lnTo>
                  <a:pt x="71289" y="219639"/>
                </a:lnTo>
                <a:lnTo>
                  <a:pt x="114300" y="227986"/>
                </a:lnTo>
                <a:lnTo>
                  <a:pt x="157311" y="219639"/>
                </a:lnTo>
                <a:lnTo>
                  <a:pt x="195122" y="194597"/>
                </a:lnTo>
                <a:lnTo>
                  <a:pt x="220232" y="156888"/>
                </a:lnTo>
                <a:lnTo>
                  <a:pt x="228602" y="113993"/>
                </a:lnTo>
                <a:lnTo>
                  <a:pt x="220232" y="71097"/>
                </a:lnTo>
                <a:lnTo>
                  <a:pt x="195122" y="33387"/>
                </a:lnTo>
                <a:lnTo>
                  <a:pt x="157311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063150" y="5265155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5" h="228600">
                <a:moveTo>
                  <a:pt x="114300" y="0"/>
                </a:moveTo>
                <a:lnTo>
                  <a:pt x="71289" y="8346"/>
                </a:lnTo>
                <a:lnTo>
                  <a:pt x="33478" y="33387"/>
                </a:lnTo>
                <a:lnTo>
                  <a:pt x="8369" y="71096"/>
                </a:lnTo>
                <a:lnTo>
                  <a:pt x="0" y="113992"/>
                </a:lnTo>
                <a:lnTo>
                  <a:pt x="8369" y="156888"/>
                </a:lnTo>
                <a:lnTo>
                  <a:pt x="33478" y="194598"/>
                </a:lnTo>
                <a:lnTo>
                  <a:pt x="71289" y="219638"/>
                </a:lnTo>
                <a:lnTo>
                  <a:pt x="114300" y="227985"/>
                </a:lnTo>
                <a:lnTo>
                  <a:pt x="157312" y="219638"/>
                </a:lnTo>
                <a:lnTo>
                  <a:pt x="195124" y="194598"/>
                </a:lnTo>
                <a:lnTo>
                  <a:pt x="220232" y="156888"/>
                </a:lnTo>
                <a:lnTo>
                  <a:pt x="228601" y="113992"/>
                </a:lnTo>
                <a:lnTo>
                  <a:pt x="220232" y="71096"/>
                </a:lnTo>
                <a:lnTo>
                  <a:pt x="195124" y="33387"/>
                </a:lnTo>
                <a:lnTo>
                  <a:pt x="157312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6110737" y="5249143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C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004781" y="60979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299" y="0"/>
                </a:moveTo>
                <a:lnTo>
                  <a:pt x="71288" y="8346"/>
                </a:lnTo>
                <a:lnTo>
                  <a:pt x="33477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8"/>
                </a:lnTo>
                <a:lnTo>
                  <a:pt x="33477" y="194598"/>
                </a:lnTo>
                <a:lnTo>
                  <a:pt x="71288" y="219639"/>
                </a:lnTo>
                <a:lnTo>
                  <a:pt x="114299" y="227986"/>
                </a:lnTo>
                <a:lnTo>
                  <a:pt x="157311" y="219639"/>
                </a:lnTo>
                <a:lnTo>
                  <a:pt x="195123" y="194598"/>
                </a:lnTo>
                <a:lnTo>
                  <a:pt x="220231" y="156888"/>
                </a:lnTo>
                <a:lnTo>
                  <a:pt x="228600" y="113993"/>
                </a:lnTo>
                <a:lnTo>
                  <a:pt x="220231" y="71097"/>
                </a:lnTo>
                <a:lnTo>
                  <a:pt x="195123" y="33387"/>
                </a:lnTo>
                <a:lnTo>
                  <a:pt x="157311" y="8346"/>
                </a:lnTo>
                <a:lnTo>
                  <a:pt x="11429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066152" y="6085107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178613" y="4965024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4" h="228600">
                <a:moveTo>
                  <a:pt x="114301" y="0"/>
                </a:moveTo>
                <a:lnTo>
                  <a:pt x="71289" y="8346"/>
                </a:lnTo>
                <a:lnTo>
                  <a:pt x="33477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8"/>
                </a:lnTo>
                <a:lnTo>
                  <a:pt x="33477" y="194598"/>
                </a:lnTo>
                <a:lnTo>
                  <a:pt x="71289" y="219639"/>
                </a:lnTo>
                <a:lnTo>
                  <a:pt x="114301" y="227986"/>
                </a:lnTo>
                <a:lnTo>
                  <a:pt x="157312" y="219639"/>
                </a:lnTo>
                <a:lnTo>
                  <a:pt x="195123" y="194598"/>
                </a:lnTo>
                <a:lnTo>
                  <a:pt x="220232" y="156888"/>
                </a:lnTo>
                <a:lnTo>
                  <a:pt x="228602" y="113993"/>
                </a:lnTo>
                <a:lnTo>
                  <a:pt x="220232" y="71097"/>
                </a:lnTo>
                <a:lnTo>
                  <a:pt x="195123" y="33387"/>
                </a:lnTo>
                <a:lnTo>
                  <a:pt x="157312" y="8346"/>
                </a:lnTo>
                <a:lnTo>
                  <a:pt x="11430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228704" y="4937049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A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823326" y="4387924"/>
            <a:ext cx="661035" cy="61594"/>
          </a:xfrm>
          <a:custGeom>
            <a:avLst/>
            <a:gdLst/>
            <a:ahLst/>
            <a:cxnLst/>
            <a:rect l="l" t="t" r="r" b="b"/>
            <a:pathLst>
              <a:path w="661034" h="61595">
                <a:moveTo>
                  <a:pt x="0" y="0"/>
                </a:moveTo>
                <a:lnTo>
                  <a:pt x="5549" y="513"/>
                </a:lnTo>
                <a:lnTo>
                  <a:pt x="660943" y="61117"/>
                </a:lnTo>
              </a:path>
            </a:pathLst>
          </a:custGeom>
          <a:ln w="11146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762284" y="4355139"/>
            <a:ext cx="69850" cy="66675"/>
          </a:xfrm>
          <a:custGeom>
            <a:avLst/>
            <a:gdLst/>
            <a:ahLst/>
            <a:cxnLst/>
            <a:rect l="l" t="t" r="r" b="b"/>
            <a:pathLst>
              <a:path w="69850" h="66675">
                <a:moveTo>
                  <a:pt x="69670" y="0"/>
                </a:moveTo>
                <a:lnTo>
                  <a:pt x="0" y="27139"/>
                </a:lnTo>
                <a:lnTo>
                  <a:pt x="63512" y="66593"/>
                </a:lnTo>
                <a:lnTo>
                  <a:pt x="6967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194454" y="6366657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4" h="228600">
                <a:moveTo>
                  <a:pt x="114300" y="0"/>
                </a:moveTo>
                <a:lnTo>
                  <a:pt x="71289" y="8346"/>
                </a:lnTo>
                <a:lnTo>
                  <a:pt x="33478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8"/>
                </a:lnTo>
                <a:lnTo>
                  <a:pt x="33478" y="194598"/>
                </a:lnTo>
                <a:lnTo>
                  <a:pt x="71289" y="219639"/>
                </a:lnTo>
                <a:lnTo>
                  <a:pt x="114300" y="227986"/>
                </a:lnTo>
                <a:lnTo>
                  <a:pt x="157312" y="219639"/>
                </a:lnTo>
                <a:lnTo>
                  <a:pt x="195124" y="194598"/>
                </a:lnTo>
                <a:lnTo>
                  <a:pt x="220232" y="156888"/>
                </a:lnTo>
                <a:lnTo>
                  <a:pt x="228602" y="113993"/>
                </a:lnTo>
                <a:lnTo>
                  <a:pt x="220232" y="71097"/>
                </a:lnTo>
                <a:lnTo>
                  <a:pt x="195124" y="33387"/>
                </a:lnTo>
                <a:lnTo>
                  <a:pt x="157312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7247649" y="6341469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A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318276" y="3969132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4" h="228600">
                <a:moveTo>
                  <a:pt x="114300" y="0"/>
                </a:moveTo>
                <a:lnTo>
                  <a:pt x="71289" y="8346"/>
                </a:lnTo>
                <a:lnTo>
                  <a:pt x="33477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9"/>
                </a:lnTo>
                <a:lnTo>
                  <a:pt x="33477" y="194599"/>
                </a:lnTo>
                <a:lnTo>
                  <a:pt x="71289" y="219640"/>
                </a:lnTo>
                <a:lnTo>
                  <a:pt x="114300" y="227987"/>
                </a:lnTo>
                <a:lnTo>
                  <a:pt x="157312" y="219640"/>
                </a:lnTo>
                <a:lnTo>
                  <a:pt x="195123" y="194599"/>
                </a:lnTo>
                <a:lnTo>
                  <a:pt x="220231" y="156889"/>
                </a:lnTo>
                <a:lnTo>
                  <a:pt x="228601" y="113993"/>
                </a:lnTo>
                <a:lnTo>
                  <a:pt x="220231" y="71097"/>
                </a:lnTo>
                <a:lnTo>
                  <a:pt x="195123" y="33387"/>
                </a:lnTo>
                <a:lnTo>
                  <a:pt x="157312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7370257" y="3945038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A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323718" y="4332742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4" h="228600">
                <a:moveTo>
                  <a:pt x="114301" y="0"/>
                </a:moveTo>
                <a:lnTo>
                  <a:pt x="71290" y="8346"/>
                </a:lnTo>
                <a:lnTo>
                  <a:pt x="33478" y="33387"/>
                </a:lnTo>
                <a:lnTo>
                  <a:pt x="8369" y="71096"/>
                </a:lnTo>
                <a:lnTo>
                  <a:pt x="0" y="113992"/>
                </a:lnTo>
                <a:lnTo>
                  <a:pt x="8369" y="156888"/>
                </a:lnTo>
                <a:lnTo>
                  <a:pt x="33478" y="194598"/>
                </a:lnTo>
                <a:lnTo>
                  <a:pt x="71290" y="219638"/>
                </a:lnTo>
                <a:lnTo>
                  <a:pt x="114301" y="227985"/>
                </a:lnTo>
                <a:lnTo>
                  <a:pt x="157313" y="219638"/>
                </a:lnTo>
                <a:lnTo>
                  <a:pt x="195124" y="194598"/>
                </a:lnTo>
                <a:lnTo>
                  <a:pt x="220232" y="156888"/>
                </a:lnTo>
                <a:lnTo>
                  <a:pt x="228602" y="113992"/>
                </a:lnTo>
                <a:lnTo>
                  <a:pt x="220232" y="71096"/>
                </a:lnTo>
                <a:lnTo>
                  <a:pt x="195124" y="33387"/>
                </a:lnTo>
                <a:lnTo>
                  <a:pt x="157313" y="8346"/>
                </a:lnTo>
                <a:lnTo>
                  <a:pt x="114301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370257" y="4312862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C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170001" y="5706755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4" h="228600">
                <a:moveTo>
                  <a:pt x="114300" y="0"/>
                </a:moveTo>
                <a:lnTo>
                  <a:pt x="71289" y="8346"/>
                </a:lnTo>
                <a:lnTo>
                  <a:pt x="33478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9"/>
                </a:lnTo>
                <a:lnTo>
                  <a:pt x="33478" y="194598"/>
                </a:lnTo>
                <a:lnTo>
                  <a:pt x="71289" y="219639"/>
                </a:lnTo>
                <a:lnTo>
                  <a:pt x="114300" y="227986"/>
                </a:lnTo>
                <a:lnTo>
                  <a:pt x="157311" y="219639"/>
                </a:lnTo>
                <a:lnTo>
                  <a:pt x="195122" y="194598"/>
                </a:lnTo>
                <a:lnTo>
                  <a:pt x="220231" y="156889"/>
                </a:lnTo>
                <a:lnTo>
                  <a:pt x="228601" y="113993"/>
                </a:lnTo>
                <a:lnTo>
                  <a:pt x="220231" y="71097"/>
                </a:lnTo>
                <a:lnTo>
                  <a:pt x="195122" y="33387"/>
                </a:lnTo>
                <a:lnTo>
                  <a:pt x="157311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7225356" y="5694990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F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7286645" y="5059683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4" h="228600">
                <a:moveTo>
                  <a:pt x="114300" y="0"/>
                </a:moveTo>
                <a:lnTo>
                  <a:pt x="71289" y="8346"/>
                </a:lnTo>
                <a:lnTo>
                  <a:pt x="33477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9"/>
                </a:lnTo>
                <a:lnTo>
                  <a:pt x="33477" y="194599"/>
                </a:lnTo>
                <a:lnTo>
                  <a:pt x="71289" y="219639"/>
                </a:lnTo>
                <a:lnTo>
                  <a:pt x="114300" y="227986"/>
                </a:lnTo>
                <a:lnTo>
                  <a:pt x="157312" y="219639"/>
                </a:lnTo>
                <a:lnTo>
                  <a:pt x="195124" y="194599"/>
                </a:lnTo>
                <a:lnTo>
                  <a:pt x="220232" y="156889"/>
                </a:lnTo>
                <a:lnTo>
                  <a:pt x="228601" y="113993"/>
                </a:lnTo>
                <a:lnTo>
                  <a:pt x="220232" y="71097"/>
                </a:lnTo>
                <a:lnTo>
                  <a:pt x="195124" y="33387"/>
                </a:lnTo>
                <a:lnTo>
                  <a:pt x="157312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272570" y="5426194"/>
            <a:ext cx="229235" cy="228600"/>
          </a:xfrm>
          <a:custGeom>
            <a:avLst/>
            <a:gdLst/>
            <a:ahLst/>
            <a:cxnLst/>
            <a:rect l="l" t="t" r="r" b="b"/>
            <a:pathLst>
              <a:path w="229234" h="228600">
                <a:moveTo>
                  <a:pt x="114300" y="0"/>
                </a:moveTo>
                <a:lnTo>
                  <a:pt x="71288" y="8346"/>
                </a:lnTo>
                <a:lnTo>
                  <a:pt x="33477" y="33387"/>
                </a:lnTo>
                <a:lnTo>
                  <a:pt x="8369" y="71097"/>
                </a:lnTo>
                <a:lnTo>
                  <a:pt x="0" y="113992"/>
                </a:lnTo>
                <a:lnTo>
                  <a:pt x="8369" y="156888"/>
                </a:lnTo>
                <a:lnTo>
                  <a:pt x="33477" y="194598"/>
                </a:lnTo>
                <a:lnTo>
                  <a:pt x="71288" y="219639"/>
                </a:lnTo>
                <a:lnTo>
                  <a:pt x="114300" y="227986"/>
                </a:lnTo>
                <a:lnTo>
                  <a:pt x="157312" y="219639"/>
                </a:lnTo>
                <a:lnTo>
                  <a:pt x="195124" y="194598"/>
                </a:lnTo>
                <a:lnTo>
                  <a:pt x="220232" y="156888"/>
                </a:lnTo>
                <a:lnTo>
                  <a:pt x="228601" y="113992"/>
                </a:lnTo>
                <a:lnTo>
                  <a:pt x="220232" y="71097"/>
                </a:lnTo>
                <a:lnTo>
                  <a:pt x="195124" y="33387"/>
                </a:lnTo>
                <a:lnTo>
                  <a:pt x="157312" y="8346"/>
                </a:lnTo>
                <a:lnTo>
                  <a:pt x="11430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7325672" y="5405189"/>
            <a:ext cx="11938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210559" y="47786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299" y="0"/>
                </a:moveTo>
                <a:lnTo>
                  <a:pt x="71288" y="8346"/>
                </a:lnTo>
                <a:lnTo>
                  <a:pt x="33477" y="33387"/>
                </a:lnTo>
                <a:lnTo>
                  <a:pt x="8369" y="71097"/>
                </a:lnTo>
                <a:lnTo>
                  <a:pt x="0" y="113993"/>
                </a:lnTo>
                <a:lnTo>
                  <a:pt x="8369" y="156888"/>
                </a:lnTo>
                <a:lnTo>
                  <a:pt x="33477" y="194597"/>
                </a:lnTo>
                <a:lnTo>
                  <a:pt x="71288" y="219639"/>
                </a:lnTo>
                <a:lnTo>
                  <a:pt x="114299" y="227986"/>
                </a:lnTo>
                <a:lnTo>
                  <a:pt x="157311" y="219639"/>
                </a:lnTo>
                <a:lnTo>
                  <a:pt x="195123" y="194597"/>
                </a:lnTo>
                <a:lnTo>
                  <a:pt x="220231" y="156888"/>
                </a:lnTo>
                <a:lnTo>
                  <a:pt x="228600" y="113993"/>
                </a:lnTo>
                <a:lnTo>
                  <a:pt x="220231" y="71097"/>
                </a:lnTo>
                <a:lnTo>
                  <a:pt x="195123" y="33387"/>
                </a:lnTo>
                <a:lnTo>
                  <a:pt x="157311" y="8346"/>
                </a:lnTo>
                <a:lnTo>
                  <a:pt x="11429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7269940" y="4645019"/>
            <a:ext cx="197485" cy="60515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200" spc="10" b="1">
                <a:latin typeface="Courier New"/>
                <a:cs typeface="Courier New"/>
              </a:rPr>
              <a:t>A</a:t>
            </a:r>
            <a:endParaRPr sz="1200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840"/>
              </a:spcBef>
            </a:pPr>
            <a:r>
              <a:rPr dirty="0" sz="1200" spc="10" b="1">
                <a:latin typeface="Courier New"/>
                <a:cs typeface="Courier New"/>
              </a:rPr>
              <a:t>B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6" name="object 9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  <p:sp>
        <p:nvSpPr>
          <p:cNvPr id="84" name="object 84"/>
          <p:cNvSpPr txBox="1"/>
          <p:nvPr/>
        </p:nvSpPr>
        <p:spPr>
          <a:xfrm>
            <a:off x="7664191" y="3685733"/>
            <a:ext cx="5035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90" b="1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dirty="0" baseline="-12222" sz="3750" spc="22" i="1">
                <a:solidFill>
                  <a:srgbClr val="231F20"/>
                </a:solidFill>
                <a:latin typeface="Century Gothic"/>
                <a:cs typeface="Century Gothic"/>
              </a:rPr>
              <a:t>A</a:t>
            </a:r>
            <a:endParaRPr baseline="-12222" sz="375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56688" y="4796437"/>
            <a:ext cx="5048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90" b="1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dirty="0" baseline="-12222" sz="3750" spc="307" i="1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baseline="-12222" sz="375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646311" y="4058897"/>
            <a:ext cx="4921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90" b="1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dirty="0" baseline="-12222" sz="3750" spc="-30" b="0" i="1">
                <a:solidFill>
                  <a:srgbClr val="231F20"/>
                </a:solidFill>
                <a:latin typeface="Bookman Old Style"/>
                <a:cs typeface="Bookman Old Style"/>
              </a:rPr>
              <a:t>C</a:t>
            </a:r>
            <a:endParaRPr baseline="-12222" sz="3750">
              <a:latin typeface="Bookman Old Style"/>
              <a:cs typeface="Bookman Old Style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669748" y="5116236"/>
            <a:ext cx="26543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90" b="1">
                <a:solidFill>
                  <a:srgbClr val="231F20"/>
                </a:solidFill>
                <a:latin typeface="Tahoma"/>
                <a:cs typeface="Tahoma"/>
              </a:rPr>
              <a:t>x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681587" y="5184808"/>
            <a:ext cx="48577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864" sz="5400" spc="-569" b="1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dirty="0" sz="2500" spc="150" i="1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678935" y="4472727"/>
            <a:ext cx="5035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90" b="1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dirty="0" baseline="-12222" sz="3750" spc="22" i="1">
                <a:solidFill>
                  <a:srgbClr val="231F20"/>
                </a:solidFill>
                <a:latin typeface="Century Gothic"/>
                <a:cs typeface="Century Gothic"/>
              </a:rPr>
              <a:t>A</a:t>
            </a:r>
            <a:endParaRPr baseline="-12222" sz="3750">
              <a:latin typeface="Century Gothic"/>
              <a:cs typeface="Century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672883" y="5584053"/>
            <a:ext cx="503555" cy="110934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60985">
              <a:lnSpc>
                <a:spcPct val="100000"/>
              </a:lnSpc>
              <a:spcBef>
                <a:spcPts val="605"/>
              </a:spcBef>
            </a:pPr>
            <a:r>
              <a:rPr dirty="0" sz="2500" spc="50" i="1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3600" spc="-290" b="1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dirty="0" baseline="-12222" sz="3750" spc="22" i="1">
                <a:solidFill>
                  <a:srgbClr val="231F20"/>
                </a:solidFill>
                <a:latin typeface="Century Gothic"/>
                <a:cs typeface="Century Gothic"/>
              </a:rPr>
              <a:t>A</a:t>
            </a:r>
            <a:endParaRPr baseline="-12222" sz="3750">
              <a:latin typeface="Century Gothic"/>
              <a:cs typeface="Century 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193524" y="4640790"/>
            <a:ext cx="101028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45">
                <a:latin typeface="Arial"/>
                <a:cs typeface="Arial"/>
              </a:rPr>
              <a:t>L</a:t>
            </a:r>
            <a:r>
              <a:rPr dirty="0" sz="2350" spc="-40">
                <a:latin typeface="Arial"/>
                <a:cs typeface="Arial"/>
              </a:rPr>
              <a:t>a</a:t>
            </a:r>
            <a:r>
              <a:rPr dirty="0" sz="2350" spc="-65">
                <a:latin typeface="Arial"/>
                <a:cs typeface="Arial"/>
              </a:rPr>
              <a:t>y</a:t>
            </a:r>
            <a:r>
              <a:rPr dirty="0" sz="2350" spc="-65">
                <a:latin typeface="Arial"/>
                <a:cs typeface="Arial"/>
              </a:rPr>
              <a:t>e</a:t>
            </a:r>
            <a:r>
              <a:rPr dirty="0" sz="2350" spc="-155">
                <a:latin typeface="Arial"/>
                <a:cs typeface="Arial"/>
              </a:rPr>
              <a:t>r</a:t>
            </a:r>
            <a:r>
              <a:rPr dirty="0" sz="2350" spc="100">
                <a:latin typeface="Arial"/>
                <a:cs typeface="Arial"/>
              </a:rPr>
              <a:t>-</a:t>
            </a:r>
            <a:r>
              <a:rPr dirty="0" sz="2350" spc="25">
                <a:latin typeface="Arial"/>
                <a:cs typeface="Arial"/>
              </a:rPr>
              <a:t>2</a:t>
            </a:r>
            <a:endParaRPr sz="235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803385" y="3842214"/>
            <a:ext cx="101028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45">
                <a:latin typeface="Arial"/>
                <a:cs typeface="Arial"/>
              </a:rPr>
              <a:t>L</a:t>
            </a:r>
            <a:r>
              <a:rPr dirty="0" sz="2350" spc="-40">
                <a:latin typeface="Arial"/>
                <a:cs typeface="Arial"/>
              </a:rPr>
              <a:t>a</a:t>
            </a:r>
            <a:r>
              <a:rPr dirty="0" sz="2350" spc="-65">
                <a:latin typeface="Arial"/>
                <a:cs typeface="Arial"/>
              </a:rPr>
              <a:t>y</a:t>
            </a:r>
            <a:r>
              <a:rPr dirty="0" sz="2350" spc="-65">
                <a:latin typeface="Arial"/>
                <a:cs typeface="Arial"/>
              </a:rPr>
              <a:t>e</a:t>
            </a:r>
            <a:r>
              <a:rPr dirty="0" sz="2350" spc="-155">
                <a:latin typeface="Arial"/>
                <a:cs typeface="Arial"/>
              </a:rPr>
              <a:t>r</a:t>
            </a:r>
            <a:r>
              <a:rPr dirty="0" sz="2350" spc="100">
                <a:latin typeface="Arial"/>
                <a:cs typeface="Arial"/>
              </a:rPr>
              <a:t>-</a:t>
            </a:r>
            <a:r>
              <a:rPr dirty="0" sz="2350" spc="25"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  <a:p>
            <a:pPr algn="ctr" marR="179070">
              <a:lnSpc>
                <a:spcPct val="100000"/>
              </a:lnSpc>
              <a:spcBef>
                <a:spcPts val="1170"/>
              </a:spcBef>
            </a:pPr>
            <a:r>
              <a:rPr dirty="0" sz="1200" spc="10" b="1">
                <a:latin typeface="Courier New"/>
                <a:cs typeface="Courier New"/>
              </a:rPr>
              <a:t>B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892684" y="3570942"/>
            <a:ext cx="101028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45">
                <a:latin typeface="Arial"/>
                <a:cs typeface="Arial"/>
              </a:rPr>
              <a:t>L</a:t>
            </a:r>
            <a:r>
              <a:rPr dirty="0" sz="2350" spc="-40">
                <a:latin typeface="Arial"/>
                <a:cs typeface="Arial"/>
              </a:rPr>
              <a:t>a</a:t>
            </a:r>
            <a:r>
              <a:rPr dirty="0" sz="2350" spc="-65">
                <a:latin typeface="Arial"/>
                <a:cs typeface="Arial"/>
              </a:rPr>
              <a:t>y</a:t>
            </a:r>
            <a:r>
              <a:rPr dirty="0" sz="2350" spc="-65">
                <a:latin typeface="Arial"/>
                <a:cs typeface="Arial"/>
              </a:rPr>
              <a:t>e</a:t>
            </a:r>
            <a:r>
              <a:rPr dirty="0" sz="2350" spc="-155">
                <a:latin typeface="Arial"/>
                <a:cs typeface="Arial"/>
              </a:rPr>
              <a:t>r</a:t>
            </a:r>
            <a:r>
              <a:rPr dirty="0" sz="2350" spc="100">
                <a:latin typeface="Arial"/>
                <a:cs typeface="Arial"/>
              </a:rPr>
              <a:t>-</a:t>
            </a:r>
            <a:r>
              <a:rPr dirty="0" sz="2350" spc="25">
                <a:latin typeface="Arial"/>
                <a:cs typeface="Arial"/>
              </a:rPr>
              <a:t>0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147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4667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Neighborhood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aggregation: </a:t>
            </a:r>
            <a:r>
              <a:rPr dirty="0" spc="-30"/>
              <a:t>Key </a:t>
            </a:r>
            <a:r>
              <a:rPr dirty="0" spc="-5"/>
              <a:t>distinctions  </a:t>
            </a:r>
            <a:r>
              <a:rPr dirty="0" spc="-20"/>
              <a:t>are </a:t>
            </a:r>
            <a:r>
              <a:rPr dirty="0"/>
              <a:t>in </a:t>
            </a:r>
            <a:r>
              <a:rPr dirty="0" spc="-5"/>
              <a:t>how </a:t>
            </a:r>
            <a:r>
              <a:rPr dirty="0" spc="-25"/>
              <a:t>different </a:t>
            </a:r>
            <a:r>
              <a:rPr dirty="0" spc="-10"/>
              <a:t>approaches </a:t>
            </a:r>
            <a:r>
              <a:rPr dirty="0" spc="-20"/>
              <a:t>aggregate  </a:t>
            </a:r>
            <a:r>
              <a:rPr dirty="0" spc="-15"/>
              <a:t>information across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30"/>
              <a:t>layers</a:t>
            </a:r>
          </a:p>
        </p:txBody>
      </p:sp>
      <p:sp>
        <p:nvSpPr>
          <p:cNvPr id="4" name="object 4"/>
          <p:cNvSpPr/>
          <p:nvPr/>
        </p:nvSpPr>
        <p:spPr>
          <a:xfrm>
            <a:off x="4668711" y="4650990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3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1561" y="4311065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07083" y="5005719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30302" y="4719035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14781" y="4654558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6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19413" y="4929848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31061" y="4855423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2"/>
                </a:lnTo>
                <a:lnTo>
                  <a:pt x="140164" y="3376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21767" y="3721615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31061" y="4422706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66686" y="325440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299008" y="0"/>
                </a:moveTo>
                <a:lnTo>
                  <a:pt x="0" y="85738"/>
                </a:lnTo>
                <a:lnTo>
                  <a:pt x="94053" y="413738"/>
                </a:lnTo>
                <a:lnTo>
                  <a:pt x="393059" y="327999"/>
                </a:lnTo>
                <a:lnTo>
                  <a:pt x="2990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66686" y="325440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799077" y="3061364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29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30168" y="3311997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37489" y="3510633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27555" y="3470357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96346" y="446604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5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96346" y="446604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20676" y="4654144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05422" y="4594475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7" y="0"/>
                </a:moveTo>
                <a:lnTo>
                  <a:pt x="0" y="73084"/>
                </a:lnTo>
                <a:lnTo>
                  <a:pt x="133033" y="128657"/>
                </a:lnTo>
                <a:lnTo>
                  <a:pt x="12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90335" y="5581203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3"/>
                </a:lnTo>
                <a:lnTo>
                  <a:pt x="302467" y="404393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90334" y="5581202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707217" y="5847368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35385" y="5809757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0"/>
                </a:lnTo>
                <a:lnTo>
                  <a:pt x="68943" y="78363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48206" y="5737155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35046" y="5676698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8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90488" y="4801154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30128" y="4758552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19818" y="4698816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49035" y="466213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1"/>
                </a:lnTo>
                <a:lnTo>
                  <a:pt x="65669" y="77215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93073" y="4105616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32712" y="4481210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822403" y="4415399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751621" y="4579811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008457" y="4403578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89925" y="4306211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11673" y="3661499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281969" y="5874246"/>
            <a:ext cx="10725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34940" y="3686809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95789" y="4024679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83468" y="3456357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68385" y="3642864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144956" y="347273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59"/>
                </a:lnTo>
                <a:lnTo>
                  <a:pt x="115049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222259" y="344561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64765" y="4370179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09423" y="505322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84959" y="503067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869460" y="532775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940172" y="53127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700077" y="4495375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763020" y="480829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3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2826732" y="478888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520673" y="428548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2584943" y="426500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327442" y="460433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4398360" y="45739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945550" y="345937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7017740" y="343217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905669" y="45385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6964009" y="452022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835326" y="55422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6910279" y="552768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019120" y="41768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1080478" y="414411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820174" y="3479733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746608" y="3440225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5">
                <a:moveTo>
                  <a:pt x="83963" y="0"/>
                </a:moveTo>
                <a:lnTo>
                  <a:pt x="0" y="32705"/>
                </a:lnTo>
                <a:lnTo>
                  <a:pt x="76542" y="80252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269048" y="586599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8334147" y="583663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418271" y="297664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8481907" y="294860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8424830" y="341484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8481907" y="339188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8239580" y="507072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8307282" y="505753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380151" y="429090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8455041" y="426500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363190" y="473260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428176" y="470828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288456" y="395224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361012" y="391575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841561" y="4311065"/>
            <a:ext cx="876300" cy="796290"/>
          </a:xfrm>
          <a:prstGeom prst="rect">
            <a:avLst/>
          </a:prstGeom>
          <a:solidFill>
            <a:srgbClr val="DCDEE0"/>
          </a:solidFill>
        </p:spPr>
        <p:txBody>
          <a:bodyPr wrap="square" lIns="0" tIns="146050" rIns="0" bIns="0" rtlCol="0" vert="horz">
            <a:spAutoFit/>
          </a:bodyPr>
          <a:lstStyle/>
          <a:p>
            <a:pPr algn="ctr" marR="19050">
              <a:lnSpc>
                <a:spcPct val="100000"/>
              </a:lnSpc>
              <a:spcBef>
                <a:spcPts val="1150"/>
              </a:spcBef>
            </a:pPr>
            <a:r>
              <a:rPr dirty="0" sz="3100" spc="-10">
                <a:solidFill>
                  <a:srgbClr val="D60093"/>
                </a:solidFill>
                <a:latin typeface="Arial"/>
                <a:cs typeface="Arial"/>
              </a:rPr>
              <a:t>?</a:t>
            </a:r>
            <a:endParaRPr sz="31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438627" y="3168586"/>
            <a:ext cx="24384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-10">
                <a:solidFill>
                  <a:srgbClr val="D60093"/>
                </a:solidFill>
                <a:latin typeface="Arial"/>
                <a:cs typeface="Arial"/>
              </a:rPr>
              <a:t>?</a:t>
            </a:r>
            <a:endParaRPr sz="31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434563" y="4360354"/>
            <a:ext cx="24384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-10">
                <a:solidFill>
                  <a:srgbClr val="D60093"/>
                </a:solidFill>
                <a:latin typeface="Arial"/>
                <a:cs typeface="Arial"/>
              </a:rPr>
              <a:t>?</a:t>
            </a:r>
            <a:endParaRPr sz="31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357347" y="5475922"/>
            <a:ext cx="24384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-10">
                <a:solidFill>
                  <a:srgbClr val="D60093"/>
                </a:solidFill>
                <a:latin typeface="Arial"/>
                <a:cs typeface="Arial"/>
              </a:rPr>
              <a:t>?</a:t>
            </a:r>
            <a:endParaRPr sz="31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012930" y="3607308"/>
            <a:ext cx="34772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solidFill>
                  <a:srgbClr val="D60093"/>
                </a:solidFill>
                <a:latin typeface="Arial"/>
                <a:cs typeface="Arial"/>
              </a:rPr>
              <a:t>What </a:t>
            </a:r>
            <a:r>
              <a:rPr dirty="0" sz="3200">
                <a:solidFill>
                  <a:srgbClr val="D60093"/>
                </a:solidFill>
                <a:latin typeface="Arial"/>
                <a:cs typeface="Arial"/>
              </a:rPr>
              <a:t>is in </a:t>
            </a:r>
            <a:r>
              <a:rPr dirty="0" sz="3200" spc="-5">
                <a:solidFill>
                  <a:srgbClr val="D60093"/>
                </a:solidFill>
                <a:latin typeface="Arial"/>
                <a:cs typeface="Arial"/>
              </a:rPr>
              <a:t>the</a:t>
            </a:r>
            <a:r>
              <a:rPr dirty="0" sz="3200" spc="-100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3200" spc="-5">
                <a:solidFill>
                  <a:srgbClr val="D60093"/>
                </a:solidFill>
                <a:latin typeface="Arial"/>
                <a:cs typeface="Arial"/>
              </a:rPr>
              <a:t>box?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147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4631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Basic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approach: </a:t>
            </a:r>
            <a:r>
              <a:rPr dirty="0" spc="-30"/>
              <a:t>Average </a:t>
            </a:r>
            <a:r>
              <a:rPr dirty="0" spc="-15"/>
              <a:t>information from  </a:t>
            </a:r>
            <a:r>
              <a:rPr dirty="0" spc="-10"/>
              <a:t>neighbors </a:t>
            </a:r>
            <a:r>
              <a:rPr dirty="0"/>
              <a:t>and apply a </a:t>
            </a:r>
            <a:r>
              <a:rPr dirty="0" spc="-15"/>
              <a:t>neural</a:t>
            </a:r>
            <a:r>
              <a:rPr dirty="0" spc="0"/>
              <a:t> </a:t>
            </a:r>
            <a:r>
              <a:rPr dirty="0" spc="-15"/>
              <a:t>network</a:t>
            </a:r>
          </a:p>
        </p:txBody>
      </p:sp>
      <p:sp>
        <p:nvSpPr>
          <p:cNvPr id="4" name="object 4"/>
          <p:cNvSpPr/>
          <p:nvPr/>
        </p:nvSpPr>
        <p:spPr>
          <a:xfrm>
            <a:off x="4668711" y="4650990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3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1561" y="4311065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41561" y="4311065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07083" y="5005719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30302" y="4719035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14781" y="4654558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6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19413" y="4929848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31061" y="4855423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2"/>
                </a:lnTo>
                <a:lnTo>
                  <a:pt x="140164" y="3376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21767" y="3721615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31061" y="4422706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66686" y="325440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299008" y="0"/>
                </a:moveTo>
                <a:lnTo>
                  <a:pt x="0" y="85738"/>
                </a:lnTo>
                <a:lnTo>
                  <a:pt x="94053" y="413738"/>
                </a:lnTo>
                <a:lnTo>
                  <a:pt x="393059" y="327999"/>
                </a:lnTo>
                <a:lnTo>
                  <a:pt x="2990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66686" y="325440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99077" y="3061364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29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30168" y="3311997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37489" y="3510633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27555" y="3470357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96346" y="446604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5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96346" y="446604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20676" y="4654144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05422" y="4594475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7" y="0"/>
                </a:moveTo>
                <a:lnTo>
                  <a:pt x="0" y="73084"/>
                </a:lnTo>
                <a:lnTo>
                  <a:pt x="133033" y="128657"/>
                </a:lnTo>
                <a:lnTo>
                  <a:pt x="12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90335" y="5581203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3"/>
                </a:lnTo>
                <a:lnTo>
                  <a:pt x="302467" y="404393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90334" y="5581202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07217" y="5847368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35385" y="5809757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0"/>
                </a:lnTo>
                <a:lnTo>
                  <a:pt x="68943" y="78363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48206" y="5737155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35046" y="5676698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8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90488" y="4801154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30128" y="4758552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19818" y="4698816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49035" y="466213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1"/>
                </a:lnTo>
                <a:lnTo>
                  <a:pt x="65669" y="77215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93073" y="4105616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32712" y="4481210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22403" y="4415399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751621" y="4579811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008457" y="4403578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89925" y="4306211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11673" y="3661499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281969" y="5874246"/>
            <a:ext cx="10725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34940" y="3686809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95789" y="4024679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83468" y="3456357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168385" y="3642864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144956" y="347273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59"/>
                </a:lnTo>
                <a:lnTo>
                  <a:pt x="115049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222259" y="344561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64765" y="4370179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09423" y="505322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84959" y="503067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869460" y="532775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940172" y="53127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700077" y="4495375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763020" y="480829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3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826732" y="478888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520673" y="428548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584943" y="426500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27442" y="460433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398360" y="45739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945550" y="345937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7017740" y="343217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905669" y="45385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964009" y="452022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835326" y="55422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910279" y="552768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019120" y="41768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080478" y="414411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820174" y="3479733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746608" y="3440225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5">
                <a:moveTo>
                  <a:pt x="83963" y="0"/>
                </a:moveTo>
                <a:lnTo>
                  <a:pt x="0" y="32705"/>
                </a:lnTo>
                <a:lnTo>
                  <a:pt x="76542" y="80252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269048" y="586599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334147" y="583663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418271" y="297664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481907" y="294860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424830" y="341484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481907" y="339188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239580" y="507072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307282" y="505753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380151" y="429090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363190" y="473260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428176" y="470828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288456" y="395224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361012" y="3792175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541238" y="2677668"/>
            <a:ext cx="3540760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506095" marR="5080" indent="-494030">
              <a:lnSpc>
                <a:spcPts val="3790"/>
              </a:lnSpc>
              <a:spcBef>
                <a:spcPts val="265"/>
              </a:spcBef>
            </a:pP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(1) </a:t>
            </a:r>
            <a:r>
              <a:rPr dirty="0" sz="3200" spc="-30">
                <a:solidFill>
                  <a:srgbClr val="D60093"/>
                </a:solidFill>
                <a:latin typeface="Calibri"/>
                <a:cs typeface="Calibri"/>
              </a:rPr>
              <a:t>average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messages  </a:t>
            </a:r>
            <a:r>
              <a:rPr dirty="0" sz="3200" spc="-20">
                <a:solidFill>
                  <a:srgbClr val="D60093"/>
                </a:solidFill>
                <a:latin typeface="Calibri"/>
                <a:cs typeface="Calibri"/>
              </a:rPr>
              <a:t>from</a:t>
            </a:r>
            <a:r>
              <a:rPr dirty="0" sz="3200" spc="-4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neighbors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938781" y="3694181"/>
            <a:ext cx="852805" cy="954405"/>
          </a:xfrm>
          <a:custGeom>
            <a:avLst/>
            <a:gdLst/>
            <a:ahLst/>
            <a:cxnLst/>
            <a:rect l="l" t="t" r="r" b="b"/>
            <a:pathLst>
              <a:path w="852804" h="954404">
                <a:moveTo>
                  <a:pt x="664554" y="802409"/>
                </a:moveTo>
                <a:lnTo>
                  <a:pt x="605229" y="855143"/>
                </a:lnTo>
                <a:lnTo>
                  <a:pt x="852419" y="954019"/>
                </a:lnTo>
                <a:lnTo>
                  <a:pt x="823155" y="845324"/>
                </a:lnTo>
                <a:lnTo>
                  <a:pt x="718253" y="845324"/>
                </a:lnTo>
                <a:lnTo>
                  <a:pt x="703515" y="841545"/>
                </a:lnTo>
                <a:lnTo>
                  <a:pt x="690921" y="832071"/>
                </a:lnTo>
                <a:lnTo>
                  <a:pt x="664554" y="802409"/>
                </a:lnTo>
                <a:close/>
              </a:path>
              <a:path w="852804" h="954404">
                <a:moveTo>
                  <a:pt x="723879" y="749675"/>
                </a:moveTo>
                <a:lnTo>
                  <a:pt x="664554" y="802409"/>
                </a:lnTo>
                <a:lnTo>
                  <a:pt x="690921" y="832071"/>
                </a:lnTo>
                <a:lnTo>
                  <a:pt x="703515" y="841545"/>
                </a:lnTo>
                <a:lnTo>
                  <a:pt x="718253" y="845324"/>
                </a:lnTo>
                <a:lnTo>
                  <a:pt x="733333" y="843300"/>
                </a:lnTo>
                <a:lnTo>
                  <a:pt x="746950" y="835368"/>
                </a:lnTo>
                <a:lnTo>
                  <a:pt x="756424" y="822773"/>
                </a:lnTo>
                <a:lnTo>
                  <a:pt x="760202" y="808035"/>
                </a:lnTo>
                <a:lnTo>
                  <a:pt x="758178" y="792956"/>
                </a:lnTo>
                <a:lnTo>
                  <a:pt x="750246" y="779338"/>
                </a:lnTo>
                <a:lnTo>
                  <a:pt x="723879" y="749675"/>
                </a:lnTo>
                <a:close/>
              </a:path>
              <a:path w="852804" h="954404">
                <a:moveTo>
                  <a:pt x="783205" y="696940"/>
                </a:moveTo>
                <a:lnTo>
                  <a:pt x="723879" y="749675"/>
                </a:lnTo>
                <a:lnTo>
                  <a:pt x="750246" y="779338"/>
                </a:lnTo>
                <a:lnTo>
                  <a:pt x="758178" y="792956"/>
                </a:lnTo>
                <a:lnTo>
                  <a:pt x="746950" y="835368"/>
                </a:lnTo>
                <a:lnTo>
                  <a:pt x="718253" y="845324"/>
                </a:lnTo>
                <a:lnTo>
                  <a:pt x="823155" y="845324"/>
                </a:lnTo>
                <a:lnTo>
                  <a:pt x="783205" y="696940"/>
                </a:lnTo>
                <a:close/>
              </a:path>
              <a:path w="852804" h="954404">
                <a:moveTo>
                  <a:pt x="41949" y="0"/>
                </a:moveTo>
                <a:lnTo>
                  <a:pt x="26870" y="2024"/>
                </a:lnTo>
                <a:lnTo>
                  <a:pt x="13251" y="9956"/>
                </a:lnTo>
                <a:lnTo>
                  <a:pt x="3777" y="22550"/>
                </a:lnTo>
                <a:lnTo>
                  <a:pt x="0" y="37288"/>
                </a:lnTo>
                <a:lnTo>
                  <a:pt x="2024" y="52367"/>
                </a:lnTo>
                <a:lnTo>
                  <a:pt x="9956" y="65985"/>
                </a:lnTo>
                <a:lnTo>
                  <a:pt x="664554" y="802409"/>
                </a:lnTo>
                <a:lnTo>
                  <a:pt x="723879" y="749675"/>
                </a:lnTo>
                <a:lnTo>
                  <a:pt x="69281" y="13251"/>
                </a:lnTo>
                <a:lnTo>
                  <a:pt x="56687" y="3777"/>
                </a:lnTo>
                <a:lnTo>
                  <a:pt x="41949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3065764" y="5935979"/>
            <a:ext cx="40874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(2) apply </a:t>
            </a:r>
            <a:r>
              <a:rPr dirty="0" sz="3200" spc="-15">
                <a:solidFill>
                  <a:srgbClr val="D60093"/>
                </a:solidFill>
                <a:latin typeface="Calibri"/>
                <a:cs typeface="Calibri"/>
              </a:rPr>
              <a:t>neural</a:t>
            </a:r>
            <a:r>
              <a:rPr dirty="0" sz="3200" spc="-5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520654" y="4840223"/>
            <a:ext cx="758825" cy="1173480"/>
          </a:xfrm>
          <a:custGeom>
            <a:avLst/>
            <a:gdLst/>
            <a:ahLst/>
            <a:cxnLst/>
            <a:rect l="l" t="t" r="r" b="b"/>
            <a:pathLst>
              <a:path w="758825" h="1173479">
                <a:moveTo>
                  <a:pt x="597406" y="179814"/>
                </a:moveTo>
                <a:lnTo>
                  <a:pt x="5642" y="1112595"/>
                </a:lnTo>
                <a:lnTo>
                  <a:pt x="0" y="1127310"/>
                </a:lnTo>
                <a:lnTo>
                  <a:pt x="424" y="1142519"/>
                </a:lnTo>
                <a:lnTo>
                  <a:pt x="6520" y="1156459"/>
                </a:lnTo>
                <a:lnTo>
                  <a:pt x="17893" y="1167368"/>
                </a:lnTo>
                <a:lnTo>
                  <a:pt x="32609" y="1173010"/>
                </a:lnTo>
                <a:lnTo>
                  <a:pt x="47818" y="1172586"/>
                </a:lnTo>
                <a:lnTo>
                  <a:pt x="61758" y="1166490"/>
                </a:lnTo>
                <a:lnTo>
                  <a:pt x="72667" y="1155116"/>
                </a:lnTo>
                <a:lnTo>
                  <a:pt x="664431" y="222334"/>
                </a:lnTo>
                <a:lnTo>
                  <a:pt x="597406" y="179814"/>
                </a:lnTo>
                <a:close/>
              </a:path>
              <a:path w="758825" h="1173479">
                <a:moveTo>
                  <a:pt x="745379" y="128407"/>
                </a:moveTo>
                <a:lnTo>
                  <a:pt x="658725" y="128407"/>
                </a:lnTo>
                <a:lnTo>
                  <a:pt x="673439" y="134049"/>
                </a:lnTo>
                <a:lnTo>
                  <a:pt x="684813" y="144959"/>
                </a:lnTo>
                <a:lnTo>
                  <a:pt x="690910" y="158899"/>
                </a:lnTo>
                <a:lnTo>
                  <a:pt x="691333" y="174107"/>
                </a:lnTo>
                <a:lnTo>
                  <a:pt x="685691" y="188822"/>
                </a:lnTo>
                <a:lnTo>
                  <a:pt x="664431" y="222334"/>
                </a:lnTo>
                <a:lnTo>
                  <a:pt x="731456" y="264855"/>
                </a:lnTo>
                <a:lnTo>
                  <a:pt x="745379" y="128407"/>
                </a:lnTo>
                <a:close/>
              </a:path>
              <a:path w="758825" h="1173479">
                <a:moveTo>
                  <a:pt x="658725" y="128407"/>
                </a:moveTo>
                <a:lnTo>
                  <a:pt x="643516" y="128831"/>
                </a:lnTo>
                <a:lnTo>
                  <a:pt x="629576" y="134927"/>
                </a:lnTo>
                <a:lnTo>
                  <a:pt x="618667" y="146301"/>
                </a:lnTo>
                <a:lnTo>
                  <a:pt x="597406" y="179814"/>
                </a:lnTo>
                <a:lnTo>
                  <a:pt x="664431" y="222334"/>
                </a:lnTo>
                <a:lnTo>
                  <a:pt x="685691" y="188822"/>
                </a:lnTo>
                <a:lnTo>
                  <a:pt x="691333" y="174107"/>
                </a:lnTo>
                <a:lnTo>
                  <a:pt x="690910" y="158899"/>
                </a:lnTo>
                <a:lnTo>
                  <a:pt x="684813" y="144959"/>
                </a:lnTo>
                <a:lnTo>
                  <a:pt x="673439" y="134049"/>
                </a:lnTo>
                <a:lnTo>
                  <a:pt x="658725" y="128407"/>
                </a:lnTo>
                <a:close/>
              </a:path>
              <a:path w="758825" h="1173479">
                <a:moveTo>
                  <a:pt x="758482" y="0"/>
                </a:moveTo>
                <a:lnTo>
                  <a:pt x="530382" y="137293"/>
                </a:lnTo>
                <a:lnTo>
                  <a:pt x="597406" y="179814"/>
                </a:lnTo>
                <a:lnTo>
                  <a:pt x="618667" y="146301"/>
                </a:lnTo>
                <a:lnTo>
                  <a:pt x="629576" y="134927"/>
                </a:lnTo>
                <a:lnTo>
                  <a:pt x="643516" y="128831"/>
                </a:lnTo>
                <a:lnTo>
                  <a:pt x="658725" y="128407"/>
                </a:lnTo>
                <a:lnTo>
                  <a:pt x="745379" y="128407"/>
                </a:lnTo>
                <a:lnTo>
                  <a:pt x="758482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0807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7207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Basic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approach: </a:t>
            </a:r>
            <a:r>
              <a:rPr dirty="0" spc="-30"/>
              <a:t>Average </a:t>
            </a:r>
            <a:r>
              <a:rPr dirty="0" spc="-5"/>
              <a:t>neighbor messages  </a:t>
            </a:r>
            <a:r>
              <a:rPr dirty="0"/>
              <a:t>and apply a </a:t>
            </a:r>
            <a:r>
              <a:rPr dirty="0" spc="-15"/>
              <a:t>neural</a:t>
            </a:r>
            <a:r>
              <a:rPr dirty="0" spc="-35"/>
              <a:t> </a:t>
            </a:r>
            <a:r>
              <a:rPr dirty="0" spc="-10"/>
              <a:t>network</a:t>
            </a:r>
          </a:p>
        </p:txBody>
      </p:sp>
      <p:sp>
        <p:nvSpPr>
          <p:cNvPr id="4" name="object 4"/>
          <p:cNvSpPr/>
          <p:nvPr/>
        </p:nvSpPr>
        <p:spPr>
          <a:xfrm>
            <a:off x="2542625" y="3514534"/>
            <a:ext cx="2010410" cy="1490345"/>
          </a:xfrm>
          <a:custGeom>
            <a:avLst/>
            <a:gdLst/>
            <a:ahLst/>
            <a:cxnLst/>
            <a:rect l="l" t="t" r="r" b="b"/>
            <a:pathLst>
              <a:path w="2010410" h="1490345">
                <a:moveTo>
                  <a:pt x="0" y="0"/>
                </a:moveTo>
                <a:lnTo>
                  <a:pt x="2010266" y="0"/>
                </a:lnTo>
                <a:lnTo>
                  <a:pt x="2010266" y="1489932"/>
                </a:lnTo>
                <a:lnTo>
                  <a:pt x="0" y="1489932"/>
                </a:lnTo>
                <a:lnTo>
                  <a:pt x="0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31512" y="3503421"/>
            <a:ext cx="2032635" cy="1512570"/>
          </a:xfrm>
          <a:custGeom>
            <a:avLst/>
            <a:gdLst/>
            <a:ahLst/>
            <a:cxnLst/>
            <a:rect l="l" t="t" r="r" b="b"/>
            <a:pathLst>
              <a:path w="2032635" h="1512570">
                <a:moveTo>
                  <a:pt x="2027516" y="0"/>
                </a:moveTo>
                <a:lnTo>
                  <a:pt x="4974" y="0"/>
                </a:lnTo>
                <a:lnTo>
                  <a:pt x="0" y="4975"/>
                </a:lnTo>
                <a:lnTo>
                  <a:pt x="0" y="1507181"/>
                </a:lnTo>
                <a:lnTo>
                  <a:pt x="4974" y="1512157"/>
                </a:lnTo>
                <a:lnTo>
                  <a:pt x="2027516" y="1512157"/>
                </a:lnTo>
                <a:lnTo>
                  <a:pt x="2032491" y="1507181"/>
                </a:lnTo>
                <a:lnTo>
                  <a:pt x="2032491" y="1498822"/>
                </a:lnTo>
                <a:lnTo>
                  <a:pt x="13334" y="1498822"/>
                </a:lnTo>
                <a:lnTo>
                  <a:pt x="13334" y="13335"/>
                </a:lnTo>
                <a:lnTo>
                  <a:pt x="2032491" y="13335"/>
                </a:lnTo>
                <a:lnTo>
                  <a:pt x="2032491" y="4975"/>
                </a:lnTo>
                <a:lnTo>
                  <a:pt x="2027516" y="0"/>
                </a:lnTo>
                <a:close/>
              </a:path>
              <a:path w="2032635" h="1512570">
                <a:moveTo>
                  <a:pt x="2032491" y="13335"/>
                </a:moveTo>
                <a:lnTo>
                  <a:pt x="2019156" y="13335"/>
                </a:lnTo>
                <a:lnTo>
                  <a:pt x="2019156" y="1498822"/>
                </a:lnTo>
                <a:lnTo>
                  <a:pt x="2032491" y="1498822"/>
                </a:lnTo>
                <a:lnTo>
                  <a:pt x="2032491" y="13335"/>
                </a:lnTo>
                <a:close/>
              </a:path>
              <a:path w="2032635" h="1512570">
                <a:moveTo>
                  <a:pt x="2014711" y="17779"/>
                </a:moveTo>
                <a:lnTo>
                  <a:pt x="17779" y="17779"/>
                </a:lnTo>
                <a:lnTo>
                  <a:pt x="17779" y="1494377"/>
                </a:lnTo>
                <a:lnTo>
                  <a:pt x="2014711" y="1494377"/>
                </a:lnTo>
                <a:lnTo>
                  <a:pt x="2014711" y="1489932"/>
                </a:lnTo>
                <a:lnTo>
                  <a:pt x="22225" y="1489932"/>
                </a:lnTo>
                <a:lnTo>
                  <a:pt x="22225" y="22225"/>
                </a:lnTo>
                <a:lnTo>
                  <a:pt x="2014711" y="22225"/>
                </a:lnTo>
                <a:lnTo>
                  <a:pt x="2014711" y="17779"/>
                </a:lnTo>
                <a:close/>
              </a:path>
              <a:path w="2032635" h="1512570">
                <a:moveTo>
                  <a:pt x="2014711" y="22225"/>
                </a:moveTo>
                <a:lnTo>
                  <a:pt x="2010266" y="22225"/>
                </a:lnTo>
                <a:lnTo>
                  <a:pt x="2010266" y="1489932"/>
                </a:lnTo>
                <a:lnTo>
                  <a:pt x="2014711" y="1489932"/>
                </a:lnTo>
                <a:lnTo>
                  <a:pt x="2014711" y="22225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11825" y="4645240"/>
            <a:ext cx="693420" cy="548640"/>
          </a:xfrm>
          <a:custGeom>
            <a:avLst/>
            <a:gdLst/>
            <a:ahLst/>
            <a:cxnLst/>
            <a:rect l="l" t="t" r="r" b="b"/>
            <a:pathLst>
              <a:path w="693420" h="548639">
                <a:moveTo>
                  <a:pt x="65749" y="39674"/>
                </a:moveTo>
                <a:lnTo>
                  <a:pt x="53961" y="54638"/>
                </a:lnTo>
                <a:lnTo>
                  <a:pt x="680369" y="548149"/>
                </a:lnTo>
                <a:lnTo>
                  <a:pt x="686358" y="547438"/>
                </a:lnTo>
                <a:lnTo>
                  <a:pt x="692870" y="539174"/>
                </a:lnTo>
                <a:lnTo>
                  <a:pt x="692158" y="533185"/>
                </a:lnTo>
                <a:lnTo>
                  <a:pt x="65749" y="39674"/>
                </a:lnTo>
                <a:close/>
              </a:path>
              <a:path w="693420" h="548639">
                <a:moveTo>
                  <a:pt x="0" y="0"/>
                </a:moveTo>
                <a:lnTo>
                  <a:pt x="36277" y="77083"/>
                </a:lnTo>
                <a:lnTo>
                  <a:pt x="53961" y="54638"/>
                </a:lnTo>
                <a:lnTo>
                  <a:pt x="39853" y="43524"/>
                </a:lnTo>
                <a:lnTo>
                  <a:pt x="39143" y="37536"/>
                </a:lnTo>
                <a:lnTo>
                  <a:pt x="45653" y="29270"/>
                </a:lnTo>
                <a:lnTo>
                  <a:pt x="51643" y="28561"/>
                </a:lnTo>
                <a:lnTo>
                  <a:pt x="74505" y="28561"/>
                </a:lnTo>
                <a:lnTo>
                  <a:pt x="83433" y="17228"/>
                </a:lnTo>
                <a:lnTo>
                  <a:pt x="0" y="0"/>
                </a:lnTo>
                <a:close/>
              </a:path>
              <a:path w="693420" h="548639">
                <a:moveTo>
                  <a:pt x="51643" y="28561"/>
                </a:moveTo>
                <a:lnTo>
                  <a:pt x="45653" y="29270"/>
                </a:lnTo>
                <a:lnTo>
                  <a:pt x="39143" y="37536"/>
                </a:lnTo>
                <a:lnTo>
                  <a:pt x="39853" y="43524"/>
                </a:lnTo>
                <a:lnTo>
                  <a:pt x="53961" y="54638"/>
                </a:lnTo>
                <a:lnTo>
                  <a:pt x="65749" y="39674"/>
                </a:lnTo>
                <a:lnTo>
                  <a:pt x="51643" y="28561"/>
                </a:lnTo>
                <a:close/>
              </a:path>
              <a:path w="693420" h="548639">
                <a:moveTo>
                  <a:pt x="74505" y="28561"/>
                </a:moveTo>
                <a:lnTo>
                  <a:pt x="51643" y="28561"/>
                </a:lnTo>
                <a:lnTo>
                  <a:pt x="65749" y="39674"/>
                </a:lnTo>
                <a:lnTo>
                  <a:pt x="74505" y="28561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28338" y="4569528"/>
            <a:ext cx="253365" cy="630555"/>
          </a:xfrm>
          <a:custGeom>
            <a:avLst/>
            <a:gdLst/>
            <a:ahLst/>
            <a:cxnLst/>
            <a:rect l="l" t="t" r="r" b="b"/>
            <a:pathLst>
              <a:path w="253365" h="630554">
                <a:moveTo>
                  <a:pt x="44565" y="67946"/>
                </a:moveTo>
                <a:lnTo>
                  <a:pt x="26738" y="74664"/>
                </a:lnTo>
                <a:lnTo>
                  <a:pt x="235207" y="627854"/>
                </a:lnTo>
                <a:lnTo>
                  <a:pt x="240701" y="630341"/>
                </a:lnTo>
                <a:lnTo>
                  <a:pt x="250546" y="626631"/>
                </a:lnTo>
                <a:lnTo>
                  <a:pt x="253033" y="621136"/>
                </a:lnTo>
                <a:lnTo>
                  <a:pt x="44565" y="67946"/>
                </a:lnTo>
                <a:close/>
              </a:path>
              <a:path w="253365" h="630554">
                <a:moveTo>
                  <a:pt x="8780" y="0"/>
                </a:moveTo>
                <a:lnTo>
                  <a:pt x="0" y="84740"/>
                </a:lnTo>
                <a:lnTo>
                  <a:pt x="26738" y="74664"/>
                </a:lnTo>
                <a:lnTo>
                  <a:pt x="20405" y="57857"/>
                </a:lnTo>
                <a:lnTo>
                  <a:pt x="22893" y="52363"/>
                </a:lnTo>
                <a:lnTo>
                  <a:pt x="32738" y="48652"/>
                </a:lnTo>
                <a:lnTo>
                  <a:pt x="61346" y="48652"/>
                </a:lnTo>
                <a:lnTo>
                  <a:pt x="8780" y="0"/>
                </a:lnTo>
                <a:close/>
              </a:path>
              <a:path w="253365" h="630554">
                <a:moveTo>
                  <a:pt x="32738" y="48652"/>
                </a:moveTo>
                <a:lnTo>
                  <a:pt x="22893" y="52363"/>
                </a:lnTo>
                <a:lnTo>
                  <a:pt x="20409" y="57870"/>
                </a:lnTo>
                <a:lnTo>
                  <a:pt x="26738" y="74664"/>
                </a:lnTo>
                <a:lnTo>
                  <a:pt x="44565" y="67946"/>
                </a:lnTo>
                <a:lnTo>
                  <a:pt x="38232" y="51140"/>
                </a:lnTo>
                <a:lnTo>
                  <a:pt x="32738" y="48652"/>
                </a:lnTo>
                <a:close/>
              </a:path>
              <a:path w="253365" h="630554">
                <a:moveTo>
                  <a:pt x="61346" y="48652"/>
                </a:moveTo>
                <a:lnTo>
                  <a:pt x="32738" y="48652"/>
                </a:lnTo>
                <a:lnTo>
                  <a:pt x="38232" y="51140"/>
                </a:lnTo>
                <a:lnTo>
                  <a:pt x="44565" y="67946"/>
                </a:lnTo>
                <a:lnTo>
                  <a:pt x="71305" y="57870"/>
                </a:lnTo>
                <a:lnTo>
                  <a:pt x="61346" y="48652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151730" y="5135371"/>
            <a:ext cx="1672589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16230" marR="5080" indent="-304165">
              <a:lnSpc>
                <a:spcPct val="100800"/>
              </a:lnSpc>
              <a:spcBef>
                <a:spcPts val="75"/>
              </a:spcBef>
            </a:pPr>
            <a:r>
              <a:rPr dirty="0" sz="2400" spc="-50">
                <a:solidFill>
                  <a:srgbClr val="7030A0"/>
                </a:solidFill>
                <a:latin typeface="Calibri"/>
                <a:cs typeface="Calibri"/>
              </a:rPr>
              <a:t>Total</a:t>
            </a:r>
            <a:r>
              <a:rPr dirty="0" sz="2400" spc="-8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7030A0"/>
                </a:solidFill>
                <a:latin typeface="Calibri"/>
                <a:cs typeface="Calibri"/>
              </a:rPr>
              <a:t>number  of</a:t>
            </a:r>
            <a:r>
              <a:rPr dirty="0" sz="2400" spc="-95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7030A0"/>
                </a:solidFill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6409" y="2929318"/>
            <a:ext cx="1469390" cy="585470"/>
          </a:xfrm>
          <a:custGeom>
            <a:avLst/>
            <a:gdLst/>
            <a:ahLst/>
            <a:cxnLst/>
            <a:rect l="l" t="t" r="r" b="b"/>
            <a:pathLst>
              <a:path w="1469389" h="585470">
                <a:moveTo>
                  <a:pt x="0" y="0"/>
                </a:moveTo>
                <a:lnTo>
                  <a:pt x="1469136" y="0"/>
                </a:lnTo>
                <a:lnTo>
                  <a:pt x="1469136" y="585216"/>
                </a:lnTo>
                <a:lnTo>
                  <a:pt x="0" y="585216"/>
                </a:lnTo>
                <a:lnTo>
                  <a:pt x="0" y="0"/>
                </a:lnTo>
                <a:close/>
              </a:path>
            </a:pathLst>
          </a:custGeom>
          <a:solidFill>
            <a:srgbClr val="6BB76D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5296" y="2918205"/>
            <a:ext cx="1491615" cy="607695"/>
          </a:xfrm>
          <a:custGeom>
            <a:avLst/>
            <a:gdLst/>
            <a:ahLst/>
            <a:cxnLst/>
            <a:rect l="l" t="t" r="r" b="b"/>
            <a:pathLst>
              <a:path w="1491614" h="607695">
                <a:moveTo>
                  <a:pt x="1486385" y="0"/>
                </a:moveTo>
                <a:lnTo>
                  <a:pt x="4975" y="0"/>
                </a:lnTo>
                <a:lnTo>
                  <a:pt x="0" y="4975"/>
                </a:lnTo>
                <a:lnTo>
                  <a:pt x="0" y="602466"/>
                </a:lnTo>
                <a:lnTo>
                  <a:pt x="4975" y="607441"/>
                </a:lnTo>
                <a:lnTo>
                  <a:pt x="1486385" y="607441"/>
                </a:lnTo>
                <a:lnTo>
                  <a:pt x="1491361" y="602466"/>
                </a:lnTo>
                <a:lnTo>
                  <a:pt x="1491361" y="594106"/>
                </a:lnTo>
                <a:lnTo>
                  <a:pt x="13335" y="594106"/>
                </a:lnTo>
                <a:lnTo>
                  <a:pt x="13335" y="13335"/>
                </a:lnTo>
                <a:lnTo>
                  <a:pt x="1491361" y="13335"/>
                </a:lnTo>
                <a:lnTo>
                  <a:pt x="1491361" y="4975"/>
                </a:lnTo>
                <a:lnTo>
                  <a:pt x="1486385" y="0"/>
                </a:lnTo>
                <a:close/>
              </a:path>
              <a:path w="1491614" h="607695">
                <a:moveTo>
                  <a:pt x="1491361" y="13335"/>
                </a:moveTo>
                <a:lnTo>
                  <a:pt x="1478026" y="13335"/>
                </a:lnTo>
                <a:lnTo>
                  <a:pt x="1478026" y="594106"/>
                </a:lnTo>
                <a:lnTo>
                  <a:pt x="1491361" y="594106"/>
                </a:lnTo>
                <a:lnTo>
                  <a:pt x="1491361" y="13335"/>
                </a:lnTo>
                <a:close/>
              </a:path>
              <a:path w="1491614" h="607695">
                <a:moveTo>
                  <a:pt x="1473581" y="17780"/>
                </a:moveTo>
                <a:lnTo>
                  <a:pt x="17780" y="17780"/>
                </a:lnTo>
                <a:lnTo>
                  <a:pt x="17780" y="589661"/>
                </a:lnTo>
                <a:lnTo>
                  <a:pt x="1473581" y="589661"/>
                </a:lnTo>
                <a:lnTo>
                  <a:pt x="1473581" y="585216"/>
                </a:lnTo>
                <a:lnTo>
                  <a:pt x="22225" y="585216"/>
                </a:lnTo>
                <a:lnTo>
                  <a:pt x="22225" y="22225"/>
                </a:lnTo>
                <a:lnTo>
                  <a:pt x="1473581" y="22225"/>
                </a:lnTo>
                <a:lnTo>
                  <a:pt x="1473581" y="17780"/>
                </a:lnTo>
                <a:close/>
              </a:path>
              <a:path w="1491614" h="607695">
                <a:moveTo>
                  <a:pt x="1473581" y="22225"/>
                </a:moveTo>
                <a:lnTo>
                  <a:pt x="1469136" y="22225"/>
                </a:lnTo>
                <a:lnTo>
                  <a:pt x="1469136" y="585216"/>
                </a:lnTo>
                <a:lnTo>
                  <a:pt x="1473581" y="585216"/>
                </a:lnTo>
                <a:lnTo>
                  <a:pt x="1473581" y="22225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64550" y="2471420"/>
            <a:ext cx="40265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6BB76D"/>
                </a:solidFill>
                <a:latin typeface="Calibri"/>
                <a:cs typeface="Calibri"/>
              </a:rPr>
              <a:t>Initial 0-th </a:t>
            </a:r>
            <a:r>
              <a:rPr dirty="0" sz="2400" spc="-20">
                <a:solidFill>
                  <a:srgbClr val="6BB76D"/>
                </a:solidFill>
                <a:latin typeface="Calibri"/>
                <a:cs typeface="Calibri"/>
              </a:rPr>
              <a:t>layer </a:t>
            </a:r>
            <a:r>
              <a:rPr dirty="0" sz="2400" spc="-5">
                <a:solidFill>
                  <a:srgbClr val="6BB76D"/>
                </a:solidFill>
                <a:latin typeface="Calibri"/>
                <a:cs typeface="Calibri"/>
              </a:rPr>
              <a:t>embeddings</a:t>
            </a:r>
            <a:r>
              <a:rPr dirty="0" sz="2400" spc="5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400" spc="-15">
                <a:solidFill>
                  <a:srgbClr val="6BB76D"/>
                </a:solidFill>
                <a:latin typeface="Calibri"/>
                <a:cs typeface="Calibri"/>
              </a:rPr>
              <a:t>are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63482" y="2840227"/>
            <a:ext cx="28301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BB76D"/>
                </a:solidFill>
                <a:latin typeface="Calibri"/>
                <a:cs typeface="Calibri"/>
              </a:rPr>
              <a:t>equal </a:t>
            </a:r>
            <a:r>
              <a:rPr dirty="0" sz="2400" spc="-15">
                <a:solidFill>
                  <a:srgbClr val="6BB76D"/>
                </a:solidFill>
                <a:latin typeface="Calibri"/>
                <a:cs typeface="Calibri"/>
              </a:rPr>
              <a:t>to </a:t>
            </a:r>
            <a:r>
              <a:rPr dirty="0" sz="2400" spc="-5">
                <a:solidFill>
                  <a:srgbClr val="6BB76D"/>
                </a:solidFill>
                <a:latin typeface="Calibri"/>
                <a:cs typeface="Calibri"/>
              </a:rPr>
              <a:t>node</a:t>
            </a:r>
            <a:r>
              <a:rPr dirty="0" sz="2400" spc="-35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6BB76D"/>
                </a:solidFill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70889" y="2918528"/>
            <a:ext cx="822960" cy="338455"/>
          </a:xfrm>
          <a:custGeom>
            <a:avLst/>
            <a:gdLst/>
            <a:ahLst/>
            <a:cxnLst/>
            <a:rect l="l" t="t" r="r" b="b"/>
            <a:pathLst>
              <a:path w="822960" h="338454">
                <a:moveTo>
                  <a:pt x="56920" y="267441"/>
                </a:moveTo>
                <a:lnTo>
                  <a:pt x="0" y="330829"/>
                </a:lnTo>
                <a:lnTo>
                  <a:pt x="84862" y="338333"/>
                </a:lnTo>
                <a:lnTo>
                  <a:pt x="76980" y="318335"/>
                </a:lnTo>
                <a:lnTo>
                  <a:pt x="57674" y="318335"/>
                </a:lnTo>
                <a:lnTo>
                  <a:pt x="52143" y="315931"/>
                </a:lnTo>
                <a:lnTo>
                  <a:pt x="48285" y="306143"/>
                </a:lnTo>
                <a:lnTo>
                  <a:pt x="50689" y="300612"/>
                </a:lnTo>
                <a:lnTo>
                  <a:pt x="67398" y="294026"/>
                </a:lnTo>
                <a:lnTo>
                  <a:pt x="56920" y="267441"/>
                </a:lnTo>
                <a:close/>
              </a:path>
              <a:path w="822960" h="338454">
                <a:moveTo>
                  <a:pt x="67398" y="294026"/>
                </a:moveTo>
                <a:lnTo>
                  <a:pt x="50689" y="300612"/>
                </a:lnTo>
                <a:lnTo>
                  <a:pt x="48285" y="306143"/>
                </a:lnTo>
                <a:lnTo>
                  <a:pt x="52143" y="315931"/>
                </a:lnTo>
                <a:lnTo>
                  <a:pt x="57674" y="318335"/>
                </a:lnTo>
                <a:lnTo>
                  <a:pt x="74384" y="311749"/>
                </a:lnTo>
                <a:lnTo>
                  <a:pt x="67398" y="294026"/>
                </a:lnTo>
                <a:close/>
              </a:path>
              <a:path w="822960" h="338454">
                <a:moveTo>
                  <a:pt x="74384" y="311749"/>
                </a:moveTo>
                <a:lnTo>
                  <a:pt x="57674" y="318335"/>
                </a:lnTo>
                <a:lnTo>
                  <a:pt x="76980" y="318335"/>
                </a:lnTo>
                <a:lnTo>
                  <a:pt x="74384" y="311749"/>
                </a:lnTo>
                <a:close/>
              </a:path>
              <a:path w="822960" h="338454">
                <a:moveTo>
                  <a:pt x="813356" y="0"/>
                </a:moveTo>
                <a:lnTo>
                  <a:pt x="67398" y="294026"/>
                </a:lnTo>
                <a:lnTo>
                  <a:pt x="74384" y="311749"/>
                </a:lnTo>
                <a:lnTo>
                  <a:pt x="820342" y="17722"/>
                </a:lnTo>
                <a:lnTo>
                  <a:pt x="822746" y="12191"/>
                </a:lnTo>
                <a:lnTo>
                  <a:pt x="818888" y="2404"/>
                </a:lnTo>
                <a:lnTo>
                  <a:pt x="813356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6409" y="5052890"/>
            <a:ext cx="516890" cy="459740"/>
          </a:xfrm>
          <a:custGeom>
            <a:avLst/>
            <a:gdLst/>
            <a:ahLst/>
            <a:cxnLst/>
            <a:rect l="l" t="t" r="r" b="b"/>
            <a:pathLst>
              <a:path w="516890" h="459739">
                <a:moveTo>
                  <a:pt x="0" y="0"/>
                </a:moveTo>
                <a:lnTo>
                  <a:pt x="516296" y="0"/>
                </a:lnTo>
                <a:lnTo>
                  <a:pt x="516296" y="459738"/>
                </a:lnTo>
                <a:lnTo>
                  <a:pt x="0" y="459738"/>
                </a:lnTo>
                <a:lnTo>
                  <a:pt x="0" y="0"/>
                </a:lnTo>
                <a:close/>
              </a:path>
            </a:pathLst>
          </a:custGeom>
          <a:solidFill>
            <a:srgbClr val="E66C7D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5296" y="5041777"/>
            <a:ext cx="539115" cy="481965"/>
          </a:xfrm>
          <a:custGeom>
            <a:avLst/>
            <a:gdLst/>
            <a:ahLst/>
            <a:cxnLst/>
            <a:rect l="l" t="t" r="r" b="b"/>
            <a:pathLst>
              <a:path w="539115" h="481964">
                <a:moveTo>
                  <a:pt x="533545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476987"/>
                </a:lnTo>
                <a:lnTo>
                  <a:pt x="4975" y="481963"/>
                </a:lnTo>
                <a:lnTo>
                  <a:pt x="533545" y="481963"/>
                </a:lnTo>
                <a:lnTo>
                  <a:pt x="538521" y="476987"/>
                </a:lnTo>
                <a:lnTo>
                  <a:pt x="538521" y="468628"/>
                </a:lnTo>
                <a:lnTo>
                  <a:pt x="13335" y="468628"/>
                </a:lnTo>
                <a:lnTo>
                  <a:pt x="13335" y="13334"/>
                </a:lnTo>
                <a:lnTo>
                  <a:pt x="538521" y="13334"/>
                </a:lnTo>
                <a:lnTo>
                  <a:pt x="538521" y="4974"/>
                </a:lnTo>
                <a:lnTo>
                  <a:pt x="533545" y="0"/>
                </a:lnTo>
                <a:close/>
              </a:path>
              <a:path w="539115" h="481964">
                <a:moveTo>
                  <a:pt x="538521" y="13334"/>
                </a:moveTo>
                <a:lnTo>
                  <a:pt x="525186" y="13334"/>
                </a:lnTo>
                <a:lnTo>
                  <a:pt x="525186" y="468628"/>
                </a:lnTo>
                <a:lnTo>
                  <a:pt x="538521" y="468628"/>
                </a:lnTo>
                <a:lnTo>
                  <a:pt x="538521" y="13334"/>
                </a:lnTo>
                <a:close/>
              </a:path>
              <a:path w="539115" h="481964">
                <a:moveTo>
                  <a:pt x="520741" y="17779"/>
                </a:moveTo>
                <a:lnTo>
                  <a:pt x="17780" y="17779"/>
                </a:lnTo>
                <a:lnTo>
                  <a:pt x="17780" y="464183"/>
                </a:lnTo>
                <a:lnTo>
                  <a:pt x="520741" y="464183"/>
                </a:lnTo>
                <a:lnTo>
                  <a:pt x="520741" y="459738"/>
                </a:lnTo>
                <a:lnTo>
                  <a:pt x="22225" y="459738"/>
                </a:lnTo>
                <a:lnTo>
                  <a:pt x="22225" y="22224"/>
                </a:lnTo>
                <a:lnTo>
                  <a:pt x="520741" y="22224"/>
                </a:lnTo>
                <a:lnTo>
                  <a:pt x="520741" y="17779"/>
                </a:lnTo>
                <a:close/>
              </a:path>
              <a:path w="539115" h="481964">
                <a:moveTo>
                  <a:pt x="520741" y="22224"/>
                </a:moveTo>
                <a:lnTo>
                  <a:pt x="516296" y="22224"/>
                </a:lnTo>
                <a:lnTo>
                  <a:pt x="516296" y="459738"/>
                </a:lnTo>
                <a:lnTo>
                  <a:pt x="520741" y="459738"/>
                </a:lnTo>
                <a:lnTo>
                  <a:pt x="520741" y="22224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65159" y="5562603"/>
            <a:ext cx="231775" cy="398780"/>
          </a:xfrm>
          <a:custGeom>
            <a:avLst/>
            <a:gdLst/>
            <a:ahLst/>
            <a:cxnLst/>
            <a:rect l="l" t="t" r="r" b="b"/>
            <a:pathLst>
              <a:path w="231775" h="398779">
                <a:moveTo>
                  <a:pt x="45962" y="61519"/>
                </a:moveTo>
                <a:lnTo>
                  <a:pt x="29405" y="70940"/>
                </a:lnTo>
                <a:lnTo>
                  <a:pt x="214963" y="397056"/>
                </a:lnTo>
                <a:lnTo>
                  <a:pt x="220779" y="398654"/>
                </a:lnTo>
                <a:lnTo>
                  <a:pt x="229923" y="393451"/>
                </a:lnTo>
                <a:lnTo>
                  <a:pt x="231521" y="387635"/>
                </a:lnTo>
                <a:lnTo>
                  <a:pt x="45962" y="61519"/>
                </a:lnTo>
                <a:close/>
              </a:path>
              <a:path w="231775" h="398779">
                <a:moveTo>
                  <a:pt x="0" y="0"/>
                </a:moveTo>
                <a:lnTo>
                  <a:pt x="4569" y="85071"/>
                </a:lnTo>
                <a:lnTo>
                  <a:pt x="29405" y="70940"/>
                </a:lnTo>
                <a:lnTo>
                  <a:pt x="20523" y="55329"/>
                </a:lnTo>
                <a:lnTo>
                  <a:pt x="22120" y="49513"/>
                </a:lnTo>
                <a:lnTo>
                  <a:pt x="31265" y="44310"/>
                </a:lnTo>
                <a:lnTo>
                  <a:pt x="66202" y="44310"/>
                </a:lnTo>
                <a:lnTo>
                  <a:pt x="0" y="0"/>
                </a:lnTo>
                <a:close/>
              </a:path>
              <a:path w="231775" h="398779">
                <a:moveTo>
                  <a:pt x="31265" y="44310"/>
                </a:moveTo>
                <a:lnTo>
                  <a:pt x="22120" y="49513"/>
                </a:lnTo>
                <a:lnTo>
                  <a:pt x="20523" y="55329"/>
                </a:lnTo>
                <a:lnTo>
                  <a:pt x="29405" y="70940"/>
                </a:lnTo>
                <a:lnTo>
                  <a:pt x="45962" y="61519"/>
                </a:lnTo>
                <a:lnTo>
                  <a:pt x="37080" y="45908"/>
                </a:lnTo>
                <a:lnTo>
                  <a:pt x="31265" y="44310"/>
                </a:lnTo>
                <a:close/>
              </a:path>
              <a:path w="231775" h="398779">
                <a:moveTo>
                  <a:pt x="66202" y="44310"/>
                </a:moveTo>
                <a:lnTo>
                  <a:pt x="31265" y="44310"/>
                </a:lnTo>
                <a:lnTo>
                  <a:pt x="37080" y="45908"/>
                </a:lnTo>
                <a:lnTo>
                  <a:pt x="45962" y="61519"/>
                </a:lnTo>
                <a:lnTo>
                  <a:pt x="70798" y="47387"/>
                </a:lnTo>
                <a:lnTo>
                  <a:pt x="66202" y="4431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31833" y="5982715"/>
            <a:ext cx="2727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E66C7D"/>
                </a:solidFill>
                <a:latin typeface="Calibri"/>
                <a:cs typeface="Calibri"/>
              </a:rPr>
              <a:t>layers </a:t>
            </a:r>
            <a:r>
              <a:rPr dirty="0" sz="2400" spc="-5">
                <a:solidFill>
                  <a:srgbClr val="E66C7D"/>
                </a:solidFill>
                <a:latin typeface="Calibri"/>
                <a:cs typeface="Calibri"/>
              </a:rPr>
              <a:t>of</a:t>
            </a:r>
            <a:r>
              <a:rPr dirty="0" sz="2400" spc="-1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E66C7D"/>
                </a:solidFill>
                <a:latin typeface="Calibri"/>
                <a:cs typeface="Calibri"/>
              </a:rPr>
              <a:t>neighborhoo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33598" y="5982715"/>
            <a:ext cx="186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66C7D"/>
                </a:solidFill>
                <a:latin typeface="Calibri"/>
                <a:cs typeface="Calibri"/>
              </a:rPr>
              <a:t>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1857" y="6351523"/>
            <a:ext cx="14878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E66C7D"/>
                </a:solidFill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5545" y="3888535"/>
            <a:ext cx="310515" cy="607695"/>
          </a:xfrm>
          <a:custGeom>
            <a:avLst/>
            <a:gdLst/>
            <a:ahLst/>
            <a:cxnLst/>
            <a:rect l="l" t="t" r="r" b="b"/>
            <a:pathLst>
              <a:path w="310514" h="607695">
                <a:moveTo>
                  <a:pt x="0" y="0"/>
                </a:moveTo>
                <a:lnTo>
                  <a:pt x="310014" y="0"/>
                </a:lnTo>
                <a:lnTo>
                  <a:pt x="310014" y="607581"/>
                </a:lnTo>
                <a:lnTo>
                  <a:pt x="0" y="607581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74432" y="3877423"/>
            <a:ext cx="332740" cy="629920"/>
          </a:xfrm>
          <a:custGeom>
            <a:avLst/>
            <a:gdLst/>
            <a:ahLst/>
            <a:cxnLst/>
            <a:rect l="l" t="t" r="r" b="b"/>
            <a:pathLst>
              <a:path w="332739" h="629920">
                <a:moveTo>
                  <a:pt x="327263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624832"/>
                </a:lnTo>
                <a:lnTo>
                  <a:pt x="4974" y="629806"/>
                </a:lnTo>
                <a:lnTo>
                  <a:pt x="327263" y="629806"/>
                </a:lnTo>
                <a:lnTo>
                  <a:pt x="332239" y="624832"/>
                </a:lnTo>
                <a:lnTo>
                  <a:pt x="332239" y="616471"/>
                </a:lnTo>
                <a:lnTo>
                  <a:pt x="13335" y="616471"/>
                </a:lnTo>
                <a:lnTo>
                  <a:pt x="13335" y="13335"/>
                </a:lnTo>
                <a:lnTo>
                  <a:pt x="332239" y="13335"/>
                </a:lnTo>
                <a:lnTo>
                  <a:pt x="332239" y="4974"/>
                </a:lnTo>
                <a:lnTo>
                  <a:pt x="327263" y="0"/>
                </a:lnTo>
                <a:close/>
              </a:path>
              <a:path w="332739" h="629920">
                <a:moveTo>
                  <a:pt x="332239" y="13335"/>
                </a:moveTo>
                <a:lnTo>
                  <a:pt x="318904" y="13335"/>
                </a:lnTo>
                <a:lnTo>
                  <a:pt x="318904" y="616471"/>
                </a:lnTo>
                <a:lnTo>
                  <a:pt x="332239" y="616471"/>
                </a:lnTo>
                <a:lnTo>
                  <a:pt x="332239" y="13335"/>
                </a:lnTo>
                <a:close/>
              </a:path>
              <a:path w="332739" h="629920">
                <a:moveTo>
                  <a:pt x="314459" y="17780"/>
                </a:moveTo>
                <a:lnTo>
                  <a:pt x="17780" y="17780"/>
                </a:lnTo>
                <a:lnTo>
                  <a:pt x="17780" y="612026"/>
                </a:lnTo>
                <a:lnTo>
                  <a:pt x="314459" y="612026"/>
                </a:lnTo>
                <a:lnTo>
                  <a:pt x="314459" y="607581"/>
                </a:lnTo>
                <a:lnTo>
                  <a:pt x="22225" y="607581"/>
                </a:lnTo>
                <a:lnTo>
                  <a:pt x="22225" y="22225"/>
                </a:lnTo>
                <a:lnTo>
                  <a:pt x="314459" y="22225"/>
                </a:lnTo>
                <a:lnTo>
                  <a:pt x="314459" y="17780"/>
                </a:lnTo>
                <a:close/>
              </a:path>
              <a:path w="332739" h="629920">
                <a:moveTo>
                  <a:pt x="314459" y="22225"/>
                </a:moveTo>
                <a:lnTo>
                  <a:pt x="310014" y="22225"/>
                </a:lnTo>
                <a:lnTo>
                  <a:pt x="310014" y="607581"/>
                </a:lnTo>
                <a:lnTo>
                  <a:pt x="314459" y="607581"/>
                </a:lnTo>
                <a:lnTo>
                  <a:pt x="314459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20626" y="4561479"/>
            <a:ext cx="1900555" cy="1370330"/>
          </a:xfrm>
          <a:custGeom>
            <a:avLst/>
            <a:gdLst/>
            <a:ahLst/>
            <a:cxnLst/>
            <a:rect l="l" t="t" r="r" b="b"/>
            <a:pathLst>
              <a:path w="1900554" h="1370329">
                <a:moveTo>
                  <a:pt x="67417" y="36770"/>
                </a:moveTo>
                <a:lnTo>
                  <a:pt x="56291" y="52234"/>
                </a:lnTo>
                <a:lnTo>
                  <a:pt x="1888274" y="1370316"/>
                </a:lnTo>
                <a:lnTo>
                  <a:pt x="1894226" y="1369345"/>
                </a:lnTo>
                <a:lnTo>
                  <a:pt x="1900370" y="1360805"/>
                </a:lnTo>
                <a:lnTo>
                  <a:pt x="1899399" y="1354853"/>
                </a:lnTo>
                <a:lnTo>
                  <a:pt x="67417" y="36770"/>
                </a:lnTo>
                <a:close/>
              </a:path>
              <a:path w="1900554" h="1370329">
                <a:moveTo>
                  <a:pt x="0" y="0"/>
                </a:moveTo>
                <a:lnTo>
                  <a:pt x="39603" y="75429"/>
                </a:lnTo>
                <a:lnTo>
                  <a:pt x="56291" y="52234"/>
                </a:lnTo>
                <a:lnTo>
                  <a:pt x="41705" y="41739"/>
                </a:lnTo>
                <a:lnTo>
                  <a:pt x="40735" y="35787"/>
                </a:lnTo>
                <a:lnTo>
                  <a:pt x="46879" y="27247"/>
                </a:lnTo>
                <a:lnTo>
                  <a:pt x="52831" y="26276"/>
                </a:lnTo>
                <a:lnTo>
                  <a:pt x="74967" y="26276"/>
                </a:lnTo>
                <a:lnTo>
                  <a:pt x="84105" y="13575"/>
                </a:lnTo>
                <a:lnTo>
                  <a:pt x="0" y="0"/>
                </a:lnTo>
                <a:close/>
              </a:path>
              <a:path w="1900554" h="1370329">
                <a:moveTo>
                  <a:pt x="52831" y="26276"/>
                </a:moveTo>
                <a:lnTo>
                  <a:pt x="46879" y="27247"/>
                </a:lnTo>
                <a:lnTo>
                  <a:pt x="40735" y="35787"/>
                </a:lnTo>
                <a:lnTo>
                  <a:pt x="41705" y="41739"/>
                </a:lnTo>
                <a:lnTo>
                  <a:pt x="56291" y="52234"/>
                </a:lnTo>
                <a:lnTo>
                  <a:pt x="67417" y="36770"/>
                </a:lnTo>
                <a:lnTo>
                  <a:pt x="52831" y="26276"/>
                </a:lnTo>
                <a:close/>
              </a:path>
              <a:path w="1900554" h="1370329">
                <a:moveTo>
                  <a:pt x="74967" y="26276"/>
                </a:moveTo>
                <a:lnTo>
                  <a:pt x="52831" y="26276"/>
                </a:lnTo>
                <a:lnTo>
                  <a:pt x="67417" y="36770"/>
                </a:lnTo>
                <a:lnTo>
                  <a:pt x="74967" y="26276"/>
                </a:lnTo>
                <a:close/>
              </a:path>
            </a:pathLst>
          </a:custGeom>
          <a:solidFill>
            <a:srgbClr val="CF5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536525" y="5059171"/>
            <a:ext cx="3637279" cy="15494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01625" marR="5080" indent="315595">
              <a:lnSpc>
                <a:spcPct val="100800"/>
              </a:lnSpc>
              <a:spcBef>
                <a:spcPts val="75"/>
              </a:spcBef>
            </a:pPr>
            <a:r>
              <a:rPr dirty="0" sz="2400" spc="-25">
                <a:solidFill>
                  <a:srgbClr val="0070C0"/>
                </a:solidFill>
                <a:latin typeface="Calibri"/>
                <a:cs typeface="Calibri"/>
              </a:rPr>
              <a:t>Average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of </a:t>
            </a: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neighbor’s  previous </a:t>
            </a:r>
            <a:r>
              <a:rPr dirty="0" sz="2400" spc="-20">
                <a:solidFill>
                  <a:srgbClr val="0070C0"/>
                </a:solidFill>
                <a:latin typeface="Calibri"/>
                <a:cs typeface="Calibri"/>
              </a:rPr>
              <a:t>layer</a:t>
            </a: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  <a:p>
            <a:pPr marL="86360" marR="1990089" indent="-74295">
              <a:lnSpc>
                <a:spcPct val="100800"/>
              </a:lnSpc>
              <a:spcBef>
                <a:spcPts val="405"/>
              </a:spcBef>
            </a:pPr>
            <a:r>
              <a:rPr dirty="0" sz="2400">
                <a:solidFill>
                  <a:srgbClr val="CF5B1B"/>
                </a:solidFill>
                <a:latin typeface="Calibri"/>
                <a:cs typeface="Calibri"/>
              </a:rPr>
              <a:t>N</a:t>
            </a:r>
            <a:r>
              <a:rPr dirty="0" sz="2400" spc="-5">
                <a:solidFill>
                  <a:srgbClr val="CF5B1B"/>
                </a:solidFill>
                <a:latin typeface="Calibri"/>
                <a:cs typeface="Calibri"/>
              </a:rPr>
              <a:t>o</a:t>
            </a:r>
            <a:r>
              <a:rPr dirty="0" sz="2400">
                <a:solidFill>
                  <a:srgbClr val="CF5B1B"/>
                </a:solidFill>
                <a:latin typeface="Calibri"/>
                <a:cs typeface="Calibri"/>
              </a:rPr>
              <a:t>n-</a:t>
            </a:r>
            <a:r>
              <a:rPr dirty="0" sz="2400" spc="-5">
                <a:solidFill>
                  <a:srgbClr val="CF5B1B"/>
                </a:solidFill>
                <a:latin typeface="Calibri"/>
                <a:cs typeface="Calibri"/>
              </a:rPr>
              <a:t>li</a:t>
            </a:r>
            <a:r>
              <a:rPr dirty="0" sz="2400">
                <a:solidFill>
                  <a:srgbClr val="CF5B1B"/>
                </a:solidFill>
                <a:latin typeface="Calibri"/>
                <a:cs typeface="Calibri"/>
              </a:rPr>
              <a:t>n</a:t>
            </a:r>
            <a:r>
              <a:rPr dirty="0" sz="2400" spc="0">
                <a:solidFill>
                  <a:srgbClr val="CF5B1B"/>
                </a:solidFill>
                <a:latin typeface="Calibri"/>
                <a:cs typeface="Calibri"/>
              </a:rPr>
              <a:t>e</a:t>
            </a:r>
            <a:r>
              <a:rPr dirty="0" sz="2400">
                <a:solidFill>
                  <a:srgbClr val="CF5B1B"/>
                </a:solidFill>
                <a:latin typeface="Calibri"/>
                <a:cs typeface="Calibri"/>
              </a:rPr>
              <a:t>ari</a:t>
            </a:r>
            <a:r>
              <a:rPr dirty="0" sz="2400" spc="-5">
                <a:solidFill>
                  <a:srgbClr val="CF5B1B"/>
                </a:solidFill>
                <a:latin typeface="Calibri"/>
                <a:cs typeface="Calibri"/>
              </a:rPr>
              <a:t>t</a:t>
            </a:r>
            <a:r>
              <a:rPr dirty="0" sz="2400">
                <a:solidFill>
                  <a:srgbClr val="CF5B1B"/>
                </a:solidFill>
                <a:latin typeface="Calibri"/>
                <a:cs typeface="Calibri"/>
              </a:rPr>
              <a:t>y  </a:t>
            </a:r>
            <a:r>
              <a:rPr dirty="0" sz="2400" spc="-5">
                <a:solidFill>
                  <a:srgbClr val="CF5B1B"/>
                </a:solidFill>
                <a:latin typeface="Calibri"/>
                <a:cs typeface="Calibri"/>
              </a:rPr>
              <a:t>(e.g.,</a:t>
            </a:r>
            <a:r>
              <a:rPr dirty="0" sz="2400" spc="-45">
                <a:solidFill>
                  <a:srgbClr val="CF5B1B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CF5B1B"/>
                </a:solidFill>
                <a:latin typeface="Calibri"/>
                <a:cs typeface="Calibri"/>
              </a:rPr>
              <a:t>ReLU)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236504" y="3815123"/>
            <a:ext cx="558800" cy="755015"/>
          </a:xfrm>
          <a:custGeom>
            <a:avLst/>
            <a:gdLst/>
            <a:ahLst/>
            <a:cxnLst/>
            <a:rect l="l" t="t" r="r" b="b"/>
            <a:pathLst>
              <a:path w="558800" h="755014">
                <a:moveTo>
                  <a:pt x="0" y="0"/>
                </a:moveTo>
                <a:lnTo>
                  <a:pt x="558354" y="0"/>
                </a:lnTo>
                <a:lnTo>
                  <a:pt x="558354" y="754405"/>
                </a:lnTo>
                <a:lnTo>
                  <a:pt x="0" y="754405"/>
                </a:lnTo>
                <a:lnTo>
                  <a:pt x="0" y="0"/>
                </a:lnTo>
                <a:close/>
              </a:path>
            </a:pathLst>
          </a:custGeom>
          <a:solidFill>
            <a:srgbClr val="C64847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225392" y="3804010"/>
            <a:ext cx="581025" cy="777240"/>
          </a:xfrm>
          <a:custGeom>
            <a:avLst/>
            <a:gdLst/>
            <a:ahLst/>
            <a:cxnLst/>
            <a:rect l="l" t="t" r="r" b="b"/>
            <a:pathLst>
              <a:path w="581025" h="777239">
                <a:moveTo>
                  <a:pt x="575603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771655"/>
                </a:lnTo>
                <a:lnTo>
                  <a:pt x="4975" y="776630"/>
                </a:lnTo>
                <a:lnTo>
                  <a:pt x="575603" y="776630"/>
                </a:lnTo>
                <a:lnTo>
                  <a:pt x="580579" y="771655"/>
                </a:lnTo>
                <a:lnTo>
                  <a:pt x="580579" y="763295"/>
                </a:lnTo>
                <a:lnTo>
                  <a:pt x="13335" y="763295"/>
                </a:lnTo>
                <a:lnTo>
                  <a:pt x="13335" y="13334"/>
                </a:lnTo>
                <a:lnTo>
                  <a:pt x="580579" y="13334"/>
                </a:lnTo>
                <a:lnTo>
                  <a:pt x="580579" y="4974"/>
                </a:lnTo>
                <a:lnTo>
                  <a:pt x="575603" y="0"/>
                </a:lnTo>
                <a:close/>
              </a:path>
              <a:path w="581025" h="777239">
                <a:moveTo>
                  <a:pt x="580579" y="13334"/>
                </a:moveTo>
                <a:lnTo>
                  <a:pt x="567244" y="13334"/>
                </a:lnTo>
                <a:lnTo>
                  <a:pt x="567244" y="763295"/>
                </a:lnTo>
                <a:lnTo>
                  <a:pt x="580579" y="763295"/>
                </a:lnTo>
                <a:lnTo>
                  <a:pt x="580579" y="13334"/>
                </a:lnTo>
                <a:close/>
              </a:path>
              <a:path w="581025" h="777239">
                <a:moveTo>
                  <a:pt x="562799" y="17779"/>
                </a:moveTo>
                <a:lnTo>
                  <a:pt x="17780" y="17779"/>
                </a:lnTo>
                <a:lnTo>
                  <a:pt x="17780" y="758850"/>
                </a:lnTo>
                <a:lnTo>
                  <a:pt x="562799" y="758850"/>
                </a:lnTo>
                <a:lnTo>
                  <a:pt x="562799" y="754405"/>
                </a:lnTo>
                <a:lnTo>
                  <a:pt x="22225" y="754405"/>
                </a:lnTo>
                <a:lnTo>
                  <a:pt x="22225" y="22224"/>
                </a:lnTo>
                <a:lnTo>
                  <a:pt x="562799" y="22224"/>
                </a:lnTo>
                <a:lnTo>
                  <a:pt x="562799" y="17779"/>
                </a:lnTo>
                <a:close/>
              </a:path>
              <a:path w="581025" h="777239">
                <a:moveTo>
                  <a:pt x="562799" y="22224"/>
                </a:moveTo>
                <a:lnTo>
                  <a:pt x="558354" y="22224"/>
                </a:lnTo>
                <a:lnTo>
                  <a:pt x="558354" y="754405"/>
                </a:lnTo>
                <a:lnTo>
                  <a:pt x="562799" y="754405"/>
                </a:lnTo>
                <a:lnTo>
                  <a:pt x="562799" y="22224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298408" y="2849372"/>
            <a:ext cx="174942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64847"/>
                </a:solidFill>
                <a:latin typeface="Calibri"/>
                <a:cs typeface="Calibri"/>
              </a:rPr>
              <a:t>embedding</a:t>
            </a:r>
            <a:r>
              <a:rPr dirty="0" sz="2400" spc="-60">
                <a:solidFill>
                  <a:srgbClr val="C64847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C64847"/>
                </a:solidFill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algn="ctr" marR="1905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solidFill>
                  <a:srgbClr val="C64847"/>
                </a:solidFill>
                <a:latin typeface="Cambria Math"/>
                <a:cs typeface="Cambria Math"/>
              </a:rPr>
              <a:t>𝑣 </a:t>
            </a:r>
            <a:r>
              <a:rPr dirty="0" sz="2400" spc="-15">
                <a:solidFill>
                  <a:srgbClr val="C64847"/>
                </a:solidFill>
                <a:latin typeface="Calibri"/>
                <a:cs typeface="Calibri"/>
              </a:rPr>
              <a:t>at </a:t>
            </a:r>
            <a:r>
              <a:rPr dirty="0" sz="2400" spc="-20">
                <a:solidFill>
                  <a:srgbClr val="C64847"/>
                </a:solidFill>
                <a:latin typeface="Calibri"/>
                <a:cs typeface="Calibri"/>
              </a:rPr>
              <a:t>layer</a:t>
            </a:r>
            <a:r>
              <a:rPr dirty="0" sz="2400" spc="-10">
                <a:solidFill>
                  <a:srgbClr val="C64847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64847"/>
                </a:solidFill>
                <a:latin typeface="Cambria Math"/>
                <a:cs typeface="Cambria Math"/>
              </a:rPr>
              <a:t>𝑙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499233" y="3131941"/>
            <a:ext cx="720725" cy="606425"/>
          </a:xfrm>
          <a:custGeom>
            <a:avLst/>
            <a:gdLst/>
            <a:ahLst/>
            <a:cxnLst/>
            <a:rect l="l" t="t" r="r" b="b"/>
            <a:pathLst>
              <a:path w="720725" h="606425">
                <a:moveTo>
                  <a:pt x="33897" y="527785"/>
                </a:moveTo>
                <a:lnTo>
                  <a:pt x="0" y="605944"/>
                </a:lnTo>
                <a:lnTo>
                  <a:pt x="82866" y="586167"/>
                </a:lnTo>
                <a:lnTo>
                  <a:pt x="74183" y="575815"/>
                </a:lnTo>
                <a:lnTo>
                  <a:pt x="50742" y="575815"/>
                </a:lnTo>
                <a:lnTo>
                  <a:pt x="44734" y="575289"/>
                </a:lnTo>
                <a:lnTo>
                  <a:pt x="37973" y="567227"/>
                </a:lnTo>
                <a:lnTo>
                  <a:pt x="38500" y="561220"/>
                </a:lnTo>
                <a:lnTo>
                  <a:pt x="52260" y="549678"/>
                </a:lnTo>
                <a:lnTo>
                  <a:pt x="33897" y="527785"/>
                </a:lnTo>
                <a:close/>
              </a:path>
              <a:path w="720725" h="606425">
                <a:moveTo>
                  <a:pt x="52260" y="549678"/>
                </a:moveTo>
                <a:lnTo>
                  <a:pt x="38500" y="561220"/>
                </a:lnTo>
                <a:lnTo>
                  <a:pt x="37973" y="567227"/>
                </a:lnTo>
                <a:lnTo>
                  <a:pt x="44734" y="575289"/>
                </a:lnTo>
                <a:lnTo>
                  <a:pt x="50742" y="575815"/>
                </a:lnTo>
                <a:lnTo>
                  <a:pt x="64503" y="564274"/>
                </a:lnTo>
                <a:lnTo>
                  <a:pt x="52260" y="549678"/>
                </a:lnTo>
                <a:close/>
              </a:path>
              <a:path w="720725" h="606425">
                <a:moveTo>
                  <a:pt x="64503" y="564274"/>
                </a:moveTo>
                <a:lnTo>
                  <a:pt x="50742" y="575815"/>
                </a:lnTo>
                <a:lnTo>
                  <a:pt x="74183" y="575815"/>
                </a:lnTo>
                <a:lnTo>
                  <a:pt x="64503" y="564274"/>
                </a:lnTo>
                <a:close/>
              </a:path>
              <a:path w="720725" h="606425">
                <a:moveTo>
                  <a:pt x="707614" y="0"/>
                </a:moveTo>
                <a:lnTo>
                  <a:pt x="52260" y="549678"/>
                </a:lnTo>
                <a:lnTo>
                  <a:pt x="64503" y="564274"/>
                </a:lnTo>
                <a:lnTo>
                  <a:pt x="719857" y="14596"/>
                </a:lnTo>
                <a:lnTo>
                  <a:pt x="720383" y="8587"/>
                </a:lnTo>
                <a:lnTo>
                  <a:pt x="713623" y="527"/>
                </a:lnTo>
                <a:lnTo>
                  <a:pt x="707614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18601" y="2969259"/>
            <a:ext cx="10248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50">
                <a:latin typeface="Cambria Math"/>
                <a:cs typeface="Cambria Math"/>
              </a:rPr>
              <a:t>h</a:t>
            </a:r>
            <a:r>
              <a:rPr dirty="0" baseline="29166" sz="3000" spc="225">
                <a:latin typeface="Cambria Math"/>
                <a:cs typeface="Cambria Math"/>
              </a:rPr>
              <a:t>?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x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5451" y="3144011"/>
            <a:ext cx="977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1055" algn="l"/>
              </a:tabLst>
            </a:pPr>
            <a:r>
              <a:rPr dirty="0" sz="2000" spc="-370">
                <a:latin typeface="Cambria Math"/>
                <a:cs typeface="Cambria Math"/>
              </a:rPr>
              <a:t>&gt;</a:t>
            </a:r>
            <a:r>
              <a:rPr dirty="0" sz="2000" spc="-370">
                <a:latin typeface="Cambria Math"/>
                <a:cs typeface="Cambria Math"/>
              </a:rPr>
              <a:t>	</a:t>
            </a:r>
            <a:r>
              <a:rPr dirty="0" sz="2000" spc="-370">
                <a:latin typeface="Cambria Math"/>
                <a:cs typeface="Cambria Math"/>
              </a:rPr>
              <a:t>&gt;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3458" y="5212249"/>
            <a:ext cx="2284095" cy="79311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492125">
              <a:lnSpc>
                <a:spcPct val="100000"/>
              </a:lnSpc>
              <a:spcBef>
                <a:spcPts val="445"/>
              </a:spcBef>
            </a:pPr>
            <a:r>
              <a:rPr dirty="0" sz="2000" spc="-370">
                <a:latin typeface="Cambria Math"/>
                <a:cs typeface="Cambria Math"/>
              </a:rPr>
              <a:t>&gt;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2400" spc="-5">
                <a:solidFill>
                  <a:srgbClr val="E66C7D"/>
                </a:solidFill>
                <a:latin typeface="Calibri"/>
                <a:cs typeface="Calibri"/>
              </a:rPr>
              <a:t>Embedding </a:t>
            </a:r>
            <a:r>
              <a:rPr dirty="0" sz="2400" spc="-10">
                <a:solidFill>
                  <a:srgbClr val="E66C7D"/>
                </a:solidFill>
                <a:latin typeface="Calibri"/>
                <a:cs typeface="Calibri"/>
              </a:rPr>
              <a:t>after</a:t>
            </a:r>
            <a:r>
              <a:rPr dirty="0" sz="2400" spc="-55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E66C7D"/>
                </a:solidFill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4038" y="4874259"/>
            <a:ext cx="13760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761" sz="4200" spc="-277">
                <a:latin typeface="Cambria Math"/>
                <a:cs typeface="Cambria Math"/>
              </a:rPr>
              <a:t>z</a:t>
            </a:r>
            <a:r>
              <a:rPr dirty="0" baseline="-56944" sz="3000" spc="-277">
                <a:latin typeface="Cambria Math"/>
                <a:cs typeface="Cambria Math"/>
              </a:rPr>
              <a:t>&gt;   </a:t>
            </a:r>
            <a:r>
              <a:rPr dirty="0" baseline="-29761" sz="4200">
                <a:latin typeface="Cambria Math"/>
                <a:cs typeface="Cambria Math"/>
              </a:rPr>
              <a:t>=</a:t>
            </a:r>
            <a:r>
              <a:rPr dirty="0" baseline="-29761" sz="4200" spc="7">
                <a:latin typeface="Cambria Math"/>
                <a:cs typeface="Cambria Math"/>
              </a:rPr>
              <a:t> </a:t>
            </a:r>
            <a:r>
              <a:rPr dirty="0" baseline="-29761" sz="4200" spc="-232">
                <a:latin typeface="Cambria Math"/>
                <a:cs typeface="Cambria Math"/>
              </a:rPr>
              <a:t>h</a:t>
            </a:r>
            <a:r>
              <a:rPr dirty="0" sz="2000" spc="-155">
                <a:latin typeface="Cambria Math"/>
                <a:cs typeface="Cambria Math"/>
              </a:rPr>
              <a:t>(@)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5457" y="3866388"/>
            <a:ext cx="6794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-325">
                <a:latin typeface="Cambria Math"/>
                <a:cs typeface="Cambria Math"/>
              </a:rPr>
              <a:t>8</a:t>
            </a:r>
            <a:r>
              <a:rPr dirty="0" sz="2000" spc="370">
                <a:latin typeface="Cambria Math"/>
                <a:cs typeface="Cambria Math"/>
              </a:rPr>
              <a:t>9</a:t>
            </a:r>
            <a:r>
              <a:rPr dirty="0" sz="2000" spc="770">
                <a:latin typeface="Cambria Math"/>
                <a:cs typeface="Cambria Math"/>
              </a:rPr>
              <a:t>.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8607" y="3773119"/>
            <a:ext cx="3089275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  <a:tabLst>
                <a:tab pos="979169" algn="l"/>
                <a:tab pos="2392680" algn="l"/>
              </a:tabLst>
            </a:pPr>
            <a:r>
              <a:rPr dirty="0" sz="2800" spc="-185">
                <a:latin typeface="Cambria Math"/>
                <a:cs typeface="Cambria Math"/>
              </a:rPr>
              <a:t>h</a:t>
            </a:r>
            <a:r>
              <a:rPr dirty="0" baseline="-19444" sz="3000" spc="-277">
                <a:latin typeface="Cambria Math"/>
                <a:cs typeface="Cambria Math"/>
              </a:rPr>
              <a:t>&gt;	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150">
                <a:latin typeface="Cambria Math"/>
                <a:cs typeface="Cambria Math"/>
              </a:rPr>
              <a:t>𝜎(W</a:t>
            </a:r>
            <a:r>
              <a:rPr dirty="0" baseline="-16666" sz="3000" spc="-225">
                <a:latin typeface="Cambria Math"/>
                <a:cs typeface="Cambria Math"/>
              </a:rPr>
              <a:t>8	</a:t>
            </a:r>
            <a:r>
              <a:rPr dirty="0" sz="2800" spc="2800">
                <a:latin typeface="Cambria Math"/>
                <a:cs typeface="Cambria Math"/>
              </a:rPr>
              <a:t>I</a:t>
            </a:r>
            <a:endParaRPr sz="28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1010"/>
              </a:spcBef>
            </a:pPr>
            <a:r>
              <a:rPr dirty="0" sz="2000" spc="105">
                <a:latin typeface="Cambria Math"/>
                <a:cs typeface="Cambria Math"/>
              </a:rPr>
              <a:t>A</a:t>
            </a:r>
            <a:r>
              <a:rPr dirty="0" sz="2000" spc="25">
                <a:latin typeface="Cambria Math"/>
                <a:cs typeface="Cambria Math"/>
              </a:rPr>
              <a:t>∈</a:t>
            </a:r>
            <a:r>
              <a:rPr dirty="0" sz="2000" spc="415">
                <a:latin typeface="Cambria Math"/>
                <a:cs typeface="Cambria Math"/>
              </a:rPr>
              <a:t>C</a:t>
            </a: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-300">
                <a:latin typeface="Cambria Math"/>
                <a:cs typeface="Cambria Math"/>
              </a:rPr>
              <a:t>&gt;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22870" y="3875532"/>
            <a:ext cx="990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625" algn="l"/>
                <a:tab pos="977265" algn="l"/>
              </a:tabLst>
            </a:pPr>
            <a:r>
              <a:rPr dirty="0" sz="2000" u="heavy">
                <a:latin typeface="Times New Roman"/>
                <a:cs typeface="Times New Roman"/>
              </a:rPr>
              <a:t> 	</a:t>
            </a:r>
            <a:r>
              <a:rPr dirty="0" sz="2000" spc="50" u="heavy">
                <a:latin typeface="Cambria Math"/>
                <a:cs typeface="Cambria Math"/>
              </a:rPr>
              <a:t>A	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42326" y="3493515"/>
            <a:ext cx="5365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761" sz="4200" spc="0">
                <a:latin typeface="Cambria Math"/>
                <a:cs typeface="Cambria Math"/>
              </a:rPr>
              <a:t>h</a:t>
            </a: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-325">
                <a:latin typeface="Cambria Math"/>
                <a:cs typeface="Cambria Math"/>
              </a:rPr>
              <a:t>8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45838" y="429659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592652" y="429659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636218" y="4191507"/>
            <a:ext cx="7664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Cambria Math"/>
                <a:cs typeface="Cambria Math"/>
              </a:rPr>
              <a:t>N</a:t>
            </a:r>
            <a:r>
              <a:rPr dirty="0" sz="2800">
                <a:latin typeface="Cambria Math"/>
                <a:cs typeface="Cambria Math"/>
              </a:rPr>
              <a:t>(</a:t>
            </a:r>
            <a:r>
              <a:rPr dirty="0" sz="2800" spc="75">
                <a:latin typeface="Cambria Math"/>
                <a:cs typeface="Cambria Math"/>
              </a:rPr>
              <a:t>𝑣</a:t>
            </a:r>
            <a:r>
              <a:rPr dirty="0" sz="280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29992" y="4128515"/>
            <a:ext cx="1155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05"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68398" y="3953764"/>
            <a:ext cx="8991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+ B</a:t>
            </a:r>
            <a:r>
              <a:rPr dirty="0" sz="2800" spc="18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h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42475" y="3866388"/>
            <a:ext cx="339725" cy="61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-325">
                <a:latin typeface="Cambria Math"/>
                <a:cs typeface="Cambria Math"/>
              </a:rPr>
              <a:t>8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2305"/>
              </a:lnSpc>
            </a:pPr>
            <a:r>
              <a:rPr dirty="0" sz="2000" spc="-370">
                <a:latin typeface="Cambria Math"/>
                <a:cs typeface="Cambria Math"/>
              </a:rPr>
              <a:t>&gt;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759781" y="3984174"/>
            <a:ext cx="189230" cy="417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20"/>
              </a:lnSpc>
            </a:pPr>
            <a:r>
              <a:rPr dirty="0" sz="2800">
                <a:latin typeface="Cambria Math"/>
                <a:cs typeface="Cambria Math"/>
              </a:rPr>
              <a:t>𝐿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74009" y="3953764"/>
            <a:ext cx="29527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0" algn="l"/>
              </a:tabLst>
            </a:pPr>
            <a:r>
              <a:rPr dirty="0" sz="2800">
                <a:latin typeface="Cambria Math"/>
                <a:cs typeface="Cambria Math"/>
              </a:rPr>
              <a:t>), ∀𝑙 ∈ </a:t>
            </a:r>
            <a:r>
              <a:rPr dirty="0" sz="2800" spc="-5">
                <a:latin typeface="Cambria Math"/>
                <a:cs typeface="Cambria Math"/>
              </a:rPr>
              <a:t>{0,</a:t>
            </a:r>
            <a:r>
              <a:rPr dirty="0" sz="2800" spc="11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…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−</a:t>
            </a:r>
            <a:r>
              <a:rPr dirty="0" sz="2800" spc="-9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1}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709530" y="3980105"/>
            <a:ext cx="271145" cy="459740"/>
          </a:xfrm>
          <a:custGeom>
            <a:avLst/>
            <a:gdLst/>
            <a:ahLst/>
            <a:cxnLst/>
            <a:rect l="l" t="t" r="r" b="b"/>
            <a:pathLst>
              <a:path w="271145" h="459739">
                <a:moveTo>
                  <a:pt x="0" y="0"/>
                </a:moveTo>
                <a:lnTo>
                  <a:pt x="270668" y="0"/>
                </a:lnTo>
                <a:lnTo>
                  <a:pt x="270668" y="459738"/>
                </a:lnTo>
                <a:lnTo>
                  <a:pt x="0" y="459738"/>
                </a:lnTo>
                <a:lnTo>
                  <a:pt x="0" y="0"/>
                </a:lnTo>
                <a:close/>
              </a:path>
            </a:pathLst>
          </a:custGeom>
          <a:solidFill>
            <a:srgbClr val="7030A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698417" y="3968992"/>
            <a:ext cx="293370" cy="481965"/>
          </a:xfrm>
          <a:custGeom>
            <a:avLst/>
            <a:gdLst/>
            <a:ahLst/>
            <a:cxnLst/>
            <a:rect l="l" t="t" r="r" b="b"/>
            <a:pathLst>
              <a:path w="293370" h="481964">
                <a:moveTo>
                  <a:pt x="287917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476989"/>
                </a:lnTo>
                <a:lnTo>
                  <a:pt x="4974" y="481963"/>
                </a:lnTo>
                <a:lnTo>
                  <a:pt x="287917" y="481963"/>
                </a:lnTo>
                <a:lnTo>
                  <a:pt x="292893" y="476989"/>
                </a:lnTo>
                <a:lnTo>
                  <a:pt x="292893" y="468628"/>
                </a:lnTo>
                <a:lnTo>
                  <a:pt x="13334" y="468628"/>
                </a:lnTo>
                <a:lnTo>
                  <a:pt x="13334" y="13335"/>
                </a:lnTo>
                <a:lnTo>
                  <a:pt x="292893" y="13335"/>
                </a:lnTo>
                <a:lnTo>
                  <a:pt x="292893" y="4974"/>
                </a:lnTo>
                <a:lnTo>
                  <a:pt x="287917" y="0"/>
                </a:lnTo>
                <a:close/>
              </a:path>
              <a:path w="293370" h="481964">
                <a:moveTo>
                  <a:pt x="292893" y="13335"/>
                </a:moveTo>
                <a:lnTo>
                  <a:pt x="279558" y="13335"/>
                </a:lnTo>
                <a:lnTo>
                  <a:pt x="279558" y="468628"/>
                </a:lnTo>
                <a:lnTo>
                  <a:pt x="292893" y="468628"/>
                </a:lnTo>
                <a:lnTo>
                  <a:pt x="292893" y="13335"/>
                </a:lnTo>
                <a:close/>
              </a:path>
              <a:path w="293370" h="481964">
                <a:moveTo>
                  <a:pt x="275113" y="17780"/>
                </a:moveTo>
                <a:lnTo>
                  <a:pt x="17779" y="17780"/>
                </a:lnTo>
                <a:lnTo>
                  <a:pt x="17779" y="464183"/>
                </a:lnTo>
                <a:lnTo>
                  <a:pt x="275113" y="464183"/>
                </a:lnTo>
                <a:lnTo>
                  <a:pt x="275113" y="459738"/>
                </a:lnTo>
                <a:lnTo>
                  <a:pt x="22225" y="459738"/>
                </a:lnTo>
                <a:lnTo>
                  <a:pt x="22225" y="22225"/>
                </a:lnTo>
                <a:lnTo>
                  <a:pt x="275113" y="22225"/>
                </a:lnTo>
                <a:lnTo>
                  <a:pt x="275113" y="17780"/>
                </a:lnTo>
                <a:close/>
              </a:path>
              <a:path w="293370" h="481964">
                <a:moveTo>
                  <a:pt x="275113" y="22225"/>
                </a:moveTo>
                <a:lnTo>
                  <a:pt x="270668" y="22225"/>
                </a:lnTo>
                <a:lnTo>
                  <a:pt x="270668" y="459738"/>
                </a:lnTo>
                <a:lnTo>
                  <a:pt x="275113" y="459738"/>
                </a:lnTo>
                <a:lnTo>
                  <a:pt x="275113" y="22225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05797" y="2006601"/>
            <a:ext cx="5217403" cy="3712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54854" y="3811015"/>
            <a:ext cx="3517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55">
                <a:latin typeface="Cambria Math"/>
                <a:cs typeface="Cambria Math"/>
              </a:rPr>
              <a:t>𝒛</a:t>
            </a:r>
            <a:r>
              <a:rPr dirty="0" baseline="-15277" sz="3000">
                <a:latin typeface="Cambria Math"/>
                <a:cs typeface="Cambria Math"/>
              </a:rPr>
              <a:t>D</a:t>
            </a:r>
            <a:endParaRPr baseline="-15277"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" y="347472"/>
            <a:ext cx="4593336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95830" marR="5080" indent="-569595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How </a:t>
            </a: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do </a:t>
            </a: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z="3000" spc="-20" b="1">
                <a:solidFill>
                  <a:srgbClr val="D60093"/>
                </a:solidFill>
                <a:latin typeface="Calibri"/>
                <a:cs typeface="Calibri"/>
              </a:rPr>
              <a:t>train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the model </a:t>
            </a:r>
            <a:r>
              <a:rPr dirty="0" sz="3000" spc="-20" b="1">
                <a:solidFill>
                  <a:srgbClr val="D60093"/>
                </a:solidFill>
                <a:latin typeface="Calibri"/>
                <a:cs typeface="Calibri"/>
              </a:rPr>
              <a:t>to  </a:t>
            </a:r>
            <a:r>
              <a:rPr dirty="0" sz="3000" spc="-25" b="1">
                <a:solidFill>
                  <a:srgbClr val="D60093"/>
                </a:solidFill>
                <a:latin typeface="Calibri"/>
                <a:cs typeface="Calibri"/>
              </a:rPr>
              <a:t>generate</a:t>
            </a:r>
            <a:r>
              <a:rPr dirty="0" sz="3000" spc="-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embeddings?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672210" y="5921755"/>
            <a:ext cx="78816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Need </a:t>
            </a:r>
            <a:r>
              <a:rPr dirty="0" sz="3000" spc="-20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define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loss function on the</a:t>
            </a:r>
            <a:r>
              <a:rPr dirty="0" sz="3000" spc="5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embeddings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47751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7152" y="5344159"/>
            <a:ext cx="17653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580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364" y="5166360"/>
            <a:ext cx="741934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2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dirty="0" baseline="27777" sz="3150" spc="-30">
                <a:solidFill>
                  <a:srgbClr val="C00000"/>
                </a:solidFill>
                <a:latin typeface="Cambria Math"/>
                <a:cs typeface="Cambria Math"/>
              </a:rPr>
              <a:t>" </a:t>
            </a:r>
            <a:r>
              <a:rPr dirty="0" sz="2900">
                <a:latin typeface="Calibri"/>
                <a:cs typeface="Calibri"/>
              </a:rPr>
              <a:t>: the </a:t>
            </a:r>
            <a:r>
              <a:rPr dirty="0" sz="2900" spc="-5">
                <a:latin typeface="Calibri"/>
                <a:cs typeface="Calibri"/>
              </a:rPr>
              <a:t>hidden </a:t>
            </a:r>
            <a:r>
              <a:rPr dirty="0" sz="2900" spc="-15">
                <a:latin typeface="Calibri"/>
                <a:cs typeface="Calibri"/>
              </a:rPr>
              <a:t>representation </a:t>
            </a:r>
            <a:r>
              <a:rPr dirty="0" sz="2900" spc="-5">
                <a:latin typeface="Calibri"/>
                <a:cs typeface="Calibri"/>
              </a:rPr>
              <a:t>of node </a:t>
            </a:r>
            <a:r>
              <a:rPr dirty="0" sz="2900">
                <a:solidFill>
                  <a:srgbClr val="C00000"/>
                </a:solidFill>
                <a:latin typeface="Cambria Math"/>
                <a:cs typeface="Cambria Math"/>
              </a:rPr>
              <a:t>𝑣 </a:t>
            </a:r>
            <a:r>
              <a:rPr dirty="0" sz="2900" spc="-15">
                <a:latin typeface="Calibri"/>
                <a:cs typeface="Calibri"/>
              </a:rPr>
              <a:t>at </a:t>
            </a:r>
            <a:r>
              <a:rPr dirty="0" sz="2900" spc="-25">
                <a:latin typeface="Calibri"/>
                <a:cs typeface="Calibri"/>
              </a:rPr>
              <a:t>layer</a:t>
            </a:r>
            <a:r>
              <a:rPr dirty="0" sz="2900" spc="5"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C00000"/>
                </a:solidFill>
                <a:latin typeface="Cambria Math"/>
                <a:cs typeface="Cambria Math"/>
              </a:rPr>
              <a:t>𝑙</a:t>
            </a:r>
            <a:endParaRPr sz="29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364" y="5522976"/>
            <a:ext cx="8054340" cy="116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095"/>
              </a:lnSpc>
              <a:spcBef>
                <a:spcPts val="100"/>
              </a:spcBef>
              <a:buClr>
                <a:srgbClr val="F0AD00"/>
              </a:buClr>
              <a:buSzPct val="79310"/>
              <a:buFont typeface="Arial"/>
              <a:buChar char="▪"/>
              <a:tabLst>
                <a:tab pos="332740" algn="l"/>
              </a:tabLst>
            </a:pPr>
            <a:r>
              <a:rPr dirty="0" sz="2900" spc="-100">
                <a:solidFill>
                  <a:srgbClr val="0000FF"/>
                </a:solidFill>
                <a:latin typeface="Cambria Math"/>
                <a:cs typeface="Cambria Math"/>
              </a:rPr>
              <a:t>𝑊</a:t>
            </a:r>
            <a:r>
              <a:rPr dirty="0" baseline="-15873" sz="3150" spc="-150">
                <a:solidFill>
                  <a:srgbClr val="0000FF"/>
                </a:solidFill>
                <a:latin typeface="Cambria Math"/>
                <a:cs typeface="Cambria Math"/>
              </a:rPr>
              <a:t>#</a:t>
            </a:r>
            <a:r>
              <a:rPr dirty="0" sz="2900" spc="-100">
                <a:latin typeface="Calibri"/>
                <a:cs typeface="Calibri"/>
              </a:rPr>
              <a:t>: </a:t>
            </a:r>
            <a:r>
              <a:rPr dirty="0" sz="2900" spc="-15">
                <a:latin typeface="Calibri"/>
                <a:cs typeface="Calibri"/>
              </a:rPr>
              <a:t>weight </a:t>
            </a:r>
            <a:r>
              <a:rPr dirty="0" sz="2900" spc="-10">
                <a:latin typeface="Calibri"/>
                <a:cs typeface="Calibri"/>
              </a:rPr>
              <a:t>matrix </a:t>
            </a:r>
            <a:r>
              <a:rPr dirty="0" sz="2900" spc="-25">
                <a:latin typeface="Calibri"/>
                <a:cs typeface="Calibri"/>
              </a:rPr>
              <a:t>for </a:t>
            </a:r>
            <a:r>
              <a:rPr dirty="0" sz="2900" spc="-5">
                <a:latin typeface="Calibri"/>
                <a:cs typeface="Calibri"/>
              </a:rPr>
              <a:t>neighborhood</a:t>
            </a:r>
            <a:r>
              <a:rPr dirty="0" sz="2900" spc="110">
                <a:latin typeface="Calibri"/>
                <a:cs typeface="Calibri"/>
              </a:rPr>
              <a:t> </a:t>
            </a:r>
            <a:r>
              <a:rPr dirty="0" sz="2900" spc="-15">
                <a:latin typeface="Calibri"/>
                <a:cs typeface="Calibri"/>
              </a:rPr>
              <a:t>aggregation</a:t>
            </a:r>
            <a:endParaRPr sz="2900">
              <a:latin typeface="Calibri"/>
              <a:cs typeface="Calibri"/>
            </a:endParaRPr>
          </a:p>
          <a:p>
            <a:pPr marL="332740" marR="5080" indent="-320040">
              <a:lnSpc>
                <a:spcPts val="2780"/>
              </a:lnSpc>
              <a:spcBef>
                <a:spcPts val="290"/>
              </a:spcBef>
              <a:buClr>
                <a:srgbClr val="F0AD00"/>
              </a:buClr>
              <a:buSzPct val="79310"/>
              <a:buFont typeface="Arial"/>
              <a:buChar char="▪"/>
              <a:tabLst>
                <a:tab pos="332740" algn="l"/>
              </a:tabLst>
            </a:pPr>
            <a:r>
              <a:rPr dirty="0" sz="2900" spc="-15">
                <a:solidFill>
                  <a:srgbClr val="D60093"/>
                </a:solidFill>
                <a:latin typeface="Cambria Math"/>
                <a:cs typeface="Cambria Math"/>
              </a:rPr>
              <a:t>𝐵</a:t>
            </a:r>
            <a:r>
              <a:rPr dirty="0" baseline="-15873" sz="3150" spc="-22">
                <a:solidFill>
                  <a:srgbClr val="D60093"/>
                </a:solidFill>
                <a:latin typeface="Cambria Math"/>
                <a:cs typeface="Cambria Math"/>
              </a:rPr>
              <a:t>#</a:t>
            </a:r>
            <a:r>
              <a:rPr dirty="0" sz="2900" spc="-15">
                <a:latin typeface="Calibri"/>
                <a:cs typeface="Calibri"/>
              </a:rPr>
              <a:t>: weight </a:t>
            </a:r>
            <a:r>
              <a:rPr dirty="0" sz="2900" spc="-10">
                <a:latin typeface="Calibri"/>
                <a:cs typeface="Calibri"/>
              </a:rPr>
              <a:t>matrix </a:t>
            </a:r>
            <a:r>
              <a:rPr dirty="0" sz="2900" spc="-25">
                <a:latin typeface="Calibri"/>
                <a:cs typeface="Calibri"/>
              </a:rPr>
              <a:t>for </a:t>
            </a:r>
            <a:r>
              <a:rPr dirty="0" sz="2900" spc="-15">
                <a:latin typeface="Calibri"/>
                <a:cs typeface="Calibri"/>
              </a:rPr>
              <a:t>transforming </a:t>
            </a:r>
            <a:r>
              <a:rPr dirty="0" sz="2900" spc="-5">
                <a:latin typeface="Calibri"/>
                <a:cs typeface="Calibri"/>
              </a:rPr>
              <a:t>hidden </a:t>
            </a:r>
            <a:r>
              <a:rPr dirty="0" sz="2900" spc="-15">
                <a:latin typeface="Calibri"/>
                <a:cs typeface="Calibri"/>
              </a:rPr>
              <a:t>vector </a:t>
            </a:r>
            <a:r>
              <a:rPr dirty="0" sz="2900" spc="-5">
                <a:latin typeface="Calibri"/>
                <a:cs typeface="Calibri"/>
              </a:rPr>
              <a:t>of  self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8032" y="2354710"/>
            <a:ext cx="471170" cy="513080"/>
          </a:xfrm>
          <a:custGeom>
            <a:avLst/>
            <a:gdLst/>
            <a:ahLst/>
            <a:cxnLst/>
            <a:rect l="l" t="t" r="r" b="b"/>
            <a:pathLst>
              <a:path w="471169" h="513080">
                <a:moveTo>
                  <a:pt x="0" y="0"/>
                </a:moveTo>
                <a:lnTo>
                  <a:pt x="470609" y="0"/>
                </a:lnTo>
                <a:lnTo>
                  <a:pt x="470609" y="512521"/>
                </a:lnTo>
                <a:lnTo>
                  <a:pt x="0" y="512521"/>
                </a:lnTo>
                <a:lnTo>
                  <a:pt x="0" y="0"/>
                </a:lnTo>
                <a:close/>
              </a:path>
            </a:pathLst>
          </a:custGeom>
          <a:solidFill>
            <a:srgbClr val="D60093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46920" y="2343598"/>
            <a:ext cx="493395" cy="535305"/>
          </a:xfrm>
          <a:custGeom>
            <a:avLst/>
            <a:gdLst/>
            <a:ahLst/>
            <a:cxnLst/>
            <a:rect l="l" t="t" r="r" b="b"/>
            <a:pathLst>
              <a:path w="493394" h="535305">
                <a:moveTo>
                  <a:pt x="487860" y="0"/>
                </a:moveTo>
                <a:lnTo>
                  <a:pt x="4975" y="0"/>
                </a:lnTo>
                <a:lnTo>
                  <a:pt x="0" y="4975"/>
                </a:lnTo>
                <a:lnTo>
                  <a:pt x="0" y="529770"/>
                </a:lnTo>
                <a:lnTo>
                  <a:pt x="4975" y="534746"/>
                </a:lnTo>
                <a:lnTo>
                  <a:pt x="487860" y="534746"/>
                </a:lnTo>
                <a:lnTo>
                  <a:pt x="492834" y="529770"/>
                </a:lnTo>
                <a:lnTo>
                  <a:pt x="492834" y="521411"/>
                </a:lnTo>
                <a:lnTo>
                  <a:pt x="13334" y="521411"/>
                </a:lnTo>
                <a:lnTo>
                  <a:pt x="13334" y="13335"/>
                </a:lnTo>
                <a:lnTo>
                  <a:pt x="492834" y="13335"/>
                </a:lnTo>
                <a:lnTo>
                  <a:pt x="492834" y="4975"/>
                </a:lnTo>
                <a:lnTo>
                  <a:pt x="487860" y="0"/>
                </a:lnTo>
                <a:close/>
              </a:path>
              <a:path w="493394" h="535305">
                <a:moveTo>
                  <a:pt x="492834" y="13335"/>
                </a:moveTo>
                <a:lnTo>
                  <a:pt x="479499" y="13335"/>
                </a:lnTo>
                <a:lnTo>
                  <a:pt x="479499" y="521411"/>
                </a:lnTo>
                <a:lnTo>
                  <a:pt x="492834" y="521411"/>
                </a:lnTo>
                <a:lnTo>
                  <a:pt x="492834" y="13335"/>
                </a:lnTo>
                <a:close/>
              </a:path>
              <a:path w="493394" h="535305">
                <a:moveTo>
                  <a:pt x="475054" y="17779"/>
                </a:moveTo>
                <a:lnTo>
                  <a:pt x="17780" y="17779"/>
                </a:lnTo>
                <a:lnTo>
                  <a:pt x="17780" y="516966"/>
                </a:lnTo>
                <a:lnTo>
                  <a:pt x="475054" y="516966"/>
                </a:lnTo>
                <a:lnTo>
                  <a:pt x="475054" y="512521"/>
                </a:lnTo>
                <a:lnTo>
                  <a:pt x="22225" y="512521"/>
                </a:lnTo>
                <a:lnTo>
                  <a:pt x="22225" y="22225"/>
                </a:lnTo>
                <a:lnTo>
                  <a:pt x="475054" y="22225"/>
                </a:lnTo>
                <a:lnTo>
                  <a:pt x="475054" y="17779"/>
                </a:lnTo>
                <a:close/>
              </a:path>
              <a:path w="493394" h="535305">
                <a:moveTo>
                  <a:pt x="475054" y="22225"/>
                </a:moveTo>
                <a:lnTo>
                  <a:pt x="470609" y="22225"/>
                </a:lnTo>
                <a:lnTo>
                  <a:pt x="470609" y="512521"/>
                </a:lnTo>
                <a:lnTo>
                  <a:pt x="475054" y="512521"/>
                </a:lnTo>
                <a:lnTo>
                  <a:pt x="475054" y="22225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72489" y="2331878"/>
            <a:ext cx="361315" cy="521334"/>
          </a:xfrm>
          <a:custGeom>
            <a:avLst/>
            <a:gdLst/>
            <a:ahLst/>
            <a:cxnLst/>
            <a:rect l="l" t="t" r="r" b="b"/>
            <a:pathLst>
              <a:path w="361314" h="521335">
                <a:moveTo>
                  <a:pt x="0" y="0"/>
                </a:moveTo>
                <a:lnTo>
                  <a:pt x="360842" y="0"/>
                </a:lnTo>
                <a:lnTo>
                  <a:pt x="360842" y="521153"/>
                </a:lnTo>
                <a:lnTo>
                  <a:pt x="0" y="521153"/>
                </a:lnTo>
                <a:lnTo>
                  <a:pt x="0" y="0"/>
                </a:lnTo>
                <a:close/>
              </a:path>
            </a:pathLst>
          </a:custGeom>
          <a:solidFill>
            <a:srgbClr val="D60093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61376" y="2320766"/>
            <a:ext cx="383540" cy="543560"/>
          </a:xfrm>
          <a:custGeom>
            <a:avLst/>
            <a:gdLst/>
            <a:ahLst/>
            <a:cxnLst/>
            <a:rect l="l" t="t" r="r" b="b"/>
            <a:pathLst>
              <a:path w="383539" h="543560">
                <a:moveTo>
                  <a:pt x="378091" y="0"/>
                </a:moveTo>
                <a:lnTo>
                  <a:pt x="4974" y="0"/>
                </a:lnTo>
                <a:lnTo>
                  <a:pt x="0" y="4975"/>
                </a:lnTo>
                <a:lnTo>
                  <a:pt x="0" y="538402"/>
                </a:lnTo>
                <a:lnTo>
                  <a:pt x="4974" y="543378"/>
                </a:lnTo>
                <a:lnTo>
                  <a:pt x="378091" y="543378"/>
                </a:lnTo>
                <a:lnTo>
                  <a:pt x="383067" y="538402"/>
                </a:lnTo>
                <a:lnTo>
                  <a:pt x="383067" y="530043"/>
                </a:lnTo>
                <a:lnTo>
                  <a:pt x="13335" y="530043"/>
                </a:lnTo>
                <a:lnTo>
                  <a:pt x="13335" y="13335"/>
                </a:lnTo>
                <a:lnTo>
                  <a:pt x="383067" y="13335"/>
                </a:lnTo>
                <a:lnTo>
                  <a:pt x="383067" y="4975"/>
                </a:lnTo>
                <a:lnTo>
                  <a:pt x="378091" y="0"/>
                </a:lnTo>
                <a:close/>
              </a:path>
              <a:path w="383539" h="543560">
                <a:moveTo>
                  <a:pt x="383067" y="13335"/>
                </a:moveTo>
                <a:lnTo>
                  <a:pt x="369732" y="13335"/>
                </a:lnTo>
                <a:lnTo>
                  <a:pt x="369732" y="530043"/>
                </a:lnTo>
                <a:lnTo>
                  <a:pt x="383067" y="530043"/>
                </a:lnTo>
                <a:lnTo>
                  <a:pt x="383067" y="13335"/>
                </a:lnTo>
                <a:close/>
              </a:path>
              <a:path w="383539" h="543560">
                <a:moveTo>
                  <a:pt x="365287" y="17779"/>
                </a:moveTo>
                <a:lnTo>
                  <a:pt x="17780" y="17779"/>
                </a:lnTo>
                <a:lnTo>
                  <a:pt x="17780" y="525598"/>
                </a:lnTo>
                <a:lnTo>
                  <a:pt x="365287" y="525598"/>
                </a:lnTo>
                <a:lnTo>
                  <a:pt x="365287" y="521153"/>
                </a:lnTo>
                <a:lnTo>
                  <a:pt x="22225" y="521153"/>
                </a:lnTo>
                <a:lnTo>
                  <a:pt x="22225" y="22225"/>
                </a:lnTo>
                <a:lnTo>
                  <a:pt x="365287" y="22225"/>
                </a:lnTo>
                <a:lnTo>
                  <a:pt x="365287" y="17779"/>
                </a:lnTo>
                <a:close/>
              </a:path>
              <a:path w="383539" h="543560">
                <a:moveTo>
                  <a:pt x="365287" y="22225"/>
                </a:moveTo>
                <a:lnTo>
                  <a:pt x="360842" y="22225"/>
                </a:lnTo>
                <a:lnTo>
                  <a:pt x="360842" y="521153"/>
                </a:lnTo>
                <a:lnTo>
                  <a:pt x="365287" y="521153"/>
                </a:lnTo>
                <a:lnTo>
                  <a:pt x="365287" y="22225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30834" y="1121155"/>
            <a:ext cx="32010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665" marR="5080" indent="-3556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D60093"/>
                </a:solidFill>
                <a:latin typeface="Calibri"/>
                <a:cs typeface="Calibri"/>
              </a:rPr>
              <a:t>Trainable </a:t>
            </a:r>
            <a:r>
              <a:rPr dirty="0" sz="2400" spc="-10">
                <a:solidFill>
                  <a:srgbClr val="D60093"/>
                </a:solidFill>
                <a:latin typeface="Calibri"/>
                <a:cs typeface="Calibri"/>
              </a:rPr>
              <a:t>weight </a:t>
            </a: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matrices  (i.e., </a:t>
            </a:r>
            <a:r>
              <a:rPr dirty="0" sz="2400" spc="-10">
                <a:solidFill>
                  <a:srgbClr val="D60093"/>
                </a:solidFill>
                <a:latin typeface="Calibri"/>
                <a:cs typeface="Calibri"/>
              </a:rPr>
              <a:t>what </a:t>
            </a:r>
            <a:r>
              <a:rPr dirty="0" sz="2400" spc="-15">
                <a:solidFill>
                  <a:srgbClr val="D60093"/>
                </a:solidFill>
                <a:latin typeface="Calibri"/>
                <a:cs typeface="Calibri"/>
              </a:rPr>
              <a:t>we</a:t>
            </a:r>
            <a:r>
              <a:rPr dirty="0" sz="2400" spc="-5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learn)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80767" y="1863794"/>
            <a:ext cx="1083945" cy="433705"/>
          </a:xfrm>
          <a:custGeom>
            <a:avLst/>
            <a:gdLst/>
            <a:ahLst/>
            <a:cxnLst/>
            <a:rect l="l" t="t" r="r" b="b"/>
            <a:pathLst>
              <a:path w="1083945" h="433705">
                <a:moveTo>
                  <a:pt x="57348" y="362305"/>
                </a:moveTo>
                <a:lnTo>
                  <a:pt x="0" y="425307"/>
                </a:lnTo>
                <a:lnTo>
                  <a:pt x="84810" y="433384"/>
                </a:lnTo>
                <a:lnTo>
                  <a:pt x="77013" y="413203"/>
                </a:lnTo>
                <a:lnTo>
                  <a:pt x="57759" y="413203"/>
                </a:lnTo>
                <a:lnTo>
                  <a:pt x="52243" y="410762"/>
                </a:lnTo>
                <a:lnTo>
                  <a:pt x="48453" y="400947"/>
                </a:lnTo>
                <a:lnTo>
                  <a:pt x="50893" y="395433"/>
                </a:lnTo>
                <a:lnTo>
                  <a:pt x="67646" y="388960"/>
                </a:lnTo>
                <a:lnTo>
                  <a:pt x="57348" y="362305"/>
                </a:lnTo>
                <a:close/>
              </a:path>
              <a:path w="1083945" h="433705">
                <a:moveTo>
                  <a:pt x="67646" y="388960"/>
                </a:moveTo>
                <a:lnTo>
                  <a:pt x="50893" y="395433"/>
                </a:lnTo>
                <a:lnTo>
                  <a:pt x="48453" y="400947"/>
                </a:lnTo>
                <a:lnTo>
                  <a:pt x="52243" y="410762"/>
                </a:lnTo>
                <a:lnTo>
                  <a:pt x="57759" y="413203"/>
                </a:lnTo>
                <a:lnTo>
                  <a:pt x="74512" y="406730"/>
                </a:lnTo>
                <a:lnTo>
                  <a:pt x="67646" y="388960"/>
                </a:lnTo>
                <a:close/>
              </a:path>
              <a:path w="1083945" h="433705">
                <a:moveTo>
                  <a:pt x="74512" y="406730"/>
                </a:moveTo>
                <a:lnTo>
                  <a:pt x="57759" y="413203"/>
                </a:lnTo>
                <a:lnTo>
                  <a:pt x="77013" y="413203"/>
                </a:lnTo>
                <a:lnTo>
                  <a:pt x="74512" y="406730"/>
                </a:lnTo>
                <a:close/>
              </a:path>
              <a:path w="1083945" h="433705">
                <a:moveTo>
                  <a:pt x="1074370" y="0"/>
                </a:moveTo>
                <a:lnTo>
                  <a:pt x="67646" y="388960"/>
                </a:lnTo>
                <a:lnTo>
                  <a:pt x="74512" y="406730"/>
                </a:lnTo>
                <a:lnTo>
                  <a:pt x="1081236" y="17768"/>
                </a:lnTo>
                <a:lnTo>
                  <a:pt x="1083677" y="12254"/>
                </a:lnTo>
                <a:lnTo>
                  <a:pt x="1079884" y="2440"/>
                </a:lnTo>
                <a:lnTo>
                  <a:pt x="1074370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03784" y="1863863"/>
            <a:ext cx="1229995" cy="436880"/>
          </a:xfrm>
          <a:custGeom>
            <a:avLst/>
            <a:gdLst/>
            <a:ahLst/>
            <a:cxnLst/>
            <a:rect l="l" t="t" r="r" b="b"/>
            <a:pathLst>
              <a:path w="1229995" h="436880">
                <a:moveTo>
                  <a:pt x="1154700" y="409728"/>
                </a:moveTo>
                <a:lnTo>
                  <a:pt x="1145501" y="436782"/>
                </a:lnTo>
                <a:lnTo>
                  <a:pt x="1229911" y="425239"/>
                </a:lnTo>
                <a:lnTo>
                  <a:pt x="1220297" y="415509"/>
                </a:lnTo>
                <a:lnTo>
                  <a:pt x="1171704" y="415509"/>
                </a:lnTo>
                <a:lnTo>
                  <a:pt x="1154700" y="409728"/>
                </a:lnTo>
                <a:close/>
              </a:path>
              <a:path w="1229995" h="436880">
                <a:moveTo>
                  <a:pt x="1160833" y="391692"/>
                </a:moveTo>
                <a:lnTo>
                  <a:pt x="1154700" y="409728"/>
                </a:lnTo>
                <a:lnTo>
                  <a:pt x="1171704" y="415509"/>
                </a:lnTo>
                <a:lnTo>
                  <a:pt x="1177114" y="412845"/>
                </a:lnTo>
                <a:lnTo>
                  <a:pt x="1180501" y="402884"/>
                </a:lnTo>
                <a:lnTo>
                  <a:pt x="1177837" y="397474"/>
                </a:lnTo>
                <a:lnTo>
                  <a:pt x="1160833" y="391692"/>
                </a:lnTo>
                <a:close/>
              </a:path>
              <a:path w="1229995" h="436880">
                <a:moveTo>
                  <a:pt x="1170031" y="364638"/>
                </a:moveTo>
                <a:lnTo>
                  <a:pt x="1160833" y="391692"/>
                </a:lnTo>
                <a:lnTo>
                  <a:pt x="1177837" y="397474"/>
                </a:lnTo>
                <a:lnTo>
                  <a:pt x="1180501" y="402884"/>
                </a:lnTo>
                <a:lnTo>
                  <a:pt x="1177114" y="412845"/>
                </a:lnTo>
                <a:lnTo>
                  <a:pt x="1171704" y="415509"/>
                </a:lnTo>
                <a:lnTo>
                  <a:pt x="1220297" y="415509"/>
                </a:lnTo>
                <a:lnTo>
                  <a:pt x="1170031" y="364638"/>
                </a:lnTo>
                <a:close/>
              </a:path>
              <a:path w="1229995" h="436880">
                <a:moveTo>
                  <a:pt x="8796" y="0"/>
                </a:moveTo>
                <a:lnTo>
                  <a:pt x="3385" y="2664"/>
                </a:lnTo>
                <a:lnTo>
                  <a:pt x="0" y="12626"/>
                </a:lnTo>
                <a:lnTo>
                  <a:pt x="2664" y="18036"/>
                </a:lnTo>
                <a:lnTo>
                  <a:pt x="1154700" y="409728"/>
                </a:lnTo>
                <a:lnTo>
                  <a:pt x="1160833" y="391692"/>
                </a:lnTo>
                <a:lnTo>
                  <a:pt x="8796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22364" y="3671112"/>
            <a:ext cx="8364220" cy="123063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861820">
              <a:lnSpc>
                <a:spcPct val="100000"/>
              </a:lnSpc>
              <a:spcBef>
                <a:spcPts val="445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Final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dirty="0" sz="1800" spc="-5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embedding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3204"/>
              </a:lnSpc>
              <a:spcBef>
                <a:spcPts val="575"/>
              </a:spcBef>
            </a:pPr>
            <a:r>
              <a:rPr dirty="0" sz="3000" spc="-55">
                <a:latin typeface="Calibri"/>
                <a:cs typeface="Calibri"/>
              </a:rPr>
              <a:t>We </a:t>
            </a:r>
            <a:r>
              <a:rPr dirty="0" sz="3000" spc="-15">
                <a:latin typeface="Calibri"/>
                <a:cs typeface="Calibri"/>
              </a:rPr>
              <a:t>can </a:t>
            </a:r>
            <a:r>
              <a:rPr dirty="0" sz="3000" spc="-25">
                <a:latin typeface="Calibri"/>
                <a:cs typeface="Calibri"/>
              </a:rPr>
              <a:t>feed </a:t>
            </a:r>
            <a:r>
              <a:rPr dirty="0" sz="3000" spc="-5">
                <a:latin typeface="Calibri"/>
                <a:cs typeface="Calibri"/>
              </a:rPr>
              <a:t>these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embeddings </a:t>
            </a:r>
            <a:r>
              <a:rPr dirty="0" sz="3000" spc="-20" b="1">
                <a:solidFill>
                  <a:srgbClr val="D60093"/>
                </a:solidFill>
                <a:latin typeface="Calibri"/>
                <a:cs typeface="Calibri"/>
              </a:rPr>
              <a:t>into </a:t>
            </a:r>
            <a:r>
              <a:rPr dirty="0" sz="3000" spc="-25" b="1">
                <a:solidFill>
                  <a:srgbClr val="D60093"/>
                </a:solidFill>
                <a:latin typeface="Calibri"/>
                <a:cs typeface="Calibri"/>
              </a:rPr>
              <a:t>any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loss</a:t>
            </a:r>
            <a:r>
              <a:rPr dirty="0" sz="3000" spc="1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function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ts val="3204"/>
              </a:lnSpc>
            </a:pPr>
            <a:r>
              <a:rPr dirty="0" sz="3000" spc="-5">
                <a:latin typeface="Calibri"/>
                <a:cs typeface="Calibri"/>
              </a:rPr>
              <a:t>and run SGD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20" b="1">
                <a:solidFill>
                  <a:srgbClr val="0000FF"/>
                </a:solidFill>
                <a:latin typeface="Calibri"/>
                <a:cs typeface="Calibri"/>
              </a:rPr>
              <a:t>train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weight</a:t>
            </a:r>
            <a:r>
              <a:rPr dirty="0" sz="3000" spc="2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25" b="1">
                <a:solidFill>
                  <a:srgbClr val="0000FF"/>
                </a:solidFill>
                <a:latin typeface="Calibri"/>
                <a:cs typeface="Calibri"/>
              </a:rPr>
              <a:t>parameters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58752" y="3604781"/>
            <a:ext cx="660400" cy="243840"/>
          </a:xfrm>
          <a:custGeom>
            <a:avLst/>
            <a:gdLst/>
            <a:ahLst/>
            <a:cxnLst/>
            <a:rect l="l" t="t" r="r" b="b"/>
            <a:pathLst>
              <a:path w="660400" h="243839">
                <a:moveTo>
                  <a:pt x="85861" y="27121"/>
                </a:moveTo>
                <a:lnTo>
                  <a:pt x="76862" y="54241"/>
                </a:lnTo>
                <a:lnTo>
                  <a:pt x="647133" y="243488"/>
                </a:lnTo>
                <a:lnTo>
                  <a:pt x="655218" y="239431"/>
                </a:lnTo>
                <a:lnTo>
                  <a:pt x="660189" y="224453"/>
                </a:lnTo>
                <a:lnTo>
                  <a:pt x="656132" y="216367"/>
                </a:lnTo>
                <a:lnTo>
                  <a:pt x="85861" y="27121"/>
                </a:lnTo>
                <a:close/>
              </a:path>
              <a:path w="660400" h="243839">
                <a:moveTo>
                  <a:pt x="94861" y="0"/>
                </a:moveTo>
                <a:lnTo>
                  <a:pt x="0" y="13681"/>
                </a:lnTo>
                <a:lnTo>
                  <a:pt x="67862" y="81362"/>
                </a:lnTo>
                <a:lnTo>
                  <a:pt x="76862" y="54241"/>
                </a:lnTo>
                <a:lnTo>
                  <a:pt x="55812" y="47256"/>
                </a:lnTo>
                <a:lnTo>
                  <a:pt x="51756" y="39170"/>
                </a:lnTo>
                <a:lnTo>
                  <a:pt x="56725" y="24192"/>
                </a:lnTo>
                <a:lnTo>
                  <a:pt x="64811" y="20135"/>
                </a:lnTo>
                <a:lnTo>
                  <a:pt x="88179" y="20135"/>
                </a:lnTo>
                <a:lnTo>
                  <a:pt x="94861" y="0"/>
                </a:lnTo>
                <a:close/>
              </a:path>
              <a:path w="660400" h="243839">
                <a:moveTo>
                  <a:pt x="64811" y="20135"/>
                </a:moveTo>
                <a:lnTo>
                  <a:pt x="56725" y="24192"/>
                </a:lnTo>
                <a:lnTo>
                  <a:pt x="51756" y="39170"/>
                </a:lnTo>
                <a:lnTo>
                  <a:pt x="55812" y="47256"/>
                </a:lnTo>
                <a:lnTo>
                  <a:pt x="76862" y="54241"/>
                </a:lnTo>
                <a:lnTo>
                  <a:pt x="85861" y="27121"/>
                </a:lnTo>
                <a:lnTo>
                  <a:pt x="64811" y="20135"/>
                </a:lnTo>
                <a:close/>
              </a:path>
              <a:path w="660400" h="243839">
                <a:moveTo>
                  <a:pt x="88179" y="20135"/>
                </a:moveTo>
                <a:lnTo>
                  <a:pt x="64811" y="20135"/>
                </a:lnTo>
                <a:lnTo>
                  <a:pt x="85861" y="27121"/>
                </a:lnTo>
                <a:lnTo>
                  <a:pt x="88179" y="20135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97878" y="1747011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88329" y="1343659"/>
            <a:ext cx="14884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629" sz="4500" spc="0">
                <a:latin typeface="Cambria Math"/>
                <a:cs typeface="Cambria Math"/>
              </a:rPr>
              <a:t>h</a:t>
            </a:r>
            <a:r>
              <a:rPr dirty="0" sz="2200" spc="0">
                <a:latin typeface="Cambria Math"/>
                <a:cs typeface="Cambria Math"/>
              </a:rPr>
              <a:t>(3)  </a:t>
            </a:r>
            <a:r>
              <a:rPr dirty="0" baseline="-29629" sz="4500">
                <a:latin typeface="Cambria Math"/>
                <a:cs typeface="Cambria Math"/>
              </a:rPr>
              <a:t>=</a:t>
            </a:r>
            <a:r>
              <a:rPr dirty="0" baseline="-29629" sz="4500" spc="-300">
                <a:latin typeface="Cambria Math"/>
                <a:cs typeface="Cambria Math"/>
              </a:rPr>
              <a:t> </a:t>
            </a:r>
            <a:r>
              <a:rPr dirty="0" baseline="-29629" sz="4500" spc="44">
                <a:latin typeface="Cambria Math"/>
                <a:cs typeface="Cambria Math"/>
              </a:rPr>
              <a:t>x</a:t>
            </a:r>
            <a:r>
              <a:rPr dirty="0" baseline="-55555" sz="3300" spc="44">
                <a:latin typeface="Cambria Math"/>
                <a:cs typeface="Cambria Math"/>
              </a:rPr>
              <a:t>1</a:t>
            </a:r>
            <a:endParaRPr baseline="-55555" sz="3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7934" y="3074923"/>
            <a:ext cx="1987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mbria Math"/>
                <a:cs typeface="Cambria Math"/>
              </a:rPr>
              <a:t>z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0972" y="3255772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6416" y="3274059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6848" y="2870708"/>
            <a:ext cx="101726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629" sz="4500">
                <a:latin typeface="Cambria Math"/>
                <a:cs typeface="Cambria Math"/>
              </a:rPr>
              <a:t>=</a:t>
            </a:r>
            <a:r>
              <a:rPr dirty="0" baseline="-29629" sz="4500" spc="120">
                <a:latin typeface="Cambria Math"/>
                <a:cs typeface="Cambria Math"/>
              </a:rPr>
              <a:t> </a:t>
            </a:r>
            <a:r>
              <a:rPr dirty="0" baseline="-29629" sz="4500">
                <a:latin typeface="Cambria Math"/>
                <a:cs typeface="Cambria Math"/>
              </a:rPr>
              <a:t>h</a:t>
            </a:r>
            <a:r>
              <a:rPr dirty="0" sz="2200">
                <a:latin typeface="Cambria Math"/>
                <a:cs typeface="Cambria Math"/>
              </a:rPr>
              <a:t>(5)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7750" y="2493772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200" y="2093467"/>
            <a:ext cx="22548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629" sz="4500">
                <a:latin typeface="Cambria Math"/>
                <a:cs typeface="Cambria Math"/>
              </a:rPr>
              <a:t>h</a:t>
            </a:r>
            <a:r>
              <a:rPr dirty="0" sz="2200">
                <a:latin typeface="Cambria Math"/>
                <a:cs typeface="Cambria Math"/>
              </a:rPr>
              <a:t>(670)  </a:t>
            </a:r>
            <a:r>
              <a:rPr dirty="0" baseline="-29629" sz="4500">
                <a:latin typeface="Cambria Math"/>
                <a:cs typeface="Cambria Math"/>
              </a:rPr>
              <a:t>=</a:t>
            </a:r>
            <a:r>
              <a:rPr dirty="0" baseline="-29629" sz="4500" spc="-262">
                <a:latin typeface="Cambria Math"/>
                <a:cs typeface="Cambria Math"/>
              </a:rPr>
              <a:t> </a:t>
            </a:r>
            <a:r>
              <a:rPr dirty="0" baseline="-29629" sz="4500" spc="-247">
                <a:latin typeface="Cambria Math"/>
                <a:cs typeface="Cambria Math"/>
              </a:rPr>
              <a:t>𝜎(W</a:t>
            </a:r>
            <a:r>
              <a:rPr dirty="0" baseline="-55555" sz="3300" spc="-247">
                <a:latin typeface="Cambria Math"/>
                <a:cs typeface="Cambria Math"/>
              </a:rPr>
              <a:t>6</a:t>
            </a:r>
            <a:endParaRPr baseline="-55555" sz="33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6014" y="2883916"/>
            <a:ext cx="9899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35">
                <a:latin typeface="Cambria Math"/>
                <a:cs typeface="Cambria Math"/>
              </a:rPr>
              <a:t>8</a:t>
            </a:r>
            <a:r>
              <a:rPr dirty="0" sz="2200" spc="-10">
                <a:latin typeface="Cambria Math"/>
                <a:cs typeface="Cambria Math"/>
              </a:rPr>
              <a:t>∈</a:t>
            </a:r>
            <a:r>
              <a:rPr dirty="0" sz="2200" spc="1065">
                <a:latin typeface="Cambria Math"/>
                <a:cs typeface="Cambria Math"/>
              </a:rPr>
              <a:t>:</a:t>
            </a:r>
            <a:r>
              <a:rPr dirty="0" sz="2200" spc="-5">
                <a:latin typeface="Cambria Math"/>
                <a:cs typeface="Cambria Math"/>
              </a:rPr>
              <a:t>(</a:t>
            </a:r>
            <a:r>
              <a:rPr dirty="0" sz="2200" spc="65">
                <a:latin typeface="Cambria Math"/>
                <a:cs typeface="Cambria Math"/>
              </a:rPr>
              <a:t>1</a:t>
            </a:r>
            <a:r>
              <a:rPr dirty="0" sz="2200">
                <a:latin typeface="Cambria Math"/>
                <a:cs typeface="Cambria Math"/>
              </a:rPr>
              <a:t>)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09474" y="1803908"/>
            <a:ext cx="5753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629" sz="4500" spc="-15">
                <a:latin typeface="Cambria Math"/>
                <a:cs typeface="Cambria Math"/>
              </a:rPr>
              <a:t>h</a:t>
            </a:r>
            <a:r>
              <a:rPr dirty="0" sz="2200" spc="-5">
                <a:latin typeface="Cambria Math"/>
                <a:cs typeface="Cambria Math"/>
              </a:rPr>
              <a:t>(</a:t>
            </a:r>
            <a:r>
              <a:rPr dirty="0" sz="2200" spc="-375">
                <a:latin typeface="Cambria Math"/>
                <a:cs typeface="Cambria Math"/>
              </a:rPr>
              <a:t>6</a:t>
            </a:r>
            <a:r>
              <a:rPr dirty="0" sz="2200">
                <a:latin typeface="Cambria Math"/>
                <a:cs typeface="Cambria Math"/>
              </a:rPr>
              <a:t>)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62724" y="266283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46800" y="266283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94348" y="2550667"/>
            <a:ext cx="82041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>
                <a:latin typeface="Cambria Math"/>
                <a:cs typeface="Cambria Math"/>
              </a:rPr>
              <a:t>N</a:t>
            </a:r>
            <a:r>
              <a:rPr dirty="0" sz="3000">
                <a:latin typeface="Cambria Math"/>
                <a:cs typeface="Cambria Math"/>
              </a:rPr>
              <a:t>(</a:t>
            </a:r>
            <a:r>
              <a:rPr dirty="0" sz="3000" spc="85">
                <a:latin typeface="Cambria Math"/>
                <a:cs typeface="Cambria Math"/>
              </a:rPr>
              <a:t>𝑣</a:t>
            </a:r>
            <a:r>
              <a:rPr dirty="0" sz="3000">
                <a:latin typeface="Cambria Math"/>
                <a:cs typeface="Cambria Math"/>
              </a:rPr>
              <a:t>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5630400" y="2493772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75630" y="2297683"/>
            <a:ext cx="63722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800" algn="l"/>
                <a:tab pos="1256030" algn="l"/>
                <a:tab pos="1854200" algn="l"/>
              </a:tabLst>
            </a:pPr>
            <a:r>
              <a:rPr dirty="0" sz="3000" spc="2310">
                <a:latin typeface="Cambria Math"/>
                <a:cs typeface="Cambria Math"/>
              </a:rPr>
              <a:t>8	</a:t>
            </a:r>
            <a:r>
              <a:rPr dirty="0" baseline="27777" sz="4500" spc="3465" u="heavy">
                <a:latin typeface="Cambria Math"/>
                <a:cs typeface="Cambria Math"/>
              </a:rPr>
              <a:t> 	</a:t>
            </a:r>
            <a:r>
              <a:rPr dirty="0" baseline="37878" sz="3300" spc="307" u="heavy">
                <a:latin typeface="Cambria Math"/>
                <a:cs typeface="Cambria Math"/>
              </a:rPr>
              <a:t>8	</a:t>
            </a:r>
            <a:r>
              <a:rPr dirty="0" sz="3000">
                <a:latin typeface="Cambria Math"/>
                <a:cs typeface="Cambria Math"/>
              </a:rPr>
              <a:t>+ </a:t>
            </a:r>
            <a:r>
              <a:rPr dirty="0" sz="3000" spc="-80">
                <a:latin typeface="Cambria Math"/>
                <a:cs typeface="Cambria Math"/>
              </a:rPr>
              <a:t>B</a:t>
            </a:r>
            <a:r>
              <a:rPr dirty="0" baseline="-15151" sz="3300" spc="-120">
                <a:latin typeface="Cambria Math"/>
                <a:cs typeface="Cambria Math"/>
              </a:rPr>
              <a:t>6</a:t>
            </a:r>
            <a:r>
              <a:rPr dirty="0" sz="3000" spc="-80">
                <a:latin typeface="Cambria Math"/>
                <a:cs typeface="Cambria Math"/>
              </a:rPr>
              <a:t>h</a:t>
            </a:r>
            <a:r>
              <a:rPr dirty="0" baseline="40404" sz="3300" spc="-120">
                <a:latin typeface="Cambria Math"/>
                <a:cs typeface="Cambria Math"/>
              </a:rPr>
              <a:t>(6)</a:t>
            </a:r>
            <a:r>
              <a:rPr dirty="0" sz="3000" spc="-80">
                <a:latin typeface="Cambria Math"/>
                <a:cs typeface="Cambria Math"/>
              </a:rPr>
              <a:t>), </a:t>
            </a:r>
            <a:r>
              <a:rPr dirty="0" sz="3000">
                <a:latin typeface="Cambria Math"/>
                <a:cs typeface="Cambria Math"/>
              </a:rPr>
              <a:t>∀𝑙 ∈ {0, … , 𝐿 −</a:t>
            </a:r>
            <a:r>
              <a:rPr dirty="0" sz="3000" spc="-10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1}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474208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5421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1">
                <a:solidFill>
                  <a:srgbClr val="C00000"/>
                </a:solidFill>
                <a:latin typeface="Calibri"/>
                <a:cs typeface="Calibri"/>
              </a:rPr>
              <a:t>Many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aggregations can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be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performed  efficiently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by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(sparse) matrix</a:t>
            </a:r>
            <a:r>
              <a:rPr dirty="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388616"/>
            <a:ext cx="15938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415">
                <a:solidFill>
                  <a:srgbClr val="F0AD00"/>
                </a:solidFill>
                <a:latin typeface="Arial"/>
                <a:cs typeface="Arial"/>
              </a:rPr>
              <a:t>¡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770123"/>
            <a:ext cx="1333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>
                <a:latin typeface="Calibri"/>
                <a:cs typeface="Calibri"/>
              </a:rPr>
              <a:t>Then: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baseline="2314" sz="3600">
                <a:solidFill>
                  <a:srgbClr val="D60093"/>
                </a:solidFill>
                <a:latin typeface="Cambria Math"/>
                <a:cs typeface="Cambria Math"/>
              </a:rPr>
              <a:t>∑</a:t>
            </a:r>
            <a:endParaRPr baseline="2314" sz="36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5637" y="2849371"/>
            <a:ext cx="951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284">
                <a:solidFill>
                  <a:srgbClr val="D60093"/>
                </a:solidFill>
                <a:latin typeface="Cambria Math"/>
                <a:cs typeface="Cambria Math"/>
              </a:rPr>
              <a:t>*∈,</a:t>
            </a:r>
            <a:r>
              <a:rPr dirty="0" baseline="-11904" sz="2100" spc="284">
                <a:solidFill>
                  <a:srgbClr val="D60093"/>
                </a:solidFill>
                <a:latin typeface="Cambria Math"/>
                <a:cs typeface="Cambria Math"/>
              </a:rPr>
              <a:t>%</a:t>
            </a:r>
            <a:r>
              <a:rPr dirty="0" baseline="-11904" sz="2100" spc="-16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baseline="13888" sz="3600" spc="284">
                <a:solidFill>
                  <a:srgbClr val="D60093"/>
                </a:solidFill>
                <a:latin typeface="Cambria Math"/>
                <a:cs typeface="Cambria Math"/>
              </a:rPr>
              <a:t>ℎ</a:t>
            </a:r>
            <a:r>
              <a:rPr dirty="0" sz="1800" spc="190">
                <a:solidFill>
                  <a:srgbClr val="D60093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8211" y="2684779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D60093"/>
                </a:solidFill>
                <a:latin typeface="Cambria Math"/>
                <a:cs typeface="Cambria Math"/>
              </a:rPr>
              <a:t>(</a:t>
            </a:r>
            <a:r>
              <a:rPr dirty="0" sz="1800" spc="65">
                <a:solidFill>
                  <a:srgbClr val="D60093"/>
                </a:solidFill>
                <a:latin typeface="Cambria Math"/>
                <a:cs typeface="Cambria Math"/>
              </a:rPr>
              <a:t>-</a:t>
            </a:r>
            <a:r>
              <a:rPr dirty="0" sz="1800">
                <a:solidFill>
                  <a:srgbClr val="D60093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6709" y="2834132"/>
            <a:ext cx="459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75">
                <a:solidFill>
                  <a:srgbClr val="D60093"/>
                </a:solidFill>
                <a:latin typeface="Cambria Math"/>
                <a:cs typeface="Cambria Math"/>
              </a:rPr>
              <a:t>A</a:t>
            </a:r>
            <a:r>
              <a:rPr dirty="0" sz="1800" spc="505">
                <a:solidFill>
                  <a:srgbClr val="D60093"/>
                </a:solidFill>
                <a:latin typeface="Cambria Math"/>
                <a:cs typeface="Cambria Math"/>
              </a:rPr>
              <a:t>!</a:t>
            </a:r>
            <a:r>
              <a:rPr dirty="0" sz="1800" spc="-10">
                <a:solidFill>
                  <a:srgbClr val="D60093"/>
                </a:solidFill>
                <a:latin typeface="Cambria Math"/>
                <a:cs typeface="Cambria Math"/>
              </a:rPr>
              <a:t>,</a:t>
            </a:r>
            <a:r>
              <a:rPr dirty="0" sz="1800">
                <a:solidFill>
                  <a:srgbClr val="D60093"/>
                </a:solidFill>
                <a:latin typeface="Cambria Math"/>
                <a:cs typeface="Cambria Math"/>
              </a:rPr>
              <a:t>: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051" y="2770123"/>
            <a:ext cx="9918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8985" algn="l"/>
              </a:tabLst>
            </a:pP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=	H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0855" y="2736595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D60093"/>
                </a:solidFill>
                <a:latin typeface="Cambria Math"/>
                <a:cs typeface="Cambria Math"/>
              </a:rPr>
              <a:t>(</a:t>
            </a:r>
            <a:r>
              <a:rPr dirty="0" sz="1800" spc="65">
                <a:solidFill>
                  <a:srgbClr val="D60093"/>
                </a:solidFill>
                <a:latin typeface="Cambria Math"/>
                <a:cs typeface="Cambria Math"/>
              </a:rPr>
              <a:t>-</a:t>
            </a:r>
            <a:r>
              <a:rPr dirty="0" sz="1800">
                <a:solidFill>
                  <a:srgbClr val="D60093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57950" y="3635138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59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8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6" y="164650"/>
                </a:lnTo>
                <a:lnTo>
                  <a:pt x="338304" y="207587"/>
                </a:lnTo>
                <a:lnTo>
                  <a:pt x="309827" y="253826"/>
                </a:lnTo>
                <a:lnTo>
                  <a:pt x="279858" y="270866"/>
                </a:lnTo>
                <a:lnTo>
                  <a:pt x="283429" y="282327"/>
                </a:lnTo>
                <a:lnTo>
                  <a:pt x="321939" y="264263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0" y="141237"/>
                </a:lnTo>
                <a:lnTo>
                  <a:pt x="372014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09395" y="3635138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59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8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7" y="164650"/>
                </a:lnTo>
                <a:lnTo>
                  <a:pt x="338305" y="207587"/>
                </a:lnTo>
                <a:lnTo>
                  <a:pt x="309827" y="253826"/>
                </a:lnTo>
                <a:lnTo>
                  <a:pt x="279858" y="270866"/>
                </a:lnTo>
                <a:lnTo>
                  <a:pt x="283429" y="282327"/>
                </a:lnTo>
                <a:lnTo>
                  <a:pt x="321939" y="264263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0" y="141237"/>
                </a:lnTo>
                <a:lnTo>
                  <a:pt x="372014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3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1" y="270866"/>
                </a:lnTo>
                <a:lnTo>
                  <a:pt x="77524" y="263742"/>
                </a:lnTo>
                <a:lnTo>
                  <a:pt x="63642" y="253826"/>
                </a:lnTo>
                <a:lnTo>
                  <a:pt x="35164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4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8108" y="3178555"/>
            <a:ext cx="4581525" cy="114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>
                <a:latin typeface="Calibri"/>
                <a:cs typeface="Calibri"/>
              </a:rPr>
              <a:t>Let </a:t>
            </a:r>
            <a:r>
              <a:rPr dirty="0" sz="2400">
                <a:latin typeface="Cambria Math"/>
                <a:cs typeface="Cambria Math"/>
              </a:rPr>
              <a:t>𝐷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diagonal </a:t>
            </a:r>
            <a:r>
              <a:rPr dirty="0" sz="2400" spc="-10">
                <a:latin typeface="Calibri"/>
                <a:cs typeface="Calibri"/>
              </a:rPr>
              <a:t>matrix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where</a:t>
            </a:r>
            <a:endParaRPr sz="2400">
              <a:latin typeface="Calibri"/>
              <a:cs typeface="Calibri"/>
            </a:endParaRPr>
          </a:p>
          <a:p>
            <a:pPr marL="400685">
              <a:lnSpc>
                <a:spcPct val="100000"/>
              </a:lnSpc>
              <a:tabLst>
                <a:tab pos="2324100" algn="l"/>
                <a:tab pos="3090545" algn="l"/>
                <a:tab pos="3390900" algn="l"/>
              </a:tabLst>
            </a:pPr>
            <a:r>
              <a:rPr dirty="0" sz="2400" spc="210">
                <a:latin typeface="Cambria Math"/>
                <a:cs typeface="Cambria Math"/>
              </a:rPr>
              <a:t>𝐷</a:t>
            </a:r>
            <a:r>
              <a:rPr dirty="0" baseline="-15432" sz="2700" spc="315">
                <a:latin typeface="Cambria Math"/>
                <a:cs typeface="Cambria Math"/>
              </a:rPr>
              <a:t>!,!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Deg</a:t>
            </a:r>
            <a:r>
              <a:rPr dirty="0" sz="2400" spc="4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𝑣	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|𝑁	𝑣	|</a:t>
            </a:r>
            <a:endParaRPr sz="24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5">
                <a:latin typeface="Calibri"/>
                <a:cs typeface="Calibri"/>
              </a:rPr>
              <a:t>inverse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25">
                <a:latin typeface="Cambria Math"/>
                <a:cs typeface="Cambria Math"/>
              </a:rPr>
              <a:t>𝐷</a:t>
            </a:r>
            <a:r>
              <a:rPr dirty="0" sz="2000" spc="25">
                <a:latin typeface="Calibri"/>
                <a:cs typeface="Calibri"/>
              </a:rPr>
              <a:t>: </a:t>
            </a:r>
            <a:r>
              <a:rPr dirty="0" sz="2000" spc="-130">
                <a:latin typeface="Cambria Math"/>
                <a:cs typeface="Cambria Math"/>
              </a:rPr>
              <a:t>𝐷</a:t>
            </a:r>
            <a:r>
              <a:rPr dirty="0" baseline="27777" sz="2250" spc="-195">
                <a:latin typeface="Cambria Math"/>
                <a:cs typeface="Cambria Math"/>
              </a:rPr>
              <a:t>%&amp;  </a:t>
            </a:r>
            <a:r>
              <a:rPr dirty="0" sz="2000">
                <a:latin typeface="Calibri"/>
                <a:cs typeface="Calibri"/>
              </a:rPr>
              <a:t>is also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diagonal: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29760" y="4371640"/>
            <a:ext cx="311785" cy="235585"/>
          </a:xfrm>
          <a:custGeom>
            <a:avLst/>
            <a:gdLst/>
            <a:ahLst/>
            <a:cxnLst/>
            <a:rect l="l" t="t" r="r" b="b"/>
            <a:pathLst>
              <a:path w="311785" h="235585">
                <a:moveTo>
                  <a:pt x="236689" y="0"/>
                </a:moveTo>
                <a:lnTo>
                  <a:pt x="233340" y="9549"/>
                </a:lnTo>
                <a:lnTo>
                  <a:pt x="246959" y="15459"/>
                </a:lnTo>
                <a:lnTo>
                  <a:pt x="258672" y="23641"/>
                </a:lnTo>
                <a:lnTo>
                  <a:pt x="282454" y="61565"/>
                </a:lnTo>
                <a:lnTo>
                  <a:pt x="290267" y="116457"/>
                </a:lnTo>
                <a:lnTo>
                  <a:pt x="289395" y="137208"/>
                </a:lnTo>
                <a:lnTo>
                  <a:pt x="276315" y="188019"/>
                </a:lnTo>
                <a:lnTo>
                  <a:pt x="247119" y="219784"/>
                </a:lnTo>
                <a:lnTo>
                  <a:pt x="233713" y="225722"/>
                </a:lnTo>
                <a:lnTo>
                  <a:pt x="236689" y="235272"/>
                </a:lnTo>
                <a:lnTo>
                  <a:pt x="281639" y="208563"/>
                </a:lnTo>
                <a:lnTo>
                  <a:pt x="306886" y="159260"/>
                </a:lnTo>
                <a:lnTo>
                  <a:pt x="311724" y="117697"/>
                </a:lnTo>
                <a:lnTo>
                  <a:pt x="310510" y="96129"/>
                </a:lnTo>
                <a:lnTo>
                  <a:pt x="300805" y="57898"/>
                </a:lnTo>
                <a:lnTo>
                  <a:pt x="268702" y="15083"/>
                </a:lnTo>
                <a:lnTo>
                  <a:pt x="253746" y="6158"/>
                </a:lnTo>
                <a:lnTo>
                  <a:pt x="236689" y="0"/>
                </a:lnTo>
                <a:close/>
              </a:path>
              <a:path w="311785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88033" y="4296155"/>
            <a:ext cx="17691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30">
                <a:latin typeface="Cambria Math"/>
                <a:cs typeface="Cambria Math"/>
              </a:rPr>
              <a:t>𝐷</a:t>
            </a:r>
            <a:r>
              <a:rPr dirty="0" baseline="27777" sz="2250" spc="-195">
                <a:latin typeface="Cambria Math"/>
                <a:cs typeface="Cambria Math"/>
              </a:rPr>
              <a:t>%&amp;  </a:t>
            </a:r>
            <a:r>
              <a:rPr dirty="0" sz="2000">
                <a:latin typeface="Cambria Math"/>
                <a:cs typeface="Cambria Math"/>
              </a:rPr>
              <a:t>= </a:t>
            </a:r>
            <a:r>
              <a:rPr dirty="0" sz="2000" spc="-5">
                <a:latin typeface="Cambria Math"/>
                <a:cs typeface="Cambria Math"/>
              </a:rPr>
              <a:t>1/|𝑁  </a:t>
            </a:r>
            <a:r>
              <a:rPr dirty="0" sz="2000">
                <a:latin typeface="Cambria Math"/>
                <a:cs typeface="Cambria Math"/>
              </a:rPr>
              <a:t>𝑣 </a:t>
            </a:r>
            <a:r>
              <a:rPr dirty="0" sz="2000" spc="114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|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08" y="4411471"/>
            <a:ext cx="1663064" cy="591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80035">
              <a:lnSpc>
                <a:spcPts val="1685"/>
              </a:lnSpc>
              <a:spcBef>
                <a:spcPts val="100"/>
              </a:spcBef>
            </a:pPr>
            <a:r>
              <a:rPr dirty="0" sz="1500" spc="325">
                <a:latin typeface="Cambria Math"/>
                <a:cs typeface="Cambria Math"/>
              </a:rPr>
              <a:t>','</a:t>
            </a:r>
            <a:endParaRPr sz="1500">
              <a:latin typeface="Cambria Math"/>
              <a:cs typeface="Cambria Math"/>
            </a:endParaRPr>
          </a:p>
          <a:p>
            <a:pPr marL="332740" indent="-320040">
              <a:lnSpc>
                <a:spcPts val="2765"/>
              </a:lnSpc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5" b="1">
                <a:latin typeface="Calibri"/>
                <a:cs typeface="Calibri"/>
              </a:rPr>
              <a:t>Therefore,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39369" y="5590965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647700" y="0"/>
                </a:moveTo>
                <a:lnTo>
                  <a:pt x="647700" y="57150"/>
                </a:lnTo>
                <a:lnTo>
                  <a:pt x="0" y="57150"/>
                </a:lnTo>
                <a:lnTo>
                  <a:pt x="0" y="171449"/>
                </a:lnTo>
                <a:lnTo>
                  <a:pt x="647700" y="171449"/>
                </a:lnTo>
                <a:lnTo>
                  <a:pt x="647700" y="228599"/>
                </a:lnTo>
                <a:lnTo>
                  <a:pt x="762000" y="114299"/>
                </a:lnTo>
                <a:lnTo>
                  <a:pt x="6477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15369" y="5533024"/>
            <a:ext cx="820419" cy="344805"/>
          </a:xfrm>
          <a:custGeom>
            <a:avLst/>
            <a:gdLst/>
            <a:ahLst/>
            <a:cxnLst/>
            <a:rect l="l" t="t" r="r" b="b"/>
            <a:pathLst>
              <a:path w="820420" h="344804">
                <a:moveTo>
                  <a:pt x="647699" y="0"/>
                </a:moveTo>
                <a:lnTo>
                  <a:pt x="647699" y="91091"/>
                </a:lnTo>
                <a:lnTo>
                  <a:pt x="0" y="91091"/>
                </a:lnTo>
                <a:lnTo>
                  <a:pt x="0" y="253391"/>
                </a:lnTo>
                <a:lnTo>
                  <a:pt x="647699" y="253391"/>
                </a:lnTo>
                <a:lnTo>
                  <a:pt x="647699" y="344482"/>
                </a:lnTo>
                <a:lnTo>
                  <a:pt x="717229" y="274953"/>
                </a:lnTo>
                <a:lnTo>
                  <a:pt x="676499" y="274953"/>
                </a:lnTo>
                <a:lnTo>
                  <a:pt x="676499" y="224591"/>
                </a:lnTo>
                <a:lnTo>
                  <a:pt x="28799" y="224591"/>
                </a:lnTo>
                <a:lnTo>
                  <a:pt x="28799" y="119891"/>
                </a:lnTo>
                <a:lnTo>
                  <a:pt x="676499" y="119891"/>
                </a:lnTo>
                <a:lnTo>
                  <a:pt x="676499" y="69529"/>
                </a:lnTo>
                <a:lnTo>
                  <a:pt x="717229" y="69529"/>
                </a:lnTo>
                <a:lnTo>
                  <a:pt x="647699" y="0"/>
                </a:lnTo>
                <a:close/>
              </a:path>
              <a:path w="820420" h="344804">
                <a:moveTo>
                  <a:pt x="717229" y="69529"/>
                </a:moveTo>
                <a:lnTo>
                  <a:pt x="676499" y="69529"/>
                </a:lnTo>
                <a:lnTo>
                  <a:pt x="779211" y="172241"/>
                </a:lnTo>
                <a:lnTo>
                  <a:pt x="676499" y="274953"/>
                </a:lnTo>
                <a:lnTo>
                  <a:pt x="717229" y="274953"/>
                </a:lnTo>
                <a:lnTo>
                  <a:pt x="819941" y="172241"/>
                </a:lnTo>
                <a:lnTo>
                  <a:pt x="717229" y="69529"/>
                </a:lnTo>
                <a:close/>
              </a:path>
              <a:path w="820420" h="344804">
                <a:moveTo>
                  <a:pt x="686099" y="92706"/>
                </a:moveTo>
                <a:lnTo>
                  <a:pt x="686099" y="129491"/>
                </a:lnTo>
                <a:lnTo>
                  <a:pt x="38399" y="129491"/>
                </a:lnTo>
                <a:lnTo>
                  <a:pt x="38399" y="214991"/>
                </a:lnTo>
                <a:lnTo>
                  <a:pt x="686099" y="214991"/>
                </a:lnTo>
                <a:lnTo>
                  <a:pt x="686099" y="251776"/>
                </a:lnTo>
                <a:lnTo>
                  <a:pt x="709276" y="228600"/>
                </a:lnTo>
                <a:lnTo>
                  <a:pt x="695699" y="228600"/>
                </a:lnTo>
                <a:lnTo>
                  <a:pt x="695699" y="205391"/>
                </a:lnTo>
                <a:lnTo>
                  <a:pt x="47999" y="205391"/>
                </a:lnTo>
                <a:lnTo>
                  <a:pt x="47999" y="139091"/>
                </a:lnTo>
                <a:lnTo>
                  <a:pt x="695699" y="139091"/>
                </a:lnTo>
                <a:lnTo>
                  <a:pt x="695699" y="115882"/>
                </a:lnTo>
                <a:lnTo>
                  <a:pt x="709276" y="115882"/>
                </a:lnTo>
                <a:lnTo>
                  <a:pt x="686099" y="92706"/>
                </a:lnTo>
                <a:close/>
              </a:path>
              <a:path w="820420" h="344804">
                <a:moveTo>
                  <a:pt x="709276" y="115882"/>
                </a:moveTo>
                <a:lnTo>
                  <a:pt x="695699" y="115882"/>
                </a:lnTo>
                <a:lnTo>
                  <a:pt x="752058" y="172241"/>
                </a:lnTo>
                <a:lnTo>
                  <a:pt x="695699" y="228600"/>
                </a:lnTo>
                <a:lnTo>
                  <a:pt x="709276" y="228600"/>
                </a:lnTo>
                <a:lnTo>
                  <a:pt x="765634" y="172241"/>
                </a:lnTo>
                <a:lnTo>
                  <a:pt x="709276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91426" y="2764557"/>
            <a:ext cx="1447800" cy="942975"/>
          </a:xfrm>
          <a:custGeom>
            <a:avLst/>
            <a:gdLst/>
            <a:ahLst/>
            <a:cxnLst/>
            <a:rect l="l" t="t" r="r" b="b"/>
            <a:pathLst>
              <a:path w="1447800" h="942975">
                <a:moveTo>
                  <a:pt x="0" y="942587"/>
                </a:moveTo>
                <a:lnTo>
                  <a:pt x="1447800" y="942587"/>
                </a:lnTo>
                <a:lnTo>
                  <a:pt x="1447800" y="0"/>
                </a:lnTo>
                <a:lnTo>
                  <a:pt x="0" y="0"/>
                </a:lnTo>
                <a:lnTo>
                  <a:pt x="0" y="942587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191426" y="3940327"/>
            <a:ext cx="1447800" cy="882015"/>
          </a:xfrm>
          <a:custGeom>
            <a:avLst/>
            <a:gdLst/>
            <a:ahLst/>
            <a:cxnLst/>
            <a:rect l="l" t="t" r="r" b="b"/>
            <a:pathLst>
              <a:path w="1447800" h="882014">
                <a:moveTo>
                  <a:pt x="0" y="881628"/>
                </a:moveTo>
                <a:lnTo>
                  <a:pt x="1447800" y="881628"/>
                </a:lnTo>
                <a:lnTo>
                  <a:pt x="1447800" y="0"/>
                </a:lnTo>
                <a:lnTo>
                  <a:pt x="0" y="0"/>
                </a:lnTo>
                <a:lnTo>
                  <a:pt x="0" y="881628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67426" y="2740557"/>
            <a:ext cx="1496060" cy="2105660"/>
          </a:xfrm>
          <a:custGeom>
            <a:avLst/>
            <a:gdLst/>
            <a:ahLst/>
            <a:cxnLst/>
            <a:rect l="l" t="t" r="r" b="b"/>
            <a:pathLst>
              <a:path w="1496059" h="2105660">
                <a:moveTo>
                  <a:pt x="1471800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2081399"/>
                </a:lnTo>
                <a:lnTo>
                  <a:pt x="1886" y="2090741"/>
                </a:lnTo>
                <a:lnTo>
                  <a:pt x="7029" y="2098370"/>
                </a:lnTo>
                <a:lnTo>
                  <a:pt x="14658" y="2103513"/>
                </a:lnTo>
                <a:lnTo>
                  <a:pt x="24000" y="2105399"/>
                </a:lnTo>
                <a:lnTo>
                  <a:pt x="1471800" y="2105399"/>
                </a:lnTo>
                <a:lnTo>
                  <a:pt x="1481142" y="2103513"/>
                </a:lnTo>
                <a:lnTo>
                  <a:pt x="1488770" y="2098370"/>
                </a:lnTo>
                <a:lnTo>
                  <a:pt x="1493913" y="2090741"/>
                </a:lnTo>
                <a:lnTo>
                  <a:pt x="1495799" y="2081399"/>
                </a:lnTo>
                <a:lnTo>
                  <a:pt x="1495799" y="2076599"/>
                </a:lnTo>
                <a:lnTo>
                  <a:pt x="28799" y="2076599"/>
                </a:lnTo>
                <a:lnTo>
                  <a:pt x="28799" y="28799"/>
                </a:lnTo>
                <a:lnTo>
                  <a:pt x="1495799" y="28799"/>
                </a:lnTo>
                <a:lnTo>
                  <a:pt x="1495799" y="24000"/>
                </a:lnTo>
                <a:lnTo>
                  <a:pt x="1493913" y="14658"/>
                </a:lnTo>
                <a:lnTo>
                  <a:pt x="1488770" y="7029"/>
                </a:lnTo>
                <a:lnTo>
                  <a:pt x="1481142" y="1886"/>
                </a:lnTo>
                <a:lnTo>
                  <a:pt x="1471800" y="0"/>
                </a:lnTo>
                <a:close/>
              </a:path>
              <a:path w="1496059" h="2105660">
                <a:moveTo>
                  <a:pt x="1495799" y="28799"/>
                </a:moveTo>
                <a:lnTo>
                  <a:pt x="1466999" y="28799"/>
                </a:lnTo>
                <a:lnTo>
                  <a:pt x="1466999" y="2076599"/>
                </a:lnTo>
                <a:lnTo>
                  <a:pt x="1495799" y="2076599"/>
                </a:lnTo>
                <a:lnTo>
                  <a:pt x="1495799" y="28799"/>
                </a:lnTo>
                <a:close/>
              </a:path>
              <a:path w="1496059" h="2105660">
                <a:moveTo>
                  <a:pt x="1457399" y="38399"/>
                </a:moveTo>
                <a:lnTo>
                  <a:pt x="38399" y="38399"/>
                </a:lnTo>
                <a:lnTo>
                  <a:pt x="38399" y="2066999"/>
                </a:lnTo>
                <a:lnTo>
                  <a:pt x="1457399" y="2066999"/>
                </a:lnTo>
                <a:lnTo>
                  <a:pt x="1457399" y="2057400"/>
                </a:lnTo>
                <a:lnTo>
                  <a:pt x="47999" y="2057400"/>
                </a:lnTo>
                <a:lnTo>
                  <a:pt x="47999" y="47999"/>
                </a:lnTo>
                <a:lnTo>
                  <a:pt x="1457399" y="47999"/>
                </a:lnTo>
                <a:lnTo>
                  <a:pt x="1457399" y="38399"/>
                </a:lnTo>
                <a:close/>
              </a:path>
              <a:path w="1496059" h="2105660">
                <a:moveTo>
                  <a:pt x="1457399" y="47999"/>
                </a:moveTo>
                <a:lnTo>
                  <a:pt x="1447800" y="47999"/>
                </a:lnTo>
                <a:lnTo>
                  <a:pt x="1447800" y="2057400"/>
                </a:lnTo>
                <a:lnTo>
                  <a:pt x="1457399" y="2057400"/>
                </a:lnTo>
                <a:lnTo>
                  <a:pt x="1457399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91426" y="3707145"/>
            <a:ext cx="1447800" cy="233679"/>
          </a:xfrm>
          <a:custGeom>
            <a:avLst/>
            <a:gdLst/>
            <a:ahLst/>
            <a:cxnLst/>
            <a:rect l="l" t="t" r="r" b="b"/>
            <a:pathLst>
              <a:path w="1447800" h="233679">
                <a:moveTo>
                  <a:pt x="1447800" y="0"/>
                </a:moveTo>
                <a:lnTo>
                  <a:pt x="1447800" y="233182"/>
                </a:lnTo>
                <a:lnTo>
                  <a:pt x="0" y="233182"/>
                </a:lnTo>
                <a:lnTo>
                  <a:pt x="0" y="0"/>
                </a:lnTo>
                <a:lnTo>
                  <a:pt x="144780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67426" y="3683144"/>
            <a:ext cx="1496060" cy="281305"/>
          </a:xfrm>
          <a:custGeom>
            <a:avLst/>
            <a:gdLst/>
            <a:ahLst/>
            <a:cxnLst/>
            <a:rect l="l" t="t" r="r" b="b"/>
            <a:pathLst>
              <a:path w="1496059" h="281304">
                <a:moveTo>
                  <a:pt x="216000" y="0"/>
                </a:moveTo>
                <a:lnTo>
                  <a:pt x="24000" y="0"/>
                </a:lnTo>
                <a:lnTo>
                  <a:pt x="24000" y="28799"/>
                </a:lnTo>
                <a:lnTo>
                  <a:pt x="216000" y="28799"/>
                </a:lnTo>
                <a:lnTo>
                  <a:pt x="216000" y="25963"/>
                </a:lnTo>
                <a:lnTo>
                  <a:pt x="28799" y="25963"/>
                </a:lnTo>
                <a:lnTo>
                  <a:pt x="28799" y="24000"/>
                </a:lnTo>
                <a:lnTo>
                  <a:pt x="216000" y="24000"/>
                </a:lnTo>
                <a:lnTo>
                  <a:pt x="216000" y="0"/>
                </a:lnTo>
                <a:close/>
              </a:path>
              <a:path w="1496059" h="281304">
                <a:moveTo>
                  <a:pt x="24000" y="24000"/>
                </a:moveTo>
                <a:lnTo>
                  <a:pt x="0" y="24000"/>
                </a:lnTo>
                <a:lnTo>
                  <a:pt x="0" y="25963"/>
                </a:lnTo>
                <a:lnTo>
                  <a:pt x="24000" y="25963"/>
                </a:lnTo>
                <a:lnTo>
                  <a:pt x="24000" y="24000"/>
                </a:lnTo>
                <a:close/>
              </a:path>
              <a:path w="1496059" h="281304">
                <a:moveTo>
                  <a:pt x="38399" y="24000"/>
                </a:moveTo>
                <a:lnTo>
                  <a:pt x="28799" y="24000"/>
                </a:lnTo>
                <a:lnTo>
                  <a:pt x="28799" y="25963"/>
                </a:lnTo>
                <a:lnTo>
                  <a:pt x="38399" y="25963"/>
                </a:lnTo>
                <a:lnTo>
                  <a:pt x="38399" y="24000"/>
                </a:lnTo>
                <a:close/>
              </a:path>
              <a:path w="1496059" h="281304">
                <a:moveTo>
                  <a:pt x="47999" y="24000"/>
                </a:moveTo>
                <a:lnTo>
                  <a:pt x="38399" y="24000"/>
                </a:lnTo>
                <a:lnTo>
                  <a:pt x="38399" y="25963"/>
                </a:lnTo>
                <a:lnTo>
                  <a:pt x="47999" y="25963"/>
                </a:lnTo>
                <a:lnTo>
                  <a:pt x="47999" y="24000"/>
                </a:lnTo>
                <a:close/>
              </a:path>
              <a:path w="1496059" h="281304">
                <a:moveTo>
                  <a:pt x="216000" y="24000"/>
                </a:moveTo>
                <a:lnTo>
                  <a:pt x="47999" y="24000"/>
                </a:lnTo>
                <a:lnTo>
                  <a:pt x="47999" y="25963"/>
                </a:lnTo>
                <a:lnTo>
                  <a:pt x="216000" y="25963"/>
                </a:lnTo>
                <a:lnTo>
                  <a:pt x="216000" y="24000"/>
                </a:lnTo>
                <a:close/>
              </a:path>
              <a:path w="1496059" h="281304">
                <a:moveTo>
                  <a:pt x="216000" y="38399"/>
                </a:moveTo>
                <a:lnTo>
                  <a:pt x="24000" y="38399"/>
                </a:lnTo>
                <a:lnTo>
                  <a:pt x="24000" y="47999"/>
                </a:lnTo>
                <a:lnTo>
                  <a:pt x="216000" y="47999"/>
                </a:lnTo>
                <a:lnTo>
                  <a:pt x="216000" y="38399"/>
                </a:lnTo>
                <a:close/>
              </a:path>
              <a:path w="1496059" h="281304">
                <a:moveTo>
                  <a:pt x="552000" y="0"/>
                </a:moveTo>
                <a:lnTo>
                  <a:pt x="360000" y="0"/>
                </a:lnTo>
                <a:lnTo>
                  <a:pt x="360000" y="28799"/>
                </a:lnTo>
                <a:lnTo>
                  <a:pt x="552000" y="28799"/>
                </a:lnTo>
                <a:lnTo>
                  <a:pt x="552000" y="0"/>
                </a:lnTo>
                <a:close/>
              </a:path>
              <a:path w="1496059" h="281304">
                <a:moveTo>
                  <a:pt x="552000" y="38399"/>
                </a:moveTo>
                <a:lnTo>
                  <a:pt x="360000" y="38399"/>
                </a:lnTo>
                <a:lnTo>
                  <a:pt x="360000" y="47999"/>
                </a:lnTo>
                <a:lnTo>
                  <a:pt x="552000" y="47999"/>
                </a:lnTo>
                <a:lnTo>
                  <a:pt x="552000" y="38399"/>
                </a:lnTo>
                <a:close/>
              </a:path>
              <a:path w="1496059" h="281304">
                <a:moveTo>
                  <a:pt x="888000" y="0"/>
                </a:moveTo>
                <a:lnTo>
                  <a:pt x="696000" y="0"/>
                </a:lnTo>
                <a:lnTo>
                  <a:pt x="696000" y="28799"/>
                </a:lnTo>
                <a:lnTo>
                  <a:pt x="888000" y="28799"/>
                </a:lnTo>
                <a:lnTo>
                  <a:pt x="888000" y="0"/>
                </a:lnTo>
                <a:close/>
              </a:path>
              <a:path w="1496059" h="281304">
                <a:moveTo>
                  <a:pt x="888000" y="38399"/>
                </a:moveTo>
                <a:lnTo>
                  <a:pt x="696000" y="38399"/>
                </a:lnTo>
                <a:lnTo>
                  <a:pt x="696000" y="47999"/>
                </a:lnTo>
                <a:lnTo>
                  <a:pt x="888000" y="47999"/>
                </a:lnTo>
                <a:lnTo>
                  <a:pt x="888000" y="38399"/>
                </a:lnTo>
                <a:close/>
              </a:path>
              <a:path w="1496059" h="281304">
                <a:moveTo>
                  <a:pt x="1224000" y="0"/>
                </a:moveTo>
                <a:lnTo>
                  <a:pt x="1032000" y="0"/>
                </a:lnTo>
                <a:lnTo>
                  <a:pt x="1032000" y="28799"/>
                </a:lnTo>
                <a:lnTo>
                  <a:pt x="1224000" y="28799"/>
                </a:lnTo>
                <a:lnTo>
                  <a:pt x="1224000" y="0"/>
                </a:lnTo>
                <a:close/>
              </a:path>
              <a:path w="1496059" h="281304">
                <a:moveTo>
                  <a:pt x="1224000" y="38399"/>
                </a:moveTo>
                <a:lnTo>
                  <a:pt x="1032000" y="38399"/>
                </a:lnTo>
                <a:lnTo>
                  <a:pt x="1032000" y="47999"/>
                </a:lnTo>
                <a:lnTo>
                  <a:pt x="1224000" y="47999"/>
                </a:lnTo>
                <a:lnTo>
                  <a:pt x="1224000" y="38399"/>
                </a:lnTo>
                <a:close/>
              </a:path>
              <a:path w="1496059" h="281304">
                <a:moveTo>
                  <a:pt x="1457399" y="38399"/>
                </a:moveTo>
                <a:lnTo>
                  <a:pt x="1367999" y="38399"/>
                </a:lnTo>
                <a:lnTo>
                  <a:pt x="1367999" y="47999"/>
                </a:lnTo>
                <a:lnTo>
                  <a:pt x="1447800" y="47999"/>
                </a:lnTo>
                <a:lnTo>
                  <a:pt x="1447800" y="112199"/>
                </a:lnTo>
                <a:lnTo>
                  <a:pt x="1457399" y="112199"/>
                </a:lnTo>
                <a:lnTo>
                  <a:pt x="1457399" y="38399"/>
                </a:lnTo>
                <a:close/>
              </a:path>
              <a:path w="1496059" h="281304">
                <a:moveTo>
                  <a:pt x="1471800" y="0"/>
                </a:moveTo>
                <a:lnTo>
                  <a:pt x="1367999" y="0"/>
                </a:lnTo>
                <a:lnTo>
                  <a:pt x="1367999" y="28799"/>
                </a:lnTo>
                <a:lnTo>
                  <a:pt x="1466999" y="28799"/>
                </a:lnTo>
                <a:lnTo>
                  <a:pt x="1466999" y="112199"/>
                </a:lnTo>
                <a:lnTo>
                  <a:pt x="1495799" y="112199"/>
                </a:lnTo>
                <a:lnTo>
                  <a:pt x="1495799" y="24000"/>
                </a:lnTo>
                <a:lnTo>
                  <a:pt x="1493913" y="14658"/>
                </a:lnTo>
                <a:lnTo>
                  <a:pt x="1488770" y="7029"/>
                </a:lnTo>
                <a:lnTo>
                  <a:pt x="1481142" y="1886"/>
                </a:lnTo>
                <a:lnTo>
                  <a:pt x="1471800" y="0"/>
                </a:lnTo>
                <a:close/>
              </a:path>
              <a:path w="1496059" h="281304">
                <a:moveTo>
                  <a:pt x="1466999" y="252382"/>
                </a:moveTo>
                <a:lnTo>
                  <a:pt x="1280782" y="252382"/>
                </a:lnTo>
                <a:lnTo>
                  <a:pt x="1280782" y="281181"/>
                </a:lnTo>
                <a:lnTo>
                  <a:pt x="1471800" y="281181"/>
                </a:lnTo>
                <a:lnTo>
                  <a:pt x="1481142" y="279295"/>
                </a:lnTo>
                <a:lnTo>
                  <a:pt x="1488770" y="274152"/>
                </a:lnTo>
                <a:lnTo>
                  <a:pt x="1493913" y="266523"/>
                </a:lnTo>
                <a:lnTo>
                  <a:pt x="1495799" y="257182"/>
                </a:lnTo>
                <a:lnTo>
                  <a:pt x="1495799" y="256199"/>
                </a:lnTo>
                <a:lnTo>
                  <a:pt x="1466999" y="252382"/>
                </a:lnTo>
                <a:close/>
              </a:path>
              <a:path w="1496059" h="281304">
                <a:moveTo>
                  <a:pt x="1447800" y="233182"/>
                </a:moveTo>
                <a:lnTo>
                  <a:pt x="1280782" y="233182"/>
                </a:lnTo>
                <a:lnTo>
                  <a:pt x="1280782" y="242782"/>
                </a:lnTo>
                <a:lnTo>
                  <a:pt x="1457399" y="242782"/>
                </a:lnTo>
                <a:lnTo>
                  <a:pt x="1447800" y="233182"/>
                </a:lnTo>
                <a:close/>
              </a:path>
              <a:path w="1496059" h="281304">
                <a:moveTo>
                  <a:pt x="1136782" y="252382"/>
                </a:moveTo>
                <a:lnTo>
                  <a:pt x="944782" y="252382"/>
                </a:lnTo>
                <a:lnTo>
                  <a:pt x="944782" y="281181"/>
                </a:lnTo>
                <a:lnTo>
                  <a:pt x="1136782" y="281181"/>
                </a:lnTo>
                <a:lnTo>
                  <a:pt x="1136782" y="252382"/>
                </a:lnTo>
                <a:close/>
              </a:path>
              <a:path w="1496059" h="281304">
                <a:moveTo>
                  <a:pt x="1136782" y="233182"/>
                </a:moveTo>
                <a:lnTo>
                  <a:pt x="944782" y="233182"/>
                </a:lnTo>
                <a:lnTo>
                  <a:pt x="944782" y="242782"/>
                </a:lnTo>
                <a:lnTo>
                  <a:pt x="1136782" y="242782"/>
                </a:lnTo>
                <a:lnTo>
                  <a:pt x="1136782" y="233182"/>
                </a:lnTo>
                <a:close/>
              </a:path>
              <a:path w="1496059" h="281304">
                <a:moveTo>
                  <a:pt x="800781" y="252382"/>
                </a:moveTo>
                <a:lnTo>
                  <a:pt x="608782" y="252382"/>
                </a:lnTo>
                <a:lnTo>
                  <a:pt x="608782" y="281181"/>
                </a:lnTo>
                <a:lnTo>
                  <a:pt x="800781" y="281181"/>
                </a:lnTo>
                <a:lnTo>
                  <a:pt x="800781" y="252382"/>
                </a:lnTo>
                <a:close/>
              </a:path>
              <a:path w="1496059" h="281304">
                <a:moveTo>
                  <a:pt x="800781" y="233182"/>
                </a:moveTo>
                <a:lnTo>
                  <a:pt x="608782" y="233182"/>
                </a:lnTo>
                <a:lnTo>
                  <a:pt x="608782" y="242782"/>
                </a:lnTo>
                <a:lnTo>
                  <a:pt x="800781" y="242782"/>
                </a:lnTo>
                <a:lnTo>
                  <a:pt x="800781" y="233182"/>
                </a:lnTo>
                <a:close/>
              </a:path>
              <a:path w="1496059" h="281304">
                <a:moveTo>
                  <a:pt x="464781" y="252382"/>
                </a:moveTo>
                <a:lnTo>
                  <a:pt x="272782" y="252382"/>
                </a:lnTo>
                <a:lnTo>
                  <a:pt x="272782" y="281181"/>
                </a:lnTo>
                <a:lnTo>
                  <a:pt x="464781" y="281181"/>
                </a:lnTo>
                <a:lnTo>
                  <a:pt x="464781" y="252382"/>
                </a:lnTo>
                <a:close/>
              </a:path>
              <a:path w="1496059" h="281304">
                <a:moveTo>
                  <a:pt x="464781" y="233182"/>
                </a:moveTo>
                <a:lnTo>
                  <a:pt x="272782" y="233182"/>
                </a:lnTo>
                <a:lnTo>
                  <a:pt x="272782" y="242782"/>
                </a:lnTo>
                <a:lnTo>
                  <a:pt x="464781" y="242782"/>
                </a:lnTo>
                <a:lnTo>
                  <a:pt x="464781" y="233182"/>
                </a:lnTo>
                <a:close/>
              </a:path>
              <a:path w="1496059" h="281304">
                <a:moveTo>
                  <a:pt x="28799" y="169964"/>
                </a:moveTo>
                <a:lnTo>
                  <a:pt x="0" y="169964"/>
                </a:lnTo>
                <a:lnTo>
                  <a:pt x="0" y="257182"/>
                </a:lnTo>
                <a:lnTo>
                  <a:pt x="1886" y="266523"/>
                </a:lnTo>
                <a:lnTo>
                  <a:pt x="7029" y="274152"/>
                </a:lnTo>
                <a:lnTo>
                  <a:pt x="14658" y="279295"/>
                </a:lnTo>
                <a:lnTo>
                  <a:pt x="24000" y="281181"/>
                </a:lnTo>
                <a:lnTo>
                  <a:pt x="128781" y="281181"/>
                </a:lnTo>
                <a:lnTo>
                  <a:pt x="128781" y="252382"/>
                </a:lnTo>
                <a:lnTo>
                  <a:pt x="28799" y="252382"/>
                </a:lnTo>
                <a:lnTo>
                  <a:pt x="28799" y="169964"/>
                </a:lnTo>
                <a:close/>
              </a:path>
              <a:path w="1496059" h="281304">
                <a:moveTo>
                  <a:pt x="47999" y="169964"/>
                </a:moveTo>
                <a:lnTo>
                  <a:pt x="38399" y="169964"/>
                </a:lnTo>
                <a:lnTo>
                  <a:pt x="38399" y="242782"/>
                </a:lnTo>
                <a:lnTo>
                  <a:pt x="128781" y="242782"/>
                </a:lnTo>
                <a:lnTo>
                  <a:pt x="128781" y="233182"/>
                </a:lnTo>
                <a:lnTo>
                  <a:pt x="47999" y="233182"/>
                </a:lnTo>
                <a:lnTo>
                  <a:pt x="47999" y="169964"/>
                </a:lnTo>
                <a:close/>
              </a:path>
            </a:pathLst>
          </a:custGeom>
          <a:solidFill>
            <a:srgbClr val="9132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203353" y="2428748"/>
            <a:ext cx="3519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Matrix of hidden embeddings</a:t>
            </a:r>
            <a:r>
              <a:rPr dirty="0" sz="1800" spc="-55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D60093"/>
                </a:solidFill>
                <a:latin typeface="Cambria Math"/>
                <a:cs typeface="Cambria Math"/>
              </a:rPr>
              <a:t>𝐻</a:t>
            </a:r>
            <a:r>
              <a:rPr dirty="0" baseline="27777" sz="1950" spc="52">
                <a:solidFill>
                  <a:srgbClr val="D60093"/>
                </a:solidFill>
                <a:latin typeface="Cambria Math"/>
                <a:cs typeface="Cambria Math"/>
              </a:rPr>
              <a:t>%&amp;!</a:t>
            </a:r>
            <a:endParaRPr baseline="27777" sz="19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15466" y="4394708"/>
            <a:ext cx="227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𝒉</a:t>
            </a:r>
            <a:r>
              <a:rPr dirty="0" baseline="-19230" sz="1950" spc="209">
                <a:latin typeface="Cambria Math"/>
                <a:cs typeface="Cambria Math"/>
              </a:rPr>
              <a:t>'</a:t>
            </a:r>
            <a:endParaRPr baseline="-19230" sz="19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59929" y="4363720"/>
            <a:ext cx="3486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325">
                <a:latin typeface="Cambria Math"/>
                <a:cs typeface="Cambria Math"/>
              </a:rPr>
              <a:t>%</a:t>
            </a:r>
            <a:r>
              <a:rPr dirty="0" sz="1300" spc="50">
                <a:latin typeface="Cambria Math"/>
                <a:cs typeface="Cambria Math"/>
              </a:rPr>
              <a:t>&amp;</a:t>
            </a:r>
            <a:r>
              <a:rPr dirty="0" sz="1300" spc="375">
                <a:latin typeface="Cambria Math"/>
                <a:cs typeface="Cambria Math"/>
              </a:rPr>
              <a:t>!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915325" y="3978044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152049" y="47831"/>
                </a:moveTo>
                <a:lnTo>
                  <a:pt x="134936" y="95660"/>
                </a:lnTo>
                <a:lnTo>
                  <a:pt x="1061038" y="427012"/>
                </a:lnTo>
                <a:lnTo>
                  <a:pt x="1071019" y="428463"/>
                </a:lnTo>
                <a:lnTo>
                  <a:pt x="1080454" y="426058"/>
                </a:lnTo>
                <a:lnTo>
                  <a:pt x="1088299" y="420290"/>
                </a:lnTo>
                <a:lnTo>
                  <a:pt x="1093509" y="411653"/>
                </a:lnTo>
                <a:lnTo>
                  <a:pt x="1094960" y="401672"/>
                </a:lnTo>
                <a:lnTo>
                  <a:pt x="1092555" y="392236"/>
                </a:lnTo>
                <a:lnTo>
                  <a:pt x="1086787" y="384391"/>
                </a:lnTo>
                <a:lnTo>
                  <a:pt x="1078151" y="379181"/>
                </a:lnTo>
                <a:lnTo>
                  <a:pt x="152049" y="47831"/>
                </a:lnTo>
                <a:close/>
              </a:path>
              <a:path w="1095375" h="428625">
                <a:moveTo>
                  <a:pt x="169162" y="0"/>
                </a:moveTo>
                <a:lnTo>
                  <a:pt x="0" y="20406"/>
                </a:lnTo>
                <a:lnTo>
                  <a:pt x="117822" y="143492"/>
                </a:lnTo>
                <a:lnTo>
                  <a:pt x="134936" y="95660"/>
                </a:lnTo>
                <a:lnTo>
                  <a:pt x="111020" y="87104"/>
                </a:lnTo>
                <a:lnTo>
                  <a:pt x="102384" y="81894"/>
                </a:lnTo>
                <a:lnTo>
                  <a:pt x="96616" y="74049"/>
                </a:lnTo>
                <a:lnTo>
                  <a:pt x="94210" y="64614"/>
                </a:lnTo>
                <a:lnTo>
                  <a:pt x="95661" y="54632"/>
                </a:lnTo>
                <a:lnTo>
                  <a:pt x="100871" y="45996"/>
                </a:lnTo>
                <a:lnTo>
                  <a:pt x="108716" y="40228"/>
                </a:lnTo>
                <a:lnTo>
                  <a:pt x="118152" y="37822"/>
                </a:lnTo>
                <a:lnTo>
                  <a:pt x="155630" y="37822"/>
                </a:lnTo>
                <a:lnTo>
                  <a:pt x="169162" y="0"/>
                </a:lnTo>
                <a:close/>
              </a:path>
              <a:path w="1095375" h="428625">
                <a:moveTo>
                  <a:pt x="118152" y="37822"/>
                </a:moveTo>
                <a:lnTo>
                  <a:pt x="108716" y="40228"/>
                </a:lnTo>
                <a:lnTo>
                  <a:pt x="100871" y="45996"/>
                </a:lnTo>
                <a:lnTo>
                  <a:pt x="95661" y="54632"/>
                </a:lnTo>
                <a:lnTo>
                  <a:pt x="94210" y="64614"/>
                </a:lnTo>
                <a:lnTo>
                  <a:pt x="96616" y="74049"/>
                </a:lnTo>
                <a:lnTo>
                  <a:pt x="102384" y="81894"/>
                </a:lnTo>
                <a:lnTo>
                  <a:pt x="111020" y="87104"/>
                </a:lnTo>
                <a:lnTo>
                  <a:pt x="134936" y="95660"/>
                </a:lnTo>
                <a:lnTo>
                  <a:pt x="152049" y="47831"/>
                </a:lnTo>
                <a:lnTo>
                  <a:pt x="128134" y="39274"/>
                </a:lnTo>
                <a:lnTo>
                  <a:pt x="118152" y="37822"/>
                </a:lnTo>
                <a:close/>
              </a:path>
              <a:path w="1095375" h="428625">
                <a:moveTo>
                  <a:pt x="155630" y="37822"/>
                </a:moveTo>
                <a:lnTo>
                  <a:pt x="118152" y="37822"/>
                </a:lnTo>
                <a:lnTo>
                  <a:pt x="128134" y="39274"/>
                </a:lnTo>
                <a:lnTo>
                  <a:pt x="152049" y="47831"/>
                </a:lnTo>
                <a:lnTo>
                  <a:pt x="155630" y="37822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662754" y="2590292"/>
            <a:ext cx="1113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7085" algn="l"/>
              </a:tabLst>
            </a:pPr>
            <a:r>
              <a:rPr dirty="0" baseline="1543" sz="2700" spc="52">
                <a:latin typeface="Cambria Math"/>
                <a:cs typeface="Cambria Math"/>
              </a:rPr>
              <a:t>2</a:t>
            </a:r>
            <a:r>
              <a:rPr dirty="0" baseline="1543" sz="2700" spc="52">
                <a:latin typeface="Cambria Math"/>
                <a:cs typeface="Cambria Math"/>
              </a:rPr>
              <a:t>	</a:t>
            </a:r>
            <a:r>
              <a:rPr dirty="0" sz="1800" spc="-20">
                <a:latin typeface="Cambria Math"/>
                <a:cs typeface="Cambria Math"/>
              </a:rPr>
              <a:t>|</a:t>
            </a:r>
            <a:r>
              <a:rPr dirty="0" sz="1800" spc="185">
                <a:latin typeface="Cambria Math"/>
                <a:cs typeface="Cambria Math"/>
              </a:rPr>
              <a:t>4</a:t>
            </a:r>
            <a:r>
              <a:rPr dirty="0" sz="1800">
                <a:latin typeface="Cambria Math"/>
                <a:cs typeface="Cambria Math"/>
              </a:rPr>
              <a:t>|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8149" y="2413507"/>
            <a:ext cx="31032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8165" algn="l"/>
              </a:tabLst>
            </a:pPr>
            <a:r>
              <a:rPr dirty="0" baseline="16203" sz="3600" spc="-7">
                <a:latin typeface="Calibri"/>
                <a:cs typeface="Calibri"/>
              </a:rPr>
              <a:t>Let	</a:t>
            </a:r>
            <a:r>
              <a:rPr dirty="0" sz="2400" spc="25">
                <a:latin typeface="Cambria Math"/>
                <a:cs typeface="Cambria Math"/>
              </a:rPr>
              <a:t>𝐻</a:t>
            </a:r>
            <a:r>
              <a:rPr dirty="0" baseline="27777" sz="2700" spc="37">
                <a:latin typeface="Cambria Math"/>
                <a:cs typeface="Cambria Math"/>
              </a:rPr>
              <a:t>(-)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10">
                <a:latin typeface="Cambria Math"/>
                <a:cs typeface="Cambria Math"/>
              </a:rPr>
              <a:t>[ℎ</a:t>
            </a:r>
            <a:r>
              <a:rPr dirty="0" baseline="40123" sz="2700" spc="15">
                <a:latin typeface="Cambria Math"/>
                <a:cs typeface="Cambria Math"/>
              </a:rPr>
              <a:t>(-)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15">
                <a:latin typeface="Cambria Math"/>
                <a:cs typeface="Cambria Math"/>
              </a:rPr>
              <a:t> </a:t>
            </a:r>
            <a:r>
              <a:rPr dirty="0" sz="2400" spc="60">
                <a:latin typeface="Cambria Math"/>
                <a:cs typeface="Cambria Math"/>
              </a:rPr>
              <a:t>ℎ</a:t>
            </a:r>
            <a:r>
              <a:rPr dirty="0" baseline="40123" sz="2700" spc="89">
                <a:latin typeface="Cambria Math"/>
                <a:cs typeface="Cambria Math"/>
              </a:rPr>
              <a:t>(-)</a:t>
            </a:r>
            <a:r>
              <a:rPr dirty="0" sz="2400" spc="60">
                <a:latin typeface="Cambria Math"/>
                <a:cs typeface="Cambria Math"/>
              </a:rPr>
              <a:t>]</a:t>
            </a:r>
            <a:r>
              <a:rPr dirty="0" baseline="27777" sz="2700" spc="89">
                <a:latin typeface="Cambria Math"/>
                <a:cs typeface="Cambria Math"/>
              </a:rPr>
              <a:t>5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36709" y="5297932"/>
            <a:ext cx="28524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4200" spc="225">
                <a:latin typeface="Cambria Math"/>
                <a:cs typeface="Cambria Math"/>
              </a:rPr>
              <a:t>𝐻</a:t>
            </a:r>
            <a:r>
              <a:rPr dirty="0" sz="2000" spc="150">
                <a:latin typeface="Cambria Math"/>
                <a:cs typeface="Cambria Math"/>
              </a:rPr>
              <a:t>(89.) </a:t>
            </a:r>
            <a:r>
              <a:rPr dirty="0" baseline="-20833" sz="4200">
                <a:latin typeface="Cambria Math"/>
                <a:cs typeface="Cambria Math"/>
              </a:rPr>
              <a:t>=</a:t>
            </a:r>
            <a:r>
              <a:rPr dirty="0" baseline="-20833" sz="4200" spc="247">
                <a:latin typeface="Cambria Math"/>
                <a:cs typeface="Cambria Math"/>
              </a:rPr>
              <a:t> </a:t>
            </a:r>
            <a:r>
              <a:rPr dirty="0" baseline="-20833" sz="4200" spc="195">
                <a:latin typeface="Cambria Math"/>
                <a:cs typeface="Cambria Math"/>
              </a:rPr>
              <a:t>𝐷</a:t>
            </a:r>
            <a:r>
              <a:rPr dirty="0" sz="2000" spc="130">
                <a:latin typeface="Cambria Math"/>
                <a:cs typeface="Cambria Math"/>
              </a:rPr>
              <a:t>0.</a:t>
            </a:r>
            <a:r>
              <a:rPr dirty="0" baseline="-20833" sz="4200" spc="195">
                <a:latin typeface="Cambria Math"/>
                <a:cs typeface="Cambria Math"/>
              </a:rPr>
              <a:t>𝐴𝐻</a:t>
            </a:r>
            <a:r>
              <a:rPr dirty="0" sz="2000" spc="130">
                <a:latin typeface="Cambria Math"/>
                <a:cs typeface="Cambria Math"/>
              </a:rPr>
              <a:t>(8)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07580" y="5226264"/>
            <a:ext cx="1538605" cy="95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65835">
              <a:lnSpc>
                <a:spcPts val="1170"/>
              </a:lnSpc>
            </a:pPr>
            <a:r>
              <a:rPr dirty="0" sz="1600" spc="0">
                <a:latin typeface="Cambria Math"/>
                <a:cs typeface="Cambria Math"/>
              </a:rPr>
              <a:t>(345)</a:t>
            </a:r>
            <a:endParaRPr sz="1600">
              <a:latin typeface="Cambria Math"/>
              <a:cs typeface="Cambria Math"/>
            </a:endParaRPr>
          </a:p>
          <a:p>
            <a:pPr marL="169545">
              <a:lnSpc>
                <a:spcPts val="1970"/>
              </a:lnSpc>
              <a:tabLst>
                <a:tab pos="805815" algn="l"/>
              </a:tabLst>
            </a:pPr>
            <a:r>
              <a:rPr dirty="0" baseline="-42929" sz="3300" spc="3495">
                <a:latin typeface="Cambria Math"/>
                <a:cs typeface="Cambria Math"/>
              </a:rPr>
              <a:t>;	</a:t>
            </a:r>
            <a:r>
              <a:rPr dirty="0" sz="2200" spc="75">
                <a:latin typeface="Cambria Math"/>
                <a:cs typeface="Cambria Math"/>
              </a:rPr>
              <a:t>ℎ</a:t>
            </a:r>
            <a:r>
              <a:rPr dirty="0" baseline="-20833" sz="2400" spc="112">
                <a:latin typeface="Cambria Math"/>
                <a:cs typeface="Cambria Math"/>
              </a:rPr>
              <a:t>0</a:t>
            </a:r>
            <a:endParaRPr baseline="-20833" sz="2400">
              <a:latin typeface="Cambria Math"/>
              <a:cs typeface="Cambria Math"/>
            </a:endParaRPr>
          </a:p>
          <a:p>
            <a:pPr marL="756920">
              <a:lnSpc>
                <a:spcPts val="2290"/>
              </a:lnSpc>
              <a:spcBef>
                <a:spcPts val="500"/>
              </a:spcBef>
            </a:pPr>
            <a:r>
              <a:rPr dirty="0" sz="2200">
                <a:latin typeface="Cambria Math"/>
                <a:cs typeface="Cambria Math"/>
              </a:rPr>
              <a:t>|</a:t>
            </a:r>
            <a:r>
              <a:rPr dirty="0" sz="2200" spc="50">
                <a:latin typeface="Cambria Math"/>
                <a:cs typeface="Cambria Math"/>
              </a:rPr>
              <a:t>𝑁</a:t>
            </a:r>
            <a:r>
              <a:rPr dirty="0" sz="2200" spc="-5">
                <a:latin typeface="Cambria Math"/>
                <a:cs typeface="Cambria Math"/>
              </a:rPr>
              <a:t>(</a:t>
            </a:r>
            <a:r>
              <a:rPr dirty="0" sz="2200" spc="60">
                <a:latin typeface="Cambria Math"/>
                <a:cs typeface="Cambria Math"/>
              </a:rPr>
              <a:t>𝑣</a:t>
            </a:r>
            <a:r>
              <a:rPr dirty="0" sz="2200" spc="-5">
                <a:latin typeface="Cambria Math"/>
                <a:cs typeface="Cambria Math"/>
              </a:rPr>
              <a:t>)</a:t>
            </a:r>
            <a:r>
              <a:rPr dirty="0" sz="2200">
                <a:latin typeface="Cambria Math"/>
                <a:cs typeface="Cambria Math"/>
              </a:rPr>
              <a:t>|</a:t>
            </a:r>
            <a:endParaRPr sz="2200">
              <a:latin typeface="Cambria Math"/>
              <a:cs typeface="Cambria Math"/>
            </a:endParaRPr>
          </a:p>
          <a:p>
            <a:pPr>
              <a:lnSpc>
                <a:spcPts val="1570"/>
              </a:lnSpc>
            </a:pPr>
            <a:r>
              <a:rPr dirty="0" sz="1600" spc="90">
                <a:latin typeface="Cambria Math"/>
                <a:cs typeface="Cambria Math"/>
              </a:rPr>
              <a:t>0∈1(2)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72083" y="5235357"/>
            <a:ext cx="1610360" cy="987425"/>
          </a:xfrm>
          <a:custGeom>
            <a:avLst/>
            <a:gdLst/>
            <a:ahLst/>
            <a:cxnLst/>
            <a:rect l="l" t="t" r="r" b="b"/>
            <a:pathLst>
              <a:path w="1610360" h="987425">
                <a:moveTo>
                  <a:pt x="0" y="0"/>
                </a:moveTo>
                <a:lnTo>
                  <a:pt x="1609800" y="0"/>
                </a:lnTo>
                <a:lnTo>
                  <a:pt x="1609800" y="987218"/>
                </a:lnTo>
                <a:lnTo>
                  <a:pt x="0" y="987218"/>
                </a:lnTo>
                <a:lnTo>
                  <a:pt x="0" y="0"/>
                </a:lnTo>
                <a:close/>
              </a:path>
            </a:pathLst>
          </a:custGeom>
          <a:solidFill>
            <a:srgbClr val="0070C0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53033" y="5216307"/>
            <a:ext cx="1648460" cy="1025525"/>
          </a:xfrm>
          <a:custGeom>
            <a:avLst/>
            <a:gdLst/>
            <a:ahLst/>
            <a:cxnLst/>
            <a:rect l="l" t="t" r="r" b="b"/>
            <a:pathLst>
              <a:path w="1648460" h="1025525">
                <a:moveTo>
                  <a:pt x="1628850" y="0"/>
                </a:moveTo>
                <a:lnTo>
                  <a:pt x="19050" y="0"/>
                </a:lnTo>
                <a:lnTo>
                  <a:pt x="11634" y="1497"/>
                </a:lnTo>
                <a:lnTo>
                  <a:pt x="5579" y="5579"/>
                </a:lnTo>
                <a:lnTo>
                  <a:pt x="1497" y="11635"/>
                </a:lnTo>
                <a:lnTo>
                  <a:pt x="0" y="19050"/>
                </a:lnTo>
                <a:lnTo>
                  <a:pt x="0" y="1006268"/>
                </a:lnTo>
                <a:lnTo>
                  <a:pt x="1497" y="1013683"/>
                </a:lnTo>
                <a:lnTo>
                  <a:pt x="5579" y="1019739"/>
                </a:lnTo>
                <a:lnTo>
                  <a:pt x="11634" y="1023821"/>
                </a:lnTo>
                <a:lnTo>
                  <a:pt x="19050" y="1025318"/>
                </a:lnTo>
                <a:lnTo>
                  <a:pt x="1628850" y="1025318"/>
                </a:lnTo>
                <a:lnTo>
                  <a:pt x="1636265" y="1023821"/>
                </a:lnTo>
                <a:lnTo>
                  <a:pt x="1642320" y="1019739"/>
                </a:lnTo>
                <a:lnTo>
                  <a:pt x="1646403" y="1013683"/>
                </a:lnTo>
                <a:lnTo>
                  <a:pt x="1647900" y="1006268"/>
                </a:lnTo>
                <a:lnTo>
                  <a:pt x="1647900" y="1002458"/>
                </a:lnTo>
                <a:lnTo>
                  <a:pt x="22859" y="1002458"/>
                </a:lnTo>
                <a:lnTo>
                  <a:pt x="22859" y="22860"/>
                </a:lnTo>
                <a:lnTo>
                  <a:pt x="1647900" y="22860"/>
                </a:lnTo>
                <a:lnTo>
                  <a:pt x="1647900" y="19050"/>
                </a:lnTo>
                <a:lnTo>
                  <a:pt x="1646403" y="11635"/>
                </a:lnTo>
                <a:lnTo>
                  <a:pt x="1642320" y="5579"/>
                </a:lnTo>
                <a:lnTo>
                  <a:pt x="1636265" y="1497"/>
                </a:lnTo>
                <a:lnTo>
                  <a:pt x="1628850" y="0"/>
                </a:lnTo>
                <a:close/>
              </a:path>
              <a:path w="1648460" h="1025525">
                <a:moveTo>
                  <a:pt x="1647900" y="22860"/>
                </a:moveTo>
                <a:lnTo>
                  <a:pt x="1625040" y="22860"/>
                </a:lnTo>
                <a:lnTo>
                  <a:pt x="1625040" y="1002458"/>
                </a:lnTo>
                <a:lnTo>
                  <a:pt x="1647900" y="1002458"/>
                </a:lnTo>
                <a:lnTo>
                  <a:pt x="1647900" y="22860"/>
                </a:lnTo>
                <a:close/>
              </a:path>
              <a:path w="1648460" h="1025525">
                <a:moveTo>
                  <a:pt x="1617420" y="30480"/>
                </a:moveTo>
                <a:lnTo>
                  <a:pt x="30479" y="30480"/>
                </a:lnTo>
                <a:lnTo>
                  <a:pt x="30479" y="994838"/>
                </a:lnTo>
                <a:lnTo>
                  <a:pt x="1617420" y="994838"/>
                </a:lnTo>
                <a:lnTo>
                  <a:pt x="1617420" y="987218"/>
                </a:lnTo>
                <a:lnTo>
                  <a:pt x="38100" y="987218"/>
                </a:lnTo>
                <a:lnTo>
                  <a:pt x="38100" y="38100"/>
                </a:lnTo>
                <a:lnTo>
                  <a:pt x="1617420" y="38100"/>
                </a:lnTo>
                <a:lnTo>
                  <a:pt x="1617420" y="30480"/>
                </a:lnTo>
                <a:close/>
              </a:path>
              <a:path w="1648460" h="1025525">
                <a:moveTo>
                  <a:pt x="1617420" y="38100"/>
                </a:moveTo>
                <a:lnTo>
                  <a:pt x="1609800" y="38100"/>
                </a:lnTo>
                <a:lnTo>
                  <a:pt x="1609800" y="987218"/>
                </a:lnTo>
                <a:lnTo>
                  <a:pt x="1617420" y="987218"/>
                </a:lnTo>
                <a:lnTo>
                  <a:pt x="1617420" y="3810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480304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3805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Re-writing </a:t>
            </a:r>
            <a:r>
              <a:rPr dirty="0" spc="-15"/>
              <a:t>update </a:t>
            </a:r>
            <a:r>
              <a:rPr dirty="0" spc="-5"/>
              <a:t>function </a:t>
            </a:r>
            <a:r>
              <a:rPr dirty="0"/>
              <a:t>in </a:t>
            </a:r>
            <a:r>
              <a:rPr dirty="0" spc="-10"/>
              <a:t>matrix</a:t>
            </a:r>
            <a:r>
              <a:rPr dirty="0" spc="85"/>
              <a:t> </a:t>
            </a:r>
            <a:r>
              <a:rPr dirty="0" spc="-15"/>
              <a:t>form: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3094227"/>
            <a:ext cx="4859020" cy="1043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Red: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neighborhood </a:t>
            </a:r>
            <a:r>
              <a:rPr dirty="0" sz="2800" spc="-65">
                <a:solidFill>
                  <a:srgbClr val="C00000"/>
                </a:solidFill>
                <a:latin typeface="Calibri"/>
                <a:cs typeface="Calibri"/>
              </a:rPr>
              <a:t>aggregation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181735" algn="l"/>
              </a:tabLst>
            </a:pP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Blue:	self</a:t>
            </a:r>
            <a:r>
              <a:rPr dirty="0" sz="2800" spc="-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0000FF"/>
                </a:solidFill>
                <a:latin typeface="Calibri"/>
                <a:cs typeface="Calibri"/>
              </a:rPr>
              <a:t>transformation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433316"/>
            <a:ext cx="7944484" cy="2120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32740" marR="5080" indent="-320040">
              <a:lnSpc>
                <a:spcPts val="4010"/>
              </a:lnSpc>
              <a:spcBef>
                <a:spcPts val="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0">
                <a:latin typeface="Calibri"/>
                <a:cs typeface="Calibri"/>
              </a:rPr>
              <a:t>practice, </a:t>
            </a:r>
            <a:r>
              <a:rPr dirty="0" sz="3200">
                <a:latin typeface="Calibri"/>
                <a:cs typeface="Calibri"/>
              </a:rPr>
              <a:t>this </a:t>
            </a:r>
            <a:r>
              <a:rPr dirty="0" sz="3200" spc="-5">
                <a:latin typeface="Calibri"/>
                <a:cs typeface="Calibri"/>
              </a:rPr>
              <a:t>implies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15">
                <a:latin typeface="Calibri"/>
                <a:cs typeface="Calibri"/>
              </a:rPr>
              <a:t>efficient sparse  </a:t>
            </a:r>
            <a:r>
              <a:rPr dirty="0" sz="3200" spc="-10">
                <a:latin typeface="Calibri"/>
                <a:cs typeface="Calibri"/>
              </a:rPr>
              <a:t>matrix </a:t>
            </a:r>
            <a:r>
              <a:rPr dirty="0" sz="3200" spc="-5">
                <a:latin typeface="Calibri"/>
                <a:cs typeface="Calibri"/>
              </a:rPr>
              <a:t>multiplication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5">
                <a:latin typeface="Calibri"/>
                <a:cs typeface="Calibri"/>
              </a:rPr>
              <a:t>used </a:t>
            </a:r>
            <a:r>
              <a:rPr dirty="0" sz="3200" spc="-360">
                <a:latin typeface="Calibri"/>
                <a:cs typeface="Calibri"/>
              </a:rPr>
              <a:t>(</a:t>
            </a:r>
            <a:r>
              <a:rPr dirty="0" sz="3200" spc="-360">
                <a:solidFill>
                  <a:srgbClr val="C00000"/>
                </a:solidFill>
                <a:latin typeface="Cambria Math"/>
                <a:cs typeface="Cambria Math"/>
              </a:rPr>
              <a:t>𝐴</a:t>
            </a:r>
            <a:r>
              <a:rPr dirty="0" baseline="10416" sz="4800" spc="-540">
                <a:solidFill>
                  <a:srgbClr val="C00000"/>
                </a:solidFill>
                <a:latin typeface="Cambria Math"/>
                <a:cs typeface="Cambria Math"/>
              </a:rPr>
              <a:t>J  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15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sparse)</a:t>
            </a:r>
            <a:endParaRPr sz="3200">
              <a:latin typeface="Calibri"/>
              <a:cs typeface="Calibri"/>
            </a:endParaRPr>
          </a:p>
          <a:p>
            <a:pPr marL="332740" marR="426720" indent="-320040">
              <a:lnSpc>
                <a:spcPct val="100800"/>
              </a:lnSpc>
              <a:spcBef>
                <a:spcPts val="267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Note</a:t>
            </a:r>
            <a:r>
              <a:rPr dirty="0" sz="2400" spc="-10">
                <a:latin typeface="Calibri"/>
                <a:cs typeface="Calibri"/>
              </a:rPr>
              <a:t>: </a:t>
            </a:r>
            <a:r>
              <a:rPr dirty="0" sz="2400" spc="-5">
                <a:latin typeface="Calibri"/>
                <a:cs typeface="Calibri"/>
              </a:rPr>
              <a:t>not all GNNs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10">
                <a:latin typeface="Calibri"/>
                <a:cs typeface="Calibri"/>
              </a:rPr>
              <a:t>expressed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matrix </a:t>
            </a:r>
            <a:r>
              <a:rPr dirty="0" sz="2400" spc="-15">
                <a:latin typeface="Calibri"/>
                <a:cs typeface="Calibri"/>
              </a:rPr>
              <a:t>form, </a:t>
            </a:r>
            <a:r>
              <a:rPr dirty="0" sz="2400" spc="-5">
                <a:latin typeface="Calibri"/>
                <a:cs typeface="Calibri"/>
              </a:rPr>
              <a:t>when  </a:t>
            </a:r>
            <a:r>
              <a:rPr dirty="0" sz="2400" spc="-15">
                <a:latin typeface="Calibri"/>
                <a:cs typeface="Calibri"/>
              </a:rPr>
              <a:t>aggregation </a:t>
            </a:r>
            <a:r>
              <a:rPr dirty="0" sz="2400" spc="-5">
                <a:latin typeface="Calibri"/>
                <a:cs typeface="Calibri"/>
              </a:rPr>
              <a:t>function is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complex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9803" y="2084252"/>
            <a:ext cx="269875" cy="235585"/>
          </a:xfrm>
          <a:custGeom>
            <a:avLst/>
            <a:gdLst/>
            <a:ahLst/>
            <a:cxnLst/>
            <a:rect l="l" t="t" r="r" b="b"/>
            <a:pathLst>
              <a:path w="269875" h="235585">
                <a:moveTo>
                  <a:pt x="194398" y="0"/>
                </a:moveTo>
                <a:lnTo>
                  <a:pt x="191049" y="9549"/>
                </a:lnTo>
                <a:lnTo>
                  <a:pt x="204669" y="15459"/>
                </a:lnTo>
                <a:lnTo>
                  <a:pt x="216381" y="23641"/>
                </a:lnTo>
                <a:lnTo>
                  <a:pt x="240163" y="61565"/>
                </a:lnTo>
                <a:lnTo>
                  <a:pt x="247976" y="116457"/>
                </a:lnTo>
                <a:lnTo>
                  <a:pt x="247104" y="137208"/>
                </a:lnTo>
                <a:lnTo>
                  <a:pt x="234024" y="188019"/>
                </a:lnTo>
                <a:lnTo>
                  <a:pt x="204828" y="219784"/>
                </a:lnTo>
                <a:lnTo>
                  <a:pt x="191422" y="225722"/>
                </a:lnTo>
                <a:lnTo>
                  <a:pt x="194398" y="235272"/>
                </a:lnTo>
                <a:lnTo>
                  <a:pt x="239348" y="208564"/>
                </a:lnTo>
                <a:lnTo>
                  <a:pt x="264595" y="159261"/>
                </a:lnTo>
                <a:lnTo>
                  <a:pt x="269433" y="117697"/>
                </a:lnTo>
                <a:lnTo>
                  <a:pt x="268219" y="96129"/>
                </a:lnTo>
                <a:lnTo>
                  <a:pt x="258514" y="57899"/>
                </a:lnTo>
                <a:lnTo>
                  <a:pt x="226412" y="15083"/>
                </a:lnTo>
                <a:lnTo>
                  <a:pt x="211455" y="6158"/>
                </a:lnTo>
                <a:lnTo>
                  <a:pt x="194398" y="0"/>
                </a:lnTo>
                <a:close/>
              </a:path>
              <a:path w="269875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90025" y="2220467"/>
            <a:ext cx="16090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6220" algn="l"/>
              </a:tabLst>
            </a:pPr>
            <a:r>
              <a:rPr dirty="0" sz="2000" spc="-405">
                <a:solidFill>
                  <a:srgbClr val="C00000"/>
                </a:solidFill>
                <a:latin typeface="Cambria Math"/>
                <a:cs typeface="Cambria Math"/>
              </a:rPr>
              <a:t>8</a:t>
            </a:r>
            <a:r>
              <a:rPr dirty="0" sz="2000" spc="-405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000" spc="-405">
                <a:solidFill>
                  <a:srgbClr val="0000FF"/>
                </a:solidFill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2046" y="2036571"/>
            <a:ext cx="47631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50">
                <a:latin typeface="Cambria Math"/>
                <a:cs typeface="Cambria Math"/>
              </a:rPr>
              <a:t>𝐻</a:t>
            </a:r>
            <a:r>
              <a:rPr dirty="0" baseline="29166" sz="3000" spc="225">
                <a:latin typeface="Cambria Math"/>
                <a:cs typeface="Cambria Math"/>
              </a:rPr>
              <a:t>(89.)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110">
                <a:latin typeface="Cambria Math"/>
                <a:cs typeface="Cambria Math"/>
              </a:rPr>
              <a:t>𝜎(</a:t>
            </a:r>
            <a:r>
              <a:rPr dirty="0" sz="2800" spc="-110">
                <a:solidFill>
                  <a:srgbClr val="C00000"/>
                </a:solidFill>
                <a:latin typeface="Cambria Math"/>
                <a:cs typeface="Cambria Math"/>
              </a:rPr>
              <a:t>𝐴</a:t>
            </a:r>
            <a:r>
              <a:rPr dirty="0" baseline="10912" sz="4200" spc="-165">
                <a:solidFill>
                  <a:srgbClr val="C00000"/>
                </a:solidFill>
                <a:latin typeface="Cambria Math"/>
                <a:cs typeface="Cambria Math"/>
              </a:rPr>
              <a:t>U</a:t>
            </a:r>
            <a:r>
              <a:rPr dirty="0" sz="2800" spc="-110">
                <a:solidFill>
                  <a:srgbClr val="C00000"/>
                </a:solidFill>
                <a:latin typeface="Cambria Math"/>
                <a:cs typeface="Cambria Math"/>
              </a:rPr>
              <a:t>𝐻</a:t>
            </a:r>
            <a:r>
              <a:rPr dirty="0" baseline="29166" sz="3000" spc="-165">
                <a:solidFill>
                  <a:srgbClr val="C00000"/>
                </a:solidFill>
                <a:latin typeface="Cambria Math"/>
                <a:cs typeface="Cambria Math"/>
              </a:rPr>
              <a:t>(8)</a:t>
            </a:r>
            <a:r>
              <a:rPr dirty="0" sz="2800" spc="-110">
                <a:solidFill>
                  <a:srgbClr val="C00000"/>
                </a:solidFill>
                <a:latin typeface="Cambria Math"/>
                <a:cs typeface="Cambria Math"/>
              </a:rPr>
              <a:t>𝑊</a:t>
            </a:r>
            <a:r>
              <a:rPr dirty="0" baseline="30555" sz="3000" spc="-165">
                <a:solidFill>
                  <a:srgbClr val="C00000"/>
                </a:solidFill>
                <a:latin typeface="Cambria Math"/>
                <a:cs typeface="Cambria Math"/>
              </a:rPr>
              <a:t>I  </a:t>
            </a:r>
            <a:r>
              <a:rPr dirty="0" sz="2800">
                <a:latin typeface="Cambria Math"/>
                <a:cs typeface="Cambria Math"/>
              </a:rPr>
              <a:t>+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𝐻  </a:t>
            </a:r>
            <a:r>
              <a:rPr dirty="0" baseline="29166" sz="3000" spc="-607">
                <a:solidFill>
                  <a:srgbClr val="0000FF"/>
                </a:solidFill>
                <a:latin typeface="Cambria Math"/>
                <a:cs typeface="Cambria Math"/>
              </a:rPr>
              <a:t>8              </a:t>
            </a:r>
            <a:r>
              <a:rPr dirty="0" baseline="29166" sz="3000" spc="-577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800" spc="275">
                <a:solidFill>
                  <a:srgbClr val="0000FF"/>
                </a:solidFill>
                <a:latin typeface="Cambria Math"/>
                <a:cs typeface="Cambria Math"/>
              </a:rPr>
              <a:t>𝐵</a:t>
            </a:r>
            <a:r>
              <a:rPr dirty="0" baseline="30555" sz="3000" spc="412">
                <a:solidFill>
                  <a:srgbClr val="0000FF"/>
                </a:solidFill>
                <a:latin typeface="Cambria Math"/>
                <a:cs typeface="Cambria Math"/>
              </a:rPr>
              <a:t>I</a:t>
            </a:r>
            <a:r>
              <a:rPr dirty="0" sz="2800" spc="275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6811" y="2481579"/>
            <a:ext cx="9391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Corbel"/>
                <a:cs typeface="Corbel"/>
              </a:rPr>
              <a:t>w</a:t>
            </a:r>
            <a:r>
              <a:rPr dirty="0" sz="2800" spc="-5">
                <a:latin typeface="Corbel"/>
                <a:cs typeface="Corbel"/>
              </a:rPr>
              <a:t>he</a:t>
            </a:r>
            <a:r>
              <a:rPr dirty="0" sz="2800">
                <a:latin typeface="Corbel"/>
                <a:cs typeface="Corbel"/>
              </a:rPr>
              <a:t>re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8561" y="2481579"/>
            <a:ext cx="15532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950">
                <a:latin typeface="Cambria Math"/>
                <a:cs typeface="Cambria Math"/>
              </a:rPr>
              <a:t>𝐴</a:t>
            </a:r>
            <a:r>
              <a:rPr dirty="0" baseline="10912" sz="4200" spc="-1425">
                <a:latin typeface="Cambria Math"/>
                <a:cs typeface="Cambria Math"/>
              </a:rPr>
              <a:t>U</a:t>
            </a:r>
            <a:r>
              <a:rPr dirty="0" baseline="10912" sz="4200" spc="337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14">
                <a:latin typeface="Cambria Math"/>
                <a:cs typeface="Cambria Math"/>
              </a:rPr>
              <a:t> </a:t>
            </a:r>
            <a:r>
              <a:rPr dirty="0" sz="2800" spc="315">
                <a:latin typeface="Cambria Math"/>
                <a:cs typeface="Cambria Math"/>
              </a:rPr>
              <a:t>𝐷</a:t>
            </a:r>
            <a:r>
              <a:rPr dirty="0" baseline="29166" sz="3000" spc="472">
                <a:latin typeface="Cambria Math"/>
                <a:cs typeface="Cambria Math"/>
              </a:rPr>
              <a:t>0.</a:t>
            </a:r>
            <a:r>
              <a:rPr dirty="0" sz="2800" spc="315">
                <a:latin typeface="Cambria Math"/>
                <a:cs typeface="Cambria Math"/>
              </a:rPr>
              <a:t>𝐴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75145" y="1893970"/>
            <a:ext cx="200025" cy="204470"/>
          </a:xfrm>
          <a:custGeom>
            <a:avLst/>
            <a:gdLst/>
            <a:ahLst/>
            <a:cxnLst/>
            <a:rect l="l" t="t" r="r" b="b"/>
            <a:pathLst>
              <a:path w="200025" h="204469">
                <a:moveTo>
                  <a:pt x="0" y="102004"/>
                </a:moveTo>
                <a:lnTo>
                  <a:pt x="7846" y="62299"/>
                </a:lnTo>
                <a:lnTo>
                  <a:pt x="29244" y="29876"/>
                </a:lnTo>
                <a:lnTo>
                  <a:pt x="60982" y="8015"/>
                </a:lnTo>
                <a:lnTo>
                  <a:pt x="99848" y="0"/>
                </a:lnTo>
                <a:lnTo>
                  <a:pt x="138713" y="8015"/>
                </a:lnTo>
                <a:lnTo>
                  <a:pt x="170451" y="29876"/>
                </a:lnTo>
                <a:lnTo>
                  <a:pt x="191849" y="62299"/>
                </a:lnTo>
                <a:lnTo>
                  <a:pt x="199696" y="102004"/>
                </a:lnTo>
                <a:lnTo>
                  <a:pt x="191849" y="141708"/>
                </a:lnTo>
                <a:lnTo>
                  <a:pt x="170451" y="174131"/>
                </a:lnTo>
                <a:lnTo>
                  <a:pt x="138713" y="195992"/>
                </a:lnTo>
                <a:lnTo>
                  <a:pt x="99848" y="204008"/>
                </a:lnTo>
                <a:lnTo>
                  <a:pt x="60982" y="195992"/>
                </a:lnTo>
                <a:lnTo>
                  <a:pt x="29244" y="174131"/>
                </a:lnTo>
                <a:lnTo>
                  <a:pt x="7846" y="141708"/>
                </a:lnTo>
                <a:lnTo>
                  <a:pt x="0" y="102004"/>
                </a:lnTo>
                <a:close/>
              </a:path>
            </a:pathLst>
          </a:custGeom>
          <a:ln w="2222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62503" y="1893970"/>
            <a:ext cx="200025" cy="204470"/>
          </a:xfrm>
          <a:custGeom>
            <a:avLst/>
            <a:gdLst/>
            <a:ahLst/>
            <a:cxnLst/>
            <a:rect l="l" t="t" r="r" b="b"/>
            <a:pathLst>
              <a:path w="200025" h="204469">
                <a:moveTo>
                  <a:pt x="0" y="102004"/>
                </a:moveTo>
                <a:lnTo>
                  <a:pt x="7846" y="62299"/>
                </a:lnTo>
                <a:lnTo>
                  <a:pt x="29244" y="29876"/>
                </a:lnTo>
                <a:lnTo>
                  <a:pt x="60982" y="8015"/>
                </a:lnTo>
                <a:lnTo>
                  <a:pt x="99848" y="0"/>
                </a:lnTo>
                <a:lnTo>
                  <a:pt x="138713" y="8015"/>
                </a:lnTo>
                <a:lnTo>
                  <a:pt x="170451" y="29876"/>
                </a:lnTo>
                <a:lnTo>
                  <a:pt x="191849" y="62299"/>
                </a:lnTo>
                <a:lnTo>
                  <a:pt x="199696" y="102004"/>
                </a:lnTo>
                <a:lnTo>
                  <a:pt x="191849" y="141708"/>
                </a:lnTo>
                <a:lnTo>
                  <a:pt x="170451" y="174131"/>
                </a:lnTo>
                <a:lnTo>
                  <a:pt x="138713" y="195992"/>
                </a:lnTo>
                <a:lnTo>
                  <a:pt x="99848" y="204008"/>
                </a:lnTo>
                <a:lnTo>
                  <a:pt x="60982" y="195992"/>
                </a:lnTo>
                <a:lnTo>
                  <a:pt x="29244" y="174131"/>
                </a:lnTo>
                <a:lnTo>
                  <a:pt x="7846" y="141708"/>
                </a:lnTo>
                <a:lnTo>
                  <a:pt x="0" y="102004"/>
                </a:lnTo>
                <a:close/>
              </a:path>
            </a:pathLst>
          </a:custGeom>
          <a:ln w="2222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18577" y="2146793"/>
            <a:ext cx="200025" cy="204470"/>
          </a:xfrm>
          <a:custGeom>
            <a:avLst/>
            <a:gdLst/>
            <a:ahLst/>
            <a:cxnLst/>
            <a:rect l="l" t="t" r="r" b="b"/>
            <a:pathLst>
              <a:path w="200025" h="204469">
                <a:moveTo>
                  <a:pt x="0" y="102004"/>
                </a:moveTo>
                <a:lnTo>
                  <a:pt x="7846" y="62299"/>
                </a:lnTo>
                <a:lnTo>
                  <a:pt x="29244" y="29876"/>
                </a:lnTo>
                <a:lnTo>
                  <a:pt x="60982" y="8015"/>
                </a:lnTo>
                <a:lnTo>
                  <a:pt x="99848" y="0"/>
                </a:lnTo>
                <a:lnTo>
                  <a:pt x="138713" y="8015"/>
                </a:lnTo>
                <a:lnTo>
                  <a:pt x="170451" y="29876"/>
                </a:lnTo>
                <a:lnTo>
                  <a:pt x="191849" y="62299"/>
                </a:lnTo>
                <a:lnTo>
                  <a:pt x="199696" y="102004"/>
                </a:lnTo>
                <a:lnTo>
                  <a:pt x="191849" y="141708"/>
                </a:lnTo>
                <a:lnTo>
                  <a:pt x="170451" y="174131"/>
                </a:lnTo>
                <a:lnTo>
                  <a:pt x="138713" y="195992"/>
                </a:lnTo>
                <a:lnTo>
                  <a:pt x="99848" y="204008"/>
                </a:lnTo>
                <a:lnTo>
                  <a:pt x="60982" y="195992"/>
                </a:lnTo>
                <a:lnTo>
                  <a:pt x="29244" y="174131"/>
                </a:lnTo>
                <a:lnTo>
                  <a:pt x="7846" y="141708"/>
                </a:lnTo>
                <a:lnTo>
                  <a:pt x="0" y="102004"/>
                </a:lnTo>
                <a:close/>
              </a:path>
            </a:pathLst>
          </a:custGeom>
          <a:ln w="22225">
            <a:solidFill>
              <a:srgbClr val="7857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88267" y="2647364"/>
            <a:ext cx="200025" cy="204470"/>
          </a:xfrm>
          <a:custGeom>
            <a:avLst/>
            <a:gdLst/>
            <a:ahLst/>
            <a:cxnLst/>
            <a:rect l="l" t="t" r="r" b="b"/>
            <a:pathLst>
              <a:path w="200025" h="204469">
                <a:moveTo>
                  <a:pt x="0" y="102004"/>
                </a:moveTo>
                <a:lnTo>
                  <a:pt x="7846" y="62299"/>
                </a:lnTo>
                <a:lnTo>
                  <a:pt x="29244" y="29876"/>
                </a:lnTo>
                <a:lnTo>
                  <a:pt x="60982" y="8015"/>
                </a:lnTo>
                <a:lnTo>
                  <a:pt x="99848" y="0"/>
                </a:lnTo>
                <a:lnTo>
                  <a:pt x="138713" y="8015"/>
                </a:lnTo>
                <a:lnTo>
                  <a:pt x="170451" y="29876"/>
                </a:lnTo>
                <a:lnTo>
                  <a:pt x="191849" y="62299"/>
                </a:lnTo>
                <a:lnTo>
                  <a:pt x="199696" y="102004"/>
                </a:lnTo>
                <a:lnTo>
                  <a:pt x="191849" y="141708"/>
                </a:lnTo>
                <a:lnTo>
                  <a:pt x="170451" y="174131"/>
                </a:lnTo>
                <a:lnTo>
                  <a:pt x="138713" y="195992"/>
                </a:lnTo>
                <a:lnTo>
                  <a:pt x="99848" y="204008"/>
                </a:lnTo>
                <a:lnTo>
                  <a:pt x="60982" y="195992"/>
                </a:lnTo>
                <a:lnTo>
                  <a:pt x="29244" y="174131"/>
                </a:lnTo>
                <a:lnTo>
                  <a:pt x="7846" y="141708"/>
                </a:lnTo>
                <a:lnTo>
                  <a:pt x="0" y="102004"/>
                </a:lnTo>
                <a:close/>
              </a:path>
            </a:pathLst>
          </a:custGeom>
          <a:ln w="2222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62807" y="2647364"/>
            <a:ext cx="200025" cy="204470"/>
          </a:xfrm>
          <a:custGeom>
            <a:avLst/>
            <a:gdLst/>
            <a:ahLst/>
            <a:cxnLst/>
            <a:rect l="l" t="t" r="r" b="b"/>
            <a:pathLst>
              <a:path w="200025" h="204469">
                <a:moveTo>
                  <a:pt x="0" y="102004"/>
                </a:moveTo>
                <a:lnTo>
                  <a:pt x="7846" y="62299"/>
                </a:lnTo>
                <a:lnTo>
                  <a:pt x="29244" y="29876"/>
                </a:lnTo>
                <a:lnTo>
                  <a:pt x="60982" y="8015"/>
                </a:lnTo>
                <a:lnTo>
                  <a:pt x="99848" y="0"/>
                </a:lnTo>
                <a:lnTo>
                  <a:pt x="138713" y="8015"/>
                </a:lnTo>
                <a:lnTo>
                  <a:pt x="170451" y="29876"/>
                </a:lnTo>
                <a:lnTo>
                  <a:pt x="191849" y="62299"/>
                </a:lnTo>
                <a:lnTo>
                  <a:pt x="199696" y="102004"/>
                </a:lnTo>
                <a:lnTo>
                  <a:pt x="191849" y="141708"/>
                </a:lnTo>
                <a:lnTo>
                  <a:pt x="170451" y="174131"/>
                </a:lnTo>
                <a:lnTo>
                  <a:pt x="138713" y="195992"/>
                </a:lnTo>
                <a:lnTo>
                  <a:pt x="99848" y="204008"/>
                </a:lnTo>
                <a:lnTo>
                  <a:pt x="60982" y="195992"/>
                </a:lnTo>
                <a:lnTo>
                  <a:pt x="29244" y="174131"/>
                </a:lnTo>
                <a:lnTo>
                  <a:pt x="7846" y="141708"/>
                </a:lnTo>
                <a:lnTo>
                  <a:pt x="0" y="102004"/>
                </a:lnTo>
                <a:close/>
              </a:path>
            </a:pathLst>
          </a:custGeom>
          <a:ln w="2222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48141" y="2320926"/>
            <a:ext cx="400050" cy="367030"/>
          </a:xfrm>
          <a:custGeom>
            <a:avLst/>
            <a:gdLst/>
            <a:ahLst/>
            <a:cxnLst/>
            <a:rect l="l" t="t" r="r" b="b"/>
            <a:pathLst>
              <a:path w="400050" h="367030">
                <a:moveTo>
                  <a:pt x="337050" y="44437"/>
                </a:moveTo>
                <a:lnTo>
                  <a:pt x="265" y="352842"/>
                </a:lnTo>
                <a:lnTo>
                  <a:pt x="0" y="358867"/>
                </a:lnTo>
                <a:lnTo>
                  <a:pt x="7105" y="366627"/>
                </a:lnTo>
                <a:lnTo>
                  <a:pt x="13130" y="366891"/>
                </a:lnTo>
                <a:lnTo>
                  <a:pt x="349915" y="58486"/>
                </a:lnTo>
                <a:lnTo>
                  <a:pt x="337050" y="44437"/>
                </a:lnTo>
                <a:close/>
              </a:path>
              <a:path w="400050" h="367030">
                <a:moveTo>
                  <a:pt x="387308" y="32307"/>
                </a:moveTo>
                <a:lnTo>
                  <a:pt x="350296" y="32307"/>
                </a:lnTo>
                <a:lnTo>
                  <a:pt x="356321" y="32571"/>
                </a:lnTo>
                <a:lnTo>
                  <a:pt x="363427" y="40331"/>
                </a:lnTo>
                <a:lnTo>
                  <a:pt x="363161" y="46356"/>
                </a:lnTo>
                <a:lnTo>
                  <a:pt x="349915" y="58486"/>
                </a:lnTo>
                <a:lnTo>
                  <a:pt x="369213" y="79560"/>
                </a:lnTo>
                <a:lnTo>
                  <a:pt x="387308" y="32307"/>
                </a:lnTo>
                <a:close/>
              </a:path>
              <a:path w="400050" h="367030">
                <a:moveTo>
                  <a:pt x="350296" y="32307"/>
                </a:moveTo>
                <a:lnTo>
                  <a:pt x="337050" y="44437"/>
                </a:lnTo>
                <a:lnTo>
                  <a:pt x="349915" y="58486"/>
                </a:lnTo>
                <a:lnTo>
                  <a:pt x="363161" y="46356"/>
                </a:lnTo>
                <a:lnTo>
                  <a:pt x="363427" y="40331"/>
                </a:lnTo>
                <a:lnTo>
                  <a:pt x="356321" y="32571"/>
                </a:lnTo>
                <a:lnTo>
                  <a:pt x="350296" y="32307"/>
                </a:lnTo>
                <a:close/>
              </a:path>
              <a:path w="400050" h="367030">
                <a:moveTo>
                  <a:pt x="399680" y="0"/>
                </a:moveTo>
                <a:lnTo>
                  <a:pt x="317751" y="23362"/>
                </a:lnTo>
                <a:lnTo>
                  <a:pt x="337050" y="44437"/>
                </a:lnTo>
                <a:lnTo>
                  <a:pt x="350296" y="32307"/>
                </a:lnTo>
                <a:lnTo>
                  <a:pt x="387308" y="32307"/>
                </a:lnTo>
                <a:lnTo>
                  <a:pt x="399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89027" y="2320926"/>
            <a:ext cx="414020" cy="367030"/>
          </a:xfrm>
          <a:custGeom>
            <a:avLst/>
            <a:gdLst/>
            <a:ahLst/>
            <a:cxnLst/>
            <a:rect l="l" t="t" r="r" b="b"/>
            <a:pathLst>
              <a:path w="414020" h="367030">
                <a:moveTo>
                  <a:pt x="63397" y="43335"/>
                </a:moveTo>
                <a:lnTo>
                  <a:pt x="50779" y="57607"/>
                </a:lnTo>
                <a:lnTo>
                  <a:pt x="400655" y="366934"/>
                </a:lnTo>
                <a:lnTo>
                  <a:pt x="406675" y="366565"/>
                </a:lnTo>
                <a:lnTo>
                  <a:pt x="413644" y="358682"/>
                </a:lnTo>
                <a:lnTo>
                  <a:pt x="413274" y="352662"/>
                </a:lnTo>
                <a:lnTo>
                  <a:pt x="63397" y="43335"/>
                </a:lnTo>
                <a:close/>
              </a:path>
              <a:path w="414020" h="367030">
                <a:moveTo>
                  <a:pt x="0" y="0"/>
                </a:moveTo>
                <a:lnTo>
                  <a:pt x="31852" y="79015"/>
                </a:lnTo>
                <a:lnTo>
                  <a:pt x="50779" y="57607"/>
                </a:lnTo>
                <a:lnTo>
                  <a:pt x="37324" y="45711"/>
                </a:lnTo>
                <a:lnTo>
                  <a:pt x="36953" y="39691"/>
                </a:lnTo>
                <a:lnTo>
                  <a:pt x="43921" y="31809"/>
                </a:lnTo>
                <a:lnTo>
                  <a:pt x="49941" y="31438"/>
                </a:lnTo>
                <a:lnTo>
                  <a:pt x="73915" y="31438"/>
                </a:lnTo>
                <a:lnTo>
                  <a:pt x="82323" y="21927"/>
                </a:lnTo>
                <a:lnTo>
                  <a:pt x="0" y="0"/>
                </a:lnTo>
                <a:close/>
              </a:path>
              <a:path w="414020" h="367030">
                <a:moveTo>
                  <a:pt x="49941" y="31438"/>
                </a:moveTo>
                <a:lnTo>
                  <a:pt x="43921" y="31809"/>
                </a:lnTo>
                <a:lnTo>
                  <a:pt x="36953" y="39691"/>
                </a:lnTo>
                <a:lnTo>
                  <a:pt x="37324" y="45711"/>
                </a:lnTo>
                <a:lnTo>
                  <a:pt x="50779" y="57607"/>
                </a:lnTo>
                <a:lnTo>
                  <a:pt x="63397" y="43335"/>
                </a:lnTo>
                <a:lnTo>
                  <a:pt x="49941" y="31438"/>
                </a:lnTo>
                <a:close/>
              </a:path>
              <a:path w="414020" h="367030">
                <a:moveTo>
                  <a:pt x="73915" y="31438"/>
                </a:moveTo>
                <a:lnTo>
                  <a:pt x="49941" y="31438"/>
                </a:lnTo>
                <a:lnTo>
                  <a:pt x="63397" y="43335"/>
                </a:lnTo>
                <a:lnTo>
                  <a:pt x="73915" y="3143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35029" y="2057534"/>
            <a:ext cx="413384" cy="136525"/>
          </a:xfrm>
          <a:custGeom>
            <a:avLst/>
            <a:gdLst/>
            <a:ahLst/>
            <a:cxnLst/>
            <a:rect l="l" t="t" r="r" b="b"/>
            <a:pathLst>
              <a:path w="413384" h="136525">
                <a:moveTo>
                  <a:pt x="336743" y="108474"/>
                </a:moveTo>
                <a:lnTo>
                  <a:pt x="329297" y="136061"/>
                </a:lnTo>
                <a:lnTo>
                  <a:pt x="412791" y="119134"/>
                </a:lnTo>
                <a:lnTo>
                  <a:pt x="406072" y="113154"/>
                </a:lnTo>
                <a:lnTo>
                  <a:pt x="354082" y="113154"/>
                </a:lnTo>
                <a:lnTo>
                  <a:pt x="336743" y="108474"/>
                </a:lnTo>
                <a:close/>
              </a:path>
              <a:path w="413384" h="136525">
                <a:moveTo>
                  <a:pt x="341707" y="90082"/>
                </a:moveTo>
                <a:lnTo>
                  <a:pt x="336743" y="108474"/>
                </a:lnTo>
                <a:lnTo>
                  <a:pt x="354082" y="113154"/>
                </a:lnTo>
                <a:lnTo>
                  <a:pt x="359310" y="110148"/>
                </a:lnTo>
                <a:lnTo>
                  <a:pt x="362052" y="99990"/>
                </a:lnTo>
                <a:lnTo>
                  <a:pt x="359046" y="94762"/>
                </a:lnTo>
                <a:lnTo>
                  <a:pt x="341707" y="90082"/>
                </a:lnTo>
                <a:close/>
              </a:path>
              <a:path w="413384" h="136525">
                <a:moveTo>
                  <a:pt x="349153" y="62494"/>
                </a:moveTo>
                <a:lnTo>
                  <a:pt x="341707" y="90082"/>
                </a:lnTo>
                <a:lnTo>
                  <a:pt x="359046" y="94762"/>
                </a:lnTo>
                <a:lnTo>
                  <a:pt x="362052" y="99990"/>
                </a:lnTo>
                <a:lnTo>
                  <a:pt x="359310" y="110148"/>
                </a:lnTo>
                <a:lnTo>
                  <a:pt x="354082" y="113154"/>
                </a:lnTo>
                <a:lnTo>
                  <a:pt x="406072" y="113154"/>
                </a:lnTo>
                <a:lnTo>
                  <a:pt x="349153" y="62494"/>
                </a:lnTo>
                <a:close/>
              </a:path>
              <a:path w="413384" h="136525">
                <a:moveTo>
                  <a:pt x="7969" y="0"/>
                </a:moveTo>
                <a:lnTo>
                  <a:pt x="2740" y="3006"/>
                </a:lnTo>
                <a:lnTo>
                  <a:pt x="0" y="13163"/>
                </a:lnTo>
                <a:lnTo>
                  <a:pt x="3004" y="18392"/>
                </a:lnTo>
                <a:lnTo>
                  <a:pt x="336743" y="108474"/>
                </a:lnTo>
                <a:lnTo>
                  <a:pt x="341707" y="90082"/>
                </a:lnTo>
                <a:lnTo>
                  <a:pt x="79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18272" y="2057436"/>
            <a:ext cx="584200" cy="205104"/>
          </a:xfrm>
          <a:custGeom>
            <a:avLst/>
            <a:gdLst/>
            <a:ahLst/>
            <a:cxnLst/>
            <a:rect l="l" t="t" r="r" b="b"/>
            <a:pathLst>
              <a:path w="584200" h="205105">
                <a:moveTo>
                  <a:pt x="61227" y="132121"/>
                </a:moveTo>
                <a:lnTo>
                  <a:pt x="0" y="191361"/>
                </a:lnTo>
                <a:lnTo>
                  <a:pt x="84127" y="204800"/>
                </a:lnTo>
                <a:lnTo>
                  <a:pt x="77240" y="182943"/>
                </a:lnTo>
                <a:lnTo>
                  <a:pt x="58409" y="182943"/>
                </a:lnTo>
                <a:lnTo>
                  <a:pt x="53060" y="180157"/>
                </a:lnTo>
                <a:lnTo>
                  <a:pt x="49898" y="170122"/>
                </a:lnTo>
                <a:lnTo>
                  <a:pt x="52684" y="164773"/>
                </a:lnTo>
                <a:lnTo>
                  <a:pt x="69815" y="159375"/>
                </a:lnTo>
                <a:lnTo>
                  <a:pt x="61227" y="132121"/>
                </a:lnTo>
                <a:close/>
              </a:path>
              <a:path w="584200" h="205105">
                <a:moveTo>
                  <a:pt x="69815" y="159375"/>
                </a:moveTo>
                <a:lnTo>
                  <a:pt x="52684" y="164773"/>
                </a:lnTo>
                <a:lnTo>
                  <a:pt x="49898" y="170122"/>
                </a:lnTo>
                <a:lnTo>
                  <a:pt x="53060" y="180157"/>
                </a:lnTo>
                <a:lnTo>
                  <a:pt x="58409" y="182943"/>
                </a:lnTo>
                <a:lnTo>
                  <a:pt x="75540" y="177545"/>
                </a:lnTo>
                <a:lnTo>
                  <a:pt x="69815" y="159375"/>
                </a:lnTo>
                <a:close/>
              </a:path>
              <a:path w="584200" h="205105">
                <a:moveTo>
                  <a:pt x="75540" y="177545"/>
                </a:moveTo>
                <a:lnTo>
                  <a:pt x="58409" y="182943"/>
                </a:lnTo>
                <a:lnTo>
                  <a:pt x="77240" y="182943"/>
                </a:lnTo>
                <a:lnTo>
                  <a:pt x="75540" y="177545"/>
                </a:lnTo>
                <a:close/>
              </a:path>
              <a:path w="584200" h="205105">
                <a:moveTo>
                  <a:pt x="575630" y="0"/>
                </a:moveTo>
                <a:lnTo>
                  <a:pt x="69815" y="159375"/>
                </a:lnTo>
                <a:lnTo>
                  <a:pt x="75540" y="177545"/>
                </a:lnTo>
                <a:lnTo>
                  <a:pt x="581355" y="18168"/>
                </a:lnTo>
                <a:lnTo>
                  <a:pt x="584140" y="12820"/>
                </a:lnTo>
                <a:lnTo>
                  <a:pt x="580978" y="2785"/>
                </a:lnTo>
                <a:lnTo>
                  <a:pt x="5756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25924" y="1914306"/>
            <a:ext cx="177800" cy="277495"/>
          </a:xfrm>
          <a:custGeom>
            <a:avLst/>
            <a:gdLst/>
            <a:ahLst/>
            <a:cxnLst/>
            <a:rect l="l" t="t" r="r" b="b"/>
            <a:pathLst>
              <a:path w="177800" h="277494">
                <a:moveTo>
                  <a:pt x="107906" y="34943"/>
                </a:moveTo>
                <a:lnTo>
                  <a:pt x="126051" y="78858"/>
                </a:lnTo>
                <a:lnTo>
                  <a:pt x="137835" y="131427"/>
                </a:lnTo>
                <a:lnTo>
                  <a:pt x="143689" y="172529"/>
                </a:lnTo>
                <a:lnTo>
                  <a:pt x="147469" y="216529"/>
                </a:lnTo>
                <a:lnTo>
                  <a:pt x="149053" y="270668"/>
                </a:lnTo>
                <a:lnTo>
                  <a:pt x="155634" y="276875"/>
                </a:lnTo>
                <a:lnTo>
                  <a:pt x="171409" y="276414"/>
                </a:lnTo>
                <a:lnTo>
                  <a:pt x="177615" y="269833"/>
                </a:lnTo>
                <a:lnTo>
                  <a:pt x="176032" y="215694"/>
                </a:lnTo>
                <a:lnTo>
                  <a:pt x="172161" y="170097"/>
                </a:lnTo>
                <a:lnTo>
                  <a:pt x="166127" y="127414"/>
                </a:lnTo>
                <a:lnTo>
                  <a:pt x="158215" y="88769"/>
                </a:lnTo>
                <a:lnTo>
                  <a:pt x="143540" y="41902"/>
                </a:lnTo>
                <a:lnTo>
                  <a:pt x="140707" y="35740"/>
                </a:lnTo>
                <a:lnTo>
                  <a:pt x="108562" y="35740"/>
                </a:lnTo>
                <a:lnTo>
                  <a:pt x="107906" y="34943"/>
                </a:lnTo>
                <a:close/>
              </a:path>
              <a:path w="177800" h="277494">
                <a:moveTo>
                  <a:pt x="28772" y="173795"/>
                </a:moveTo>
                <a:lnTo>
                  <a:pt x="0" y="175045"/>
                </a:lnTo>
                <a:lnTo>
                  <a:pt x="46541" y="258829"/>
                </a:lnTo>
                <a:lnTo>
                  <a:pt x="71954" y="201959"/>
                </a:lnTo>
                <a:lnTo>
                  <a:pt x="35949" y="201959"/>
                </a:lnTo>
                <a:lnTo>
                  <a:pt x="29378" y="195742"/>
                </a:lnTo>
                <a:lnTo>
                  <a:pt x="28772" y="173795"/>
                </a:lnTo>
                <a:close/>
              </a:path>
              <a:path w="177800" h="277494">
                <a:moveTo>
                  <a:pt x="57319" y="172554"/>
                </a:moveTo>
                <a:lnTo>
                  <a:pt x="28772" y="173795"/>
                </a:lnTo>
                <a:lnTo>
                  <a:pt x="29378" y="195742"/>
                </a:lnTo>
                <a:lnTo>
                  <a:pt x="35949" y="201959"/>
                </a:lnTo>
                <a:lnTo>
                  <a:pt x="51725" y="201522"/>
                </a:lnTo>
                <a:lnTo>
                  <a:pt x="57942" y="194951"/>
                </a:lnTo>
                <a:lnTo>
                  <a:pt x="57319" y="172554"/>
                </a:lnTo>
                <a:close/>
              </a:path>
              <a:path w="177800" h="277494">
                <a:moveTo>
                  <a:pt x="85643" y="171324"/>
                </a:moveTo>
                <a:lnTo>
                  <a:pt x="57319" y="172554"/>
                </a:lnTo>
                <a:lnTo>
                  <a:pt x="57942" y="194951"/>
                </a:lnTo>
                <a:lnTo>
                  <a:pt x="51725" y="201522"/>
                </a:lnTo>
                <a:lnTo>
                  <a:pt x="35949" y="201959"/>
                </a:lnTo>
                <a:lnTo>
                  <a:pt x="71954" y="201959"/>
                </a:lnTo>
                <a:lnTo>
                  <a:pt x="85643" y="171324"/>
                </a:lnTo>
                <a:close/>
              </a:path>
              <a:path w="177800" h="277494">
                <a:moveTo>
                  <a:pt x="102834" y="0"/>
                </a:moveTo>
                <a:lnTo>
                  <a:pt x="59031" y="28438"/>
                </a:lnTo>
                <a:lnTo>
                  <a:pt x="40510" y="65592"/>
                </a:lnTo>
                <a:lnTo>
                  <a:pt x="29851" y="111377"/>
                </a:lnTo>
                <a:lnTo>
                  <a:pt x="28313" y="135766"/>
                </a:lnTo>
                <a:lnTo>
                  <a:pt x="28376" y="159465"/>
                </a:lnTo>
                <a:lnTo>
                  <a:pt x="28772" y="173795"/>
                </a:lnTo>
                <a:lnTo>
                  <a:pt x="57319" y="172554"/>
                </a:lnTo>
                <a:lnTo>
                  <a:pt x="56954" y="159465"/>
                </a:lnTo>
                <a:lnTo>
                  <a:pt x="56930" y="135766"/>
                </a:lnTo>
                <a:lnTo>
                  <a:pt x="61484" y="95689"/>
                </a:lnTo>
                <a:lnTo>
                  <a:pt x="81693" y="46173"/>
                </a:lnTo>
                <a:lnTo>
                  <a:pt x="81445" y="46173"/>
                </a:lnTo>
                <a:lnTo>
                  <a:pt x="82871" y="44155"/>
                </a:lnTo>
                <a:lnTo>
                  <a:pt x="83149" y="44155"/>
                </a:lnTo>
                <a:lnTo>
                  <a:pt x="90125" y="35896"/>
                </a:lnTo>
                <a:lnTo>
                  <a:pt x="89833" y="35896"/>
                </a:lnTo>
                <a:lnTo>
                  <a:pt x="91626" y="34119"/>
                </a:lnTo>
                <a:lnTo>
                  <a:pt x="91975" y="34119"/>
                </a:lnTo>
                <a:lnTo>
                  <a:pt x="93687" y="32699"/>
                </a:lnTo>
                <a:lnTo>
                  <a:pt x="93425" y="32699"/>
                </a:lnTo>
                <a:lnTo>
                  <a:pt x="95210" y="31436"/>
                </a:lnTo>
                <a:lnTo>
                  <a:pt x="95537" y="31436"/>
                </a:lnTo>
                <a:lnTo>
                  <a:pt x="96995" y="30563"/>
                </a:lnTo>
                <a:lnTo>
                  <a:pt x="96499" y="30563"/>
                </a:lnTo>
                <a:lnTo>
                  <a:pt x="98935" y="29403"/>
                </a:lnTo>
                <a:lnTo>
                  <a:pt x="99677" y="29403"/>
                </a:lnTo>
                <a:lnTo>
                  <a:pt x="100022" y="29277"/>
                </a:lnTo>
                <a:lnTo>
                  <a:pt x="98959" y="29277"/>
                </a:lnTo>
                <a:lnTo>
                  <a:pt x="101236" y="28727"/>
                </a:lnTo>
                <a:lnTo>
                  <a:pt x="99347" y="28251"/>
                </a:lnTo>
                <a:lnTo>
                  <a:pt x="101260" y="28251"/>
                </a:lnTo>
                <a:lnTo>
                  <a:pt x="99978" y="27301"/>
                </a:lnTo>
                <a:lnTo>
                  <a:pt x="136524" y="27301"/>
                </a:lnTo>
                <a:lnTo>
                  <a:pt x="104616" y="110"/>
                </a:lnTo>
                <a:lnTo>
                  <a:pt x="102834" y="0"/>
                </a:lnTo>
                <a:close/>
              </a:path>
              <a:path w="177800" h="277494">
                <a:moveTo>
                  <a:pt x="82871" y="44155"/>
                </a:moveTo>
                <a:lnTo>
                  <a:pt x="81445" y="46173"/>
                </a:lnTo>
                <a:lnTo>
                  <a:pt x="82249" y="45221"/>
                </a:lnTo>
                <a:lnTo>
                  <a:pt x="82871" y="44155"/>
                </a:lnTo>
                <a:close/>
              </a:path>
              <a:path w="177800" h="277494">
                <a:moveTo>
                  <a:pt x="82249" y="45221"/>
                </a:moveTo>
                <a:lnTo>
                  <a:pt x="81445" y="46173"/>
                </a:lnTo>
                <a:lnTo>
                  <a:pt x="81693" y="46173"/>
                </a:lnTo>
                <a:lnTo>
                  <a:pt x="82249" y="45221"/>
                </a:lnTo>
                <a:close/>
              </a:path>
              <a:path w="177800" h="277494">
                <a:moveTo>
                  <a:pt x="83149" y="44155"/>
                </a:moveTo>
                <a:lnTo>
                  <a:pt x="82871" y="44155"/>
                </a:lnTo>
                <a:lnTo>
                  <a:pt x="82249" y="45221"/>
                </a:lnTo>
                <a:lnTo>
                  <a:pt x="83149" y="44155"/>
                </a:lnTo>
                <a:close/>
              </a:path>
              <a:path w="177800" h="277494">
                <a:moveTo>
                  <a:pt x="91626" y="34119"/>
                </a:moveTo>
                <a:lnTo>
                  <a:pt x="89833" y="35896"/>
                </a:lnTo>
                <a:lnTo>
                  <a:pt x="90810" y="35086"/>
                </a:lnTo>
                <a:lnTo>
                  <a:pt x="91626" y="34119"/>
                </a:lnTo>
                <a:close/>
              </a:path>
              <a:path w="177800" h="277494">
                <a:moveTo>
                  <a:pt x="90810" y="35086"/>
                </a:moveTo>
                <a:lnTo>
                  <a:pt x="89833" y="35896"/>
                </a:lnTo>
                <a:lnTo>
                  <a:pt x="90125" y="35896"/>
                </a:lnTo>
                <a:lnTo>
                  <a:pt x="90810" y="35086"/>
                </a:lnTo>
                <a:close/>
              </a:path>
              <a:path w="177800" h="277494">
                <a:moveTo>
                  <a:pt x="107307" y="33954"/>
                </a:moveTo>
                <a:lnTo>
                  <a:pt x="107906" y="34943"/>
                </a:lnTo>
                <a:lnTo>
                  <a:pt x="108562" y="35740"/>
                </a:lnTo>
                <a:lnTo>
                  <a:pt x="107307" y="33954"/>
                </a:lnTo>
                <a:close/>
              </a:path>
              <a:path w="177800" h="277494">
                <a:moveTo>
                  <a:pt x="139886" y="33954"/>
                </a:moveTo>
                <a:lnTo>
                  <a:pt x="107307" y="33954"/>
                </a:lnTo>
                <a:lnTo>
                  <a:pt x="108562" y="35740"/>
                </a:lnTo>
                <a:lnTo>
                  <a:pt x="140707" y="35740"/>
                </a:lnTo>
                <a:lnTo>
                  <a:pt x="139886" y="33954"/>
                </a:lnTo>
                <a:close/>
              </a:path>
              <a:path w="177800" h="277494">
                <a:moveTo>
                  <a:pt x="91975" y="34119"/>
                </a:moveTo>
                <a:lnTo>
                  <a:pt x="91626" y="34119"/>
                </a:lnTo>
                <a:lnTo>
                  <a:pt x="90810" y="35086"/>
                </a:lnTo>
                <a:lnTo>
                  <a:pt x="91975" y="34119"/>
                </a:lnTo>
                <a:close/>
              </a:path>
              <a:path w="177800" h="277494">
                <a:moveTo>
                  <a:pt x="104168" y="30405"/>
                </a:moveTo>
                <a:lnTo>
                  <a:pt x="107906" y="34943"/>
                </a:lnTo>
                <a:lnTo>
                  <a:pt x="107307" y="33954"/>
                </a:lnTo>
                <a:lnTo>
                  <a:pt x="139886" y="33954"/>
                </a:lnTo>
                <a:lnTo>
                  <a:pt x="138734" y="31447"/>
                </a:lnTo>
                <a:lnTo>
                  <a:pt x="105560" y="31436"/>
                </a:lnTo>
                <a:lnTo>
                  <a:pt x="104168" y="30405"/>
                </a:lnTo>
                <a:close/>
              </a:path>
              <a:path w="177800" h="277494">
                <a:moveTo>
                  <a:pt x="95210" y="31436"/>
                </a:moveTo>
                <a:lnTo>
                  <a:pt x="93425" y="32699"/>
                </a:lnTo>
                <a:lnTo>
                  <a:pt x="94365" y="32137"/>
                </a:lnTo>
                <a:lnTo>
                  <a:pt x="95210" y="31436"/>
                </a:lnTo>
                <a:close/>
              </a:path>
              <a:path w="177800" h="277494">
                <a:moveTo>
                  <a:pt x="94365" y="32137"/>
                </a:moveTo>
                <a:lnTo>
                  <a:pt x="93425" y="32699"/>
                </a:lnTo>
                <a:lnTo>
                  <a:pt x="93687" y="32699"/>
                </a:lnTo>
                <a:lnTo>
                  <a:pt x="94365" y="32137"/>
                </a:lnTo>
                <a:close/>
              </a:path>
              <a:path w="177800" h="277494">
                <a:moveTo>
                  <a:pt x="95537" y="31436"/>
                </a:moveTo>
                <a:lnTo>
                  <a:pt x="95196" y="31447"/>
                </a:lnTo>
                <a:lnTo>
                  <a:pt x="94365" y="32137"/>
                </a:lnTo>
                <a:lnTo>
                  <a:pt x="95537" y="31436"/>
                </a:lnTo>
                <a:close/>
              </a:path>
              <a:path w="177800" h="277494">
                <a:moveTo>
                  <a:pt x="103193" y="29220"/>
                </a:moveTo>
                <a:lnTo>
                  <a:pt x="104168" y="30405"/>
                </a:lnTo>
                <a:lnTo>
                  <a:pt x="105576" y="31447"/>
                </a:lnTo>
                <a:lnTo>
                  <a:pt x="103292" y="29277"/>
                </a:lnTo>
                <a:close/>
              </a:path>
              <a:path w="177800" h="277494">
                <a:moveTo>
                  <a:pt x="103246" y="29234"/>
                </a:moveTo>
                <a:lnTo>
                  <a:pt x="105576" y="31447"/>
                </a:lnTo>
                <a:lnTo>
                  <a:pt x="138734" y="31447"/>
                </a:lnTo>
                <a:lnTo>
                  <a:pt x="137915" y="29673"/>
                </a:lnTo>
                <a:lnTo>
                  <a:pt x="104989" y="29673"/>
                </a:lnTo>
                <a:lnTo>
                  <a:pt x="103246" y="29234"/>
                </a:lnTo>
                <a:close/>
              </a:path>
              <a:path w="177800" h="277494">
                <a:moveTo>
                  <a:pt x="98935" y="29403"/>
                </a:moveTo>
                <a:lnTo>
                  <a:pt x="96499" y="30563"/>
                </a:lnTo>
                <a:lnTo>
                  <a:pt x="97772" y="30099"/>
                </a:lnTo>
                <a:lnTo>
                  <a:pt x="98935" y="29403"/>
                </a:lnTo>
                <a:close/>
              </a:path>
              <a:path w="177800" h="277494">
                <a:moveTo>
                  <a:pt x="97772" y="30099"/>
                </a:moveTo>
                <a:lnTo>
                  <a:pt x="96499" y="30563"/>
                </a:lnTo>
                <a:lnTo>
                  <a:pt x="96995" y="30563"/>
                </a:lnTo>
                <a:lnTo>
                  <a:pt x="97772" y="30099"/>
                </a:lnTo>
                <a:close/>
              </a:path>
              <a:path w="177800" h="277494">
                <a:moveTo>
                  <a:pt x="102248" y="28982"/>
                </a:moveTo>
                <a:lnTo>
                  <a:pt x="104168" y="30405"/>
                </a:lnTo>
                <a:lnTo>
                  <a:pt x="103193" y="29220"/>
                </a:lnTo>
                <a:lnTo>
                  <a:pt x="102248" y="28982"/>
                </a:lnTo>
                <a:close/>
              </a:path>
              <a:path w="177800" h="277494">
                <a:moveTo>
                  <a:pt x="99677" y="29403"/>
                </a:moveTo>
                <a:lnTo>
                  <a:pt x="98935" y="29403"/>
                </a:lnTo>
                <a:lnTo>
                  <a:pt x="97772" y="30099"/>
                </a:lnTo>
                <a:lnTo>
                  <a:pt x="99677" y="29403"/>
                </a:lnTo>
                <a:close/>
              </a:path>
              <a:path w="177800" h="277494">
                <a:moveTo>
                  <a:pt x="103672" y="29049"/>
                </a:moveTo>
                <a:lnTo>
                  <a:pt x="103052" y="29049"/>
                </a:lnTo>
                <a:lnTo>
                  <a:pt x="103246" y="29234"/>
                </a:lnTo>
                <a:lnTo>
                  <a:pt x="104989" y="29673"/>
                </a:lnTo>
                <a:lnTo>
                  <a:pt x="103672" y="29049"/>
                </a:lnTo>
                <a:close/>
              </a:path>
              <a:path w="177800" h="277494">
                <a:moveTo>
                  <a:pt x="136524" y="27301"/>
                </a:moveTo>
                <a:lnTo>
                  <a:pt x="99978" y="27301"/>
                </a:lnTo>
                <a:lnTo>
                  <a:pt x="102381" y="28438"/>
                </a:lnTo>
                <a:lnTo>
                  <a:pt x="104602" y="28576"/>
                </a:lnTo>
                <a:lnTo>
                  <a:pt x="103073" y="28766"/>
                </a:lnTo>
                <a:lnTo>
                  <a:pt x="104989" y="29673"/>
                </a:lnTo>
                <a:lnTo>
                  <a:pt x="137915" y="29673"/>
                </a:lnTo>
                <a:lnTo>
                  <a:pt x="136524" y="27301"/>
                </a:lnTo>
                <a:close/>
              </a:path>
              <a:path w="177800" h="277494">
                <a:moveTo>
                  <a:pt x="101236" y="28727"/>
                </a:moveTo>
                <a:lnTo>
                  <a:pt x="98959" y="29277"/>
                </a:lnTo>
                <a:lnTo>
                  <a:pt x="100569" y="29077"/>
                </a:lnTo>
                <a:lnTo>
                  <a:pt x="101408" y="28770"/>
                </a:lnTo>
                <a:lnTo>
                  <a:pt x="101236" y="28727"/>
                </a:lnTo>
                <a:close/>
              </a:path>
              <a:path w="177800" h="277494">
                <a:moveTo>
                  <a:pt x="100569" y="29077"/>
                </a:moveTo>
                <a:lnTo>
                  <a:pt x="98959" y="29277"/>
                </a:lnTo>
                <a:lnTo>
                  <a:pt x="100022" y="29277"/>
                </a:lnTo>
                <a:lnTo>
                  <a:pt x="100569" y="29077"/>
                </a:lnTo>
                <a:close/>
              </a:path>
              <a:path w="177800" h="277494">
                <a:moveTo>
                  <a:pt x="103052" y="29049"/>
                </a:moveTo>
                <a:lnTo>
                  <a:pt x="103193" y="29220"/>
                </a:lnTo>
                <a:lnTo>
                  <a:pt x="103052" y="29049"/>
                </a:lnTo>
                <a:close/>
              </a:path>
              <a:path w="177800" h="277494">
                <a:moveTo>
                  <a:pt x="103073" y="28766"/>
                </a:moveTo>
                <a:lnTo>
                  <a:pt x="102116" y="28885"/>
                </a:lnTo>
                <a:lnTo>
                  <a:pt x="102248" y="28982"/>
                </a:lnTo>
                <a:lnTo>
                  <a:pt x="103193" y="29220"/>
                </a:lnTo>
                <a:lnTo>
                  <a:pt x="103052" y="29049"/>
                </a:lnTo>
                <a:lnTo>
                  <a:pt x="103672" y="29049"/>
                </a:lnTo>
                <a:lnTo>
                  <a:pt x="103073" y="28766"/>
                </a:lnTo>
                <a:close/>
              </a:path>
              <a:path w="177800" h="277494">
                <a:moveTo>
                  <a:pt x="101408" y="28770"/>
                </a:moveTo>
                <a:lnTo>
                  <a:pt x="100569" y="29077"/>
                </a:lnTo>
                <a:lnTo>
                  <a:pt x="101945" y="28906"/>
                </a:lnTo>
                <a:lnTo>
                  <a:pt x="101408" y="28770"/>
                </a:lnTo>
                <a:close/>
              </a:path>
              <a:path w="177800" h="277494">
                <a:moveTo>
                  <a:pt x="102116" y="28885"/>
                </a:moveTo>
                <a:lnTo>
                  <a:pt x="101945" y="28906"/>
                </a:lnTo>
                <a:lnTo>
                  <a:pt x="102248" y="28982"/>
                </a:lnTo>
                <a:lnTo>
                  <a:pt x="102116" y="28885"/>
                </a:lnTo>
                <a:close/>
              </a:path>
              <a:path w="177800" h="277494">
                <a:moveTo>
                  <a:pt x="101779" y="28635"/>
                </a:moveTo>
                <a:lnTo>
                  <a:pt x="101408" y="28770"/>
                </a:lnTo>
                <a:lnTo>
                  <a:pt x="101945" y="28906"/>
                </a:lnTo>
                <a:lnTo>
                  <a:pt x="102116" y="28885"/>
                </a:lnTo>
                <a:lnTo>
                  <a:pt x="101779" y="28635"/>
                </a:lnTo>
                <a:close/>
              </a:path>
              <a:path w="177800" h="277494">
                <a:moveTo>
                  <a:pt x="102550" y="28519"/>
                </a:moveTo>
                <a:lnTo>
                  <a:pt x="102097" y="28519"/>
                </a:lnTo>
                <a:lnTo>
                  <a:pt x="101941" y="28576"/>
                </a:lnTo>
                <a:lnTo>
                  <a:pt x="101903" y="28727"/>
                </a:lnTo>
                <a:lnTo>
                  <a:pt x="102116" y="28885"/>
                </a:lnTo>
                <a:lnTo>
                  <a:pt x="103036" y="28770"/>
                </a:lnTo>
                <a:lnTo>
                  <a:pt x="102550" y="28519"/>
                </a:lnTo>
                <a:close/>
              </a:path>
              <a:path w="177800" h="277494">
                <a:moveTo>
                  <a:pt x="101739" y="28605"/>
                </a:moveTo>
                <a:lnTo>
                  <a:pt x="101236" y="28727"/>
                </a:lnTo>
                <a:lnTo>
                  <a:pt x="101408" y="28770"/>
                </a:lnTo>
                <a:lnTo>
                  <a:pt x="101779" y="28635"/>
                </a:lnTo>
                <a:close/>
              </a:path>
              <a:path w="177800" h="277494">
                <a:moveTo>
                  <a:pt x="102381" y="28438"/>
                </a:moveTo>
                <a:lnTo>
                  <a:pt x="103073" y="28766"/>
                </a:lnTo>
                <a:lnTo>
                  <a:pt x="104602" y="28576"/>
                </a:lnTo>
                <a:lnTo>
                  <a:pt x="102381" y="28438"/>
                </a:lnTo>
                <a:close/>
              </a:path>
              <a:path w="177800" h="277494">
                <a:moveTo>
                  <a:pt x="99347" y="28251"/>
                </a:moveTo>
                <a:lnTo>
                  <a:pt x="101236" y="28727"/>
                </a:lnTo>
                <a:lnTo>
                  <a:pt x="101616" y="28635"/>
                </a:lnTo>
                <a:lnTo>
                  <a:pt x="101514" y="28438"/>
                </a:lnTo>
                <a:lnTo>
                  <a:pt x="99347" y="28251"/>
                </a:lnTo>
                <a:close/>
              </a:path>
              <a:path w="177800" h="277494">
                <a:moveTo>
                  <a:pt x="102097" y="28519"/>
                </a:moveTo>
                <a:lnTo>
                  <a:pt x="101861" y="28576"/>
                </a:lnTo>
                <a:lnTo>
                  <a:pt x="102097" y="28519"/>
                </a:lnTo>
                <a:close/>
              </a:path>
              <a:path w="177800" h="277494">
                <a:moveTo>
                  <a:pt x="101435" y="28380"/>
                </a:moveTo>
                <a:lnTo>
                  <a:pt x="101739" y="28605"/>
                </a:lnTo>
                <a:lnTo>
                  <a:pt x="102097" y="28519"/>
                </a:lnTo>
                <a:lnTo>
                  <a:pt x="102550" y="28519"/>
                </a:lnTo>
                <a:lnTo>
                  <a:pt x="102381" y="28438"/>
                </a:lnTo>
                <a:lnTo>
                  <a:pt x="101435" y="28380"/>
                </a:lnTo>
                <a:close/>
              </a:path>
              <a:path w="177800" h="277494">
                <a:moveTo>
                  <a:pt x="99978" y="27301"/>
                </a:moveTo>
                <a:lnTo>
                  <a:pt x="101435" y="28380"/>
                </a:lnTo>
                <a:lnTo>
                  <a:pt x="102381" y="28438"/>
                </a:lnTo>
                <a:lnTo>
                  <a:pt x="99978" y="27301"/>
                </a:lnTo>
                <a:close/>
              </a:path>
              <a:path w="177800" h="277494">
                <a:moveTo>
                  <a:pt x="101260" y="28251"/>
                </a:moveTo>
                <a:lnTo>
                  <a:pt x="99347" y="28251"/>
                </a:lnTo>
                <a:lnTo>
                  <a:pt x="101435" y="28380"/>
                </a:lnTo>
                <a:lnTo>
                  <a:pt x="101260" y="2825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450580" y="2979420"/>
            <a:ext cx="2128520" cy="400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75"/>
              </a:lnSpc>
              <a:spcBef>
                <a:spcPts val="100"/>
              </a:spcBef>
            </a:pPr>
            <a:r>
              <a:rPr dirty="0" sz="2000" spc="-45">
                <a:latin typeface="Cambria Math"/>
                <a:cs typeface="Cambria Math"/>
              </a:rPr>
              <a:t>𝐻</a:t>
            </a:r>
            <a:r>
              <a:rPr dirty="0" baseline="27777" sz="2250" spc="-67">
                <a:latin typeface="Cambria Math"/>
                <a:cs typeface="Cambria Math"/>
              </a:rPr>
              <a:t>($)  </a:t>
            </a:r>
            <a:r>
              <a:rPr dirty="0" sz="2000">
                <a:latin typeface="Cambria Math"/>
                <a:cs typeface="Cambria Math"/>
              </a:rPr>
              <a:t>= </a:t>
            </a:r>
            <a:r>
              <a:rPr dirty="0" sz="2000" spc="-45">
                <a:latin typeface="Cambria Math"/>
                <a:cs typeface="Cambria Math"/>
              </a:rPr>
              <a:t>[ℎ</a:t>
            </a:r>
            <a:r>
              <a:rPr dirty="0" baseline="40740" sz="2250" spc="-67">
                <a:latin typeface="Cambria Math"/>
                <a:cs typeface="Cambria Math"/>
              </a:rPr>
              <a:t>($) </a:t>
            </a:r>
            <a:r>
              <a:rPr dirty="0" sz="2000">
                <a:latin typeface="Cambria Math"/>
                <a:cs typeface="Cambria Math"/>
              </a:rPr>
              <a:t>…</a:t>
            </a:r>
            <a:r>
              <a:rPr dirty="0" sz="2000" spc="-130">
                <a:latin typeface="Cambria Math"/>
                <a:cs typeface="Cambria Math"/>
              </a:rPr>
              <a:t> </a:t>
            </a:r>
            <a:r>
              <a:rPr dirty="0" sz="2000" spc="50">
                <a:latin typeface="Cambria Math"/>
                <a:cs typeface="Cambria Math"/>
              </a:rPr>
              <a:t>ℎ</a:t>
            </a:r>
            <a:r>
              <a:rPr dirty="0" baseline="40740" sz="2250" spc="75">
                <a:latin typeface="Cambria Math"/>
                <a:cs typeface="Cambria Math"/>
              </a:rPr>
              <a:t>($)</a:t>
            </a:r>
            <a:r>
              <a:rPr dirty="0" sz="2000" spc="50">
                <a:latin typeface="Cambria Math"/>
                <a:cs typeface="Cambria Math"/>
              </a:rPr>
              <a:t>]</a:t>
            </a:r>
            <a:r>
              <a:rPr dirty="0" baseline="27777" sz="2250" spc="75">
                <a:latin typeface="Cambria Math"/>
                <a:cs typeface="Cambria Math"/>
              </a:rPr>
              <a:t>-</a:t>
            </a:r>
            <a:endParaRPr baseline="27777" sz="2250">
              <a:latin typeface="Cambria Math"/>
              <a:cs typeface="Cambria Math"/>
            </a:endParaRPr>
          </a:p>
          <a:p>
            <a:pPr marL="994410">
              <a:lnSpc>
                <a:spcPts val="1175"/>
              </a:lnSpc>
              <a:tabLst>
                <a:tab pos="1655445" algn="l"/>
              </a:tabLst>
            </a:pPr>
            <a:r>
              <a:rPr dirty="0" baseline="1851" sz="2250" spc="-247">
                <a:latin typeface="Cambria Math"/>
                <a:cs typeface="Cambria Math"/>
              </a:rPr>
              <a:t>&amp;	</a:t>
            </a:r>
            <a:r>
              <a:rPr dirty="0" sz="1500" spc="215">
                <a:latin typeface="Cambria Math"/>
                <a:cs typeface="Cambria Math"/>
              </a:rPr>
              <a:t>|,|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95134" y="2448641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647700" y="0"/>
                </a:moveTo>
                <a:lnTo>
                  <a:pt x="647700" y="57150"/>
                </a:lnTo>
                <a:lnTo>
                  <a:pt x="0" y="57150"/>
                </a:lnTo>
                <a:lnTo>
                  <a:pt x="0" y="171450"/>
                </a:lnTo>
                <a:lnTo>
                  <a:pt x="647700" y="171450"/>
                </a:lnTo>
                <a:lnTo>
                  <a:pt x="647700" y="228600"/>
                </a:lnTo>
                <a:lnTo>
                  <a:pt x="762000" y="114300"/>
                </a:lnTo>
                <a:lnTo>
                  <a:pt x="6477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71135" y="2390700"/>
            <a:ext cx="820419" cy="344805"/>
          </a:xfrm>
          <a:custGeom>
            <a:avLst/>
            <a:gdLst/>
            <a:ahLst/>
            <a:cxnLst/>
            <a:rect l="l" t="t" r="r" b="b"/>
            <a:pathLst>
              <a:path w="820420" h="344805">
                <a:moveTo>
                  <a:pt x="647700" y="0"/>
                </a:moveTo>
                <a:lnTo>
                  <a:pt x="647700" y="91090"/>
                </a:lnTo>
                <a:lnTo>
                  <a:pt x="0" y="91090"/>
                </a:lnTo>
                <a:lnTo>
                  <a:pt x="0" y="253390"/>
                </a:lnTo>
                <a:lnTo>
                  <a:pt x="647700" y="253390"/>
                </a:lnTo>
                <a:lnTo>
                  <a:pt x="647700" y="344482"/>
                </a:lnTo>
                <a:lnTo>
                  <a:pt x="717229" y="274952"/>
                </a:lnTo>
                <a:lnTo>
                  <a:pt x="676499" y="274952"/>
                </a:lnTo>
                <a:lnTo>
                  <a:pt x="676499" y="224590"/>
                </a:lnTo>
                <a:lnTo>
                  <a:pt x="28799" y="224590"/>
                </a:lnTo>
                <a:lnTo>
                  <a:pt x="28799" y="119890"/>
                </a:lnTo>
                <a:lnTo>
                  <a:pt x="676499" y="119890"/>
                </a:lnTo>
                <a:lnTo>
                  <a:pt x="676499" y="69528"/>
                </a:lnTo>
                <a:lnTo>
                  <a:pt x="717228" y="69528"/>
                </a:lnTo>
                <a:lnTo>
                  <a:pt x="647700" y="0"/>
                </a:lnTo>
                <a:close/>
              </a:path>
              <a:path w="820420" h="344805">
                <a:moveTo>
                  <a:pt x="717228" y="69528"/>
                </a:moveTo>
                <a:lnTo>
                  <a:pt x="676499" y="69528"/>
                </a:lnTo>
                <a:lnTo>
                  <a:pt x="779211" y="172241"/>
                </a:lnTo>
                <a:lnTo>
                  <a:pt x="676499" y="274952"/>
                </a:lnTo>
                <a:lnTo>
                  <a:pt x="717229" y="274952"/>
                </a:lnTo>
                <a:lnTo>
                  <a:pt x="819941" y="172241"/>
                </a:lnTo>
                <a:lnTo>
                  <a:pt x="717228" y="69528"/>
                </a:lnTo>
                <a:close/>
              </a:path>
              <a:path w="820420" h="344805">
                <a:moveTo>
                  <a:pt x="686099" y="92706"/>
                </a:moveTo>
                <a:lnTo>
                  <a:pt x="686099" y="129490"/>
                </a:lnTo>
                <a:lnTo>
                  <a:pt x="38399" y="129490"/>
                </a:lnTo>
                <a:lnTo>
                  <a:pt x="38399" y="214990"/>
                </a:lnTo>
                <a:lnTo>
                  <a:pt x="686099" y="214990"/>
                </a:lnTo>
                <a:lnTo>
                  <a:pt x="686099" y="251776"/>
                </a:lnTo>
                <a:lnTo>
                  <a:pt x="709275" y="228600"/>
                </a:lnTo>
                <a:lnTo>
                  <a:pt x="695699" y="228600"/>
                </a:lnTo>
                <a:lnTo>
                  <a:pt x="695699" y="205390"/>
                </a:lnTo>
                <a:lnTo>
                  <a:pt x="47999" y="205390"/>
                </a:lnTo>
                <a:lnTo>
                  <a:pt x="47999" y="139090"/>
                </a:lnTo>
                <a:lnTo>
                  <a:pt x="695699" y="139090"/>
                </a:lnTo>
                <a:lnTo>
                  <a:pt x="695699" y="115882"/>
                </a:lnTo>
                <a:lnTo>
                  <a:pt x="709275" y="115882"/>
                </a:lnTo>
                <a:lnTo>
                  <a:pt x="686099" y="92706"/>
                </a:lnTo>
                <a:close/>
              </a:path>
              <a:path w="820420" h="344805">
                <a:moveTo>
                  <a:pt x="709275" y="115882"/>
                </a:moveTo>
                <a:lnTo>
                  <a:pt x="695699" y="115882"/>
                </a:lnTo>
                <a:lnTo>
                  <a:pt x="752058" y="172241"/>
                </a:lnTo>
                <a:lnTo>
                  <a:pt x="695699" y="228600"/>
                </a:lnTo>
                <a:lnTo>
                  <a:pt x="709275" y="228600"/>
                </a:lnTo>
                <a:lnTo>
                  <a:pt x="765634" y="172241"/>
                </a:lnTo>
                <a:lnTo>
                  <a:pt x="709275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73049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7247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/>
              <a:t>Node embedding </a:t>
            </a:r>
            <a:r>
              <a:rPr dirty="0" sz="3000" spc="5">
                <a:latin typeface="Cambria Math"/>
                <a:cs typeface="Cambria Math"/>
              </a:rPr>
              <a:t>𝒛</a:t>
            </a:r>
            <a:r>
              <a:rPr dirty="0" baseline="-15151" sz="3300" spc="7">
                <a:latin typeface="Cambria Math"/>
                <a:cs typeface="Cambria Math"/>
              </a:rPr>
              <a:t>1 </a:t>
            </a:r>
            <a:r>
              <a:rPr dirty="0" sz="3000" spc="-5"/>
              <a:t>is </a:t>
            </a:r>
            <a:r>
              <a:rPr dirty="0" sz="3000"/>
              <a:t>a </a:t>
            </a:r>
            <a:r>
              <a:rPr dirty="0" sz="3000" spc="-5"/>
              <a:t>function </a:t>
            </a:r>
            <a:r>
              <a:rPr dirty="0" sz="3000"/>
              <a:t>of </a:t>
            </a:r>
            <a:r>
              <a:rPr dirty="0" sz="3000" spc="-5"/>
              <a:t>input</a:t>
            </a:r>
            <a:r>
              <a:rPr dirty="0" sz="3000" spc="40"/>
              <a:t> </a:t>
            </a:r>
            <a:r>
              <a:rPr dirty="0" sz="3000" spc="-15"/>
              <a:t>graph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9447" y="3081527"/>
            <a:ext cx="2387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05">
                <a:solidFill>
                  <a:srgbClr val="CF5B1B"/>
                </a:solidFill>
                <a:latin typeface="Cambria Math"/>
                <a:cs typeface="Cambria Math"/>
              </a:rPr>
              <a:t>$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13966" y="2835172"/>
            <a:ext cx="668655" cy="376555"/>
          </a:xfrm>
          <a:custGeom>
            <a:avLst/>
            <a:gdLst/>
            <a:ahLst/>
            <a:cxnLst/>
            <a:rect l="l" t="t" r="r" b="b"/>
            <a:pathLst>
              <a:path w="668654" h="376555">
                <a:moveTo>
                  <a:pt x="548107" y="0"/>
                </a:moveTo>
                <a:lnTo>
                  <a:pt x="542749" y="15279"/>
                </a:lnTo>
                <a:lnTo>
                  <a:pt x="564540" y="24736"/>
                </a:lnTo>
                <a:lnTo>
                  <a:pt x="583280" y="37826"/>
                </a:lnTo>
                <a:lnTo>
                  <a:pt x="611607" y="74909"/>
                </a:lnTo>
                <a:lnTo>
                  <a:pt x="628276" y="124940"/>
                </a:lnTo>
                <a:lnTo>
                  <a:pt x="633832" y="186331"/>
                </a:lnTo>
                <a:lnTo>
                  <a:pt x="632437" y="219533"/>
                </a:lnTo>
                <a:lnTo>
                  <a:pt x="621275" y="276782"/>
                </a:lnTo>
                <a:lnTo>
                  <a:pt x="598876" y="321493"/>
                </a:lnTo>
                <a:lnTo>
                  <a:pt x="564795" y="351655"/>
                </a:lnTo>
                <a:lnTo>
                  <a:pt x="543345" y="361156"/>
                </a:lnTo>
                <a:lnTo>
                  <a:pt x="548107" y="376435"/>
                </a:lnTo>
                <a:lnTo>
                  <a:pt x="599453" y="352349"/>
                </a:lnTo>
                <a:lnTo>
                  <a:pt x="637205" y="310653"/>
                </a:lnTo>
                <a:lnTo>
                  <a:pt x="660423" y="254818"/>
                </a:lnTo>
                <a:lnTo>
                  <a:pt x="668162" y="188316"/>
                </a:lnTo>
                <a:lnTo>
                  <a:pt x="666221" y="153807"/>
                </a:lnTo>
                <a:lnTo>
                  <a:pt x="650693" y="92638"/>
                </a:lnTo>
                <a:lnTo>
                  <a:pt x="619898" y="42843"/>
                </a:lnTo>
                <a:lnTo>
                  <a:pt x="575399" y="9853"/>
                </a:lnTo>
                <a:lnTo>
                  <a:pt x="548107" y="0"/>
                </a:lnTo>
                <a:close/>
              </a:path>
              <a:path w="66865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1806955"/>
            <a:ext cx="7934959" cy="1426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Supervised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setting</a:t>
            </a:r>
            <a:r>
              <a:rPr dirty="0" sz="3000" spc="-10">
                <a:latin typeface="Calibri"/>
                <a:cs typeface="Calibri"/>
              </a:rPr>
              <a:t>: </a:t>
            </a:r>
            <a:r>
              <a:rPr dirty="0" sz="3000" spc="-15">
                <a:latin typeface="Calibri"/>
                <a:cs typeface="Calibri"/>
              </a:rPr>
              <a:t>we want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15">
                <a:latin typeface="Calibri"/>
                <a:cs typeface="Calibri"/>
              </a:rPr>
              <a:t>minimize </a:t>
            </a:r>
            <a:r>
              <a:rPr dirty="0" sz="3000" spc="-5">
                <a:latin typeface="Calibri"/>
                <a:cs typeface="Calibri"/>
              </a:rPr>
              <a:t>the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loss</a:t>
            </a:r>
            <a:endParaRPr sz="3000">
              <a:latin typeface="Calibri"/>
              <a:cs typeface="Calibri"/>
            </a:endParaRPr>
          </a:p>
          <a:p>
            <a:pPr marL="332740">
              <a:lnSpc>
                <a:spcPts val="3595"/>
              </a:lnSpc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ℒ </a:t>
            </a:r>
            <a:r>
              <a:rPr dirty="0" sz="3000" spc="-5">
                <a:latin typeface="Calibri"/>
                <a:cs typeface="Calibri"/>
              </a:rPr>
              <a:t>(see also slide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15):</a:t>
            </a:r>
            <a:endParaRPr sz="3000">
              <a:latin typeface="Calibri"/>
              <a:cs typeface="Calibri"/>
            </a:endParaRPr>
          </a:p>
          <a:p>
            <a:pPr marL="2362835">
              <a:lnSpc>
                <a:spcPts val="3835"/>
              </a:lnSpc>
              <a:tabLst>
                <a:tab pos="4328160" algn="l"/>
                <a:tab pos="4899660" algn="l"/>
              </a:tabLst>
            </a:pPr>
            <a:r>
              <a:rPr dirty="0" sz="3200" spc="-5">
                <a:latin typeface="Cambria Math"/>
                <a:cs typeface="Cambria Math"/>
              </a:rPr>
              <a:t>min</a:t>
            </a:r>
            <a:r>
              <a:rPr dirty="0" sz="3200" spc="-170">
                <a:latin typeface="Cambria Math"/>
                <a:cs typeface="Cambria Math"/>
              </a:rPr>
              <a:t> </a:t>
            </a:r>
            <a:r>
              <a:rPr dirty="0" sz="3200" spc="15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r>
              <a:rPr dirty="0" sz="3200" spc="15">
                <a:latin typeface="Cambria Math"/>
                <a:cs typeface="Cambria Math"/>
              </a:rPr>
              <a:t>(𝒚,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𝑓	</a:t>
            </a:r>
            <a:r>
              <a:rPr dirty="0" sz="3200" spc="310">
                <a:latin typeface="Cambria Math"/>
                <a:cs typeface="Cambria Math"/>
              </a:rPr>
              <a:t>𝒛</a:t>
            </a:r>
            <a:r>
              <a:rPr dirty="0" baseline="-15700" sz="3450" spc="465">
                <a:latin typeface="Cambria Math"/>
                <a:cs typeface="Cambria Math"/>
              </a:rPr>
              <a:t>!	</a:t>
            </a:r>
            <a:r>
              <a:rPr dirty="0" sz="320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18108" y="3365500"/>
            <a:ext cx="7785734" cy="295783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mbria Math"/>
                <a:cs typeface="Cambria Math"/>
              </a:rPr>
              <a:t>𝒚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label</a:t>
            </a:r>
            <a:endParaRPr sz="2800">
              <a:latin typeface="Calibri"/>
              <a:cs typeface="Calibri"/>
            </a:endParaRPr>
          </a:p>
          <a:p>
            <a:pPr marL="625475" marR="5080" indent="-274320">
              <a:lnSpc>
                <a:spcPct val="101400"/>
              </a:lnSpc>
              <a:spcBef>
                <a:spcPts val="5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ℒ </a:t>
            </a:r>
            <a:r>
              <a:rPr dirty="0" sz="2800" spc="-5">
                <a:latin typeface="Calibri"/>
                <a:cs typeface="Calibri"/>
              </a:rPr>
              <a:t>could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L2 if </a:t>
            </a:r>
            <a:r>
              <a:rPr dirty="0" sz="2800">
                <a:latin typeface="Cambria Math"/>
                <a:cs typeface="Cambria Math"/>
              </a:rPr>
              <a:t>𝒚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>
                <a:latin typeface="Calibri"/>
                <a:cs typeface="Calibri"/>
              </a:rPr>
              <a:t>real </a:t>
            </a:r>
            <a:r>
              <a:rPr dirty="0" sz="2800" spc="-40">
                <a:latin typeface="Calibri"/>
                <a:cs typeface="Calibri"/>
              </a:rPr>
              <a:t>number, </a:t>
            </a:r>
            <a:r>
              <a:rPr dirty="0" sz="2800" spc="-5">
                <a:latin typeface="Calibri"/>
                <a:cs typeface="Calibri"/>
              </a:rPr>
              <a:t>or </a:t>
            </a:r>
            <a:r>
              <a:rPr dirty="0" sz="2800" spc="-15">
                <a:latin typeface="Calibri"/>
                <a:cs typeface="Calibri"/>
              </a:rPr>
              <a:t>cross </a:t>
            </a:r>
            <a:r>
              <a:rPr dirty="0" sz="2800" spc="-100">
                <a:latin typeface="Calibri"/>
                <a:cs typeface="Calibri"/>
              </a:rPr>
              <a:t>entropy 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>
                <a:latin typeface="Cambria Math"/>
                <a:cs typeface="Cambria Math"/>
              </a:rPr>
              <a:t>𝒚 </a:t>
            </a:r>
            <a:r>
              <a:rPr dirty="0" sz="2800" spc="-5">
                <a:latin typeface="Calibri"/>
                <a:cs typeface="Calibri"/>
              </a:rPr>
              <a:t>is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categorical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54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Unsupervised</a:t>
            </a:r>
            <a:r>
              <a:rPr dirty="0" sz="3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setting: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No </a:t>
            </a:r>
            <a:r>
              <a:rPr dirty="0" sz="2800" spc="-5">
                <a:latin typeface="Calibri"/>
                <a:cs typeface="Calibri"/>
              </a:rPr>
              <a:t>node label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available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Use the </a:t>
            </a:r>
            <a:r>
              <a:rPr dirty="0" sz="2800" spc="-15" b="1">
                <a:latin typeface="Calibri"/>
                <a:cs typeface="Calibri"/>
              </a:rPr>
              <a:t>graph </a:t>
            </a:r>
            <a:r>
              <a:rPr dirty="0" sz="2800" spc="-10" b="1">
                <a:latin typeface="Calibri"/>
                <a:cs typeface="Calibri"/>
              </a:rPr>
              <a:t>structure </a:t>
            </a:r>
            <a:r>
              <a:rPr dirty="0" sz="2800" b="1">
                <a:latin typeface="Calibri"/>
                <a:cs typeface="Calibri"/>
              </a:rPr>
              <a:t>as </a:t>
            </a:r>
            <a:r>
              <a:rPr dirty="0" sz="2800" spc="-5" b="1">
                <a:latin typeface="Calibri"/>
                <a:cs typeface="Calibri"/>
              </a:rPr>
              <a:t>the</a:t>
            </a:r>
            <a:r>
              <a:rPr dirty="0" sz="2800" spc="5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supervision!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3858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2783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5" b="1">
                <a:latin typeface="Calibri"/>
                <a:cs typeface="Calibri"/>
              </a:rPr>
              <a:t>“Similar” </a:t>
            </a:r>
            <a:r>
              <a:rPr dirty="0" spc="-5" b="1">
                <a:latin typeface="Calibri"/>
                <a:cs typeface="Calibri"/>
              </a:rPr>
              <a:t>nodes </a:t>
            </a:r>
            <a:r>
              <a:rPr dirty="0" spc="-25" b="1">
                <a:latin typeface="Calibri"/>
                <a:cs typeface="Calibri"/>
              </a:rPr>
              <a:t>have </a:t>
            </a:r>
            <a:r>
              <a:rPr dirty="0" spc="-5" b="1">
                <a:latin typeface="Calibri"/>
                <a:cs typeface="Calibri"/>
              </a:rPr>
              <a:t>similar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embeddings</a:t>
            </a:r>
          </a:p>
        </p:txBody>
      </p:sp>
      <p:sp>
        <p:nvSpPr>
          <p:cNvPr id="4" name="object 4"/>
          <p:cNvSpPr/>
          <p:nvPr/>
        </p:nvSpPr>
        <p:spPr>
          <a:xfrm>
            <a:off x="5207880" y="2022238"/>
            <a:ext cx="897255" cy="282575"/>
          </a:xfrm>
          <a:custGeom>
            <a:avLst/>
            <a:gdLst/>
            <a:ahLst/>
            <a:cxnLst/>
            <a:rect l="l" t="t" r="r" b="b"/>
            <a:pathLst>
              <a:path w="897254" h="282575">
                <a:moveTo>
                  <a:pt x="807115" y="0"/>
                </a:moveTo>
                <a:lnTo>
                  <a:pt x="803097" y="11459"/>
                </a:lnTo>
                <a:lnTo>
                  <a:pt x="819440" y="18552"/>
                </a:lnTo>
                <a:lnTo>
                  <a:pt x="833495" y="28370"/>
                </a:lnTo>
                <a:lnTo>
                  <a:pt x="862033" y="73878"/>
                </a:lnTo>
                <a:lnTo>
                  <a:pt x="870367" y="115662"/>
                </a:lnTo>
                <a:lnTo>
                  <a:pt x="871409" y="139749"/>
                </a:lnTo>
                <a:lnTo>
                  <a:pt x="870362" y="164650"/>
                </a:lnTo>
                <a:lnTo>
                  <a:pt x="861990" y="207587"/>
                </a:lnTo>
                <a:lnTo>
                  <a:pt x="833513" y="253826"/>
                </a:lnTo>
                <a:lnTo>
                  <a:pt x="803542" y="270866"/>
                </a:lnTo>
                <a:lnTo>
                  <a:pt x="807115" y="282327"/>
                </a:lnTo>
                <a:lnTo>
                  <a:pt x="845624" y="264263"/>
                </a:lnTo>
                <a:lnTo>
                  <a:pt x="873939" y="232990"/>
                </a:lnTo>
                <a:lnTo>
                  <a:pt x="891351" y="191113"/>
                </a:lnTo>
                <a:lnTo>
                  <a:pt x="897155" y="141237"/>
                </a:lnTo>
                <a:lnTo>
                  <a:pt x="895700" y="115355"/>
                </a:lnTo>
                <a:lnTo>
                  <a:pt x="884054" y="69479"/>
                </a:lnTo>
                <a:lnTo>
                  <a:pt x="860958" y="32133"/>
                </a:lnTo>
                <a:lnTo>
                  <a:pt x="827583" y="7390"/>
                </a:lnTo>
                <a:lnTo>
                  <a:pt x="807115" y="0"/>
                </a:lnTo>
                <a:close/>
              </a:path>
              <a:path w="89725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797811"/>
            <a:ext cx="7901305" cy="448310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algn="ctr" marR="462915">
              <a:lnSpc>
                <a:spcPct val="100000"/>
              </a:lnSpc>
              <a:spcBef>
                <a:spcPts val="1155"/>
              </a:spcBef>
              <a:tabLst>
                <a:tab pos="643890" algn="l"/>
              </a:tabLst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ℒ</a:t>
            </a:r>
            <a:r>
              <a:rPr dirty="0" sz="2400" spc="20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=	</a:t>
            </a:r>
            <a:r>
              <a:rPr dirty="0" sz="2400" spc="1850">
                <a:solidFill>
                  <a:srgbClr val="C00000"/>
                </a:solidFill>
                <a:latin typeface="Cambria Math"/>
                <a:cs typeface="Cambria Math"/>
              </a:rPr>
              <a:t>7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85">
                <a:solidFill>
                  <a:srgbClr val="C00000"/>
                </a:solidFill>
                <a:latin typeface="Cambria Math"/>
                <a:cs typeface="Cambria Math"/>
              </a:rPr>
              <a:t>CE(𝑦</a:t>
            </a:r>
            <a:r>
              <a:rPr dirty="0" baseline="-15432" sz="2700" spc="127">
                <a:solidFill>
                  <a:srgbClr val="C00000"/>
                </a:solidFill>
                <a:latin typeface="Cambria Math"/>
                <a:cs typeface="Cambria Math"/>
              </a:rPr>
              <a:t>*,!</a:t>
            </a:r>
            <a:r>
              <a:rPr dirty="0" sz="2400" spc="85">
                <a:solidFill>
                  <a:srgbClr val="C00000"/>
                </a:solidFill>
                <a:latin typeface="Cambria Math"/>
                <a:cs typeface="Cambria Math"/>
              </a:rPr>
              <a:t>, 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DEC  </a:t>
            </a:r>
            <a:r>
              <a:rPr dirty="0" sz="2400" spc="125">
                <a:solidFill>
                  <a:srgbClr val="C00000"/>
                </a:solidFill>
                <a:latin typeface="Cambria Math"/>
                <a:cs typeface="Cambria Math"/>
              </a:rPr>
              <a:t>𝑧</a:t>
            </a:r>
            <a:r>
              <a:rPr dirty="0" baseline="-15432" sz="2700" spc="187">
                <a:solidFill>
                  <a:srgbClr val="C00000"/>
                </a:solidFill>
                <a:latin typeface="Cambria Math"/>
                <a:cs typeface="Cambria Math"/>
              </a:rPr>
              <a:t>*</a:t>
            </a:r>
            <a:r>
              <a:rPr dirty="0" sz="2400" spc="125">
                <a:solidFill>
                  <a:srgbClr val="C00000"/>
                </a:solidFill>
                <a:latin typeface="Cambria Math"/>
                <a:cs typeface="Cambria Math"/>
              </a:rPr>
              <a:t>, </a:t>
            </a:r>
            <a:r>
              <a:rPr dirty="0" sz="2400" spc="215">
                <a:solidFill>
                  <a:srgbClr val="C00000"/>
                </a:solidFill>
                <a:latin typeface="Cambria Math"/>
                <a:cs typeface="Cambria Math"/>
              </a:rPr>
              <a:t>𝑧</a:t>
            </a:r>
            <a:r>
              <a:rPr dirty="0" baseline="-15432" sz="2700" spc="322">
                <a:solidFill>
                  <a:srgbClr val="C00000"/>
                </a:solidFill>
                <a:latin typeface="Cambria Math"/>
                <a:cs typeface="Cambria Math"/>
              </a:rPr>
              <a:t>!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2375535">
              <a:lnSpc>
                <a:spcPct val="100000"/>
              </a:lnSpc>
              <a:spcBef>
                <a:spcPts val="790"/>
              </a:spcBef>
            </a:pPr>
            <a:r>
              <a:rPr dirty="0" sz="1800" spc="-120">
                <a:solidFill>
                  <a:srgbClr val="C00000"/>
                </a:solidFill>
                <a:latin typeface="Cambria Math"/>
                <a:cs typeface="Cambria Math"/>
              </a:rPr>
              <a:t>6</a:t>
            </a:r>
            <a:r>
              <a:rPr dirty="0" baseline="-13888" sz="2100" spc="-179">
                <a:solidFill>
                  <a:srgbClr val="C00000"/>
                </a:solidFill>
                <a:latin typeface="Cambria Math"/>
                <a:cs typeface="Cambria Math"/>
              </a:rPr>
              <a:t>&amp;</a:t>
            </a:r>
            <a:r>
              <a:rPr dirty="0" sz="1800" spc="-120">
                <a:solidFill>
                  <a:srgbClr val="C00000"/>
                </a:solidFill>
                <a:latin typeface="Cambria Math"/>
                <a:cs typeface="Cambria Math"/>
              </a:rPr>
              <a:t>,6</a:t>
            </a:r>
            <a:r>
              <a:rPr dirty="0" baseline="-13888" sz="2100" spc="-179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endParaRPr baseline="-13888" sz="2100">
              <a:latin typeface="Cambria Math"/>
              <a:cs typeface="Cambria Math"/>
            </a:endParaRPr>
          </a:p>
          <a:p>
            <a:pPr marL="625475" indent="-274320">
              <a:lnSpc>
                <a:spcPct val="100000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25">
                <a:latin typeface="Calibri"/>
                <a:cs typeface="Calibri"/>
              </a:rPr>
              <a:t>Where </a:t>
            </a:r>
            <a:r>
              <a:rPr dirty="0" sz="2800" spc="-13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baseline="-16666" sz="3000" spc="-195">
                <a:solidFill>
                  <a:srgbClr val="C00000"/>
                </a:solidFill>
                <a:latin typeface="Cambria Math"/>
                <a:cs typeface="Cambria Math"/>
              </a:rPr>
              <a:t>A,&gt; 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= 1 </a:t>
            </a:r>
            <a:r>
              <a:rPr dirty="0" sz="2700" spc="-20">
                <a:latin typeface="Calibri"/>
                <a:cs typeface="Calibri"/>
              </a:rPr>
              <a:t>when </a:t>
            </a:r>
            <a:r>
              <a:rPr dirty="0" sz="2700" spc="-15">
                <a:latin typeface="Calibri"/>
                <a:cs typeface="Calibri"/>
              </a:rPr>
              <a:t>node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𝑢 </a:t>
            </a:r>
            <a:r>
              <a:rPr dirty="0" sz="2700" spc="-15">
                <a:latin typeface="Calibri"/>
                <a:cs typeface="Calibri"/>
              </a:rPr>
              <a:t>and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𝑣 </a:t>
            </a:r>
            <a:r>
              <a:rPr dirty="0" sz="2700" spc="-25">
                <a:latin typeface="Calibri"/>
                <a:cs typeface="Calibri"/>
              </a:rPr>
              <a:t>are</a:t>
            </a:r>
            <a:r>
              <a:rPr dirty="0" sz="2700" spc="165">
                <a:latin typeface="Calibri"/>
                <a:cs typeface="Calibri"/>
              </a:rPr>
              <a:t> </a:t>
            </a:r>
            <a:r>
              <a:rPr dirty="0" sz="2700" spc="-15" b="1">
                <a:solidFill>
                  <a:srgbClr val="D60093"/>
                </a:solidFill>
                <a:latin typeface="Calibri"/>
                <a:cs typeface="Calibri"/>
              </a:rPr>
              <a:t>similar</a:t>
            </a:r>
            <a:endParaRPr sz="27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3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CE </a:t>
            </a:r>
            <a:r>
              <a:rPr dirty="0" sz="2700" spc="-5">
                <a:latin typeface="Calibri"/>
                <a:cs typeface="Calibri"/>
              </a:rPr>
              <a:t>is </a:t>
            </a:r>
            <a:r>
              <a:rPr dirty="0" sz="2700" spc="-15">
                <a:latin typeface="Calibri"/>
                <a:cs typeface="Calibri"/>
              </a:rPr>
              <a:t>the </a:t>
            </a:r>
            <a:r>
              <a:rPr dirty="0" sz="2700" spc="-25">
                <a:latin typeface="Calibri"/>
                <a:cs typeface="Calibri"/>
              </a:rPr>
              <a:t>cross </a:t>
            </a:r>
            <a:r>
              <a:rPr dirty="0" sz="2700" spc="-30">
                <a:latin typeface="Calibri"/>
                <a:cs typeface="Calibri"/>
              </a:rPr>
              <a:t>entropy </a:t>
            </a:r>
            <a:r>
              <a:rPr dirty="0" sz="2700" spc="-15">
                <a:latin typeface="Calibri"/>
                <a:cs typeface="Calibri"/>
              </a:rPr>
              <a:t>(slide</a:t>
            </a:r>
            <a:r>
              <a:rPr dirty="0" sz="2700" spc="-140">
                <a:latin typeface="Calibri"/>
                <a:cs typeface="Calibri"/>
              </a:rPr>
              <a:t> </a:t>
            </a:r>
            <a:r>
              <a:rPr dirty="0" sz="2700" spc="-15">
                <a:latin typeface="Calibri"/>
                <a:cs typeface="Calibri"/>
              </a:rPr>
              <a:t>16)</a:t>
            </a:r>
            <a:endParaRPr sz="2700">
              <a:latin typeface="Calibri"/>
              <a:cs typeface="Calibri"/>
            </a:endParaRPr>
          </a:p>
          <a:p>
            <a:pPr marL="625475" indent="-274320">
              <a:lnSpc>
                <a:spcPts val="3135"/>
              </a:lnSpc>
              <a:spcBef>
                <a:spcPts val="3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1417320" algn="l"/>
              </a:tabLst>
            </a:pPr>
            <a:r>
              <a:rPr dirty="0" sz="2800" spc="-5">
                <a:solidFill>
                  <a:srgbClr val="C00000"/>
                </a:solidFill>
                <a:latin typeface="Cambria Math"/>
                <a:cs typeface="Cambria Math"/>
              </a:rPr>
              <a:t>DEC	</a:t>
            </a:r>
            <a:r>
              <a:rPr dirty="0" sz="2700" spc="-5">
                <a:latin typeface="Calibri"/>
                <a:cs typeface="Calibri"/>
              </a:rPr>
              <a:t>is </a:t>
            </a:r>
            <a:r>
              <a:rPr dirty="0" sz="2700" spc="-15">
                <a:latin typeface="Calibri"/>
                <a:cs typeface="Calibri"/>
              </a:rPr>
              <a:t>the </a:t>
            </a:r>
            <a:r>
              <a:rPr dirty="0" sz="2700" spc="-20">
                <a:latin typeface="Calibri"/>
                <a:cs typeface="Calibri"/>
              </a:rPr>
              <a:t>decoder </a:t>
            </a:r>
            <a:r>
              <a:rPr dirty="0" sz="2700" spc="-15">
                <a:latin typeface="Calibri"/>
                <a:cs typeface="Calibri"/>
              </a:rPr>
              <a:t>such </a:t>
            </a:r>
            <a:r>
              <a:rPr dirty="0" sz="2700" spc="-10">
                <a:latin typeface="Calibri"/>
                <a:cs typeface="Calibri"/>
              </a:rPr>
              <a:t>as </a:t>
            </a:r>
            <a:r>
              <a:rPr dirty="0" sz="2700" spc="-15">
                <a:latin typeface="Calibri"/>
                <a:cs typeface="Calibri"/>
              </a:rPr>
              <a:t>inner </a:t>
            </a:r>
            <a:r>
              <a:rPr dirty="0" sz="2700" spc="-25">
                <a:latin typeface="Calibri"/>
                <a:cs typeface="Calibri"/>
              </a:rPr>
              <a:t>product </a:t>
            </a:r>
            <a:r>
              <a:rPr dirty="0" sz="2700" spc="-20">
                <a:latin typeface="Calibri"/>
                <a:cs typeface="Calibri"/>
              </a:rPr>
              <a:t>(lecture</a:t>
            </a:r>
            <a:r>
              <a:rPr dirty="0" sz="2700" spc="-204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4)</a:t>
            </a:r>
            <a:endParaRPr sz="2700">
              <a:latin typeface="Calibri"/>
              <a:cs typeface="Calibri"/>
            </a:endParaRPr>
          </a:p>
          <a:p>
            <a:pPr marL="332740" marR="140970" indent="-320040">
              <a:lnSpc>
                <a:spcPts val="3379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Node similarity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10">
                <a:latin typeface="Calibri"/>
                <a:cs typeface="Calibri"/>
              </a:rPr>
              <a:t>anything </a:t>
            </a:r>
            <a:r>
              <a:rPr dirty="0" sz="3200" spc="-15">
                <a:latin typeface="Calibri"/>
                <a:cs typeface="Calibri"/>
              </a:rPr>
              <a:t>from </a:t>
            </a:r>
            <a:r>
              <a:rPr dirty="0" sz="3200" spc="-10">
                <a:latin typeface="Calibri"/>
                <a:cs typeface="Calibri"/>
              </a:rPr>
              <a:t>lecture  </a:t>
            </a:r>
            <a:r>
              <a:rPr dirty="0" sz="3200">
                <a:latin typeface="Calibri"/>
                <a:cs typeface="Calibri"/>
              </a:rPr>
              <a:t>3, </a:t>
            </a:r>
            <a:r>
              <a:rPr dirty="0" sz="3200" spc="0">
                <a:latin typeface="Calibri"/>
                <a:cs typeface="Calibri"/>
              </a:rPr>
              <a:t>e.g.,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loss based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on: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20" b="1">
                <a:solidFill>
                  <a:srgbClr val="0070C0"/>
                </a:solidFill>
                <a:latin typeface="Calibri"/>
                <a:cs typeface="Calibri"/>
              </a:rPr>
              <a:t>Random </a:t>
            </a:r>
            <a:r>
              <a:rPr dirty="0" sz="2700" spc="-30" b="1">
                <a:solidFill>
                  <a:srgbClr val="0070C0"/>
                </a:solidFill>
                <a:latin typeface="Calibri"/>
                <a:cs typeface="Calibri"/>
              </a:rPr>
              <a:t>walks </a:t>
            </a:r>
            <a:r>
              <a:rPr dirty="0" sz="2700" spc="-20">
                <a:latin typeface="Calibri"/>
                <a:cs typeface="Calibri"/>
              </a:rPr>
              <a:t>(node2vec, </a:t>
            </a:r>
            <a:r>
              <a:rPr dirty="0" sz="2700" spc="-30">
                <a:latin typeface="Calibri"/>
                <a:cs typeface="Calibri"/>
              </a:rPr>
              <a:t>DeepWalk,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struc2vec)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20" b="1">
                <a:solidFill>
                  <a:srgbClr val="0070C0"/>
                </a:solidFill>
                <a:latin typeface="Calibri"/>
                <a:cs typeface="Calibri"/>
              </a:rPr>
              <a:t>Matrix</a:t>
            </a:r>
            <a:r>
              <a:rPr dirty="0" sz="2700" spc="-1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0070C0"/>
                </a:solidFill>
                <a:latin typeface="Calibri"/>
                <a:cs typeface="Calibri"/>
              </a:rPr>
              <a:t>factorization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15" b="1">
                <a:solidFill>
                  <a:srgbClr val="0070C0"/>
                </a:solidFill>
                <a:latin typeface="Calibri"/>
                <a:cs typeface="Calibri"/>
              </a:rPr>
              <a:t>Node </a:t>
            </a:r>
            <a:r>
              <a:rPr dirty="0" sz="2700" spc="-30" b="1">
                <a:solidFill>
                  <a:srgbClr val="0070C0"/>
                </a:solidFill>
                <a:latin typeface="Calibri"/>
                <a:cs typeface="Calibri"/>
              </a:rPr>
              <a:t>proximity </a:t>
            </a:r>
            <a:r>
              <a:rPr dirty="0" sz="2700" spc="-10" b="1">
                <a:solidFill>
                  <a:srgbClr val="0070C0"/>
                </a:solidFill>
                <a:latin typeface="Calibri"/>
                <a:cs typeface="Calibri"/>
              </a:rPr>
              <a:t>in </a:t>
            </a:r>
            <a:r>
              <a:rPr dirty="0" sz="2700" spc="-15" b="1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dirty="0" sz="2700" spc="-1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700" spc="-30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47670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Directly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train </a:t>
            </a:r>
            <a:r>
              <a:rPr dirty="0"/>
              <a:t>the </a:t>
            </a:r>
            <a:r>
              <a:rPr dirty="0" spc="-5"/>
              <a:t>model </a:t>
            </a:r>
            <a:r>
              <a:rPr dirty="0" spc="-25"/>
              <a:t>for </a:t>
            </a:r>
            <a:r>
              <a:rPr dirty="0"/>
              <a:t>a </a:t>
            </a:r>
            <a:r>
              <a:rPr dirty="0" spc="-5"/>
              <a:t>supervised </a:t>
            </a:r>
            <a:r>
              <a:rPr dirty="0" spc="-15"/>
              <a:t>task  </a:t>
            </a:r>
            <a:r>
              <a:rPr dirty="0"/>
              <a:t>(e.g., </a:t>
            </a:r>
            <a:r>
              <a:rPr dirty="0" spc="-5"/>
              <a:t>node</a:t>
            </a:r>
            <a:r>
              <a:rPr dirty="0" spc="25"/>
              <a:t> </a:t>
            </a:r>
            <a:r>
              <a:rPr dirty="0" spc="-10"/>
              <a:t>classification)</a:t>
            </a:r>
          </a:p>
        </p:txBody>
      </p:sp>
      <p:sp>
        <p:nvSpPr>
          <p:cNvPr id="4" name="object 4"/>
          <p:cNvSpPr/>
          <p:nvPr/>
        </p:nvSpPr>
        <p:spPr>
          <a:xfrm>
            <a:off x="4178170" y="2753966"/>
            <a:ext cx="3441828" cy="34826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5577" y="3766468"/>
            <a:ext cx="2306684" cy="26043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5296" y="3099307"/>
            <a:ext cx="157480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26720" marR="5080" indent="-414655">
              <a:lnSpc>
                <a:spcPct val="100800"/>
              </a:lnSpc>
              <a:spcBef>
                <a:spcPts val="75"/>
              </a:spcBef>
            </a:pPr>
            <a:r>
              <a:rPr dirty="0" sz="2400" spc="-15" b="1">
                <a:solidFill>
                  <a:srgbClr val="0000FF"/>
                </a:solidFill>
                <a:latin typeface="Calibri"/>
                <a:cs typeface="Calibri"/>
              </a:rPr>
              <a:t>Safe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dirty="0" sz="2400" spc="-7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0000FF"/>
                </a:solidFill>
                <a:latin typeface="Calibri"/>
                <a:cs typeface="Calibri"/>
              </a:rPr>
              <a:t>toxic 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drug?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90882" y="3501613"/>
            <a:ext cx="857250" cy="824230"/>
          </a:xfrm>
          <a:custGeom>
            <a:avLst/>
            <a:gdLst/>
            <a:ahLst/>
            <a:cxnLst/>
            <a:rect l="l" t="t" r="r" b="b"/>
            <a:pathLst>
              <a:path w="857250" h="824229">
                <a:moveTo>
                  <a:pt x="28718" y="451301"/>
                </a:moveTo>
                <a:lnTo>
                  <a:pt x="28731" y="451543"/>
                </a:lnTo>
                <a:lnTo>
                  <a:pt x="24293" y="451777"/>
                </a:lnTo>
                <a:lnTo>
                  <a:pt x="2344" y="455270"/>
                </a:lnTo>
                <a:lnTo>
                  <a:pt x="4157" y="466667"/>
                </a:lnTo>
                <a:lnTo>
                  <a:pt x="30496" y="462475"/>
                </a:lnTo>
                <a:lnTo>
                  <a:pt x="28718" y="451301"/>
                </a:lnTo>
                <a:close/>
              </a:path>
              <a:path w="857250" h="824229">
                <a:moveTo>
                  <a:pt x="238" y="406220"/>
                </a:moveTo>
                <a:lnTo>
                  <a:pt x="0" y="413099"/>
                </a:lnTo>
                <a:lnTo>
                  <a:pt x="2098" y="452946"/>
                </a:lnTo>
                <a:lnTo>
                  <a:pt x="24293" y="451777"/>
                </a:lnTo>
                <a:lnTo>
                  <a:pt x="28682" y="451078"/>
                </a:lnTo>
                <a:lnTo>
                  <a:pt x="26633" y="411695"/>
                </a:lnTo>
                <a:lnTo>
                  <a:pt x="26871" y="407623"/>
                </a:lnTo>
                <a:lnTo>
                  <a:pt x="238" y="406220"/>
                </a:lnTo>
                <a:close/>
              </a:path>
              <a:path w="857250" h="824229">
                <a:moveTo>
                  <a:pt x="28682" y="451078"/>
                </a:moveTo>
                <a:lnTo>
                  <a:pt x="24293" y="451777"/>
                </a:lnTo>
                <a:lnTo>
                  <a:pt x="28731" y="451543"/>
                </a:lnTo>
                <a:lnTo>
                  <a:pt x="28682" y="451078"/>
                </a:lnTo>
                <a:close/>
              </a:path>
              <a:path w="857250" h="824229">
                <a:moveTo>
                  <a:pt x="28706" y="451078"/>
                </a:moveTo>
                <a:lnTo>
                  <a:pt x="28718" y="451301"/>
                </a:lnTo>
                <a:lnTo>
                  <a:pt x="28706" y="451078"/>
                </a:lnTo>
                <a:close/>
              </a:path>
              <a:path w="857250" h="824229">
                <a:moveTo>
                  <a:pt x="46425" y="449437"/>
                </a:moveTo>
                <a:lnTo>
                  <a:pt x="46487" y="450608"/>
                </a:lnTo>
                <a:lnTo>
                  <a:pt x="37683" y="451072"/>
                </a:lnTo>
                <a:lnTo>
                  <a:pt x="39276" y="461078"/>
                </a:lnTo>
                <a:lnTo>
                  <a:pt x="48055" y="459681"/>
                </a:lnTo>
                <a:lnTo>
                  <a:pt x="46425" y="449437"/>
                </a:lnTo>
                <a:close/>
              </a:path>
              <a:path w="857250" h="824229">
                <a:moveTo>
                  <a:pt x="46241" y="448284"/>
                </a:moveTo>
                <a:lnTo>
                  <a:pt x="37535" y="449669"/>
                </a:lnTo>
                <a:lnTo>
                  <a:pt x="37572" y="450375"/>
                </a:lnTo>
                <a:lnTo>
                  <a:pt x="37683" y="451072"/>
                </a:lnTo>
                <a:lnTo>
                  <a:pt x="46487" y="450608"/>
                </a:lnTo>
                <a:lnTo>
                  <a:pt x="46425" y="449437"/>
                </a:lnTo>
                <a:lnTo>
                  <a:pt x="46241" y="448284"/>
                </a:lnTo>
                <a:close/>
              </a:path>
              <a:path w="857250" h="824229">
                <a:moveTo>
                  <a:pt x="35750" y="408090"/>
                </a:moveTo>
                <a:lnTo>
                  <a:pt x="35510" y="411228"/>
                </a:lnTo>
                <a:lnTo>
                  <a:pt x="37535" y="449669"/>
                </a:lnTo>
                <a:lnTo>
                  <a:pt x="46241" y="448284"/>
                </a:lnTo>
                <a:lnTo>
                  <a:pt x="44389" y="410761"/>
                </a:lnTo>
                <a:lnTo>
                  <a:pt x="44627" y="408557"/>
                </a:lnTo>
                <a:lnTo>
                  <a:pt x="35750" y="408090"/>
                </a:lnTo>
                <a:close/>
              </a:path>
              <a:path w="857250" h="824229">
                <a:moveTo>
                  <a:pt x="46364" y="448284"/>
                </a:moveTo>
                <a:lnTo>
                  <a:pt x="46425" y="449437"/>
                </a:lnTo>
                <a:lnTo>
                  <a:pt x="46364" y="448284"/>
                </a:lnTo>
                <a:close/>
              </a:path>
              <a:path w="857250" h="824229">
                <a:moveTo>
                  <a:pt x="12703" y="313759"/>
                </a:moveTo>
                <a:lnTo>
                  <a:pt x="8502" y="329892"/>
                </a:lnTo>
                <a:lnTo>
                  <a:pt x="3773" y="359608"/>
                </a:lnTo>
                <a:lnTo>
                  <a:pt x="30111" y="363800"/>
                </a:lnTo>
                <a:lnTo>
                  <a:pt x="34841" y="334083"/>
                </a:lnTo>
                <a:lnTo>
                  <a:pt x="38463" y="320666"/>
                </a:lnTo>
                <a:lnTo>
                  <a:pt x="12703" y="313759"/>
                </a:lnTo>
                <a:close/>
              </a:path>
              <a:path w="857250" h="824229">
                <a:moveTo>
                  <a:pt x="47049" y="322968"/>
                </a:moveTo>
                <a:lnTo>
                  <a:pt x="43620" y="335481"/>
                </a:lnTo>
                <a:lnTo>
                  <a:pt x="38891" y="365197"/>
                </a:lnTo>
                <a:lnTo>
                  <a:pt x="47670" y="366594"/>
                </a:lnTo>
                <a:lnTo>
                  <a:pt x="52400" y="336878"/>
                </a:lnTo>
                <a:lnTo>
                  <a:pt x="55637" y="325271"/>
                </a:lnTo>
                <a:lnTo>
                  <a:pt x="47049" y="322968"/>
                </a:lnTo>
                <a:close/>
              </a:path>
              <a:path w="857250" h="824229">
                <a:moveTo>
                  <a:pt x="77837" y="242743"/>
                </a:moveTo>
                <a:lnTo>
                  <a:pt x="66589" y="264984"/>
                </a:lnTo>
                <a:lnTo>
                  <a:pt x="60105" y="281973"/>
                </a:lnTo>
                <a:lnTo>
                  <a:pt x="68411" y="285142"/>
                </a:lnTo>
                <a:lnTo>
                  <a:pt x="74895" y="268154"/>
                </a:lnTo>
                <a:lnTo>
                  <a:pt x="85780" y="246734"/>
                </a:lnTo>
                <a:lnTo>
                  <a:pt x="77837" y="242743"/>
                </a:lnTo>
                <a:close/>
              </a:path>
              <a:path w="857250" h="824229">
                <a:moveTo>
                  <a:pt x="46061" y="226782"/>
                </a:moveTo>
                <a:lnTo>
                  <a:pt x="33366" y="252304"/>
                </a:lnTo>
                <a:lnTo>
                  <a:pt x="26883" y="269293"/>
                </a:lnTo>
                <a:lnTo>
                  <a:pt x="51799" y="278803"/>
                </a:lnTo>
                <a:lnTo>
                  <a:pt x="58284" y="261814"/>
                </a:lnTo>
                <a:lnTo>
                  <a:pt x="69893" y="238753"/>
                </a:lnTo>
                <a:lnTo>
                  <a:pt x="46061" y="226782"/>
                </a:lnTo>
                <a:close/>
              </a:path>
              <a:path w="857250" h="824229">
                <a:moveTo>
                  <a:pt x="125512" y="172224"/>
                </a:moveTo>
                <a:lnTo>
                  <a:pt x="102866" y="201164"/>
                </a:lnTo>
                <a:lnTo>
                  <a:pt x="99950" y="205766"/>
                </a:lnTo>
                <a:lnTo>
                  <a:pt x="107459" y="210524"/>
                </a:lnTo>
                <a:lnTo>
                  <a:pt x="110375" y="205921"/>
                </a:lnTo>
                <a:lnTo>
                  <a:pt x="132523" y="177690"/>
                </a:lnTo>
                <a:lnTo>
                  <a:pt x="125512" y="172224"/>
                </a:lnTo>
                <a:close/>
              </a:path>
              <a:path w="857250" h="824229">
                <a:moveTo>
                  <a:pt x="99522" y="148042"/>
                </a:moveTo>
                <a:lnTo>
                  <a:pt x="97469" y="150357"/>
                </a:lnTo>
                <a:lnTo>
                  <a:pt x="72826" y="182133"/>
                </a:lnTo>
                <a:lnTo>
                  <a:pt x="69910" y="186735"/>
                </a:lnTo>
                <a:lnTo>
                  <a:pt x="92440" y="201007"/>
                </a:lnTo>
                <a:lnTo>
                  <a:pt x="95356" y="196405"/>
                </a:lnTo>
                <a:lnTo>
                  <a:pt x="118501" y="166757"/>
                </a:lnTo>
                <a:lnTo>
                  <a:pt x="118879" y="166389"/>
                </a:lnTo>
                <a:lnTo>
                  <a:pt x="99522" y="148042"/>
                </a:lnTo>
                <a:close/>
              </a:path>
              <a:path w="857250" h="824229">
                <a:moveTo>
                  <a:pt x="188780" y="114198"/>
                </a:moveTo>
                <a:lnTo>
                  <a:pt x="178847" y="121246"/>
                </a:lnTo>
                <a:lnTo>
                  <a:pt x="155472" y="141621"/>
                </a:lnTo>
                <a:lnTo>
                  <a:pt x="161312" y="148323"/>
                </a:lnTo>
                <a:lnTo>
                  <a:pt x="184689" y="127948"/>
                </a:lnTo>
                <a:lnTo>
                  <a:pt x="193960" y="121422"/>
                </a:lnTo>
                <a:lnTo>
                  <a:pt x="188780" y="114198"/>
                </a:lnTo>
                <a:close/>
              </a:path>
              <a:path w="857250" h="824229">
                <a:moveTo>
                  <a:pt x="168057" y="85300"/>
                </a:moveTo>
                <a:lnTo>
                  <a:pt x="155483" y="94439"/>
                </a:lnTo>
                <a:lnTo>
                  <a:pt x="132107" y="114814"/>
                </a:lnTo>
                <a:lnTo>
                  <a:pt x="149630" y="134919"/>
                </a:lnTo>
                <a:lnTo>
                  <a:pt x="173007" y="114545"/>
                </a:lnTo>
                <a:lnTo>
                  <a:pt x="183598" y="106973"/>
                </a:lnTo>
                <a:lnTo>
                  <a:pt x="168057" y="85300"/>
                </a:lnTo>
                <a:close/>
              </a:path>
              <a:path w="857250" h="824229">
                <a:moveTo>
                  <a:pt x="263224" y="70831"/>
                </a:moveTo>
                <a:lnTo>
                  <a:pt x="241593" y="80759"/>
                </a:lnTo>
                <a:lnTo>
                  <a:pt x="224840" y="90519"/>
                </a:lnTo>
                <a:lnTo>
                  <a:pt x="229316" y="98200"/>
                </a:lnTo>
                <a:lnTo>
                  <a:pt x="246067" y="88440"/>
                </a:lnTo>
                <a:lnTo>
                  <a:pt x="266952" y="78902"/>
                </a:lnTo>
                <a:lnTo>
                  <a:pt x="263224" y="70831"/>
                </a:lnTo>
                <a:close/>
              </a:path>
              <a:path w="857250" h="824229">
                <a:moveTo>
                  <a:pt x="248311" y="38550"/>
                </a:moveTo>
                <a:lnTo>
                  <a:pt x="223692" y="50032"/>
                </a:lnTo>
                <a:lnTo>
                  <a:pt x="206940" y="59792"/>
                </a:lnTo>
                <a:lnTo>
                  <a:pt x="220365" y="82837"/>
                </a:lnTo>
                <a:lnTo>
                  <a:pt x="237117" y="73077"/>
                </a:lnTo>
                <a:lnTo>
                  <a:pt x="259496" y="62762"/>
                </a:lnTo>
                <a:lnTo>
                  <a:pt x="248311" y="38550"/>
                </a:lnTo>
                <a:close/>
              </a:path>
              <a:path w="857250" h="824229">
                <a:moveTo>
                  <a:pt x="345168" y="44226"/>
                </a:moveTo>
                <a:lnTo>
                  <a:pt x="312159" y="52302"/>
                </a:lnTo>
                <a:lnTo>
                  <a:pt x="303486" y="55346"/>
                </a:lnTo>
                <a:lnTo>
                  <a:pt x="306430" y="63734"/>
                </a:lnTo>
                <a:lnTo>
                  <a:pt x="315103" y="60690"/>
                </a:lnTo>
                <a:lnTo>
                  <a:pt x="347296" y="52857"/>
                </a:lnTo>
                <a:lnTo>
                  <a:pt x="345168" y="44226"/>
                </a:lnTo>
                <a:close/>
              </a:path>
              <a:path w="857250" h="824229">
                <a:moveTo>
                  <a:pt x="336655" y="9700"/>
                </a:moveTo>
                <a:lnTo>
                  <a:pt x="300382" y="18749"/>
                </a:lnTo>
                <a:lnTo>
                  <a:pt x="291710" y="21793"/>
                </a:lnTo>
                <a:lnTo>
                  <a:pt x="300542" y="46958"/>
                </a:lnTo>
                <a:lnTo>
                  <a:pt x="309215" y="43914"/>
                </a:lnTo>
                <a:lnTo>
                  <a:pt x="343040" y="35594"/>
                </a:lnTo>
                <a:lnTo>
                  <a:pt x="336655" y="9700"/>
                </a:lnTo>
                <a:close/>
              </a:path>
              <a:path w="857250" h="824229">
                <a:moveTo>
                  <a:pt x="427520" y="0"/>
                </a:moveTo>
                <a:lnTo>
                  <a:pt x="383824" y="2219"/>
                </a:lnTo>
                <a:lnTo>
                  <a:pt x="382649" y="2391"/>
                </a:lnTo>
                <a:lnTo>
                  <a:pt x="386511" y="28780"/>
                </a:lnTo>
                <a:lnTo>
                  <a:pt x="387686" y="28609"/>
                </a:lnTo>
                <a:lnTo>
                  <a:pt x="428809" y="26638"/>
                </a:lnTo>
                <a:lnTo>
                  <a:pt x="430043" y="26638"/>
                </a:lnTo>
                <a:lnTo>
                  <a:pt x="431330" y="80"/>
                </a:lnTo>
                <a:lnTo>
                  <a:pt x="427520" y="0"/>
                </a:lnTo>
                <a:close/>
              </a:path>
              <a:path w="857250" h="824229">
                <a:moveTo>
                  <a:pt x="430043" y="26638"/>
                </a:moveTo>
                <a:lnTo>
                  <a:pt x="428809" y="26638"/>
                </a:lnTo>
                <a:lnTo>
                  <a:pt x="430039" y="26718"/>
                </a:lnTo>
                <a:close/>
              </a:path>
              <a:path w="857250" h="824229">
                <a:moveTo>
                  <a:pt x="429239" y="35518"/>
                </a:moveTo>
                <a:lnTo>
                  <a:pt x="388973" y="37405"/>
                </a:lnTo>
                <a:lnTo>
                  <a:pt x="387798" y="37576"/>
                </a:lnTo>
                <a:lnTo>
                  <a:pt x="389086" y="46372"/>
                </a:lnTo>
                <a:lnTo>
                  <a:pt x="390260" y="46201"/>
                </a:lnTo>
                <a:lnTo>
                  <a:pt x="429668" y="44397"/>
                </a:lnTo>
                <a:lnTo>
                  <a:pt x="429609" y="35598"/>
                </a:lnTo>
                <a:lnTo>
                  <a:pt x="429239" y="35518"/>
                </a:lnTo>
                <a:close/>
              </a:path>
              <a:path w="857250" h="824229">
                <a:moveTo>
                  <a:pt x="477828" y="2872"/>
                </a:moveTo>
                <a:lnTo>
                  <a:pt x="473966" y="29262"/>
                </a:lnTo>
                <a:lnTo>
                  <a:pt x="509854" y="34514"/>
                </a:lnTo>
                <a:lnTo>
                  <a:pt x="517376" y="36390"/>
                </a:lnTo>
                <a:lnTo>
                  <a:pt x="523760" y="10496"/>
                </a:lnTo>
                <a:lnTo>
                  <a:pt x="513716" y="8125"/>
                </a:lnTo>
                <a:lnTo>
                  <a:pt x="477828" y="2872"/>
                </a:lnTo>
                <a:close/>
              </a:path>
              <a:path w="857250" h="824229">
                <a:moveTo>
                  <a:pt x="472678" y="38058"/>
                </a:moveTo>
                <a:lnTo>
                  <a:pt x="471392" y="46854"/>
                </a:lnTo>
                <a:lnTo>
                  <a:pt x="507279" y="52106"/>
                </a:lnTo>
                <a:lnTo>
                  <a:pt x="513119" y="53653"/>
                </a:lnTo>
                <a:lnTo>
                  <a:pt x="515247" y="45021"/>
                </a:lnTo>
                <a:lnTo>
                  <a:pt x="508567" y="43310"/>
                </a:lnTo>
                <a:lnTo>
                  <a:pt x="472678" y="38058"/>
                </a:lnTo>
                <a:close/>
              </a:path>
              <a:path w="857250" h="824229">
                <a:moveTo>
                  <a:pt x="556839" y="56447"/>
                </a:moveTo>
                <a:lnTo>
                  <a:pt x="553893" y="64836"/>
                </a:lnTo>
                <a:lnTo>
                  <a:pt x="579423" y="73795"/>
                </a:lnTo>
                <a:lnTo>
                  <a:pt x="593253" y="80297"/>
                </a:lnTo>
                <a:lnTo>
                  <a:pt x="596982" y="72226"/>
                </a:lnTo>
                <a:lnTo>
                  <a:pt x="582367" y="65407"/>
                </a:lnTo>
                <a:lnTo>
                  <a:pt x="556839" y="56447"/>
                </a:lnTo>
                <a:close/>
              </a:path>
              <a:path w="857250" h="824229">
                <a:moveTo>
                  <a:pt x="568615" y="22894"/>
                </a:moveTo>
                <a:lnTo>
                  <a:pt x="559782" y="48059"/>
                </a:lnTo>
                <a:lnTo>
                  <a:pt x="585311" y="57019"/>
                </a:lnTo>
                <a:lnTo>
                  <a:pt x="600710" y="64155"/>
                </a:lnTo>
                <a:lnTo>
                  <a:pt x="611894" y="39944"/>
                </a:lnTo>
                <a:lnTo>
                  <a:pt x="594144" y="31854"/>
                </a:lnTo>
                <a:lnTo>
                  <a:pt x="568615" y="22894"/>
                </a:lnTo>
                <a:close/>
              </a:path>
              <a:path w="857250" h="824229">
                <a:moveTo>
                  <a:pt x="635219" y="92191"/>
                </a:moveTo>
                <a:lnTo>
                  <a:pt x="630745" y="99874"/>
                </a:lnTo>
                <a:lnTo>
                  <a:pt x="644629" y="107962"/>
                </a:lnTo>
                <a:lnTo>
                  <a:pt x="665929" y="123358"/>
                </a:lnTo>
                <a:lnTo>
                  <a:pt x="671109" y="116135"/>
                </a:lnTo>
                <a:lnTo>
                  <a:pt x="649103" y="100280"/>
                </a:lnTo>
                <a:lnTo>
                  <a:pt x="635219" y="92191"/>
                </a:lnTo>
                <a:close/>
              </a:path>
              <a:path w="857250" h="824229">
                <a:moveTo>
                  <a:pt x="653121" y="61466"/>
                </a:moveTo>
                <a:lnTo>
                  <a:pt x="639695" y="84510"/>
                </a:lnTo>
                <a:lnTo>
                  <a:pt x="653578" y="92599"/>
                </a:lnTo>
                <a:lnTo>
                  <a:pt x="676290" y="108910"/>
                </a:lnTo>
                <a:lnTo>
                  <a:pt x="691832" y="87237"/>
                </a:lnTo>
                <a:lnTo>
                  <a:pt x="667003" y="69555"/>
                </a:lnTo>
                <a:lnTo>
                  <a:pt x="653121" y="61466"/>
                </a:lnTo>
                <a:close/>
              </a:path>
              <a:path w="857250" h="824229">
                <a:moveTo>
                  <a:pt x="704222" y="143804"/>
                </a:moveTo>
                <a:lnTo>
                  <a:pt x="698381" y="150506"/>
                </a:lnTo>
                <a:lnTo>
                  <a:pt x="701360" y="153102"/>
                </a:lnTo>
                <a:lnTo>
                  <a:pt x="726061" y="179312"/>
                </a:lnTo>
                <a:lnTo>
                  <a:pt x="726122" y="179558"/>
                </a:lnTo>
                <a:lnTo>
                  <a:pt x="733132" y="174091"/>
                </a:lnTo>
                <a:lnTo>
                  <a:pt x="732513" y="173197"/>
                </a:lnTo>
                <a:lnTo>
                  <a:pt x="707200" y="146400"/>
                </a:lnTo>
                <a:lnTo>
                  <a:pt x="704222" y="143804"/>
                </a:lnTo>
                <a:close/>
              </a:path>
              <a:path w="857250" h="824229">
                <a:moveTo>
                  <a:pt x="727588" y="116998"/>
                </a:moveTo>
                <a:lnTo>
                  <a:pt x="710064" y="137102"/>
                </a:lnTo>
                <a:lnTo>
                  <a:pt x="713041" y="139698"/>
                </a:lnTo>
                <a:lnTo>
                  <a:pt x="738966" y="167082"/>
                </a:lnTo>
                <a:lnTo>
                  <a:pt x="740143" y="168625"/>
                </a:lnTo>
                <a:lnTo>
                  <a:pt x="761175" y="152226"/>
                </a:lnTo>
                <a:lnTo>
                  <a:pt x="758323" y="148736"/>
                </a:lnTo>
                <a:lnTo>
                  <a:pt x="730564" y="119593"/>
                </a:lnTo>
                <a:lnTo>
                  <a:pt x="727588" y="116998"/>
                </a:lnTo>
                <a:close/>
              </a:path>
              <a:path w="857250" h="824229">
                <a:moveTo>
                  <a:pt x="759016" y="208574"/>
                </a:moveTo>
                <a:lnTo>
                  <a:pt x="751507" y="213332"/>
                </a:lnTo>
                <a:lnTo>
                  <a:pt x="767168" y="238055"/>
                </a:lnTo>
                <a:lnTo>
                  <a:pt x="772899" y="249704"/>
                </a:lnTo>
                <a:lnTo>
                  <a:pt x="780844" y="245714"/>
                </a:lnTo>
                <a:lnTo>
                  <a:pt x="774679" y="233296"/>
                </a:lnTo>
                <a:lnTo>
                  <a:pt x="759016" y="208574"/>
                </a:lnTo>
                <a:close/>
              </a:path>
              <a:path w="857250" h="824229">
                <a:moveTo>
                  <a:pt x="789057" y="189543"/>
                </a:moveTo>
                <a:lnTo>
                  <a:pt x="766527" y="203817"/>
                </a:lnTo>
                <a:lnTo>
                  <a:pt x="782189" y="228539"/>
                </a:lnTo>
                <a:lnTo>
                  <a:pt x="788788" y="241724"/>
                </a:lnTo>
                <a:lnTo>
                  <a:pt x="812619" y="229751"/>
                </a:lnTo>
                <a:lnTo>
                  <a:pt x="804718" y="214266"/>
                </a:lnTo>
                <a:lnTo>
                  <a:pt x="789057" y="189543"/>
                </a:lnTo>
                <a:close/>
              </a:path>
              <a:path w="857250" h="824229">
                <a:moveTo>
                  <a:pt x="798268" y="285078"/>
                </a:moveTo>
                <a:lnTo>
                  <a:pt x="789962" y="288248"/>
                </a:lnTo>
                <a:lnTo>
                  <a:pt x="795959" y="303960"/>
                </a:lnTo>
                <a:lnTo>
                  <a:pt x="802412" y="328481"/>
                </a:lnTo>
                <a:lnTo>
                  <a:pt x="810999" y="326179"/>
                </a:lnTo>
                <a:lnTo>
                  <a:pt x="804265" y="300790"/>
                </a:lnTo>
                <a:lnTo>
                  <a:pt x="798268" y="285078"/>
                </a:lnTo>
                <a:close/>
              </a:path>
              <a:path w="857250" h="824229">
                <a:moveTo>
                  <a:pt x="831490" y="272398"/>
                </a:moveTo>
                <a:lnTo>
                  <a:pt x="806574" y="281908"/>
                </a:lnTo>
                <a:lnTo>
                  <a:pt x="812570" y="297620"/>
                </a:lnTo>
                <a:lnTo>
                  <a:pt x="819586" y="323876"/>
                </a:lnTo>
                <a:lnTo>
                  <a:pt x="845346" y="316970"/>
                </a:lnTo>
                <a:lnTo>
                  <a:pt x="837487" y="288110"/>
                </a:lnTo>
                <a:lnTo>
                  <a:pt x="831490" y="272398"/>
                </a:lnTo>
                <a:close/>
              </a:path>
              <a:path w="857250" h="824229">
                <a:moveTo>
                  <a:pt x="853937" y="362891"/>
                </a:moveTo>
                <a:lnTo>
                  <a:pt x="827599" y="367082"/>
                </a:lnTo>
                <a:lnTo>
                  <a:pt x="828506" y="372780"/>
                </a:lnTo>
                <a:lnTo>
                  <a:pt x="830491" y="410942"/>
                </a:lnTo>
                <a:lnTo>
                  <a:pt x="857124" y="409540"/>
                </a:lnTo>
                <a:lnTo>
                  <a:pt x="854844" y="368589"/>
                </a:lnTo>
                <a:lnTo>
                  <a:pt x="853937" y="362891"/>
                </a:lnTo>
                <a:close/>
              </a:path>
              <a:path w="857250" h="824229">
                <a:moveTo>
                  <a:pt x="818819" y="368480"/>
                </a:moveTo>
                <a:lnTo>
                  <a:pt x="810040" y="369877"/>
                </a:lnTo>
                <a:lnTo>
                  <a:pt x="810947" y="375575"/>
                </a:lnTo>
                <a:lnTo>
                  <a:pt x="812736" y="411877"/>
                </a:lnTo>
                <a:lnTo>
                  <a:pt x="821613" y="411410"/>
                </a:lnTo>
                <a:lnTo>
                  <a:pt x="819726" y="374177"/>
                </a:lnTo>
                <a:lnTo>
                  <a:pt x="818819" y="368480"/>
                </a:lnTo>
                <a:close/>
              </a:path>
              <a:path w="857250" h="824229">
                <a:moveTo>
                  <a:pt x="827984" y="454361"/>
                </a:moveTo>
                <a:lnTo>
                  <a:pt x="822347" y="489775"/>
                </a:lnTo>
                <a:lnTo>
                  <a:pt x="820219" y="497620"/>
                </a:lnTo>
                <a:lnTo>
                  <a:pt x="845980" y="504527"/>
                </a:lnTo>
                <a:lnTo>
                  <a:pt x="848686" y="493967"/>
                </a:lnTo>
                <a:lnTo>
                  <a:pt x="854322" y="458553"/>
                </a:lnTo>
                <a:lnTo>
                  <a:pt x="827984" y="454361"/>
                </a:lnTo>
                <a:close/>
              </a:path>
              <a:path w="857250" h="824229">
                <a:moveTo>
                  <a:pt x="810425" y="451567"/>
                </a:moveTo>
                <a:lnTo>
                  <a:pt x="804788" y="486981"/>
                </a:lnTo>
                <a:lnTo>
                  <a:pt x="803046" y="493016"/>
                </a:lnTo>
                <a:lnTo>
                  <a:pt x="811632" y="495317"/>
                </a:lnTo>
                <a:lnTo>
                  <a:pt x="813568" y="488378"/>
                </a:lnTo>
                <a:lnTo>
                  <a:pt x="819204" y="452964"/>
                </a:lnTo>
                <a:lnTo>
                  <a:pt x="810425" y="451567"/>
                </a:lnTo>
                <a:close/>
              </a:path>
              <a:path w="857250" h="824229">
                <a:moveTo>
                  <a:pt x="807445" y="539666"/>
                </a:moveTo>
                <a:lnTo>
                  <a:pt x="798904" y="562046"/>
                </a:lnTo>
                <a:lnTo>
                  <a:pt x="789885" y="579950"/>
                </a:lnTo>
                <a:lnTo>
                  <a:pt x="813718" y="591921"/>
                </a:lnTo>
                <a:lnTo>
                  <a:pt x="823821" y="571555"/>
                </a:lnTo>
                <a:lnTo>
                  <a:pt x="832363" y="549175"/>
                </a:lnTo>
                <a:lnTo>
                  <a:pt x="807445" y="539666"/>
                </a:lnTo>
                <a:close/>
              </a:path>
              <a:path w="857250" h="824229">
                <a:moveTo>
                  <a:pt x="790835" y="533326"/>
                </a:moveTo>
                <a:lnTo>
                  <a:pt x="782293" y="555706"/>
                </a:lnTo>
                <a:lnTo>
                  <a:pt x="773997" y="571968"/>
                </a:lnTo>
                <a:lnTo>
                  <a:pt x="781941" y="575960"/>
                </a:lnTo>
                <a:lnTo>
                  <a:pt x="790599" y="558876"/>
                </a:lnTo>
                <a:lnTo>
                  <a:pt x="799141" y="536496"/>
                </a:lnTo>
                <a:lnTo>
                  <a:pt x="790835" y="533326"/>
                </a:lnTo>
                <a:close/>
              </a:path>
              <a:path w="857250" h="824229">
                <a:moveTo>
                  <a:pt x="767835" y="617976"/>
                </a:moveTo>
                <a:lnTo>
                  <a:pt x="761832" y="627453"/>
                </a:lnTo>
                <a:lnTo>
                  <a:pt x="741646" y="653305"/>
                </a:lnTo>
                <a:lnTo>
                  <a:pt x="762679" y="669705"/>
                </a:lnTo>
                <a:lnTo>
                  <a:pt x="784362" y="641725"/>
                </a:lnTo>
                <a:lnTo>
                  <a:pt x="790365" y="632249"/>
                </a:lnTo>
                <a:lnTo>
                  <a:pt x="767835" y="617976"/>
                </a:lnTo>
                <a:close/>
              </a:path>
              <a:path w="857250" h="824229">
                <a:moveTo>
                  <a:pt x="752816" y="608462"/>
                </a:moveTo>
                <a:lnTo>
                  <a:pt x="746783" y="617976"/>
                </a:lnTo>
                <a:lnTo>
                  <a:pt x="727626" y="642372"/>
                </a:lnTo>
                <a:lnTo>
                  <a:pt x="734636" y="647838"/>
                </a:lnTo>
                <a:lnTo>
                  <a:pt x="754322" y="622696"/>
                </a:lnTo>
                <a:lnTo>
                  <a:pt x="760326" y="613219"/>
                </a:lnTo>
                <a:lnTo>
                  <a:pt x="752816" y="608462"/>
                </a:lnTo>
                <a:close/>
              </a:path>
              <a:path w="857250" h="824229">
                <a:moveTo>
                  <a:pt x="711907" y="685149"/>
                </a:moveTo>
                <a:lnTo>
                  <a:pt x="684182" y="709315"/>
                </a:lnTo>
                <a:lnTo>
                  <a:pt x="678277" y="713524"/>
                </a:lnTo>
                <a:lnTo>
                  <a:pt x="693820" y="735196"/>
                </a:lnTo>
                <a:lnTo>
                  <a:pt x="701705" y="729420"/>
                </a:lnTo>
                <a:lnTo>
                  <a:pt x="729430" y="705255"/>
                </a:lnTo>
                <a:lnTo>
                  <a:pt x="711907" y="685149"/>
                </a:lnTo>
                <a:close/>
              </a:path>
              <a:path w="857250" h="824229">
                <a:moveTo>
                  <a:pt x="700225" y="671746"/>
                </a:moveTo>
                <a:lnTo>
                  <a:pt x="672499" y="695911"/>
                </a:lnTo>
                <a:lnTo>
                  <a:pt x="667917" y="699075"/>
                </a:lnTo>
                <a:lnTo>
                  <a:pt x="673097" y="706299"/>
                </a:lnTo>
                <a:lnTo>
                  <a:pt x="678341" y="702613"/>
                </a:lnTo>
                <a:lnTo>
                  <a:pt x="706066" y="678447"/>
                </a:lnTo>
                <a:lnTo>
                  <a:pt x="700225" y="671746"/>
                </a:lnTo>
                <a:close/>
              </a:path>
              <a:path w="857250" h="824229">
                <a:moveTo>
                  <a:pt x="641808" y="738117"/>
                </a:moveTo>
                <a:lnTo>
                  <a:pt x="620071" y="750782"/>
                </a:lnTo>
                <a:lnTo>
                  <a:pt x="602931" y="758678"/>
                </a:lnTo>
                <a:lnTo>
                  <a:pt x="614116" y="782890"/>
                </a:lnTo>
                <a:lnTo>
                  <a:pt x="633496" y="773826"/>
                </a:lnTo>
                <a:lnTo>
                  <a:pt x="655234" y="761161"/>
                </a:lnTo>
                <a:lnTo>
                  <a:pt x="641808" y="738117"/>
                </a:lnTo>
                <a:close/>
              </a:path>
              <a:path w="857250" h="824229">
                <a:moveTo>
                  <a:pt x="632858" y="722754"/>
                </a:moveTo>
                <a:lnTo>
                  <a:pt x="611121" y="735418"/>
                </a:lnTo>
                <a:lnTo>
                  <a:pt x="595473" y="742537"/>
                </a:lnTo>
                <a:lnTo>
                  <a:pt x="599202" y="750608"/>
                </a:lnTo>
                <a:lnTo>
                  <a:pt x="615595" y="743101"/>
                </a:lnTo>
                <a:lnTo>
                  <a:pt x="637332" y="730436"/>
                </a:lnTo>
                <a:lnTo>
                  <a:pt x="632858" y="722754"/>
                </a:lnTo>
                <a:close/>
              </a:path>
              <a:path w="857250" h="824229">
                <a:moveTo>
                  <a:pt x="562090" y="774990"/>
                </a:moveTo>
                <a:lnTo>
                  <a:pt x="547973" y="779946"/>
                </a:lnTo>
                <a:lnTo>
                  <a:pt x="519750" y="786884"/>
                </a:lnTo>
                <a:lnTo>
                  <a:pt x="526135" y="812778"/>
                </a:lnTo>
                <a:lnTo>
                  <a:pt x="556806" y="805110"/>
                </a:lnTo>
                <a:lnTo>
                  <a:pt x="570923" y="800155"/>
                </a:lnTo>
                <a:lnTo>
                  <a:pt x="562090" y="774990"/>
                </a:lnTo>
                <a:close/>
              </a:path>
              <a:path w="857250" h="824229">
                <a:moveTo>
                  <a:pt x="556202" y="758214"/>
                </a:moveTo>
                <a:lnTo>
                  <a:pt x="542084" y="763169"/>
                </a:lnTo>
                <a:lnTo>
                  <a:pt x="515494" y="769621"/>
                </a:lnTo>
                <a:lnTo>
                  <a:pt x="517622" y="778252"/>
                </a:lnTo>
                <a:lnTo>
                  <a:pt x="545029" y="771558"/>
                </a:lnTo>
                <a:lnTo>
                  <a:pt x="559146" y="766602"/>
                </a:lnTo>
                <a:lnTo>
                  <a:pt x="556202" y="758214"/>
                </a:lnTo>
                <a:close/>
              </a:path>
              <a:path w="857250" h="824229">
                <a:moveTo>
                  <a:pt x="476387" y="794244"/>
                </a:moveTo>
                <a:lnTo>
                  <a:pt x="469502" y="795251"/>
                </a:lnTo>
                <a:lnTo>
                  <a:pt x="432481" y="797022"/>
                </a:lnTo>
                <a:lnTo>
                  <a:pt x="433772" y="823662"/>
                </a:lnTo>
                <a:lnTo>
                  <a:pt x="473364" y="821640"/>
                </a:lnTo>
                <a:lnTo>
                  <a:pt x="480249" y="820632"/>
                </a:lnTo>
                <a:lnTo>
                  <a:pt x="476387" y="794244"/>
                </a:lnTo>
                <a:close/>
              </a:path>
              <a:path w="857250" h="824229">
                <a:moveTo>
                  <a:pt x="473811" y="776650"/>
                </a:moveTo>
                <a:lnTo>
                  <a:pt x="466928" y="777659"/>
                </a:lnTo>
                <a:lnTo>
                  <a:pt x="431622" y="779264"/>
                </a:lnTo>
                <a:lnTo>
                  <a:pt x="432052" y="788142"/>
                </a:lnTo>
                <a:lnTo>
                  <a:pt x="468215" y="786455"/>
                </a:lnTo>
                <a:lnTo>
                  <a:pt x="475099" y="785448"/>
                </a:lnTo>
                <a:lnTo>
                  <a:pt x="473811" y="776650"/>
                </a:lnTo>
                <a:close/>
              </a:path>
              <a:path w="857250" h="824229">
                <a:moveTo>
                  <a:pt x="345415" y="788850"/>
                </a:moveTo>
                <a:lnTo>
                  <a:pt x="339030" y="814745"/>
                </a:lnTo>
                <a:lnTo>
                  <a:pt x="343472" y="815733"/>
                </a:lnTo>
                <a:lnTo>
                  <a:pt x="385966" y="821848"/>
                </a:lnTo>
                <a:lnTo>
                  <a:pt x="387224" y="821909"/>
                </a:lnTo>
                <a:lnTo>
                  <a:pt x="388514" y="795270"/>
                </a:lnTo>
                <a:lnTo>
                  <a:pt x="387257" y="795209"/>
                </a:lnTo>
                <a:lnTo>
                  <a:pt x="347334" y="789345"/>
                </a:lnTo>
                <a:lnTo>
                  <a:pt x="345415" y="788850"/>
                </a:lnTo>
                <a:close/>
              </a:path>
              <a:path w="857250" h="824229">
                <a:moveTo>
                  <a:pt x="349671" y="771588"/>
                </a:moveTo>
                <a:lnTo>
                  <a:pt x="347543" y="780219"/>
                </a:lnTo>
                <a:lnTo>
                  <a:pt x="348621" y="780549"/>
                </a:lnTo>
                <a:lnTo>
                  <a:pt x="387687" y="786329"/>
                </a:lnTo>
                <a:lnTo>
                  <a:pt x="388945" y="786390"/>
                </a:lnTo>
                <a:lnTo>
                  <a:pt x="389374" y="777511"/>
                </a:lnTo>
                <a:lnTo>
                  <a:pt x="388117" y="777450"/>
                </a:lnTo>
                <a:lnTo>
                  <a:pt x="349909" y="771752"/>
                </a:lnTo>
                <a:lnTo>
                  <a:pt x="349671" y="771588"/>
                </a:lnTo>
                <a:close/>
              </a:path>
              <a:path w="857250" h="824229">
                <a:moveTo>
                  <a:pt x="261716" y="762124"/>
                </a:moveTo>
                <a:lnTo>
                  <a:pt x="250531" y="786335"/>
                </a:lnTo>
                <a:lnTo>
                  <a:pt x="263044" y="792005"/>
                </a:lnTo>
                <a:lnTo>
                  <a:pt x="294017" y="802876"/>
                </a:lnTo>
                <a:lnTo>
                  <a:pt x="302850" y="777711"/>
                </a:lnTo>
                <a:lnTo>
                  <a:pt x="271877" y="766839"/>
                </a:lnTo>
                <a:lnTo>
                  <a:pt x="261716" y="762124"/>
                </a:lnTo>
                <a:close/>
              </a:path>
              <a:path w="857250" h="824229">
                <a:moveTo>
                  <a:pt x="269172" y="745982"/>
                </a:moveTo>
                <a:lnTo>
                  <a:pt x="265445" y="754053"/>
                </a:lnTo>
                <a:lnTo>
                  <a:pt x="274821" y="758451"/>
                </a:lnTo>
                <a:lnTo>
                  <a:pt x="305794" y="769322"/>
                </a:lnTo>
                <a:lnTo>
                  <a:pt x="308738" y="760934"/>
                </a:lnTo>
                <a:lnTo>
                  <a:pt x="277765" y="750063"/>
                </a:lnTo>
                <a:lnTo>
                  <a:pt x="269172" y="745982"/>
                </a:lnTo>
                <a:close/>
              </a:path>
              <a:path w="857250" h="824229">
                <a:moveTo>
                  <a:pt x="185587" y="718312"/>
                </a:moveTo>
                <a:lnTo>
                  <a:pt x="170045" y="739984"/>
                </a:lnTo>
                <a:lnTo>
                  <a:pt x="190183" y="754305"/>
                </a:lnTo>
                <a:lnTo>
                  <a:pt x="209053" y="765298"/>
                </a:lnTo>
                <a:lnTo>
                  <a:pt x="222478" y="742254"/>
                </a:lnTo>
                <a:lnTo>
                  <a:pt x="203610" y="731260"/>
                </a:lnTo>
                <a:lnTo>
                  <a:pt x="185587" y="718312"/>
                </a:lnTo>
                <a:close/>
              </a:path>
              <a:path w="857250" h="824229">
                <a:moveTo>
                  <a:pt x="195948" y="703863"/>
                </a:moveTo>
                <a:lnTo>
                  <a:pt x="190767" y="711086"/>
                </a:lnTo>
                <a:lnTo>
                  <a:pt x="208085" y="723578"/>
                </a:lnTo>
                <a:lnTo>
                  <a:pt x="226954" y="734571"/>
                </a:lnTo>
                <a:lnTo>
                  <a:pt x="231429" y="726890"/>
                </a:lnTo>
                <a:lnTo>
                  <a:pt x="212559" y="715897"/>
                </a:lnTo>
                <a:lnTo>
                  <a:pt x="195948" y="703863"/>
                </a:lnTo>
                <a:close/>
              </a:path>
              <a:path w="857250" h="824229">
                <a:moveTo>
                  <a:pt x="120562" y="659246"/>
                </a:moveTo>
                <a:lnTo>
                  <a:pt x="101205" y="677591"/>
                </a:lnTo>
                <a:lnTo>
                  <a:pt x="126622" y="704265"/>
                </a:lnTo>
                <a:lnTo>
                  <a:pt x="133950" y="710652"/>
                </a:lnTo>
                <a:lnTo>
                  <a:pt x="151474" y="690547"/>
                </a:lnTo>
                <a:lnTo>
                  <a:pt x="144146" y="684160"/>
                </a:lnTo>
                <a:lnTo>
                  <a:pt x="120562" y="659246"/>
                </a:lnTo>
                <a:close/>
              </a:path>
              <a:path w="857250" h="824229">
                <a:moveTo>
                  <a:pt x="133468" y="647015"/>
                </a:moveTo>
                <a:lnTo>
                  <a:pt x="127015" y="653131"/>
                </a:lnTo>
                <a:lnTo>
                  <a:pt x="149988" y="677458"/>
                </a:lnTo>
                <a:lnTo>
                  <a:pt x="157316" y="683845"/>
                </a:lnTo>
                <a:lnTo>
                  <a:pt x="163156" y="677143"/>
                </a:lnTo>
                <a:lnTo>
                  <a:pt x="155828" y="670756"/>
                </a:lnTo>
                <a:lnTo>
                  <a:pt x="133468" y="647015"/>
                </a:lnTo>
                <a:close/>
              </a:path>
              <a:path w="857250" h="824229">
                <a:moveTo>
                  <a:pt x="70991" y="587292"/>
                </a:moveTo>
                <a:lnTo>
                  <a:pt x="47158" y="599263"/>
                </a:lnTo>
                <a:lnTo>
                  <a:pt x="52470" y="609592"/>
                </a:lnTo>
                <a:lnTo>
                  <a:pt x="71220" y="639189"/>
                </a:lnTo>
                <a:lnTo>
                  <a:pt x="93748" y="624917"/>
                </a:lnTo>
                <a:lnTo>
                  <a:pt x="74999" y="595320"/>
                </a:lnTo>
                <a:lnTo>
                  <a:pt x="70991" y="587292"/>
                </a:lnTo>
                <a:close/>
              </a:path>
              <a:path w="857250" h="824229">
                <a:moveTo>
                  <a:pt x="86879" y="579310"/>
                </a:moveTo>
                <a:lnTo>
                  <a:pt x="78935" y="583300"/>
                </a:lnTo>
                <a:lnTo>
                  <a:pt x="82509" y="590562"/>
                </a:lnTo>
                <a:lnTo>
                  <a:pt x="101259" y="620160"/>
                </a:lnTo>
                <a:lnTo>
                  <a:pt x="108769" y="615402"/>
                </a:lnTo>
                <a:lnTo>
                  <a:pt x="90018" y="585805"/>
                </a:lnTo>
                <a:lnTo>
                  <a:pt x="86879" y="579310"/>
                </a:lnTo>
                <a:close/>
              </a:path>
              <a:path w="857250" h="824229">
                <a:moveTo>
                  <a:pt x="39096" y="505556"/>
                </a:moveTo>
                <a:lnTo>
                  <a:pt x="13336" y="512462"/>
                </a:lnTo>
                <a:lnTo>
                  <a:pt x="19701" y="535749"/>
                </a:lnTo>
                <a:lnTo>
                  <a:pt x="27755" y="556851"/>
                </a:lnTo>
                <a:lnTo>
                  <a:pt x="52671" y="547342"/>
                </a:lnTo>
                <a:lnTo>
                  <a:pt x="44617" y="526239"/>
                </a:lnTo>
                <a:lnTo>
                  <a:pt x="39096" y="505556"/>
                </a:lnTo>
                <a:close/>
              </a:path>
              <a:path w="857250" h="824229">
                <a:moveTo>
                  <a:pt x="56269" y="500951"/>
                </a:moveTo>
                <a:lnTo>
                  <a:pt x="47683" y="503254"/>
                </a:lnTo>
                <a:lnTo>
                  <a:pt x="52923" y="523069"/>
                </a:lnTo>
                <a:lnTo>
                  <a:pt x="60977" y="544172"/>
                </a:lnTo>
                <a:lnTo>
                  <a:pt x="69283" y="541002"/>
                </a:lnTo>
                <a:lnTo>
                  <a:pt x="61229" y="519899"/>
                </a:lnTo>
                <a:lnTo>
                  <a:pt x="56269" y="50095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34446" y="2858516"/>
            <a:ext cx="157480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26720" marR="5080" indent="-414655">
              <a:lnSpc>
                <a:spcPct val="100800"/>
              </a:lnSpc>
              <a:spcBef>
                <a:spcPts val="75"/>
              </a:spcBef>
            </a:pPr>
            <a:r>
              <a:rPr dirty="0" sz="2400" spc="-15" b="1">
                <a:solidFill>
                  <a:srgbClr val="0000FF"/>
                </a:solidFill>
                <a:latin typeface="Calibri"/>
                <a:cs typeface="Calibri"/>
              </a:rPr>
              <a:t>Safe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dirty="0" sz="2400" spc="-7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0000FF"/>
                </a:solidFill>
                <a:latin typeface="Calibri"/>
                <a:cs typeface="Calibri"/>
              </a:rPr>
              <a:t>toxic 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drug?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80000" y="5969000"/>
            <a:ext cx="1828800" cy="401955"/>
          </a:xfrm>
          <a:custGeom>
            <a:avLst/>
            <a:gdLst/>
            <a:ahLst/>
            <a:cxnLst/>
            <a:rect l="l" t="t" r="r" b="b"/>
            <a:pathLst>
              <a:path w="1828800" h="401954">
                <a:moveTo>
                  <a:pt x="0" y="0"/>
                </a:moveTo>
                <a:lnTo>
                  <a:pt x="1828800" y="0"/>
                </a:lnTo>
                <a:lnTo>
                  <a:pt x="1828800" y="401790"/>
                </a:lnTo>
                <a:lnTo>
                  <a:pt x="0" y="4017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88908" y="5755640"/>
            <a:ext cx="2743835" cy="842644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 indent="226060">
              <a:lnSpc>
                <a:spcPts val="3190"/>
              </a:lnSpc>
              <a:spcBef>
                <a:spcPts val="245"/>
              </a:spcBef>
            </a:pPr>
            <a:r>
              <a:rPr dirty="0" sz="2700" spc="-10">
                <a:latin typeface="Calibri"/>
                <a:cs typeface="Calibri"/>
              </a:rPr>
              <a:t>E.g., </a:t>
            </a:r>
            <a:r>
              <a:rPr dirty="0" sz="2700">
                <a:latin typeface="Calibri"/>
                <a:cs typeface="Calibri"/>
              </a:rPr>
              <a:t>a </a:t>
            </a:r>
            <a:r>
              <a:rPr dirty="0" sz="2700" spc="-20">
                <a:latin typeface="Calibri"/>
                <a:cs typeface="Calibri"/>
              </a:rPr>
              <a:t>drug-drug  </a:t>
            </a:r>
            <a:r>
              <a:rPr dirty="0" sz="2700" spc="-30">
                <a:latin typeface="Calibri"/>
                <a:cs typeface="Calibri"/>
              </a:rPr>
              <a:t>interaction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network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42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47670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93634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Directly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train </a:t>
            </a:r>
            <a:r>
              <a:rPr dirty="0"/>
              <a:t>the </a:t>
            </a:r>
            <a:r>
              <a:rPr dirty="0" spc="-5"/>
              <a:t>model </a:t>
            </a:r>
            <a:r>
              <a:rPr dirty="0" spc="-25"/>
              <a:t>for </a:t>
            </a:r>
            <a:r>
              <a:rPr dirty="0"/>
              <a:t>a </a:t>
            </a:r>
            <a:r>
              <a:rPr dirty="0" spc="-5"/>
              <a:t>supervised </a:t>
            </a:r>
            <a:r>
              <a:rPr dirty="0" spc="-15"/>
              <a:t>task  </a:t>
            </a:r>
            <a:r>
              <a:rPr dirty="0"/>
              <a:t>(e.g.,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node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classification</a:t>
            </a:r>
            <a:r>
              <a:rPr dirty="0" spc="-10"/>
              <a:t>)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Use </a:t>
            </a:r>
            <a:r>
              <a:rPr dirty="0" spc="-15"/>
              <a:t>cross entropy </a:t>
            </a:r>
            <a:r>
              <a:rPr dirty="0" spc="-5"/>
              <a:t>loss (slide </a:t>
            </a:r>
            <a:r>
              <a:rPr dirty="0"/>
              <a:t>16)</a:t>
            </a:r>
          </a:p>
        </p:txBody>
      </p:sp>
      <p:sp>
        <p:nvSpPr>
          <p:cNvPr id="4" name="object 4"/>
          <p:cNvSpPr/>
          <p:nvPr/>
        </p:nvSpPr>
        <p:spPr>
          <a:xfrm>
            <a:off x="2870103" y="5063427"/>
            <a:ext cx="1425417" cy="1609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11005" y="3316357"/>
            <a:ext cx="368300" cy="450215"/>
          </a:xfrm>
          <a:custGeom>
            <a:avLst/>
            <a:gdLst/>
            <a:ahLst/>
            <a:cxnLst/>
            <a:rect l="l" t="t" r="r" b="b"/>
            <a:pathLst>
              <a:path w="368300" h="450214">
                <a:moveTo>
                  <a:pt x="0" y="0"/>
                </a:moveTo>
                <a:lnTo>
                  <a:pt x="368274" y="0"/>
                </a:lnTo>
                <a:lnTo>
                  <a:pt x="368274" y="449583"/>
                </a:lnTo>
                <a:lnTo>
                  <a:pt x="0" y="449583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9893" y="3305244"/>
            <a:ext cx="390525" cy="472440"/>
          </a:xfrm>
          <a:custGeom>
            <a:avLst/>
            <a:gdLst/>
            <a:ahLst/>
            <a:cxnLst/>
            <a:rect l="l" t="t" r="r" b="b"/>
            <a:pathLst>
              <a:path w="390525" h="472439">
                <a:moveTo>
                  <a:pt x="385525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466832"/>
                </a:lnTo>
                <a:lnTo>
                  <a:pt x="4975" y="471808"/>
                </a:lnTo>
                <a:lnTo>
                  <a:pt x="385525" y="471808"/>
                </a:lnTo>
                <a:lnTo>
                  <a:pt x="390499" y="466832"/>
                </a:lnTo>
                <a:lnTo>
                  <a:pt x="390499" y="458473"/>
                </a:lnTo>
                <a:lnTo>
                  <a:pt x="13334" y="458473"/>
                </a:lnTo>
                <a:lnTo>
                  <a:pt x="13334" y="13335"/>
                </a:lnTo>
                <a:lnTo>
                  <a:pt x="390499" y="13335"/>
                </a:lnTo>
                <a:lnTo>
                  <a:pt x="390499" y="4974"/>
                </a:lnTo>
                <a:lnTo>
                  <a:pt x="385525" y="0"/>
                </a:lnTo>
                <a:close/>
              </a:path>
              <a:path w="390525" h="472439">
                <a:moveTo>
                  <a:pt x="390499" y="13335"/>
                </a:moveTo>
                <a:lnTo>
                  <a:pt x="377164" y="13335"/>
                </a:lnTo>
                <a:lnTo>
                  <a:pt x="377164" y="458473"/>
                </a:lnTo>
                <a:lnTo>
                  <a:pt x="390499" y="458473"/>
                </a:lnTo>
                <a:lnTo>
                  <a:pt x="390499" y="13335"/>
                </a:lnTo>
                <a:close/>
              </a:path>
              <a:path w="390525" h="472439">
                <a:moveTo>
                  <a:pt x="372719" y="17780"/>
                </a:moveTo>
                <a:lnTo>
                  <a:pt x="17779" y="17780"/>
                </a:lnTo>
                <a:lnTo>
                  <a:pt x="17779" y="454028"/>
                </a:lnTo>
                <a:lnTo>
                  <a:pt x="372719" y="454028"/>
                </a:lnTo>
                <a:lnTo>
                  <a:pt x="372719" y="449583"/>
                </a:lnTo>
                <a:lnTo>
                  <a:pt x="22225" y="449583"/>
                </a:lnTo>
                <a:lnTo>
                  <a:pt x="22225" y="22225"/>
                </a:lnTo>
                <a:lnTo>
                  <a:pt x="372719" y="22225"/>
                </a:lnTo>
                <a:lnTo>
                  <a:pt x="372719" y="17780"/>
                </a:lnTo>
                <a:close/>
              </a:path>
              <a:path w="390525" h="472439">
                <a:moveTo>
                  <a:pt x="372719" y="22225"/>
                </a:moveTo>
                <a:lnTo>
                  <a:pt x="368274" y="22225"/>
                </a:lnTo>
                <a:lnTo>
                  <a:pt x="368274" y="449583"/>
                </a:lnTo>
                <a:lnTo>
                  <a:pt x="372719" y="449583"/>
                </a:lnTo>
                <a:lnTo>
                  <a:pt x="372719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9236" y="4443476"/>
            <a:ext cx="212915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Encoder</a:t>
            </a:r>
            <a:r>
              <a:rPr dirty="0" sz="2400" spc="-9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output: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node</a:t>
            </a:r>
            <a:r>
              <a:rPr dirty="0" sz="2400" spc="-5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embedding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97446" y="3316354"/>
            <a:ext cx="400050" cy="469900"/>
          </a:xfrm>
          <a:custGeom>
            <a:avLst/>
            <a:gdLst/>
            <a:ahLst/>
            <a:cxnLst/>
            <a:rect l="l" t="t" r="r" b="b"/>
            <a:pathLst>
              <a:path w="400050" h="469900">
                <a:moveTo>
                  <a:pt x="0" y="0"/>
                </a:moveTo>
                <a:lnTo>
                  <a:pt x="400011" y="0"/>
                </a:lnTo>
                <a:lnTo>
                  <a:pt x="400011" y="469385"/>
                </a:lnTo>
                <a:lnTo>
                  <a:pt x="0" y="469385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86334" y="3305242"/>
            <a:ext cx="422275" cy="492125"/>
          </a:xfrm>
          <a:custGeom>
            <a:avLst/>
            <a:gdLst/>
            <a:ahLst/>
            <a:cxnLst/>
            <a:rect l="l" t="t" r="r" b="b"/>
            <a:pathLst>
              <a:path w="422275" h="492125">
                <a:moveTo>
                  <a:pt x="417261" y="0"/>
                </a:moveTo>
                <a:lnTo>
                  <a:pt x="4974" y="0"/>
                </a:lnTo>
                <a:lnTo>
                  <a:pt x="0" y="4975"/>
                </a:lnTo>
                <a:lnTo>
                  <a:pt x="0" y="486636"/>
                </a:lnTo>
                <a:lnTo>
                  <a:pt x="4974" y="491610"/>
                </a:lnTo>
                <a:lnTo>
                  <a:pt x="417261" y="491610"/>
                </a:lnTo>
                <a:lnTo>
                  <a:pt x="422236" y="486636"/>
                </a:lnTo>
                <a:lnTo>
                  <a:pt x="422236" y="478275"/>
                </a:lnTo>
                <a:lnTo>
                  <a:pt x="13335" y="478275"/>
                </a:lnTo>
                <a:lnTo>
                  <a:pt x="13335" y="13335"/>
                </a:lnTo>
                <a:lnTo>
                  <a:pt x="422236" y="13335"/>
                </a:lnTo>
                <a:lnTo>
                  <a:pt x="422236" y="4975"/>
                </a:lnTo>
                <a:lnTo>
                  <a:pt x="417261" y="0"/>
                </a:lnTo>
                <a:close/>
              </a:path>
              <a:path w="422275" h="492125">
                <a:moveTo>
                  <a:pt x="422236" y="13335"/>
                </a:moveTo>
                <a:lnTo>
                  <a:pt x="408901" y="13335"/>
                </a:lnTo>
                <a:lnTo>
                  <a:pt x="408901" y="478275"/>
                </a:lnTo>
                <a:lnTo>
                  <a:pt x="422236" y="478275"/>
                </a:lnTo>
                <a:lnTo>
                  <a:pt x="422236" y="13335"/>
                </a:lnTo>
                <a:close/>
              </a:path>
              <a:path w="422275" h="492125">
                <a:moveTo>
                  <a:pt x="404456" y="17780"/>
                </a:moveTo>
                <a:lnTo>
                  <a:pt x="17779" y="17780"/>
                </a:lnTo>
                <a:lnTo>
                  <a:pt x="17779" y="473830"/>
                </a:lnTo>
                <a:lnTo>
                  <a:pt x="404456" y="473830"/>
                </a:lnTo>
                <a:lnTo>
                  <a:pt x="404456" y="469385"/>
                </a:lnTo>
                <a:lnTo>
                  <a:pt x="22225" y="469385"/>
                </a:lnTo>
                <a:lnTo>
                  <a:pt x="22225" y="22225"/>
                </a:lnTo>
                <a:lnTo>
                  <a:pt x="404456" y="22225"/>
                </a:lnTo>
                <a:lnTo>
                  <a:pt x="404456" y="17780"/>
                </a:lnTo>
                <a:close/>
              </a:path>
              <a:path w="422275" h="492125">
                <a:moveTo>
                  <a:pt x="404456" y="22225"/>
                </a:moveTo>
                <a:lnTo>
                  <a:pt x="400011" y="22225"/>
                </a:lnTo>
                <a:lnTo>
                  <a:pt x="400011" y="469385"/>
                </a:lnTo>
                <a:lnTo>
                  <a:pt x="404456" y="469385"/>
                </a:lnTo>
                <a:lnTo>
                  <a:pt x="404456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19361" y="3868765"/>
            <a:ext cx="892175" cy="1511300"/>
          </a:xfrm>
          <a:custGeom>
            <a:avLst/>
            <a:gdLst/>
            <a:ahLst/>
            <a:cxnLst/>
            <a:rect l="l" t="t" r="r" b="b"/>
            <a:pathLst>
              <a:path w="892175" h="1511300">
                <a:moveTo>
                  <a:pt x="46805" y="60879"/>
                </a:moveTo>
                <a:lnTo>
                  <a:pt x="30379" y="70527"/>
                </a:lnTo>
                <a:lnTo>
                  <a:pt x="875493" y="1509336"/>
                </a:lnTo>
                <a:lnTo>
                  <a:pt x="881330" y="1510854"/>
                </a:lnTo>
                <a:lnTo>
                  <a:pt x="890402" y="1505525"/>
                </a:lnTo>
                <a:lnTo>
                  <a:pt x="891918" y="1499688"/>
                </a:lnTo>
                <a:lnTo>
                  <a:pt x="46805" y="60879"/>
                </a:lnTo>
                <a:close/>
              </a:path>
              <a:path w="892175" h="1511300">
                <a:moveTo>
                  <a:pt x="0" y="0"/>
                </a:moveTo>
                <a:lnTo>
                  <a:pt x="5740" y="84999"/>
                </a:lnTo>
                <a:lnTo>
                  <a:pt x="30379" y="70527"/>
                </a:lnTo>
                <a:lnTo>
                  <a:pt x="21281" y="55037"/>
                </a:lnTo>
                <a:lnTo>
                  <a:pt x="22799" y="49201"/>
                </a:lnTo>
                <a:lnTo>
                  <a:pt x="31870" y="43872"/>
                </a:lnTo>
                <a:lnTo>
                  <a:pt x="67542" y="43872"/>
                </a:lnTo>
                <a:lnTo>
                  <a:pt x="0" y="0"/>
                </a:lnTo>
                <a:close/>
              </a:path>
              <a:path w="892175" h="1511300">
                <a:moveTo>
                  <a:pt x="31870" y="43872"/>
                </a:moveTo>
                <a:lnTo>
                  <a:pt x="22799" y="49201"/>
                </a:lnTo>
                <a:lnTo>
                  <a:pt x="21281" y="55037"/>
                </a:lnTo>
                <a:lnTo>
                  <a:pt x="30379" y="70527"/>
                </a:lnTo>
                <a:lnTo>
                  <a:pt x="46805" y="60879"/>
                </a:lnTo>
                <a:lnTo>
                  <a:pt x="37707" y="45389"/>
                </a:lnTo>
                <a:lnTo>
                  <a:pt x="31870" y="43872"/>
                </a:lnTo>
                <a:close/>
              </a:path>
              <a:path w="892175" h="1511300">
                <a:moveTo>
                  <a:pt x="67542" y="43872"/>
                </a:moveTo>
                <a:lnTo>
                  <a:pt x="31870" y="43872"/>
                </a:lnTo>
                <a:lnTo>
                  <a:pt x="37707" y="45389"/>
                </a:lnTo>
                <a:lnTo>
                  <a:pt x="46805" y="60879"/>
                </a:lnTo>
                <a:lnTo>
                  <a:pt x="71445" y="46407"/>
                </a:lnTo>
                <a:lnTo>
                  <a:pt x="67542" y="43872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31310" y="3305243"/>
            <a:ext cx="244475" cy="475615"/>
          </a:xfrm>
          <a:custGeom>
            <a:avLst/>
            <a:gdLst/>
            <a:ahLst/>
            <a:cxnLst/>
            <a:rect l="l" t="t" r="r" b="b"/>
            <a:pathLst>
              <a:path w="244475" h="475614">
                <a:moveTo>
                  <a:pt x="239453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470376"/>
                </a:lnTo>
                <a:lnTo>
                  <a:pt x="4975" y="475350"/>
                </a:lnTo>
                <a:lnTo>
                  <a:pt x="239453" y="475350"/>
                </a:lnTo>
                <a:lnTo>
                  <a:pt x="244428" y="470376"/>
                </a:lnTo>
                <a:lnTo>
                  <a:pt x="244428" y="462015"/>
                </a:lnTo>
                <a:lnTo>
                  <a:pt x="13335" y="462015"/>
                </a:lnTo>
                <a:lnTo>
                  <a:pt x="13335" y="13335"/>
                </a:lnTo>
                <a:lnTo>
                  <a:pt x="244428" y="13335"/>
                </a:lnTo>
                <a:lnTo>
                  <a:pt x="244428" y="4974"/>
                </a:lnTo>
                <a:lnTo>
                  <a:pt x="239453" y="0"/>
                </a:lnTo>
                <a:close/>
              </a:path>
              <a:path w="244475" h="475614">
                <a:moveTo>
                  <a:pt x="244428" y="13335"/>
                </a:moveTo>
                <a:lnTo>
                  <a:pt x="231093" y="13335"/>
                </a:lnTo>
                <a:lnTo>
                  <a:pt x="231093" y="462015"/>
                </a:lnTo>
                <a:lnTo>
                  <a:pt x="244428" y="462015"/>
                </a:lnTo>
                <a:lnTo>
                  <a:pt x="244428" y="13335"/>
                </a:lnTo>
                <a:close/>
              </a:path>
              <a:path w="244475" h="475614">
                <a:moveTo>
                  <a:pt x="226648" y="17779"/>
                </a:moveTo>
                <a:lnTo>
                  <a:pt x="17780" y="17779"/>
                </a:lnTo>
                <a:lnTo>
                  <a:pt x="17780" y="457570"/>
                </a:lnTo>
                <a:lnTo>
                  <a:pt x="226648" y="457570"/>
                </a:lnTo>
                <a:lnTo>
                  <a:pt x="226648" y="453125"/>
                </a:lnTo>
                <a:lnTo>
                  <a:pt x="22225" y="453125"/>
                </a:lnTo>
                <a:lnTo>
                  <a:pt x="22225" y="22225"/>
                </a:lnTo>
                <a:lnTo>
                  <a:pt x="226648" y="22225"/>
                </a:lnTo>
                <a:lnTo>
                  <a:pt x="226648" y="17779"/>
                </a:lnTo>
                <a:close/>
              </a:path>
              <a:path w="244475" h="475614">
                <a:moveTo>
                  <a:pt x="226648" y="22225"/>
                </a:moveTo>
                <a:lnTo>
                  <a:pt x="222203" y="22225"/>
                </a:lnTo>
                <a:lnTo>
                  <a:pt x="222203" y="453125"/>
                </a:lnTo>
                <a:lnTo>
                  <a:pt x="226648" y="453125"/>
                </a:lnTo>
                <a:lnTo>
                  <a:pt x="226648" y="22225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65304" y="3748782"/>
            <a:ext cx="4029075" cy="701675"/>
          </a:xfrm>
          <a:custGeom>
            <a:avLst/>
            <a:gdLst/>
            <a:ahLst/>
            <a:cxnLst/>
            <a:rect l="l" t="t" r="r" b="b"/>
            <a:pathLst>
              <a:path w="4029075" h="701675">
                <a:moveTo>
                  <a:pt x="76732" y="28190"/>
                </a:moveTo>
                <a:lnTo>
                  <a:pt x="73616" y="46984"/>
                </a:lnTo>
                <a:lnTo>
                  <a:pt x="4022272" y="701471"/>
                </a:lnTo>
                <a:lnTo>
                  <a:pt x="4027177" y="697961"/>
                </a:lnTo>
                <a:lnTo>
                  <a:pt x="4028898" y="687581"/>
                </a:lnTo>
                <a:lnTo>
                  <a:pt x="4025388" y="682678"/>
                </a:lnTo>
                <a:lnTo>
                  <a:pt x="76732" y="28190"/>
                </a:lnTo>
                <a:close/>
              </a:path>
              <a:path w="4029075" h="701675">
                <a:moveTo>
                  <a:pt x="81404" y="0"/>
                </a:moveTo>
                <a:lnTo>
                  <a:pt x="0" y="25128"/>
                </a:lnTo>
                <a:lnTo>
                  <a:pt x="68944" y="75175"/>
                </a:lnTo>
                <a:lnTo>
                  <a:pt x="73616" y="46984"/>
                </a:lnTo>
                <a:lnTo>
                  <a:pt x="55901" y="44048"/>
                </a:lnTo>
                <a:lnTo>
                  <a:pt x="52391" y="39143"/>
                </a:lnTo>
                <a:lnTo>
                  <a:pt x="54112" y="28764"/>
                </a:lnTo>
                <a:lnTo>
                  <a:pt x="59016" y="25253"/>
                </a:lnTo>
                <a:lnTo>
                  <a:pt x="77218" y="25253"/>
                </a:lnTo>
                <a:lnTo>
                  <a:pt x="81404" y="0"/>
                </a:lnTo>
                <a:close/>
              </a:path>
              <a:path w="4029075" h="701675">
                <a:moveTo>
                  <a:pt x="59016" y="25253"/>
                </a:moveTo>
                <a:lnTo>
                  <a:pt x="54112" y="28764"/>
                </a:lnTo>
                <a:lnTo>
                  <a:pt x="52391" y="39143"/>
                </a:lnTo>
                <a:lnTo>
                  <a:pt x="55901" y="44048"/>
                </a:lnTo>
                <a:lnTo>
                  <a:pt x="73616" y="46984"/>
                </a:lnTo>
                <a:lnTo>
                  <a:pt x="76732" y="28190"/>
                </a:lnTo>
                <a:lnTo>
                  <a:pt x="59016" y="25253"/>
                </a:lnTo>
                <a:close/>
              </a:path>
              <a:path w="4029075" h="701675">
                <a:moveTo>
                  <a:pt x="77218" y="25253"/>
                </a:moveTo>
                <a:lnTo>
                  <a:pt x="59016" y="25253"/>
                </a:lnTo>
                <a:lnTo>
                  <a:pt x="76732" y="28190"/>
                </a:lnTo>
                <a:lnTo>
                  <a:pt x="77218" y="25253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73510" y="3305243"/>
            <a:ext cx="244475" cy="507365"/>
          </a:xfrm>
          <a:custGeom>
            <a:avLst/>
            <a:gdLst/>
            <a:ahLst/>
            <a:cxnLst/>
            <a:rect l="l" t="t" r="r" b="b"/>
            <a:pathLst>
              <a:path w="244475" h="507364">
                <a:moveTo>
                  <a:pt x="238942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501773"/>
                </a:lnTo>
                <a:lnTo>
                  <a:pt x="4974" y="506749"/>
                </a:lnTo>
                <a:lnTo>
                  <a:pt x="238942" y="506749"/>
                </a:lnTo>
                <a:lnTo>
                  <a:pt x="243918" y="501773"/>
                </a:lnTo>
                <a:lnTo>
                  <a:pt x="243918" y="493414"/>
                </a:lnTo>
                <a:lnTo>
                  <a:pt x="13335" y="493414"/>
                </a:lnTo>
                <a:lnTo>
                  <a:pt x="13335" y="13335"/>
                </a:lnTo>
                <a:lnTo>
                  <a:pt x="243918" y="13335"/>
                </a:lnTo>
                <a:lnTo>
                  <a:pt x="243918" y="4974"/>
                </a:lnTo>
                <a:lnTo>
                  <a:pt x="238942" y="0"/>
                </a:lnTo>
                <a:close/>
              </a:path>
              <a:path w="244475" h="507364">
                <a:moveTo>
                  <a:pt x="243918" y="13335"/>
                </a:moveTo>
                <a:lnTo>
                  <a:pt x="230583" y="13335"/>
                </a:lnTo>
                <a:lnTo>
                  <a:pt x="230583" y="493414"/>
                </a:lnTo>
                <a:lnTo>
                  <a:pt x="243918" y="493414"/>
                </a:lnTo>
                <a:lnTo>
                  <a:pt x="243918" y="13335"/>
                </a:lnTo>
                <a:close/>
              </a:path>
              <a:path w="244475" h="507364">
                <a:moveTo>
                  <a:pt x="226138" y="17779"/>
                </a:moveTo>
                <a:lnTo>
                  <a:pt x="17780" y="17779"/>
                </a:lnTo>
                <a:lnTo>
                  <a:pt x="17780" y="488969"/>
                </a:lnTo>
                <a:lnTo>
                  <a:pt x="226138" y="488969"/>
                </a:lnTo>
                <a:lnTo>
                  <a:pt x="226138" y="484524"/>
                </a:lnTo>
                <a:lnTo>
                  <a:pt x="22225" y="484524"/>
                </a:lnTo>
                <a:lnTo>
                  <a:pt x="22225" y="22225"/>
                </a:lnTo>
                <a:lnTo>
                  <a:pt x="226138" y="22225"/>
                </a:lnTo>
                <a:lnTo>
                  <a:pt x="226138" y="17779"/>
                </a:lnTo>
                <a:close/>
              </a:path>
              <a:path w="244475" h="507364">
                <a:moveTo>
                  <a:pt x="226138" y="22225"/>
                </a:moveTo>
                <a:lnTo>
                  <a:pt x="221693" y="22225"/>
                </a:lnTo>
                <a:lnTo>
                  <a:pt x="221693" y="484524"/>
                </a:lnTo>
                <a:lnTo>
                  <a:pt x="226138" y="484524"/>
                </a:lnTo>
                <a:lnTo>
                  <a:pt x="226138" y="22225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73250" y="3800880"/>
            <a:ext cx="234950" cy="650240"/>
          </a:xfrm>
          <a:custGeom>
            <a:avLst/>
            <a:gdLst/>
            <a:ahLst/>
            <a:cxnLst/>
            <a:rect l="l" t="t" r="r" b="b"/>
            <a:pathLst>
              <a:path w="234950" h="650239">
                <a:moveTo>
                  <a:pt x="189234" y="69347"/>
                </a:moveTo>
                <a:lnTo>
                  <a:pt x="0" y="641117"/>
                </a:lnTo>
                <a:lnTo>
                  <a:pt x="2708" y="646506"/>
                </a:lnTo>
                <a:lnTo>
                  <a:pt x="12696" y="649812"/>
                </a:lnTo>
                <a:lnTo>
                  <a:pt x="18084" y="647103"/>
                </a:lnTo>
                <a:lnTo>
                  <a:pt x="207319" y="75333"/>
                </a:lnTo>
                <a:lnTo>
                  <a:pt x="189234" y="69347"/>
                </a:lnTo>
                <a:close/>
              </a:path>
              <a:path w="234950" h="650239">
                <a:moveTo>
                  <a:pt x="229411" y="49588"/>
                </a:moveTo>
                <a:lnTo>
                  <a:pt x="200266" y="49588"/>
                </a:lnTo>
                <a:lnTo>
                  <a:pt x="210254" y="52894"/>
                </a:lnTo>
                <a:lnTo>
                  <a:pt x="212962" y="58282"/>
                </a:lnTo>
                <a:lnTo>
                  <a:pt x="207319" y="75333"/>
                </a:lnTo>
                <a:lnTo>
                  <a:pt x="234447" y="84311"/>
                </a:lnTo>
                <a:lnTo>
                  <a:pt x="229411" y="49588"/>
                </a:lnTo>
                <a:close/>
              </a:path>
              <a:path w="234950" h="650239">
                <a:moveTo>
                  <a:pt x="200266" y="49588"/>
                </a:moveTo>
                <a:lnTo>
                  <a:pt x="194877" y="52297"/>
                </a:lnTo>
                <a:lnTo>
                  <a:pt x="189234" y="69347"/>
                </a:lnTo>
                <a:lnTo>
                  <a:pt x="207319" y="75333"/>
                </a:lnTo>
                <a:lnTo>
                  <a:pt x="212962" y="58282"/>
                </a:lnTo>
                <a:lnTo>
                  <a:pt x="210254" y="52894"/>
                </a:lnTo>
                <a:lnTo>
                  <a:pt x="200266" y="49588"/>
                </a:lnTo>
                <a:close/>
              </a:path>
              <a:path w="234950" h="650239">
                <a:moveTo>
                  <a:pt x="222219" y="0"/>
                </a:moveTo>
                <a:lnTo>
                  <a:pt x="162106" y="60369"/>
                </a:lnTo>
                <a:lnTo>
                  <a:pt x="189234" y="69347"/>
                </a:lnTo>
                <a:lnTo>
                  <a:pt x="194877" y="52297"/>
                </a:lnTo>
                <a:lnTo>
                  <a:pt x="200266" y="49588"/>
                </a:lnTo>
                <a:lnTo>
                  <a:pt x="229411" y="49588"/>
                </a:lnTo>
                <a:lnTo>
                  <a:pt x="222219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35523" y="3779855"/>
            <a:ext cx="4843780" cy="1209675"/>
          </a:xfrm>
          <a:custGeom>
            <a:avLst/>
            <a:gdLst/>
            <a:ahLst/>
            <a:cxnLst/>
            <a:rect l="l" t="t" r="r" b="b"/>
            <a:pathLst>
              <a:path w="4843780" h="1209675">
                <a:moveTo>
                  <a:pt x="4767399" y="27760"/>
                </a:moveTo>
                <a:lnTo>
                  <a:pt x="3131" y="1190903"/>
                </a:lnTo>
                <a:lnTo>
                  <a:pt x="0" y="1196056"/>
                </a:lnTo>
                <a:lnTo>
                  <a:pt x="2495" y="1206277"/>
                </a:lnTo>
                <a:lnTo>
                  <a:pt x="7650" y="1209409"/>
                </a:lnTo>
                <a:lnTo>
                  <a:pt x="4771917" y="46266"/>
                </a:lnTo>
                <a:lnTo>
                  <a:pt x="4767399" y="27760"/>
                </a:lnTo>
                <a:close/>
              </a:path>
              <a:path w="4843780" h="1209675">
                <a:moveTo>
                  <a:pt x="4838302" y="23501"/>
                </a:moveTo>
                <a:lnTo>
                  <a:pt x="4784844" y="23501"/>
                </a:lnTo>
                <a:lnTo>
                  <a:pt x="4789998" y="26631"/>
                </a:lnTo>
                <a:lnTo>
                  <a:pt x="4792493" y="36852"/>
                </a:lnTo>
                <a:lnTo>
                  <a:pt x="4789361" y="42007"/>
                </a:lnTo>
                <a:lnTo>
                  <a:pt x="4771917" y="46266"/>
                </a:lnTo>
                <a:lnTo>
                  <a:pt x="4778695" y="74025"/>
                </a:lnTo>
                <a:lnTo>
                  <a:pt x="4838302" y="23501"/>
                </a:lnTo>
                <a:close/>
              </a:path>
              <a:path w="4843780" h="1209675">
                <a:moveTo>
                  <a:pt x="4784844" y="23501"/>
                </a:moveTo>
                <a:lnTo>
                  <a:pt x="4767399" y="27760"/>
                </a:lnTo>
                <a:lnTo>
                  <a:pt x="4771917" y="46266"/>
                </a:lnTo>
                <a:lnTo>
                  <a:pt x="4789361" y="42007"/>
                </a:lnTo>
                <a:lnTo>
                  <a:pt x="4792493" y="36852"/>
                </a:lnTo>
                <a:lnTo>
                  <a:pt x="4789998" y="26631"/>
                </a:lnTo>
                <a:lnTo>
                  <a:pt x="4784844" y="23501"/>
                </a:lnTo>
                <a:close/>
              </a:path>
              <a:path w="4843780" h="1209675">
                <a:moveTo>
                  <a:pt x="4760621" y="0"/>
                </a:moveTo>
                <a:lnTo>
                  <a:pt x="4767399" y="27760"/>
                </a:lnTo>
                <a:lnTo>
                  <a:pt x="4784844" y="23501"/>
                </a:lnTo>
                <a:lnTo>
                  <a:pt x="4838302" y="23501"/>
                </a:lnTo>
                <a:lnTo>
                  <a:pt x="4843683" y="18940"/>
                </a:lnTo>
                <a:lnTo>
                  <a:pt x="476062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88554" y="3316356"/>
            <a:ext cx="400050" cy="461009"/>
          </a:xfrm>
          <a:custGeom>
            <a:avLst/>
            <a:gdLst/>
            <a:ahLst/>
            <a:cxnLst/>
            <a:rect l="l" t="t" r="r" b="b"/>
            <a:pathLst>
              <a:path w="400050" h="461010">
                <a:moveTo>
                  <a:pt x="0" y="0"/>
                </a:moveTo>
                <a:lnTo>
                  <a:pt x="400013" y="0"/>
                </a:lnTo>
                <a:lnTo>
                  <a:pt x="400013" y="460658"/>
                </a:lnTo>
                <a:lnTo>
                  <a:pt x="0" y="460658"/>
                </a:lnTo>
                <a:lnTo>
                  <a:pt x="0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77442" y="3305243"/>
            <a:ext cx="422275" cy="483234"/>
          </a:xfrm>
          <a:custGeom>
            <a:avLst/>
            <a:gdLst/>
            <a:ahLst/>
            <a:cxnLst/>
            <a:rect l="l" t="t" r="r" b="b"/>
            <a:pathLst>
              <a:path w="422275" h="483235">
                <a:moveTo>
                  <a:pt x="417263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477907"/>
                </a:lnTo>
                <a:lnTo>
                  <a:pt x="4975" y="482883"/>
                </a:lnTo>
                <a:lnTo>
                  <a:pt x="417263" y="482883"/>
                </a:lnTo>
                <a:lnTo>
                  <a:pt x="422238" y="477907"/>
                </a:lnTo>
                <a:lnTo>
                  <a:pt x="422238" y="469548"/>
                </a:lnTo>
                <a:lnTo>
                  <a:pt x="13335" y="469548"/>
                </a:lnTo>
                <a:lnTo>
                  <a:pt x="13335" y="13335"/>
                </a:lnTo>
                <a:lnTo>
                  <a:pt x="422238" y="13335"/>
                </a:lnTo>
                <a:lnTo>
                  <a:pt x="422238" y="4974"/>
                </a:lnTo>
                <a:lnTo>
                  <a:pt x="417263" y="0"/>
                </a:lnTo>
                <a:close/>
              </a:path>
              <a:path w="422275" h="483235">
                <a:moveTo>
                  <a:pt x="422238" y="13335"/>
                </a:moveTo>
                <a:lnTo>
                  <a:pt x="408903" y="13335"/>
                </a:lnTo>
                <a:lnTo>
                  <a:pt x="408903" y="469548"/>
                </a:lnTo>
                <a:lnTo>
                  <a:pt x="422238" y="469548"/>
                </a:lnTo>
                <a:lnTo>
                  <a:pt x="422238" y="13335"/>
                </a:lnTo>
                <a:close/>
              </a:path>
              <a:path w="422275" h="483235">
                <a:moveTo>
                  <a:pt x="404458" y="17779"/>
                </a:moveTo>
                <a:lnTo>
                  <a:pt x="17779" y="17779"/>
                </a:lnTo>
                <a:lnTo>
                  <a:pt x="17779" y="465103"/>
                </a:lnTo>
                <a:lnTo>
                  <a:pt x="404458" y="465103"/>
                </a:lnTo>
                <a:lnTo>
                  <a:pt x="404458" y="460658"/>
                </a:lnTo>
                <a:lnTo>
                  <a:pt x="22225" y="460658"/>
                </a:lnTo>
                <a:lnTo>
                  <a:pt x="22225" y="22225"/>
                </a:lnTo>
                <a:lnTo>
                  <a:pt x="404458" y="22225"/>
                </a:lnTo>
                <a:lnTo>
                  <a:pt x="404458" y="17779"/>
                </a:lnTo>
                <a:close/>
              </a:path>
              <a:path w="422275" h="483235">
                <a:moveTo>
                  <a:pt x="404458" y="22225"/>
                </a:moveTo>
                <a:lnTo>
                  <a:pt x="400013" y="22225"/>
                </a:lnTo>
                <a:lnTo>
                  <a:pt x="400013" y="460658"/>
                </a:lnTo>
                <a:lnTo>
                  <a:pt x="404458" y="460658"/>
                </a:lnTo>
                <a:lnTo>
                  <a:pt x="404458" y="2222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62406" y="3316354"/>
            <a:ext cx="390525" cy="474345"/>
          </a:xfrm>
          <a:custGeom>
            <a:avLst/>
            <a:gdLst/>
            <a:ahLst/>
            <a:cxnLst/>
            <a:rect l="l" t="t" r="r" b="b"/>
            <a:pathLst>
              <a:path w="390525" h="474345">
                <a:moveTo>
                  <a:pt x="0" y="0"/>
                </a:moveTo>
                <a:lnTo>
                  <a:pt x="389940" y="0"/>
                </a:lnTo>
                <a:lnTo>
                  <a:pt x="389940" y="473759"/>
                </a:lnTo>
                <a:lnTo>
                  <a:pt x="0" y="473759"/>
                </a:lnTo>
                <a:lnTo>
                  <a:pt x="0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51293" y="3305242"/>
            <a:ext cx="412750" cy="496570"/>
          </a:xfrm>
          <a:custGeom>
            <a:avLst/>
            <a:gdLst/>
            <a:ahLst/>
            <a:cxnLst/>
            <a:rect l="l" t="t" r="r" b="b"/>
            <a:pathLst>
              <a:path w="412750" h="496570">
                <a:moveTo>
                  <a:pt x="407189" y="0"/>
                </a:moveTo>
                <a:lnTo>
                  <a:pt x="4975" y="0"/>
                </a:lnTo>
                <a:lnTo>
                  <a:pt x="0" y="4975"/>
                </a:lnTo>
                <a:lnTo>
                  <a:pt x="0" y="491008"/>
                </a:lnTo>
                <a:lnTo>
                  <a:pt x="4975" y="495984"/>
                </a:lnTo>
                <a:lnTo>
                  <a:pt x="407189" y="495984"/>
                </a:lnTo>
                <a:lnTo>
                  <a:pt x="412165" y="491008"/>
                </a:lnTo>
                <a:lnTo>
                  <a:pt x="412165" y="482649"/>
                </a:lnTo>
                <a:lnTo>
                  <a:pt x="13334" y="482649"/>
                </a:lnTo>
                <a:lnTo>
                  <a:pt x="13334" y="13335"/>
                </a:lnTo>
                <a:lnTo>
                  <a:pt x="412165" y="13335"/>
                </a:lnTo>
                <a:lnTo>
                  <a:pt x="412165" y="4975"/>
                </a:lnTo>
                <a:lnTo>
                  <a:pt x="407189" y="0"/>
                </a:lnTo>
                <a:close/>
              </a:path>
              <a:path w="412750" h="496570">
                <a:moveTo>
                  <a:pt x="412165" y="13335"/>
                </a:moveTo>
                <a:lnTo>
                  <a:pt x="398830" y="13335"/>
                </a:lnTo>
                <a:lnTo>
                  <a:pt x="398830" y="482649"/>
                </a:lnTo>
                <a:lnTo>
                  <a:pt x="412165" y="482649"/>
                </a:lnTo>
                <a:lnTo>
                  <a:pt x="412165" y="13335"/>
                </a:lnTo>
                <a:close/>
              </a:path>
              <a:path w="412750" h="496570">
                <a:moveTo>
                  <a:pt x="394385" y="17780"/>
                </a:moveTo>
                <a:lnTo>
                  <a:pt x="17779" y="17780"/>
                </a:lnTo>
                <a:lnTo>
                  <a:pt x="17779" y="478204"/>
                </a:lnTo>
                <a:lnTo>
                  <a:pt x="394385" y="478204"/>
                </a:lnTo>
                <a:lnTo>
                  <a:pt x="394385" y="473759"/>
                </a:lnTo>
                <a:lnTo>
                  <a:pt x="22225" y="473759"/>
                </a:lnTo>
                <a:lnTo>
                  <a:pt x="22225" y="22225"/>
                </a:lnTo>
                <a:lnTo>
                  <a:pt x="394385" y="22225"/>
                </a:lnTo>
                <a:lnTo>
                  <a:pt x="394385" y="17780"/>
                </a:lnTo>
                <a:close/>
              </a:path>
              <a:path w="412750" h="496570">
                <a:moveTo>
                  <a:pt x="394385" y="22225"/>
                </a:moveTo>
                <a:lnTo>
                  <a:pt x="389940" y="22225"/>
                </a:lnTo>
                <a:lnTo>
                  <a:pt x="389940" y="473759"/>
                </a:lnTo>
                <a:lnTo>
                  <a:pt x="394385" y="473759"/>
                </a:lnTo>
                <a:lnTo>
                  <a:pt x="394385" y="2222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027300" y="4382515"/>
            <a:ext cx="2846070" cy="16897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548130" marR="5080" indent="-326390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C</a:t>
            </a:r>
            <a:r>
              <a:rPr dirty="0" sz="2400">
                <a:solidFill>
                  <a:srgbClr val="D60093"/>
                </a:solidFill>
                <a:latin typeface="Calibri"/>
                <a:cs typeface="Calibri"/>
              </a:rPr>
              <a:t>la</a:t>
            </a: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ssi</a:t>
            </a:r>
            <a:r>
              <a:rPr dirty="0" sz="2400">
                <a:solidFill>
                  <a:srgbClr val="D60093"/>
                </a:solidFill>
                <a:latin typeface="Calibri"/>
                <a:cs typeface="Calibri"/>
              </a:rPr>
              <a:t>f</a:t>
            </a: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i</a:t>
            </a:r>
            <a:r>
              <a:rPr dirty="0" sz="2400" spc="-25">
                <a:solidFill>
                  <a:srgbClr val="D60093"/>
                </a:solidFill>
                <a:latin typeface="Calibri"/>
                <a:cs typeface="Calibri"/>
              </a:rPr>
              <a:t>ca</a:t>
            </a: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t</a:t>
            </a:r>
            <a:r>
              <a:rPr dirty="0" sz="2400">
                <a:solidFill>
                  <a:srgbClr val="D60093"/>
                </a:solidFill>
                <a:latin typeface="Calibri"/>
                <a:cs typeface="Calibri"/>
              </a:rPr>
              <a:t>i</a:t>
            </a: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o</a:t>
            </a:r>
            <a:r>
              <a:rPr dirty="0" sz="2400">
                <a:solidFill>
                  <a:srgbClr val="D60093"/>
                </a:solidFill>
                <a:latin typeface="Calibri"/>
                <a:cs typeface="Calibri"/>
              </a:rPr>
              <a:t>n  </a:t>
            </a:r>
            <a:r>
              <a:rPr dirty="0" sz="2400" spc="-10">
                <a:solidFill>
                  <a:srgbClr val="D60093"/>
                </a:solidFill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  <a:p>
            <a:pPr marL="373380" marR="1504950" indent="-361315">
              <a:lnSpc>
                <a:spcPct val="100800"/>
              </a:lnSpc>
              <a:spcBef>
                <a:spcPts val="1510"/>
              </a:spcBef>
            </a:pPr>
            <a:r>
              <a:rPr dirty="0" sz="2400" spc="-5">
                <a:solidFill>
                  <a:srgbClr val="CF5B1B"/>
                </a:solidFill>
                <a:latin typeface="Calibri"/>
                <a:cs typeface="Calibri"/>
              </a:rPr>
              <a:t>Node</a:t>
            </a:r>
            <a:r>
              <a:rPr dirty="0" sz="2400" spc="-85">
                <a:solidFill>
                  <a:srgbClr val="CF5B1B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CF5B1B"/>
                </a:solidFill>
                <a:latin typeface="Calibri"/>
                <a:cs typeface="Calibri"/>
              </a:rPr>
              <a:t>class  label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79281" y="3775557"/>
            <a:ext cx="4432300" cy="1604010"/>
          </a:xfrm>
          <a:custGeom>
            <a:avLst/>
            <a:gdLst/>
            <a:ahLst/>
            <a:cxnLst/>
            <a:rect l="l" t="t" r="r" b="b"/>
            <a:pathLst>
              <a:path w="4432300" h="1604010">
                <a:moveTo>
                  <a:pt x="74950" y="26903"/>
                </a:moveTo>
                <a:lnTo>
                  <a:pt x="68528" y="44837"/>
                </a:lnTo>
                <a:lnTo>
                  <a:pt x="4422862" y="1603924"/>
                </a:lnTo>
                <a:lnTo>
                  <a:pt x="4428314" y="1601348"/>
                </a:lnTo>
                <a:lnTo>
                  <a:pt x="4431860" y="1591442"/>
                </a:lnTo>
                <a:lnTo>
                  <a:pt x="4429283" y="1585989"/>
                </a:lnTo>
                <a:lnTo>
                  <a:pt x="74950" y="26903"/>
                </a:lnTo>
                <a:close/>
              </a:path>
              <a:path w="4432300" h="1604010">
                <a:moveTo>
                  <a:pt x="84583" y="0"/>
                </a:moveTo>
                <a:lnTo>
                  <a:pt x="0" y="10182"/>
                </a:lnTo>
                <a:lnTo>
                  <a:pt x="58896" y="71739"/>
                </a:lnTo>
                <a:lnTo>
                  <a:pt x="68528" y="44837"/>
                </a:lnTo>
                <a:lnTo>
                  <a:pt x="51601" y="38776"/>
                </a:lnTo>
                <a:lnTo>
                  <a:pt x="49023" y="33324"/>
                </a:lnTo>
                <a:lnTo>
                  <a:pt x="52570" y="23418"/>
                </a:lnTo>
                <a:lnTo>
                  <a:pt x="58022" y="20841"/>
                </a:lnTo>
                <a:lnTo>
                  <a:pt x="77120" y="20841"/>
                </a:lnTo>
                <a:lnTo>
                  <a:pt x="84583" y="0"/>
                </a:lnTo>
                <a:close/>
              </a:path>
              <a:path w="4432300" h="1604010">
                <a:moveTo>
                  <a:pt x="58022" y="20841"/>
                </a:moveTo>
                <a:lnTo>
                  <a:pt x="52570" y="23418"/>
                </a:lnTo>
                <a:lnTo>
                  <a:pt x="49023" y="33324"/>
                </a:lnTo>
                <a:lnTo>
                  <a:pt x="51601" y="38776"/>
                </a:lnTo>
                <a:lnTo>
                  <a:pt x="68528" y="44837"/>
                </a:lnTo>
                <a:lnTo>
                  <a:pt x="74950" y="26903"/>
                </a:lnTo>
                <a:lnTo>
                  <a:pt x="58022" y="20841"/>
                </a:lnTo>
                <a:close/>
              </a:path>
              <a:path w="4432300" h="1604010">
                <a:moveTo>
                  <a:pt x="77120" y="20841"/>
                </a:moveTo>
                <a:lnTo>
                  <a:pt x="58022" y="20841"/>
                </a:lnTo>
                <a:lnTo>
                  <a:pt x="74950" y="26903"/>
                </a:lnTo>
                <a:lnTo>
                  <a:pt x="77120" y="20841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5163" y="3790068"/>
            <a:ext cx="568960" cy="1174750"/>
          </a:xfrm>
          <a:custGeom>
            <a:avLst/>
            <a:gdLst/>
            <a:ahLst/>
            <a:cxnLst/>
            <a:rect l="l" t="t" r="r" b="b"/>
            <a:pathLst>
              <a:path w="568960" h="1174750">
                <a:moveTo>
                  <a:pt x="525793" y="64638"/>
                </a:moveTo>
                <a:lnTo>
                  <a:pt x="0" y="1164443"/>
                </a:lnTo>
                <a:lnTo>
                  <a:pt x="2007" y="1170131"/>
                </a:lnTo>
                <a:lnTo>
                  <a:pt x="11499" y="1174668"/>
                </a:lnTo>
                <a:lnTo>
                  <a:pt x="17186" y="1172660"/>
                </a:lnTo>
                <a:lnTo>
                  <a:pt x="542980" y="72855"/>
                </a:lnTo>
                <a:lnTo>
                  <a:pt x="525793" y="64638"/>
                </a:lnTo>
                <a:close/>
              </a:path>
              <a:path w="568960" h="1174750">
                <a:moveTo>
                  <a:pt x="568075" y="46428"/>
                </a:moveTo>
                <a:lnTo>
                  <a:pt x="539226" y="46428"/>
                </a:lnTo>
                <a:lnTo>
                  <a:pt x="548718" y="50966"/>
                </a:lnTo>
                <a:lnTo>
                  <a:pt x="550726" y="56653"/>
                </a:lnTo>
                <a:lnTo>
                  <a:pt x="542980" y="72855"/>
                </a:lnTo>
                <a:lnTo>
                  <a:pt x="568760" y="85180"/>
                </a:lnTo>
                <a:lnTo>
                  <a:pt x="568075" y="46428"/>
                </a:lnTo>
                <a:close/>
              </a:path>
              <a:path w="568960" h="1174750">
                <a:moveTo>
                  <a:pt x="539226" y="46428"/>
                </a:moveTo>
                <a:lnTo>
                  <a:pt x="533539" y="48436"/>
                </a:lnTo>
                <a:lnTo>
                  <a:pt x="525793" y="64638"/>
                </a:lnTo>
                <a:lnTo>
                  <a:pt x="542980" y="72855"/>
                </a:lnTo>
                <a:lnTo>
                  <a:pt x="550726" y="56653"/>
                </a:lnTo>
                <a:lnTo>
                  <a:pt x="548718" y="50966"/>
                </a:lnTo>
                <a:lnTo>
                  <a:pt x="539226" y="46428"/>
                </a:lnTo>
                <a:close/>
              </a:path>
              <a:path w="568960" h="1174750">
                <a:moveTo>
                  <a:pt x="567254" y="0"/>
                </a:moveTo>
                <a:lnTo>
                  <a:pt x="500012" y="52313"/>
                </a:lnTo>
                <a:lnTo>
                  <a:pt x="525793" y="64638"/>
                </a:lnTo>
                <a:lnTo>
                  <a:pt x="533539" y="48436"/>
                </a:lnTo>
                <a:lnTo>
                  <a:pt x="539226" y="46428"/>
                </a:lnTo>
                <a:lnTo>
                  <a:pt x="568075" y="46428"/>
                </a:lnTo>
                <a:lnTo>
                  <a:pt x="567254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30664" y="5906008"/>
            <a:ext cx="181102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solidFill>
                  <a:srgbClr val="D60093"/>
                </a:solidFill>
                <a:latin typeface="Calibri"/>
                <a:cs typeface="Calibri"/>
              </a:rPr>
              <a:t>Safe </a:t>
            </a:r>
            <a:r>
              <a:rPr dirty="0" sz="1900" spc="-10">
                <a:solidFill>
                  <a:srgbClr val="D60093"/>
                </a:solidFill>
                <a:latin typeface="Calibri"/>
                <a:cs typeface="Calibri"/>
              </a:rPr>
              <a:t>or </a:t>
            </a:r>
            <a:r>
              <a:rPr dirty="0" sz="1900" spc="-25">
                <a:solidFill>
                  <a:srgbClr val="D60093"/>
                </a:solidFill>
                <a:latin typeface="Calibri"/>
                <a:cs typeface="Calibri"/>
              </a:rPr>
              <a:t>toxic</a:t>
            </a:r>
            <a:r>
              <a:rPr dirty="0" sz="1900" spc="-85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D60093"/>
                </a:solidFill>
                <a:latin typeface="Calibri"/>
                <a:cs typeface="Calibri"/>
              </a:rPr>
              <a:t>drug?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40285" y="3837940"/>
            <a:ext cx="54483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65">
                <a:latin typeface="Cambria Math"/>
                <a:cs typeface="Cambria Math"/>
              </a:rPr>
              <a:t>1</a:t>
            </a:r>
            <a:r>
              <a:rPr dirty="0" sz="2200" spc="-10">
                <a:latin typeface="Cambria Math"/>
                <a:cs typeface="Cambria Math"/>
              </a:rPr>
              <a:t>∈</a:t>
            </a:r>
            <a:r>
              <a:rPr dirty="0" sz="2200" spc="-515">
                <a:latin typeface="Cambria Math"/>
                <a:cs typeface="Cambria Math"/>
              </a:rPr>
              <a:t>@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6924" y="3248660"/>
            <a:ext cx="25838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mbria Math"/>
                <a:cs typeface="Cambria Math"/>
              </a:rPr>
              <a:t>ℒ = </a:t>
            </a:r>
            <a:r>
              <a:rPr dirty="0" sz="3000" spc="2310">
                <a:latin typeface="Cambria Math"/>
                <a:cs typeface="Cambria Math"/>
              </a:rPr>
              <a:t>8</a:t>
            </a:r>
            <a:r>
              <a:rPr dirty="0" sz="3000" spc="350">
                <a:latin typeface="Cambria Math"/>
                <a:cs typeface="Cambria Math"/>
              </a:rPr>
              <a:t> </a:t>
            </a:r>
            <a:r>
              <a:rPr dirty="0" sz="3000" spc="-20">
                <a:latin typeface="Cambria Math"/>
                <a:cs typeface="Cambria Math"/>
              </a:rPr>
              <a:t>𝑦</a:t>
            </a:r>
            <a:r>
              <a:rPr dirty="0" baseline="-15151" sz="3300" spc="-30">
                <a:latin typeface="Cambria Math"/>
                <a:cs typeface="Cambria Math"/>
              </a:rPr>
              <a:t>1</a:t>
            </a:r>
            <a:r>
              <a:rPr dirty="0" sz="3000" spc="-20">
                <a:latin typeface="Cambria Math"/>
                <a:cs typeface="Cambria Math"/>
              </a:rPr>
              <a:t>log(𝜎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18208" y="3429508"/>
            <a:ext cx="1708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42423" y="3316356"/>
            <a:ext cx="222250" cy="461009"/>
          </a:xfrm>
          <a:prstGeom prst="rect">
            <a:avLst/>
          </a:prstGeom>
          <a:solidFill>
            <a:srgbClr val="C64847">
              <a:alpha val="599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65"/>
              </a:lnSpc>
            </a:pPr>
            <a:r>
              <a:rPr dirty="0" sz="3000">
                <a:latin typeface="Cambria Math"/>
                <a:cs typeface="Cambria Math"/>
              </a:rPr>
              <a:t>𝜃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59782" y="3358453"/>
            <a:ext cx="1273175" cy="353060"/>
          </a:xfrm>
          <a:custGeom>
            <a:avLst/>
            <a:gdLst/>
            <a:ahLst/>
            <a:cxnLst/>
            <a:rect l="l" t="t" r="r" b="b"/>
            <a:pathLst>
              <a:path w="1273175" h="353060">
                <a:moveTo>
                  <a:pt x="1160594" y="0"/>
                </a:moveTo>
                <a:lnTo>
                  <a:pt x="1155571" y="14324"/>
                </a:lnTo>
                <a:lnTo>
                  <a:pt x="1176000" y="23190"/>
                </a:lnTo>
                <a:lnTo>
                  <a:pt x="1193569" y="35463"/>
                </a:lnTo>
                <a:lnTo>
                  <a:pt x="1220125" y="70228"/>
                </a:lnTo>
                <a:lnTo>
                  <a:pt x="1235752" y="117132"/>
                </a:lnTo>
                <a:lnTo>
                  <a:pt x="1240961" y="174687"/>
                </a:lnTo>
                <a:lnTo>
                  <a:pt x="1239653" y="205813"/>
                </a:lnTo>
                <a:lnTo>
                  <a:pt x="1229189" y="259483"/>
                </a:lnTo>
                <a:lnTo>
                  <a:pt x="1208190" y="301399"/>
                </a:lnTo>
                <a:lnTo>
                  <a:pt x="1176238" y="329677"/>
                </a:lnTo>
                <a:lnTo>
                  <a:pt x="1156129" y="338584"/>
                </a:lnTo>
                <a:lnTo>
                  <a:pt x="1160594" y="352908"/>
                </a:lnTo>
                <a:lnTo>
                  <a:pt x="1208731" y="330328"/>
                </a:lnTo>
                <a:lnTo>
                  <a:pt x="1244125" y="291237"/>
                </a:lnTo>
                <a:lnTo>
                  <a:pt x="1265890" y="238892"/>
                </a:lnTo>
                <a:lnTo>
                  <a:pt x="1273145" y="176547"/>
                </a:lnTo>
                <a:lnTo>
                  <a:pt x="1271326" y="144194"/>
                </a:lnTo>
                <a:lnTo>
                  <a:pt x="1256768" y="86849"/>
                </a:lnTo>
                <a:lnTo>
                  <a:pt x="1227898" y="40166"/>
                </a:lnTo>
                <a:lnTo>
                  <a:pt x="1186180" y="9238"/>
                </a:lnTo>
                <a:lnTo>
                  <a:pt x="1160594" y="0"/>
                </a:lnTo>
                <a:close/>
              </a:path>
              <a:path w="1273175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4" y="312847"/>
                </a:lnTo>
                <a:lnTo>
                  <a:pt x="86889" y="343682"/>
                </a:lnTo>
                <a:lnTo>
                  <a:pt x="112551" y="352908"/>
                </a:lnTo>
                <a:lnTo>
                  <a:pt x="117015" y="338584"/>
                </a:lnTo>
                <a:lnTo>
                  <a:pt x="96906" y="329677"/>
                </a:lnTo>
                <a:lnTo>
                  <a:pt x="79552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89" y="51142"/>
                </a:lnTo>
                <a:lnTo>
                  <a:pt x="97220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186421" y="3248660"/>
            <a:ext cx="44329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68350" algn="l"/>
                <a:tab pos="1697355" algn="l"/>
                <a:tab pos="2879725" algn="l"/>
              </a:tabLst>
            </a:pPr>
            <a:r>
              <a:rPr dirty="0" sz="3000" spc="50">
                <a:latin typeface="Cambria Math"/>
                <a:cs typeface="Cambria Math"/>
              </a:rPr>
              <a:t>(z</a:t>
            </a:r>
            <a:r>
              <a:rPr dirty="0" baseline="27777" sz="3300" spc="75">
                <a:latin typeface="Cambria Math"/>
                <a:cs typeface="Cambria Math"/>
              </a:rPr>
              <a:t>A	</a:t>
            </a:r>
            <a:r>
              <a:rPr dirty="0" sz="3000">
                <a:latin typeface="Cambria Math"/>
                <a:cs typeface="Cambria Math"/>
              </a:rPr>
              <a:t>))</a:t>
            </a:r>
            <a:r>
              <a:rPr dirty="0" sz="3000" spc="0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+	1</a:t>
            </a:r>
            <a:r>
              <a:rPr dirty="0" sz="3000" spc="0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− </a:t>
            </a:r>
            <a:r>
              <a:rPr dirty="0" sz="3000" spc="-125">
                <a:latin typeface="Cambria Math"/>
                <a:cs typeface="Cambria Math"/>
              </a:rPr>
              <a:t>𝑦</a:t>
            </a:r>
            <a:r>
              <a:rPr dirty="0" baseline="-15151" sz="3300" spc="-187">
                <a:latin typeface="Cambria Math"/>
                <a:cs typeface="Cambria Math"/>
              </a:rPr>
              <a:t>1	</a:t>
            </a:r>
            <a:r>
              <a:rPr dirty="0" sz="3000" spc="-5">
                <a:latin typeface="Cambria Math"/>
                <a:cs typeface="Cambria Math"/>
              </a:rPr>
              <a:t>log(1 </a:t>
            </a:r>
            <a:r>
              <a:rPr dirty="0" sz="3000">
                <a:latin typeface="Cambria Math"/>
                <a:cs typeface="Cambria Math"/>
              </a:rPr>
              <a:t>−</a:t>
            </a:r>
            <a:r>
              <a:rPr dirty="0" sz="3000" spc="-7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𝜎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648459" y="3304828"/>
            <a:ext cx="885825" cy="460375"/>
          </a:xfrm>
          <a:custGeom>
            <a:avLst/>
            <a:gdLst/>
            <a:ahLst/>
            <a:cxnLst/>
            <a:rect l="l" t="t" r="r" b="b"/>
            <a:pathLst>
              <a:path w="885825" h="460375">
                <a:moveTo>
                  <a:pt x="764561" y="0"/>
                </a:moveTo>
                <a:lnTo>
                  <a:pt x="759910" y="15255"/>
                </a:lnTo>
                <a:lnTo>
                  <a:pt x="781054" y="26219"/>
                </a:lnTo>
                <a:lnTo>
                  <a:pt x="799466" y="42184"/>
                </a:lnTo>
                <a:lnTo>
                  <a:pt x="828092" y="89110"/>
                </a:lnTo>
                <a:lnTo>
                  <a:pt x="845463" y="152874"/>
                </a:lnTo>
                <a:lnTo>
                  <a:pt x="851254" y="230311"/>
                </a:lnTo>
                <a:lnTo>
                  <a:pt x="849806" y="270652"/>
                </a:lnTo>
                <a:lnTo>
                  <a:pt x="838225" y="341113"/>
                </a:lnTo>
                <a:lnTo>
                  <a:pt x="815145" y="397156"/>
                </a:lnTo>
                <a:lnTo>
                  <a:pt x="781054" y="434037"/>
                </a:lnTo>
                <a:lnTo>
                  <a:pt x="759910" y="444996"/>
                </a:lnTo>
                <a:lnTo>
                  <a:pt x="764561" y="460251"/>
                </a:lnTo>
                <a:lnTo>
                  <a:pt x="815953" y="432857"/>
                </a:lnTo>
                <a:lnTo>
                  <a:pt x="854044" y="381186"/>
                </a:lnTo>
                <a:lnTo>
                  <a:pt x="877624" y="311516"/>
                </a:lnTo>
                <a:lnTo>
                  <a:pt x="883519" y="272286"/>
                </a:lnTo>
                <a:lnTo>
                  <a:pt x="885484" y="230126"/>
                </a:lnTo>
                <a:lnTo>
                  <a:pt x="883519" y="187966"/>
                </a:lnTo>
                <a:lnTo>
                  <a:pt x="877624" y="148735"/>
                </a:lnTo>
                <a:lnTo>
                  <a:pt x="854044" y="79065"/>
                </a:lnTo>
                <a:lnTo>
                  <a:pt x="815953" y="27393"/>
                </a:lnTo>
                <a:lnTo>
                  <a:pt x="791920" y="10662"/>
                </a:lnTo>
                <a:lnTo>
                  <a:pt x="764561" y="0"/>
                </a:lnTo>
                <a:close/>
              </a:path>
              <a:path w="885825" h="460375">
                <a:moveTo>
                  <a:pt x="120923" y="0"/>
                </a:moveTo>
                <a:lnTo>
                  <a:pt x="69531" y="27393"/>
                </a:lnTo>
                <a:lnTo>
                  <a:pt x="31440" y="79065"/>
                </a:lnTo>
                <a:lnTo>
                  <a:pt x="7860" y="148735"/>
                </a:lnTo>
                <a:lnTo>
                  <a:pt x="1965" y="187966"/>
                </a:lnTo>
                <a:lnTo>
                  <a:pt x="0" y="230126"/>
                </a:lnTo>
                <a:lnTo>
                  <a:pt x="1965" y="272286"/>
                </a:lnTo>
                <a:lnTo>
                  <a:pt x="7860" y="311516"/>
                </a:lnTo>
                <a:lnTo>
                  <a:pt x="31440" y="381186"/>
                </a:lnTo>
                <a:lnTo>
                  <a:pt x="69531" y="432857"/>
                </a:lnTo>
                <a:lnTo>
                  <a:pt x="120923" y="460251"/>
                </a:lnTo>
                <a:lnTo>
                  <a:pt x="125573" y="444996"/>
                </a:lnTo>
                <a:lnTo>
                  <a:pt x="104430" y="434037"/>
                </a:lnTo>
                <a:lnTo>
                  <a:pt x="86018" y="418091"/>
                </a:lnTo>
                <a:lnTo>
                  <a:pt x="57392" y="371233"/>
                </a:lnTo>
                <a:lnTo>
                  <a:pt x="40021" y="307586"/>
                </a:lnTo>
                <a:lnTo>
                  <a:pt x="34231" y="230311"/>
                </a:lnTo>
                <a:lnTo>
                  <a:pt x="35679" y="189884"/>
                </a:lnTo>
                <a:lnTo>
                  <a:pt x="47259" y="119283"/>
                </a:lnTo>
                <a:lnTo>
                  <a:pt x="70339" y="63147"/>
                </a:lnTo>
                <a:lnTo>
                  <a:pt x="104430" y="26219"/>
                </a:lnTo>
                <a:lnTo>
                  <a:pt x="125573" y="15255"/>
                </a:lnTo>
                <a:lnTo>
                  <a:pt x="120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959144" y="3429508"/>
            <a:ext cx="1708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86106" y="3111500"/>
            <a:ext cx="3822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0370" sz="4500" spc="165">
                <a:latin typeface="Cambria Math"/>
                <a:cs typeface="Cambria Math"/>
              </a:rPr>
              <a:t>z</a:t>
            </a:r>
            <a:r>
              <a:rPr dirty="0" sz="2200" spc="50">
                <a:latin typeface="Cambria Math"/>
                <a:cs typeface="Cambria Math"/>
              </a:rPr>
              <a:t>A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84622" y="3248660"/>
            <a:ext cx="553720" cy="541655"/>
          </a:xfrm>
          <a:prstGeom prst="rect">
            <a:avLst/>
          </a:prstGeom>
          <a:solidFill>
            <a:srgbClr val="C64847">
              <a:alpha val="59999"/>
            </a:srgbClr>
          </a:solidFill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82270" algn="l"/>
              </a:tabLst>
            </a:pPr>
            <a:r>
              <a:rPr dirty="0" sz="3000">
                <a:latin typeface="Cambria Math"/>
                <a:cs typeface="Cambria Math"/>
              </a:rPr>
              <a:t>𝜃	)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3445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64000" y="2140662"/>
            <a:ext cx="4978400" cy="35423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963" y="2423377"/>
            <a:ext cx="3174735" cy="2773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02645" y="1272032"/>
            <a:ext cx="3646170" cy="842644"/>
          </a:xfrm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397510" marR="5080" indent="-385445">
              <a:lnSpc>
                <a:spcPts val="3190"/>
              </a:lnSpc>
              <a:spcBef>
                <a:spcPts val="245"/>
              </a:spcBef>
            </a:pPr>
            <a:r>
              <a:rPr dirty="0" sz="2700" spc="-10">
                <a:solidFill>
                  <a:srgbClr val="D60093"/>
                </a:solidFill>
              </a:rPr>
              <a:t>(1) </a:t>
            </a:r>
            <a:r>
              <a:rPr dirty="0" sz="2700" spc="-20">
                <a:solidFill>
                  <a:srgbClr val="D60093"/>
                </a:solidFill>
              </a:rPr>
              <a:t>Define </a:t>
            </a:r>
            <a:r>
              <a:rPr dirty="0" sz="2700">
                <a:solidFill>
                  <a:srgbClr val="D60093"/>
                </a:solidFill>
              </a:rPr>
              <a:t>a</a:t>
            </a:r>
            <a:r>
              <a:rPr dirty="0" sz="2700" spc="-110">
                <a:solidFill>
                  <a:srgbClr val="D60093"/>
                </a:solidFill>
              </a:rPr>
              <a:t> </a:t>
            </a:r>
            <a:r>
              <a:rPr dirty="0" sz="2700" spc="-20">
                <a:solidFill>
                  <a:srgbClr val="D60093"/>
                </a:solidFill>
              </a:rPr>
              <a:t>neighborhood  </a:t>
            </a:r>
            <a:r>
              <a:rPr dirty="0" sz="2700" spc="-30">
                <a:solidFill>
                  <a:srgbClr val="D60093"/>
                </a:solidFill>
              </a:rPr>
              <a:t>aggregation</a:t>
            </a:r>
            <a:r>
              <a:rPr dirty="0" sz="2700" spc="-90">
                <a:solidFill>
                  <a:srgbClr val="D60093"/>
                </a:solidFill>
              </a:rPr>
              <a:t> </a:t>
            </a:r>
            <a:r>
              <a:rPr dirty="0" sz="2700" spc="-15">
                <a:solidFill>
                  <a:srgbClr val="D60093"/>
                </a:solidFill>
              </a:rPr>
              <a:t>function</a:t>
            </a:r>
            <a:endParaRPr sz="2700"/>
          </a:p>
        </p:txBody>
      </p:sp>
      <p:sp>
        <p:nvSpPr>
          <p:cNvPr id="6" name="object 6"/>
          <p:cNvSpPr/>
          <p:nvPr/>
        </p:nvSpPr>
        <p:spPr>
          <a:xfrm>
            <a:off x="5599453" y="2172733"/>
            <a:ext cx="1776730" cy="408305"/>
          </a:xfrm>
          <a:custGeom>
            <a:avLst/>
            <a:gdLst/>
            <a:ahLst/>
            <a:cxnLst/>
            <a:rect l="l" t="t" r="r" b="b"/>
            <a:pathLst>
              <a:path w="1776729" h="408305">
                <a:moveTo>
                  <a:pt x="1621773" y="357900"/>
                </a:moveTo>
                <a:lnTo>
                  <a:pt x="1612179" y="407785"/>
                </a:lnTo>
                <a:lnTo>
                  <a:pt x="1772812" y="362696"/>
                </a:lnTo>
                <a:lnTo>
                  <a:pt x="1646715" y="362696"/>
                </a:lnTo>
                <a:lnTo>
                  <a:pt x="1621773" y="357900"/>
                </a:lnTo>
                <a:close/>
              </a:path>
              <a:path w="1776729" h="408305">
                <a:moveTo>
                  <a:pt x="1631367" y="308014"/>
                </a:moveTo>
                <a:lnTo>
                  <a:pt x="1621773" y="357900"/>
                </a:lnTo>
                <a:lnTo>
                  <a:pt x="1646715" y="362696"/>
                </a:lnTo>
                <a:lnTo>
                  <a:pt x="1656800" y="362603"/>
                </a:lnTo>
                <a:lnTo>
                  <a:pt x="1665757" y="358783"/>
                </a:lnTo>
                <a:lnTo>
                  <a:pt x="1672627" y="351882"/>
                </a:lnTo>
                <a:lnTo>
                  <a:pt x="1676454" y="342550"/>
                </a:lnTo>
                <a:lnTo>
                  <a:pt x="1676361" y="332464"/>
                </a:lnTo>
                <a:lnTo>
                  <a:pt x="1672540" y="323508"/>
                </a:lnTo>
                <a:lnTo>
                  <a:pt x="1665640" y="316638"/>
                </a:lnTo>
                <a:lnTo>
                  <a:pt x="1656308" y="312811"/>
                </a:lnTo>
                <a:lnTo>
                  <a:pt x="1631367" y="308014"/>
                </a:lnTo>
                <a:close/>
              </a:path>
              <a:path w="1776729" h="408305">
                <a:moveTo>
                  <a:pt x="1640960" y="258128"/>
                </a:moveTo>
                <a:lnTo>
                  <a:pt x="1631367" y="308014"/>
                </a:lnTo>
                <a:lnTo>
                  <a:pt x="1656308" y="312811"/>
                </a:lnTo>
                <a:lnTo>
                  <a:pt x="1665640" y="316638"/>
                </a:lnTo>
                <a:lnTo>
                  <a:pt x="1672540" y="323508"/>
                </a:lnTo>
                <a:lnTo>
                  <a:pt x="1676361" y="332464"/>
                </a:lnTo>
                <a:lnTo>
                  <a:pt x="1676454" y="342550"/>
                </a:lnTo>
                <a:lnTo>
                  <a:pt x="1672627" y="351882"/>
                </a:lnTo>
                <a:lnTo>
                  <a:pt x="1665757" y="358783"/>
                </a:lnTo>
                <a:lnTo>
                  <a:pt x="1656800" y="362603"/>
                </a:lnTo>
                <a:lnTo>
                  <a:pt x="1646715" y="362696"/>
                </a:lnTo>
                <a:lnTo>
                  <a:pt x="1772812" y="362696"/>
                </a:lnTo>
                <a:lnTo>
                  <a:pt x="1776228" y="361737"/>
                </a:lnTo>
                <a:lnTo>
                  <a:pt x="1640960" y="258128"/>
                </a:lnTo>
                <a:close/>
              </a:path>
              <a:path w="1776729" h="408305">
                <a:moveTo>
                  <a:pt x="29739" y="0"/>
                </a:moveTo>
                <a:lnTo>
                  <a:pt x="19653" y="92"/>
                </a:lnTo>
                <a:lnTo>
                  <a:pt x="10697" y="3913"/>
                </a:lnTo>
                <a:lnTo>
                  <a:pt x="3827" y="10814"/>
                </a:lnTo>
                <a:lnTo>
                  <a:pt x="0" y="20146"/>
                </a:lnTo>
                <a:lnTo>
                  <a:pt x="92" y="30231"/>
                </a:lnTo>
                <a:lnTo>
                  <a:pt x="3913" y="39188"/>
                </a:lnTo>
                <a:lnTo>
                  <a:pt x="10814" y="46058"/>
                </a:lnTo>
                <a:lnTo>
                  <a:pt x="20146" y="49885"/>
                </a:lnTo>
                <a:lnTo>
                  <a:pt x="1621773" y="357900"/>
                </a:lnTo>
                <a:lnTo>
                  <a:pt x="1631367" y="308014"/>
                </a:lnTo>
                <a:lnTo>
                  <a:pt x="29739" y="0"/>
                </a:lnTo>
                <a:close/>
              </a:path>
            </a:pathLst>
          </a:custGeom>
          <a:solidFill>
            <a:srgbClr val="D60093">
              <a:alpha val="490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46151" y="2172564"/>
            <a:ext cx="403860" cy="1377950"/>
          </a:xfrm>
          <a:custGeom>
            <a:avLst/>
            <a:gdLst/>
            <a:ahLst/>
            <a:cxnLst/>
            <a:rect l="l" t="t" r="r" b="b"/>
            <a:pathLst>
              <a:path w="403860" h="1377950">
                <a:moveTo>
                  <a:pt x="0" y="1211174"/>
                </a:moveTo>
                <a:lnTo>
                  <a:pt x="36548" y="1377596"/>
                </a:lnTo>
                <a:lnTo>
                  <a:pt x="120987" y="1279577"/>
                </a:lnTo>
                <a:lnTo>
                  <a:pt x="71509" y="1279577"/>
                </a:lnTo>
                <a:lnTo>
                  <a:pt x="61434" y="1279091"/>
                </a:lnTo>
                <a:lnTo>
                  <a:pt x="52338" y="1274734"/>
                </a:lnTo>
                <a:lnTo>
                  <a:pt x="45844" y="1267479"/>
                </a:lnTo>
                <a:lnTo>
                  <a:pt x="42544" y="1258318"/>
                </a:lnTo>
                <a:lnTo>
                  <a:pt x="43030" y="1248244"/>
                </a:lnTo>
                <a:lnTo>
                  <a:pt x="49251" y="1223617"/>
                </a:lnTo>
                <a:lnTo>
                  <a:pt x="0" y="1211174"/>
                </a:lnTo>
                <a:close/>
              </a:path>
              <a:path w="403860" h="1377950">
                <a:moveTo>
                  <a:pt x="49251" y="1223617"/>
                </a:moveTo>
                <a:lnTo>
                  <a:pt x="43030" y="1248244"/>
                </a:lnTo>
                <a:lnTo>
                  <a:pt x="42544" y="1258318"/>
                </a:lnTo>
                <a:lnTo>
                  <a:pt x="45844" y="1267479"/>
                </a:lnTo>
                <a:lnTo>
                  <a:pt x="52338" y="1274734"/>
                </a:lnTo>
                <a:lnTo>
                  <a:pt x="61434" y="1279091"/>
                </a:lnTo>
                <a:lnTo>
                  <a:pt x="71509" y="1279577"/>
                </a:lnTo>
                <a:lnTo>
                  <a:pt x="80670" y="1276278"/>
                </a:lnTo>
                <a:lnTo>
                  <a:pt x="87925" y="1269783"/>
                </a:lnTo>
                <a:lnTo>
                  <a:pt x="92283" y="1260686"/>
                </a:lnTo>
                <a:lnTo>
                  <a:pt x="98504" y="1236060"/>
                </a:lnTo>
                <a:lnTo>
                  <a:pt x="49251" y="1223617"/>
                </a:lnTo>
                <a:close/>
              </a:path>
              <a:path w="403860" h="1377950">
                <a:moveTo>
                  <a:pt x="98504" y="1236060"/>
                </a:moveTo>
                <a:lnTo>
                  <a:pt x="92283" y="1260686"/>
                </a:lnTo>
                <a:lnTo>
                  <a:pt x="87925" y="1269783"/>
                </a:lnTo>
                <a:lnTo>
                  <a:pt x="80670" y="1276278"/>
                </a:lnTo>
                <a:lnTo>
                  <a:pt x="71509" y="1279577"/>
                </a:lnTo>
                <a:lnTo>
                  <a:pt x="120987" y="1279577"/>
                </a:lnTo>
                <a:lnTo>
                  <a:pt x="147756" y="1248504"/>
                </a:lnTo>
                <a:lnTo>
                  <a:pt x="98504" y="1236060"/>
                </a:lnTo>
                <a:close/>
              </a:path>
              <a:path w="403860" h="1377950">
                <a:moveTo>
                  <a:pt x="374392" y="0"/>
                </a:moveTo>
                <a:lnTo>
                  <a:pt x="365231" y="3299"/>
                </a:lnTo>
                <a:lnTo>
                  <a:pt x="357976" y="9793"/>
                </a:lnTo>
                <a:lnTo>
                  <a:pt x="353618" y="18890"/>
                </a:lnTo>
                <a:lnTo>
                  <a:pt x="49251" y="1223617"/>
                </a:lnTo>
                <a:lnTo>
                  <a:pt x="98504" y="1236060"/>
                </a:lnTo>
                <a:lnTo>
                  <a:pt x="402871" y="31333"/>
                </a:lnTo>
                <a:lnTo>
                  <a:pt x="403358" y="21259"/>
                </a:lnTo>
                <a:lnTo>
                  <a:pt x="400057" y="12098"/>
                </a:lnTo>
                <a:lnTo>
                  <a:pt x="393563" y="4843"/>
                </a:lnTo>
                <a:lnTo>
                  <a:pt x="384467" y="486"/>
                </a:lnTo>
                <a:lnTo>
                  <a:pt x="374392" y="0"/>
                </a:lnTo>
                <a:close/>
              </a:path>
            </a:pathLst>
          </a:custGeom>
          <a:solidFill>
            <a:srgbClr val="D60093">
              <a:alpha val="490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98650" y="2185170"/>
            <a:ext cx="1905635" cy="1583055"/>
          </a:xfrm>
          <a:custGeom>
            <a:avLst/>
            <a:gdLst/>
            <a:ahLst/>
            <a:cxnLst/>
            <a:rect l="l" t="t" r="r" b="b"/>
            <a:pathLst>
              <a:path w="1905634" h="1583054">
                <a:moveTo>
                  <a:pt x="1771578" y="1505021"/>
                </a:moveTo>
                <a:lnTo>
                  <a:pt x="1739168" y="1544140"/>
                </a:lnTo>
                <a:lnTo>
                  <a:pt x="1905140" y="1582688"/>
                </a:lnTo>
                <a:lnTo>
                  <a:pt x="1880564" y="1526953"/>
                </a:lnTo>
                <a:lnTo>
                  <a:pt x="1809711" y="1526953"/>
                </a:lnTo>
                <a:lnTo>
                  <a:pt x="1800021" y="1525993"/>
                </a:lnTo>
                <a:lnTo>
                  <a:pt x="1791134" y="1521223"/>
                </a:lnTo>
                <a:lnTo>
                  <a:pt x="1771578" y="1505021"/>
                </a:lnTo>
                <a:close/>
              </a:path>
              <a:path w="1905634" h="1583054">
                <a:moveTo>
                  <a:pt x="1803987" y="1465902"/>
                </a:moveTo>
                <a:lnTo>
                  <a:pt x="1771578" y="1505021"/>
                </a:lnTo>
                <a:lnTo>
                  <a:pt x="1791134" y="1521223"/>
                </a:lnTo>
                <a:lnTo>
                  <a:pt x="1800021" y="1525993"/>
                </a:lnTo>
                <a:lnTo>
                  <a:pt x="1809711" y="1526953"/>
                </a:lnTo>
                <a:lnTo>
                  <a:pt x="1819054" y="1524209"/>
                </a:lnTo>
                <a:lnTo>
                  <a:pt x="1826899" y="1517869"/>
                </a:lnTo>
                <a:lnTo>
                  <a:pt x="1831669" y="1508982"/>
                </a:lnTo>
                <a:lnTo>
                  <a:pt x="1832628" y="1499291"/>
                </a:lnTo>
                <a:lnTo>
                  <a:pt x="1829884" y="1489949"/>
                </a:lnTo>
                <a:lnTo>
                  <a:pt x="1823543" y="1482104"/>
                </a:lnTo>
                <a:lnTo>
                  <a:pt x="1803987" y="1465902"/>
                </a:lnTo>
                <a:close/>
              </a:path>
              <a:path w="1905634" h="1583054">
                <a:moveTo>
                  <a:pt x="1836396" y="1426783"/>
                </a:moveTo>
                <a:lnTo>
                  <a:pt x="1803987" y="1465902"/>
                </a:lnTo>
                <a:lnTo>
                  <a:pt x="1823543" y="1482104"/>
                </a:lnTo>
                <a:lnTo>
                  <a:pt x="1829884" y="1489949"/>
                </a:lnTo>
                <a:lnTo>
                  <a:pt x="1832628" y="1499291"/>
                </a:lnTo>
                <a:lnTo>
                  <a:pt x="1831669" y="1508982"/>
                </a:lnTo>
                <a:lnTo>
                  <a:pt x="1826899" y="1517869"/>
                </a:lnTo>
                <a:lnTo>
                  <a:pt x="1819054" y="1524209"/>
                </a:lnTo>
                <a:lnTo>
                  <a:pt x="1809711" y="1526953"/>
                </a:lnTo>
                <a:lnTo>
                  <a:pt x="1880564" y="1526953"/>
                </a:lnTo>
                <a:lnTo>
                  <a:pt x="1836396" y="1426783"/>
                </a:lnTo>
                <a:close/>
              </a:path>
              <a:path w="1905634" h="1583054">
                <a:moveTo>
                  <a:pt x="22916" y="0"/>
                </a:moveTo>
                <a:lnTo>
                  <a:pt x="13574" y="2744"/>
                </a:lnTo>
                <a:lnTo>
                  <a:pt x="5729" y="9083"/>
                </a:lnTo>
                <a:lnTo>
                  <a:pt x="958" y="17970"/>
                </a:lnTo>
                <a:lnTo>
                  <a:pt x="0" y="27660"/>
                </a:lnTo>
                <a:lnTo>
                  <a:pt x="2744" y="37003"/>
                </a:lnTo>
                <a:lnTo>
                  <a:pt x="9084" y="44848"/>
                </a:lnTo>
                <a:lnTo>
                  <a:pt x="1771578" y="1505021"/>
                </a:lnTo>
                <a:lnTo>
                  <a:pt x="1803987" y="1465902"/>
                </a:lnTo>
                <a:lnTo>
                  <a:pt x="41492" y="5729"/>
                </a:lnTo>
                <a:lnTo>
                  <a:pt x="32606" y="959"/>
                </a:lnTo>
                <a:lnTo>
                  <a:pt x="22916" y="0"/>
                </a:lnTo>
                <a:close/>
              </a:path>
            </a:pathLst>
          </a:custGeom>
          <a:solidFill>
            <a:srgbClr val="D60093">
              <a:alpha val="490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88502" y="2175022"/>
            <a:ext cx="1917700" cy="2869565"/>
          </a:xfrm>
          <a:custGeom>
            <a:avLst/>
            <a:gdLst/>
            <a:ahLst/>
            <a:cxnLst/>
            <a:rect l="l" t="t" r="r" b="b"/>
            <a:pathLst>
              <a:path w="1917700" h="2869565">
                <a:moveTo>
                  <a:pt x="1811553" y="2756710"/>
                </a:moveTo>
                <a:lnTo>
                  <a:pt x="1769256" y="2784845"/>
                </a:lnTo>
                <a:lnTo>
                  <a:pt x="1917107" y="2869534"/>
                </a:lnTo>
                <a:lnTo>
                  <a:pt x="1907093" y="2788752"/>
                </a:lnTo>
                <a:lnTo>
                  <a:pt x="1851499" y="2788752"/>
                </a:lnTo>
                <a:lnTo>
                  <a:pt x="1841762" y="2788691"/>
                </a:lnTo>
                <a:lnTo>
                  <a:pt x="1832758" y="2784984"/>
                </a:lnTo>
                <a:lnTo>
                  <a:pt x="1825620" y="2777857"/>
                </a:lnTo>
                <a:lnTo>
                  <a:pt x="1811553" y="2756710"/>
                </a:lnTo>
                <a:close/>
              </a:path>
              <a:path w="1917700" h="2869565">
                <a:moveTo>
                  <a:pt x="1853850" y="2728575"/>
                </a:moveTo>
                <a:lnTo>
                  <a:pt x="1811553" y="2756710"/>
                </a:lnTo>
                <a:lnTo>
                  <a:pt x="1825620" y="2777857"/>
                </a:lnTo>
                <a:lnTo>
                  <a:pt x="1832758" y="2784984"/>
                </a:lnTo>
                <a:lnTo>
                  <a:pt x="1841762" y="2788691"/>
                </a:lnTo>
                <a:lnTo>
                  <a:pt x="1851499" y="2788752"/>
                </a:lnTo>
                <a:lnTo>
                  <a:pt x="1860837" y="2784939"/>
                </a:lnTo>
                <a:lnTo>
                  <a:pt x="1867963" y="2777801"/>
                </a:lnTo>
                <a:lnTo>
                  <a:pt x="1871670" y="2768797"/>
                </a:lnTo>
                <a:lnTo>
                  <a:pt x="1871731" y="2759060"/>
                </a:lnTo>
                <a:lnTo>
                  <a:pt x="1867917" y="2749723"/>
                </a:lnTo>
                <a:lnTo>
                  <a:pt x="1853850" y="2728575"/>
                </a:lnTo>
                <a:close/>
              </a:path>
              <a:path w="1917700" h="2869565">
                <a:moveTo>
                  <a:pt x="1896147" y="2700439"/>
                </a:moveTo>
                <a:lnTo>
                  <a:pt x="1853850" y="2728575"/>
                </a:lnTo>
                <a:lnTo>
                  <a:pt x="1867917" y="2749723"/>
                </a:lnTo>
                <a:lnTo>
                  <a:pt x="1871731" y="2759060"/>
                </a:lnTo>
                <a:lnTo>
                  <a:pt x="1871670" y="2768797"/>
                </a:lnTo>
                <a:lnTo>
                  <a:pt x="1867963" y="2777801"/>
                </a:lnTo>
                <a:lnTo>
                  <a:pt x="1860837" y="2784939"/>
                </a:lnTo>
                <a:lnTo>
                  <a:pt x="1851499" y="2788752"/>
                </a:lnTo>
                <a:lnTo>
                  <a:pt x="1907093" y="2788752"/>
                </a:lnTo>
                <a:lnTo>
                  <a:pt x="1896147" y="2700439"/>
                </a:lnTo>
                <a:close/>
              </a:path>
              <a:path w="1917700" h="2869565">
                <a:moveTo>
                  <a:pt x="20232" y="0"/>
                </a:moveTo>
                <a:lnTo>
                  <a:pt x="10894" y="3813"/>
                </a:lnTo>
                <a:lnTo>
                  <a:pt x="3767" y="10951"/>
                </a:lnTo>
                <a:lnTo>
                  <a:pt x="60" y="19955"/>
                </a:lnTo>
                <a:lnTo>
                  <a:pt x="0" y="29692"/>
                </a:lnTo>
                <a:lnTo>
                  <a:pt x="3814" y="39029"/>
                </a:lnTo>
                <a:lnTo>
                  <a:pt x="1811553" y="2756710"/>
                </a:lnTo>
                <a:lnTo>
                  <a:pt x="1853850" y="2728575"/>
                </a:lnTo>
                <a:lnTo>
                  <a:pt x="46111" y="10894"/>
                </a:lnTo>
                <a:lnTo>
                  <a:pt x="38973" y="3768"/>
                </a:lnTo>
                <a:lnTo>
                  <a:pt x="29969" y="60"/>
                </a:lnTo>
                <a:lnTo>
                  <a:pt x="20232" y="0"/>
                </a:lnTo>
                <a:close/>
              </a:path>
            </a:pathLst>
          </a:custGeom>
          <a:solidFill>
            <a:srgbClr val="D60093">
              <a:alpha val="490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78893" y="5475223"/>
            <a:ext cx="4410710" cy="845819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360805" marR="5080" indent="-1348740">
              <a:lnSpc>
                <a:spcPts val="3220"/>
              </a:lnSpc>
              <a:spcBef>
                <a:spcPts val="225"/>
              </a:spcBef>
            </a:pPr>
            <a:r>
              <a:rPr dirty="0" sz="2700" spc="-10">
                <a:solidFill>
                  <a:srgbClr val="D60093"/>
                </a:solidFill>
                <a:latin typeface="Calibri"/>
                <a:cs typeface="Calibri"/>
              </a:rPr>
              <a:t>(2)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Define </a:t>
            </a:r>
            <a:r>
              <a:rPr dirty="0" sz="2700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2700" spc="-15">
                <a:solidFill>
                  <a:srgbClr val="D60093"/>
                </a:solidFill>
                <a:latin typeface="Calibri"/>
                <a:cs typeface="Calibri"/>
              </a:rPr>
              <a:t>loss function </a:t>
            </a:r>
            <a:r>
              <a:rPr dirty="0" sz="2700" spc="-10">
                <a:solidFill>
                  <a:srgbClr val="D60093"/>
                </a:solidFill>
                <a:latin typeface="Calibri"/>
                <a:cs typeface="Calibri"/>
              </a:rPr>
              <a:t>on</a:t>
            </a:r>
            <a:r>
              <a:rPr dirty="0" sz="2700" spc="-19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15">
                <a:solidFill>
                  <a:srgbClr val="D60093"/>
                </a:solidFill>
                <a:latin typeface="Calibri"/>
                <a:cs typeface="Calibri"/>
              </a:rPr>
              <a:t>the 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embeddings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10113" y="4405624"/>
            <a:ext cx="198755" cy="1042669"/>
          </a:xfrm>
          <a:custGeom>
            <a:avLst/>
            <a:gdLst/>
            <a:ahLst/>
            <a:cxnLst/>
            <a:rect l="l" t="t" r="r" b="b"/>
            <a:pathLst>
              <a:path w="198754" h="1042670">
                <a:moveTo>
                  <a:pt x="100963" y="148605"/>
                </a:moveTo>
                <a:lnTo>
                  <a:pt x="50480" y="154284"/>
                </a:lnTo>
                <a:lnTo>
                  <a:pt x="147877" y="1020127"/>
                </a:lnTo>
                <a:lnTo>
                  <a:pt x="175957" y="1042529"/>
                </a:lnTo>
                <a:lnTo>
                  <a:pt x="185559" y="1039440"/>
                </a:lnTo>
                <a:lnTo>
                  <a:pt x="192973" y="1033128"/>
                </a:lnTo>
                <a:lnTo>
                  <a:pt x="197480" y="1024496"/>
                </a:lnTo>
                <a:lnTo>
                  <a:pt x="198358" y="1014448"/>
                </a:lnTo>
                <a:lnTo>
                  <a:pt x="100963" y="148605"/>
                </a:lnTo>
                <a:close/>
              </a:path>
              <a:path w="198754" h="1042670">
                <a:moveTo>
                  <a:pt x="58686" y="0"/>
                </a:moveTo>
                <a:lnTo>
                  <a:pt x="0" y="159962"/>
                </a:lnTo>
                <a:lnTo>
                  <a:pt x="50480" y="154284"/>
                </a:lnTo>
                <a:lnTo>
                  <a:pt x="47641" y="129043"/>
                </a:lnTo>
                <a:lnTo>
                  <a:pt x="48520" y="118995"/>
                </a:lnTo>
                <a:lnTo>
                  <a:pt x="53027" y="110363"/>
                </a:lnTo>
                <a:lnTo>
                  <a:pt x="60441" y="104051"/>
                </a:lnTo>
                <a:lnTo>
                  <a:pt x="70043" y="100963"/>
                </a:lnTo>
                <a:lnTo>
                  <a:pt x="124211" y="100963"/>
                </a:lnTo>
                <a:lnTo>
                  <a:pt x="58686" y="0"/>
                </a:lnTo>
                <a:close/>
              </a:path>
              <a:path w="198754" h="1042670">
                <a:moveTo>
                  <a:pt x="70043" y="100963"/>
                </a:moveTo>
                <a:lnTo>
                  <a:pt x="60441" y="104051"/>
                </a:lnTo>
                <a:lnTo>
                  <a:pt x="53027" y="110363"/>
                </a:lnTo>
                <a:lnTo>
                  <a:pt x="48520" y="118995"/>
                </a:lnTo>
                <a:lnTo>
                  <a:pt x="47641" y="129043"/>
                </a:lnTo>
                <a:lnTo>
                  <a:pt x="50480" y="154284"/>
                </a:lnTo>
                <a:lnTo>
                  <a:pt x="100963" y="148605"/>
                </a:lnTo>
                <a:lnTo>
                  <a:pt x="98124" y="123365"/>
                </a:lnTo>
                <a:lnTo>
                  <a:pt x="95035" y="113763"/>
                </a:lnTo>
                <a:lnTo>
                  <a:pt x="88723" y="106348"/>
                </a:lnTo>
                <a:lnTo>
                  <a:pt x="80091" y="101841"/>
                </a:lnTo>
                <a:lnTo>
                  <a:pt x="70043" y="100963"/>
                </a:lnTo>
                <a:close/>
              </a:path>
              <a:path w="198754" h="1042670">
                <a:moveTo>
                  <a:pt x="124211" y="100963"/>
                </a:moveTo>
                <a:lnTo>
                  <a:pt x="70043" y="100963"/>
                </a:lnTo>
                <a:lnTo>
                  <a:pt x="80091" y="101841"/>
                </a:lnTo>
                <a:lnTo>
                  <a:pt x="88723" y="106348"/>
                </a:lnTo>
                <a:lnTo>
                  <a:pt x="95035" y="113763"/>
                </a:lnTo>
                <a:lnTo>
                  <a:pt x="98124" y="123365"/>
                </a:lnTo>
                <a:lnTo>
                  <a:pt x="100963" y="148605"/>
                </a:lnTo>
                <a:lnTo>
                  <a:pt x="151444" y="142927"/>
                </a:lnTo>
                <a:lnTo>
                  <a:pt x="124211" y="100963"/>
                </a:lnTo>
                <a:close/>
              </a:path>
            </a:pathLst>
          </a:custGeom>
          <a:solidFill>
            <a:srgbClr val="D60093">
              <a:alpha val="490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81632" y="3741420"/>
            <a:ext cx="4083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65">
                <a:latin typeface="Cambria Math"/>
                <a:cs typeface="Cambria Math"/>
              </a:rPr>
              <a:t>𝒛</a:t>
            </a:r>
            <a:r>
              <a:rPr dirty="0" baseline="-15700" sz="3450" spc="359">
                <a:latin typeface="Cambria Math"/>
                <a:cs typeface="Cambria Math"/>
              </a:rPr>
              <a:t>8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3445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0469" y="1563541"/>
            <a:ext cx="2527430" cy="2557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94065" y="4386823"/>
            <a:ext cx="6830788" cy="21917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92000" y="4285570"/>
            <a:ext cx="7139305" cy="2374900"/>
          </a:xfrm>
          <a:custGeom>
            <a:avLst/>
            <a:gdLst/>
            <a:ahLst/>
            <a:cxnLst/>
            <a:rect l="l" t="t" r="r" b="b"/>
            <a:pathLst>
              <a:path w="7139305" h="2374900">
                <a:moveTo>
                  <a:pt x="6807804" y="0"/>
                </a:moveTo>
                <a:lnTo>
                  <a:pt x="328891" y="0"/>
                </a:lnTo>
                <a:lnTo>
                  <a:pt x="289308" y="12699"/>
                </a:lnTo>
                <a:lnTo>
                  <a:pt x="251371" y="25399"/>
                </a:lnTo>
                <a:lnTo>
                  <a:pt x="215292" y="50799"/>
                </a:lnTo>
                <a:lnTo>
                  <a:pt x="181280" y="63499"/>
                </a:lnTo>
                <a:lnTo>
                  <a:pt x="149539" y="88899"/>
                </a:lnTo>
                <a:lnTo>
                  <a:pt x="120272" y="114299"/>
                </a:lnTo>
                <a:lnTo>
                  <a:pt x="93684" y="152399"/>
                </a:lnTo>
                <a:lnTo>
                  <a:pt x="69980" y="177799"/>
                </a:lnTo>
                <a:lnTo>
                  <a:pt x="49368" y="215899"/>
                </a:lnTo>
                <a:lnTo>
                  <a:pt x="32057" y="253999"/>
                </a:lnTo>
                <a:lnTo>
                  <a:pt x="18259" y="292099"/>
                </a:lnTo>
                <a:lnTo>
                  <a:pt x="8184" y="330199"/>
                </a:lnTo>
                <a:lnTo>
                  <a:pt x="2040" y="368299"/>
                </a:lnTo>
                <a:lnTo>
                  <a:pt x="0" y="406399"/>
                </a:lnTo>
                <a:lnTo>
                  <a:pt x="30" y="1968499"/>
                </a:lnTo>
                <a:lnTo>
                  <a:pt x="2284" y="2006599"/>
                </a:lnTo>
                <a:lnTo>
                  <a:pt x="8665" y="2057399"/>
                </a:lnTo>
                <a:lnTo>
                  <a:pt x="18965" y="2095499"/>
                </a:lnTo>
                <a:lnTo>
                  <a:pt x="32973" y="2133599"/>
                </a:lnTo>
                <a:lnTo>
                  <a:pt x="50478" y="2171699"/>
                </a:lnTo>
                <a:lnTo>
                  <a:pt x="71271" y="2197099"/>
                </a:lnTo>
                <a:lnTo>
                  <a:pt x="95144" y="2235199"/>
                </a:lnTo>
                <a:lnTo>
                  <a:pt x="151308" y="2285999"/>
                </a:lnTo>
                <a:lnTo>
                  <a:pt x="183192" y="2311399"/>
                </a:lnTo>
                <a:lnTo>
                  <a:pt x="217338" y="2336799"/>
                </a:lnTo>
                <a:lnTo>
                  <a:pt x="253538" y="2349499"/>
                </a:lnTo>
                <a:lnTo>
                  <a:pt x="291580" y="2362199"/>
                </a:lnTo>
                <a:lnTo>
                  <a:pt x="331247" y="2374899"/>
                </a:lnTo>
                <a:lnTo>
                  <a:pt x="6810160" y="2374899"/>
                </a:lnTo>
                <a:lnTo>
                  <a:pt x="6849743" y="2362199"/>
                </a:lnTo>
                <a:lnTo>
                  <a:pt x="6887681" y="2349499"/>
                </a:lnTo>
                <a:lnTo>
                  <a:pt x="335593" y="2349499"/>
                </a:lnTo>
                <a:lnTo>
                  <a:pt x="298752" y="2336799"/>
                </a:lnTo>
                <a:lnTo>
                  <a:pt x="229836" y="2311399"/>
                </a:lnTo>
                <a:lnTo>
                  <a:pt x="198145" y="2285999"/>
                </a:lnTo>
                <a:lnTo>
                  <a:pt x="168555" y="2260599"/>
                </a:lnTo>
                <a:lnTo>
                  <a:pt x="116456" y="2209799"/>
                </a:lnTo>
                <a:lnTo>
                  <a:pt x="75092" y="2146299"/>
                </a:lnTo>
                <a:lnTo>
                  <a:pt x="58920" y="2120899"/>
                </a:lnTo>
                <a:lnTo>
                  <a:pt x="46011" y="2082799"/>
                </a:lnTo>
                <a:lnTo>
                  <a:pt x="36558" y="2044699"/>
                </a:lnTo>
                <a:lnTo>
                  <a:pt x="30755" y="2006599"/>
                </a:lnTo>
                <a:lnTo>
                  <a:pt x="28793" y="1968499"/>
                </a:lnTo>
                <a:lnTo>
                  <a:pt x="28800" y="406399"/>
                </a:lnTo>
                <a:lnTo>
                  <a:pt x="30803" y="368299"/>
                </a:lnTo>
                <a:lnTo>
                  <a:pt x="36654" y="330199"/>
                </a:lnTo>
                <a:lnTo>
                  <a:pt x="46152" y="292099"/>
                </a:lnTo>
                <a:lnTo>
                  <a:pt x="59103" y="266699"/>
                </a:lnTo>
                <a:lnTo>
                  <a:pt x="75314" y="228599"/>
                </a:lnTo>
                <a:lnTo>
                  <a:pt x="94594" y="190499"/>
                </a:lnTo>
                <a:lnTo>
                  <a:pt x="141585" y="139699"/>
                </a:lnTo>
                <a:lnTo>
                  <a:pt x="198527" y="88899"/>
                </a:lnTo>
                <a:lnTo>
                  <a:pt x="230246" y="76199"/>
                </a:lnTo>
                <a:lnTo>
                  <a:pt x="263870" y="50799"/>
                </a:lnTo>
                <a:lnTo>
                  <a:pt x="299206" y="38099"/>
                </a:lnTo>
                <a:lnTo>
                  <a:pt x="336064" y="38099"/>
                </a:lnTo>
                <a:lnTo>
                  <a:pt x="374249" y="25399"/>
                </a:lnTo>
                <a:lnTo>
                  <a:pt x="6885514" y="25399"/>
                </a:lnTo>
                <a:lnTo>
                  <a:pt x="6847470" y="12699"/>
                </a:lnTo>
                <a:lnTo>
                  <a:pt x="6807804" y="0"/>
                </a:lnTo>
                <a:close/>
              </a:path>
              <a:path w="7139305" h="2374900">
                <a:moveTo>
                  <a:pt x="6885514" y="25399"/>
                </a:moveTo>
                <a:lnTo>
                  <a:pt x="6765283" y="25399"/>
                </a:lnTo>
                <a:lnTo>
                  <a:pt x="6803458" y="38099"/>
                </a:lnTo>
                <a:lnTo>
                  <a:pt x="6840298" y="38099"/>
                </a:lnTo>
                <a:lnTo>
                  <a:pt x="6875614" y="50799"/>
                </a:lnTo>
                <a:lnTo>
                  <a:pt x="6909215" y="76199"/>
                </a:lnTo>
                <a:lnTo>
                  <a:pt x="6940906" y="88899"/>
                </a:lnTo>
                <a:lnTo>
                  <a:pt x="6970496" y="114299"/>
                </a:lnTo>
                <a:lnTo>
                  <a:pt x="7022594" y="165099"/>
                </a:lnTo>
                <a:lnTo>
                  <a:pt x="7063958" y="228599"/>
                </a:lnTo>
                <a:lnTo>
                  <a:pt x="7080131" y="266699"/>
                </a:lnTo>
                <a:lnTo>
                  <a:pt x="7093041" y="292099"/>
                </a:lnTo>
                <a:lnTo>
                  <a:pt x="7102492" y="330199"/>
                </a:lnTo>
                <a:lnTo>
                  <a:pt x="7108296" y="368299"/>
                </a:lnTo>
                <a:lnTo>
                  <a:pt x="7110257" y="406399"/>
                </a:lnTo>
                <a:lnTo>
                  <a:pt x="7110252" y="1968499"/>
                </a:lnTo>
                <a:lnTo>
                  <a:pt x="7108248" y="2006599"/>
                </a:lnTo>
                <a:lnTo>
                  <a:pt x="7102397" y="2044699"/>
                </a:lnTo>
                <a:lnTo>
                  <a:pt x="7092899" y="2082799"/>
                </a:lnTo>
                <a:lnTo>
                  <a:pt x="7079948" y="2120899"/>
                </a:lnTo>
                <a:lnTo>
                  <a:pt x="7063737" y="2146299"/>
                </a:lnTo>
                <a:lnTo>
                  <a:pt x="7044457" y="2184399"/>
                </a:lnTo>
                <a:lnTo>
                  <a:pt x="6997466" y="2235199"/>
                </a:lnTo>
                <a:lnTo>
                  <a:pt x="6940523" y="2285999"/>
                </a:lnTo>
                <a:lnTo>
                  <a:pt x="6908806" y="2311399"/>
                </a:lnTo>
                <a:lnTo>
                  <a:pt x="6839843" y="2336799"/>
                </a:lnTo>
                <a:lnTo>
                  <a:pt x="6802987" y="2349499"/>
                </a:lnTo>
                <a:lnTo>
                  <a:pt x="6887681" y="2349499"/>
                </a:lnTo>
                <a:lnTo>
                  <a:pt x="6923759" y="2336799"/>
                </a:lnTo>
                <a:lnTo>
                  <a:pt x="6957771" y="2311399"/>
                </a:lnTo>
                <a:lnTo>
                  <a:pt x="6989513" y="2285999"/>
                </a:lnTo>
                <a:lnTo>
                  <a:pt x="7018779" y="2260599"/>
                </a:lnTo>
                <a:lnTo>
                  <a:pt x="7069071" y="2197099"/>
                </a:lnTo>
                <a:lnTo>
                  <a:pt x="7089683" y="2158999"/>
                </a:lnTo>
                <a:lnTo>
                  <a:pt x="7106994" y="2133599"/>
                </a:lnTo>
                <a:lnTo>
                  <a:pt x="7120792" y="2095499"/>
                </a:lnTo>
                <a:lnTo>
                  <a:pt x="7130866" y="2044699"/>
                </a:lnTo>
                <a:lnTo>
                  <a:pt x="7137011" y="2006599"/>
                </a:lnTo>
                <a:lnTo>
                  <a:pt x="7139052" y="1968499"/>
                </a:lnTo>
                <a:lnTo>
                  <a:pt x="7139021" y="406399"/>
                </a:lnTo>
                <a:lnTo>
                  <a:pt x="7136767" y="368299"/>
                </a:lnTo>
                <a:lnTo>
                  <a:pt x="7130385" y="330199"/>
                </a:lnTo>
                <a:lnTo>
                  <a:pt x="7120085" y="292099"/>
                </a:lnTo>
                <a:lnTo>
                  <a:pt x="7106077" y="253999"/>
                </a:lnTo>
                <a:lnTo>
                  <a:pt x="7088572" y="215899"/>
                </a:lnTo>
                <a:lnTo>
                  <a:pt x="7067779" y="177799"/>
                </a:lnTo>
                <a:lnTo>
                  <a:pt x="7043907" y="152399"/>
                </a:lnTo>
                <a:lnTo>
                  <a:pt x="7017161" y="114299"/>
                </a:lnTo>
                <a:lnTo>
                  <a:pt x="6987743" y="88899"/>
                </a:lnTo>
                <a:lnTo>
                  <a:pt x="6955859" y="63499"/>
                </a:lnTo>
                <a:lnTo>
                  <a:pt x="6921713" y="50799"/>
                </a:lnTo>
                <a:lnTo>
                  <a:pt x="6885514" y="25399"/>
                </a:lnTo>
                <a:close/>
              </a:path>
              <a:path w="7139305" h="2374900">
                <a:moveTo>
                  <a:pt x="6802010" y="38099"/>
                </a:moveTo>
                <a:lnTo>
                  <a:pt x="338454" y="38099"/>
                </a:lnTo>
                <a:lnTo>
                  <a:pt x="302506" y="50799"/>
                </a:lnTo>
                <a:lnTo>
                  <a:pt x="268036" y="63499"/>
                </a:lnTo>
                <a:lnTo>
                  <a:pt x="235230" y="76199"/>
                </a:lnTo>
                <a:lnTo>
                  <a:pt x="204276" y="101599"/>
                </a:lnTo>
                <a:lnTo>
                  <a:pt x="175366" y="126999"/>
                </a:lnTo>
                <a:lnTo>
                  <a:pt x="148689" y="139699"/>
                </a:lnTo>
                <a:lnTo>
                  <a:pt x="124437" y="177799"/>
                </a:lnTo>
                <a:lnTo>
                  <a:pt x="102798" y="203199"/>
                </a:lnTo>
                <a:lnTo>
                  <a:pt x="83963" y="228599"/>
                </a:lnTo>
                <a:lnTo>
                  <a:pt x="68118" y="266699"/>
                </a:lnTo>
                <a:lnTo>
                  <a:pt x="55449" y="292099"/>
                </a:lnTo>
                <a:lnTo>
                  <a:pt x="46145" y="330199"/>
                </a:lnTo>
                <a:lnTo>
                  <a:pt x="40391" y="368299"/>
                </a:lnTo>
                <a:lnTo>
                  <a:pt x="38399" y="406399"/>
                </a:lnTo>
                <a:lnTo>
                  <a:pt x="38381" y="1968499"/>
                </a:lnTo>
                <a:lnTo>
                  <a:pt x="40245" y="2006599"/>
                </a:lnTo>
                <a:lnTo>
                  <a:pt x="45856" y="2044699"/>
                </a:lnTo>
                <a:lnTo>
                  <a:pt x="55026" y="2082799"/>
                </a:lnTo>
                <a:lnTo>
                  <a:pt x="67568" y="2108199"/>
                </a:lnTo>
                <a:lnTo>
                  <a:pt x="83297" y="2146299"/>
                </a:lnTo>
                <a:lnTo>
                  <a:pt x="102024" y="2171699"/>
                </a:lnTo>
                <a:lnTo>
                  <a:pt x="123561" y="2209799"/>
                </a:lnTo>
                <a:lnTo>
                  <a:pt x="147718" y="2235199"/>
                </a:lnTo>
                <a:lnTo>
                  <a:pt x="174304" y="2260599"/>
                </a:lnTo>
                <a:lnTo>
                  <a:pt x="203129" y="2273299"/>
                </a:lnTo>
                <a:lnTo>
                  <a:pt x="234003" y="2298699"/>
                </a:lnTo>
                <a:lnTo>
                  <a:pt x="266736" y="2311399"/>
                </a:lnTo>
                <a:lnTo>
                  <a:pt x="301143" y="2324099"/>
                </a:lnTo>
                <a:lnTo>
                  <a:pt x="337041" y="2336799"/>
                </a:lnTo>
                <a:lnTo>
                  <a:pt x="374736" y="2336799"/>
                </a:lnTo>
                <a:lnTo>
                  <a:pt x="338490" y="2324099"/>
                </a:lnTo>
                <a:lnTo>
                  <a:pt x="303533" y="2311399"/>
                </a:lnTo>
                <a:lnTo>
                  <a:pt x="238169" y="2285999"/>
                </a:lnTo>
                <a:lnTo>
                  <a:pt x="180053" y="2247899"/>
                </a:lnTo>
                <a:lnTo>
                  <a:pt x="130665" y="2197099"/>
                </a:lnTo>
                <a:lnTo>
                  <a:pt x="91501" y="2146299"/>
                </a:lnTo>
                <a:lnTo>
                  <a:pt x="76217" y="2108199"/>
                </a:lnTo>
                <a:lnTo>
                  <a:pt x="64041" y="2070099"/>
                </a:lnTo>
                <a:lnTo>
                  <a:pt x="55153" y="2044699"/>
                </a:lnTo>
                <a:lnTo>
                  <a:pt x="49735" y="2006599"/>
                </a:lnTo>
                <a:lnTo>
                  <a:pt x="47969" y="1968499"/>
                </a:lnTo>
                <a:lnTo>
                  <a:pt x="48000" y="406399"/>
                </a:lnTo>
                <a:lnTo>
                  <a:pt x="49979" y="368299"/>
                </a:lnTo>
                <a:lnTo>
                  <a:pt x="55635" y="330199"/>
                </a:lnTo>
                <a:lnTo>
                  <a:pt x="64747" y="304799"/>
                </a:lnTo>
                <a:lnTo>
                  <a:pt x="77133" y="266699"/>
                </a:lnTo>
                <a:lnTo>
                  <a:pt x="92612" y="241299"/>
                </a:lnTo>
                <a:lnTo>
                  <a:pt x="111003" y="203199"/>
                </a:lnTo>
                <a:lnTo>
                  <a:pt x="132125" y="177799"/>
                </a:lnTo>
                <a:lnTo>
                  <a:pt x="181823" y="126999"/>
                </a:lnTo>
                <a:lnTo>
                  <a:pt x="240214" y="88899"/>
                </a:lnTo>
                <a:lnTo>
                  <a:pt x="305806" y="63499"/>
                </a:lnTo>
                <a:lnTo>
                  <a:pt x="340845" y="50799"/>
                </a:lnTo>
                <a:lnTo>
                  <a:pt x="6837908" y="50799"/>
                </a:lnTo>
                <a:lnTo>
                  <a:pt x="6802010" y="38099"/>
                </a:lnTo>
                <a:close/>
              </a:path>
              <a:path w="7139305" h="2374900">
                <a:moveTo>
                  <a:pt x="6837908" y="50799"/>
                </a:moveTo>
                <a:lnTo>
                  <a:pt x="6800561" y="50799"/>
                </a:lnTo>
                <a:lnTo>
                  <a:pt x="6835518" y="63499"/>
                </a:lnTo>
                <a:lnTo>
                  <a:pt x="6869015" y="76199"/>
                </a:lnTo>
                <a:lnTo>
                  <a:pt x="6900881" y="88899"/>
                </a:lnTo>
                <a:lnTo>
                  <a:pt x="6930937" y="114299"/>
                </a:lnTo>
                <a:lnTo>
                  <a:pt x="6958997" y="126999"/>
                </a:lnTo>
                <a:lnTo>
                  <a:pt x="6984876" y="152399"/>
                </a:lnTo>
                <a:lnTo>
                  <a:pt x="7008386" y="177799"/>
                </a:lnTo>
                <a:lnTo>
                  <a:pt x="7029339" y="203199"/>
                </a:lnTo>
                <a:lnTo>
                  <a:pt x="7047549" y="241299"/>
                </a:lnTo>
                <a:lnTo>
                  <a:pt x="7062834" y="266699"/>
                </a:lnTo>
                <a:lnTo>
                  <a:pt x="7075009" y="304799"/>
                </a:lnTo>
                <a:lnTo>
                  <a:pt x="7083897" y="342899"/>
                </a:lnTo>
                <a:lnTo>
                  <a:pt x="7089316" y="368299"/>
                </a:lnTo>
                <a:lnTo>
                  <a:pt x="7091081" y="406399"/>
                </a:lnTo>
                <a:lnTo>
                  <a:pt x="7091051" y="1968499"/>
                </a:lnTo>
                <a:lnTo>
                  <a:pt x="7089072" y="2006599"/>
                </a:lnTo>
                <a:lnTo>
                  <a:pt x="7083415" y="2044699"/>
                </a:lnTo>
                <a:lnTo>
                  <a:pt x="7074303" y="2082799"/>
                </a:lnTo>
                <a:lnTo>
                  <a:pt x="7061918" y="2108199"/>
                </a:lnTo>
                <a:lnTo>
                  <a:pt x="7046439" y="2146299"/>
                </a:lnTo>
                <a:lnTo>
                  <a:pt x="7006926" y="2197099"/>
                </a:lnTo>
                <a:lnTo>
                  <a:pt x="6957228" y="2247899"/>
                </a:lnTo>
                <a:lnTo>
                  <a:pt x="6898836" y="2285999"/>
                </a:lnTo>
                <a:lnTo>
                  <a:pt x="6833245" y="2311399"/>
                </a:lnTo>
                <a:lnTo>
                  <a:pt x="6761905" y="2336799"/>
                </a:lnTo>
                <a:lnTo>
                  <a:pt x="6800597" y="2336799"/>
                </a:lnTo>
                <a:lnTo>
                  <a:pt x="6836544" y="2324099"/>
                </a:lnTo>
                <a:lnTo>
                  <a:pt x="6871014" y="2311399"/>
                </a:lnTo>
                <a:lnTo>
                  <a:pt x="6903821" y="2298699"/>
                </a:lnTo>
                <a:lnTo>
                  <a:pt x="6934775" y="2273299"/>
                </a:lnTo>
                <a:lnTo>
                  <a:pt x="6963685" y="2260599"/>
                </a:lnTo>
                <a:lnTo>
                  <a:pt x="7014615" y="2209799"/>
                </a:lnTo>
                <a:lnTo>
                  <a:pt x="7055088" y="2146299"/>
                </a:lnTo>
                <a:lnTo>
                  <a:pt x="7070934" y="2108199"/>
                </a:lnTo>
                <a:lnTo>
                  <a:pt x="7083601" y="2082799"/>
                </a:lnTo>
                <a:lnTo>
                  <a:pt x="7092906" y="2044699"/>
                </a:lnTo>
                <a:lnTo>
                  <a:pt x="7098659" y="2006599"/>
                </a:lnTo>
                <a:lnTo>
                  <a:pt x="7100652" y="1968499"/>
                </a:lnTo>
                <a:lnTo>
                  <a:pt x="7100670" y="406399"/>
                </a:lnTo>
                <a:lnTo>
                  <a:pt x="7098807" y="368299"/>
                </a:lnTo>
                <a:lnTo>
                  <a:pt x="7093194" y="330199"/>
                </a:lnTo>
                <a:lnTo>
                  <a:pt x="7084025" y="304799"/>
                </a:lnTo>
                <a:lnTo>
                  <a:pt x="7071483" y="266699"/>
                </a:lnTo>
                <a:lnTo>
                  <a:pt x="7055754" y="228599"/>
                </a:lnTo>
                <a:lnTo>
                  <a:pt x="7037027" y="203199"/>
                </a:lnTo>
                <a:lnTo>
                  <a:pt x="7015490" y="177799"/>
                </a:lnTo>
                <a:lnTo>
                  <a:pt x="6991333" y="139699"/>
                </a:lnTo>
                <a:lnTo>
                  <a:pt x="6964747" y="126999"/>
                </a:lnTo>
                <a:lnTo>
                  <a:pt x="6935921" y="101599"/>
                </a:lnTo>
                <a:lnTo>
                  <a:pt x="6905048" y="76199"/>
                </a:lnTo>
                <a:lnTo>
                  <a:pt x="6872315" y="63499"/>
                </a:lnTo>
                <a:lnTo>
                  <a:pt x="6837908" y="50799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02129" y="2128520"/>
            <a:ext cx="4334510" cy="845819"/>
          </a:xfrm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304800" marR="5080" indent="-292735">
              <a:lnSpc>
                <a:spcPts val="3220"/>
              </a:lnSpc>
              <a:spcBef>
                <a:spcPts val="225"/>
              </a:spcBef>
            </a:pPr>
            <a:r>
              <a:rPr dirty="0" sz="2700" spc="-15" b="1">
                <a:solidFill>
                  <a:srgbClr val="D60093"/>
                </a:solidFill>
                <a:latin typeface="Calibri"/>
                <a:cs typeface="Calibri"/>
              </a:rPr>
              <a:t>(3) </a:t>
            </a:r>
            <a:r>
              <a:rPr dirty="0" sz="2700" spc="-55" b="1">
                <a:solidFill>
                  <a:srgbClr val="D60093"/>
                </a:solidFill>
                <a:latin typeface="Calibri"/>
                <a:cs typeface="Calibri"/>
              </a:rPr>
              <a:t>Train </a:t>
            </a:r>
            <a:r>
              <a:rPr dirty="0" sz="2700" spc="-10" b="1">
                <a:solidFill>
                  <a:srgbClr val="D60093"/>
                </a:solidFill>
                <a:latin typeface="Calibri"/>
                <a:cs typeface="Calibri"/>
              </a:rPr>
              <a:t>on </a:t>
            </a:r>
            <a:r>
              <a:rPr dirty="0" sz="2700" b="1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2700" spc="-20" b="1">
                <a:solidFill>
                  <a:srgbClr val="D60093"/>
                </a:solidFill>
                <a:latin typeface="Calibri"/>
                <a:cs typeface="Calibri"/>
              </a:rPr>
              <a:t>set </a:t>
            </a:r>
            <a:r>
              <a:rPr dirty="0" sz="2700" spc="-10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2700" spc="-20" b="1">
                <a:solidFill>
                  <a:srgbClr val="D60093"/>
                </a:solidFill>
                <a:latin typeface="Calibri"/>
                <a:cs typeface="Calibri"/>
              </a:rPr>
              <a:t>nodes,</a:t>
            </a:r>
            <a:r>
              <a:rPr dirty="0" sz="2700" spc="-114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15" b="1">
                <a:solidFill>
                  <a:srgbClr val="D60093"/>
                </a:solidFill>
                <a:latin typeface="Calibri"/>
                <a:cs typeface="Calibri"/>
              </a:rPr>
              <a:t>i.e.,  </a:t>
            </a:r>
            <a:r>
              <a:rPr dirty="0" sz="2700" b="1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2700" spc="-30" b="1">
                <a:solidFill>
                  <a:srgbClr val="D60093"/>
                </a:solidFill>
                <a:latin typeface="Calibri"/>
                <a:cs typeface="Calibri"/>
              </a:rPr>
              <a:t>batch </a:t>
            </a:r>
            <a:r>
              <a:rPr dirty="0" sz="2700" spc="-10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2700" spc="-25" b="1">
                <a:solidFill>
                  <a:srgbClr val="D60093"/>
                </a:solidFill>
                <a:latin typeface="Calibri"/>
                <a:cs typeface="Calibri"/>
              </a:rPr>
              <a:t>compute</a:t>
            </a:r>
            <a:r>
              <a:rPr dirty="0" sz="2700" spc="-13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30" b="1">
                <a:solidFill>
                  <a:srgbClr val="D60093"/>
                </a:solidFill>
                <a:latin typeface="Calibri"/>
                <a:cs typeface="Calibri"/>
              </a:rPr>
              <a:t>graphs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8910" y="2966124"/>
            <a:ext cx="1009650" cy="1185545"/>
          </a:xfrm>
          <a:custGeom>
            <a:avLst/>
            <a:gdLst/>
            <a:ahLst/>
            <a:cxnLst/>
            <a:rect l="l" t="t" r="r" b="b"/>
            <a:pathLst>
              <a:path w="1009650" h="1185545">
                <a:moveTo>
                  <a:pt x="40471" y="1019618"/>
                </a:moveTo>
                <a:lnTo>
                  <a:pt x="0" y="1185130"/>
                </a:lnTo>
                <a:lnTo>
                  <a:pt x="156692" y="1118199"/>
                </a:lnTo>
                <a:lnTo>
                  <a:pt x="151262" y="1113593"/>
                </a:lnTo>
                <a:lnTo>
                  <a:pt x="84230" y="1113593"/>
                </a:lnTo>
                <a:lnTo>
                  <a:pt x="74552" y="1112522"/>
                </a:lnTo>
                <a:lnTo>
                  <a:pt x="65721" y="1107649"/>
                </a:lnTo>
                <a:lnTo>
                  <a:pt x="59472" y="1099731"/>
                </a:lnTo>
                <a:lnTo>
                  <a:pt x="56836" y="1090358"/>
                </a:lnTo>
                <a:lnTo>
                  <a:pt x="57907" y="1080679"/>
                </a:lnTo>
                <a:lnTo>
                  <a:pt x="62781" y="1071849"/>
                </a:lnTo>
                <a:lnTo>
                  <a:pt x="79211" y="1052478"/>
                </a:lnTo>
                <a:lnTo>
                  <a:pt x="40471" y="1019618"/>
                </a:lnTo>
                <a:close/>
              </a:path>
              <a:path w="1009650" h="1185545">
                <a:moveTo>
                  <a:pt x="79211" y="1052478"/>
                </a:moveTo>
                <a:lnTo>
                  <a:pt x="62781" y="1071849"/>
                </a:lnTo>
                <a:lnTo>
                  <a:pt x="57907" y="1080679"/>
                </a:lnTo>
                <a:lnTo>
                  <a:pt x="56836" y="1090358"/>
                </a:lnTo>
                <a:lnTo>
                  <a:pt x="59472" y="1099731"/>
                </a:lnTo>
                <a:lnTo>
                  <a:pt x="65721" y="1107649"/>
                </a:lnTo>
                <a:lnTo>
                  <a:pt x="74552" y="1112522"/>
                </a:lnTo>
                <a:lnTo>
                  <a:pt x="84230" y="1113593"/>
                </a:lnTo>
                <a:lnTo>
                  <a:pt x="93603" y="1110957"/>
                </a:lnTo>
                <a:lnTo>
                  <a:pt x="101521" y="1104709"/>
                </a:lnTo>
                <a:lnTo>
                  <a:pt x="117951" y="1085338"/>
                </a:lnTo>
                <a:lnTo>
                  <a:pt x="79211" y="1052478"/>
                </a:lnTo>
                <a:close/>
              </a:path>
              <a:path w="1009650" h="1185545">
                <a:moveTo>
                  <a:pt x="117951" y="1085338"/>
                </a:moveTo>
                <a:lnTo>
                  <a:pt x="101521" y="1104709"/>
                </a:lnTo>
                <a:lnTo>
                  <a:pt x="93603" y="1110957"/>
                </a:lnTo>
                <a:lnTo>
                  <a:pt x="84230" y="1113593"/>
                </a:lnTo>
                <a:lnTo>
                  <a:pt x="151262" y="1113593"/>
                </a:lnTo>
                <a:lnTo>
                  <a:pt x="117951" y="1085338"/>
                </a:lnTo>
                <a:close/>
              </a:path>
              <a:path w="1009650" h="1185545">
                <a:moveTo>
                  <a:pt x="981694" y="0"/>
                </a:moveTo>
                <a:lnTo>
                  <a:pt x="972321" y="2635"/>
                </a:lnTo>
                <a:lnTo>
                  <a:pt x="964403" y="8884"/>
                </a:lnTo>
                <a:lnTo>
                  <a:pt x="79211" y="1052478"/>
                </a:lnTo>
                <a:lnTo>
                  <a:pt x="117951" y="1085338"/>
                </a:lnTo>
                <a:lnTo>
                  <a:pt x="1003143" y="41744"/>
                </a:lnTo>
                <a:lnTo>
                  <a:pt x="1008017" y="32913"/>
                </a:lnTo>
                <a:lnTo>
                  <a:pt x="1009088" y="23235"/>
                </a:lnTo>
                <a:lnTo>
                  <a:pt x="1006452" y="13861"/>
                </a:lnTo>
                <a:lnTo>
                  <a:pt x="1000203" y="5944"/>
                </a:lnTo>
                <a:lnTo>
                  <a:pt x="991372" y="1071"/>
                </a:lnTo>
                <a:lnTo>
                  <a:pt x="981694" y="0"/>
                </a:lnTo>
                <a:close/>
              </a:path>
            </a:pathLst>
          </a:custGeom>
          <a:solidFill>
            <a:srgbClr val="D60093">
              <a:alpha val="490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49838" y="2223246"/>
            <a:ext cx="403225" cy="403860"/>
          </a:xfrm>
          <a:custGeom>
            <a:avLst/>
            <a:gdLst/>
            <a:ahLst/>
            <a:cxnLst/>
            <a:rect l="l" t="t" r="r" b="b"/>
            <a:pathLst>
              <a:path w="403225" h="403860">
                <a:moveTo>
                  <a:pt x="23765" y="220045"/>
                </a:moveTo>
                <a:lnTo>
                  <a:pt x="23775" y="220238"/>
                </a:lnTo>
                <a:lnTo>
                  <a:pt x="19965" y="220430"/>
                </a:lnTo>
                <a:lnTo>
                  <a:pt x="1138" y="223306"/>
                </a:lnTo>
                <a:lnTo>
                  <a:pt x="1934" y="228519"/>
                </a:lnTo>
                <a:lnTo>
                  <a:pt x="24532" y="225068"/>
                </a:lnTo>
                <a:lnTo>
                  <a:pt x="23765" y="220045"/>
                </a:lnTo>
                <a:close/>
              </a:path>
              <a:path w="403225" h="403860">
                <a:moveTo>
                  <a:pt x="1242" y="179509"/>
                </a:moveTo>
                <a:lnTo>
                  <a:pt x="944" y="182104"/>
                </a:lnTo>
                <a:lnTo>
                  <a:pt x="0" y="202709"/>
                </a:lnTo>
                <a:lnTo>
                  <a:pt x="944" y="221391"/>
                </a:lnTo>
                <a:lnTo>
                  <a:pt x="19965" y="220430"/>
                </a:lnTo>
                <a:lnTo>
                  <a:pt x="23736" y="219854"/>
                </a:lnTo>
                <a:lnTo>
                  <a:pt x="22830" y="201555"/>
                </a:lnTo>
                <a:lnTo>
                  <a:pt x="23775" y="183257"/>
                </a:lnTo>
                <a:lnTo>
                  <a:pt x="23840" y="182961"/>
                </a:lnTo>
                <a:lnTo>
                  <a:pt x="1242" y="179509"/>
                </a:lnTo>
                <a:close/>
              </a:path>
              <a:path w="403225" h="403860">
                <a:moveTo>
                  <a:pt x="23736" y="219854"/>
                </a:moveTo>
                <a:lnTo>
                  <a:pt x="19965" y="220430"/>
                </a:lnTo>
                <a:lnTo>
                  <a:pt x="23775" y="220238"/>
                </a:lnTo>
                <a:lnTo>
                  <a:pt x="23736" y="219854"/>
                </a:lnTo>
                <a:close/>
              </a:path>
              <a:path w="403225" h="403860">
                <a:moveTo>
                  <a:pt x="23755" y="219854"/>
                </a:moveTo>
                <a:lnTo>
                  <a:pt x="23765" y="220045"/>
                </a:lnTo>
                <a:lnTo>
                  <a:pt x="23755" y="219854"/>
                </a:lnTo>
                <a:close/>
              </a:path>
              <a:path w="403225" h="403860">
                <a:moveTo>
                  <a:pt x="38946" y="218506"/>
                </a:moveTo>
                <a:lnTo>
                  <a:pt x="38995" y="219468"/>
                </a:lnTo>
                <a:lnTo>
                  <a:pt x="31443" y="219850"/>
                </a:lnTo>
                <a:lnTo>
                  <a:pt x="32065" y="223917"/>
                </a:lnTo>
                <a:lnTo>
                  <a:pt x="39597" y="222766"/>
                </a:lnTo>
                <a:lnTo>
                  <a:pt x="38946" y="218506"/>
                </a:lnTo>
                <a:close/>
              </a:path>
              <a:path w="403225" h="403860">
                <a:moveTo>
                  <a:pt x="38801" y="217553"/>
                </a:moveTo>
                <a:lnTo>
                  <a:pt x="31326" y="218695"/>
                </a:lnTo>
                <a:lnTo>
                  <a:pt x="31443" y="219850"/>
                </a:lnTo>
                <a:lnTo>
                  <a:pt x="38995" y="219468"/>
                </a:lnTo>
                <a:lnTo>
                  <a:pt x="38946" y="218506"/>
                </a:lnTo>
                <a:lnTo>
                  <a:pt x="38801" y="217553"/>
                </a:lnTo>
                <a:close/>
              </a:path>
              <a:path w="403225" h="403860">
                <a:moveTo>
                  <a:pt x="31385" y="183641"/>
                </a:moveTo>
                <a:lnTo>
                  <a:pt x="30441" y="201170"/>
                </a:lnTo>
                <a:lnTo>
                  <a:pt x="31326" y="218695"/>
                </a:lnTo>
                <a:lnTo>
                  <a:pt x="38801" y="217553"/>
                </a:lnTo>
                <a:lnTo>
                  <a:pt x="38051" y="200785"/>
                </a:lnTo>
                <a:lnTo>
                  <a:pt x="38995" y="184026"/>
                </a:lnTo>
                <a:lnTo>
                  <a:pt x="31385" y="183641"/>
                </a:lnTo>
                <a:close/>
              </a:path>
              <a:path w="403225" h="403860">
                <a:moveTo>
                  <a:pt x="38898" y="217553"/>
                </a:moveTo>
                <a:lnTo>
                  <a:pt x="38946" y="218506"/>
                </a:lnTo>
                <a:lnTo>
                  <a:pt x="38898" y="217553"/>
                </a:lnTo>
                <a:close/>
              </a:path>
              <a:path w="403225" h="403860">
                <a:moveTo>
                  <a:pt x="53380" y="116452"/>
                </a:moveTo>
                <a:lnTo>
                  <a:pt x="51394" y="119614"/>
                </a:lnTo>
                <a:lnTo>
                  <a:pt x="44129" y="134555"/>
                </a:lnTo>
                <a:lnTo>
                  <a:pt x="38789" y="149133"/>
                </a:lnTo>
                <a:lnTo>
                  <a:pt x="45944" y="151754"/>
                </a:lnTo>
                <a:lnTo>
                  <a:pt x="51284" y="137176"/>
                </a:lnTo>
                <a:lnTo>
                  <a:pt x="58257" y="122924"/>
                </a:lnTo>
                <a:lnTo>
                  <a:pt x="59891" y="120411"/>
                </a:lnTo>
                <a:lnTo>
                  <a:pt x="53380" y="116452"/>
                </a:lnTo>
                <a:close/>
              </a:path>
              <a:path w="403225" h="403860">
                <a:moveTo>
                  <a:pt x="27336" y="100617"/>
                </a:moveTo>
                <a:lnTo>
                  <a:pt x="23938" y="106377"/>
                </a:lnTo>
                <a:lnTo>
                  <a:pt x="15509" y="124071"/>
                </a:lnTo>
                <a:lnTo>
                  <a:pt x="10169" y="138649"/>
                </a:lnTo>
                <a:lnTo>
                  <a:pt x="31634" y="146512"/>
                </a:lnTo>
                <a:lnTo>
                  <a:pt x="36974" y="131933"/>
                </a:lnTo>
                <a:lnTo>
                  <a:pt x="44530" y="116306"/>
                </a:lnTo>
                <a:lnTo>
                  <a:pt x="46869" y="112494"/>
                </a:lnTo>
                <a:lnTo>
                  <a:pt x="27336" y="100617"/>
                </a:lnTo>
                <a:close/>
              </a:path>
              <a:path w="403225" h="403860">
                <a:moveTo>
                  <a:pt x="101035" y="63468"/>
                </a:moveTo>
                <a:lnTo>
                  <a:pt x="93260" y="69212"/>
                </a:lnTo>
                <a:lnTo>
                  <a:pt x="81045" y="80234"/>
                </a:lnTo>
                <a:lnTo>
                  <a:pt x="74450" y="87485"/>
                </a:lnTo>
                <a:lnTo>
                  <a:pt x="80086" y="92612"/>
                </a:lnTo>
                <a:lnTo>
                  <a:pt x="86681" y="85361"/>
                </a:lnTo>
                <a:lnTo>
                  <a:pt x="98383" y="74852"/>
                </a:lnTo>
                <a:lnTo>
                  <a:pt x="105596" y="69573"/>
                </a:lnTo>
                <a:lnTo>
                  <a:pt x="101035" y="63468"/>
                </a:lnTo>
                <a:close/>
              </a:path>
              <a:path w="403225" h="403860">
                <a:moveTo>
                  <a:pt x="82791" y="39051"/>
                </a:moveTo>
                <a:lnTo>
                  <a:pt x="72770" y="46647"/>
                </a:lnTo>
                <a:lnTo>
                  <a:pt x="58497" y="59724"/>
                </a:lnTo>
                <a:lnTo>
                  <a:pt x="51902" y="66974"/>
                </a:lnTo>
                <a:lnTo>
                  <a:pt x="68813" y="82356"/>
                </a:lnTo>
                <a:lnTo>
                  <a:pt x="75408" y="75107"/>
                </a:lnTo>
                <a:lnTo>
                  <a:pt x="88138" y="63571"/>
                </a:lnTo>
                <a:lnTo>
                  <a:pt x="96474" y="57364"/>
                </a:lnTo>
                <a:lnTo>
                  <a:pt x="82791" y="39051"/>
                </a:lnTo>
                <a:close/>
              </a:path>
              <a:path w="403225" h="403860">
                <a:moveTo>
                  <a:pt x="165971" y="34301"/>
                </a:moveTo>
                <a:lnTo>
                  <a:pt x="151448" y="37974"/>
                </a:lnTo>
                <a:lnTo>
                  <a:pt x="135677" y="43684"/>
                </a:lnTo>
                <a:lnTo>
                  <a:pt x="131984" y="45460"/>
                </a:lnTo>
                <a:lnTo>
                  <a:pt x="135289" y="52326"/>
                </a:lnTo>
                <a:lnTo>
                  <a:pt x="138982" y="50549"/>
                </a:lnTo>
                <a:lnTo>
                  <a:pt x="154065" y="45130"/>
                </a:lnTo>
                <a:lnTo>
                  <a:pt x="167867" y="41682"/>
                </a:lnTo>
                <a:lnTo>
                  <a:pt x="165971" y="34301"/>
                </a:lnTo>
                <a:close/>
              </a:path>
              <a:path w="403225" h="403860">
                <a:moveTo>
                  <a:pt x="158387" y="4780"/>
                </a:moveTo>
                <a:lnTo>
                  <a:pt x="140980" y="9348"/>
                </a:lnTo>
                <a:lnTo>
                  <a:pt x="122458" y="16219"/>
                </a:lnTo>
                <a:lnTo>
                  <a:pt x="118765" y="17997"/>
                </a:lnTo>
                <a:lnTo>
                  <a:pt x="128680" y="38595"/>
                </a:lnTo>
                <a:lnTo>
                  <a:pt x="132372" y="36817"/>
                </a:lnTo>
                <a:lnTo>
                  <a:pt x="148831" y="30817"/>
                </a:lnTo>
                <a:lnTo>
                  <a:pt x="164075" y="26921"/>
                </a:lnTo>
                <a:lnTo>
                  <a:pt x="158387" y="4780"/>
                </a:lnTo>
                <a:close/>
              </a:path>
              <a:path w="403225" h="403860">
                <a:moveTo>
                  <a:pt x="239072" y="22830"/>
                </a:moveTo>
                <a:lnTo>
                  <a:pt x="202097" y="22830"/>
                </a:lnTo>
                <a:lnTo>
                  <a:pt x="220412" y="23774"/>
                </a:lnTo>
                <a:lnTo>
                  <a:pt x="238187" y="26503"/>
                </a:lnTo>
                <a:lnTo>
                  <a:pt x="239072" y="22830"/>
                </a:lnTo>
                <a:close/>
              </a:path>
              <a:path w="403225" h="403860">
                <a:moveTo>
                  <a:pt x="200945" y="0"/>
                </a:moveTo>
                <a:lnTo>
                  <a:pt x="199972" y="48"/>
                </a:lnTo>
                <a:lnTo>
                  <a:pt x="201124" y="22879"/>
                </a:lnTo>
                <a:lnTo>
                  <a:pt x="202097" y="22830"/>
                </a:lnTo>
                <a:lnTo>
                  <a:pt x="239072" y="22830"/>
                </a:lnTo>
                <a:lnTo>
                  <a:pt x="243537" y="4295"/>
                </a:lnTo>
                <a:lnTo>
                  <a:pt x="241634" y="3905"/>
                </a:lnTo>
                <a:lnTo>
                  <a:pt x="221563" y="942"/>
                </a:lnTo>
                <a:lnTo>
                  <a:pt x="200945" y="0"/>
                </a:lnTo>
                <a:close/>
              </a:path>
              <a:path w="403225" h="403860">
                <a:moveTo>
                  <a:pt x="236427" y="38050"/>
                </a:moveTo>
                <a:lnTo>
                  <a:pt x="202865" y="38050"/>
                </a:lnTo>
                <a:lnTo>
                  <a:pt x="219644" y="38994"/>
                </a:lnTo>
                <a:lnTo>
                  <a:pt x="235890" y="41569"/>
                </a:lnTo>
                <a:lnTo>
                  <a:pt x="236427" y="38050"/>
                </a:lnTo>
                <a:close/>
              </a:path>
              <a:path w="403225" h="403860">
                <a:moveTo>
                  <a:pt x="202481" y="30440"/>
                </a:moveTo>
                <a:lnTo>
                  <a:pt x="201508" y="30490"/>
                </a:lnTo>
                <a:lnTo>
                  <a:pt x="201892" y="38100"/>
                </a:lnTo>
                <a:lnTo>
                  <a:pt x="202865" y="38050"/>
                </a:lnTo>
                <a:lnTo>
                  <a:pt x="236427" y="38050"/>
                </a:lnTo>
                <a:lnTo>
                  <a:pt x="237039" y="34037"/>
                </a:lnTo>
                <a:lnTo>
                  <a:pt x="220028" y="31384"/>
                </a:lnTo>
                <a:lnTo>
                  <a:pt x="202481" y="30440"/>
                </a:lnTo>
                <a:close/>
              </a:path>
              <a:path w="403225" h="403860">
                <a:moveTo>
                  <a:pt x="270070" y="44616"/>
                </a:moveTo>
                <a:lnTo>
                  <a:pt x="266765" y="51481"/>
                </a:lnTo>
                <a:lnTo>
                  <a:pt x="280815" y="58243"/>
                </a:lnTo>
                <a:lnTo>
                  <a:pt x="294270" y="66516"/>
                </a:lnTo>
                <a:lnTo>
                  <a:pt x="296653" y="68406"/>
                </a:lnTo>
                <a:lnTo>
                  <a:pt x="301214" y="62302"/>
                </a:lnTo>
                <a:lnTo>
                  <a:pt x="298224" y="60002"/>
                </a:lnTo>
                <a:lnTo>
                  <a:pt x="284120" y="51377"/>
                </a:lnTo>
                <a:lnTo>
                  <a:pt x="270070" y="44616"/>
                </a:lnTo>
                <a:close/>
              </a:path>
              <a:path w="403225" h="403860">
                <a:moveTo>
                  <a:pt x="283289" y="17151"/>
                </a:moveTo>
                <a:lnTo>
                  <a:pt x="273375" y="37749"/>
                </a:lnTo>
                <a:lnTo>
                  <a:pt x="287424" y="44512"/>
                </a:lnTo>
                <a:lnTo>
                  <a:pt x="302178" y="53488"/>
                </a:lnTo>
                <a:lnTo>
                  <a:pt x="305775" y="56197"/>
                </a:lnTo>
                <a:lnTo>
                  <a:pt x="319458" y="37884"/>
                </a:lnTo>
                <a:lnTo>
                  <a:pt x="314040" y="33947"/>
                </a:lnTo>
                <a:lnTo>
                  <a:pt x="297339" y="23914"/>
                </a:lnTo>
                <a:lnTo>
                  <a:pt x="283289" y="17151"/>
                </a:lnTo>
                <a:close/>
              </a:path>
              <a:path w="403225" h="403860">
                <a:moveTo>
                  <a:pt x="328049" y="86042"/>
                </a:moveTo>
                <a:lnTo>
                  <a:pt x="322413" y="91170"/>
                </a:lnTo>
                <a:lnTo>
                  <a:pt x="328932" y="98337"/>
                </a:lnTo>
                <a:lnTo>
                  <a:pt x="338301" y="111000"/>
                </a:lnTo>
                <a:lnTo>
                  <a:pt x="342907" y="118746"/>
                </a:lnTo>
                <a:lnTo>
                  <a:pt x="349418" y="114786"/>
                </a:lnTo>
                <a:lnTo>
                  <a:pt x="344402" y="106434"/>
                </a:lnTo>
                <a:lnTo>
                  <a:pt x="334569" y="93210"/>
                </a:lnTo>
                <a:lnTo>
                  <a:pt x="328049" y="86042"/>
                </a:lnTo>
                <a:close/>
              </a:path>
              <a:path w="403225" h="403860">
                <a:moveTo>
                  <a:pt x="350597" y="65533"/>
                </a:moveTo>
                <a:lnTo>
                  <a:pt x="333685" y="80915"/>
                </a:lnTo>
                <a:lnTo>
                  <a:pt x="340271" y="88171"/>
                </a:lnTo>
                <a:lnTo>
                  <a:pt x="350501" y="101869"/>
                </a:lnTo>
                <a:lnTo>
                  <a:pt x="355929" y="110827"/>
                </a:lnTo>
                <a:lnTo>
                  <a:pt x="375462" y="98952"/>
                </a:lnTo>
                <a:lnTo>
                  <a:pt x="368737" y="88083"/>
                </a:lnTo>
                <a:lnTo>
                  <a:pt x="357116" y="72701"/>
                </a:lnTo>
                <a:lnTo>
                  <a:pt x="350597" y="65533"/>
                </a:lnTo>
                <a:close/>
              </a:path>
              <a:path w="403225" h="403860">
                <a:moveTo>
                  <a:pt x="364351" y="147303"/>
                </a:moveTo>
                <a:lnTo>
                  <a:pt x="357196" y="149924"/>
                </a:lnTo>
                <a:lnTo>
                  <a:pt x="358675" y="153964"/>
                </a:lnTo>
                <a:lnTo>
                  <a:pt x="362621" y="169670"/>
                </a:lnTo>
                <a:lnTo>
                  <a:pt x="364611" y="183335"/>
                </a:lnTo>
                <a:lnTo>
                  <a:pt x="372144" y="182185"/>
                </a:lnTo>
                <a:lnTo>
                  <a:pt x="370000" y="167772"/>
                </a:lnTo>
                <a:lnTo>
                  <a:pt x="365830" y="151343"/>
                </a:lnTo>
                <a:lnTo>
                  <a:pt x="364351" y="147303"/>
                </a:lnTo>
                <a:close/>
              </a:path>
              <a:path w="403225" h="403860">
                <a:moveTo>
                  <a:pt x="392972" y="136819"/>
                </a:moveTo>
                <a:lnTo>
                  <a:pt x="371506" y="144682"/>
                </a:lnTo>
                <a:lnTo>
                  <a:pt x="372986" y="148722"/>
                </a:lnTo>
                <a:lnTo>
                  <a:pt x="377380" y="165872"/>
                </a:lnTo>
                <a:lnTo>
                  <a:pt x="379676" y="181034"/>
                </a:lnTo>
                <a:lnTo>
                  <a:pt x="402274" y="177582"/>
                </a:lnTo>
                <a:lnTo>
                  <a:pt x="399518" y="160174"/>
                </a:lnTo>
                <a:lnTo>
                  <a:pt x="394451" y="140859"/>
                </a:lnTo>
                <a:lnTo>
                  <a:pt x="392972" y="136819"/>
                </a:lnTo>
                <a:close/>
              </a:path>
              <a:path w="403225" h="403860">
                <a:moveTo>
                  <a:pt x="380134" y="218291"/>
                </a:moveTo>
                <a:lnTo>
                  <a:pt x="380035" y="220238"/>
                </a:lnTo>
                <a:lnTo>
                  <a:pt x="377304" y="237998"/>
                </a:lnTo>
                <a:lnTo>
                  <a:pt x="372944" y="254859"/>
                </a:lnTo>
                <a:lnTo>
                  <a:pt x="395082" y="260557"/>
                </a:lnTo>
                <a:lnTo>
                  <a:pt x="399901" y="241448"/>
                </a:lnTo>
                <a:lnTo>
                  <a:pt x="402866" y="221391"/>
                </a:lnTo>
                <a:lnTo>
                  <a:pt x="402965" y="219444"/>
                </a:lnTo>
                <a:lnTo>
                  <a:pt x="380134" y="218291"/>
                </a:lnTo>
                <a:close/>
              </a:path>
              <a:path w="403225" h="403860">
                <a:moveTo>
                  <a:pt x="364913" y="217521"/>
                </a:moveTo>
                <a:lnTo>
                  <a:pt x="364816" y="219468"/>
                </a:lnTo>
                <a:lnTo>
                  <a:pt x="362238" y="235696"/>
                </a:lnTo>
                <a:lnTo>
                  <a:pt x="358185" y="251061"/>
                </a:lnTo>
                <a:lnTo>
                  <a:pt x="365565" y="252959"/>
                </a:lnTo>
                <a:lnTo>
                  <a:pt x="369771" y="236847"/>
                </a:lnTo>
                <a:lnTo>
                  <a:pt x="372425" y="219853"/>
                </a:lnTo>
                <a:lnTo>
                  <a:pt x="372525" y="217906"/>
                </a:lnTo>
                <a:lnTo>
                  <a:pt x="364913" y="217521"/>
                </a:lnTo>
                <a:close/>
              </a:path>
              <a:path w="403225" h="403860">
                <a:moveTo>
                  <a:pt x="358311" y="288749"/>
                </a:moveTo>
                <a:lnTo>
                  <a:pt x="350297" y="301929"/>
                </a:lnTo>
                <a:lnTo>
                  <a:pt x="339974" y="315692"/>
                </a:lnTo>
                <a:lnTo>
                  <a:pt x="336771" y="319187"/>
                </a:lnTo>
                <a:lnTo>
                  <a:pt x="353682" y="334570"/>
                </a:lnTo>
                <a:lnTo>
                  <a:pt x="358275" y="329391"/>
                </a:lnTo>
                <a:lnTo>
                  <a:pt x="369830" y="313806"/>
                </a:lnTo>
                <a:lnTo>
                  <a:pt x="377845" y="300625"/>
                </a:lnTo>
                <a:lnTo>
                  <a:pt x="358311" y="288749"/>
                </a:lnTo>
                <a:close/>
              </a:path>
              <a:path w="403225" h="403860">
                <a:moveTo>
                  <a:pt x="345289" y="280831"/>
                </a:moveTo>
                <a:lnTo>
                  <a:pt x="337274" y="294012"/>
                </a:lnTo>
                <a:lnTo>
                  <a:pt x="327772" y="306561"/>
                </a:lnTo>
                <a:lnTo>
                  <a:pt x="325498" y="308932"/>
                </a:lnTo>
                <a:lnTo>
                  <a:pt x="331135" y="314060"/>
                </a:lnTo>
                <a:lnTo>
                  <a:pt x="333873" y="311127"/>
                </a:lnTo>
                <a:lnTo>
                  <a:pt x="343786" y="297971"/>
                </a:lnTo>
                <a:lnTo>
                  <a:pt x="351801" y="284789"/>
                </a:lnTo>
                <a:lnTo>
                  <a:pt x="345289" y="280831"/>
                </a:lnTo>
                <a:close/>
              </a:path>
              <a:path w="403225" h="403860">
                <a:moveTo>
                  <a:pt x="309449" y="344553"/>
                </a:moveTo>
                <a:lnTo>
                  <a:pt x="301875" y="350211"/>
                </a:lnTo>
                <a:lnTo>
                  <a:pt x="287100" y="359159"/>
                </a:lnTo>
                <a:lnTo>
                  <a:pt x="277507" y="363757"/>
                </a:lnTo>
                <a:lnTo>
                  <a:pt x="287421" y="384355"/>
                </a:lnTo>
                <a:lnTo>
                  <a:pt x="298961" y="378701"/>
                </a:lnTo>
                <a:lnTo>
                  <a:pt x="315557" y="368524"/>
                </a:lnTo>
                <a:lnTo>
                  <a:pt x="323132" y="362865"/>
                </a:lnTo>
                <a:lnTo>
                  <a:pt x="309449" y="344553"/>
                </a:lnTo>
                <a:close/>
              </a:path>
              <a:path w="403225" h="403860">
                <a:moveTo>
                  <a:pt x="300327" y="332343"/>
                </a:moveTo>
                <a:lnTo>
                  <a:pt x="292753" y="338002"/>
                </a:lnTo>
                <a:lnTo>
                  <a:pt x="279192" y="346132"/>
                </a:lnTo>
                <a:lnTo>
                  <a:pt x="270897" y="350024"/>
                </a:lnTo>
                <a:lnTo>
                  <a:pt x="274202" y="356891"/>
                </a:lnTo>
                <a:lnTo>
                  <a:pt x="283146" y="352645"/>
                </a:lnTo>
                <a:lnTo>
                  <a:pt x="297314" y="344107"/>
                </a:lnTo>
                <a:lnTo>
                  <a:pt x="304888" y="338448"/>
                </a:lnTo>
                <a:lnTo>
                  <a:pt x="300327" y="332343"/>
                </a:lnTo>
                <a:close/>
              </a:path>
              <a:path w="403225" h="403860">
                <a:moveTo>
                  <a:pt x="242289" y="375917"/>
                </a:moveTo>
                <a:lnTo>
                  <a:pt x="237814" y="377068"/>
                </a:lnTo>
                <a:lnTo>
                  <a:pt x="220029" y="379760"/>
                </a:lnTo>
                <a:lnTo>
                  <a:pt x="205320" y="380483"/>
                </a:lnTo>
                <a:lnTo>
                  <a:pt x="206472" y="403313"/>
                </a:lnTo>
                <a:lnTo>
                  <a:pt x="223475" y="402358"/>
                </a:lnTo>
                <a:lnTo>
                  <a:pt x="243502" y="399209"/>
                </a:lnTo>
                <a:lnTo>
                  <a:pt x="247977" y="398058"/>
                </a:lnTo>
                <a:lnTo>
                  <a:pt x="242289" y="375917"/>
                </a:lnTo>
                <a:close/>
              </a:path>
              <a:path w="403225" h="403860">
                <a:moveTo>
                  <a:pt x="238497" y="361157"/>
                </a:moveTo>
                <a:lnTo>
                  <a:pt x="234022" y="362306"/>
                </a:lnTo>
                <a:lnTo>
                  <a:pt x="217732" y="364694"/>
                </a:lnTo>
                <a:lnTo>
                  <a:pt x="204552" y="365262"/>
                </a:lnTo>
                <a:lnTo>
                  <a:pt x="204936" y="372873"/>
                </a:lnTo>
                <a:lnTo>
                  <a:pt x="218881" y="372228"/>
                </a:lnTo>
                <a:lnTo>
                  <a:pt x="235918" y="369686"/>
                </a:lnTo>
                <a:lnTo>
                  <a:pt x="240393" y="368537"/>
                </a:lnTo>
                <a:lnTo>
                  <a:pt x="238497" y="361157"/>
                </a:lnTo>
                <a:close/>
              </a:path>
              <a:path w="403225" h="403860">
                <a:moveTo>
                  <a:pt x="132486" y="366699"/>
                </a:moveTo>
                <a:lnTo>
                  <a:pt x="124635" y="388169"/>
                </a:lnTo>
                <a:lnTo>
                  <a:pt x="142782" y="394705"/>
                </a:lnTo>
                <a:lnTo>
                  <a:pt x="162177" y="399590"/>
                </a:lnTo>
                <a:lnTo>
                  <a:pt x="164749" y="399982"/>
                </a:lnTo>
                <a:lnTo>
                  <a:pt x="168195" y="377384"/>
                </a:lnTo>
                <a:lnTo>
                  <a:pt x="165623" y="376991"/>
                </a:lnTo>
                <a:lnTo>
                  <a:pt x="148470" y="372564"/>
                </a:lnTo>
                <a:lnTo>
                  <a:pt x="132486" y="366699"/>
                </a:lnTo>
                <a:close/>
              </a:path>
              <a:path w="403225" h="403860">
                <a:moveTo>
                  <a:pt x="137720" y="352386"/>
                </a:moveTo>
                <a:lnTo>
                  <a:pt x="135103" y="359543"/>
                </a:lnTo>
                <a:lnTo>
                  <a:pt x="150366" y="365184"/>
                </a:lnTo>
                <a:lnTo>
                  <a:pt x="166772" y="369458"/>
                </a:lnTo>
                <a:lnTo>
                  <a:pt x="169343" y="369850"/>
                </a:lnTo>
                <a:lnTo>
                  <a:pt x="170492" y="362318"/>
                </a:lnTo>
                <a:lnTo>
                  <a:pt x="167920" y="361925"/>
                </a:lnTo>
                <a:lnTo>
                  <a:pt x="152262" y="357804"/>
                </a:lnTo>
                <a:lnTo>
                  <a:pt x="137720" y="352386"/>
                </a:lnTo>
                <a:close/>
              </a:path>
              <a:path w="403225" h="403860">
                <a:moveTo>
                  <a:pt x="71899" y="324530"/>
                </a:moveTo>
                <a:lnTo>
                  <a:pt x="54988" y="339912"/>
                </a:lnTo>
                <a:lnTo>
                  <a:pt x="59783" y="345055"/>
                </a:lnTo>
                <a:lnTo>
                  <a:pt x="74174" y="358006"/>
                </a:lnTo>
                <a:lnTo>
                  <a:pt x="86465" y="367188"/>
                </a:lnTo>
                <a:lnTo>
                  <a:pt x="100148" y="348875"/>
                </a:lnTo>
                <a:lnTo>
                  <a:pt x="87857" y="339693"/>
                </a:lnTo>
                <a:lnTo>
                  <a:pt x="75151" y="328131"/>
                </a:lnTo>
                <a:lnTo>
                  <a:pt x="71899" y="324530"/>
                </a:lnTo>
                <a:close/>
              </a:path>
              <a:path w="403225" h="403860">
                <a:moveTo>
                  <a:pt x="83172" y="314275"/>
                </a:moveTo>
                <a:lnTo>
                  <a:pt x="77535" y="319402"/>
                </a:lnTo>
                <a:lnTo>
                  <a:pt x="80273" y="322489"/>
                </a:lnTo>
                <a:lnTo>
                  <a:pt x="92418" y="333588"/>
                </a:lnTo>
                <a:lnTo>
                  <a:pt x="104708" y="342771"/>
                </a:lnTo>
                <a:lnTo>
                  <a:pt x="109269" y="336666"/>
                </a:lnTo>
                <a:lnTo>
                  <a:pt x="96979" y="327484"/>
                </a:lnTo>
                <a:lnTo>
                  <a:pt x="85396" y="316848"/>
                </a:lnTo>
                <a:lnTo>
                  <a:pt x="83172" y="314275"/>
                </a:lnTo>
                <a:close/>
              </a:path>
              <a:path w="403225" h="403860">
                <a:moveTo>
                  <a:pt x="33211" y="261288"/>
                </a:moveTo>
                <a:lnTo>
                  <a:pt x="11746" y="269151"/>
                </a:lnTo>
                <a:lnTo>
                  <a:pt x="16237" y="281144"/>
                </a:lnTo>
                <a:lnTo>
                  <a:pt x="24821" y="298740"/>
                </a:lnTo>
                <a:lnTo>
                  <a:pt x="29719" y="306796"/>
                </a:lnTo>
                <a:lnTo>
                  <a:pt x="49251" y="294920"/>
                </a:lnTo>
                <a:lnTo>
                  <a:pt x="44353" y="286865"/>
                </a:lnTo>
                <a:lnTo>
                  <a:pt x="36829" y="271217"/>
                </a:lnTo>
                <a:lnTo>
                  <a:pt x="33211" y="261288"/>
                </a:lnTo>
                <a:close/>
              </a:path>
              <a:path w="403225" h="403860">
                <a:moveTo>
                  <a:pt x="47521" y="256045"/>
                </a:moveTo>
                <a:lnTo>
                  <a:pt x="40366" y="258667"/>
                </a:lnTo>
                <a:lnTo>
                  <a:pt x="43693" y="267907"/>
                </a:lnTo>
                <a:lnTo>
                  <a:pt x="50864" y="282906"/>
                </a:lnTo>
                <a:lnTo>
                  <a:pt x="55762" y="290960"/>
                </a:lnTo>
                <a:lnTo>
                  <a:pt x="62273" y="287002"/>
                </a:lnTo>
                <a:lnTo>
                  <a:pt x="57375" y="278946"/>
                </a:lnTo>
                <a:lnTo>
                  <a:pt x="50556" y="264598"/>
                </a:lnTo>
                <a:lnTo>
                  <a:pt x="47521" y="2560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45441" y="1521472"/>
            <a:ext cx="403225" cy="403860"/>
          </a:xfrm>
          <a:custGeom>
            <a:avLst/>
            <a:gdLst/>
            <a:ahLst/>
            <a:cxnLst/>
            <a:rect l="l" t="t" r="r" b="b"/>
            <a:pathLst>
              <a:path w="403225" h="403860">
                <a:moveTo>
                  <a:pt x="23766" y="220052"/>
                </a:moveTo>
                <a:lnTo>
                  <a:pt x="23775" y="220238"/>
                </a:lnTo>
                <a:lnTo>
                  <a:pt x="19976" y="220430"/>
                </a:lnTo>
                <a:lnTo>
                  <a:pt x="1139" y="223307"/>
                </a:lnTo>
                <a:lnTo>
                  <a:pt x="1935" y="228519"/>
                </a:lnTo>
                <a:lnTo>
                  <a:pt x="24532" y="225068"/>
                </a:lnTo>
                <a:lnTo>
                  <a:pt x="23766" y="220052"/>
                </a:lnTo>
                <a:close/>
              </a:path>
              <a:path w="403225" h="403860">
                <a:moveTo>
                  <a:pt x="1243" y="179510"/>
                </a:moveTo>
                <a:lnTo>
                  <a:pt x="944" y="182105"/>
                </a:lnTo>
                <a:lnTo>
                  <a:pt x="0" y="202709"/>
                </a:lnTo>
                <a:lnTo>
                  <a:pt x="944" y="221392"/>
                </a:lnTo>
                <a:lnTo>
                  <a:pt x="19976" y="220430"/>
                </a:lnTo>
                <a:lnTo>
                  <a:pt x="23736" y="219856"/>
                </a:lnTo>
                <a:lnTo>
                  <a:pt x="22832" y="201556"/>
                </a:lnTo>
                <a:lnTo>
                  <a:pt x="23775" y="183258"/>
                </a:lnTo>
                <a:lnTo>
                  <a:pt x="23840" y="182962"/>
                </a:lnTo>
                <a:lnTo>
                  <a:pt x="1243" y="179510"/>
                </a:lnTo>
                <a:close/>
              </a:path>
              <a:path w="403225" h="403860">
                <a:moveTo>
                  <a:pt x="23736" y="219856"/>
                </a:moveTo>
                <a:lnTo>
                  <a:pt x="19976" y="220430"/>
                </a:lnTo>
                <a:lnTo>
                  <a:pt x="23775" y="220238"/>
                </a:lnTo>
                <a:lnTo>
                  <a:pt x="23736" y="219856"/>
                </a:lnTo>
                <a:close/>
              </a:path>
              <a:path w="403225" h="403860">
                <a:moveTo>
                  <a:pt x="23756" y="219856"/>
                </a:moveTo>
                <a:lnTo>
                  <a:pt x="23766" y="220052"/>
                </a:lnTo>
                <a:lnTo>
                  <a:pt x="23756" y="219856"/>
                </a:lnTo>
                <a:close/>
              </a:path>
              <a:path w="403225" h="403860">
                <a:moveTo>
                  <a:pt x="38947" y="218508"/>
                </a:moveTo>
                <a:lnTo>
                  <a:pt x="38996" y="219469"/>
                </a:lnTo>
                <a:lnTo>
                  <a:pt x="31444" y="219850"/>
                </a:lnTo>
                <a:lnTo>
                  <a:pt x="32066" y="223917"/>
                </a:lnTo>
                <a:lnTo>
                  <a:pt x="39598" y="222766"/>
                </a:lnTo>
                <a:lnTo>
                  <a:pt x="38947" y="218508"/>
                </a:lnTo>
                <a:close/>
              </a:path>
              <a:path w="403225" h="403860">
                <a:moveTo>
                  <a:pt x="38802" y="217554"/>
                </a:moveTo>
                <a:lnTo>
                  <a:pt x="31327" y="218696"/>
                </a:lnTo>
                <a:lnTo>
                  <a:pt x="31444" y="219850"/>
                </a:lnTo>
                <a:lnTo>
                  <a:pt x="38996" y="219469"/>
                </a:lnTo>
                <a:lnTo>
                  <a:pt x="38947" y="218508"/>
                </a:lnTo>
                <a:lnTo>
                  <a:pt x="38802" y="217554"/>
                </a:lnTo>
                <a:close/>
              </a:path>
              <a:path w="403225" h="403860">
                <a:moveTo>
                  <a:pt x="31385" y="183643"/>
                </a:moveTo>
                <a:lnTo>
                  <a:pt x="30441" y="201171"/>
                </a:lnTo>
                <a:lnTo>
                  <a:pt x="31327" y="218696"/>
                </a:lnTo>
                <a:lnTo>
                  <a:pt x="38802" y="217554"/>
                </a:lnTo>
                <a:lnTo>
                  <a:pt x="38051" y="200787"/>
                </a:lnTo>
                <a:lnTo>
                  <a:pt x="38996" y="184028"/>
                </a:lnTo>
                <a:lnTo>
                  <a:pt x="31385" y="183643"/>
                </a:lnTo>
                <a:close/>
              </a:path>
              <a:path w="403225" h="403860">
                <a:moveTo>
                  <a:pt x="38899" y="217554"/>
                </a:moveTo>
                <a:lnTo>
                  <a:pt x="38947" y="218508"/>
                </a:lnTo>
                <a:lnTo>
                  <a:pt x="38899" y="217554"/>
                </a:lnTo>
                <a:close/>
              </a:path>
              <a:path w="403225" h="403860">
                <a:moveTo>
                  <a:pt x="53380" y="116453"/>
                </a:moveTo>
                <a:lnTo>
                  <a:pt x="51394" y="119616"/>
                </a:lnTo>
                <a:lnTo>
                  <a:pt x="44129" y="134556"/>
                </a:lnTo>
                <a:lnTo>
                  <a:pt x="38789" y="149134"/>
                </a:lnTo>
                <a:lnTo>
                  <a:pt x="45944" y="151756"/>
                </a:lnTo>
                <a:lnTo>
                  <a:pt x="51285" y="137177"/>
                </a:lnTo>
                <a:lnTo>
                  <a:pt x="58258" y="122925"/>
                </a:lnTo>
                <a:lnTo>
                  <a:pt x="59891" y="120412"/>
                </a:lnTo>
                <a:lnTo>
                  <a:pt x="53380" y="116453"/>
                </a:lnTo>
                <a:close/>
              </a:path>
              <a:path w="403225" h="403860">
                <a:moveTo>
                  <a:pt x="27336" y="100618"/>
                </a:moveTo>
                <a:lnTo>
                  <a:pt x="23939" y="106379"/>
                </a:lnTo>
                <a:lnTo>
                  <a:pt x="15510" y="124072"/>
                </a:lnTo>
                <a:lnTo>
                  <a:pt x="10170" y="138650"/>
                </a:lnTo>
                <a:lnTo>
                  <a:pt x="31635" y="146513"/>
                </a:lnTo>
                <a:lnTo>
                  <a:pt x="36976" y="131935"/>
                </a:lnTo>
                <a:lnTo>
                  <a:pt x="44531" y="116306"/>
                </a:lnTo>
                <a:lnTo>
                  <a:pt x="46870" y="112494"/>
                </a:lnTo>
                <a:lnTo>
                  <a:pt x="27336" y="100618"/>
                </a:lnTo>
                <a:close/>
              </a:path>
              <a:path w="403225" h="403860">
                <a:moveTo>
                  <a:pt x="101036" y="63469"/>
                </a:moveTo>
                <a:lnTo>
                  <a:pt x="93261" y="69212"/>
                </a:lnTo>
                <a:lnTo>
                  <a:pt x="81046" y="80236"/>
                </a:lnTo>
                <a:lnTo>
                  <a:pt x="74451" y="87485"/>
                </a:lnTo>
                <a:lnTo>
                  <a:pt x="80087" y="92613"/>
                </a:lnTo>
                <a:lnTo>
                  <a:pt x="86682" y="85363"/>
                </a:lnTo>
                <a:lnTo>
                  <a:pt x="98384" y="74853"/>
                </a:lnTo>
                <a:lnTo>
                  <a:pt x="105596" y="69574"/>
                </a:lnTo>
                <a:lnTo>
                  <a:pt x="101036" y="63469"/>
                </a:lnTo>
                <a:close/>
              </a:path>
              <a:path w="403225" h="403860">
                <a:moveTo>
                  <a:pt x="82792" y="39052"/>
                </a:moveTo>
                <a:lnTo>
                  <a:pt x="72770" y="46648"/>
                </a:lnTo>
                <a:lnTo>
                  <a:pt x="58498" y="59725"/>
                </a:lnTo>
                <a:lnTo>
                  <a:pt x="51903" y="66975"/>
                </a:lnTo>
                <a:lnTo>
                  <a:pt x="68813" y="82358"/>
                </a:lnTo>
                <a:lnTo>
                  <a:pt x="75408" y="75107"/>
                </a:lnTo>
                <a:lnTo>
                  <a:pt x="88139" y="63572"/>
                </a:lnTo>
                <a:lnTo>
                  <a:pt x="96475" y="57365"/>
                </a:lnTo>
                <a:lnTo>
                  <a:pt x="82792" y="39052"/>
                </a:lnTo>
                <a:close/>
              </a:path>
              <a:path w="403225" h="403860">
                <a:moveTo>
                  <a:pt x="165972" y="34302"/>
                </a:moveTo>
                <a:lnTo>
                  <a:pt x="151448" y="37975"/>
                </a:lnTo>
                <a:lnTo>
                  <a:pt x="135677" y="43684"/>
                </a:lnTo>
                <a:lnTo>
                  <a:pt x="131986" y="45462"/>
                </a:lnTo>
                <a:lnTo>
                  <a:pt x="135290" y="52327"/>
                </a:lnTo>
                <a:lnTo>
                  <a:pt x="138982" y="50551"/>
                </a:lnTo>
                <a:lnTo>
                  <a:pt x="154066" y="45131"/>
                </a:lnTo>
                <a:lnTo>
                  <a:pt x="167868" y="41682"/>
                </a:lnTo>
                <a:lnTo>
                  <a:pt x="165972" y="34302"/>
                </a:lnTo>
                <a:close/>
              </a:path>
              <a:path w="403225" h="403860">
                <a:moveTo>
                  <a:pt x="158388" y="4781"/>
                </a:moveTo>
                <a:lnTo>
                  <a:pt x="140980" y="9349"/>
                </a:lnTo>
                <a:lnTo>
                  <a:pt x="122459" y="16220"/>
                </a:lnTo>
                <a:lnTo>
                  <a:pt x="118766" y="17997"/>
                </a:lnTo>
                <a:lnTo>
                  <a:pt x="128680" y="38596"/>
                </a:lnTo>
                <a:lnTo>
                  <a:pt x="132373" y="36818"/>
                </a:lnTo>
                <a:lnTo>
                  <a:pt x="148831" y="30819"/>
                </a:lnTo>
                <a:lnTo>
                  <a:pt x="164076" y="26922"/>
                </a:lnTo>
                <a:lnTo>
                  <a:pt x="158388" y="4781"/>
                </a:lnTo>
                <a:close/>
              </a:path>
              <a:path w="403225" h="403860">
                <a:moveTo>
                  <a:pt x="239073" y="22830"/>
                </a:moveTo>
                <a:lnTo>
                  <a:pt x="202098" y="22830"/>
                </a:lnTo>
                <a:lnTo>
                  <a:pt x="220412" y="23774"/>
                </a:lnTo>
                <a:lnTo>
                  <a:pt x="238188" y="26504"/>
                </a:lnTo>
                <a:lnTo>
                  <a:pt x="239073" y="22830"/>
                </a:lnTo>
                <a:close/>
              </a:path>
              <a:path w="403225" h="403860">
                <a:moveTo>
                  <a:pt x="200947" y="0"/>
                </a:moveTo>
                <a:lnTo>
                  <a:pt x="199972" y="49"/>
                </a:lnTo>
                <a:lnTo>
                  <a:pt x="201124" y="22880"/>
                </a:lnTo>
                <a:lnTo>
                  <a:pt x="202098" y="22830"/>
                </a:lnTo>
                <a:lnTo>
                  <a:pt x="239073" y="22830"/>
                </a:lnTo>
                <a:lnTo>
                  <a:pt x="243537" y="4296"/>
                </a:lnTo>
                <a:lnTo>
                  <a:pt x="241635" y="3906"/>
                </a:lnTo>
                <a:lnTo>
                  <a:pt x="221564" y="943"/>
                </a:lnTo>
                <a:lnTo>
                  <a:pt x="200947" y="0"/>
                </a:lnTo>
                <a:close/>
              </a:path>
              <a:path w="403225" h="403860">
                <a:moveTo>
                  <a:pt x="236428" y="38051"/>
                </a:moveTo>
                <a:lnTo>
                  <a:pt x="202865" y="38051"/>
                </a:lnTo>
                <a:lnTo>
                  <a:pt x="219645" y="38995"/>
                </a:lnTo>
                <a:lnTo>
                  <a:pt x="235891" y="41570"/>
                </a:lnTo>
                <a:lnTo>
                  <a:pt x="236428" y="38051"/>
                </a:lnTo>
                <a:close/>
              </a:path>
              <a:path w="403225" h="403860">
                <a:moveTo>
                  <a:pt x="202482" y="30441"/>
                </a:moveTo>
                <a:lnTo>
                  <a:pt x="201508" y="30491"/>
                </a:lnTo>
                <a:lnTo>
                  <a:pt x="201893" y="38101"/>
                </a:lnTo>
                <a:lnTo>
                  <a:pt x="202865" y="38051"/>
                </a:lnTo>
                <a:lnTo>
                  <a:pt x="236428" y="38051"/>
                </a:lnTo>
                <a:lnTo>
                  <a:pt x="237040" y="34038"/>
                </a:lnTo>
                <a:lnTo>
                  <a:pt x="220028" y="31385"/>
                </a:lnTo>
                <a:lnTo>
                  <a:pt x="202482" y="30441"/>
                </a:lnTo>
                <a:close/>
              </a:path>
              <a:path w="403225" h="403860">
                <a:moveTo>
                  <a:pt x="270070" y="44616"/>
                </a:moveTo>
                <a:lnTo>
                  <a:pt x="266766" y="51483"/>
                </a:lnTo>
                <a:lnTo>
                  <a:pt x="280816" y="58244"/>
                </a:lnTo>
                <a:lnTo>
                  <a:pt x="294271" y="66517"/>
                </a:lnTo>
                <a:lnTo>
                  <a:pt x="296654" y="68407"/>
                </a:lnTo>
                <a:lnTo>
                  <a:pt x="301214" y="62303"/>
                </a:lnTo>
                <a:lnTo>
                  <a:pt x="298225" y="60003"/>
                </a:lnTo>
                <a:lnTo>
                  <a:pt x="284120" y="51379"/>
                </a:lnTo>
                <a:lnTo>
                  <a:pt x="270070" y="44616"/>
                </a:lnTo>
                <a:close/>
              </a:path>
              <a:path w="403225" h="403860">
                <a:moveTo>
                  <a:pt x="283290" y="17152"/>
                </a:moveTo>
                <a:lnTo>
                  <a:pt x="273375" y="37750"/>
                </a:lnTo>
                <a:lnTo>
                  <a:pt x="287425" y="44513"/>
                </a:lnTo>
                <a:lnTo>
                  <a:pt x="302178" y="53489"/>
                </a:lnTo>
                <a:lnTo>
                  <a:pt x="305776" y="56198"/>
                </a:lnTo>
                <a:lnTo>
                  <a:pt x="319458" y="37885"/>
                </a:lnTo>
                <a:lnTo>
                  <a:pt x="314040" y="33947"/>
                </a:lnTo>
                <a:lnTo>
                  <a:pt x="297340" y="23914"/>
                </a:lnTo>
                <a:lnTo>
                  <a:pt x="283290" y="17152"/>
                </a:lnTo>
                <a:close/>
              </a:path>
              <a:path w="403225" h="403860">
                <a:moveTo>
                  <a:pt x="328049" y="86043"/>
                </a:moveTo>
                <a:lnTo>
                  <a:pt x="322413" y="91172"/>
                </a:lnTo>
                <a:lnTo>
                  <a:pt x="328933" y="98338"/>
                </a:lnTo>
                <a:lnTo>
                  <a:pt x="338301" y="111001"/>
                </a:lnTo>
                <a:lnTo>
                  <a:pt x="342907" y="118746"/>
                </a:lnTo>
                <a:lnTo>
                  <a:pt x="349418" y="114787"/>
                </a:lnTo>
                <a:lnTo>
                  <a:pt x="344402" y="106436"/>
                </a:lnTo>
                <a:lnTo>
                  <a:pt x="334570" y="93211"/>
                </a:lnTo>
                <a:lnTo>
                  <a:pt x="328049" y="86043"/>
                </a:lnTo>
                <a:close/>
              </a:path>
              <a:path w="403225" h="403860">
                <a:moveTo>
                  <a:pt x="350597" y="65534"/>
                </a:moveTo>
                <a:lnTo>
                  <a:pt x="333687" y="80916"/>
                </a:lnTo>
                <a:lnTo>
                  <a:pt x="340273" y="88172"/>
                </a:lnTo>
                <a:lnTo>
                  <a:pt x="350503" y="101869"/>
                </a:lnTo>
                <a:lnTo>
                  <a:pt x="355930" y="110829"/>
                </a:lnTo>
                <a:lnTo>
                  <a:pt x="375462" y="98952"/>
                </a:lnTo>
                <a:lnTo>
                  <a:pt x="368737" y="88083"/>
                </a:lnTo>
                <a:lnTo>
                  <a:pt x="357117" y="72701"/>
                </a:lnTo>
                <a:lnTo>
                  <a:pt x="350597" y="65534"/>
                </a:lnTo>
                <a:close/>
              </a:path>
              <a:path w="403225" h="403860">
                <a:moveTo>
                  <a:pt x="364351" y="147304"/>
                </a:moveTo>
                <a:lnTo>
                  <a:pt x="357197" y="149926"/>
                </a:lnTo>
                <a:lnTo>
                  <a:pt x="358677" y="153964"/>
                </a:lnTo>
                <a:lnTo>
                  <a:pt x="362621" y="169672"/>
                </a:lnTo>
                <a:lnTo>
                  <a:pt x="364611" y="183335"/>
                </a:lnTo>
                <a:lnTo>
                  <a:pt x="372145" y="182185"/>
                </a:lnTo>
                <a:lnTo>
                  <a:pt x="370001" y="167772"/>
                </a:lnTo>
                <a:lnTo>
                  <a:pt x="365832" y="151344"/>
                </a:lnTo>
                <a:lnTo>
                  <a:pt x="364351" y="147304"/>
                </a:lnTo>
                <a:close/>
              </a:path>
              <a:path w="403225" h="403860">
                <a:moveTo>
                  <a:pt x="392972" y="136820"/>
                </a:moveTo>
                <a:lnTo>
                  <a:pt x="371506" y="144683"/>
                </a:lnTo>
                <a:lnTo>
                  <a:pt x="372986" y="148723"/>
                </a:lnTo>
                <a:lnTo>
                  <a:pt x="377380" y="165873"/>
                </a:lnTo>
                <a:lnTo>
                  <a:pt x="379677" y="181034"/>
                </a:lnTo>
                <a:lnTo>
                  <a:pt x="402275" y="177582"/>
                </a:lnTo>
                <a:lnTo>
                  <a:pt x="399519" y="160176"/>
                </a:lnTo>
                <a:lnTo>
                  <a:pt x="394451" y="140859"/>
                </a:lnTo>
                <a:lnTo>
                  <a:pt x="392972" y="136820"/>
                </a:lnTo>
                <a:close/>
              </a:path>
              <a:path w="403225" h="403860">
                <a:moveTo>
                  <a:pt x="380135" y="218292"/>
                </a:moveTo>
                <a:lnTo>
                  <a:pt x="380037" y="220238"/>
                </a:lnTo>
                <a:lnTo>
                  <a:pt x="377304" y="237998"/>
                </a:lnTo>
                <a:lnTo>
                  <a:pt x="372945" y="254861"/>
                </a:lnTo>
                <a:lnTo>
                  <a:pt x="395084" y="260558"/>
                </a:lnTo>
                <a:lnTo>
                  <a:pt x="399902" y="241449"/>
                </a:lnTo>
                <a:lnTo>
                  <a:pt x="402868" y="221392"/>
                </a:lnTo>
                <a:lnTo>
                  <a:pt x="402965" y="219445"/>
                </a:lnTo>
                <a:lnTo>
                  <a:pt x="380135" y="218292"/>
                </a:lnTo>
                <a:close/>
              </a:path>
              <a:path w="403225" h="403860">
                <a:moveTo>
                  <a:pt x="364914" y="217523"/>
                </a:moveTo>
                <a:lnTo>
                  <a:pt x="364816" y="219469"/>
                </a:lnTo>
                <a:lnTo>
                  <a:pt x="362239" y="235696"/>
                </a:lnTo>
                <a:lnTo>
                  <a:pt x="358185" y="251062"/>
                </a:lnTo>
                <a:lnTo>
                  <a:pt x="365565" y="252961"/>
                </a:lnTo>
                <a:lnTo>
                  <a:pt x="369771" y="236847"/>
                </a:lnTo>
                <a:lnTo>
                  <a:pt x="372426" y="219853"/>
                </a:lnTo>
                <a:lnTo>
                  <a:pt x="372525" y="217907"/>
                </a:lnTo>
                <a:lnTo>
                  <a:pt x="364914" y="217523"/>
                </a:lnTo>
                <a:close/>
              </a:path>
              <a:path w="403225" h="403860">
                <a:moveTo>
                  <a:pt x="358312" y="288749"/>
                </a:moveTo>
                <a:lnTo>
                  <a:pt x="350297" y="301931"/>
                </a:lnTo>
                <a:lnTo>
                  <a:pt x="339975" y="315694"/>
                </a:lnTo>
                <a:lnTo>
                  <a:pt x="336772" y="319189"/>
                </a:lnTo>
                <a:lnTo>
                  <a:pt x="353683" y="334571"/>
                </a:lnTo>
                <a:lnTo>
                  <a:pt x="358277" y="329392"/>
                </a:lnTo>
                <a:lnTo>
                  <a:pt x="369830" y="313808"/>
                </a:lnTo>
                <a:lnTo>
                  <a:pt x="377845" y="300626"/>
                </a:lnTo>
                <a:lnTo>
                  <a:pt x="358312" y="288749"/>
                </a:lnTo>
                <a:close/>
              </a:path>
              <a:path w="403225" h="403860">
                <a:moveTo>
                  <a:pt x="345290" y="280832"/>
                </a:moveTo>
                <a:lnTo>
                  <a:pt x="337276" y="294013"/>
                </a:lnTo>
                <a:lnTo>
                  <a:pt x="327774" y="306562"/>
                </a:lnTo>
                <a:lnTo>
                  <a:pt x="325499" y="308933"/>
                </a:lnTo>
                <a:lnTo>
                  <a:pt x="331135" y="314060"/>
                </a:lnTo>
                <a:lnTo>
                  <a:pt x="333874" y="311128"/>
                </a:lnTo>
                <a:lnTo>
                  <a:pt x="343786" y="297972"/>
                </a:lnTo>
                <a:lnTo>
                  <a:pt x="351801" y="284791"/>
                </a:lnTo>
                <a:lnTo>
                  <a:pt x="345290" y="280832"/>
                </a:lnTo>
                <a:close/>
              </a:path>
              <a:path w="403225" h="403860">
                <a:moveTo>
                  <a:pt x="309449" y="344553"/>
                </a:moveTo>
                <a:lnTo>
                  <a:pt x="301876" y="350212"/>
                </a:lnTo>
                <a:lnTo>
                  <a:pt x="287101" y="359161"/>
                </a:lnTo>
                <a:lnTo>
                  <a:pt x="277507" y="363758"/>
                </a:lnTo>
                <a:lnTo>
                  <a:pt x="287421" y="384356"/>
                </a:lnTo>
                <a:lnTo>
                  <a:pt x="298963" y="378702"/>
                </a:lnTo>
                <a:lnTo>
                  <a:pt x="315558" y="368526"/>
                </a:lnTo>
                <a:lnTo>
                  <a:pt x="323132" y="362866"/>
                </a:lnTo>
                <a:lnTo>
                  <a:pt x="309449" y="344553"/>
                </a:lnTo>
                <a:close/>
              </a:path>
              <a:path w="403225" h="403860">
                <a:moveTo>
                  <a:pt x="300328" y="332345"/>
                </a:moveTo>
                <a:lnTo>
                  <a:pt x="292754" y="338004"/>
                </a:lnTo>
                <a:lnTo>
                  <a:pt x="279192" y="346133"/>
                </a:lnTo>
                <a:lnTo>
                  <a:pt x="270898" y="350025"/>
                </a:lnTo>
                <a:lnTo>
                  <a:pt x="274203" y="356891"/>
                </a:lnTo>
                <a:lnTo>
                  <a:pt x="283146" y="352647"/>
                </a:lnTo>
                <a:lnTo>
                  <a:pt x="297314" y="344109"/>
                </a:lnTo>
                <a:lnTo>
                  <a:pt x="304888" y="338449"/>
                </a:lnTo>
                <a:lnTo>
                  <a:pt x="300328" y="332345"/>
                </a:lnTo>
                <a:close/>
              </a:path>
              <a:path w="403225" h="403860">
                <a:moveTo>
                  <a:pt x="242290" y="375918"/>
                </a:moveTo>
                <a:lnTo>
                  <a:pt x="237815" y="377069"/>
                </a:lnTo>
                <a:lnTo>
                  <a:pt x="220030" y="379761"/>
                </a:lnTo>
                <a:lnTo>
                  <a:pt x="205320" y="380484"/>
                </a:lnTo>
                <a:lnTo>
                  <a:pt x="206472" y="403315"/>
                </a:lnTo>
                <a:lnTo>
                  <a:pt x="223476" y="402360"/>
                </a:lnTo>
                <a:lnTo>
                  <a:pt x="243503" y="399209"/>
                </a:lnTo>
                <a:lnTo>
                  <a:pt x="247978" y="398059"/>
                </a:lnTo>
                <a:lnTo>
                  <a:pt x="242290" y="375918"/>
                </a:lnTo>
                <a:close/>
              </a:path>
              <a:path w="403225" h="403860">
                <a:moveTo>
                  <a:pt x="238498" y="361158"/>
                </a:moveTo>
                <a:lnTo>
                  <a:pt x="234022" y="362308"/>
                </a:lnTo>
                <a:lnTo>
                  <a:pt x="217732" y="364695"/>
                </a:lnTo>
                <a:lnTo>
                  <a:pt x="204552" y="365263"/>
                </a:lnTo>
                <a:lnTo>
                  <a:pt x="204937" y="372873"/>
                </a:lnTo>
                <a:lnTo>
                  <a:pt x="218881" y="372228"/>
                </a:lnTo>
                <a:lnTo>
                  <a:pt x="235919" y="369688"/>
                </a:lnTo>
                <a:lnTo>
                  <a:pt x="240394" y="368538"/>
                </a:lnTo>
                <a:lnTo>
                  <a:pt x="238498" y="361158"/>
                </a:lnTo>
                <a:close/>
              </a:path>
              <a:path w="403225" h="403860">
                <a:moveTo>
                  <a:pt x="132487" y="366701"/>
                </a:moveTo>
                <a:lnTo>
                  <a:pt x="124636" y="388170"/>
                </a:lnTo>
                <a:lnTo>
                  <a:pt x="142783" y="394707"/>
                </a:lnTo>
                <a:lnTo>
                  <a:pt x="162177" y="399591"/>
                </a:lnTo>
                <a:lnTo>
                  <a:pt x="164749" y="399983"/>
                </a:lnTo>
                <a:lnTo>
                  <a:pt x="168196" y="377384"/>
                </a:lnTo>
                <a:lnTo>
                  <a:pt x="165624" y="376991"/>
                </a:lnTo>
                <a:lnTo>
                  <a:pt x="148471" y="372565"/>
                </a:lnTo>
                <a:lnTo>
                  <a:pt x="132487" y="366701"/>
                </a:lnTo>
                <a:close/>
              </a:path>
              <a:path w="403225" h="403860">
                <a:moveTo>
                  <a:pt x="137721" y="352388"/>
                </a:moveTo>
                <a:lnTo>
                  <a:pt x="135103" y="359544"/>
                </a:lnTo>
                <a:lnTo>
                  <a:pt x="150368" y="365185"/>
                </a:lnTo>
                <a:lnTo>
                  <a:pt x="166772" y="369459"/>
                </a:lnTo>
                <a:lnTo>
                  <a:pt x="169344" y="369851"/>
                </a:lnTo>
                <a:lnTo>
                  <a:pt x="170493" y="362318"/>
                </a:lnTo>
                <a:lnTo>
                  <a:pt x="167921" y="361927"/>
                </a:lnTo>
                <a:lnTo>
                  <a:pt x="152264" y="357805"/>
                </a:lnTo>
                <a:lnTo>
                  <a:pt x="137721" y="352388"/>
                </a:lnTo>
                <a:close/>
              </a:path>
              <a:path w="403225" h="403860">
                <a:moveTo>
                  <a:pt x="71899" y="324531"/>
                </a:moveTo>
                <a:lnTo>
                  <a:pt x="54989" y="339914"/>
                </a:lnTo>
                <a:lnTo>
                  <a:pt x="59783" y="345056"/>
                </a:lnTo>
                <a:lnTo>
                  <a:pt x="74175" y="358006"/>
                </a:lnTo>
                <a:lnTo>
                  <a:pt x="86466" y="367190"/>
                </a:lnTo>
                <a:lnTo>
                  <a:pt x="100148" y="348876"/>
                </a:lnTo>
                <a:lnTo>
                  <a:pt x="87858" y="339694"/>
                </a:lnTo>
                <a:lnTo>
                  <a:pt x="75152" y="328132"/>
                </a:lnTo>
                <a:lnTo>
                  <a:pt x="71899" y="324531"/>
                </a:lnTo>
                <a:close/>
              </a:path>
              <a:path w="403225" h="403860">
                <a:moveTo>
                  <a:pt x="83173" y="314276"/>
                </a:moveTo>
                <a:lnTo>
                  <a:pt x="77536" y="319403"/>
                </a:lnTo>
                <a:lnTo>
                  <a:pt x="80274" y="322491"/>
                </a:lnTo>
                <a:lnTo>
                  <a:pt x="92419" y="333589"/>
                </a:lnTo>
                <a:lnTo>
                  <a:pt x="104708" y="342773"/>
                </a:lnTo>
                <a:lnTo>
                  <a:pt x="109270" y="336668"/>
                </a:lnTo>
                <a:lnTo>
                  <a:pt x="96979" y="327486"/>
                </a:lnTo>
                <a:lnTo>
                  <a:pt x="85397" y="316849"/>
                </a:lnTo>
                <a:lnTo>
                  <a:pt x="83173" y="314276"/>
                </a:lnTo>
                <a:close/>
              </a:path>
              <a:path w="403225" h="403860">
                <a:moveTo>
                  <a:pt x="33213" y="261289"/>
                </a:moveTo>
                <a:lnTo>
                  <a:pt x="11747" y="269152"/>
                </a:lnTo>
                <a:lnTo>
                  <a:pt x="16238" y="281146"/>
                </a:lnTo>
                <a:lnTo>
                  <a:pt x="24822" y="298742"/>
                </a:lnTo>
                <a:lnTo>
                  <a:pt x="29719" y="306797"/>
                </a:lnTo>
                <a:lnTo>
                  <a:pt x="49251" y="294920"/>
                </a:lnTo>
                <a:lnTo>
                  <a:pt x="44354" y="286866"/>
                </a:lnTo>
                <a:lnTo>
                  <a:pt x="36830" y="271217"/>
                </a:lnTo>
                <a:lnTo>
                  <a:pt x="33213" y="261289"/>
                </a:lnTo>
                <a:close/>
              </a:path>
              <a:path w="403225" h="403860">
                <a:moveTo>
                  <a:pt x="47522" y="256047"/>
                </a:moveTo>
                <a:lnTo>
                  <a:pt x="40366" y="258668"/>
                </a:lnTo>
                <a:lnTo>
                  <a:pt x="43694" y="267909"/>
                </a:lnTo>
                <a:lnTo>
                  <a:pt x="50864" y="282906"/>
                </a:lnTo>
                <a:lnTo>
                  <a:pt x="55763" y="290962"/>
                </a:lnTo>
                <a:lnTo>
                  <a:pt x="62274" y="287003"/>
                </a:lnTo>
                <a:lnTo>
                  <a:pt x="57376" y="278947"/>
                </a:lnTo>
                <a:lnTo>
                  <a:pt x="50557" y="264599"/>
                </a:lnTo>
                <a:lnTo>
                  <a:pt x="47522" y="2560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99470" y="2315419"/>
            <a:ext cx="403225" cy="403860"/>
          </a:xfrm>
          <a:custGeom>
            <a:avLst/>
            <a:gdLst/>
            <a:ahLst/>
            <a:cxnLst/>
            <a:rect l="l" t="t" r="r" b="b"/>
            <a:pathLst>
              <a:path w="403225" h="403860">
                <a:moveTo>
                  <a:pt x="23766" y="220052"/>
                </a:moveTo>
                <a:lnTo>
                  <a:pt x="23775" y="220238"/>
                </a:lnTo>
                <a:lnTo>
                  <a:pt x="19976" y="220430"/>
                </a:lnTo>
                <a:lnTo>
                  <a:pt x="1139" y="223307"/>
                </a:lnTo>
                <a:lnTo>
                  <a:pt x="1935" y="228519"/>
                </a:lnTo>
                <a:lnTo>
                  <a:pt x="24532" y="225069"/>
                </a:lnTo>
                <a:lnTo>
                  <a:pt x="23766" y="220052"/>
                </a:lnTo>
                <a:close/>
              </a:path>
              <a:path w="403225" h="403860">
                <a:moveTo>
                  <a:pt x="1243" y="179510"/>
                </a:moveTo>
                <a:lnTo>
                  <a:pt x="944" y="182105"/>
                </a:lnTo>
                <a:lnTo>
                  <a:pt x="0" y="202709"/>
                </a:lnTo>
                <a:lnTo>
                  <a:pt x="944" y="221392"/>
                </a:lnTo>
                <a:lnTo>
                  <a:pt x="19976" y="220430"/>
                </a:lnTo>
                <a:lnTo>
                  <a:pt x="23736" y="219856"/>
                </a:lnTo>
                <a:lnTo>
                  <a:pt x="22832" y="201556"/>
                </a:lnTo>
                <a:lnTo>
                  <a:pt x="23775" y="183258"/>
                </a:lnTo>
                <a:lnTo>
                  <a:pt x="23840" y="182962"/>
                </a:lnTo>
                <a:lnTo>
                  <a:pt x="1243" y="179510"/>
                </a:lnTo>
                <a:close/>
              </a:path>
              <a:path w="403225" h="403860">
                <a:moveTo>
                  <a:pt x="23736" y="219856"/>
                </a:moveTo>
                <a:lnTo>
                  <a:pt x="19976" y="220430"/>
                </a:lnTo>
                <a:lnTo>
                  <a:pt x="23775" y="220238"/>
                </a:lnTo>
                <a:lnTo>
                  <a:pt x="23736" y="219856"/>
                </a:lnTo>
                <a:close/>
              </a:path>
              <a:path w="403225" h="403860">
                <a:moveTo>
                  <a:pt x="23756" y="219856"/>
                </a:moveTo>
                <a:lnTo>
                  <a:pt x="23766" y="220052"/>
                </a:lnTo>
                <a:lnTo>
                  <a:pt x="23756" y="219856"/>
                </a:lnTo>
                <a:close/>
              </a:path>
              <a:path w="403225" h="403860">
                <a:moveTo>
                  <a:pt x="38948" y="218508"/>
                </a:moveTo>
                <a:lnTo>
                  <a:pt x="38996" y="219469"/>
                </a:lnTo>
                <a:lnTo>
                  <a:pt x="31445" y="219851"/>
                </a:lnTo>
                <a:lnTo>
                  <a:pt x="32066" y="223918"/>
                </a:lnTo>
                <a:lnTo>
                  <a:pt x="39598" y="222768"/>
                </a:lnTo>
                <a:lnTo>
                  <a:pt x="38948" y="218508"/>
                </a:lnTo>
                <a:close/>
              </a:path>
              <a:path w="403225" h="403860">
                <a:moveTo>
                  <a:pt x="38802" y="217554"/>
                </a:moveTo>
                <a:lnTo>
                  <a:pt x="31327" y="218696"/>
                </a:lnTo>
                <a:lnTo>
                  <a:pt x="31445" y="219851"/>
                </a:lnTo>
                <a:lnTo>
                  <a:pt x="38996" y="219469"/>
                </a:lnTo>
                <a:lnTo>
                  <a:pt x="38948" y="218508"/>
                </a:lnTo>
                <a:lnTo>
                  <a:pt x="38802" y="217554"/>
                </a:lnTo>
                <a:close/>
              </a:path>
              <a:path w="403225" h="403860">
                <a:moveTo>
                  <a:pt x="31385" y="183643"/>
                </a:moveTo>
                <a:lnTo>
                  <a:pt x="30441" y="201171"/>
                </a:lnTo>
                <a:lnTo>
                  <a:pt x="31327" y="218696"/>
                </a:lnTo>
                <a:lnTo>
                  <a:pt x="38802" y="217554"/>
                </a:lnTo>
                <a:lnTo>
                  <a:pt x="38051" y="200787"/>
                </a:lnTo>
                <a:lnTo>
                  <a:pt x="38996" y="184028"/>
                </a:lnTo>
                <a:lnTo>
                  <a:pt x="31385" y="183643"/>
                </a:lnTo>
                <a:close/>
              </a:path>
              <a:path w="403225" h="403860">
                <a:moveTo>
                  <a:pt x="38899" y="217554"/>
                </a:moveTo>
                <a:lnTo>
                  <a:pt x="38948" y="218508"/>
                </a:lnTo>
                <a:lnTo>
                  <a:pt x="38899" y="217554"/>
                </a:lnTo>
                <a:close/>
              </a:path>
              <a:path w="403225" h="403860">
                <a:moveTo>
                  <a:pt x="53380" y="116453"/>
                </a:moveTo>
                <a:lnTo>
                  <a:pt x="51394" y="119616"/>
                </a:lnTo>
                <a:lnTo>
                  <a:pt x="44129" y="134556"/>
                </a:lnTo>
                <a:lnTo>
                  <a:pt x="38789" y="149134"/>
                </a:lnTo>
                <a:lnTo>
                  <a:pt x="45944" y="151756"/>
                </a:lnTo>
                <a:lnTo>
                  <a:pt x="51285" y="137177"/>
                </a:lnTo>
                <a:lnTo>
                  <a:pt x="58258" y="122925"/>
                </a:lnTo>
                <a:lnTo>
                  <a:pt x="59891" y="120412"/>
                </a:lnTo>
                <a:lnTo>
                  <a:pt x="53380" y="116453"/>
                </a:lnTo>
                <a:close/>
              </a:path>
              <a:path w="403225" h="403860">
                <a:moveTo>
                  <a:pt x="27336" y="100618"/>
                </a:moveTo>
                <a:lnTo>
                  <a:pt x="23939" y="106379"/>
                </a:lnTo>
                <a:lnTo>
                  <a:pt x="15510" y="124072"/>
                </a:lnTo>
                <a:lnTo>
                  <a:pt x="10170" y="138650"/>
                </a:lnTo>
                <a:lnTo>
                  <a:pt x="31634" y="146513"/>
                </a:lnTo>
                <a:lnTo>
                  <a:pt x="36976" y="131935"/>
                </a:lnTo>
                <a:lnTo>
                  <a:pt x="44531" y="116306"/>
                </a:lnTo>
                <a:lnTo>
                  <a:pt x="46870" y="112494"/>
                </a:lnTo>
                <a:lnTo>
                  <a:pt x="27336" y="100618"/>
                </a:lnTo>
                <a:close/>
              </a:path>
              <a:path w="403225" h="403860">
                <a:moveTo>
                  <a:pt x="101036" y="63469"/>
                </a:moveTo>
                <a:lnTo>
                  <a:pt x="93261" y="69212"/>
                </a:lnTo>
                <a:lnTo>
                  <a:pt x="81046" y="80236"/>
                </a:lnTo>
                <a:lnTo>
                  <a:pt x="74451" y="87486"/>
                </a:lnTo>
                <a:lnTo>
                  <a:pt x="80087" y="92613"/>
                </a:lnTo>
                <a:lnTo>
                  <a:pt x="86682" y="85363"/>
                </a:lnTo>
                <a:lnTo>
                  <a:pt x="98384" y="74853"/>
                </a:lnTo>
                <a:lnTo>
                  <a:pt x="105596" y="69574"/>
                </a:lnTo>
                <a:lnTo>
                  <a:pt x="101036" y="63469"/>
                </a:lnTo>
                <a:close/>
              </a:path>
              <a:path w="403225" h="403860">
                <a:moveTo>
                  <a:pt x="82792" y="39052"/>
                </a:moveTo>
                <a:lnTo>
                  <a:pt x="72771" y="46648"/>
                </a:lnTo>
                <a:lnTo>
                  <a:pt x="58498" y="59725"/>
                </a:lnTo>
                <a:lnTo>
                  <a:pt x="51903" y="66975"/>
                </a:lnTo>
                <a:lnTo>
                  <a:pt x="68813" y="82358"/>
                </a:lnTo>
                <a:lnTo>
                  <a:pt x="75408" y="75107"/>
                </a:lnTo>
                <a:lnTo>
                  <a:pt x="88139" y="63572"/>
                </a:lnTo>
                <a:lnTo>
                  <a:pt x="96475" y="57365"/>
                </a:lnTo>
                <a:lnTo>
                  <a:pt x="82792" y="39052"/>
                </a:lnTo>
                <a:close/>
              </a:path>
              <a:path w="403225" h="403860">
                <a:moveTo>
                  <a:pt x="165972" y="34302"/>
                </a:moveTo>
                <a:lnTo>
                  <a:pt x="151448" y="37975"/>
                </a:lnTo>
                <a:lnTo>
                  <a:pt x="135677" y="43684"/>
                </a:lnTo>
                <a:lnTo>
                  <a:pt x="131984" y="45462"/>
                </a:lnTo>
                <a:lnTo>
                  <a:pt x="135290" y="52327"/>
                </a:lnTo>
                <a:lnTo>
                  <a:pt x="138982" y="50551"/>
                </a:lnTo>
                <a:lnTo>
                  <a:pt x="154066" y="45131"/>
                </a:lnTo>
                <a:lnTo>
                  <a:pt x="167868" y="41682"/>
                </a:lnTo>
                <a:lnTo>
                  <a:pt x="165972" y="34302"/>
                </a:lnTo>
                <a:close/>
              </a:path>
              <a:path w="403225" h="403860">
                <a:moveTo>
                  <a:pt x="158388" y="4781"/>
                </a:moveTo>
                <a:lnTo>
                  <a:pt x="140980" y="9349"/>
                </a:lnTo>
                <a:lnTo>
                  <a:pt x="122459" y="16220"/>
                </a:lnTo>
                <a:lnTo>
                  <a:pt x="118766" y="17997"/>
                </a:lnTo>
                <a:lnTo>
                  <a:pt x="128680" y="38596"/>
                </a:lnTo>
                <a:lnTo>
                  <a:pt x="132373" y="36818"/>
                </a:lnTo>
                <a:lnTo>
                  <a:pt x="148831" y="30819"/>
                </a:lnTo>
                <a:lnTo>
                  <a:pt x="164076" y="26922"/>
                </a:lnTo>
                <a:lnTo>
                  <a:pt x="158388" y="4781"/>
                </a:lnTo>
                <a:close/>
              </a:path>
              <a:path w="403225" h="403860">
                <a:moveTo>
                  <a:pt x="239073" y="22832"/>
                </a:moveTo>
                <a:lnTo>
                  <a:pt x="202097" y="22832"/>
                </a:lnTo>
                <a:lnTo>
                  <a:pt x="220412" y="23774"/>
                </a:lnTo>
                <a:lnTo>
                  <a:pt x="238188" y="26504"/>
                </a:lnTo>
                <a:lnTo>
                  <a:pt x="239073" y="22832"/>
                </a:lnTo>
                <a:close/>
              </a:path>
              <a:path w="403225" h="403860">
                <a:moveTo>
                  <a:pt x="200947" y="0"/>
                </a:moveTo>
                <a:lnTo>
                  <a:pt x="199972" y="49"/>
                </a:lnTo>
                <a:lnTo>
                  <a:pt x="201124" y="22880"/>
                </a:lnTo>
                <a:lnTo>
                  <a:pt x="202097" y="22832"/>
                </a:lnTo>
                <a:lnTo>
                  <a:pt x="239073" y="22832"/>
                </a:lnTo>
                <a:lnTo>
                  <a:pt x="243537" y="4296"/>
                </a:lnTo>
                <a:lnTo>
                  <a:pt x="241634" y="3906"/>
                </a:lnTo>
                <a:lnTo>
                  <a:pt x="221564" y="943"/>
                </a:lnTo>
                <a:lnTo>
                  <a:pt x="200947" y="0"/>
                </a:lnTo>
                <a:close/>
              </a:path>
              <a:path w="403225" h="403860">
                <a:moveTo>
                  <a:pt x="236428" y="38051"/>
                </a:moveTo>
                <a:lnTo>
                  <a:pt x="202865" y="38051"/>
                </a:lnTo>
                <a:lnTo>
                  <a:pt x="219645" y="38995"/>
                </a:lnTo>
                <a:lnTo>
                  <a:pt x="235891" y="41570"/>
                </a:lnTo>
                <a:lnTo>
                  <a:pt x="236428" y="38051"/>
                </a:lnTo>
                <a:close/>
              </a:path>
              <a:path w="403225" h="403860">
                <a:moveTo>
                  <a:pt x="202482" y="30441"/>
                </a:moveTo>
                <a:lnTo>
                  <a:pt x="201508" y="30491"/>
                </a:lnTo>
                <a:lnTo>
                  <a:pt x="201893" y="38101"/>
                </a:lnTo>
                <a:lnTo>
                  <a:pt x="202865" y="38051"/>
                </a:lnTo>
                <a:lnTo>
                  <a:pt x="236428" y="38051"/>
                </a:lnTo>
                <a:lnTo>
                  <a:pt x="237040" y="34038"/>
                </a:lnTo>
                <a:lnTo>
                  <a:pt x="220028" y="31385"/>
                </a:lnTo>
                <a:lnTo>
                  <a:pt x="202482" y="30441"/>
                </a:lnTo>
                <a:close/>
              </a:path>
              <a:path w="403225" h="403860">
                <a:moveTo>
                  <a:pt x="270070" y="44616"/>
                </a:moveTo>
                <a:lnTo>
                  <a:pt x="266766" y="51483"/>
                </a:lnTo>
                <a:lnTo>
                  <a:pt x="280816" y="58244"/>
                </a:lnTo>
                <a:lnTo>
                  <a:pt x="294271" y="66517"/>
                </a:lnTo>
                <a:lnTo>
                  <a:pt x="296654" y="68407"/>
                </a:lnTo>
                <a:lnTo>
                  <a:pt x="301214" y="62303"/>
                </a:lnTo>
                <a:lnTo>
                  <a:pt x="298225" y="60003"/>
                </a:lnTo>
                <a:lnTo>
                  <a:pt x="284120" y="51379"/>
                </a:lnTo>
                <a:lnTo>
                  <a:pt x="270070" y="44616"/>
                </a:lnTo>
                <a:close/>
              </a:path>
              <a:path w="403225" h="403860">
                <a:moveTo>
                  <a:pt x="283290" y="17152"/>
                </a:moveTo>
                <a:lnTo>
                  <a:pt x="273375" y="37750"/>
                </a:lnTo>
                <a:lnTo>
                  <a:pt x="287425" y="44513"/>
                </a:lnTo>
                <a:lnTo>
                  <a:pt x="302178" y="53489"/>
                </a:lnTo>
                <a:lnTo>
                  <a:pt x="305776" y="56198"/>
                </a:lnTo>
                <a:lnTo>
                  <a:pt x="319458" y="37885"/>
                </a:lnTo>
                <a:lnTo>
                  <a:pt x="314040" y="33947"/>
                </a:lnTo>
                <a:lnTo>
                  <a:pt x="297340" y="23915"/>
                </a:lnTo>
                <a:lnTo>
                  <a:pt x="283290" y="17152"/>
                </a:lnTo>
                <a:close/>
              </a:path>
              <a:path w="403225" h="403860">
                <a:moveTo>
                  <a:pt x="328049" y="86043"/>
                </a:moveTo>
                <a:lnTo>
                  <a:pt x="322413" y="91172"/>
                </a:lnTo>
                <a:lnTo>
                  <a:pt x="328933" y="98338"/>
                </a:lnTo>
                <a:lnTo>
                  <a:pt x="338301" y="111001"/>
                </a:lnTo>
                <a:lnTo>
                  <a:pt x="342907" y="118747"/>
                </a:lnTo>
                <a:lnTo>
                  <a:pt x="349418" y="114787"/>
                </a:lnTo>
                <a:lnTo>
                  <a:pt x="344402" y="106436"/>
                </a:lnTo>
                <a:lnTo>
                  <a:pt x="334570" y="93211"/>
                </a:lnTo>
                <a:lnTo>
                  <a:pt x="328049" y="86043"/>
                </a:lnTo>
                <a:close/>
              </a:path>
              <a:path w="403225" h="403860">
                <a:moveTo>
                  <a:pt x="350597" y="65534"/>
                </a:moveTo>
                <a:lnTo>
                  <a:pt x="333687" y="80916"/>
                </a:lnTo>
                <a:lnTo>
                  <a:pt x="340271" y="88172"/>
                </a:lnTo>
                <a:lnTo>
                  <a:pt x="350503" y="101870"/>
                </a:lnTo>
                <a:lnTo>
                  <a:pt x="355930" y="110829"/>
                </a:lnTo>
                <a:lnTo>
                  <a:pt x="375462" y="98952"/>
                </a:lnTo>
                <a:lnTo>
                  <a:pt x="368737" y="88084"/>
                </a:lnTo>
                <a:lnTo>
                  <a:pt x="357117" y="72701"/>
                </a:lnTo>
                <a:lnTo>
                  <a:pt x="350597" y="65534"/>
                </a:lnTo>
                <a:close/>
              </a:path>
              <a:path w="403225" h="403860">
                <a:moveTo>
                  <a:pt x="364351" y="147304"/>
                </a:moveTo>
                <a:lnTo>
                  <a:pt x="357197" y="149926"/>
                </a:lnTo>
                <a:lnTo>
                  <a:pt x="358677" y="153965"/>
                </a:lnTo>
                <a:lnTo>
                  <a:pt x="362621" y="169671"/>
                </a:lnTo>
                <a:lnTo>
                  <a:pt x="364611" y="183337"/>
                </a:lnTo>
                <a:lnTo>
                  <a:pt x="372145" y="182186"/>
                </a:lnTo>
                <a:lnTo>
                  <a:pt x="370001" y="167772"/>
                </a:lnTo>
                <a:lnTo>
                  <a:pt x="365832" y="151344"/>
                </a:lnTo>
                <a:lnTo>
                  <a:pt x="364351" y="147304"/>
                </a:lnTo>
                <a:close/>
              </a:path>
              <a:path w="403225" h="403860">
                <a:moveTo>
                  <a:pt x="392972" y="136820"/>
                </a:moveTo>
                <a:lnTo>
                  <a:pt x="371506" y="144683"/>
                </a:lnTo>
                <a:lnTo>
                  <a:pt x="372986" y="148723"/>
                </a:lnTo>
                <a:lnTo>
                  <a:pt x="377380" y="165873"/>
                </a:lnTo>
                <a:lnTo>
                  <a:pt x="379677" y="181035"/>
                </a:lnTo>
                <a:lnTo>
                  <a:pt x="402275" y="177584"/>
                </a:lnTo>
                <a:lnTo>
                  <a:pt x="399519" y="160176"/>
                </a:lnTo>
                <a:lnTo>
                  <a:pt x="394451" y="140860"/>
                </a:lnTo>
                <a:lnTo>
                  <a:pt x="392972" y="136820"/>
                </a:lnTo>
                <a:close/>
              </a:path>
              <a:path w="403225" h="403860">
                <a:moveTo>
                  <a:pt x="380135" y="218292"/>
                </a:moveTo>
                <a:lnTo>
                  <a:pt x="380037" y="220238"/>
                </a:lnTo>
                <a:lnTo>
                  <a:pt x="377304" y="237998"/>
                </a:lnTo>
                <a:lnTo>
                  <a:pt x="372945" y="254861"/>
                </a:lnTo>
                <a:lnTo>
                  <a:pt x="395084" y="260558"/>
                </a:lnTo>
                <a:lnTo>
                  <a:pt x="399902" y="241449"/>
                </a:lnTo>
                <a:lnTo>
                  <a:pt x="402868" y="221392"/>
                </a:lnTo>
                <a:lnTo>
                  <a:pt x="402965" y="219445"/>
                </a:lnTo>
                <a:lnTo>
                  <a:pt x="380135" y="218292"/>
                </a:lnTo>
                <a:close/>
              </a:path>
              <a:path w="403225" h="403860">
                <a:moveTo>
                  <a:pt x="364914" y="217523"/>
                </a:moveTo>
                <a:lnTo>
                  <a:pt x="364816" y="219469"/>
                </a:lnTo>
                <a:lnTo>
                  <a:pt x="362239" y="235696"/>
                </a:lnTo>
                <a:lnTo>
                  <a:pt x="358185" y="251062"/>
                </a:lnTo>
                <a:lnTo>
                  <a:pt x="365565" y="252961"/>
                </a:lnTo>
                <a:lnTo>
                  <a:pt x="369771" y="236847"/>
                </a:lnTo>
                <a:lnTo>
                  <a:pt x="372426" y="219854"/>
                </a:lnTo>
                <a:lnTo>
                  <a:pt x="372525" y="217907"/>
                </a:lnTo>
                <a:lnTo>
                  <a:pt x="364914" y="217523"/>
                </a:lnTo>
                <a:close/>
              </a:path>
              <a:path w="403225" h="403860">
                <a:moveTo>
                  <a:pt x="358312" y="288749"/>
                </a:moveTo>
                <a:lnTo>
                  <a:pt x="350297" y="301931"/>
                </a:lnTo>
                <a:lnTo>
                  <a:pt x="339975" y="315694"/>
                </a:lnTo>
                <a:lnTo>
                  <a:pt x="336772" y="319189"/>
                </a:lnTo>
                <a:lnTo>
                  <a:pt x="353683" y="334571"/>
                </a:lnTo>
                <a:lnTo>
                  <a:pt x="358277" y="329392"/>
                </a:lnTo>
                <a:lnTo>
                  <a:pt x="369830" y="313808"/>
                </a:lnTo>
                <a:lnTo>
                  <a:pt x="377845" y="300626"/>
                </a:lnTo>
                <a:lnTo>
                  <a:pt x="358312" y="288749"/>
                </a:lnTo>
                <a:close/>
              </a:path>
              <a:path w="403225" h="403860">
                <a:moveTo>
                  <a:pt x="345290" y="280832"/>
                </a:moveTo>
                <a:lnTo>
                  <a:pt x="337276" y="294013"/>
                </a:lnTo>
                <a:lnTo>
                  <a:pt x="327774" y="306562"/>
                </a:lnTo>
                <a:lnTo>
                  <a:pt x="325499" y="308933"/>
                </a:lnTo>
                <a:lnTo>
                  <a:pt x="331135" y="314060"/>
                </a:lnTo>
                <a:lnTo>
                  <a:pt x="333874" y="311128"/>
                </a:lnTo>
                <a:lnTo>
                  <a:pt x="343786" y="297972"/>
                </a:lnTo>
                <a:lnTo>
                  <a:pt x="351801" y="284791"/>
                </a:lnTo>
                <a:lnTo>
                  <a:pt x="345290" y="280832"/>
                </a:lnTo>
                <a:close/>
              </a:path>
              <a:path w="403225" h="403860">
                <a:moveTo>
                  <a:pt x="309449" y="344553"/>
                </a:moveTo>
                <a:lnTo>
                  <a:pt x="301875" y="350212"/>
                </a:lnTo>
                <a:lnTo>
                  <a:pt x="287101" y="359161"/>
                </a:lnTo>
                <a:lnTo>
                  <a:pt x="277507" y="363758"/>
                </a:lnTo>
                <a:lnTo>
                  <a:pt x="287421" y="384356"/>
                </a:lnTo>
                <a:lnTo>
                  <a:pt x="298963" y="378702"/>
                </a:lnTo>
                <a:lnTo>
                  <a:pt x="315558" y="368526"/>
                </a:lnTo>
                <a:lnTo>
                  <a:pt x="323132" y="362866"/>
                </a:lnTo>
                <a:lnTo>
                  <a:pt x="309449" y="344553"/>
                </a:lnTo>
                <a:close/>
              </a:path>
              <a:path w="403225" h="403860">
                <a:moveTo>
                  <a:pt x="300328" y="332345"/>
                </a:moveTo>
                <a:lnTo>
                  <a:pt x="292754" y="338004"/>
                </a:lnTo>
                <a:lnTo>
                  <a:pt x="279192" y="346133"/>
                </a:lnTo>
                <a:lnTo>
                  <a:pt x="270898" y="350025"/>
                </a:lnTo>
                <a:lnTo>
                  <a:pt x="274203" y="356891"/>
                </a:lnTo>
                <a:lnTo>
                  <a:pt x="283146" y="352647"/>
                </a:lnTo>
                <a:lnTo>
                  <a:pt x="297314" y="344109"/>
                </a:lnTo>
                <a:lnTo>
                  <a:pt x="304888" y="338449"/>
                </a:lnTo>
                <a:lnTo>
                  <a:pt x="300328" y="332345"/>
                </a:lnTo>
                <a:close/>
              </a:path>
              <a:path w="403225" h="403860">
                <a:moveTo>
                  <a:pt x="242290" y="375918"/>
                </a:moveTo>
                <a:lnTo>
                  <a:pt x="237815" y="377069"/>
                </a:lnTo>
                <a:lnTo>
                  <a:pt x="220030" y="379761"/>
                </a:lnTo>
                <a:lnTo>
                  <a:pt x="205320" y="380484"/>
                </a:lnTo>
                <a:lnTo>
                  <a:pt x="206472" y="403315"/>
                </a:lnTo>
                <a:lnTo>
                  <a:pt x="223476" y="402360"/>
                </a:lnTo>
                <a:lnTo>
                  <a:pt x="243503" y="399210"/>
                </a:lnTo>
                <a:lnTo>
                  <a:pt x="247978" y="398059"/>
                </a:lnTo>
                <a:lnTo>
                  <a:pt x="242290" y="375918"/>
                </a:lnTo>
                <a:close/>
              </a:path>
              <a:path w="403225" h="403860">
                <a:moveTo>
                  <a:pt x="238498" y="361158"/>
                </a:moveTo>
                <a:lnTo>
                  <a:pt x="234022" y="362308"/>
                </a:lnTo>
                <a:lnTo>
                  <a:pt x="217732" y="364695"/>
                </a:lnTo>
                <a:lnTo>
                  <a:pt x="204552" y="365263"/>
                </a:lnTo>
                <a:lnTo>
                  <a:pt x="204937" y="372874"/>
                </a:lnTo>
                <a:lnTo>
                  <a:pt x="218881" y="372228"/>
                </a:lnTo>
                <a:lnTo>
                  <a:pt x="235919" y="369688"/>
                </a:lnTo>
                <a:lnTo>
                  <a:pt x="240394" y="368538"/>
                </a:lnTo>
                <a:lnTo>
                  <a:pt x="238498" y="361158"/>
                </a:lnTo>
                <a:close/>
              </a:path>
              <a:path w="403225" h="403860">
                <a:moveTo>
                  <a:pt x="132487" y="366701"/>
                </a:moveTo>
                <a:lnTo>
                  <a:pt x="124636" y="388170"/>
                </a:lnTo>
                <a:lnTo>
                  <a:pt x="142783" y="394707"/>
                </a:lnTo>
                <a:lnTo>
                  <a:pt x="162177" y="399591"/>
                </a:lnTo>
                <a:lnTo>
                  <a:pt x="164749" y="399983"/>
                </a:lnTo>
                <a:lnTo>
                  <a:pt x="168196" y="377384"/>
                </a:lnTo>
                <a:lnTo>
                  <a:pt x="165624" y="376993"/>
                </a:lnTo>
                <a:lnTo>
                  <a:pt x="148471" y="372565"/>
                </a:lnTo>
                <a:lnTo>
                  <a:pt x="132487" y="366701"/>
                </a:lnTo>
                <a:close/>
              </a:path>
              <a:path w="403225" h="403860">
                <a:moveTo>
                  <a:pt x="137721" y="352388"/>
                </a:moveTo>
                <a:lnTo>
                  <a:pt x="135103" y="359544"/>
                </a:lnTo>
                <a:lnTo>
                  <a:pt x="150368" y="365185"/>
                </a:lnTo>
                <a:lnTo>
                  <a:pt x="166772" y="369459"/>
                </a:lnTo>
                <a:lnTo>
                  <a:pt x="169344" y="369851"/>
                </a:lnTo>
                <a:lnTo>
                  <a:pt x="170493" y="362319"/>
                </a:lnTo>
                <a:lnTo>
                  <a:pt x="167921" y="361927"/>
                </a:lnTo>
                <a:lnTo>
                  <a:pt x="152262" y="357805"/>
                </a:lnTo>
                <a:lnTo>
                  <a:pt x="137721" y="352388"/>
                </a:lnTo>
                <a:close/>
              </a:path>
              <a:path w="403225" h="403860">
                <a:moveTo>
                  <a:pt x="71899" y="324531"/>
                </a:moveTo>
                <a:lnTo>
                  <a:pt x="54989" y="339914"/>
                </a:lnTo>
                <a:lnTo>
                  <a:pt x="59783" y="345056"/>
                </a:lnTo>
                <a:lnTo>
                  <a:pt x="74175" y="358007"/>
                </a:lnTo>
                <a:lnTo>
                  <a:pt x="86466" y="367190"/>
                </a:lnTo>
                <a:lnTo>
                  <a:pt x="100148" y="348876"/>
                </a:lnTo>
                <a:lnTo>
                  <a:pt x="87858" y="339694"/>
                </a:lnTo>
                <a:lnTo>
                  <a:pt x="75152" y="328132"/>
                </a:lnTo>
                <a:lnTo>
                  <a:pt x="71899" y="324531"/>
                </a:lnTo>
                <a:close/>
              </a:path>
              <a:path w="403225" h="403860">
                <a:moveTo>
                  <a:pt x="83173" y="314276"/>
                </a:moveTo>
                <a:lnTo>
                  <a:pt x="77536" y="319403"/>
                </a:lnTo>
                <a:lnTo>
                  <a:pt x="80274" y="322491"/>
                </a:lnTo>
                <a:lnTo>
                  <a:pt x="92419" y="333589"/>
                </a:lnTo>
                <a:lnTo>
                  <a:pt x="104708" y="342773"/>
                </a:lnTo>
                <a:lnTo>
                  <a:pt x="109270" y="336668"/>
                </a:lnTo>
                <a:lnTo>
                  <a:pt x="96979" y="327486"/>
                </a:lnTo>
                <a:lnTo>
                  <a:pt x="85397" y="316849"/>
                </a:lnTo>
                <a:lnTo>
                  <a:pt x="83173" y="314276"/>
                </a:lnTo>
                <a:close/>
              </a:path>
              <a:path w="403225" h="403860">
                <a:moveTo>
                  <a:pt x="33211" y="261289"/>
                </a:moveTo>
                <a:lnTo>
                  <a:pt x="11747" y="269152"/>
                </a:lnTo>
                <a:lnTo>
                  <a:pt x="16238" y="281146"/>
                </a:lnTo>
                <a:lnTo>
                  <a:pt x="24822" y="298742"/>
                </a:lnTo>
                <a:lnTo>
                  <a:pt x="29719" y="306797"/>
                </a:lnTo>
                <a:lnTo>
                  <a:pt x="49251" y="294921"/>
                </a:lnTo>
                <a:lnTo>
                  <a:pt x="44354" y="286866"/>
                </a:lnTo>
                <a:lnTo>
                  <a:pt x="36830" y="271218"/>
                </a:lnTo>
                <a:lnTo>
                  <a:pt x="33211" y="261289"/>
                </a:lnTo>
                <a:close/>
              </a:path>
              <a:path w="403225" h="403860">
                <a:moveTo>
                  <a:pt x="47522" y="256047"/>
                </a:moveTo>
                <a:lnTo>
                  <a:pt x="40366" y="258668"/>
                </a:lnTo>
                <a:lnTo>
                  <a:pt x="43693" y="267909"/>
                </a:lnTo>
                <a:lnTo>
                  <a:pt x="50864" y="282906"/>
                </a:lnTo>
                <a:lnTo>
                  <a:pt x="55763" y="290962"/>
                </a:lnTo>
                <a:lnTo>
                  <a:pt x="62274" y="287003"/>
                </a:lnTo>
                <a:lnTo>
                  <a:pt x="57376" y="278947"/>
                </a:lnTo>
                <a:lnTo>
                  <a:pt x="50557" y="264599"/>
                </a:lnTo>
                <a:lnTo>
                  <a:pt x="47522" y="2560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3445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0469" y="1563541"/>
            <a:ext cx="2527430" cy="2557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36967" y="2777662"/>
            <a:ext cx="552450" cy="1718310"/>
          </a:xfrm>
          <a:custGeom>
            <a:avLst/>
            <a:gdLst/>
            <a:ahLst/>
            <a:cxnLst/>
            <a:rect l="l" t="t" r="r" b="b"/>
            <a:pathLst>
              <a:path w="552450" h="1718310">
                <a:moveTo>
                  <a:pt x="0" y="1550453"/>
                </a:moveTo>
                <a:lnTo>
                  <a:pt x="30232" y="1718137"/>
                </a:lnTo>
                <a:lnTo>
                  <a:pt x="120053" y="1621511"/>
                </a:lnTo>
                <a:lnTo>
                  <a:pt x="68872" y="1621511"/>
                </a:lnTo>
                <a:lnTo>
                  <a:pt x="58823" y="1620645"/>
                </a:lnTo>
                <a:lnTo>
                  <a:pt x="49898" y="1615946"/>
                </a:lnTo>
                <a:lnTo>
                  <a:pt x="43682" y="1608451"/>
                </a:lnTo>
                <a:lnTo>
                  <a:pt x="40731" y="1599172"/>
                </a:lnTo>
                <a:lnTo>
                  <a:pt x="41598" y="1589123"/>
                </a:lnTo>
                <a:lnTo>
                  <a:pt x="48747" y="1564749"/>
                </a:lnTo>
                <a:lnTo>
                  <a:pt x="0" y="1550453"/>
                </a:lnTo>
                <a:close/>
              </a:path>
              <a:path w="552450" h="1718310">
                <a:moveTo>
                  <a:pt x="48747" y="1564749"/>
                </a:moveTo>
                <a:lnTo>
                  <a:pt x="41598" y="1589123"/>
                </a:lnTo>
                <a:lnTo>
                  <a:pt x="40731" y="1599172"/>
                </a:lnTo>
                <a:lnTo>
                  <a:pt x="43682" y="1608451"/>
                </a:lnTo>
                <a:lnTo>
                  <a:pt x="49898" y="1615946"/>
                </a:lnTo>
                <a:lnTo>
                  <a:pt x="58823" y="1620645"/>
                </a:lnTo>
                <a:lnTo>
                  <a:pt x="68872" y="1621511"/>
                </a:lnTo>
                <a:lnTo>
                  <a:pt x="78152" y="1618560"/>
                </a:lnTo>
                <a:lnTo>
                  <a:pt x="85647" y="1612344"/>
                </a:lnTo>
                <a:lnTo>
                  <a:pt x="90345" y="1603418"/>
                </a:lnTo>
                <a:lnTo>
                  <a:pt x="97493" y="1579045"/>
                </a:lnTo>
                <a:lnTo>
                  <a:pt x="48747" y="1564749"/>
                </a:lnTo>
                <a:close/>
              </a:path>
              <a:path w="552450" h="1718310">
                <a:moveTo>
                  <a:pt x="97493" y="1579045"/>
                </a:moveTo>
                <a:lnTo>
                  <a:pt x="90345" y="1603418"/>
                </a:lnTo>
                <a:lnTo>
                  <a:pt x="85647" y="1612344"/>
                </a:lnTo>
                <a:lnTo>
                  <a:pt x="78152" y="1618560"/>
                </a:lnTo>
                <a:lnTo>
                  <a:pt x="68872" y="1621511"/>
                </a:lnTo>
                <a:lnTo>
                  <a:pt x="120053" y="1621511"/>
                </a:lnTo>
                <a:lnTo>
                  <a:pt x="146240" y="1593341"/>
                </a:lnTo>
                <a:lnTo>
                  <a:pt x="97493" y="1579045"/>
                </a:lnTo>
                <a:close/>
              </a:path>
              <a:path w="552450" h="1718310">
                <a:moveTo>
                  <a:pt x="523811" y="0"/>
                </a:moveTo>
                <a:lnTo>
                  <a:pt x="514531" y="2951"/>
                </a:lnTo>
                <a:lnTo>
                  <a:pt x="507036" y="9167"/>
                </a:lnTo>
                <a:lnTo>
                  <a:pt x="502338" y="18092"/>
                </a:lnTo>
                <a:lnTo>
                  <a:pt x="48747" y="1564749"/>
                </a:lnTo>
                <a:lnTo>
                  <a:pt x="97493" y="1579045"/>
                </a:lnTo>
                <a:lnTo>
                  <a:pt x="551086" y="32389"/>
                </a:lnTo>
                <a:lnTo>
                  <a:pt x="551952" y="22339"/>
                </a:lnTo>
                <a:lnTo>
                  <a:pt x="549001" y="13060"/>
                </a:lnTo>
                <a:lnTo>
                  <a:pt x="542785" y="5564"/>
                </a:lnTo>
                <a:lnTo>
                  <a:pt x="533859" y="866"/>
                </a:lnTo>
                <a:lnTo>
                  <a:pt x="523811" y="0"/>
                </a:lnTo>
                <a:close/>
              </a:path>
            </a:pathLst>
          </a:custGeom>
          <a:solidFill>
            <a:srgbClr val="D60093">
              <a:alpha val="490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16" y="4675294"/>
            <a:ext cx="8772083" cy="15315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913" y="4621400"/>
            <a:ext cx="8997315" cy="1778000"/>
          </a:xfrm>
          <a:custGeom>
            <a:avLst/>
            <a:gdLst/>
            <a:ahLst/>
            <a:cxnLst/>
            <a:rect l="l" t="t" r="r" b="b"/>
            <a:pathLst>
              <a:path w="8997315" h="1778000">
                <a:moveTo>
                  <a:pt x="8777482" y="1765299"/>
                </a:moveTo>
                <a:lnTo>
                  <a:pt x="221969" y="1765299"/>
                </a:lnTo>
                <a:lnTo>
                  <a:pt x="252142" y="1777999"/>
                </a:lnTo>
                <a:lnTo>
                  <a:pt x="8747393" y="1777999"/>
                </a:lnTo>
                <a:lnTo>
                  <a:pt x="8777482" y="1765299"/>
                </a:lnTo>
                <a:close/>
              </a:path>
              <a:path w="8997315" h="1778000">
                <a:moveTo>
                  <a:pt x="8745037" y="0"/>
                </a:moveTo>
                <a:lnTo>
                  <a:pt x="249786" y="0"/>
                </a:lnTo>
                <a:lnTo>
                  <a:pt x="219697" y="12699"/>
                </a:lnTo>
                <a:lnTo>
                  <a:pt x="163444" y="38099"/>
                </a:lnTo>
                <a:lnTo>
                  <a:pt x="113486" y="63499"/>
                </a:lnTo>
                <a:lnTo>
                  <a:pt x="71061" y="114299"/>
                </a:lnTo>
                <a:lnTo>
                  <a:pt x="37410" y="165099"/>
                </a:lnTo>
                <a:lnTo>
                  <a:pt x="13805" y="215899"/>
                </a:lnTo>
                <a:lnTo>
                  <a:pt x="1529" y="279399"/>
                </a:lnTo>
                <a:lnTo>
                  <a:pt x="0" y="304799"/>
                </a:lnTo>
                <a:lnTo>
                  <a:pt x="30" y="1473199"/>
                </a:lnTo>
                <a:lnTo>
                  <a:pt x="1773" y="1498599"/>
                </a:lnTo>
                <a:lnTo>
                  <a:pt x="6653" y="1536699"/>
                </a:lnTo>
                <a:lnTo>
                  <a:pt x="14511" y="1562099"/>
                </a:lnTo>
                <a:lnTo>
                  <a:pt x="25188" y="1587499"/>
                </a:lnTo>
                <a:lnTo>
                  <a:pt x="38521" y="1625599"/>
                </a:lnTo>
                <a:lnTo>
                  <a:pt x="54351" y="1650999"/>
                </a:lnTo>
                <a:lnTo>
                  <a:pt x="72520" y="1676399"/>
                </a:lnTo>
                <a:lnTo>
                  <a:pt x="92873" y="1689099"/>
                </a:lnTo>
                <a:lnTo>
                  <a:pt x="115255" y="1714499"/>
                </a:lnTo>
                <a:lnTo>
                  <a:pt x="139512" y="1727199"/>
                </a:lnTo>
                <a:lnTo>
                  <a:pt x="165489" y="1752599"/>
                </a:lnTo>
                <a:lnTo>
                  <a:pt x="193029" y="1765299"/>
                </a:lnTo>
                <a:lnTo>
                  <a:pt x="8806317" y="1765299"/>
                </a:lnTo>
                <a:lnTo>
                  <a:pt x="8820025" y="1752599"/>
                </a:lnTo>
                <a:lnTo>
                  <a:pt x="256487" y="1752599"/>
                </a:lnTo>
                <a:lnTo>
                  <a:pt x="229141" y="1739899"/>
                </a:lnTo>
                <a:lnTo>
                  <a:pt x="202928" y="1727199"/>
                </a:lnTo>
                <a:lnTo>
                  <a:pt x="177988" y="1727199"/>
                </a:lnTo>
                <a:lnTo>
                  <a:pt x="154465" y="1701799"/>
                </a:lnTo>
                <a:lnTo>
                  <a:pt x="112243" y="1676399"/>
                </a:lnTo>
                <a:lnTo>
                  <a:pt x="77416" y="1625599"/>
                </a:lnTo>
                <a:lnTo>
                  <a:pt x="51134" y="1574799"/>
                </a:lnTo>
                <a:lnTo>
                  <a:pt x="34545" y="1523999"/>
                </a:lnTo>
                <a:lnTo>
                  <a:pt x="28793" y="1473199"/>
                </a:lnTo>
                <a:lnTo>
                  <a:pt x="28799" y="304799"/>
                </a:lnTo>
                <a:lnTo>
                  <a:pt x="34642" y="253999"/>
                </a:lnTo>
                <a:lnTo>
                  <a:pt x="51317" y="203199"/>
                </a:lnTo>
                <a:lnTo>
                  <a:pt x="77674" y="152399"/>
                </a:lnTo>
                <a:lnTo>
                  <a:pt x="112567" y="101599"/>
                </a:lnTo>
                <a:lnTo>
                  <a:pt x="154847" y="76199"/>
                </a:lnTo>
                <a:lnTo>
                  <a:pt x="203361" y="50799"/>
                </a:lnTo>
                <a:lnTo>
                  <a:pt x="256958" y="25399"/>
                </a:lnTo>
                <a:lnTo>
                  <a:pt x="8804149" y="25399"/>
                </a:lnTo>
                <a:lnTo>
                  <a:pt x="8775210" y="12699"/>
                </a:lnTo>
                <a:lnTo>
                  <a:pt x="8745037" y="0"/>
                </a:lnTo>
                <a:close/>
              </a:path>
              <a:path w="8997315" h="1778000">
                <a:moveTo>
                  <a:pt x="8804149" y="25399"/>
                </a:moveTo>
                <a:lnTo>
                  <a:pt x="8740691" y="25399"/>
                </a:lnTo>
                <a:lnTo>
                  <a:pt x="8768038" y="38099"/>
                </a:lnTo>
                <a:lnTo>
                  <a:pt x="8794251" y="50799"/>
                </a:lnTo>
                <a:lnTo>
                  <a:pt x="8842714" y="76199"/>
                </a:lnTo>
                <a:lnTo>
                  <a:pt x="8884935" y="101599"/>
                </a:lnTo>
                <a:lnTo>
                  <a:pt x="8919762" y="152399"/>
                </a:lnTo>
                <a:lnTo>
                  <a:pt x="8946045" y="203199"/>
                </a:lnTo>
                <a:lnTo>
                  <a:pt x="8962632" y="253999"/>
                </a:lnTo>
                <a:lnTo>
                  <a:pt x="8968384" y="304799"/>
                </a:lnTo>
                <a:lnTo>
                  <a:pt x="8968378" y="1473199"/>
                </a:lnTo>
                <a:lnTo>
                  <a:pt x="8966886" y="1498599"/>
                </a:lnTo>
                <a:lnTo>
                  <a:pt x="8962536" y="1523999"/>
                </a:lnTo>
                <a:lnTo>
                  <a:pt x="8955480" y="1549399"/>
                </a:lnTo>
                <a:lnTo>
                  <a:pt x="8945861" y="1587499"/>
                </a:lnTo>
                <a:lnTo>
                  <a:pt x="8933821" y="1600199"/>
                </a:lnTo>
                <a:lnTo>
                  <a:pt x="8919504" y="1625599"/>
                </a:lnTo>
                <a:lnTo>
                  <a:pt x="8903053" y="1650999"/>
                </a:lnTo>
                <a:lnTo>
                  <a:pt x="8884611" y="1676399"/>
                </a:lnTo>
                <a:lnTo>
                  <a:pt x="8864323" y="1689099"/>
                </a:lnTo>
                <a:lnTo>
                  <a:pt x="8842330" y="1701799"/>
                </a:lnTo>
                <a:lnTo>
                  <a:pt x="8818781" y="1727199"/>
                </a:lnTo>
                <a:lnTo>
                  <a:pt x="8793818" y="1727199"/>
                </a:lnTo>
                <a:lnTo>
                  <a:pt x="8767582" y="1739899"/>
                </a:lnTo>
                <a:lnTo>
                  <a:pt x="8740220" y="1752599"/>
                </a:lnTo>
                <a:lnTo>
                  <a:pt x="8820025" y="1752599"/>
                </a:lnTo>
                <a:lnTo>
                  <a:pt x="8833734" y="1739899"/>
                </a:lnTo>
                <a:lnTo>
                  <a:pt x="8859578" y="1727199"/>
                </a:lnTo>
                <a:lnTo>
                  <a:pt x="8883692" y="1714499"/>
                </a:lnTo>
                <a:lnTo>
                  <a:pt x="8905924" y="1689099"/>
                </a:lnTo>
                <a:lnTo>
                  <a:pt x="8926119" y="1663699"/>
                </a:lnTo>
                <a:lnTo>
                  <a:pt x="8944118" y="1650999"/>
                </a:lnTo>
                <a:lnTo>
                  <a:pt x="8959767" y="1612899"/>
                </a:lnTo>
                <a:lnTo>
                  <a:pt x="8972907" y="1587499"/>
                </a:lnTo>
                <a:lnTo>
                  <a:pt x="8983373" y="1562099"/>
                </a:lnTo>
                <a:lnTo>
                  <a:pt x="8991007" y="1536699"/>
                </a:lnTo>
                <a:lnTo>
                  <a:pt x="8995648" y="1498599"/>
                </a:lnTo>
                <a:lnTo>
                  <a:pt x="8997179" y="1473199"/>
                </a:lnTo>
                <a:lnTo>
                  <a:pt x="8997147" y="304799"/>
                </a:lnTo>
                <a:lnTo>
                  <a:pt x="8995405" y="279399"/>
                </a:lnTo>
                <a:lnTo>
                  <a:pt x="8990525" y="241299"/>
                </a:lnTo>
                <a:lnTo>
                  <a:pt x="8982667" y="215899"/>
                </a:lnTo>
                <a:lnTo>
                  <a:pt x="8971990" y="190499"/>
                </a:lnTo>
                <a:lnTo>
                  <a:pt x="8958657" y="152399"/>
                </a:lnTo>
                <a:lnTo>
                  <a:pt x="8942827" y="126999"/>
                </a:lnTo>
                <a:lnTo>
                  <a:pt x="8924658" y="114299"/>
                </a:lnTo>
                <a:lnTo>
                  <a:pt x="8904305" y="88899"/>
                </a:lnTo>
                <a:lnTo>
                  <a:pt x="8881924" y="63499"/>
                </a:lnTo>
                <a:lnTo>
                  <a:pt x="8857667" y="50799"/>
                </a:lnTo>
                <a:lnTo>
                  <a:pt x="8831689" y="38099"/>
                </a:lnTo>
                <a:lnTo>
                  <a:pt x="8804149" y="25399"/>
                </a:lnTo>
                <a:close/>
              </a:path>
              <a:path w="8997315" h="1778000">
                <a:moveTo>
                  <a:pt x="259384" y="1727199"/>
                </a:moveTo>
                <a:lnTo>
                  <a:pt x="231532" y="1727199"/>
                </a:lnTo>
                <a:lnTo>
                  <a:pt x="257935" y="1739899"/>
                </a:lnTo>
                <a:lnTo>
                  <a:pt x="285793" y="1739899"/>
                </a:lnTo>
                <a:lnTo>
                  <a:pt x="259384" y="1727199"/>
                </a:lnTo>
                <a:close/>
              </a:path>
              <a:path w="8997315" h="1778000">
                <a:moveTo>
                  <a:pt x="8790951" y="50799"/>
                </a:moveTo>
                <a:lnTo>
                  <a:pt x="8763255" y="50799"/>
                </a:lnTo>
                <a:lnTo>
                  <a:pt x="8787652" y="63499"/>
                </a:lnTo>
                <a:lnTo>
                  <a:pt x="8810857" y="76199"/>
                </a:lnTo>
                <a:lnTo>
                  <a:pt x="8832744" y="88899"/>
                </a:lnTo>
                <a:lnTo>
                  <a:pt x="8853177" y="101599"/>
                </a:lnTo>
                <a:lnTo>
                  <a:pt x="8872022" y="126999"/>
                </a:lnTo>
                <a:lnTo>
                  <a:pt x="8889136" y="139699"/>
                </a:lnTo>
                <a:lnTo>
                  <a:pt x="8904385" y="165099"/>
                </a:lnTo>
                <a:lnTo>
                  <a:pt x="8917634" y="177799"/>
                </a:lnTo>
                <a:lnTo>
                  <a:pt x="8928746" y="203199"/>
                </a:lnTo>
                <a:lnTo>
                  <a:pt x="8937590" y="228599"/>
                </a:lnTo>
                <a:lnTo>
                  <a:pt x="8944037" y="253999"/>
                </a:lnTo>
                <a:lnTo>
                  <a:pt x="8947954" y="279399"/>
                </a:lnTo>
                <a:lnTo>
                  <a:pt x="8949210" y="304799"/>
                </a:lnTo>
                <a:lnTo>
                  <a:pt x="8949178" y="1473199"/>
                </a:lnTo>
                <a:lnTo>
                  <a:pt x="8943557" y="1523999"/>
                </a:lnTo>
                <a:lnTo>
                  <a:pt x="8927830" y="1574799"/>
                </a:lnTo>
                <a:lnTo>
                  <a:pt x="8903095" y="1625599"/>
                </a:lnTo>
                <a:lnTo>
                  <a:pt x="8887677" y="1638299"/>
                </a:lnTo>
                <a:lnTo>
                  <a:pt x="8870402" y="1663699"/>
                </a:lnTo>
                <a:lnTo>
                  <a:pt x="8830832" y="1689099"/>
                </a:lnTo>
                <a:lnTo>
                  <a:pt x="8785484" y="1714499"/>
                </a:lnTo>
                <a:lnTo>
                  <a:pt x="8760983" y="1727199"/>
                </a:lnTo>
                <a:lnTo>
                  <a:pt x="8735438" y="1727199"/>
                </a:lnTo>
                <a:lnTo>
                  <a:pt x="8708974" y="1739899"/>
                </a:lnTo>
                <a:lnTo>
                  <a:pt x="8764284" y="1739899"/>
                </a:lnTo>
                <a:lnTo>
                  <a:pt x="8789651" y="1727199"/>
                </a:lnTo>
                <a:lnTo>
                  <a:pt x="8813796" y="1714499"/>
                </a:lnTo>
                <a:lnTo>
                  <a:pt x="8836581" y="1701799"/>
                </a:lnTo>
                <a:lnTo>
                  <a:pt x="8857865" y="1689099"/>
                </a:lnTo>
                <a:lnTo>
                  <a:pt x="8877507" y="1663699"/>
                </a:lnTo>
                <a:lnTo>
                  <a:pt x="8895365" y="1650999"/>
                </a:lnTo>
                <a:lnTo>
                  <a:pt x="8925172" y="1600199"/>
                </a:lnTo>
                <a:lnTo>
                  <a:pt x="8946182" y="1549399"/>
                </a:lnTo>
                <a:lnTo>
                  <a:pt x="8957297" y="1498599"/>
                </a:lnTo>
                <a:lnTo>
                  <a:pt x="8958797" y="304799"/>
                </a:lnTo>
                <a:lnTo>
                  <a:pt x="8957444" y="279399"/>
                </a:lnTo>
                <a:lnTo>
                  <a:pt x="8946605" y="228599"/>
                </a:lnTo>
                <a:lnTo>
                  <a:pt x="8925838" y="177799"/>
                </a:lnTo>
                <a:lnTo>
                  <a:pt x="8896242" y="139699"/>
                </a:lnTo>
                <a:lnTo>
                  <a:pt x="8878478" y="114299"/>
                </a:lnTo>
                <a:lnTo>
                  <a:pt x="8858927" y="101599"/>
                </a:lnTo>
                <a:lnTo>
                  <a:pt x="8837728" y="76199"/>
                </a:lnTo>
                <a:lnTo>
                  <a:pt x="8815023" y="63499"/>
                </a:lnTo>
                <a:lnTo>
                  <a:pt x="8790951" y="50799"/>
                </a:lnTo>
                <a:close/>
              </a:path>
              <a:path w="8997315" h="1778000">
                <a:moveTo>
                  <a:pt x="236195" y="50799"/>
                </a:moveTo>
                <a:lnTo>
                  <a:pt x="207527" y="50799"/>
                </a:lnTo>
                <a:lnTo>
                  <a:pt x="183382" y="63499"/>
                </a:lnTo>
                <a:lnTo>
                  <a:pt x="160597" y="76199"/>
                </a:lnTo>
                <a:lnTo>
                  <a:pt x="139313" y="101599"/>
                </a:lnTo>
                <a:lnTo>
                  <a:pt x="119671" y="114299"/>
                </a:lnTo>
                <a:lnTo>
                  <a:pt x="85878" y="152399"/>
                </a:lnTo>
                <a:lnTo>
                  <a:pt x="60332" y="203199"/>
                </a:lnTo>
                <a:lnTo>
                  <a:pt x="44132" y="253999"/>
                </a:lnTo>
                <a:lnTo>
                  <a:pt x="38399" y="304799"/>
                </a:lnTo>
                <a:lnTo>
                  <a:pt x="38381" y="1473199"/>
                </a:lnTo>
                <a:lnTo>
                  <a:pt x="39733" y="1498599"/>
                </a:lnTo>
                <a:lnTo>
                  <a:pt x="50572" y="1549399"/>
                </a:lnTo>
                <a:lnTo>
                  <a:pt x="71339" y="1600199"/>
                </a:lnTo>
                <a:lnTo>
                  <a:pt x="100937" y="1650999"/>
                </a:lnTo>
                <a:lnTo>
                  <a:pt x="138251" y="1676399"/>
                </a:lnTo>
                <a:lnTo>
                  <a:pt x="159449" y="1701799"/>
                </a:lnTo>
                <a:lnTo>
                  <a:pt x="182154" y="1714499"/>
                </a:lnTo>
                <a:lnTo>
                  <a:pt x="206227" y="1727199"/>
                </a:lnTo>
                <a:lnTo>
                  <a:pt x="233922" y="1727199"/>
                </a:lnTo>
                <a:lnTo>
                  <a:pt x="209527" y="1714499"/>
                </a:lnTo>
                <a:lnTo>
                  <a:pt x="186321" y="1701799"/>
                </a:lnTo>
                <a:lnTo>
                  <a:pt x="144000" y="1676399"/>
                </a:lnTo>
                <a:lnTo>
                  <a:pt x="108042" y="1638299"/>
                </a:lnTo>
                <a:lnTo>
                  <a:pt x="92792" y="1612899"/>
                </a:lnTo>
                <a:lnTo>
                  <a:pt x="79544" y="1600199"/>
                </a:lnTo>
                <a:lnTo>
                  <a:pt x="59587" y="1549399"/>
                </a:lnTo>
                <a:lnTo>
                  <a:pt x="49223" y="1498599"/>
                </a:lnTo>
                <a:lnTo>
                  <a:pt x="47969" y="1473199"/>
                </a:lnTo>
                <a:lnTo>
                  <a:pt x="47999" y="304799"/>
                </a:lnTo>
                <a:lnTo>
                  <a:pt x="53622" y="253999"/>
                </a:lnTo>
                <a:lnTo>
                  <a:pt x="69348" y="203199"/>
                </a:lnTo>
                <a:lnTo>
                  <a:pt x="94083" y="165099"/>
                </a:lnTo>
                <a:lnTo>
                  <a:pt x="109501" y="139699"/>
                </a:lnTo>
                <a:lnTo>
                  <a:pt x="145770" y="101599"/>
                </a:lnTo>
                <a:lnTo>
                  <a:pt x="188366" y="76199"/>
                </a:lnTo>
                <a:lnTo>
                  <a:pt x="211694" y="63499"/>
                </a:lnTo>
                <a:lnTo>
                  <a:pt x="236195" y="50799"/>
                </a:lnTo>
                <a:close/>
              </a:path>
              <a:path w="8997315" h="1778000">
                <a:moveTo>
                  <a:pt x="288204" y="38099"/>
                </a:moveTo>
                <a:lnTo>
                  <a:pt x="259349" y="38099"/>
                </a:lnTo>
                <a:lnTo>
                  <a:pt x="232895" y="50799"/>
                </a:lnTo>
                <a:lnTo>
                  <a:pt x="261739" y="50799"/>
                </a:lnTo>
                <a:lnTo>
                  <a:pt x="288204" y="38099"/>
                </a:lnTo>
                <a:close/>
              </a:path>
              <a:path w="8997315" h="1778000">
                <a:moveTo>
                  <a:pt x="8739242" y="38099"/>
                </a:moveTo>
                <a:lnTo>
                  <a:pt x="8711386" y="38099"/>
                </a:lnTo>
                <a:lnTo>
                  <a:pt x="8737794" y="50799"/>
                </a:lnTo>
                <a:lnTo>
                  <a:pt x="8765646" y="50799"/>
                </a:lnTo>
                <a:lnTo>
                  <a:pt x="8739242" y="38099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565264" y="1890776"/>
            <a:ext cx="5087620" cy="18237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67030" marR="1518920" indent="-354965">
              <a:lnSpc>
                <a:spcPts val="3190"/>
              </a:lnSpc>
              <a:spcBef>
                <a:spcPts val="245"/>
              </a:spcBef>
            </a:pPr>
            <a:r>
              <a:rPr dirty="0" sz="2700" spc="-15" b="1">
                <a:solidFill>
                  <a:srgbClr val="D60093"/>
                </a:solidFill>
                <a:latin typeface="Calibri"/>
                <a:cs typeface="Calibri"/>
              </a:rPr>
              <a:t>(4) </a:t>
            </a:r>
            <a:r>
              <a:rPr dirty="0" sz="2700" spc="-35" b="1">
                <a:solidFill>
                  <a:srgbClr val="D60093"/>
                </a:solidFill>
                <a:latin typeface="Calibri"/>
                <a:cs typeface="Calibri"/>
              </a:rPr>
              <a:t>Generate</a:t>
            </a:r>
            <a:r>
              <a:rPr dirty="0" sz="2700" spc="-10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D60093"/>
                </a:solidFill>
                <a:latin typeface="Calibri"/>
                <a:cs typeface="Calibri"/>
              </a:rPr>
              <a:t>embeddings  for </a:t>
            </a:r>
            <a:r>
              <a:rPr dirty="0" sz="2700" spc="-20" b="1">
                <a:solidFill>
                  <a:srgbClr val="D60093"/>
                </a:solidFill>
                <a:latin typeface="Calibri"/>
                <a:cs typeface="Calibri"/>
              </a:rPr>
              <a:t>nodes </a:t>
            </a:r>
            <a:r>
              <a:rPr dirty="0" sz="2700" spc="-15" b="1">
                <a:solidFill>
                  <a:srgbClr val="D60093"/>
                </a:solidFill>
                <a:latin typeface="Calibri"/>
                <a:cs typeface="Calibri"/>
              </a:rPr>
              <a:t>as</a:t>
            </a:r>
            <a:r>
              <a:rPr dirty="0" sz="2700" spc="-9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D60093"/>
                </a:solidFill>
                <a:latin typeface="Calibri"/>
                <a:cs typeface="Calibri"/>
              </a:rPr>
              <a:t>needed</a:t>
            </a:r>
            <a:endParaRPr sz="2700">
              <a:latin typeface="Calibri"/>
              <a:cs typeface="Calibri"/>
            </a:endParaRPr>
          </a:p>
          <a:p>
            <a:pPr marL="2570480" marR="5080" indent="-940435">
              <a:lnSpc>
                <a:spcPts val="3190"/>
              </a:lnSpc>
              <a:spcBef>
                <a:spcPts val="1340"/>
              </a:spcBef>
            </a:pPr>
            <a:r>
              <a:rPr dirty="0" sz="2700" spc="-40" b="1">
                <a:solidFill>
                  <a:srgbClr val="0070C0"/>
                </a:solidFill>
                <a:latin typeface="Calibri"/>
                <a:cs typeface="Calibri"/>
              </a:rPr>
              <a:t>Even </a:t>
            </a:r>
            <a:r>
              <a:rPr dirty="0" sz="2700" spc="-20" b="1">
                <a:solidFill>
                  <a:srgbClr val="0070C0"/>
                </a:solidFill>
                <a:latin typeface="Calibri"/>
                <a:cs typeface="Calibri"/>
              </a:rPr>
              <a:t>for nodes </a:t>
            </a:r>
            <a:r>
              <a:rPr dirty="0" sz="2700" spc="-25" b="1">
                <a:solidFill>
                  <a:srgbClr val="0070C0"/>
                </a:solidFill>
                <a:latin typeface="Calibri"/>
                <a:cs typeface="Calibri"/>
              </a:rPr>
              <a:t>we</a:t>
            </a:r>
            <a:r>
              <a:rPr dirty="0" sz="2700" spc="-1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0070C0"/>
                </a:solidFill>
                <a:latin typeface="Calibri"/>
                <a:cs typeface="Calibri"/>
              </a:rPr>
              <a:t>never  trained</a:t>
            </a:r>
            <a:r>
              <a:rPr dirty="0" sz="2700" spc="-13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700" spc="-15" b="1">
                <a:solidFill>
                  <a:srgbClr val="0070C0"/>
                </a:solidFill>
                <a:latin typeface="Calibri"/>
                <a:cs typeface="Calibri"/>
              </a:rPr>
              <a:t>on!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29319" y="4672720"/>
            <a:ext cx="3854450" cy="1676400"/>
          </a:xfrm>
          <a:custGeom>
            <a:avLst/>
            <a:gdLst/>
            <a:ahLst/>
            <a:cxnLst/>
            <a:rect l="l" t="t" r="r" b="b"/>
            <a:pathLst>
              <a:path w="3854450" h="1676400">
                <a:moveTo>
                  <a:pt x="3646934" y="1663700"/>
                </a:moveTo>
                <a:lnTo>
                  <a:pt x="209304" y="1663700"/>
                </a:lnTo>
                <a:lnTo>
                  <a:pt x="237750" y="1676400"/>
                </a:lnTo>
                <a:lnTo>
                  <a:pt x="3618572" y="1676400"/>
                </a:lnTo>
                <a:lnTo>
                  <a:pt x="3646934" y="1663700"/>
                </a:lnTo>
                <a:close/>
              </a:path>
              <a:path w="3854450" h="1676400">
                <a:moveTo>
                  <a:pt x="3644662" y="12700"/>
                </a:moveTo>
                <a:lnTo>
                  <a:pt x="207032" y="12700"/>
                </a:lnTo>
                <a:lnTo>
                  <a:pt x="179853" y="25400"/>
                </a:lnTo>
                <a:lnTo>
                  <a:pt x="129653" y="50800"/>
                </a:lnTo>
                <a:lnTo>
                  <a:pt x="85975" y="88900"/>
                </a:lnTo>
                <a:lnTo>
                  <a:pt x="66944" y="114300"/>
                </a:lnTo>
                <a:lnTo>
                  <a:pt x="49982" y="127000"/>
                </a:lnTo>
                <a:lnTo>
                  <a:pt x="35234" y="152400"/>
                </a:lnTo>
                <a:lnTo>
                  <a:pt x="22854" y="177800"/>
                </a:lnTo>
                <a:lnTo>
                  <a:pt x="12994" y="215900"/>
                </a:lnTo>
                <a:lnTo>
                  <a:pt x="5805" y="241300"/>
                </a:lnTo>
                <a:lnTo>
                  <a:pt x="1435" y="266700"/>
                </a:lnTo>
                <a:lnTo>
                  <a:pt x="0" y="292100"/>
                </a:lnTo>
                <a:lnTo>
                  <a:pt x="30" y="1384300"/>
                </a:lnTo>
                <a:lnTo>
                  <a:pt x="1680" y="1422400"/>
                </a:lnTo>
                <a:lnTo>
                  <a:pt x="13700" y="1473200"/>
                </a:lnTo>
                <a:lnTo>
                  <a:pt x="36346" y="1524000"/>
                </a:lnTo>
                <a:lnTo>
                  <a:pt x="68404" y="1574800"/>
                </a:lnTo>
                <a:lnTo>
                  <a:pt x="108695" y="1612900"/>
                </a:lnTo>
                <a:lnTo>
                  <a:pt x="131565" y="1638300"/>
                </a:lnTo>
                <a:lnTo>
                  <a:pt x="156056" y="1651000"/>
                </a:lnTo>
                <a:lnTo>
                  <a:pt x="182020" y="1663700"/>
                </a:lnTo>
                <a:lnTo>
                  <a:pt x="3674113" y="1663700"/>
                </a:lnTo>
                <a:lnTo>
                  <a:pt x="3699955" y="1651000"/>
                </a:lnTo>
                <a:lnTo>
                  <a:pt x="242095" y="1651000"/>
                </a:lnTo>
                <a:lnTo>
                  <a:pt x="216476" y="1638300"/>
                </a:lnTo>
                <a:lnTo>
                  <a:pt x="191919" y="1638300"/>
                </a:lnTo>
                <a:lnTo>
                  <a:pt x="168555" y="1625600"/>
                </a:lnTo>
                <a:lnTo>
                  <a:pt x="146518" y="1612900"/>
                </a:lnTo>
                <a:lnTo>
                  <a:pt x="125943" y="1587500"/>
                </a:lnTo>
                <a:lnTo>
                  <a:pt x="106964" y="1574800"/>
                </a:lnTo>
                <a:lnTo>
                  <a:pt x="74336" y="1536700"/>
                </a:lnTo>
                <a:lnTo>
                  <a:pt x="49717" y="1485900"/>
                </a:lnTo>
                <a:lnTo>
                  <a:pt x="34179" y="1435100"/>
                </a:lnTo>
                <a:lnTo>
                  <a:pt x="28793" y="1384300"/>
                </a:lnTo>
                <a:lnTo>
                  <a:pt x="28799" y="292100"/>
                </a:lnTo>
                <a:lnTo>
                  <a:pt x="34276" y="241300"/>
                </a:lnTo>
                <a:lnTo>
                  <a:pt x="49900" y="190500"/>
                </a:lnTo>
                <a:lnTo>
                  <a:pt x="74595" y="152400"/>
                </a:lnTo>
                <a:lnTo>
                  <a:pt x="90008" y="127000"/>
                </a:lnTo>
                <a:lnTo>
                  <a:pt x="107288" y="114300"/>
                </a:lnTo>
                <a:lnTo>
                  <a:pt x="126296" y="88900"/>
                </a:lnTo>
                <a:lnTo>
                  <a:pt x="146900" y="76200"/>
                </a:lnTo>
                <a:lnTo>
                  <a:pt x="168964" y="63500"/>
                </a:lnTo>
                <a:lnTo>
                  <a:pt x="192352" y="50800"/>
                </a:lnTo>
                <a:lnTo>
                  <a:pt x="216931" y="38100"/>
                </a:lnTo>
                <a:lnTo>
                  <a:pt x="242566" y="38100"/>
                </a:lnTo>
                <a:lnTo>
                  <a:pt x="269125" y="25400"/>
                </a:lnTo>
                <a:lnTo>
                  <a:pt x="3671947" y="25400"/>
                </a:lnTo>
                <a:lnTo>
                  <a:pt x="3644662" y="12700"/>
                </a:lnTo>
                <a:close/>
              </a:path>
              <a:path w="3854450" h="1676400">
                <a:moveTo>
                  <a:pt x="3671947" y="25400"/>
                </a:moveTo>
                <a:lnTo>
                  <a:pt x="3585323" y="25400"/>
                </a:lnTo>
                <a:lnTo>
                  <a:pt x="3611872" y="38100"/>
                </a:lnTo>
                <a:lnTo>
                  <a:pt x="3637490" y="38100"/>
                </a:lnTo>
                <a:lnTo>
                  <a:pt x="3662047" y="50800"/>
                </a:lnTo>
                <a:lnTo>
                  <a:pt x="3685411" y="63500"/>
                </a:lnTo>
                <a:lnTo>
                  <a:pt x="3707448" y="76200"/>
                </a:lnTo>
                <a:lnTo>
                  <a:pt x="3728024" y="88900"/>
                </a:lnTo>
                <a:lnTo>
                  <a:pt x="3747002" y="114300"/>
                </a:lnTo>
                <a:lnTo>
                  <a:pt x="3764249" y="127000"/>
                </a:lnTo>
                <a:lnTo>
                  <a:pt x="3779629" y="152400"/>
                </a:lnTo>
                <a:lnTo>
                  <a:pt x="3793007" y="165100"/>
                </a:lnTo>
                <a:lnTo>
                  <a:pt x="3804249" y="190500"/>
                </a:lnTo>
                <a:lnTo>
                  <a:pt x="3813220" y="215900"/>
                </a:lnTo>
                <a:lnTo>
                  <a:pt x="3819787" y="241300"/>
                </a:lnTo>
                <a:lnTo>
                  <a:pt x="3823817" y="266700"/>
                </a:lnTo>
                <a:lnTo>
                  <a:pt x="3825173" y="292100"/>
                </a:lnTo>
                <a:lnTo>
                  <a:pt x="3825167" y="1384300"/>
                </a:lnTo>
                <a:lnTo>
                  <a:pt x="3819691" y="1435100"/>
                </a:lnTo>
                <a:lnTo>
                  <a:pt x="3804066" y="1485900"/>
                </a:lnTo>
                <a:lnTo>
                  <a:pt x="3779371" y="1536700"/>
                </a:lnTo>
                <a:lnTo>
                  <a:pt x="3746679" y="1574800"/>
                </a:lnTo>
                <a:lnTo>
                  <a:pt x="3727669" y="1587500"/>
                </a:lnTo>
                <a:lnTo>
                  <a:pt x="3707066" y="1612900"/>
                </a:lnTo>
                <a:lnTo>
                  <a:pt x="3685002" y="1625600"/>
                </a:lnTo>
                <a:lnTo>
                  <a:pt x="3661614" y="1638300"/>
                </a:lnTo>
                <a:lnTo>
                  <a:pt x="3637036" y="1638300"/>
                </a:lnTo>
                <a:lnTo>
                  <a:pt x="3611401" y="1651000"/>
                </a:lnTo>
                <a:lnTo>
                  <a:pt x="3699955" y="1651000"/>
                </a:lnTo>
                <a:lnTo>
                  <a:pt x="3724314" y="1625600"/>
                </a:lnTo>
                <a:lnTo>
                  <a:pt x="3747041" y="1612900"/>
                </a:lnTo>
                <a:lnTo>
                  <a:pt x="3787023" y="1574800"/>
                </a:lnTo>
                <a:lnTo>
                  <a:pt x="3818732" y="1524000"/>
                </a:lnTo>
                <a:lnTo>
                  <a:pt x="3840972" y="1473200"/>
                </a:lnTo>
                <a:lnTo>
                  <a:pt x="3852531" y="1409700"/>
                </a:lnTo>
                <a:lnTo>
                  <a:pt x="3853967" y="1384300"/>
                </a:lnTo>
                <a:lnTo>
                  <a:pt x="3853936" y="292100"/>
                </a:lnTo>
                <a:lnTo>
                  <a:pt x="3847680" y="241300"/>
                </a:lnTo>
                <a:lnTo>
                  <a:pt x="3840266" y="203200"/>
                </a:lnTo>
                <a:lnTo>
                  <a:pt x="3817621" y="152400"/>
                </a:lnTo>
                <a:lnTo>
                  <a:pt x="3785562" y="114300"/>
                </a:lnTo>
                <a:lnTo>
                  <a:pt x="3766372" y="88900"/>
                </a:lnTo>
                <a:lnTo>
                  <a:pt x="3745271" y="63500"/>
                </a:lnTo>
                <a:lnTo>
                  <a:pt x="3722401" y="50800"/>
                </a:lnTo>
                <a:lnTo>
                  <a:pt x="3697911" y="38100"/>
                </a:lnTo>
                <a:lnTo>
                  <a:pt x="3671947" y="25400"/>
                </a:lnTo>
                <a:close/>
              </a:path>
              <a:path w="3854450" h="1676400">
                <a:moveTo>
                  <a:pt x="247347" y="50800"/>
                </a:moveTo>
                <a:lnTo>
                  <a:pt x="220230" y="50800"/>
                </a:lnTo>
                <a:lnTo>
                  <a:pt x="196518" y="63500"/>
                </a:lnTo>
                <a:lnTo>
                  <a:pt x="152650" y="88900"/>
                </a:lnTo>
                <a:lnTo>
                  <a:pt x="114392" y="114300"/>
                </a:lnTo>
                <a:lnTo>
                  <a:pt x="82800" y="152400"/>
                </a:lnTo>
                <a:lnTo>
                  <a:pt x="69830" y="177800"/>
                </a:lnTo>
                <a:lnTo>
                  <a:pt x="58916" y="190500"/>
                </a:lnTo>
                <a:lnTo>
                  <a:pt x="43765" y="241300"/>
                </a:lnTo>
                <a:lnTo>
                  <a:pt x="38399" y="292100"/>
                </a:lnTo>
                <a:lnTo>
                  <a:pt x="38381" y="1384300"/>
                </a:lnTo>
                <a:lnTo>
                  <a:pt x="39640" y="1409700"/>
                </a:lnTo>
                <a:lnTo>
                  <a:pt x="49761" y="1460500"/>
                </a:lnTo>
                <a:lnTo>
                  <a:pt x="69164" y="1511300"/>
                </a:lnTo>
                <a:lnTo>
                  <a:pt x="82025" y="1524000"/>
                </a:lnTo>
                <a:lnTo>
                  <a:pt x="96820" y="1549400"/>
                </a:lnTo>
                <a:lnTo>
                  <a:pt x="113421" y="1562100"/>
                </a:lnTo>
                <a:lnTo>
                  <a:pt x="131692" y="1587500"/>
                </a:lnTo>
                <a:lnTo>
                  <a:pt x="151503" y="1600200"/>
                </a:lnTo>
                <a:lnTo>
                  <a:pt x="172721" y="1612900"/>
                </a:lnTo>
                <a:lnTo>
                  <a:pt x="195219" y="1625600"/>
                </a:lnTo>
                <a:lnTo>
                  <a:pt x="218867" y="1638300"/>
                </a:lnTo>
                <a:lnTo>
                  <a:pt x="269612" y="1638300"/>
                </a:lnTo>
                <a:lnTo>
                  <a:pt x="244991" y="1625600"/>
                </a:lnTo>
                <a:lnTo>
                  <a:pt x="221258" y="1625600"/>
                </a:lnTo>
                <a:lnTo>
                  <a:pt x="198518" y="1612900"/>
                </a:lnTo>
                <a:lnTo>
                  <a:pt x="156486" y="1587500"/>
                </a:lnTo>
                <a:lnTo>
                  <a:pt x="119877" y="1562100"/>
                </a:lnTo>
                <a:lnTo>
                  <a:pt x="89714" y="1524000"/>
                </a:lnTo>
                <a:lnTo>
                  <a:pt x="77368" y="1498600"/>
                </a:lnTo>
                <a:lnTo>
                  <a:pt x="67015" y="1485900"/>
                </a:lnTo>
                <a:lnTo>
                  <a:pt x="58776" y="1460500"/>
                </a:lnTo>
                <a:lnTo>
                  <a:pt x="52774" y="1435100"/>
                </a:lnTo>
                <a:lnTo>
                  <a:pt x="49129" y="1409700"/>
                </a:lnTo>
                <a:lnTo>
                  <a:pt x="47969" y="1384300"/>
                </a:lnTo>
                <a:lnTo>
                  <a:pt x="47999" y="292100"/>
                </a:lnTo>
                <a:lnTo>
                  <a:pt x="49375" y="266700"/>
                </a:lnTo>
                <a:lnTo>
                  <a:pt x="53256" y="241300"/>
                </a:lnTo>
                <a:lnTo>
                  <a:pt x="59482" y="228600"/>
                </a:lnTo>
                <a:lnTo>
                  <a:pt x="67931" y="203200"/>
                </a:lnTo>
                <a:lnTo>
                  <a:pt x="78479" y="177800"/>
                </a:lnTo>
                <a:lnTo>
                  <a:pt x="91004" y="152400"/>
                </a:lnTo>
                <a:lnTo>
                  <a:pt x="105385" y="139700"/>
                </a:lnTo>
                <a:lnTo>
                  <a:pt x="121497" y="127000"/>
                </a:lnTo>
                <a:lnTo>
                  <a:pt x="139211" y="101600"/>
                </a:lnTo>
                <a:lnTo>
                  <a:pt x="158399" y="88900"/>
                </a:lnTo>
                <a:lnTo>
                  <a:pt x="178932" y="76200"/>
                </a:lnTo>
                <a:lnTo>
                  <a:pt x="200685" y="63500"/>
                </a:lnTo>
                <a:lnTo>
                  <a:pt x="223530" y="63500"/>
                </a:lnTo>
                <a:lnTo>
                  <a:pt x="247347" y="50800"/>
                </a:lnTo>
                <a:close/>
              </a:path>
              <a:path w="3854450" h="1676400">
                <a:moveTo>
                  <a:pt x="3635099" y="50800"/>
                </a:moveTo>
                <a:lnTo>
                  <a:pt x="3608975" y="50800"/>
                </a:lnTo>
                <a:lnTo>
                  <a:pt x="3632709" y="63500"/>
                </a:lnTo>
                <a:lnTo>
                  <a:pt x="3655448" y="63500"/>
                </a:lnTo>
                <a:lnTo>
                  <a:pt x="3677079" y="76200"/>
                </a:lnTo>
                <a:lnTo>
                  <a:pt x="3697480" y="88900"/>
                </a:lnTo>
                <a:lnTo>
                  <a:pt x="3716525" y="101600"/>
                </a:lnTo>
                <a:lnTo>
                  <a:pt x="3734089" y="127000"/>
                </a:lnTo>
                <a:lnTo>
                  <a:pt x="3750042" y="139700"/>
                </a:lnTo>
                <a:lnTo>
                  <a:pt x="3764253" y="165100"/>
                </a:lnTo>
                <a:lnTo>
                  <a:pt x="3776599" y="177800"/>
                </a:lnTo>
                <a:lnTo>
                  <a:pt x="3786952" y="203200"/>
                </a:lnTo>
                <a:lnTo>
                  <a:pt x="3795190" y="228600"/>
                </a:lnTo>
                <a:lnTo>
                  <a:pt x="3801192" y="254000"/>
                </a:lnTo>
                <a:lnTo>
                  <a:pt x="3804836" y="279400"/>
                </a:lnTo>
                <a:lnTo>
                  <a:pt x="3805998" y="304800"/>
                </a:lnTo>
                <a:lnTo>
                  <a:pt x="3805967" y="1384300"/>
                </a:lnTo>
                <a:lnTo>
                  <a:pt x="3800711" y="1435100"/>
                </a:lnTo>
                <a:lnTo>
                  <a:pt x="3786036" y="1485900"/>
                </a:lnTo>
                <a:lnTo>
                  <a:pt x="3762961" y="1524000"/>
                </a:lnTo>
                <a:lnTo>
                  <a:pt x="3748581" y="1549400"/>
                </a:lnTo>
                <a:lnTo>
                  <a:pt x="3714756" y="1574800"/>
                </a:lnTo>
                <a:lnTo>
                  <a:pt x="3675034" y="1600200"/>
                </a:lnTo>
                <a:lnTo>
                  <a:pt x="3630437" y="1625600"/>
                </a:lnTo>
                <a:lnTo>
                  <a:pt x="3606619" y="1625600"/>
                </a:lnTo>
                <a:lnTo>
                  <a:pt x="3581944" y="1638300"/>
                </a:lnTo>
                <a:lnTo>
                  <a:pt x="3633736" y="1638300"/>
                </a:lnTo>
                <a:lnTo>
                  <a:pt x="3657448" y="1625600"/>
                </a:lnTo>
                <a:lnTo>
                  <a:pt x="3701317" y="1600200"/>
                </a:lnTo>
                <a:lnTo>
                  <a:pt x="3739574" y="1574800"/>
                </a:lnTo>
                <a:lnTo>
                  <a:pt x="3756270" y="1549400"/>
                </a:lnTo>
                <a:lnTo>
                  <a:pt x="3771167" y="1536700"/>
                </a:lnTo>
                <a:lnTo>
                  <a:pt x="3795050" y="1485900"/>
                </a:lnTo>
                <a:lnTo>
                  <a:pt x="3810200" y="1435100"/>
                </a:lnTo>
                <a:lnTo>
                  <a:pt x="3815567" y="1384300"/>
                </a:lnTo>
                <a:lnTo>
                  <a:pt x="3815585" y="292100"/>
                </a:lnTo>
                <a:lnTo>
                  <a:pt x="3814326" y="266700"/>
                </a:lnTo>
                <a:lnTo>
                  <a:pt x="3810490" y="241300"/>
                </a:lnTo>
                <a:lnTo>
                  <a:pt x="3804204" y="215900"/>
                </a:lnTo>
                <a:lnTo>
                  <a:pt x="3795600" y="203200"/>
                </a:lnTo>
                <a:lnTo>
                  <a:pt x="3784803" y="177800"/>
                </a:lnTo>
                <a:lnTo>
                  <a:pt x="3771941" y="152400"/>
                </a:lnTo>
                <a:lnTo>
                  <a:pt x="3757146" y="139700"/>
                </a:lnTo>
                <a:lnTo>
                  <a:pt x="3740546" y="114300"/>
                </a:lnTo>
                <a:lnTo>
                  <a:pt x="3722274" y="101600"/>
                </a:lnTo>
                <a:lnTo>
                  <a:pt x="3702464" y="88900"/>
                </a:lnTo>
                <a:lnTo>
                  <a:pt x="3681246" y="76200"/>
                </a:lnTo>
                <a:lnTo>
                  <a:pt x="3658748" y="63500"/>
                </a:lnTo>
                <a:lnTo>
                  <a:pt x="3635099" y="50800"/>
                </a:lnTo>
                <a:close/>
              </a:path>
              <a:path w="3854450" h="1676400">
                <a:moveTo>
                  <a:pt x="3584839" y="38100"/>
                </a:moveTo>
                <a:lnTo>
                  <a:pt x="270574" y="38100"/>
                </a:lnTo>
                <a:lnTo>
                  <a:pt x="244957" y="50800"/>
                </a:lnTo>
                <a:lnTo>
                  <a:pt x="3610423" y="50800"/>
                </a:lnTo>
                <a:lnTo>
                  <a:pt x="3584839" y="38100"/>
                </a:lnTo>
                <a:close/>
              </a:path>
              <a:path w="3854450" h="1676400">
                <a:moveTo>
                  <a:pt x="3586775" y="0"/>
                </a:moveTo>
                <a:lnTo>
                  <a:pt x="264781" y="0"/>
                </a:lnTo>
                <a:lnTo>
                  <a:pt x="235394" y="12700"/>
                </a:lnTo>
                <a:lnTo>
                  <a:pt x="3616217" y="12700"/>
                </a:lnTo>
                <a:lnTo>
                  <a:pt x="358677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64191" y="3684764"/>
            <a:ext cx="311785" cy="932180"/>
          </a:xfrm>
          <a:custGeom>
            <a:avLst/>
            <a:gdLst/>
            <a:ahLst/>
            <a:cxnLst/>
            <a:rect l="l" t="t" r="r" b="b"/>
            <a:pathLst>
              <a:path w="311784" h="932179">
                <a:moveTo>
                  <a:pt x="213912" y="791685"/>
                </a:moveTo>
                <a:lnTo>
                  <a:pt x="165001" y="805411"/>
                </a:lnTo>
                <a:lnTo>
                  <a:pt x="279544" y="931555"/>
                </a:lnTo>
                <a:lnTo>
                  <a:pt x="298219" y="834482"/>
                </a:lnTo>
                <a:lnTo>
                  <a:pt x="242034" y="834482"/>
                </a:lnTo>
                <a:lnTo>
                  <a:pt x="232790" y="831422"/>
                </a:lnTo>
                <a:lnTo>
                  <a:pt x="225368" y="825119"/>
                </a:lnTo>
                <a:lnTo>
                  <a:pt x="220774" y="816139"/>
                </a:lnTo>
                <a:lnTo>
                  <a:pt x="213912" y="791685"/>
                </a:lnTo>
                <a:close/>
              </a:path>
              <a:path w="311784" h="932179">
                <a:moveTo>
                  <a:pt x="262823" y="777960"/>
                </a:moveTo>
                <a:lnTo>
                  <a:pt x="213912" y="791685"/>
                </a:lnTo>
                <a:lnTo>
                  <a:pt x="220774" y="816139"/>
                </a:lnTo>
                <a:lnTo>
                  <a:pt x="225368" y="825119"/>
                </a:lnTo>
                <a:lnTo>
                  <a:pt x="232790" y="831422"/>
                </a:lnTo>
                <a:lnTo>
                  <a:pt x="242034" y="834482"/>
                </a:lnTo>
                <a:lnTo>
                  <a:pt x="252093" y="833733"/>
                </a:lnTo>
                <a:lnTo>
                  <a:pt x="261072" y="829140"/>
                </a:lnTo>
                <a:lnTo>
                  <a:pt x="267375" y="821717"/>
                </a:lnTo>
                <a:lnTo>
                  <a:pt x="270435" y="812473"/>
                </a:lnTo>
                <a:lnTo>
                  <a:pt x="269686" y="802415"/>
                </a:lnTo>
                <a:lnTo>
                  <a:pt x="262823" y="777960"/>
                </a:lnTo>
                <a:close/>
              </a:path>
              <a:path w="311784" h="932179">
                <a:moveTo>
                  <a:pt x="311733" y="764235"/>
                </a:moveTo>
                <a:lnTo>
                  <a:pt x="262823" y="777960"/>
                </a:lnTo>
                <a:lnTo>
                  <a:pt x="269686" y="802415"/>
                </a:lnTo>
                <a:lnTo>
                  <a:pt x="270435" y="812473"/>
                </a:lnTo>
                <a:lnTo>
                  <a:pt x="267375" y="821717"/>
                </a:lnTo>
                <a:lnTo>
                  <a:pt x="261072" y="829140"/>
                </a:lnTo>
                <a:lnTo>
                  <a:pt x="252093" y="833733"/>
                </a:lnTo>
                <a:lnTo>
                  <a:pt x="242034" y="834482"/>
                </a:lnTo>
                <a:lnTo>
                  <a:pt x="298219" y="834482"/>
                </a:lnTo>
                <a:lnTo>
                  <a:pt x="311733" y="764235"/>
                </a:lnTo>
                <a:close/>
              </a:path>
              <a:path w="311784" h="932179">
                <a:moveTo>
                  <a:pt x="28400" y="0"/>
                </a:moveTo>
                <a:lnTo>
                  <a:pt x="18341" y="749"/>
                </a:lnTo>
                <a:lnTo>
                  <a:pt x="9362" y="5342"/>
                </a:lnTo>
                <a:lnTo>
                  <a:pt x="3059" y="12764"/>
                </a:lnTo>
                <a:lnTo>
                  <a:pt x="0" y="22008"/>
                </a:lnTo>
                <a:lnTo>
                  <a:pt x="749" y="32067"/>
                </a:lnTo>
                <a:lnTo>
                  <a:pt x="213912" y="791685"/>
                </a:lnTo>
                <a:lnTo>
                  <a:pt x="262823" y="777960"/>
                </a:lnTo>
                <a:lnTo>
                  <a:pt x="49660" y="18342"/>
                </a:lnTo>
                <a:lnTo>
                  <a:pt x="45067" y="9362"/>
                </a:lnTo>
                <a:lnTo>
                  <a:pt x="37644" y="3059"/>
                </a:lnTo>
                <a:lnTo>
                  <a:pt x="2840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463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311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The same </a:t>
            </a:r>
            <a:r>
              <a:rPr dirty="0" spc="-15" b="1">
                <a:latin typeface="Calibri"/>
                <a:cs typeface="Calibri"/>
              </a:rPr>
              <a:t>aggregation </a:t>
            </a:r>
            <a:r>
              <a:rPr dirty="0" spc="-20" b="1">
                <a:latin typeface="Calibri"/>
                <a:cs typeface="Calibri"/>
              </a:rPr>
              <a:t>parameters </a:t>
            </a:r>
            <a:r>
              <a:rPr dirty="0" spc="-15" b="1">
                <a:latin typeface="Calibri"/>
                <a:cs typeface="Calibri"/>
              </a:rPr>
              <a:t>are </a:t>
            </a:r>
            <a:r>
              <a:rPr dirty="0" spc="-10" b="1">
                <a:latin typeface="Calibri"/>
                <a:cs typeface="Calibri"/>
              </a:rPr>
              <a:t>shared  </a:t>
            </a:r>
            <a:r>
              <a:rPr dirty="0" spc="-20" b="1">
                <a:latin typeface="Calibri"/>
                <a:cs typeface="Calibri"/>
              </a:rPr>
              <a:t>for </a:t>
            </a:r>
            <a:r>
              <a:rPr dirty="0" spc="-5" b="1">
                <a:latin typeface="Calibri"/>
                <a:cs typeface="Calibri"/>
              </a:rPr>
              <a:t>all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nodes: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233284" cy="87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3335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number of model </a:t>
            </a:r>
            <a:r>
              <a:rPr dirty="0" sz="2800" spc="-20">
                <a:latin typeface="Calibri"/>
                <a:cs typeface="Calibri"/>
              </a:rPr>
              <a:t>parameters </a:t>
            </a:r>
            <a:r>
              <a:rPr dirty="0" sz="2800" spc="-5">
                <a:latin typeface="Calibri"/>
                <a:cs typeface="Calibri"/>
              </a:rPr>
              <a:t>is sublinear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45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287020">
              <a:lnSpc>
                <a:spcPts val="3335"/>
              </a:lnSpc>
            </a:pPr>
            <a:r>
              <a:rPr dirty="0" sz="2800" spc="25">
                <a:latin typeface="Cambria Math"/>
                <a:cs typeface="Cambria Math"/>
              </a:rPr>
              <a:t>|𝑉|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20" b="1">
                <a:solidFill>
                  <a:srgbClr val="D60093"/>
                </a:solidFill>
                <a:latin typeface="Calibri"/>
                <a:cs typeface="Calibri"/>
              </a:rPr>
              <a:t>generalize </a:t>
            </a: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unseen</a:t>
            </a:r>
            <a:r>
              <a:rPr dirty="0" sz="2800" spc="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nodes</a:t>
            </a:r>
            <a:r>
              <a:rPr dirty="0" sz="2800" spc="-5"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95422" y="5289379"/>
            <a:ext cx="524510" cy="336550"/>
          </a:xfrm>
          <a:custGeom>
            <a:avLst/>
            <a:gdLst/>
            <a:ahLst/>
            <a:cxnLst/>
            <a:rect l="l" t="t" r="r" b="b"/>
            <a:pathLst>
              <a:path w="524510" h="336550">
                <a:moveTo>
                  <a:pt x="0" y="328234"/>
                </a:moveTo>
                <a:lnTo>
                  <a:pt x="519347" y="0"/>
                </a:lnTo>
                <a:lnTo>
                  <a:pt x="524502" y="8157"/>
                </a:lnTo>
                <a:lnTo>
                  <a:pt x="5155" y="336392"/>
                </a:lnTo>
                <a:lnTo>
                  <a:pt x="0" y="32823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21867" y="4839897"/>
            <a:ext cx="513080" cy="770890"/>
          </a:xfrm>
          <a:custGeom>
            <a:avLst/>
            <a:gdLst/>
            <a:ahLst/>
            <a:cxnLst/>
            <a:rect l="l" t="t" r="r" b="b"/>
            <a:pathLst>
              <a:path w="513080" h="770889">
                <a:moveTo>
                  <a:pt x="0" y="765341"/>
                </a:moveTo>
                <a:lnTo>
                  <a:pt x="504419" y="0"/>
                </a:lnTo>
                <a:lnTo>
                  <a:pt x="512477" y="5310"/>
                </a:lnTo>
                <a:lnTo>
                  <a:pt x="8057" y="770651"/>
                </a:lnTo>
                <a:lnTo>
                  <a:pt x="0" y="765341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0789" y="4767310"/>
            <a:ext cx="1130935" cy="102235"/>
          </a:xfrm>
          <a:custGeom>
            <a:avLst/>
            <a:gdLst/>
            <a:ahLst/>
            <a:cxnLst/>
            <a:rect l="l" t="t" r="r" b="b"/>
            <a:pathLst>
              <a:path w="1130935" h="102235">
                <a:moveTo>
                  <a:pt x="783" y="0"/>
                </a:moveTo>
                <a:lnTo>
                  <a:pt x="1130697" y="91992"/>
                </a:lnTo>
                <a:lnTo>
                  <a:pt x="1129914" y="101610"/>
                </a:lnTo>
                <a:lnTo>
                  <a:pt x="0" y="9618"/>
                </a:lnTo>
                <a:lnTo>
                  <a:pt x="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48198" y="4285994"/>
            <a:ext cx="251460" cy="580390"/>
          </a:xfrm>
          <a:custGeom>
            <a:avLst/>
            <a:gdLst/>
            <a:ahLst/>
            <a:cxnLst/>
            <a:rect l="l" t="t" r="r" b="b"/>
            <a:pathLst>
              <a:path w="251460" h="580389">
                <a:moveTo>
                  <a:pt x="8898" y="0"/>
                </a:moveTo>
                <a:lnTo>
                  <a:pt x="250891" y="576620"/>
                </a:lnTo>
                <a:lnTo>
                  <a:pt x="241993" y="580355"/>
                </a:lnTo>
                <a:lnTo>
                  <a:pt x="0" y="3734"/>
                </a:lnTo>
                <a:lnTo>
                  <a:pt x="889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78599" y="5931067"/>
            <a:ext cx="1315085" cy="248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b="1">
                <a:latin typeface="Arial"/>
                <a:cs typeface="Arial"/>
              </a:rPr>
              <a:t>INPUT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0" b="1">
                <a:latin typeface="Arial"/>
                <a:cs typeface="Arial"/>
              </a:rPr>
              <a:t>GRAPH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4790" y="4272174"/>
            <a:ext cx="827405" cy="486409"/>
          </a:xfrm>
          <a:custGeom>
            <a:avLst/>
            <a:gdLst/>
            <a:ahLst/>
            <a:cxnLst/>
            <a:rect l="l" t="t" r="r" b="b"/>
            <a:pathLst>
              <a:path w="827405" h="486410">
                <a:moveTo>
                  <a:pt x="827023" y="8343"/>
                </a:moveTo>
                <a:lnTo>
                  <a:pt x="4849" y="486282"/>
                </a:lnTo>
                <a:lnTo>
                  <a:pt x="0" y="477939"/>
                </a:lnTo>
                <a:lnTo>
                  <a:pt x="822173" y="0"/>
                </a:lnTo>
                <a:lnTo>
                  <a:pt x="827023" y="834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22387" y="4143822"/>
            <a:ext cx="205740" cy="205104"/>
          </a:xfrm>
          <a:custGeom>
            <a:avLst/>
            <a:gdLst/>
            <a:ahLst/>
            <a:cxnLst/>
            <a:rect l="l" t="t" r="r" b="b"/>
            <a:pathLst>
              <a:path w="205739" h="205104">
                <a:moveTo>
                  <a:pt x="102812" y="0"/>
                </a:moveTo>
                <a:lnTo>
                  <a:pt x="64123" y="7507"/>
                </a:lnTo>
                <a:lnTo>
                  <a:pt x="30113" y="30031"/>
                </a:lnTo>
                <a:lnTo>
                  <a:pt x="7528" y="63951"/>
                </a:lnTo>
                <a:lnTo>
                  <a:pt x="0" y="102535"/>
                </a:lnTo>
                <a:lnTo>
                  <a:pt x="7528" y="141120"/>
                </a:lnTo>
                <a:lnTo>
                  <a:pt x="30113" y="175039"/>
                </a:lnTo>
                <a:lnTo>
                  <a:pt x="64123" y="197564"/>
                </a:lnTo>
                <a:lnTo>
                  <a:pt x="102812" y="205072"/>
                </a:lnTo>
                <a:lnTo>
                  <a:pt x="141501" y="197564"/>
                </a:lnTo>
                <a:lnTo>
                  <a:pt x="175513" y="175039"/>
                </a:lnTo>
                <a:lnTo>
                  <a:pt x="198097" y="141120"/>
                </a:lnTo>
                <a:lnTo>
                  <a:pt x="205625" y="102535"/>
                </a:lnTo>
                <a:lnTo>
                  <a:pt x="198097" y="63951"/>
                </a:lnTo>
                <a:lnTo>
                  <a:pt x="175513" y="30031"/>
                </a:lnTo>
                <a:lnTo>
                  <a:pt x="141501" y="7507"/>
                </a:lnTo>
                <a:lnTo>
                  <a:pt x="10281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76067" y="4128410"/>
            <a:ext cx="106680" cy="18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0" b="1">
                <a:latin typeface="Courier New"/>
                <a:cs typeface="Courier New"/>
              </a:rPr>
              <a:t>B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3613" y="4814943"/>
            <a:ext cx="305435" cy="659765"/>
          </a:xfrm>
          <a:custGeom>
            <a:avLst/>
            <a:gdLst/>
            <a:ahLst/>
            <a:cxnLst/>
            <a:rect l="l" t="t" r="r" b="b"/>
            <a:pathLst>
              <a:path w="305434" h="659764">
                <a:moveTo>
                  <a:pt x="305339" y="3977"/>
                </a:moveTo>
                <a:lnTo>
                  <a:pt x="8792" y="659423"/>
                </a:lnTo>
                <a:lnTo>
                  <a:pt x="0" y="655445"/>
                </a:lnTo>
                <a:lnTo>
                  <a:pt x="296547" y="0"/>
                </a:lnTo>
                <a:lnTo>
                  <a:pt x="305339" y="397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0931" y="5323469"/>
            <a:ext cx="205740" cy="205104"/>
          </a:xfrm>
          <a:custGeom>
            <a:avLst/>
            <a:gdLst/>
            <a:ahLst/>
            <a:cxnLst/>
            <a:rect l="l" t="t" r="r" b="b"/>
            <a:pathLst>
              <a:path w="205740" h="205104">
                <a:moveTo>
                  <a:pt x="102812" y="0"/>
                </a:moveTo>
                <a:lnTo>
                  <a:pt x="64124" y="7508"/>
                </a:lnTo>
                <a:lnTo>
                  <a:pt x="30113" y="30032"/>
                </a:lnTo>
                <a:lnTo>
                  <a:pt x="7528" y="63951"/>
                </a:lnTo>
                <a:lnTo>
                  <a:pt x="0" y="102535"/>
                </a:lnTo>
                <a:lnTo>
                  <a:pt x="7528" y="141120"/>
                </a:lnTo>
                <a:lnTo>
                  <a:pt x="30113" y="175039"/>
                </a:lnTo>
                <a:lnTo>
                  <a:pt x="64124" y="197563"/>
                </a:lnTo>
                <a:lnTo>
                  <a:pt x="102812" y="205071"/>
                </a:lnTo>
                <a:lnTo>
                  <a:pt x="141501" y="197563"/>
                </a:lnTo>
                <a:lnTo>
                  <a:pt x="175512" y="175039"/>
                </a:lnTo>
                <a:lnTo>
                  <a:pt x="198097" y="141120"/>
                </a:lnTo>
                <a:lnTo>
                  <a:pt x="205625" y="102535"/>
                </a:lnTo>
                <a:lnTo>
                  <a:pt x="198097" y="63951"/>
                </a:lnTo>
                <a:lnTo>
                  <a:pt x="175512" y="30032"/>
                </a:lnTo>
                <a:lnTo>
                  <a:pt x="141501" y="7508"/>
                </a:lnTo>
                <a:lnTo>
                  <a:pt x="10281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04895" y="5315384"/>
            <a:ext cx="106680" cy="18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0" b="1">
                <a:latin typeface="Courier New"/>
                <a:cs typeface="Courier New"/>
              </a:rPr>
              <a:t>D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16760" y="5528376"/>
            <a:ext cx="205740" cy="205104"/>
          </a:xfrm>
          <a:custGeom>
            <a:avLst/>
            <a:gdLst/>
            <a:ahLst/>
            <a:cxnLst/>
            <a:rect l="l" t="t" r="r" b="b"/>
            <a:pathLst>
              <a:path w="205740" h="205104">
                <a:moveTo>
                  <a:pt x="102812" y="0"/>
                </a:moveTo>
                <a:lnTo>
                  <a:pt x="64124" y="7507"/>
                </a:lnTo>
                <a:lnTo>
                  <a:pt x="30113" y="30031"/>
                </a:lnTo>
                <a:lnTo>
                  <a:pt x="7528" y="63951"/>
                </a:lnTo>
                <a:lnTo>
                  <a:pt x="0" y="102535"/>
                </a:lnTo>
                <a:lnTo>
                  <a:pt x="7528" y="141120"/>
                </a:lnTo>
                <a:lnTo>
                  <a:pt x="30113" y="175039"/>
                </a:lnTo>
                <a:lnTo>
                  <a:pt x="64124" y="197563"/>
                </a:lnTo>
                <a:lnTo>
                  <a:pt x="102812" y="205071"/>
                </a:lnTo>
                <a:lnTo>
                  <a:pt x="141501" y="197563"/>
                </a:lnTo>
                <a:lnTo>
                  <a:pt x="175512" y="175039"/>
                </a:lnTo>
                <a:lnTo>
                  <a:pt x="198097" y="141120"/>
                </a:lnTo>
                <a:lnTo>
                  <a:pt x="205625" y="102535"/>
                </a:lnTo>
                <a:lnTo>
                  <a:pt x="198097" y="63951"/>
                </a:lnTo>
                <a:lnTo>
                  <a:pt x="175512" y="30031"/>
                </a:lnTo>
                <a:lnTo>
                  <a:pt x="141501" y="7507"/>
                </a:lnTo>
                <a:lnTo>
                  <a:pt x="10281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273413" y="5518038"/>
            <a:ext cx="106680" cy="18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0" b="1">
                <a:latin typeface="Courier New"/>
                <a:cs typeface="Courier New"/>
              </a:rPr>
              <a:t>E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38090" y="4908390"/>
            <a:ext cx="160020" cy="320040"/>
          </a:xfrm>
          <a:custGeom>
            <a:avLst/>
            <a:gdLst/>
            <a:ahLst/>
            <a:cxnLst/>
            <a:rect l="l" t="t" r="r" b="b"/>
            <a:pathLst>
              <a:path w="160019" h="320039">
                <a:moveTo>
                  <a:pt x="8700" y="0"/>
                </a:moveTo>
                <a:lnTo>
                  <a:pt x="159948" y="315259"/>
                </a:lnTo>
                <a:lnTo>
                  <a:pt x="151248" y="319433"/>
                </a:lnTo>
                <a:lnTo>
                  <a:pt x="0" y="4174"/>
                </a:lnTo>
                <a:lnTo>
                  <a:pt x="870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83697" y="5140666"/>
            <a:ext cx="205740" cy="205104"/>
          </a:xfrm>
          <a:custGeom>
            <a:avLst/>
            <a:gdLst/>
            <a:ahLst/>
            <a:cxnLst/>
            <a:rect l="l" t="t" r="r" b="b"/>
            <a:pathLst>
              <a:path w="205739" h="205104">
                <a:moveTo>
                  <a:pt x="102812" y="0"/>
                </a:moveTo>
                <a:lnTo>
                  <a:pt x="64124" y="7507"/>
                </a:lnTo>
                <a:lnTo>
                  <a:pt x="30112" y="30031"/>
                </a:lnTo>
                <a:lnTo>
                  <a:pt x="7528" y="63951"/>
                </a:lnTo>
                <a:lnTo>
                  <a:pt x="0" y="102535"/>
                </a:lnTo>
                <a:lnTo>
                  <a:pt x="7528" y="141120"/>
                </a:lnTo>
                <a:lnTo>
                  <a:pt x="30112" y="175039"/>
                </a:lnTo>
                <a:lnTo>
                  <a:pt x="64124" y="197564"/>
                </a:lnTo>
                <a:lnTo>
                  <a:pt x="102812" y="205072"/>
                </a:lnTo>
                <a:lnTo>
                  <a:pt x="141501" y="197564"/>
                </a:lnTo>
                <a:lnTo>
                  <a:pt x="175512" y="175039"/>
                </a:lnTo>
                <a:lnTo>
                  <a:pt x="198097" y="141120"/>
                </a:lnTo>
                <a:lnTo>
                  <a:pt x="205625" y="102535"/>
                </a:lnTo>
                <a:lnTo>
                  <a:pt x="198097" y="63951"/>
                </a:lnTo>
                <a:lnTo>
                  <a:pt x="175512" y="30031"/>
                </a:lnTo>
                <a:lnTo>
                  <a:pt x="141501" y="7507"/>
                </a:lnTo>
                <a:lnTo>
                  <a:pt x="10281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9626" y="5132030"/>
            <a:ext cx="106680" cy="18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0" b="1">
                <a:latin typeface="Courier New"/>
                <a:cs typeface="Courier New"/>
              </a:rPr>
              <a:t>F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02814" y="4750446"/>
            <a:ext cx="205740" cy="205104"/>
          </a:xfrm>
          <a:custGeom>
            <a:avLst/>
            <a:gdLst/>
            <a:ahLst/>
            <a:cxnLst/>
            <a:rect l="l" t="t" r="r" b="b"/>
            <a:pathLst>
              <a:path w="205739" h="205104">
                <a:moveTo>
                  <a:pt x="102813" y="0"/>
                </a:moveTo>
                <a:lnTo>
                  <a:pt x="64124" y="7507"/>
                </a:lnTo>
                <a:lnTo>
                  <a:pt x="30112" y="30031"/>
                </a:lnTo>
                <a:lnTo>
                  <a:pt x="7528" y="63951"/>
                </a:lnTo>
                <a:lnTo>
                  <a:pt x="0" y="102535"/>
                </a:lnTo>
                <a:lnTo>
                  <a:pt x="7528" y="141120"/>
                </a:lnTo>
                <a:lnTo>
                  <a:pt x="30112" y="175039"/>
                </a:lnTo>
                <a:lnTo>
                  <a:pt x="64124" y="197564"/>
                </a:lnTo>
                <a:lnTo>
                  <a:pt x="102813" y="205072"/>
                </a:lnTo>
                <a:lnTo>
                  <a:pt x="141501" y="197564"/>
                </a:lnTo>
                <a:lnTo>
                  <a:pt x="175512" y="175039"/>
                </a:lnTo>
                <a:lnTo>
                  <a:pt x="198097" y="141120"/>
                </a:lnTo>
                <a:lnTo>
                  <a:pt x="205626" y="102535"/>
                </a:lnTo>
                <a:lnTo>
                  <a:pt x="198097" y="63951"/>
                </a:lnTo>
                <a:lnTo>
                  <a:pt x="175512" y="30031"/>
                </a:lnTo>
                <a:lnTo>
                  <a:pt x="141501" y="7507"/>
                </a:lnTo>
                <a:lnTo>
                  <a:pt x="10281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746272" y="4736373"/>
            <a:ext cx="106680" cy="18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0" b="1">
                <a:latin typeface="Courier New"/>
                <a:cs typeface="Courier New"/>
              </a:rPr>
              <a:t>C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2083" y="4669347"/>
            <a:ext cx="205740" cy="205104"/>
          </a:xfrm>
          <a:custGeom>
            <a:avLst/>
            <a:gdLst/>
            <a:ahLst/>
            <a:cxnLst/>
            <a:rect l="l" t="t" r="r" b="b"/>
            <a:pathLst>
              <a:path w="205740" h="205104">
                <a:moveTo>
                  <a:pt x="102812" y="0"/>
                </a:moveTo>
                <a:lnTo>
                  <a:pt x="64124" y="7507"/>
                </a:lnTo>
                <a:lnTo>
                  <a:pt x="30113" y="30031"/>
                </a:lnTo>
                <a:lnTo>
                  <a:pt x="7528" y="63951"/>
                </a:lnTo>
                <a:lnTo>
                  <a:pt x="0" y="102535"/>
                </a:lnTo>
                <a:lnTo>
                  <a:pt x="7528" y="141119"/>
                </a:lnTo>
                <a:lnTo>
                  <a:pt x="30113" y="175038"/>
                </a:lnTo>
                <a:lnTo>
                  <a:pt x="64124" y="197563"/>
                </a:lnTo>
                <a:lnTo>
                  <a:pt x="102812" y="205071"/>
                </a:lnTo>
                <a:lnTo>
                  <a:pt x="141501" y="197563"/>
                </a:lnTo>
                <a:lnTo>
                  <a:pt x="175512" y="175038"/>
                </a:lnTo>
                <a:lnTo>
                  <a:pt x="198097" y="141119"/>
                </a:lnTo>
                <a:lnTo>
                  <a:pt x="205625" y="102535"/>
                </a:lnTo>
                <a:lnTo>
                  <a:pt x="198097" y="63951"/>
                </a:lnTo>
                <a:lnTo>
                  <a:pt x="175512" y="30031"/>
                </a:lnTo>
                <a:lnTo>
                  <a:pt x="141501" y="7507"/>
                </a:lnTo>
                <a:lnTo>
                  <a:pt x="10281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26850" y="4649522"/>
            <a:ext cx="106680" cy="18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0" b="1">
                <a:latin typeface="Courier New"/>
                <a:cs typeface="Courier New"/>
              </a:rPr>
              <a:t>A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37713" y="4782954"/>
            <a:ext cx="196215" cy="196850"/>
          </a:xfrm>
          <a:custGeom>
            <a:avLst/>
            <a:gdLst/>
            <a:ahLst/>
            <a:cxnLst/>
            <a:rect l="l" t="t" r="r" b="b"/>
            <a:pathLst>
              <a:path w="196214" h="196850">
                <a:moveTo>
                  <a:pt x="84247" y="0"/>
                </a:moveTo>
                <a:lnTo>
                  <a:pt x="48393" y="12331"/>
                </a:lnTo>
                <a:lnTo>
                  <a:pt x="19001" y="38424"/>
                </a:lnTo>
                <a:lnTo>
                  <a:pt x="2017" y="73913"/>
                </a:lnTo>
                <a:lnTo>
                  <a:pt x="0" y="111870"/>
                </a:lnTo>
                <a:lnTo>
                  <a:pt x="12326" y="147826"/>
                </a:lnTo>
                <a:lnTo>
                  <a:pt x="38373" y="177313"/>
                </a:lnTo>
                <a:lnTo>
                  <a:pt x="73783" y="194368"/>
                </a:lnTo>
                <a:lnTo>
                  <a:pt x="111643" y="196419"/>
                </a:lnTo>
                <a:lnTo>
                  <a:pt x="147496" y="184087"/>
                </a:lnTo>
                <a:lnTo>
                  <a:pt x="176888" y="157995"/>
                </a:lnTo>
                <a:lnTo>
                  <a:pt x="193872" y="122505"/>
                </a:lnTo>
                <a:lnTo>
                  <a:pt x="195889" y="84548"/>
                </a:lnTo>
                <a:lnTo>
                  <a:pt x="183563" y="48592"/>
                </a:lnTo>
                <a:lnTo>
                  <a:pt x="157516" y="19105"/>
                </a:lnTo>
                <a:lnTo>
                  <a:pt x="122107" y="2050"/>
                </a:lnTo>
                <a:lnTo>
                  <a:pt x="84247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39746" y="4015442"/>
            <a:ext cx="339090" cy="309245"/>
          </a:xfrm>
          <a:custGeom>
            <a:avLst/>
            <a:gdLst/>
            <a:ahLst/>
            <a:cxnLst/>
            <a:rect l="l" t="t" r="r" b="b"/>
            <a:pathLst>
              <a:path w="339089" h="309245">
                <a:moveTo>
                  <a:pt x="323" y="0"/>
                </a:moveTo>
                <a:lnTo>
                  <a:pt x="0" y="308465"/>
                </a:lnTo>
                <a:lnTo>
                  <a:pt x="338372" y="308819"/>
                </a:lnTo>
                <a:lnTo>
                  <a:pt x="338696" y="354"/>
                </a:lnTo>
                <a:lnTo>
                  <a:pt x="323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39746" y="4015443"/>
            <a:ext cx="339090" cy="309245"/>
          </a:xfrm>
          <a:custGeom>
            <a:avLst/>
            <a:gdLst/>
            <a:ahLst/>
            <a:cxnLst/>
            <a:rect l="l" t="t" r="r" b="b"/>
            <a:pathLst>
              <a:path w="339089" h="309245">
                <a:moveTo>
                  <a:pt x="338695" y="353"/>
                </a:moveTo>
                <a:lnTo>
                  <a:pt x="338372" y="308818"/>
                </a:lnTo>
                <a:lnTo>
                  <a:pt x="0" y="308464"/>
                </a:lnTo>
                <a:lnTo>
                  <a:pt x="322" y="0"/>
                </a:lnTo>
                <a:lnTo>
                  <a:pt x="338695" y="353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99980" y="4382219"/>
            <a:ext cx="5080" cy="545465"/>
          </a:xfrm>
          <a:custGeom>
            <a:avLst/>
            <a:gdLst/>
            <a:ahLst/>
            <a:cxnLst/>
            <a:rect l="l" t="t" r="r" b="b"/>
            <a:pathLst>
              <a:path w="5079" h="545464">
                <a:moveTo>
                  <a:pt x="0" y="0"/>
                </a:moveTo>
                <a:lnTo>
                  <a:pt x="40" y="4824"/>
                </a:lnTo>
                <a:lnTo>
                  <a:pt x="4529" y="545078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71071" y="432914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20" h="58420">
                <a:moveTo>
                  <a:pt x="28468" y="0"/>
                </a:moveTo>
                <a:lnTo>
                  <a:pt x="0" y="58139"/>
                </a:lnTo>
                <a:lnTo>
                  <a:pt x="57899" y="57657"/>
                </a:lnTo>
                <a:lnTo>
                  <a:pt x="284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93556" y="4383318"/>
            <a:ext cx="227329" cy="461645"/>
          </a:xfrm>
          <a:custGeom>
            <a:avLst/>
            <a:gdLst/>
            <a:ahLst/>
            <a:cxnLst/>
            <a:rect l="l" t="t" r="r" b="b"/>
            <a:pathLst>
              <a:path w="227329" h="461645">
                <a:moveTo>
                  <a:pt x="227125" y="0"/>
                </a:moveTo>
                <a:lnTo>
                  <a:pt x="224994" y="4329"/>
                </a:lnTo>
                <a:lnTo>
                  <a:pt x="0" y="461368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92577" y="4335700"/>
            <a:ext cx="52069" cy="64769"/>
          </a:xfrm>
          <a:custGeom>
            <a:avLst/>
            <a:gdLst/>
            <a:ahLst/>
            <a:cxnLst/>
            <a:rect l="l" t="t" r="r" b="b"/>
            <a:pathLst>
              <a:path w="52070" h="64770">
                <a:moveTo>
                  <a:pt x="51546" y="0"/>
                </a:moveTo>
                <a:lnTo>
                  <a:pt x="0" y="39161"/>
                </a:lnTo>
                <a:lnTo>
                  <a:pt x="51948" y="64734"/>
                </a:lnTo>
                <a:lnTo>
                  <a:pt x="5154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91340" y="4382949"/>
            <a:ext cx="258445" cy="498475"/>
          </a:xfrm>
          <a:custGeom>
            <a:avLst/>
            <a:gdLst/>
            <a:ahLst/>
            <a:cxnLst/>
            <a:rect l="l" t="t" r="r" b="b"/>
            <a:pathLst>
              <a:path w="258445" h="498475">
                <a:moveTo>
                  <a:pt x="0" y="0"/>
                </a:moveTo>
                <a:lnTo>
                  <a:pt x="2220" y="4283"/>
                </a:lnTo>
                <a:lnTo>
                  <a:pt x="258276" y="498166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66910" y="4335829"/>
            <a:ext cx="52705" cy="64769"/>
          </a:xfrm>
          <a:custGeom>
            <a:avLst/>
            <a:gdLst/>
            <a:ahLst/>
            <a:cxnLst/>
            <a:rect l="l" t="t" r="r" b="b"/>
            <a:pathLst>
              <a:path w="52704" h="64770">
                <a:moveTo>
                  <a:pt x="0" y="0"/>
                </a:moveTo>
                <a:lnTo>
                  <a:pt x="948" y="64729"/>
                </a:lnTo>
                <a:lnTo>
                  <a:pt x="52351" y="38078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10741" y="3872707"/>
            <a:ext cx="5080" cy="142875"/>
          </a:xfrm>
          <a:custGeom>
            <a:avLst/>
            <a:gdLst/>
            <a:ahLst/>
            <a:cxnLst/>
            <a:rect l="l" t="t" r="r" b="b"/>
            <a:pathLst>
              <a:path w="5079" h="142875">
                <a:moveTo>
                  <a:pt x="4570" y="142775"/>
                </a:moveTo>
                <a:lnTo>
                  <a:pt x="154" y="4822"/>
                </a:lnTo>
                <a:lnTo>
                  <a:pt x="0" y="0"/>
                </a:lnTo>
              </a:path>
            </a:pathLst>
          </a:custGeom>
          <a:ln w="9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881960" y="3819659"/>
            <a:ext cx="58419" cy="59055"/>
          </a:xfrm>
          <a:custGeom>
            <a:avLst/>
            <a:gdLst/>
            <a:ahLst/>
            <a:cxnLst/>
            <a:rect l="l" t="t" r="r" b="b"/>
            <a:pathLst>
              <a:path w="58420" h="59054">
                <a:moveTo>
                  <a:pt x="27082" y="0"/>
                </a:moveTo>
                <a:lnTo>
                  <a:pt x="0" y="58797"/>
                </a:lnTo>
                <a:lnTo>
                  <a:pt x="57871" y="56944"/>
                </a:lnTo>
                <a:lnTo>
                  <a:pt x="270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17773" y="3618017"/>
            <a:ext cx="196215" cy="196850"/>
          </a:xfrm>
          <a:custGeom>
            <a:avLst/>
            <a:gdLst/>
            <a:ahLst/>
            <a:cxnLst/>
            <a:rect l="l" t="t" r="r" b="b"/>
            <a:pathLst>
              <a:path w="196214" h="196850">
                <a:moveTo>
                  <a:pt x="84247" y="0"/>
                </a:moveTo>
                <a:lnTo>
                  <a:pt x="48393" y="12331"/>
                </a:lnTo>
                <a:lnTo>
                  <a:pt x="19001" y="38424"/>
                </a:lnTo>
                <a:lnTo>
                  <a:pt x="2017" y="73913"/>
                </a:lnTo>
                <a:lnTo>
                  <a:pt x="0" y="111869"/>
                </a:lnTo>
                <a:lnTo>
                  <a:pt x="12326" y="147825"/>
                </a:lnTo>
                <a:lnTo>
                  <a:pt x="38373" y="177313"/>
                </a:lnTo>
                <a:lnTo>
                  <a:pt x="73782" y="194367"/>
                </a:lnTo>
                <a:lnTo>
                  <a:pt x="111642" y="196418"/>
                </a:lnTo>
                <a:lnTo>
                  <a:pt x="147496" y="184086"/>
                </a:lnTo>
                <a:lnTo>
                  <a:pt x="176888" y="157993"/>
                </a:lnTo>
                <a:lnTo>
                  <a:pt x="193873" y="122504"/>
                </a:lnTo>
                <a:lnTo>
                  <a:pt x="195890" y="84548"/>
                </a:lnTo>
                <a:lnTo>
                  <a:pt x="183563" y="48592"/>
                </a:lnTo>
                <a:lnTo>
                  <a:pt x="157516" y="19105"/>
                </a:lnTo>
                <a:lnTo>
                  <a:pt x="122107" y="2050"/>
                </a:lnTo>
                <a:lnTo>
                  <a:pt x="84247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249627" y="5045891"/>
            <a:ext cx="286385" cy="278130"/>
          </a:xfrm>
          <a:custGeom>
            <a:avLst/>
            <a:gdLst/>
            <a:ahLst/>
            <a:cxnLst/>
            <a:rect l="l" t="t" r="r" b="b"/>
            <a:pathLst>
              <a:path w="286385" h="278129">
                <a:moveTo>
                  <a:pt x="89916" y="0"/>
                </a:moveTo>
                <a:lnTo>
                  <a:pt x="0" y="178908"/>
                </a:lnTo>
                <a:lnTo>
                  <a:pt x="196255" y="277543"/>
                </a:lnTo>
                <a:lnTo>
                  <a:pt x="286171" y="98633"/>
                </a:lnTo>
                <a:lnTo>
                  <a:pt x="8991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249627" y="5045891"/>
            <a:ext cx="286385" cy="278130"/>
          </a:xfrm>
          <a:custGeom>
            <a:avLst/>
            <a:gdLst/>
            <a:ahLst/>
            <a:cxnLst/>
            <a:rect l="l" t="t" r="r" b="b"/>
            <a:pathLst>
              <a:path w="286385" h="278129">
                <a:moveTo>
                  <a:pt x="286171" y="98633"/>
                </a:moveTo>
                <a:lnTo>
                  <a:pt x="196255" y="277542"/>
                </a:lnTo>
                <a:lnTo>
                  <a:pt x="0" y="178909"/>
                </a:lnTo>
                <a:lnTo>
                  <a:pt x="89915" y="0"/>
                </a:lnTo>
                <a:lnTo>
                  <a:pt x="286171" y="98633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47555" y="5321354"/>
            <a:ext cx="168910" cy="323215"/>
          </a:xfrm>
          <a:custGeom>
            <a:avLst/>
            <a:gdLst/>
            <a:ahLst/>
            <a:cxnLst/>
            <a:rect l="l" t="t" r="r" b="b"/>
            <a:pathLst>
              <a:path w="168910" h="323214">
                <a:moveTo>
                  <a:pt x="168684" y="0"/>
                </a:moveTo>
                <a:lnTo>
                  <a:pt x="166448" y="4275"/>
                </a:lnTo>
                <a:lnTo>
                  <a:pt x="0" y="322602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288348" y="5274320"/>
            <a:ext cx="52705" cy="64769"/>
          </a:xfrm>
          <a:custGeom>
            <a:avLst/>
            <a:gdLst/>
            <a:ahLst/>
            <a:cxnLst/>
            <a:rect l="l" t="t" r="r" b="b"/>
            <a:pathLst>
              <a:path w="52704" h="64770">
                <a:moveTo>
                  <a:pt x="52484" y="0"/>
                </a:moveTo>
                <a:lnTo>
                  <a:pt x="0" y="37895"/>
                </a:lnTo>
                <a:lnTo>
                  <a:pt x="51309" y="64725"/>
                </a:lnTo>
                <a:lnTo>
                  <a:pt x="5248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433791" y="5025980"/>
            <a:ext cx="31115" cy="67310"/>
          </a:xfrm>
          <a:custGeom>
            <a:avLst/>
            <a:gdLst/>
            <a:ahLst/>
            <a:cxnLst/>
            <a:rect l="l" t="t" r="r" b="b"/>
            <a:pathLst>
              <a:path w="31114" h="67310">
                <a:moveTo>
                  <a:pt x="0" y="67275"/>
                </a:moveTo>
                <a:lnTo>
                  <a:pt x="29048" y="4380"/>
                </a:lnTo>
                <a:lnTo>
                  <a:pt x="31071" y="0"/>
                </a:lnTo>
              </a:path>
            </a:pathLst>
          </a:custGeom>
          <a:ln w="9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36556" y="4977795"/>
            <a:ext cx="52705" cy="64769"/>
          </a:xfrm>
          <a:custGeom>
            <a:avLst/>
            <a:gdLst/>
            <a:ahLst/>
            <a:cxnLst/>
            <a:rect l="l" t="t" r="r" b="b"/>
            <a:pathLst>
              <a:path w="52704" h="64770">
                <a:moveTo>
                  <a:pt x="50561" y="0"/>
                </a:moveTo>
                <a:lnTo>
                  <a:pt x="0" y="40426"/>
                </a:lnTo>
                <a:lnTo>
                  <a:pt x="52566" y="64703"/>
                </a:lnTo>
                <a:lnTo>
                  <a:pt x="505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62763" y="5582364"/>
            <a:ext cx="154305" cy="154305"/>
          </a:xfrm>
          <a:custGeom>
            <a:avLst/>
            <a:gdLst/>
            <a:ahLst/>
            <a:cxnLst/>
            <a:rect l="l" t="t" r="r" b="b"/>
            <a:pathLst>
              <a:path w="154305" h="154304">
                <a:moveTo>
                  <a:pt x="67260" y="0"/>
                </a:moveTo>
                <a:lnTo>
                  <a:pt x="39023" y="9272"/>
                </a:lnTo>
                <a:lnTo>
                  <a:pt x="15699" y="29402"/>
                </a:lnTo>
                <a:lnTo>
                  <a:pt x="1997" y="57033"/>
                </a:lnTo>
                <a:lnTo>
                  <a:pt x="0" y="86762"/>
                </a:lnTo>
                <a:lnTo>
                  <a:pt x="9267" y="115080"/>
                </a:lnTo>
                <a:lnTo>
                  <a:pt x="29360" y="138478"/>
                </a:lnTo>
                <a:lnTo>
                  <a:pt x="56928" y="152233"/>
                </a:lnTo>
                <a:lnTo>
                  <a:pt x="86581" y="154255"/>
                </a:lnTo>
                <a:lnTo>
                  <a:pt x="114819" y="144982"/>
                </a:lnTo>
                <a:lnTo>
                  <a:pt x="138142" y="124853"/>
                </a:lnTo>
                <a:lnTo>
                  <a:pt x="151844" y="97222"/>
                </a:lnTo>
                <a:lnTo>
                  <a:pt x="153841" y="67493"/>
                </a:lnTo>
                <a:lnTo>
                  <a:pt x="144573" y="39175"/>
                </a:lnTo>
                <a:lnTo>
                  <a:pt x="124481" y="15777"/>
                </a:lnTo>
                <a:lnTo>
                  <a:pt x="96913" y="2022"/>
                </a:lnTo>
                <a:lnTo>
                  <a:pt x="6726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891269" y="5161115"/>
            <a:ext cx="1270" cy="72390"/>
          </a:xfrm>
          <a:custGeom>
            <a:avLst/>
            <a:gdLst/>
            <a:ahLst/>
            <a:cxnLst/>
            <a:rect l="l" t="t" r="r" b="b"/>
            <a:pathLst>
              <a:path w="1270" h="72389">
                <a:moveTo>
                  <a:pt x="1205" y="72033"/>
                </a:moveTo>
                <a:lnTo>
                  <a:pt x="80" y="4824"/>
                </a:lnTo>
                <a:lnTo>
                  <a:pt x="0" y="0"/>
                </a:lnTo>
              </a:path>
            </a:pathLst>
          </a:custGeom>
          <a:ln w="9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862404" y="510804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20" h="58420">
                <a:moveTo>
                  <a:pt x="27976" y="0"/>
                </a:moveTo>
                <a:lnTo>
                  <a:pt x="0" y="58378"/>
                </a:lnTo>
                <a:lnTo>
                  <a:pt x="57892" y="57407"/>
                </a:lnTo>
                <a:lnTo>
                  <a:pt x="27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780068" y="5231276"/>
            <a:ext cx="219710" cy="200660"/>
          </a:xfrm>
          <a:custGeom>
            <a:avLst/>
            <a:gdLst/>
            <a:ahLst/>
            <a:cxnLst/>
            <a:rect l="l" t="t" r="r" b="b"/>
            <a:pathLst>
              <a:path w="219710" h="200660">
                <a:moveTo>
                  <a:pt x="3211" y="0"/>
                </a:moveTo>
                <a:lnTo>
                  <a:pt x="0" y="196963"/>
                </a:lnTo>
                <a:lnTo>
                  <a:pt x="216060" y="200486"/>
                </a:lnTo>
                <a:lnTo>
                  <a:pt x="219271" y="3522"/>
                </a:lnTo>
                <a:lnTo>
                  <a:pt x="32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780068" y="5231276"/>
            <a:ext cx="219710" cy="200660"/>
          </a:xfrm>
          <a:custGeom>
            <a:avLst/>
            <a:gdLst/>
            <a:ahLst/>
            <a:cxnLst/>
            <a:rect l="l" t="t" r="r" b="b"/>
            <a:pathLst>
              <a:path w="219710" h="200660">
                <a:moveTo>
                  <a:pt x="219271" y="3523"/>
                </a:moveTo>
                <a:lnTo>
                  <a:pt x="216060" y="200485"/>
                </a:lnTo>
                <a:lnTo>
                  <a:pt x="0" y="196962"/>
                </a:lnTo>
                <a:lnTo>
                  <a:pt x="3211" y="0"/>
                </a:lnTo>
                <a:lnTo>
                  <a:pt x="219271" y="3523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753004" y="5507540"/>
            <a:ext cx="74295" cy="356870"/>
          </a:xfrm>
          <a:custGeom>
            <a:avLst/>
            <a:gdLst/>
            <a:ahLst/>
            <a:cxnLst/>
            <a:rect l="l" t="t" r="r" b="b"/>
            <a:pathLst>
              <a:path w="74295" h="356870">
                <a:moveTo>
                  <a:pt x="73809" y="0"/>
                </a:moveTo>
                <a:lnTo>
                  <a:pt x="72831" y="4724"/>
                </a:lnTo>
                <a:lnTo>
                  <a:pt x="0" y="356481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797486" y="5455566"/>
            <a:ext cx="57150" cy="62865"/>
          </a:xfrm>
          <a:custGeom>
            <a:avLst/>
            <a:gdLst/>
            <a:ahLst/>
            <a:cxnLst/>
            <a:rect l="l" t="t" r="r" b="b"/>
            <a:pathLst>
              <a:path w="57150" h="62864">
                <a:moveTo>
                  <a:pt x="40088" y="0"/>
                </a:moveTo>
                <a:lnTo>
                  <a:pt x="0" y="50829"/>
                </a:lnTo>
                <a:lnTo>
                  <a:pt x="56699" y="62569"/>
                </a:lnTo>
                <a:lnTo>
                  <a:pt x="4008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556063" y="5487938"/>
            <a:ext cx="171450" cy="321310"/>
          </a:xfrm>
          <a:custGeom>
            <a:avLst/>
            <a:gdLst/>
            <a:ahLst/>
            <a:cxnLst/>
            <a:rect l="l" t="t" r="r" b="b"/>
            <a:pathLst>
              <a:path w="171450" h="321310">
                <a:moveTo>
                  <a:pt x="171268" y="0"/>
                </a:moveTo>
                <a:lnTo>
                  <a:pt x="168998" y="4257"/>
                </a:lnTo>
                <a:lnTo>
                  <a:pt x="0" y="321238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699515" y="5441102"/>
            <a:ext cx="53340" cy="64769"/>
          </a:xfrm>
          <a:custGeom>
            <a:avLst/>
            <a:gdLst/>
            <a:ahLst/>
            <a:cxnLst/>
            <a:rect l="l" t="t" r="r" b="b"/>
            <a:pathLst>
              <a:path w="53339" h="64770">
                <a:moveTo>
                  <a:pt x="52787" y="0"/>
                </a:moveTo>
                <a:lnTo>
                  <a:pt x="0" y="37472"/>
                </a:lnTo>
                <a:lnTo>
                  <a:pt x="51093" y="64712"/>
                </a:lnTo>
                <a:lnTo>
                  <a:pt x="5278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960488" y="5506219"/>
            <a:ext cx="43180" cy="361950"/>
          </a:xfrm>
          <a:custGeom>
            <a:avLst/>
            <a:gdLst/>
            <a:ahLst/>
            <a:cxnLst/>
            <a:rect l="l" t="t" r="r" b="b"/>
            <a:pathLst>
              <a:path w="43179" h="361950">
                <a:moveTo>
                  <a:pt x="0" y="0"/>
                </a:moveTo>
                <a:lnTo>
                  <a:pt x="564" y="4791"/>
                </a:lnTo>
                <a:lnTo>
                  <a:pt x="42602" y="361540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932301" y="5453508"/>
            <a:ext cx="57785" cy="60960"/>
          </a:xfrm>
          <a:custGeom>
            <a:avLst/>
            <a:gdLst/>
            <a:ahLst/>
            <a:cxnLst/>
            <a:rect l="l" t="t" r="r" b="b"/>
            <a:pathLst>
              <a:path w="57785" h="60960">
                <a:moveTo>
                  <a:pt x="21976" y="0"/>
                </a:moveTo>
                <a:lnTo>
                  <a:pt x="0" y="60891"/>
                </a:lnTo>
                <a:lnTo>
                  <a:pt x="57503" y="54115"/>
                </a:lnTo>
                <a:lnTo>
                  <a:pt x="219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61297" y="5495321"/>
            <a:ext cx="142875" cy="335280"/>
          </a:xfrm>
          <a:custGeom>
            <a:avLst/>
            <a:gdLst/>
            <a:ahLst/>
            <a:cxnLst/>
            <a:rect l="l" t="t" r="r" b="b"/>
            <a:pathLst>
              <a:path w="142875" h="335279">
                <a:moveTo>
                  <a:pt x="0" y="0"/>
                </a:moveTo>
                <a:lnTo>
                  <a:pt x="1891" y="4438"/>
                </a:lnTo>
                <a:lnTo>
                  <a:pt x="142750" y="334886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036556" y="5446496"/>
            <a:ext cx="53340" cy="64769"/>
          </a:xfrm>
          <a:custGeom>
            <a:avLst/>
            <a:gdLst/>
            <a:ahLst/>
            <a:cxnLst/>
            <a:rect l="l" t="t" r="r" b="b"/>
            <a:pathLst>
              <a:path w="53339" h="64770">
                <a:moveTo>
                  <a:pt x="3928" y="0"/>
                </a:moveTo>
                <a:lnTo>
                  <a:pt x="0" y="64616"/>
                </a:lnTo>
                <a:lnTo>
                  <a:pt x="53265" y="41912"/>
                </a:lnTo>
                <a:lnTo>
                  <a:pt x="392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474225" y="5753681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69786" y="0"/>
                </a:moveTo>
                <a:lnTo>
                  <a:pt x="41287" y="8437"/>
                </a:lnTo>
                <a:lnTo>
                  <a:pt x="17380" y="27871"/>
                </a:lnTo>
                <a:lnTo>
                  <a:pt x="2871" y="55086"/>
                </a:lnTo>
                <a:lnTo>
                  <a:pt x="0" y="84743"/>
                </a:lnTo>
                <a:lnTo>
                  <a:pt x="8429" y="113322"/>
                </a:lnTo>
                <a:lnTo>
                  <a:pt x="27823" y="137301"/>
                </a:lnTo>
                <a:lnTo>
                  <a:pt x="54974" y="151863"/>
                </a:lnTo>
                <a:lnTo>
                  <a:pt x="84555" y="154758"/>
                </a:lnTo>
                <a:lnTo>
                  <a:pt x="113053" y="146320"/>
                </a:lnTo>
                <a:lnTo>
                  <a:pt x="136960" y="126886"/>
                </a:lnTo>
                <a:lnTo>
                  <a:pt x="151469" y="99671"/>
                </a:lnTo>
                <a:lnTo>
                  <a:pt x="154340" y="70014"/>
                </a:lnTo>
                <a:lnTo>
                  <a:pt x="145911" y="41435"/>
                </a:lnTo>
                <a:lnTo>
                  <a:pt x="126516" y="17456"/>
                </a:lnTo>
                <a:lnTo>
                  <a:pt x="99366" y="2894"/>
                </a:lnTo>
                <a:lnTo>
                  <a:pt x="69786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92122" y="5787919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69786" y="0"/>
                </a:moveTo>
                <a:lnTo>
                  <a:pt x="41287" y="8437"/>
                </a:lnTo>
                <a:lnTo>
                  <a:pt x="17380" y="27871"/>
                </a:lnTo>
                <a:lnTo>
                  <a:pt x="2871" y="55086"/>
                </a:lnTo>
                <a:lnTo>
                  <a:pt x="0" y="84743"/>
                </a:lnTo>
                <a:lnTo>
                  <a:pt x="8429" y="113322"/>
                </a:lnTo>
                <a:lnTo>
                  <a:pt x="27823" y="137301"/>
                </a:lnTo>
                <a:lnTo>
                  <a:pt x="54974" y="151863"/>
                </a:lnTo>
                <a:lnTo>
                  <a:pt x="84555" y="154758"/>
                </a:lnTo>
                <a:lnTo>
                  <a:pt x="113053" y="146320"/>
                </a:lnTo>
                <a:lnTo>
                  <a:pt x="136960" y="126886"/>
                </a:lnTo>
                <a:lnTo>
                  <a:pt x="151469" y="99671"/>
                </a:lnTo>
                <a:lnTo>
                  <a:pt x="154341" y="70014"/>
                </a:lnTo>
                <a:lnTo>
                  <a:pt x="145911" y="41435"/>
                </a:lnTo>
                <a:lnTo>
                  <a:pt x="126516" y="17456"/>
                </a:lnTo>
                <a:lnTo>
                  <a:pt x="99366" y="2894"/>
                </a:lnTo>
                <a:lnTo>
                  <a:pt x="69786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926991" y="5798129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69786" y="0"/>
                </a:moveTo>
                <a:lnTo>
                  <a:pt x="41287" y="8437"/>
                </a:lnTo>
                <a:lnTo>
                  <a:pt x="17381" y="27871"/>
                </a:lnTo>
                <a:lnTo>
                  <a:pt x="2872" y="55086"/>
                </a:lnTo>
                <a:lnTo>
                  <a:pt x="0" y="84743"/>
                </a:lnTo>
                <a:lnTo>
                  <a:pt x="8429" y="113322"/>
                </a:lnTo>
                <a:lnTo>
                  <a:pt x="27824" y="137301"/>
                </a:lnTo>
                <a:lnTo>
                  <a:pt x="54975" y="151863"/>
                </a:lnTo>
                <a:lnTo>
                  <a:pt x="84555" y="154758"/>
                </a:lnTo>
                <a:lnTo>
                  <a:pt x="113054" y="146320"/>
                </a:lnTo>
                <a:lnTo>
                  <a:pt x="136960" y="126886"/>
                </a:lnTo>
                <a:lnTo>
                  <a:pt x="151469" y="99671"/>
                </a:lnTo>
                <a:lnTo>
                  <a:pt x="154341" y="70014"/>
                </a:lnTo>
                <a:lnTo>
                  <a:pt x="145912" y="41435"/>
                </a:lnTo>
                <a:lnTo>
                  <a:pt x="126517" y="17456"/>
                </a:lnTo>
                <a:lnTo>
                  <a:pt x="99366" y="2894"/>
                </a:lnTo>
                <a:lnTo>
                  <a:pt x="69786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153456" y="5767470"/>
            <a:ext cx="153035" cy="153035"/>
          </a:xfrm>
          <a:custGeom>
            <a:avLst/>
            <a:gdLst/>
            <a:ahLst/>
            <a:cxnLst/>
            <a:rect l="l" t="t" r="r" b="b"/>
            <a:pathLst>
              <a:path w="153035" h="153035">
                <a:moveTo>
                  <a:pt x="90310" y="0"/>
                </a:moveTo>
                <a:lnTo>
                  <a:pt x="60591" y="317"/>
                </a:lnTo>
                <a:lnTo>
                  <a:pt x="32279" y="12468"/>
                </a:lnTo>
                <a:lnTo>
                  <a:pt x="10877" y="34674"/>
                </a:lnTo>
                <a:lnTo>
                  <a:pt x="0" y="62414"/>
                </a:lnTo>
                <a:lnTo>
                  <a:pt x="287" y="92208"/>
                </a:lnTo>
                <a:lnTo>
                  <a:pt x="12380" y="120579"/>
                </a:lnTo>
                <a:lnTo>
                  <a:pt x="34510" y="142015"/>
                </a:lnTo>
                <a:lnTo>
                  <a:pt x="62169" y="152893"/>
                </a:lnTo>
                <a:lnTo>
                  <a:pt x="91889" y="152575"/>
                </a:lnTo>
                <a:lnTo>
                  <a:pt x="120201" y="140424"/>
                </a:lnTo>
                <a:lnTo>
                  <a:pt x="141603" y="118218"/>
                </a:lnTo>
                <a:lnTo>
                  <a:pt x="152481" y="90478"/>
                </a:lnTo>
                <a:lnTo>
                  <a:pt x="152193" y="60684"/>
                </a:lnTo>
                <a:lnTo>
                  <a:pt x="140099" y="32313"/>
                </a:lnTo>
                <a:lnTo>
                  <a:pt x="117969" y="10878"/>
                </a:lnTo>
                <a:lnTo>
                  <a:pt x="90310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297122" y="5082924"/>
            <a:ext cx="293370" cy="283845"/>
          </a:xfrm>
          <a:custGeom>
            <a:avLst/>
            <a:gdLst/>
            <a:ahLst/>
            <a:cxnLst/>
            <a:rect l="l" t="t" r="r" b="b"/>
            <a:pathLst>
              <a:path w="293370" h="283845">
                <a:moveTo>
                  <a:pt x="205295" y="0"/>
                </a:moveTo>
                <a:lnTo>
                  <a:pt x="0" y="96219"/>
                </a:lnTo>
                <a:lnTo>
                  <a:pt x="87713" y="283368"/>
                </a:lnTo>
                <a:lnTo>
                  <a:pt x="293009" y="187151"/>
                </a:lnTo>
                <a:lnTo>
                  <a:pt x="20529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297122" y="5082925"/>
            <a:ext cx="293370" cy="283845"/>
          </a:xfrm>
          <a:custGeom>
            <a:avLst/>
            <a:gdLst/>
            <a:ahLst/>
            <a:cxnLst/>
            <a:rect l="l" t="t" r="r" b="b"/>
            <a:pathLst>
              <a:path w="293370" h="283845">
                <a:moveTo>
                  <a:pt x="205295" y="0"/>
                </a:moveTo>
                <a:lnTo>
                  <a:pt x="293008" y="187149"/>
                </a:lnTo>
                <a:lnTo>
                  <a:pt x="87713" y="283367"/>
                </a:lnTo>
                <a:lnTo>
                  <a:pt x="0" y="96217"/>
                </a:lnTo>
                <a:lnTo>
                  <a:pt x="20529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367894" y="5059552"/>
            <a:ext cx="35560" cy="69850"/>
          </a:xfrm>
          <a:custGeom>
            <a:avLst/>
            <a:gdLst/>
            <a:ahLst/>
            <a:cxnLst/>
            <a:rect l="l" t="t" r="r" b="b"/>
            <a:pathLst>
              <a:path w="35560" h="69850">
                <a:moveTo>
                  <a:pt x="35509" y="69675"/>
                </a:moveTo>
                <a:lnTo>
                  <a:pt x="2190" y="4299"/>
                </a:lnTo>
                <a:lnTo>
                  <a:pt x="0" y="0"/>
                </a:lnTo>
              </a:path>
            </a:pathLst>
          </a:custGeom>
          <a:ln w="9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343794" y="5012263"/>
            <a:ext cx="52705" cy="64769"/>
          </a:xfrm>
          <a:custGeom>
            <a:avLst/>
            <a:gdLst/>
            <a:ahLst/>
            <a:cxnLst/>
            <a:rect l="l" t="t" r="r" b="b"/>
            <a:pathLst>
              <a:path w="52704" h="64770">
                <a:moveTo>
                  <a:pt x="0" y="0"/>
                </a:moveTo>
                <a:lnTo>
                  <a:pt x="496" y="64733"/>
                </a:lnTo>
                <a:lnTo>
                  <a:pt x="52085" y="384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181758" y="4817632"/>
            <a:ext cx="196215" cy="196850"/>
          </a:xfrm>
          <a:custGeom>
            <a:avLst/>
            <a:gdLst/>
            <a:ahLst/>
            <a:cxnLst/>
            <a:rect l="l" t="t" r="r" b="b"/>
            <a:pathLst>
              <a:path w="196214" h="196850">
                <a:moveTo>
                  <a:pt x="84247" y="0"/>
                </a:moveTo>
                <a:lnTo>
                  <a:pt x="48393" y="12331"/>
                </a:lnTo>
                <a:lnTo>
                  <a:pt x="19002" y="38424"/>
                </a:lnTo>
                <a:lnTo>
                  <a:pt x="2017" y="73913"/>
                </a:lnTo>
                <a:lnTo>
                  <a:pt x="0" y="111870"/>
                </a:lnTo>
                <a:lnTo>
                  <a:pt x="12326" y="147826"/>
                </a:lnTo>
                <a:lnTo>
                  <a:pt x="38372" y="177314"/>
                </a:lnTo>
                <a:lnTo>
                  <a:pt x="73782" y="194368"/>
                </a:lnTo>
                <a:lnTo>
                  <a:pt x="111642" y="196419"/>
                </a:lnTo>
                <a:lnTo>
                  <a:pt x="147496" y="184087"/>
                </a:lnTo>
                <a:lnTo>
                  <a:pt x="176888" y="157993"/>
                </a:lnTo>
                <a:lnTo>
                  <a:pt x="193873" y="122504"/>
                </a:lnTo>
                <a:lnTo>
                  <a:pt x="195890" y="84548"/>
                </a:lnTo>
                <a:lnTo>
                  <a:pt x="183564" y="48592"/>
                </a:lnTo>
                <a:lnTo>
                  <a:pt x="157517" y="19105"/>
                </a:lnTo>
                <a:lnTo>
                  <a:pt x="122107" y="2050"/>
                </a:lnTo>
                <a:lnTo>
                  <a:pt x="84247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482053" y="5382274"/>
            <a:ext cx="40005" cy="361950"/>
          </a:xfrm>
          <a:custGeom>
            <a:avLst/>
            <a:gdLst/>
            <a:ahLst/>
            <a:cxnLst/>
            <a:rect l="l" t="t" r="r" b="b"/>
            <a:pathLst>
              <a:path w="40004" h="361950">
                <a:moveTo>
                  <a:pt x="0" y="0"/>
                </a:moveTo>
                <a:lnTo>
                  <a:pt x="529" y="4795"/>
                </a:lnTo>
                <a:lnTo>
                  <a:pt x="39959" y="361842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453807" y="5329519"/>
            <a:ext cx="57785" cy="60960"/>
          </a:xfrm>
          <a:custGeom>
            <a:avLst/>
            <a:gdLst/>
            <a:ahLst/>
            <a:cxnLst/>
            <a:rect l="l" t="t" r="r" b="b"/>
            <a:pathLst>
              <a:path w="57785" h="60960">
                <a:moveTo>
                  <a:pt x="22420" y="0"/>
                </a:moveTo>
                <a:lnTo>
                  <a:pt x="0" y="60728"/>
                </a:lnTo>
                <a:lnTo>
                  <a:pt x="57551" y="54373"/>
                </a:lnTo>
                <a:lnTo>
                  <a:pt x="2242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580324" y="5340344"/>
            <a:ext cx="232410" cy="281305"/>
          </a:xfrm>
          <a:custGeom>
            <a:avLst/>
            <a:gdLst/>
            <a:ahLst/>
            <a:cxnLst/>
            <a:rect l="l" t="t" r="r" b="b"/>
            <a:pathLst>
              <a:path w="232410" h="281304">
                <a:moveTo>
                  <a:pt x="0" y="0"/>
                </a:moveTo>
                <a:lnTo>
                  <a:pt x="3072" y="3720"/>
                </a:lnTo>
                <a:lnTo>
                  <a:pt x="231833" y="280677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546523" y="5299423"/>
            <a:ext cx="59690" cy="63500"/>
          </a:xfrm>
          <a:custGeom>
            <a:avLst/>
            <a:gdLst/>
            <a:ahLst/>
            <a:cxnLst/>
            <a:rect l="l" t="t" r="r" b="b"/>
            <a:pathLst>
              <a:path w="59689" h="63500">
                <a:moveTo>
                  <a:pt x="0" y="0"/>
                </a:moveTo>
                <a:lnTo>
                  <a:pt x="14552" y="63078"/>
                </a:lnTo>
                <a:lnTo>
                  <a:pt x="59194" y="2620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450333" y="5654855"/>
            <a:ext cx="153670" cy="154305"/>
          </a:xfrm>
          <a:custGeom>
            <a:avLst/>
            <a:gdLst/>
            <a:ahLst/>
            <a:cxnLst/>
            <a:rect l="l" t="t" r="r" b="b"/>
            <a:pathLst>
              <a:path w="153670" h="154304">
                <a:moveTo>
                  <a:pt x="66040" y="0"/>
                </a:moveTo>
                <a:lnTo>
                  <a:pt x="37935" y="9666"/>
                </a:lnTo>
                <a:lnTo>
                  <a:pt x="14894" y="30120"/>
                </a:lnTo>
                <a:lnTo>
                  <a:pt x="1581" y="57940"/>
                </a:lnTo>
                <a:lnTo>
                  <a:pt x="0" y="87694"/>
                </a:lnTo>
                <a:lnTo>
                  <a:pt x="9662" y="115879"/>
                </a:lnTo>
                <a:lnTo>
                  <a:pt x="30081" y="138994"/>
                </a:lnTo>
                <a:lnTo>
                  <a:pt x="57838" y="152363"/>
                </a:lnTo>
                <a:lnTo>
                  <a:pt x="87516" y="153970"/>
                </a:lnTo>
                <a:lnTo>
                  <a:pt x="115621" y="144303"/>
                </a:lnTo>
                <a:lnTo>
                  <a:pt x="138661" y="123850"/>
                </a:lnTo>
                <a:lnTo>
                  <a:pt x="151975" y="96030"/>
                </a:lnTo>
                <a:lnTo>
                  <a:pt x="153556" y="66276"/>
                </a:lnTo>
                <a:lnTo>
                  <a:pt x="143893" y="38091"/>
                </a:lnTo>
                <a:lnTo>
                  <a:pt x="123475" y="14976"/>
                </a:lnTo>
                <a:lnTo>
                  <a:pt x="95718" y="1607"/>
                </a:lnTo>
                <a:lnTo>
                  <a:pt x="6604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742214" y="5544763"/>
            <a:ext cx="153670" cy="154305"/>
          </a:xfrm>
          <a:custGeom>
            <a:avLst/>
            <a:gdLst/>
            <a:ahLst/>
            <a:cxnLst/>
            <a:rect l="l" t="t" r="r" b="b"/>
            <a:pathLst>
              <a:path w="153670" h="154304">
                <a:moveTo>
                  <a:pt x="66040" y="0"/>
                </a:moveTo>
                <a:lnTo>
                  <a:pt x="37935" y="9666"/>
                </a:lnTo>
                <a:lnTo>
                  <a:pt x="14894" y="30119"/>
                </a:lnTo>
                <a:lnTo>
                  <a:pt x="1581" y="57939"/>
                </a:lnTo>
                <a:lnTo>
                  <a:pt x="0" y="87693"/>
                </a:lnTo>
                <a:lnTo>
                  <a:pt x="9662" y="115879"/>
                </a:lnTo>
                <a:lnTo>
                  <a:pt x="30080" y="138993"/>
                </a:lnTo>
                <a:lnTo>
                  <a:pt x="57837" y="152362"/>
                </a:lnTo>
                <a:lnTo>
                  <a:pt x="87515" y="153970"/>
                </a:lnTo>
                <a:lnTo>
                  <a:pt x="115620" y="144303"/>
                </a:lnTo>
                <a:lnTo>
                  <a:pt x="138660" y="123849"/>
                </a:lnTo>
                <a:lnTo>
                  <a:pt x="151974" y="96030"/>
                </a:lnTo>
                <a:lnTo>
                  <a:pt x="153556" y="66276"/>
                </a:lnTo>
                <a:lnTo>
                  <a:pt x="143893" y="38091"/>
                </a:lnTo>
                <a:lnTo>
                  <a:pt x="123476" y="14976"/>
                </a:lnTo>
                <a:lnTo>
                  <a:pt x="95718" y="1607"/>
                </a:lnTo>
                <a:lnTo>
                  <a:pt x="6604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807255" y="4884854"/>
            <a:ext cx="196215" cy="196850"/>
          </a:xfrm>
          <a:custGeom>
            <a:avLst/>
            <a:gdLst/>
            <a:ahLst/>
            <a:cxnLst/>
            <a:rect l="l" t="t" r="r" b="b"/>
            <a:pathLst>
              <a:path w="196214" h="196850">
                <a:moveTo>
                  <a:pt x="84247" y="0"/>
                </a:moveTo>
                <a:lnTo>
                  <a:pt x="48393" y="12331"/>
                </a:lnTo>
                <a:lnTo>
                  <a:pt x="19001" y="38424"/>
                </a:lnTo>
                <a:lnTo>
                  <a:pt x="2017" y="73913"/>
                </a:lnTo>
                <a:lnTo>
                  <a:pt x="0" y="111870"/>
                </a:lnTo>
                <a:lnTo>
                  <a:pt x="12326" y="147826"/>
                </a:lnTo>
                <a:lnTo>
                  <a:pt x="38373" y="177314"/>
                </a:lnTo>
                <a:lnTo>
                  <a:pt x="73782" y="194368"/>
                </a:lnTo>
                <a:lnTo>
                  <a:pt x="111642" y="196419"/>
                </a:lnTo>
                <a:lnTo>
                  <a:pt x="147496" y="184087"/>
                </a:lnTo>
                <a:lnTo>
                  <a:pt x="176888" y="157993"/>
                </a:lnTo>
                <a:lnTo>
                  <a:pt x="193872" y="122504"/>
                </a:lnTo>
                <a:lnTo>
                  <a:pt x="195889" y="84548"/>
                </a:lnTo>
                <a:lnTo>
                  <a:pt x="183563" y="48592"/>
                </a:lnTo>
                <a:lnTo>
                  <a:pt x="157516" y="19105"/>
                </a:lnTo>
                <a:lnTo>
                  <a:pt x="122107" y="2050"/>
                </a:lnTo>
                <a:lnTo>
                  <a:pt x="84247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357664" y="4035535"/>
            <a:ext cx="347345" cy="316865"/>
          </a:xfrm>
          <a:custGeom>
            <a:avLst/>
            <a:gdLst/>
            <a:ahLst/>
            <a:cxnLst/>
            <a:rect l="l" t="t" r="r" b="b"/>
            <a:pathLst>
              <a:path w="347345" h="316864">
                <a:moveTo>
                  <a:pt x="346687" y="0"/>
                </a:moveTo>
                <a:lnTo>
                  <a:pt x="0" y="363"/>
                </a:lnTo>
                <a:lnTo>
                  <a:pt x="330" y="316407"/>
                </a:lnTo>
                <a:lnTo>
                  <a:pt x="347017" y="316044"/>
                </a:lnTo>
                <a:lnTo>
                  <a:pt x="346687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357664" y="4035535"/>
            <a:ext cx="347345" cy="316865"/>
          </a:xfrm>
          <a:custGeom>
            <a:avLst/>
            <a:gdLst/>
            <a:ahLst/>
            <a:cxnLst/>
            <a:rect l="l" t="t" r="r" b="b"/>
            <a:pathLst>
              <a:path w="347345" h="316864">
                <a:moveTo>
                  <a:pt x="0" y="362"/>
                </a:moveTo>
                <a:lnTo>
                  <a:pt x="330" y="316406"/>
                </a:lnTo>
                <a:lnTo>
                  <a:pt x="347017" y="316043"/>
                </a:lnTo>
                <a:lnTo>
                  <a:pt x="346686" y="0"/>
                </a:lnTo>
                <a:lnTo>
                  <a:pt x="0" y="362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424035" y="3628344"/>
            <a:ext cx="201295" cy="201295"/>
          </a:xfrm>
          <a:custGeom>
            <a:avLst/>
            <a:gdLst/>
            <a:ahLst/>
            <a:cxnLst/>
            <a:rect l="l" t="t" r="r" b="b"/>
            <a:pathLst>
              <a:path w="201295" h="201295">
                <a:moveTo>
                  <a:pt x="114386" y="0"/>
                </a:moveTo>
                <a:lnTo>
                  <a:pt x="75596" y="2101"/>
                </a:lnTo>
                <a:lnTo>
                  <a:pt x="39316" y="19575"/>
                </a:lnTo>
                <a:lnTo>
                  <a:pt x="12629" y="49786"/>
                </a:lnTo>
                <a:lnTo>
                  <a:pt x="0" y="86625"/>
                </a:lnTo>
                <a:lnTo>
                  <a:pt x="2067" y="125515"/>
                </a:lnTo>
                <a:lnTo>
                  <a:pt x="19468" y="161876"/>
                </a:lnTo>
                <a:lnTo>
                  <a:pt x="49582" y="188610"/>
                </a:lnTo>
                <a:lnTo>
                  <a:pt x="86317" y="201245"/>
                </a:lnTo>
                <a:lnTo>
                  <a:pt x="125108" y="199143"/>
                </a:lnTo>
                <a:lnTo>
                  <a:pt x="161387" y="181670"/>
                </a:lnTo>
                <a:lnTo>
                  <a:pt x="188074" y="151458"/>
                </a:lnTo>
                <a:lnTo>
                  <a:pt x="200703" y="114618"/>
                </a:lnTo>
                <a:lnTo>
                  <a:pt x="198636" y="75729"/>
                </a:lnTo>
                <a:lnTo>
                  <a:pt x="181235" y="39368"/>
                </a:lnTo>
                <a:lnTo>
                  <a:pt x="151121" y="12634"/>
                </a:lnTo>
                <a:lnTo>
                  <a:pt x="114386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078253" y="4832140"/>
            <a:ext cx="201295" cy="201295"/>
          </a:xfrm>
          <a:custGeom>
            <a:avLst/>
            <a:gdLst/>
            <a:ahLst/>
            <a:cxnLst/>
            <a:rect l="l" t="t" r="r" b="b"/>
            <a:pathLst>
              <a:path w="201295" h="201295">
                <a:moveTo>
                  <a:pt x="114385" y="0"/>
                </a:moveTo>
                <a:lnTo>
                  <a:pt x="75595" y="2100"/>
                </a:lnTo>
                <a:lnTo>
                  <a:pt x="39315" y="19574"/>
                </a:lnTo>
                <a:lnTo>
                  <a:pt x="12628" y="49786"/>
                </a:lnTo>
                <a:lnTo>
                  <a:pt x="0" y="86625"/>
                </a:lnTo>
                <a:lnTo>
                  <a:pt x="2067" y="125514"/>
                </a:lnTo>
                <a:lnTo>
                  <a:pt x="19469" y="161875"/>
                </a:lnTo>
                <a:lnTo>
                  <a:pt x="49582" y="188610"/>
                </a:lnTo>
                <a:lnTo>
                  <a:pt x="86317" y="201244"/>
                </a:lnTo>
                <a:lnTo>
                  <a:pt x="125107" y="199143"/>
                </a:lnTo>
                <a:lnTo>
                  <a:pt x="161387" y="181669"/>
                </a:lnTo>
                <a:lnTo>
                  <a:pt x="188074" y="151458"/>
                </a:lnTo>
                <a:lnTo>
                  <a:pt x="200702" y="114618"/>
                </a:lnTo>
                <a:lnTo>
                  <a:pt x="198636" y="75729"/>
                </a:lnTo>
                <a:lnTo>
                  <a:pt x="181235" y="39368"/>
                </a:lnTo>
                <a:lnTo>
                  <a:pt x="151120" y="12635"/>
                </a:lnTo>
                <a:lnTo>
                  <a:pt x="114385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843765" y="5129091"/>
            <a:ext cx="273050" cy="260350"/>
          </a:xfrm>
          <a:custGeom>
            <a:avLst/>
            <a:gdLst/>
            <a:ahLst/>
            <a:cxnLst/>
            <a:rect l="l" t="t" r="r" b="b"/>
            <a:pathLst>
              <a:path w="273050" h="260350">
                <a:moveTo>
                  <a:pt x="210795" y="0"/>
                </a:moveTo>
                <a:lnTo>
                  <a:pt x="0" y="67694"/>
                </a:lnTo>
                <a:lnTo>
                  <a:pt x="61711" y="259858"/>
                </a:lnTo>
                <a:lnTo>
                  <a:pt x="272507" y="192163"/>
                </a:lnTo>
                <a:lnTo>
                  <a:pt x="21079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843766" y="5129091"/>
            <a:ext cx="273050" cy="260350"/>
          </a:xfrm>
          <a:custGeom>
            <a:avLst/>
            <a:gdLst/>
            <a:ahLst/>
            <a:cxnLst/>
            <a:rect l="l" t="t" r="r" b="b"/>
            <a:pathLst>
              <a:path w="273050" h="260350">
                <a:moveTo>
                  <a:pt x="210795" y="0"/>
                </a:moveTo>
                <a:lnTo>
                  <a:pt x="272506" y="192163"/>
                </a:lnTo>
                <a:lnTo>
                  <a:pt x="61711" y="259857"/>
                </a:lnTo>
                <a:lnTo>
                  <a:pt x="0" y="67694"/>
                </a:lnTo>
                <a:lnTo>
                  <a:pt x="21079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736757" y="5775484"/>
            <a:ext cx="159385" cy="159385"/>
          </a:xfrm>
          <a:custGeom>
            <a:avLst/>
            <a:gdLst/>
            <a:ahLst/>
            <a:cxnLst/>
            <a:rect l="l" t="t" r="r" b="b"/>
            <a:pathLst>
              <a:path w="159384" h="159385">
                <a:moveTo>
                  <a:pt x="76447" y="0"/>
                </a:moveTo>
                <a:lnTo>
                  <a:pt x="46794" y="6927"/>
                </a:lnTo>
                <a:lnTo>
                  <a:pt x="21919" y="24493"/>
                </a:lnTo>
                <a:lnTo>
                  <a:pt x="5120" y="51218"/>
                </a:lnTo>
                <a:lnTo>
                  <a:pt x="0" y="82399"/>
                </a:lnTo>
                <a:lnTo>
                  <a:pt x="6974" y="112120"/>
                </a:lnTo>
                <a:lnTo>
                  <a:pt x="24559" y="137074"/>
                </a:lnTo>
                <a:lnTo>
                  <a:pt x="51270" y="153957"/>
                </a:lnTo>
                <a:lnTo>
                  <a:pt x="82406" y="159150"/>
                </a:lnTo>
                <a:lnTo>
                  <a:pt x="112060" y="152222"/>
                </a:lnTo>
                <a:lnTo>
                  <a:pt x="136934" y="134656"/>
                </a:lnTo>
                <a:lnTo>
                  <a:pt x="153733" y="107931"/>
                </a:lnTo>
                <a:lnTo>
                  <a:pt x="158853" y="76750"/>
                </a:lnTo>
                <a:lnTo>
                  <a:pt x="151879" y="47029"/>
                </a:lnTo>
                <a:lnTo>
                  <a:pt x="134294" y="22075"/>
                </a:lnTo>
                <a:lnTo>
                  <a:pt x="107583" y="5192"/>
                </a:lnTo>
                <a:lnTo>
                  <a:pt x="76447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959445" y="5736986"/>
            <a:ext cx="159385" cy="159385"/>
          </a:xfrm>
          <a:custGeom>
            <a:avLst/>
            <a:gdLst/>
            <a:ahLst/>
            <a:cxnLst/>
            <a:rect l="l" t="t" r="r" b="b"/>
            <a:pathLst>
              <a:path w="159384" h="159385">
                <a:moveTo>
                  <a:pt x="76447" y="0"/>
                </a:moveTo>
                <a:lnTo>
                  <a:pt x="46793" y="6927"/>
                </a:lnTo>
                <a:lnTo>
                  <a:pt x="21919" y="24493"/>
                </a:lnTo>
                <a:lnTo>
                  <a:pt x="5119" y="51218"/>
                </a:lnTo>
                <a:lnTo>
                  <a:pt x="0" y="82399"/>
                </a:lnTo>
                <a:lnTo>
                  <a:pt x="6975" y="112120"/>
                </a:lnTo>
                <a:lnTo>
                  <a:pt x="24560" y="137074"/>
                </a:lnTo>
                <a:lnTo>
                  <a:pt x="51272" y="153957"/>
                </a:lnTo>
                <a:lnTo>
                  <a:pt x="82407" y="159150"/>
                </a:lnTo>
                <a:lnTo>
                  <a:pt x="112060" y="152222"/>
                </a:lnTo>
                <a:lnTo>
                  <a:pt x="136934" y="134656"/>
                </a:lnTo>
                <a:lnTo>
                  <a:pt x="153733" y="107931"/>
                </a:lnTo>
                <a:lnTo>
                  <a:pt x="158854" y="76750"/>
                </a:lnTo>
                <a:lnTo>
                  <a:pt x="151879" y="47029"/>
                </a:lnTo>
                <a:lnTo>
                  <a:pt x="134294" y="22075"/>
                </a:lnTo>
                <a:lnTo>
                  <a:pt x="107584" y="5192"/>
                </a:lnTo>
                <a:lnTo>
                  <a:pt x="76447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190691" y="5669588"/>
            <a:ext cx="159385" cy="159385"/>
          </a:xfrm>
          <a:custGeom>
            <a:avLst/>
            <a:gdLst/>
            <a:ahLst/>
            <a:cxnLst/>
            <a:rect l="l" t="t" r="r" b="b"/>
            <a:pathLst>
              <a:path w="159384" h="159385">
                <a:moveTo>
                  <a:pt x="76447" y="0"/>
                </a:moveTo>
                <a:lnTo>
                  <a:pt x="46794" y="6927"/>
                </a:lnTo>
                <a:lnTo>
                  <a:pt x="21919" y="24493"/>
                </a:lnTo>
                <a:lnTo>
                  <a:pt x="5120" y="51218"/>
                </a:lnTo>
                <a:lnTo>
                  <a:pt x="0" y="82399"/>
                </a:lnTo>
                <a:lnTo>
                  <a:pt x="6974" y="112120"/>
                </a:lnTo>
                <a:lnTo>
                  <a:pt x="24559" y="137074"/>
                </a:lnTo>
                <a:lnTo>
                  <a:pt x="51270" y="153957"/>
                </a:lnTo>
                <a:lnTo>
                  <a:pt x="82406" y="159150"/>
                </a:lnTo>
                <a:lnTo>
                  <a:pt x="112060" y="152222"/>
                </a:lnTo>
                <a:lnTo>
                  <a:pt x="136934" y="134656"/>
                </a:lnTo>
                <a:lnTo>
                  <a:pt x="153733" y="107931"/>
                </a:lnTo>
                <a:lnTo>
                  <a:pt x="158853" y="76750"/>
                </a:lnTo>
                <a:lnTo>
                  <a:pt x="151879" y="47029"/>
                </a:lnTo>
                <a:lnTo>
                  <a:pt x="134294" y="22075"/>
                </a:lnTo>
                <a:lnTo>
                  <a:pt x="107583" y="5192"/>
                </a:lnTo>
                <a:lnTo>
                  <a:pt x="76447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399957" y="5565476"/>
            <a:ext cx="157480" cy="158115"/>
          </a:xfrm>
          <a:custGeom>
            <a:avLst/>
            <a:gdLst/>
            <a:ahLst/>
            <a:cxnLst/>
            <a:rect l="l" t="t" r="r" b="b"/>
            <a:pathLst>
              <a:path w="157479" h="158114">
                <a:moveTo>
                  <a:pt x="67082" y="0"/>
                </a:moveTo>
                <a:lnTo>
                  <a:pt x="38350" y="10089"/>
                </a:lnTo>
                <a:lnTo>
                  <a:pt x="14879" y="31197"/>
                </a:lnTo>
                <a:lnTo>
                  <a:pt x="1423" y="59787"/>
                </a:lnTo>
                <a:lnTo>
                  <a:pt x="0" y="90282"/>
                </a:lnTo>
                <a:lnTo>
                  <a:pt x="10085" y="119096"/>
                </a:lnTo>
                <a:lnTo>
                  <a:pt x="31157" y="142643"/>
                </a:lnTo>
                <a:lnTo>
                  <a:pt x="59684" y="156157"/>
                </a:lnTo>
                <a:lnTo>
                  <a:pt x="90101" y="157608"/>
                </a:lnTo>
                <a:lnTo>
                  <a:pt x="118833" y="147519"/>
                </a:lnTo>
                <a:lnTo>
                  <a:pt x="142303" y="126411"/>
                </a:lnTo>
                <a:lnTo>
                  <a:pt x="155760" y="97820"/>
                </a:lnTo>
                <a:lnTo>
                  <a:pt x="157184" y="67325"/>
                </a:lnTo>
                <a:lnTo>
                  <a:pt x="147099" y="38512"/>
                </a:lnTo>
                <a:lnTo>
                  <a:pt x="126027" y="14964"/>
                </a:lnTo>
                <a:lnTo>
                  <a:pt x="97500" y="1450"/>
                </a:lnTo>
                <a:lnTo>
                  <a:pt x="6708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085786" y="5090454"/>
            <a:ext cx="23495" cy="71755"/>
          </a:xfrm>
          <a:custGeom>
            <a:avLst/>
            <a:gdLst/>
            <a:ahLst/>
            <a:cxnLst/>
            <a:rect l="l" t="t" r="r" b="b"/>
            <a:pathLst>
              <a:path w="23495" h="71754">
                <a:moveTo>
                  <a:pt x="0" y="71632"/>
                </a:moveTo>
                <a:lnTo>
                  <a:pt x="21785" y="4588"/>
                </a:lnTo>
                <a:lnTo>
                  <a:pt x="23276" y="0"/>
                </a:lnTo>
              </a:path>
            </a:pathLst>
          </a:custGeom>
          <a:ln w="9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080040" y="5039974"/>
            <a:ext cx="55244" cy="64135"/>
          </a:xfrm>
          <a:custGeom>
            <a:avLst/>
            <a:gdLst/>
            <a:ahLst/>
            <a:cxnLst/>
            <a:rect l="l" t="t" r="r" b="b"/>
            <a:pathLst>
              <a:path w="55245" h="64135">
                <a:moveTo>
                  <a:pt x="45426" y="0"/>
                </a:moveTo>
                <a:lnTo>
                  <a:pt x="0" y="46121"/>
                </a:lnTo>
                <a:lnTo>
                  <a:pt x="55065" y="64014"/>
                </a:lnTo>
                <a:lnTo>
                  <a:pt x="454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911832" y="5123667"/>
            <a:ext cx="277495" cy="265430"/>
          </a:xfrm>
          <a:custGeom>
            <a:avLst/>
            <a:gdLst/>
            <a:ahLst/>
            <a:cxnLst/>
            <a:rect l="l" t="t" r="r" b="b"/>
            <a:pathLst>
              <a:path w="277495" h="265429">
                <a:moveTo>
                  <a:pt x="68681" y="0"/>
                </a:moveTo>
                <a:lnTo>
                  <a:pt x="0" y="189784"/>
                </a:lnTo>
                <a:lnTo>
                  <a:pt x="208184" y="265125"/>
                </a:lnTo>
                <a:lnTo>
                  <a:pt x="276866" y="75341"/>
                </a:lnTo>
                <a:lnTo>
                  <a:pt x="6868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911832" y="5123668"/>
            <a:ext cx="277495" cy="265430"/>
          </a:xfrm>
          <a:custGeom>
            <a:avLst/>
            <a:gdLst/>
            <a:ahLst/>
            <a:cxnLst/>
            <a:rect l="l" t="t" r="r" b="b"/>
            <a:pathLst>
              <a:path w="277495" h="265429">
                <a:moveTo>
                  <a:pt x="276866" y="75340"/>
                </a:moveTo>
                <a:lnTo>
                  <a:pt x="208184" y="265124"/>
                </a:lnTo>
                <a:lnTo>
                  <a:pt x="0" y="189783"/>
                </a:lnTo>
                <a:lnTo>
                  <a:pt x="68681" y="0"/>
                </a:lnTo>
                <a:lnTo>
                  <a:pt x="276866" y="7534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621341" y="4411203"/>
            <a:ext cx="229235" cy="461009"/>
          </a:xfrm>
          <a:custGeom>
            <a:avLst/>
            <a:gdLst/>
            <a:ahLst/>
            <a:cxnLst/>
            <a:rect l="l" t="t" r="r" b="b"/>
            <a:pathLst>
              <a:path w="229234" h="461010">
                <a:moveTo>
                  <a:pt x="0" y="0"/>
                </a:moveTo>
                <a:lnTo>
                  <a:pt x="2145" y="4321"/>
                </a:lnTo>
                <a:lnTo>
                  <a:pt x="228801" y="460882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597556" y="4363662"/>
            <a:ext cx="52069" cy="64769"/>
          </a:xfrm>
          <a:custGeom>
            <a:avLst/>
            <a:gdLst/>
            <a:ahLst/>
            <a:cxnLst/>
            <a:rect l="l" t="t" r="r" b="b"/>
            <a:pathLst>
              <a:path w="52070" h="64770">
                <a:moveTo>
                  <a:pt x="184" y="0"/>
                </a:moveTo>
                <a:lnTo>
                  <a:pt x="0" y="64735"/>
                </a:lnTo>
                <a:lnTo>
                  <a:pt x="51862" y="38988"/>
                </a:lnTo>
                <a:lnTo>
                  <a:pt x="18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7213351" y="4411122"/>
            <a:ext cx="234950" cy="462280"/>
          </a:xfrm>
          <a:custGeom>
            <a:avLst/>
            <a:gdLst/>
            <a:ahLst/>
            <a:cxnLst/>
            <a:rect l="l" t="t" r="r" b="b"/>
            <a:pathLst>
              <a:path w="234950" h="462279">
                <a:moveTo>
                  <a:pt x="234559" y="0"/>
                </a:moveTo>
                <a:lnTo>
                  <a:pt x="232375" y="4302"/>
                </a:lnTo>
                <a:lnTo>
                  <a:pt x="0" y="462056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7419912" y="4363796"/>
            <a:ext cx="52069" cy="64769"/>
          </a:xfrm>
          <a:custGeom>
            <a:avLst/>
            <a:gdLst/>
            <a:ahLst/>
            <a:cxnLst/>
            <a:rect l="l" t="t" r="r" b="b"/>
            <a:pathLst>
              <a:path w="52070" h="64770">
                <a:moveTo>
                  <a:pt x="52024" y="0"/>
                </a:moveTo>
                <a:lnTo>
                  <a:pt x="0" y="38525"/>
                </a:lnTo>
                <a:lnTo>
                  <a:pt x="51630" y="64734"/>
                </a:lnTo>
                <a:lnTo>
                  <a:pt x="5202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7524804" y="3887991"/>
            <a:ext cx="5080" cy="147955"/>
          </a:xfrm>
          <a:custGeom>
            <a:avLst/>
            <a:gdLst/>
            <a:ahLst/>
            <a:cxnLst/>
            <a:rect l="l" t="t" r="r" b="b"/>
            <a:pathLst>
              <a:path w="5079" h="147954">
                <a:moveTo>
                  <a:pt x="0" y="147587"/>
                </a:moveTo>
                <a:lnTo>
                  <a:pt x="4570" y="4822"/>
                </a:lnTo>
                <a:lnTo>
                  <a:pt x="4724" y="0"/>
                </a:lnTo>
              </a:path>
            </a:pathLst>
          </a:custGeom>
          <a:ln w="9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500438" y="3834942"/>
            <a:ext cx="58419" cy="59055"/>
          </a:xfrm>
          <a:custGeom>
            <a:avLst/>
            <a:gdLst/>
            <a:ahLst/>
            <a:cxnLst/>
            <a:rect l="l" t="t" r="r" b="b"/>
            <a:pathLst>
              <a:path w="58420" h="59054">
                <a:moveTo>
                  <a:pt x="30787" y="0"/>
                </a:moveTo>
                <a:lnTo>
                  <a:pt x="0" y="56944"/>
                </a:lnTo>
                <a:lnTo>
                  <a:pt x="57871" y="58797"/>
                </a:lnTo>
                <a:lnTo>
                  <a:pt x="307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925010" y="5091941"/>
            <a:ext cx="25400" cy="71120"/>
          </a:xfrm>
          <a:custGeom>
            <a:avLst/>
            <a:gdLst/>
            <a:ahLst/>
            <a:cxnLst/>
            <a:rect l="l" t="t" r="r" b="b"/>
            <a:pathLst>
              <a:path w="25400" h="71120">
                <a:moveTo>
                  <a:pt x="25318" y="70722"/>
                </a:moveTo>
                <a:lnTo>
                  <a:pt x="1626" y="4542"/>
                </a:lnTo>
                <a:lnTo>
                  <a:pt x="0" y="0"/>
                </a:lnTo>
              </a:path>
            </a:pathLst>
          </a:custGeom>
          <a:ln w="9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899379" y="5041969"/>
            <a:ext cx="54610" cy="64769"/>
          </a:xfrm>
          <a:custGeom>
            <a:avLst/>
            <a:gdLst/>
            <a:ahLst/>
            <a:cxnLst/>
            <a:rect l="l" t="t" r="r" b="b"/>
            <a:pathLst>
              <a:path w="54609" h="64770">
                <a:moveTo>
                  <a:pt x="7740" y="0"/>
                </a:moveTo>
                <a:lnTo>
                  <a:pt x="0" y="64270"/>
                </a:lnTo>
                <a:lnTo>
                  <a:pt x="54513" y="44756"/>
                </a:lnTo>
                <a:lnTo>
                  <a:pt x="77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976772" y="5449215"/>
            <a:ext cx="46355" cy="371475"/>
          </a:xfrm>
          <a:custGeom>
            <a:avLst/>
            <a:gdLst/>
            <a:ahLst/>
            <a:cxnLst/>
            <a:rect l="l" t="t" r="r" b="b"/>
            <a:pathLst>
              <a:path w="46354" h="371475">
                <a:moveTo>
                  <a:pt x="0" y="0"/>
                </a:moveTo>
                <a:lnTo>
                  <a:pt x="591" y="4788"/>
                </a:lnTo>
                <a:lnTo>
                  <a:pt x="45874" y="371469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948631" y="5396539"/>
            <a:ext cx="57785" cy="61594"/>
          </a:xfrm>
          <a:custGeom>
            <a:avLst/>
            <a:gdLst/>
            <a:ahLst/>
            <a:cxnLst/>
            <a:rect l="l" t="t" r="r" b="b"/>
            <a:pathLst>
              <a:path w="57784" h="61595">
                <a:moveTo>
                  <a:pt x="21635" y="0"/>
                </a:moveTo>
                <a:lnTo>
                  <a:pt x="0" y="61012"/>
                </a:lnTo>
                <a:lnTo>
                  <a:pt x="57464" y="53916"/>
                </a:lnTo>
                <a:lnTo>
                  <a:pt x="2163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813509" y="5462944"/>
            <a:ext cx="60960" cy="369570"/>
          </a:xfrm>
          <a:custGeom>
            <a:avLst/>
            <a:gdLst/>
            <a:ahLst/>
            <a:cxnLst/>
            <a:rect l="l" t="t" r="r" b="b"/>
            <a:pathLst>
              <a:path w="60959" h="369570">
                <a:moveTo>
                  <a:pt x="60656" y="0"/>
                </a:moveTo>
                <a:lnTo>
                  <a:pt x="59874" y="4761"/>
                </a:lnTo>
                <a:lnTo>
                  <a:pt x="0" y="369343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844818" y="5410569"/>
            <a:ext cx="57150" cy="62230"/>
          </a:xfrm>
          <a:custGeom>
            <a:avLst/>
            <a:gdLst/>
            <a:ahLst/>
            <a:cxnLst/>
            <a:rect l="l" t="t" r="r" b="b"/>
            <a:pathLst>
              <a:path w="57150" h="62229">
                <a:moveTo>
                  <a:pt x="37950" y="0"/>
                </a:moveTo>
                <a:lnTo>
                  <a:pt x="0" y="52444"/>
                </a:lnTo>
                <a:lnTo>
                  <a:pt x="57134" y="61827"/>
                </a:lnTo>
                <a:lnTo>
                  <a:pt x="3795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8105636" y="5404054"/>
            <a:ext cx="161290" cy="338455"/>
          </a:xfrm>
          <a:custGeom>
            <a:avLst/>
            <a:gdLst/>
            <a:ahLst/>
            <a:cxnLst/>
            <a:rect l="l" t="t" r="r" b="b"/>
            <a:pathLst>
              <a:path w="161290" h="338454">
                <a:moveTo>
                  <a:pt x="0" y="0"/>
                </a:moveTo>
                <a:lnTo>
                  <a:pt x="2074" y="4356"/>
                </a:lnTo>
                <a:lnTo>
                  <a:pt x="160892" y="337946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8081571" y="5356132"/>
            <a:ext cx="52705" cy="64769"/>
          </a:xfrm>
          <a:custGeom>
            <a:avLst/>
            <a:gdLst/>
            <a:ahLst/>
            <a:cxnLst/>
            <a:rect l="l" t="t" r="r" b="b"/>
            <a:pathLst>
              <a:path w="52704" h="64770">
                <a:moveTo>
                  <a:pt x="1249" y="0"/>
                </a:moveTo>
                <a:lnTo>
                  <a:pt x="0" y="64723"/>
                </a:lnTo>
                <a:lnTo>
                  <a:pt x="52278" y="39833"/>
                </a:lnTo>
                <a:lnTo>
                  <a:pt x="124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199550" y="5360506"/>
            <a:ext cx="250190" cy="279400"/>
          </a:xfrm>
          <a:custGeom>
            <a:avLst/>
            <a:gdLst/>
            <a:ahLst/>
            <a:cxnLst/>
            <a:rect l="l" t="t" r="r" b="b"/>
            <a:pathLst>
              <a:path w="250190" h="279400">
                <a:moveTo>
                  <a:pt x="0" y="0"/>
                </a:moveTo>
                <a:lnTo>
                  <a:pt x="3217" y="3595"/>
                </a:lnTo>
                <a:lnTo>
                  <a:pt x="249598" y="278916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164156" y="5320954"/>
            <a:ext cx="60325" cy="62865"/>
          </a:xfrm>
          <a:custGeom>
            <a:avLst/>
            <a:gdLst/>
            <a:ahLst/>
            <a:cxnLst/>
            <a:rect l="l" t="t" r="r" b="b"/>
            <a:pathLst>
              <a:path w="60325" h="62864">
                <a:moveTo>
                  <a:pt x="0" y="0"/>
                </a:moveTo>
                <a:lnTo>
                  <a:pt x="17038" y="62453"/>
                </a:lnTo>
                <a:lnTo>
                  <a:pt x="60185" y="23841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050360" y="5426881"/>
            <a:ext cx="37465" cy="349885"/>
          </a:xfrm>
          <a:custGeom>
            <a:avLst/>
            <a:gdLst/>
            <a:ahLst/>
            <a:cxnLst/>
            <a:rect l="l" t="t" r="r" b="b"/>
            <a:pathLst>
              <a:path w="37465" h="349885">
                <a:moveTo>
                  <a:pt x="0" y="0"/>
                </a:moveTo>
                <a:lnTo>
                  <a:pt x="507" y="4798"/>
                </a:lnTo>
                <a:lnTo>
                  <a:pt x="36942" y="349292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022077" y="5374100"/>
            <a:ext cx="57785" cy="60960"/>
          </a:xfrm>
          <a:custGeom>
            <a:avLst/>
            <a:gdLst/>
            <a:ahLst/>
            <a:cxnLst/>
            <a:rect l="l" t="t" r="r" b="b"/>
            <a:pathLst>
              <a:path w="57784" h="60960">
                <a:moveTo>
                  <a:pt x="22699" y="0"/>
                </a:moveTo>
                <a:lnTo>
                  <a:pt x="0" y="60624"/>
                </a:lnTo>
                <a:lnTo>
                  <a:pt x="57579" y="54535"/>
                </a:lnTo>
                <a:lnTo>
                  <a:pt x="226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703128" y="5383069"/>
            <a:ext cx="226060" cy="248285"/>
          </a:xfrm>
          <a:custGeom>
            <a:avLst/>
            <a:gdLst/>
            <a:ahLst/>
            <a:cxnLst/>
            <a:rect l="l" t="t" r="r" b="b"/>
            <a:pathLst>
              <a:path w="226059" h="248285">
                <a:moveTo>
                  <a:pt x="225622" y="0"/>
                </a:moveTo>
                <a:lnTo>
                  <a:pt x="222375" y="3568"/>
                </a:lnTo>
                <a:lnTo>
                  <a:pt x="0" y="247952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904090" y="5343813"/>
            <a:ext cx="60960" cy="62865"/>
          </a:xfrm>
          <a:custGeom>
            <a:avLst/>
            <a:gdLst/>
            <a:ahLst/>
            <a:cxnLst/>
            <a:rect l="l" t="t" r="r" b="b"/>
            <a:pathLst>
              <a:path w="60959" h="62864">
                <a:moveTo>
                  <a:pt x="60380" y="0"/>
                </a:moveTo>
                <a:lnTo>
                  <a:pt x="0" y="23341"/>
                </a:lnTo>
                <a:lnTo>
                  <a:pt x="42825" y="62310"/>
                </a:lnTo>
                <a:lnTo>
                  <a:pt x="6038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881624" y="5406098"/>
            <a:ext cx="106680" cy="323215"/>
          </a:xfrm>
          <a:custGeom>
            <a:avLst/>
            <a:gdLst/>
            <a:ahLst/>
            <a:cxnLst/>
            <a:rect l="l" t="t" r="r" b="b"/>
            <a:pathLst>
              <a:path w="106679" h="323214">
                <a:moveTo>
                  <a:pt x="106278" y="0"/>
                </a:moveTo>
                <a:lnTo>
                  <a:pt x="104769" y="4583"/>
                </a:lnTo>
                <a:lnTo>
                  <a:pt x="0" y="322992"/>
                </a:lnTo>
              </a:path>
            </a:pathLst>
          </a:custGeom>
          <a:ln w="9650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958893" y="5355681"/>
            <a:ext cx="55244" cy="64135"/>
          </a:xfrm>
          <a:custGeom>
            <a:avLst/>
            <a:gdLst/>
            <a:ahLst/>
            <a:cxnLst/>
            <a:rect l="l" t="t" r="r" b="b"/>
            <a:pathLst>
              <a:path w="55245" h="64135">
                <a:moveTo>
                  <a:pt x="45598" y="0"/>
                </a:moveTo>
                <a:lnTo>
                  <a:pt x="0" y="45951"/>
                </a:lnTo>
                <a:lnTo>
                  <a:pt x="54999" y="64048"/>
                </a:lnTo>
                <a:lnTo>
                  <a:pt x="4559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794582" y="5677762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92696" y="0"/>
                </a:moveTo>
                <a:lnTo>
                  <a:pt x="62245" y="245"/>
                </a:lnTo>
                <a:lnTo>
                  <a:pt x="33205" y="12619"/>
                </a:lnTo>
                <a:lnTo>
                  <a:pt x="11218" y="35314"/>
                </a:lnTo>
                <a:lnTo>
                  <a:pt x="0" y="63706"/>
                </a:lnTo>
                <a:lnTo>
                  <a:pt x="215" y="94233"/>
                </a:lnTo>
                <a:lnTo>
                  <a:pt x="12530" y="123334"/>
                </a:lnTo>
                <a:lnTo>
                  <a:pt x="35146" y="145354"/>
                </a:lnTo>
                <a:lnTo>
                  <a:pt x="63456" y="156574"/>
                </a:lnTo>
                <a:lnTo>
                  <a:pt x="93906" y="156328"/>
                </a:lnTo>
                <a:lnTo>
                  <a:pt x="122946" y="143954"/>
                </a:lnTo>
                <a:lnTo>
                  <a:pt x="144934" y="121259"/>
                </a:lnTo>
                <a:lnTo>
                  <a:pt x="156152" y="92867"/>
                </a:lnTo>
                <a:lnTo>
                  <a:pt x="155937" y="62340"/>
                </a:lnTo>
                <a:lnTo>
                  <a:pt x="143622" y="33239"/>
                </a:lnTo>
                <a:lnTo>
                  <a:pt x="121006" y="11219"/>
                </a:lnTo>
                <a:lnTo>
                  <a:pt x="92696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006272" y="5735196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92696" y="0"/>
                </a:moveTo>
                <a:lnTo>
                  <a:pt x="62245" y="245"/>
                </a:lnTo>
                <a:lnTo>
                  <a:pt x="33205" y="12619"/>
                </a:lnTo>
                <a:lnTo>
                  <a:pt x="11218" y="35314"/>
                </a:lnTo>
                <a:lnTo>
                  <a:pt x="0" y="63706"/>
                </a:lnTo>
                <a:lnTo>
                  <a:pt x="215" y="94233"/>
                </a:lnTo>
                <a:lnTo>
                  <a:pt x="12530" y="123334"/>
                </a:lnTo>
                <a:lnTo>
                  <a:pt x="35146" y="145354"/>
                </a:lnTo>
                <a:lnTo>
                  <a:pt x="63455" y="156574"/>
                </a:lnTo>
                <a:lnTo>
                  <a:pt x="93906" y="156328"/>
                </a:lnTo>
                <a:lnTo>
                  <a:pt x="122946" y="143954"/>
                </a:lnTo>
                <a:lnTo>
                  <a:pt x="144934" y="121259"/>
                </a:lnTo>
                <a:lnTo>
                  <a:pt x="156152" y="92867"/>
                </a:lnTo>
                <a:lnTo>
                  <a:pt x="155937" y="62340"/>
                </a:lnTo>
                <a:lnTo>
                  <a:pt x="143622" y="33239"/>
                </a:lnTo>
                <a:lnTo>
                  <a:pt x="121005" y="11219"/>
                </a:lnTo>
                <a:lnTo>
                  <a:pt x="92696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610468" y="5583583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92696" y="0"/>
                </a:moveTo>
                <a:lnTo>
                  <a:pt x="62246" y="245"/>
                </a:lnTo>
                <a:lnTo>
                  <a:pt x="33206" y="12619"/>
                </a:lnTo>
                <a:lnTo>
                  <a:pt x="11218" y="35314"/>
                </a:lnTo>
                <a:lnTo>
                  <a:pt x="0" y="63706"/>
                </a:lnTo>
                <a:lnTo>
                  <a:pt x="215" y="94233"/>
                </a:lnTo>
                <a:lnTo>
                  <a:pt x="12529" y="123334"/>
                </a:lnTo>
                <a:lnTo>
                  <a:pt x="35146" y="145354"/>
                </a:lnTo>
                <a:lnTo>
                  <a:pt x="63456" y="156573"/>
                </a:lnTo>
                <a:lnTo>
                  <a:pt x="93906" y="156328"/>
                </a:lnTo>
                <a:lnTo>
                  <a:pt x="122946" y="143954"/>
                </a:lnTo>
                <a:lnTo>
                  <a:pt x="144933" y="121259"/>
                </a:lnTo>
                <a:lnTo>
                  <a:pt x="156152" y="92867"/>
                </a:lnTo>
                <a:lnTo>
                  <a:pt x="155937" y="62340"/>
                </a:lnTo>
                <a:lnTo>
                  <a:pt x="143622" y="33239"/>
                </a:lnTo>
                <a:lnTo>
                  <a:pt x="121006" y="11219"/>
                </a:lnTo>
                <a:lnTo>
                  <a:pt x="92696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766247" y="4835191"/>
            <a:ext cx="201295" cy="201295"/>
          </a:xfrm>
          <a:custGeom>
            <a:avLst/>
            <a:gdLst/>
            <a:ahLst/>
            <a:cxnLst/>
            <a:rect l="l" t="t" r="r" b="b"/>
            <a:pathLst>
              <a:path w="201295" h="201295">
                <a:moveTo>
                  <a:pt x="114385" y="0"/>
                </a:moveTo>
                <a:lnTo>
                  <a:pt x="75595" y="2100"/>
                </a:lnTo>
                <a:lnTo>
                  <a:pt x="39316" y="19574"/>
                </a:lnTo>
                <a:lnTo>
                  <a:pt x="12629" y="49786"/>
                </a:lnTo>
                <a:lnTo>
                  <a:pt x="0" y="86626"/>
                </a:lnTo>
                <a:lnTo>
                  <a:pt x="2066" y="125515"/>
                </a:lnTo>
                <a:lnTo>
                  <a:pt x="19468" y="161876"/>
                </a:lnTo>
                <a:lnTo>
                  <a:pt x="49582" y="188610"/>
                </a:lnTo>
                <a:lnTo>
                  <a:pt x="86316" y="201244"/>
                </a:lnTo>
                <a:lnTo>
                  <a:pt x="125107" y="199143"/>
                </a:lnTo>
                <a:lnTo>
                  <a:pt x="161387" y="181669"/>
                </a:lnTo>
                <a:lnTo>
                  <a:pt x="188073" y="151458"/>
                </a:lnTo>
                <a:lnTo>
                  <a:pt x="200702" y="114618"/>
                </a:lnTo>
                <a:lnTo>
                  <a:pt x="198635" y="75729"/>
                </a:lnTo>
                <a:lnTo>
                  <a:pt x="181234" y="39368"/>
                </a:lnTo>
                <a:lnTo>
                  <a:pt x="151120" y="12634"/>
                </a:lnTo>
                <a:lnTo>
                  <a:pt x="114385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2489338" y="5981248"/>
            <a:ext cx="295084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5" b="1">
                <a:latin typeface="Arial"/>
                <a:cs typeface="Arial"/>
              </a:rPr>
              <a:t>Compute graph </a:t>
            </a:r>
            <a:r>
              <a:rPr dirty="0" sz="1800" spc="0" b="1">
                <a:latin typeface="Arial"/>
                <a:cs typeface="Arial"/>
              </a:rPr>
              <a:t>for </a:t>
            </a:r>
            <a:r>
              <a:rPr dirty="0" sz="1800" spc="5" b="1">
                <a:latin typeface="Arial"/>
                <a:cs typeface="Arial"/>
              </a:rPr>
              <a:t>node</a:t>
            </a:r>
            <a:r>
              <a:rPr dirty="0" sz="1800" spc="-150" b="1">
                <a:latin typeface="Arial"/>
                <a:cs typeface="Arial"/>
              </a:rPr>
              <a:t> </a:t>
            </a:r>
            <a:r>
              <a:rPr dirty="0" sz="1800" spc="10" b="1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166062" y="5981248"/>
            <a:ext cx="295910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5" b="1">
                <a:latin typeface="Arial"/>
                <a:cs typeface="Arial"/>
              </a:rPr>
              <a:t>Compute graph </a:t>
            </a:r>
            <a:r>
              <a:rPr dirty="0" sz="1800" spc="0" b="1">
                <a:latin typeface="Arial"/>
                <a:cs typeface="Arial"/>
              </a:rPr>
              <a:t>for </a:t>
            </a:r>
            <a:r>
              <a:rPr dirty="0" sz="1800" spc="5" b="1">
                <a:latin typeface="Arial"/>
                <a:cs typeface="Arial"/>
              </a:rPr>
              <a:t>node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10" b="1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3498150" y="3922666"/>
            <a:ext cx="4422775" cy="506095"/>
          </a:xfrm>
          <a:custGeom>
            <a:avLst/>
            <a:gdLst/>
            <a:ahLst/>
            <a:cxnLst/>
            <a:rect l="l" t="t" r="r" b="b"/>
            <a:pathLst>
              <a:path w="4422775" h="506095">
                <a:moveTo>
                  <a:pt x="220886" y="0"/>
                </a:moveTo>
                <a:lnTo>
                  <a:pt x="4201442" y="0"/>
                </a:lnTo>
                <a:lnTo>
                  <a:pt x="4243611" y="169"/>
                </a:lnTo>
                <a:lnTo>
                  <a:pt x="4305320" y="4566"/>
                </a:lnTo>
                <a:lnTo>
                  <a:pt x="4357501" y="23873"/>
                </a:lnTo>
                <a:lnTo>
                  <a:pt x="4398455" y="64827"/>
                </a:lnTo>
                <a:lnTo>
                  <a:pt x="4417762" y="117023"/>
                </a:lnTo>
                <a:lnTo>
                  <a:pt x="4422160" y="179131"/>
                </a:lnTo>
                <a:lnTo>
                  <a:pt x="4422329" y="221868"/>
                </a:lnTo>
                <a:lnTo>
                  <a:pt x="4422329" y="284646"/>
                </a:lnTo>
                <a:lnTo>
                  <a:pt x="4422160" y="326815"/>
                </a:lnTo>
                <a:lnTo>
                  <a:pt x="4417762" y="388524"/>
                </a:lnTo>
                <a:lnTo>
                  <a:pt x="4398455" y="440706"/>
                </a:lnTo>
                <a:lnTo>
                  <a:pt x="4357501" y="481659"/>
                </a:lnTo>
                <a:lnTo>
                  <a:pt x="4305305" y="500966"/>
                </a:lnTo>
                <a:lnTo>
                  <a:pt x="4243196" y="505364"/>
                </a:lnTo>
                <a:lnTo>
                  <a:pt x="4200459" y="505533"/>
                </a:lnTo>
                <a:lnTo>
                  <a:pt x="220886" y="505533"/>
                </a:lnTo>
                <a:lnTo>
                  <a:pt x="178717" y="505364"/>
                </a:lnTo>
                <a:lnTo>
                  <a:pt x="117008" y="500966"/>
                </a:lnTo>
                <a:lnTo>
                  <a:pt x="64827" y="481659"/>
                </a:lnTo>
                <a:lnTo>
                  <a:pt x="23873" y="440706"/>
                </a:lnTo>
                <a:lnTo>
                  <a:pt x="4566" y="388509"/>
                </a:lnTo>
                <a:lnTo>
                  <a:pt x="169" y="326401"/>
                </a:lnTo>
                <a:lnTo>
                  <a:pt x="0" y="283664"/>
                </a:lnTo>
                <a:lnTo>
                  <a:pt x="0" y="220886"/>
                </a:lnTo>
                <a:lnTo>
                  <a:pt x="169" y="178717"/>
                </a:lnTo>
                <a:lnTo>
                  <a:pt x="4566" y="117008"/>
                </a:lnTo>
                <a:lnTo>
                  <a:pt x="23873" y="64827"/>
                </a:lnTo>
                <a:lnTo>
                  <a:pt x="64827" y="23873"/>
                </a:lnTo>
                <a:lnTo>
                  <a:pt x="117023" y="4566"/>
                </a:lnTo>
                <a:lnTo>
                  <a:pt x="179131" y="169"/>
                </a:lnTo>
                <a:lnTo>
                  <a:pt x="221869" y="0"/>
                </a:lnTo>
                <a:lnTo>
                  <a:pt x="220886" y="0"/>
                </a:lnTo>
                <a:close/>
              </a:path>
            </a:pathLst>
          </a:custGeom>
          <a:ln w="19300">
            <a:solidFill>
              <a:srgbClr val="86100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3150288" y="5047768"/>
            <a:ext cx="5118100" cy="506095"/>
          </a:xfrm>
          <a:custGeom>
            <a:avLst/>
            <a:gdLst/>
            <a:ahLst/>
            <a:cxnLst/>
            <a:rect l="l" t="t" r="r" b="b"/>
            <a:pathLst>
              <a:path w="5118100" h="506095">
                <a:moveTo>
                  <a:pt x="220886" y="0"/>
                </a:moveTo>
                <a:lnTo>
                  <a:pt x="4897168" y="0"/>
                </a:lnTo>
                <a:lnTo>
                  <a:pt x="4939337" y="169"/>
                </a:lnTo>
                <a:lnTo>
                  <a:pt x="5001046" y="4566"/>
                </a:lnTo>
                <a:lnTo>
                  <a:pt x="5053227" y="23873"/>
                </a:lnTo>
                <a:lnTo>
                  <a:pt x="5094181" y="64827"/>
                </a:lnTo>
                <a:lnTo>
                  <a:pt x="5113488" y="117023"/>
                </a:lnTo>
                <a:lnTo>
                  <a:pt x="5117886" y="179131"/>
                </a:lnTo>
                <a:lnTo>
                  <a:pt x="5118055" y="221868"/>
                </a:lnTo>
                <a:lnTo>
                  <a:pt x="5118055" y="284646"/>
                </a:lnTo>
                <a:lnTo>
                  <a:pt x="5117886" y="326815"/>
                </a:lnTo>
                <a:lnTo>
                  <a:pt x="5113488" y="388524"/>
                </a:lnTo>
                <a:lnTo>
                  <a:pt x="5094181" y="440706"/>
                </a:lnTo>
                <a:lnTo>
                  <a:pt x="5053227" y="481659"/>
                </a:lnTo>
                <a:lnTo>
                  <a:pt x="5001031" y="500966"/>
                </a:lnTo>
                <a:lnTo>
                  <a:pt x="4938922" y="505364"/>
                </a:lnTo>
                <a:lnTo>
                  <a:pt x="4896185" y="505533"/>
                </a:lnTo>
                <a:lnTo>
                  <a:pt x="220886" y="505533"/>
                </a:lnTo>
                <a:lnTo>
                  <a:pt x="178717" y="505364"/>
                </a:lnTo>
                <a:lnTo>
                  <a:pt x="117008" y="500966"/>
                </a:lnTo>
                <a:lnTo>
                  <a:pt x="64827" y="481659"/>
                </a:lnTo>
                <a:lnTo>
                  <a:pt x="23873" y="440706"/>
                </a:lnTo>
                <a:lnTo>
                  <a:pt x="4566" y="388509"/>
                </a:lnTo>
                <a:lnTo>
                  <a:pt x="169" y="326401"/>
                </a:lnTo>
                <a:lnTo>
                  <a:pt x="0" y="283664"/>
                </a:lnTo>
                <a:lnTo>
                  <a:pt x="0" y="220886"/>
                </a:lnTo>
                <a:lnTo>
                  <a:pt x="169" y="178717"/>
                </a:lnTo>
                <a:lnTo>
                  <a:pt x="4566" y="117008"/>
                </a:lnTo>
                <a:lnTo>
                  <a:pt x="23873" y="64827"/>
                </a:lnTo>
                <a:lnTo>
                  <a:pt x="64827" y="23873"/>
                </a:lnTo>
                <a:lnTo>
                  <a:pt x="117023" y="4566"/>
                </a:lnTo>
                <a:lnTo>
                  <a:pt x="179131" y="169"/>
                </a:lnTo>
                <a:lnTo>
                  <a:pt x="221869" y="0"/>
                </a:lnTo>
                <a:lnTo>
                  <a:pt x="220886" y="0"/>
                </a:lnTo>
                <a:close/>
              </a:path>
            </a:pathLst>
          </a:custGeom>
          <a:ln w="19300">
            <a:solidFill>
              <a:srgbClr val="86100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>
            <a:off x="4718532" y="3948125"/>
            <a:ext cx="2019300" cy="149733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705"/>
              </a:spcBef>
            </a:pPr>
            <a:r>
              <a:rPr dirty="0" sz="1800" spc="15">
                <a:solidFill>
                  <a:srgbClr val="861001"/>
                </a:solidFill>
                <a:latin typeface="Arial"/>
                <a:cs typeface="Arial"/>
              </a:rPr>
              <a:t>shared</a:t>
            </a:r>
            <a:r>
              <a:rPr dirty="0" sz="1800" spc="-60">
                <a:solidFill>
                  <a:srgbClr val="861001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861001"/>
                </a:solidFill>
                <a:latin typeface="Arial"/>
                <a:cs typeface="Arial"/>
              </a:rPr>
              <a:t>parameters</a:t>
            </a:r>
            <a:endParaRPr sz="1800">
              <a:latin typeface="Arial"/>
              <a:cs typeface="Arial"/>
            </a:endParaRPr>
          </a:p>
          <a:p>
            <a:pPr algn="ctr" marR="87630">
              <a:lnSpc>
                <a:spcPct val="100000"/>
              </a:lnSpc>
              <a:spcBef>
                <a:spcPts val="1025"/>
              </a:spcBef>
              <a:tabLst>
                <a:tab pos="1125855" algn="l"/>
              </a:tabLst>
            </a:pPr>
            <a:r>
              <a:rPr dirty="0" sz="3200" spc="-450">
                <a:latin typeface="Cambria Math"/>
                <a:cs typeface="Cambria Math"/>
              </a:rPr>
              <a:t>𝑊</a:t>
            </a:r>
            <a:r>
              <a:rPr dirty="0" baseline="-14492" sz="3450" spc="-675">
                <a:latin typeface="Cambria Math"/>
                <a:cs typeface="Cambria Math"/>
              </a:rPr>
              <a:t>9	</a:t>
            </a:r>
            <a:r>
              <a:rPr dirty="0" sz="3200" spc="-305">
                <a:latin typeface="Cambria Math"/>
                <a:cs typeface="Cambria Math"/>
              </a:rPr>
              <a:t>𝐵</a:t>
            </a:r>
            <a:r>
              <a:rPr dirty="0" baseline="-15700" sz="3450" spc="-457">
                <a:latin typeface="Cambria Math"/>
                <a:cs typeface="Cambria Math"/>
              </a:rPr>
              <a:t>9</a:t>
            </a:r>
            <a:endParaRPr baseline="-15700" sz="3450">
              <a:latin typeface="Cambria Math"/>
              <a:cs typeface="Cambria Math"/>
            </a:endParaRPr>
          </a:p>
          <a:p>
            <a:pPr algn="ctr" marL="28575">
              <a:lnSpc>
                <a:spcPct val="100000"/>
              </a:lnSpc>
              <a:spcBef>
                <a:spcPts val="1780"/>
              </a:spcBef>
            </a:pPr>
            <a:r>
              <a:rPr dirty="0" sz="1800" spc="15">
                <a:solidFill>
                  <a:srgbClr val="861001"/>
                </a:solidFill>
                <a:latin typeface="Arial"/>
                <a:cs typeface="Arial"/>
              </a:rPr>
              <a:t>shared</a:t>
            </a:r>
            <a:r>
              <a:rPr dirty="0" sz="1800" spc="-60">
                <a:solidFill>
                  <a:srgbClr val="861001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861001"/>
                </a:solidFill>
                <a:latin typeface="Arial"/>
                <a:cs typeface="Arial"/>
              </a:rPr>
              <a:t>parameters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7" name="object 1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18" name="object 1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9" name="object 1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229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544269" y="2852927"/>
            <a:ext cx="332105" cy="621030"/>
          </a:xfrm>
          <a:custGeom>
            <a:avLst/>
            <a:gdLst/>
            <a:ahLst/>
            <a:cxnLst/>
            <a:rect l="l" t="t" r="r" b="b"/>
            <a:pathLst>
              <a:path w="332104" h="621029">
                <a:moveTo>
                  <a:pt x="285287" y="61708"/>
                </a:moveTo>
                <a:lnTo>
                  <a:pt x="0" y="609240"/>
                </a:lnTo>
                <a:lnTo>
                  <a:pt x="22525" y="620976"/>
                </a:lnTo>
                <a:lnTo>
                  <a:pt x="307813" y="73445"/>
                </a:lnTo>
                <a:lnTo>
                  <a:pt x="285287" y="61708"/>
                </a:lnTo>
                <a:close/>
              </a:path>
              <a:path w="332104" h="621029">
                <a:moveTo>
                  <a:pt x="330919" y="50445"/>
                </a:moveTo>
                <a:lnTo>
                  <a:pt x="291156" y="50445"/>
                </a:lnTo>
                <a:lnTo>
                  <a:pt x="313682" y="62181"/>
                </a:lnTo>
                <a:lnTo>
                  <a:pt x="307813" y="73445"/>
                </a:lnTo>
                <a:lnTo>
                  <a:pt x="330339" y="85182"/>
                </a:lnTo>
                <a:lnTo>
                  <a:pt x="330919" y="50445"/>
                </a:lnTo>
                <a:close/>
              </a:path>
              <a:path w="332104" h="621029">
                <a:moveTo>
                  <a:pt x="291156" y="50445"/>
                </a:moveTo>
                <a:lnTo>
                  <a:pt x="285287" y="61708"/>
                </a:lnTo>
                <a:lnTo>
                  <a:pt x="307813" y="73445"/>
                </a:lnTo>
                <a:lnTo>
                  <a:pt x="313682" y="62181"/>
                </a:lnTo>
                <a:lnTo>
                  <a:pt x="291156" y="50445"/>
                </a:lnTo>
                <a:close/>
              </a:path>
              <a:path w="332104" h="621029">
                <a:moveTo>
                  <a:pt x="331762" y="0"/>
                </a:moveTo>
                <a:lnTo>
                  <a:pt x="262762" y="49971"/>
                </a:lnTo>
                <a:lnTo>
                  <a:pt x="285287" y="61708"/>
                </a:lnTo>
                <a:lnTo>
                  <a:pt x="291156" y="50445"/>
                </a:lnTo>
                <a:lnTo>
                  <a:pt x="330919" y="50445"/>
                </a:lnTo>
                <a:lnTo>
                  <a:pt x="331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8647" y="5166867"/>
            <a:ext cx="8574405" cy="136398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292735">
              <a:lnSpc>
                <a:spcPct val="100000"/>
              </a:lnSpc>
              <a:spcBef>
                <a:spcPts val="1370"/>
              </a:spcBef>
              <a:tabLst>
                <a:tab pos="4176395" algn="l"/>
              </a:tabLst>
            </a:pPr>
            <a:r>
              <a:rPr dirty="0" sz="2200" spc="-10">
                <a:latin typeface="Calibri"/>
                <a:cs typeface="Calibri"/>
              </a:rPr>
              <a:t>Inductive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node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embedding	</a:t>
            </a:r>
            <a:r>
              <a:rPr dirty="0" sz="2200" spc="-20">
                <a:latin typeface="Calibri"/>
                <a:cs typeface="Calibri"/>
              </a:rPr>
              <a:t>Generalize to </a:t>
            </a:r>
            <a:r>
              <a:rPr dirty="0" sz="2200" spc="-15">
                <a:latin typeface="Calibri"/>
                <a:cs typeface="Calibri"/>
              </a:rPr>
              <a:t>entirely </a:t>
            </a:r>
            <a:r>
              <a:rPr dirty="0" sz="2200" spc="-10">
                <a:latin typeface="Calibri"/>
                <a:cs typeface="Calibri"/>
              </a:rPr>
              <a:t>unseen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graphs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ct val="102699"/>
              </a:lnSpc>
              <a:spcBef>
                <a:spcPts val="1195"/>
              </a:spcBef>
            </a:pPr>
            <a:r>
              <a:rPr dirty="0" sz="2200" spc="-10">
                <a:latin typeface="Calibri"/>
                <a:cs typeface="Calibri"/>
              </a:rPr>
              <a:t>E.g., </a:t>
            </a:r>
            <a:r>
              <a:rPr dirty="0" sz="2200" spc="-15">
                <a:latin typeface="Calibri"/>
                <a:cs typeface="Calibri"/>
              </a:rPr>
              <a:t>train </a:t>
            </a:r>
            <a:r>
              <a:rPr dirty="0" sz="2200" spc="-10">
                <a:latin typeface="Calibri"/>
                <a:cs typeface="Calibri"/>
              </a:rPr>
              <a:t>on </a:t>
            </a:r>
            <a:r>
              <a:rPr dirty="0" sz="2200" spc="-20">
                <a:latin typeface="Calibri"/>
                <a:cs typeface="Calibri"/>
              </a:rPr>
              <a:t>protein interaction graph from </a:t>
            </a:r>
            <a:r>
              <a:rPr dirty="0" sz="2200" spc="-15">
                <a:latin typeface="Calibri"/>
                <a:cs typeface="Calibri"/>
              </a:rPr>
              <a:t>model </a:t>
            </a:r>
            <a:r>
              <a:rPr dirty="0" sz="2200" spc="-20">
                <a:latin typeface="Calibri"/>
                <a:cs typeface="Calibri"/>
              </a:rPr>
              <a:t>organism </a:t>
            </a: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5">
                <a:latin typeface="Calibri"/>
                <a:cs typeface="Calibri"/>
              </a:rPr>
              <a:t>and </a:t>
            </a:r>
            <a:r>
              <a:rPr dirty="0" sz="2200" spc="-25">
                <a:latin typeface="Calibri"/>
                <a:cs typeface="Calibri"/>
              </a:rPr>
              <a:t>generate  </a:t>
            </a:r>
            <a:r>
              <a:rPr dirty="0" sz="2200" spc="-10">
                <a:latin typeface="Calibri"/>
                <a:cs typeface="Calibri"/>
              </a:rPr>
              <a:t>embeddings on newly </a:t>
            </a:r>
            <a:r>
              <a:rPr dirty="0" sz="2200" spc="-15">
                <a:latin typeface="Calibri"/>
                <a:cs typeface="Calibri"/>
              </a:rPr>
              <a:t>collected </a:t>
            </a:r>
            <a:r>
              <a:rPr dirty="0" sz="2200" spc="-20">
                <a:latin typeface="Calibri"/>
                <a:cs typeface="Calibri"/>
              </a:rPr>
              <a:t>data </a:t>
            </a:r>
            <a:r>
              <a:rPr dirty="0" sz="2200" spc="-10">
                <a:latin typeface="Calibri"/>
                <a:cs typeface="Calibri"/>
              </a:rPr>
              <a:t>about </a:t>
            </a:r>
            <a:r>
              <a:rPr dirty="0" sz="2200" spc="-20">
                <a:latin typeface="Calibri"/>
                <a:cs typeface="Calibri"/>
              </a:rPr>
              <a:t>organism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0990" y="1694173"/>
            <a:ext cx="3540760" cy="3206750"/>
          </a:xfrm>
          <a:prstGeom prst="rect"/>
          <a:ln w="25400">
            <a:solidFill>
              <a:srgbClr val="F0AD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683260">
              <a:lnSpc>
                <a:spcPts val="2655"/>
              </a:lnSpc>
              <a:spcBef>
                <a:spcPts val="2380"/>
              </a:spcBef>
            </a:pPr>
            <a:r>
              <a:rPr dirty="0" sz="2400" spc="-40" b="1">
                <a:latin typeface="Calibri"/>
                <a:cs typeface="Calibri"/>
              </a:rPr>
              <a:t>Train </a:t>
            </a:r>
            <a:r>
              <a:rPr dirty="0" sz="2400" spc="-5" b="1">
                <a:latin typeface="Calibri"/>
                <a:cs typeface="Calibri"/>
              </a:rPr>
              <a:t>on one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6200" y="5486400"/>
            <a:ext cx="402590" cy="152400"/>
          </a:xfrm>
          <a:custGeom>
            <a:avLst/>
            <a:gdLst/>
            <a:ahLst/>
            <a:cxnLst/>
            <a:rect l="l" t="t" r="r" b="b"/>
            <a:pathLst>
              <a:path w="402589" h="152400">
                <a:moveTo>
                  <a:pt x="250115" y="101599"/>
                </a:moveTo>
                <a:lnTo>
                  <a:pt x="250115" y="152399"/>
                </a:lnTo>
                <a:lnTo>
                  <a:pt x="351714" y="101600"/>
                </a:lnTo>
                <a:lnTo>
                  <a:pt x="250115" y="101599"/>
                </a:lnTo>
                <a:close/>
              </a:path>
              <a:path w="402589" h="152400">
                <a:moveTo>
                  <a:pt x="250115" y="50799"/>
                </a:moveTo>
                <a:lnTo>
                  <a:pt x="250115" y="101599"/>
                </a:lnTo>
                <a:lnTo>
                  <a:pt x="275515" y="101600"/>
                </a:lnTo>
                <a:lnTo>
                  <a:pt x="275515" y="50800"/>
                </a:lnTo>
                <a:lnTo>
                  <a:pt x="250115" y="50799"/>
                </a:lnTo>
                <a:close/>
              </a:path>
              <a:path w="402589" h="152400">
                <a:moveTo>
                  <a:pt x="250115" y="0"/>
                </a:moveTo>
                <a:lnTo>
                  <a:pt x="250115" y="50799"/>
                </a:lnTo>
                <a:lnTo>
                  <a:pt x="275515" y="50800"/>
                </a:lnTo>
                <a:lnTo>
                  <a:pt x="275515" y="101600"/>
                </a:lnTo>
                <a:lnTo>
                  <a:pt x="351717" y="101598"/>
                </a:lnTo>
                <a:lnTo>
                  <a:pt x="402515" y="76200"/>
                </a:lnTo>
                <a:lnTo>
                  <a:pt x="250115" y="0"/>
                </a:lnTo>
                <a:close/>
              </a:path>
              <a:path w="402589" h="152400">
                <a:moveTo>
                  <a:pt x="0" y="50798"/>
                </a:moveTo>
                <a:lnTo>
                  <a:pt x="0" y="101598"/>
                </a:lnTo>
                <a:lnTo>
                  <a:pt x="250115" y="101599"/>
                </a:lnTo>
                <a:lnTo>
                  <a:pt x="250115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45359" y="1975596"/>
            <a:ext cx="2473369" cy="2346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75385" y="2478023"/>
            <a:ext cx="2073262" cy="1625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995279" y="1694173"/>
            <a:ext cx="3540760" cy="3206750"/>
          </a:xfrm>
          <a:prstGeom prst="rect">
            <a:avLst/>
          </a:prstGeom>
          <a:ln w="25400">
            <a:solidFill>
              <a:srgbClr val="F0AD00"/>
            </a:solidFill>
          </a:ln>
        </p:spPr>
        <p:txBody>
          <a:bodyPr wrap="square" lIns="0" tIns="450850" rIns="0" bIns="0" rtlCol="0" vert="horz">
            <a:spAutoFit/>
          </a:bodyPr>
          <a:lstStyle/>
          <a:p>
            <a:pPr algn="r" marR="340360">
              <a:lnSpc>
                <a:spcPct val="100000"/>
              </a:lnSpc>
              <a:spcBef>
                <a:spcPts val="3550"/>
              </a:spcBef>
            </a:pPr>
            <a:r>
              <a:rPr dirty="0" sz="3600">
                <a:latin typeface="Cambria Math"/>
                <a:cs typeface="Cambria Math"/>
              </a:rPr>
              <a:t>z</a:t>
            </a:r>
            <a:r>
              <a:rPr dirty="0" baseline="-16025" sz="3900" spc="-390">
                <a:latin typeface="Cambria Math"/>
                <a:cs typeface="Cambria Math"/>
              </a:rPr>
              <a:t>&lt;</a:t>
            </a:r>
            <a:endParaRPr baseline="-16025" sz="39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4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700">
              <a:latin typeface="Times New Roman"/>
              <a:cs typeface="Times New Roman"/>
            </a:endParaRPr>
          </a:p>
          <a:p>
            <a:pPr marL="204470">
              <a:lnSpc>
                <a:spcPts val="2705"/>
              </a:lnSpc>
              <a:spcBef>
                <a:spcPts val="3660"/>
              </a:spcBef>
            </a:pPr>
            <a:r>
              <a:rPr dirty="0" sz="2400" spc="-15" b="1">
                <a:latin typeface="Calibri"/>
                <a:cs typeface="Calibri"/>
              </a:rPr>
              <a:t>Generalize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new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9705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93114" y="1687311"/>
            <a:ext cx="2719705" cy="3177540"/>
          </a:xfrm>
          <a:custGeom>
            <a:avLst/>
            <a:gdLst/>
            <a:ahLst/>
            <a:cxnLst/>
            <a:rect l="l" t="t" r="r" b="b"/>
            <a:pathLst>
              <a:path w="2719704" h="3177540">
                <a:moveTo>
                  <a:pt x="0" y="0"/>
                </a:moveTo>
                <a:lnTo>
                  <a:pt x="2719085" y="0"/>
                </a:lnTo>
                <a:lnTo>
                  <a:pt x="2719085" y="3177297"/>
                </a:lnTo>
                <a:lnTo>
                  <a:pt x="0" y="317729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0A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67506" y="2011678"/>
            <a:ext cx="76200" cy="208279"/>
          </a:xfrm>
          <a:custGeom>
            <a:avLst/>
            <a:gdLst/>
            <a:ahLst/>
            <a:cxnLst/>
            <a:rect l="l" t="t" r="r" b="b"/>
            <a:pathLst>
              <a:path w="76200" h="208280">
                <a:moveTo>
                  <a:pt x="25356" y="75322"/>
                </a:moveTo>
                <a:lnTo>
                  <a:pt x="17639" y="206517"/>
                </a:lnTo>
                <a:lnTo>
                  <a:pt x="42995" y="208009"/>
                </a:lnTo>
                <a:lnTo>
                  <a:pt x="50712" y="76814"/>
                </a:lnTo>
                <a:lnTo>
                  <a:pt x="25356" y="75322"/>
                </a:lnTo>
                <a:close/>
              </a:path>
              <a:path w="76200" h="208280">
                <a:moveTo>
                  <a:pt x="69357" y="62645"/>
                </a:moveTo>
                <a:lnTo>
                  <a:pt x="26102" y="62645"/>
                </a:lnTo>
                <a:lnTo>
                  <a:pt x="51457" y="64136"/>
                </a:lnTo>
                <a:lnTo>
                  <a:pt x="50712" y="76814"/>
                </a:lnTo>
                <a:lnTo>
                  <a:pt x="76069" y="78305"/>
                </a:lnTo>
                <a:lnTo>
                  <a:pt x="69357" y="62645"/>
                </a:lnTo>
                <a:close/>
              </a:path>
              <a:path w="76200" h="208280">
                <a:moveTo>
                  <a:pt x="26102" y="62645"/>
                </a:moveTo>
                <a:lnTo>
                  <a:pt x="25356" y="75322"/>
                </a:lnTo>
                <a:lnTo>
                  <a:pt x="50712" y="76814"/>
                </a:lnTo>
                <a:lnTo>
                  <a:pt x="51457" y="64136"/>
                </a:lnTo>
                <a:lnTo>
                  <a:pt x="26102" y="62645"/>
                </a:lnTo>
                <a:close/>
              </a:path>
              <a:path w="76200" h="208280">
                <a:moveTo>
                  <a:pt x="42509" y="0"/>
                </a:moveTo>
                <a:lnTo>
                  <a:pt x="0" y="73831"/>
                </a:lnTo>
                <a:lnTo>
                  <a:pt x="25356" y="75322"/>
                </a:lnTo>
                <a:lnTo>
                  <a:pt x="26102" y="62645"/>
                </a:lnTo>
                <a:lnTo>
                  <a:pt x="69357" y="62645"/>
                </a:lnTo>
                <a:lnTo>
                  <a:pt x="42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1652" y="1699503"/>
            <a:ext cx="2628265" cy="3153410"/>
          </a:xfrm>
          <a:prstGeom prst="rect">
            <a:avLst/>
          </a:prstGeom>
          <a:ln w="25400">
            <a:solidFill>
              <a:srgbClr val="F0AD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  <a:spcBef>
                <a:spcPts val="1590"/>
              </a:spcBef>
            </a:pPr>
            <a:r>
              <a:rPr dirty="0" sz="2100" spc="-30" b="1">
                <a:latin typeface="Calibri"/>
                <a:cs typeface="Calibri"/>
              </a:rPr>
              <a:t>Train </a:t>
            </a:r>
            <a:r>
              <a:rPr dirty="0" sz="2100" b="1">
                <a:latin typeface="Calibri"/>
                <a:cs typeface="Calibri"/>
              </a:rPr>
              <a:t>with</a:t>
            </a:r>
            <a:r>
              <a:rPr dirty="0" sz="2100" spc="110" b="1">
                <a:latin typeface="Calibri"/>
                <a:cs typeface="Calibri"/>
              </a:rPr>
              <a:t> </a:t>
            </a:r>
            <a:r>
              <a:rPr dirty="0" sz="2100" spc="0" b="1">
                <a:latin typeface="Calibri"/>
                <a:cs typeface="Calibri"/>
              </a:rPr>
              <a:t>snapshot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7908" y="1675119"/>
            <a:ext cx="2628265" cy="3177540"/>
          </a:xfrm>
          <a:prstGeom prst="rect">
            <a:avLst/>
          </a:prstGeom>
          <a:ln w="25400">
            <a:solidFill>
              <a:srgbClr val="F0AD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281305">
              <a:lnSpc>
                <a:spcPct val="100000"/>
              </a:lnSpc>
              <a:spcBef>
                <a:spcPts val="1780"/>
              </a:spcBef>
            </a:pPr>
            <a:r>
              <a:rPr dirty="0" sz="2100" b="1">
                <a:latin typeface="Calibri"/>
                <a:cs typeface="Calibri"/>
              </a:rPr>
              <a:t>New </a:t>
            </a:r>
            <a:r>
              <a:rPr dirty="0" sz="2100" spc="5" b="1">
                <a:latin typeface="Calibri"/>
                <a:cs typeface="Calibri"/>
              </a:rPr>
              <a:t>node</a:t>
            </a:r>
            <a:r>
              <a:rPr dirty="0" sz="2100" spc="15" b="1">
                <a:latin typeface="Calibri"/>
                <a:cs typeface="Calibri"/>
              </a:rPr>
              <a:t> </a:t>
            </a:r>
            <a:r>
              <a:rPr dirty="0" sz="2100" spc="0" b="1">
                <a:latin typeface="Calibri"/>
                <a:cs typeface="Calibri"/>
              </a:rPr>
              <a:t>arrives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8519" y="4155440"/>
            <a:ext cx="2399665" cy="67500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447040" marR="5080" indent="-434975">
              <a:lnSpc>
                <a:spcPct val="102899"/>
              </a:lnSpc>
              <a:spcBef>
                <a:spcPts val="25"/>
              </a:spcBef>
            </a:pPr>
            <a:r>
              <a:rPr dirty="0" sz="2100" spc="-5" b="1">
                <a:latin typeface="Calibri"/>
                <a:cs typeface="Calibri"/>
              </a:rPr>
              <a:t>Generate </a:t>
            </a:r>
            <a:r>
              <a:rPr dirty="0" sz="2100" spc="5" b="1">
                <a:latin typeface="Calibri"/>
                <a:cs typeface="Calibri"/>
              </a:rPr>
              <a:t>embedding  </a:t>
            </a:r>
            <a:r>
              <a:rPr dirty="0" sz="2100" spc="-5" b="1">
                <a:latin typeface="Calibri"/>
                <a:cs typeface="Calibri"/>
              </a:rPr>
              <a:t>for </a:t>
            </a:r>
            <a:r>
              <a:rPr dirty="0" sz="2100" spc="0" b="1">
                <a:latin typeface="Calibri"/>
                <a:cs typeface="Calibri"/>
              </a:rPr>
              <a:t>new</a:t>
            </a:r>
            <a:r>
              <a:rPr dirty="0" sz="2100" b="1">
                <a:latin typeface="Calibri"/>
                <a:cs typeface="Calibri"/>
              </a:rPr>
              <a:t> </a:t>
            </a:r>
            <a:r>
              <a:rPr dirty="0" sz="2100" spc="5" b="1">
                <a:latin typeface="Calibri"/>
                <a:cs typeface="Calibri"/>
              </a:rPr>
              <a:t>node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4055" y="2301613"/>
            <a:ext cx="1817839" cy="19107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42267" y="2259341"/>
            <a:ext cx="1873262" cy="18920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14651" y="2160827"/>
            <a:ext cx="1970798" cy="19905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9357" y="5091176"/>
            <a:ext cx="6915784" cy="140335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32740" marR="5080" indent="-320040">
              <a:lnSpc>
                <a:spcPts val="2620"/>
              </a:lnSpc>
              <a:spcBef>
                <a:spcPts val="7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0">
                <a:latin typeface="Calibri"/>
                <a:cs typeface="Calibri"/>
              </a:rPr>
              <a:t>Many </a:t>
            </a:r>
            <a:r>
              <a:rPr dirty="0" sz="2700" spc="-10">
                <a:latin typeface="Calibri"/>
                <a:cs typeface="Calibri"/>
              </a:rPr>
              <a:t>application </a:t>
            </a:r>
            <a:r>
              <a:rPr dirty="0" sz="2700" spc="-15">
                <a:latin typeface="Calibri"/>
                <a:cs typeface="Calibri"/>
              </a:rPr>
              <a:t>settings </a:t>
            </a:r>
            <a:r>
              <a:rPr dirty="0" sz="2700" spc="-20">
                <a:latin typeface="Calibri"/>
                <a:cs typeface="Calibri"/>
              </a:rPr>
              <a:t>constantly encounter  </a:t>
            </a:r>
            <a:r>
              <a:rPr dirty="0" sz="2700" spc="-10">
                <a:latin typeface="Calibri"/>
                <a:cs typeface="Calibri"/>
              </a:rPr>
              <a:t>previously unseen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nodes:</a:t>
            </a:r>
            <a:endParaRPr sz="2700">
              <a:latin typeface="Calibri"/>
              <a:cs typeface="Calibri"/>
            </a:endParaRPr>
          </a:p>
          <a:p>
            <a:pPr lvl="1" marL="890905" indent="-228600">
              <a:lnSpc>
                <a:spcPts val="2050"/>
              </a:lnSpc>
              <a:spcBef>
                <a:spcPts val="6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5">
                <a:latin typeface="Calibri"/>
                <a:cs typeface="Calibri"/>
              </a:rPr>
              <a:t>E.g., </a:t>
            </a:r>
            <a:r>
              <a:rPr dirty="0" sz="2000" spc="-10">
                <a:latin typeface="Calibri"/>
                <a:cs typeface="Calibri"/>
              </a:rPr>
              <a:t>Reddit, </a:t>
            </a:r>
            <a:r>
              <a:rPr dirty="0" sz="2000" spc="-40">
                <a:latin typeface="Calibri"/>
                <a:cs typeface="Calibri"/>
              </a:rPr>
              <a:t>YouTube, </a:t>
            </a:r>
            <a:r>
              <a:rPr dirty="0" sz="2000" spc="-5">
                <a:latin typeface="Calibri"/>
                <a:cs typeface="Calibri"/>
              </a:rPr>
              <a:t>Google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Scholar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ts val="289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>
                <a:latin typeface="Calibri"/>
                <a:cs typeface="Calibri"/>
              </a:rPr>
              <a:t>Need </a:t>
            </a:r>
            <a:r>
              <a:rPr dirty="0" sz="2700" spc="-20">
                <a:latin typeface="Calibri"/>
                <a:cs typeface="Calibri"/>
              </a:rPr>
              <a:t>to </a:t>
            </a:r>
            <a:r>
              <a:rPr dirty="0" sz="2700" spc="-25">
                <a:latin typeface="Calibri"/>
                <a:cs typeface="Calibri"/>
              </a:rPr>
              <a:t>generate </a:t>
            </a:r>
            <a:r>
              <a:rPr dirty="0" sz="2700" spc="-10">
                <a:latin typeface="Calibri"/>
                <a:cs typeface="Calibri"/>
              </a:rPr>
              <a:t>new embeddings </a:t>
            </a:r>
            <a:r>
              <a:rPr dirty="0" sz="2700" spc="-35">
                <a:latin typeface="Calibri"/>
                <a:cs typeface="Calibri"/>
              </a:rPr>
              <a:t>“on </a:t>
            </a:r>
            <a:r>
              <a:rPr dirty="0" sz="2700" spc="-5">
                <a:latin typeface="Calibri"/>
                <a:cs typeface="Calibri"/>
              </a:rPr>
              <a:t>the</a:t>
            </a:r>
            <a:r>
              <a:rPr dirty="0" sz="2700" spc="65">
                <a:latin typeface="Calibri"/>
                <a:cs typeface="Calibri"/>
              </a:rPr>
              <a:t> </a:t>
            </a:r>
            <a:r>
              <a:rPr dirty="0" sz="2700" spc="15">
                <a:latin typeface="Calibri"/>
                <a:cs typeface="Calibri"/>
              </a:rPr>
              <a:t>fly”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56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8347626" y="1480819"/>
            <a:ext cx="44830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z</a:t>
            </a:r>
            <a:r>
              <a:rPr dirty="0" baseline="-14957" sz="3900" spc="-390">
                <a:latin typeface="Cambria Math"/>
                <a:cs typeface="Cambria Math"/>
              </a:rPr>
              <a:t>&lt;</a:t>
            </a:r>
            <a:endParaRPr baseline="-14957" sz="39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5767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Recap: </a:t>
            </a:r>
            <a:r>
              <a:rPr dirty="0" spc="-20"/>
              <a:t>Generate </a:t>
            </a:r>
            <a:r>
              <a:rPr dirty="0" spc="-5"/>
              <a:t>node embeddings </a:t>
            </a:r>
            <a:r>
              <a:rPr dirty="0" spc="-10"/>
              <a:t>by  aggregating </a:t>
            </a:r>
            <a:r>
              <a:rPr dirty="0" spc="-5"/>
              <a:t>neighborhood</a:t>
            </a:r>
            <a:r>
              <a:rPr dirty="0" spc="55"/>
              <a:t> </a:t>
            </a:r>
            <a:r>
              <a:rPr dirty="0" spc="-15"/>
              <a:t>information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32227"/>
            <a:ext cx="7574280" cy="293433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saw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 b="1">
                <a:latin typeface="Calibri"/>
                <a:cs typeface="Calibri"/>
              </a:rPr>
              <a:t>basic </a:t>
            </a:r>
            <a:r>
              <a:rPr dirty="0" sz="2800" spc="-15" b="1">
                <a:latin typeface="Calibri"/>
                <a:cs typeface="Calibri"/>
              </a:rPr>
              <a:t>variant </a:t>
            </a:r>
            <a:r>
              <a:rPr dirty="0" sz="2800" spc="-5" b="1">
                <a:latin typeface="Calibri"/>
                <a:cs typeface="Calibri"/>
              </a:rPr>
              <a:t>of this</a:t>
            </a:r>
            <a:r>
              <a:rPr dirty="0" sz="2800" spc="10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idea</a:t>
            </a:r>
            <a:endParaRPr sz="2800">
              <a:latin typeface="Calibri"/>
              <a:cs typeface="Calibri"/>
            </a:endParaRPr>
          </a:p>
          <a:p>
            <a:pPr marL="625475" marR="508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0">
                <a:latin typeface="Calibri"/>
                <a:cs typeface="Calibri"/>
              </a:rPr>
              <a:t>Key </a:t>
            </a:r>
            <a:r>
              <a:rPr dirty="0" sz="2800" spc="-5">
                <a:latin typeface="Calibri"/>
                <a:cs typeface="Calibri"/>
              </a:rPr>
              <a:t>distinctions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in how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70">
                <a:latin typeface="Calibri"/>
                <a:cs typeface="Calibri"/>
              </a:rPr>
              <a:t>approaches  </a:t>
            </a:r>
            <a:r>
              <a:rPr dirty="0" sz="2800" spc="-20">
                <a:latin typeface="Calibri"/>
                <a:cs typeface="Calibri"/>
              </a:rPr>
              <a:t>aggregate </a:t>
            </a:r>
            <a:r>
              <a:rPr dirty="0" sz="2800" spc="-15">
                <a:latin typeface="Calibri"/>
                <a:cs typeface="Calibri"/>
              </a:rPr>
              <a:t>information </a:t>
            </a:r>
            <a:r>
              <a:rPr dirty="0" sz="2800" spc="-10">
                <a:latin typeface="Calibri"/>
                <a:cs typeface="Calibri"/>
              </a:rPr>
              <a:t>across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layers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50">
              <a:latin typeface="Times New Roman"/>
              <a:cs typeface="Times New Roman"/>
            </a:endParaRPr>
          </a:p>
          <a:p>
            <a:pPr marL="332740" marR="635635" indent="-320040">
              <a:lnSpc>
                <a:spcPct val="101899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Next: </a:t>
            </a:r>
            <a:r>
              <a:rPr dirty="0" sz="3200" spc="-5">
                <a:latin typeface="Calibri"/>
                <a:cs typeface="Calibri"/>
              </a:rPr>
              <a:t>Describe </a:t>
            </a:r>
            <a:r>
              <a:rPr dirty="0" sz="3200" spc="-15">
                <a:latin typeface="Calibri"/>
                <a:cs typeface="Calibri"/>
              </a:rPr>
              <a:t>GraphSAGE graph neural  network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649224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3631" y="1417827"/>
            <a:ext cx="7942580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/>
              <a:tabLst>
                <a:tab pos="526415" algn="l"/>
                <a:tab pos="527050" algn="l"/>
              </a:tabLst>
            </a:pPr>
            <a:r>
              <a:rPr dirty="0" sz="4000" spc="-5" b="1">
                <a:latin typeface="Calibri"/>
                <a:cs typeface="Calibri"/>
              </a:rPr>
              <a:t>Basics of deep</a:t>
            </a:r>
            <a:r>
              <a:rPr dirty="0" sz="4000" spc="-20" b="1">
                <a:latin typeface="Calibri"/>
                <a:cs typeface="Calibri"/>
              </a:rPr>
              <a:t> </a:t>
            </a:r>
            <a:r>
              <a:rPr dirty="0" sz="4000" spc="-5" b="1">
                <a:latin typeface="Calibri"/>
                <a:cs typeface="Calibri"/>
              </a:rPr>
              <a:t>learning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Font typeface="Calibri"/>
              <a:buAutoNum type="arabicPeriod"/>
            </a:pPr>
            <a:endParaRPr sz="41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526415" algn="l"/>
                <a:tab pos="527050" algn="l"/>
              </a:tabLst>
            </a:pPr>
            <a:r>
              <a:rPr dirty="0" sz="4000" spc="-5" b="1">
                <a:latin typeface="Calibri"/>
                <a:cs typeface="Calibri"/>
              </a:rPr>
              <a:t>Deep learning </a:t>
            </a:r>
            <a:r>
              <a:rPr dirty="0" sz="4000" spc="-25" b="1">
                <a:latin typeface="Calibri"/>
                <a:cs typeface="Calibri"/>
              </a:rPr>
              <a:t>for</a:t>
            </a:r>
            <a:r>
              <a:rPr dirty="0" sz="4000" spc="-45" b="1">
                <a:latin typeface="Calibri"/>
                <a:cs typeface="Calibri"/>
              </a:rPr>
              <a:t> </a:t>
            </a:r>
            <a:r>
              <a:rPr dirty="0" sz="4000" spc="-15" b="1">
                <a:latin typeface="Calibri"/>
                <a:cs typeface="Calibri"/>
              </a:rPr>
              <a:t>graphs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Font typeface="Calibri"/>
              <a:buAutoNum type="arabicPeriod"/>
            </a:pPr>
            <a:endParaRPr sz="4150">
              <a:latin typeface="Times New Roman"/>
              <a:cs typeface="Times New Roman"/>
            </a:endParaRPr>
          </a:p>
          <a:p>
            <a:pPr marL="527050" marR="5080" indent="-51435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526415" algn="l"/>
                <a:tab pos="527050" algn="l"/>
              </a:tabLst>
            </a:pPr>
            <a:r>
              <a:rPr dirty="0" sz="4000" spc="-20" b="1">
                <a:latin typeface="Calibri"/>
                <a:cs typeface="Calibri"/>
              </a:rPr>
              <a:t>Graph </a:t>
            </a:r>
            <a:r>
              <a:rPr dirty="0" sz="4000" spc="-10" b="1">
                <a:latin typeface="Calibri"/>
                <a:cs typeface="Calibri"/>
              </a:rPr>
              <a:t>Convolutional </a:t>
            </a:r>
            <a:r>
              <a:rPr dirty="0" sz="4000" spc="-15" b="1">
                <a:latin typeface="Calibri"/>
                <a:cs typeface="Calibri"/>
              </a:rPr>
              <a:t>Networks </a:t>
            </a:r>
            <a:r>
              <a:rPr dirty="0" sz="4000" spc="-5" b="1">
                <a:latin typeface="Calibri"/>
                <a:cs typeface="Calibri"/>
              </a:rPr>
              <a:t>and  </a:t>
            </a:r>
            <a:r>
              <a:rPr dirty="0" sz="4000" spc="-25" b="1">
                <a:latin typeface="Calibri"/>
                <a:cs typeface="Calibri"/>
              </a:rPr>
              <a:t>GraphSAGE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1245" y="4450896"/>
            <a:ext cx="380420" cy="9713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01666" y="4450896"/>
            <a:ext cx="971387" cy="3804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21245" y="4450896"/>
            <a:ext cx="1351808" cy="13518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21245" y="5422284"/>
            <a:ext cx="971388" cy="3804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92634" y="4831317"/>
            <a:ext cx="380419" cy="9713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53200" y="1402439"/>
            <a:ext cx="703392" cy="6660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53200" y="2590800"/>
            <a:ext cx="703392" cy="6660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0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56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7680" y="3151632"/>
            <a:ext cx="7046976" cy="18044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050791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3475" y="1348740"/>
            <a:ext cx="733679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ctr" marL="12065" marR="5080">
              <a:lnSpc>
                <a:spcPct val="100299"/>
              </a:lnSpc>
              <a:spcBef>
                <a:spcPts val="85"/>
              </a:spcBef>
            </a:pPr>
            <a:r>
              <a:rPr dirty="0"/>
              <a:t>So </a:t>
            </a:r>
            <a:r>
              <a:rPr dirty="0" spc="-25"/>
              <a:t>far </a:t>
            </a:r>
            <a:r>
              <a:rPr dirty="0" spc="-15"/>
              <a:t>we </a:t>
            </a:r>
            <a:r>
              <a:rPr dirty="0" spc="-20"/>
              <a:t>have aggregated </a:t>
            </a:r>
            <a:r>
              <a:rPr dirty="0"/>
              <a:t>the </a:t>
            </a:r>
            <a:r>
              <a:rPr dirty="0" spc="-5"/>
              <a:t>neighbor  </a:t>
            </a:r>
            <a:r>
              <a:rPr dirty="0" spc="-10"/>
              <a:t>messages </a:t>
            </a:r>
            <a:r>
              <a:rPr dirty="0" spc="-5"/>
              <a:t>by </a:t>
            </a:r>
            <a:r>
              <a:rPr dirty="0" spc="-10"/>
              <a:t>taking </a:t>
            </a:r>
            <a:r>
              <a:rPr dirty="0" spc="-5"/>
              <a:t>their </a:t>
            </a:r>
            <a:r>
              <a:rPr dirty="0" spc="-15"/>
              <a:t>(weighted) </a:t>
            </a:r>
            <a:r>
              <a:rPr dirty="0" spc="-30"/>
              <a:t>average 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Can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do</a:t>
            </a:r>
            <a:r>
              <a:rPr dirty="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better?</a:t>
            </a:r>
          </a:p>
        </p:txBody>
      </p:sp>
      <p:sp>
        <p:nvSpPr>
          <p:cNvPr id="4" name="object 4"/>
          <p:cNvSpPr/>
          <p:nvPr/>
        </p:nvSpPr>
        <p:spPr>
          <a:xfrm>
            <a:off x="4558983" y="4711950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3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31833" y="4372025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97355" y="5066679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20574" y="4779995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05053" y="4715518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6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09686" y="4990808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21333" y="4916383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2"/>
                </a:lnTo>
                <a:lnTo>
                  <a:pt x="140164" y="3376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12039" y="3782576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21333" y="4483666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56957" y="331536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299008" y="0"/>
                </a:moveTo>
                <a:lnTo>
                  <a:pt x="0" y="85738"/>
                </a:lnTo>
                <a:lnTo>
                  <a:pt x="94053" y="413738"/>
                </a:lnTo>
                <a:lnTo>
                  <a:pt x="393059" y="327999"/>
                </a:lnTo>
                <a:lnTo>
                  <a:pt x="2990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56957" y="3315368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89349" y="3122324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29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20441" y="3372957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27761" y="3571593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17828" y="3531317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86618" y="452700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5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86618" y="452700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10948" y="4715104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095694" y="4655435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7" y="0"/>
                </a:moveTo>
                <a:lnTo>
                  <a:pt x="0" y="73084"/>
                </a:lnTo>
                <a:lnTo>
                  <a:pt x="133033" y="128657"/>
                </a:lnTo>
                <a:lnTo>
                  <a:pt x="12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80608" y="5642163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3"/>
                </a:lnTo>
                <a:lnTo>
                  <a:pt x="302467" y="404392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80606" y="5642163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597488" y="5908328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25656" y="5870717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0"/>
                </a:lnTo>
                <a:lnTo>
                  <a:pt x="68943" y="78363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8479" y="5798115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25318" y="5737658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8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80760" y="4862114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20399" y="4819512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10089" y="4759776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39308" y="472309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1"/>
                </a:lnTo>
                <a:lnTo>
                  <a:pt x="65669" y="77215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83344" y="4166577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22984" y="4542170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12674" y="4476359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41893" y="4640771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898729" y="4464537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80197" y="4367171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01945" y="3722459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172241" y="5935206"/>
            <a:ext cx="10725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25212" y="3747770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86062" y="4085639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73740" y="3517317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058657" y="3703823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035228" y="353369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59"/>
                </a:lnTo>
                <a:lnTo>
                  <a:pt x="115049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112531" y="350657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55037" y="4431139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99695" y="511418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75231" y="509163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759732" y="538871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830444" y="537371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590349" y="4556335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653292" y="486925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3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2717004" y="484984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410945" y="434644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2475215" y="432596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217714" y="466529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4288632" y="463491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835822" y="352033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908012" y="349313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795940" y="459948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6854281" y="458118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725598" y="560316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9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3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6800551" y="558864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909392" y="423778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970750" y="420507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710446" y="3540693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636881" y="3501185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5">
                <a:moveTo>
                  <a:pt x="83963" y="0"/>
                </a:moveTo>
                <a:lnTo>
                  <a:pt x="0" y="32705"/>
                </a:lnTo>
                <a:lnTo>
                  <a:pt x="76542" y="80252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159321" y="592695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8224419" y="589759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308543" y="30376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8372178" y="300956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8315103" y="347580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8372178" y="345284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8129851" y="513168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8197553" y="511849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270423" y="435186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8345313" y="432596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253462" y="479356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318448" y="476924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178728" y="401320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251283" y="397671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0" name="object 9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  <p:sp>
        <p:nvSpPr>
          <p:cNvPr id="83" name="object 83"/>
          <p:cNvSpPr txBox="1"/>
          <p:nvPr/>
        </p:nvSpPr>
        <p:spPr>
          <a:xfrm>
            <a:off x="4731833" y="4372025"/>
            <a:ext cx="876300" cy="796290"/>
          </a:xfrm>
          <a:prstGeom prst="rect">
            <a:avLst/>
          </a:prstGeom>
          <a:solidFill>
            <a:srgbClr val="DCDEE0"/>
          </a:solidFill>
        </p:spPr>
        <p:txBody>
          <a:bodyPr wrap="square" lIns="0" tIns="146050" rIns="0" bIns="0" rtlCol="0" vert="horz">
            <a:spAutoFit/>
          </a:bodyPr>
          <a:lstStyle/>
          <a:p>
            <a:pPr algn="ctr" marR="19050">
              <a:lnSpc>
                <a:spcPct val="100000"/>
              </a:lnSpc>
              <a:spcBef>
                <a:spcPts val="1150"/>
              </a:spcBef>
            </a:pPr>
            <a:r>
              <a:rPr dirty="0" sz="3100" spc="-10">
                <a:solidFill>
                  <a:srgbClr val="D60093"/>
                </a:solidFill>
                <a:latin typeface="Arial"/>
                <a:cs typeface="Arial"/>
              </a:rPr>
              <a:t>?</a:t>
            </a:r>
            <a:endParaRPr sz="31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328900" y="3229546"/>
            <a:ext cx="24384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-10">
                <a:solidFill>
                  <a:srgbClr val="D60093"/>
                </a:solidFill>
                <a:latin typeface="Arial"/>
                <a:cs typeface="Arial"/>
              </a:rPr>
              <a:t>?</a:t>
            </a:r>
            <a:endParaRPr sz="31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324836" y="4421314"/>
            <a:ext cx="24384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-10">
                <a:solidFill>
                  <a:srgbClr val="D60093"/>
                </a:solidFill>
                <a:latin typeface="Arial"/>
                <a:cs typeface="Arial"/>
              </a:rPr>
              <a:t>?</a:t>
            </a:r>
            <a:endParaRPr sz="31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247620" y="5536882"/>
            <a:ext cx="24384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-10">
                <a:solidFill>
                  <a:srgbClr val="D60093"/>
                </a:solidFill>
                <a:latin typeface="Arial"/>
                <a:cs typeface="Arial"/>
              </a:rPr>
              <a:t>?</a:t>
            </a:r>
            <a:endParaRPr sz="31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529087" y="8635"/>
            <a:ext cx="2612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[Hamilton </a:t>
            </a: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al., NIPS</a:t>
            </a:r>
            <a:r>
              <a:rPr dirty="0" sz="18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800" spc="-15">
                <a:solidFill>
                  <a:srgbClr val="FFFFFF"/>
                </a:solidFill>
                <a:latin typeface="Corbel"/>
                <a:cs typeface="Corbel"/>
              </a:rPr>
              <a:t>2017]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80974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15255" y="3745941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 h="0">
                <a:moveTo>
                  <a:pt x="0" y="0"/>
                </a:moveTo>
                <a:lnTo>
                  <a:pt x="57118" y="0"/>
                </a:lnTo>
              </a:path>
            </a:pathLst>
          </a:custGeom>
          <a:ln w="26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00158" y="3681702"/>
            <a:ext cx="128905" cy="128905"/>
          </a:xfrm>
          <a:custGeom>
            <a:avLst/>
            <a:gdLst/>
            <a:ahLst/>
            <a:cxnLst/>
            <a:rect l="l" t="t" r="r" b="b"/>
            <a:pathLst>
              <a:path w="128904" h="128904">
                <a:moveTo>
                  <a:pt x="128479" y="0"/>
                </a:moveTo>
                <a:lnTo>
                  <a:pt x="0" y="64239"/>
                </a:lnTo>
                <a:lnTo>
                  <a:pt x="128479" y="128479"/>
                </a:lnTo>
                <a:lnTo>
                  <a:pt x="1284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72373" y="3343027"/>
            <a:ext cx="873125" cy="793750"/>
          </a:xfrm>
          <a:custGeom>
            <a:avLst/>
            <a:gdLst/>
            <a:ahLst/>
            <a:cxnLst/>
            <a:rect l="l" t="t" r="r" b="b"/>
            <a:pathLst>
              <a:path w="873125" h="793750">
                <a:moveTo>
                  <a:pt x="0" y="793255"/>
                </a:moveTo>
                <a:lnTo>
                  <a:pt x="873059" y="793255"/>
                </a:lnTo>
                <a:lnTo>
                  <a:pt x="873059" y="0"/>
                </a:lnTo>
                <a:lnTo>
                  <a:pt x="0" y="0"/>
                </a:lnTo>
                <a:lnTo>
                  <a:pt x="0" y="793255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72373" y="3343027"/>
            <a:ext cx="873125" cy="793750"/>
          </a:xfrm>
          <a:custGeom>
            <a:avLst/>
            <a:gdLst/>
            <a:ahLst/>
            <a:cxnLst/>
            <a:rect l="l" t="t" r="r" b="b"/>
            <a:pathLst>
              <a:path w="873125" h="793750">
                <a:moveTo>
                  <a:pt x="0" y="0"/>
                </a:moveTo>
                <a:lnTo>
                  <a:pt x="873060" y="0"/>
                </a:lnTo>
                <a:lnTo>
                  <a:pt x="873060" y="793256"/>
                </a:lnTo>
                <a:lnTo>
                  <a:pt x="0" y="793256"/>
                </a:lnTo>
                <a:lnTo>
                  <a:pt x="0" y="0"/>
                </a:lnTo>
                <a:close/>
              </a:path>
            </a:pathLst>
          </a:custGeom>
          <a:ln w="334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47949" y="4035126"/>
            <a:ext cx="701040" cy="449580"/>
          </a:xfrm>
          <a:custGeom>
            <a:avLst/>
            <a:gdLst/>
            <a:ahLst/>
            <a:cxnLst/>
            <a:rect l="l" t="t" r="r" b="b"/>
            <a:pathLst>
              <a:path w="701039" h="449579">
                <a:moveTo>
                  <a:pt x="0" y="438151"/>
                </a:moveTo>
                <a:lnTo>
                  <a:pt x="693261" y="0"/>
                </a:lnTo>
                <a:lnTo>
                  <a:pt x="700411" y="11313"/>
                </a:lnTo>
                <a:lnTo>
                  <a:pt x="7150" y="449464"/>
                </a:lnTo>
                <a:lnTo>
                  <a:pt x="0" y="438151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57110" y="3749497"/>
            <a:ext cx="967740" cy="0"/>
          </a:xfrm>
          <a:custGeom>
            <a:avLst/>
            <a:gdLst/>
            <a:ahLst/>
            <a:cxnLst/>
            <a:rect l="l" t="t" r="r" b="b"/>
            <a:pathLst>
              <a:path w="967740" h="0">
                <a:moveTo>
                  <a:pt x="0" y="0"/>
                </a:moveTo>
                <a:lnTo>
                  <a:pt x="13383" y="0"/>
                </a:lnTo>
                <a:lnTo>
                  <a:pt x="967130" y="0"/>
                </a:lnTo>
              </a:path>
            </a:pathLst>
          </a:custGeom>
          <a:ln w="26766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42013" y="3685256"/>
            <a:ext cx="128905" cy="128905"/>
          </a:xfrm>
          <a:custGeom>
            <a:avLst/>
            <a:gdLst/>
            <a:ahLst/>
            <a:cxnLst/>
            <a:rect l="l" t="t" r="r" b="b"/>
            <a:pathLst>
              <a:path w="128904" h="128904">
                <a:moveTo>
                  <a:pt x="128479" y="0"/>
                </a:moveTo>
                <a:lnTo>
                  <a:pt x="0" y="64240"/>
                </a:lnTo>
                <a:lnTo>
                  <a:pt x="128479" y="128480"/>
                </a:lnTo>
                <a:lnTo>
                  <a:pt x="1284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46261" y="3959534"/>
            <a:ext cx="862330" cy="726440"/>
          </a:xfrm>
          <a:custGeom>
            <a:avLst/>
            <a:gdLst/>
            <a:ahLst/>
            <a:cxnLst/>
            <a:rect l="l" t="t" r="r" b="b"/>
            <a:pathLst>
              <a:path w="862329" h="726439">
                <a:moveTo>
                  <a:pt x="0" y="0"/>
                </a:moveTo>
                <a:lnTo>
                  <a:pt x="10235" y="8622"/>
                </a:lnTo>
                <a:lnTo>
                  <a:pt x="861794" y="725944"/>
                </a:lnTo>
              </a:path>
            </a:pathLst>
          </a:custGeom>
          <a:ln w="26766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58233" y="3885383"/>
            <a:ext cx="139700" cy="132080"/>
          </a:xfrm>
          <a:custGeom>
            <a:avLst/>
            <a:gdLst/>
            <a:ahLst/>
            <a:cxnLst/>
            <a:rect l="l" t="t" r="r" b="b"/>
            <a:pathLst>
              <a:path w="139700" h="132079">
                <a:moveTo>
                  <a:pt x="0" y="0"/>
                </a:moveTo>
                <a:lnTo>
                  <a:pt x="56876" y="131906"/>
                </a:lnTo>
                <a:lnTo>
                  <a:pt x="139649" y="33642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48606" y="2755745"/>
            <a:ext cx="960755" cy="757555"/>
          </a:xfrm>
          <a:custGeom>
            <a:avLst/>
            <a:gdLst/>
            <a:ahLst/>
            <a:cxnLst/>
            <a:rect l="l" t="t" r="r" b="b"/>
            <a:pathLst>
              <a:path w="960754" h="757554">
                <a:moveTo>
                  <a:pt x="0" y="757239"/>
                </a:moveTo>
                <a:lnTo>
                  <a:pt x="10508" y="748952"/>
                </a:lnTo>
                <a:lnTo>
                  <a:pt x="960149" y="0"/>
                </a:lnTo>
              </a:path>
            </a:pathLst>
          </a:custGeom>
          <a:ln w="26766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58233" y="3454257"/>
            <a:ext cx="140970" cy="130175"/>
          </a:xfrm>
          <a:custGeom>
            <a:avLst/>
            <a:gdLst/>
            <a:ahLst/>
            <a:cxnLst/>
            <a:rect l="l" t="t" r="r" b="b"/>
            <a:pathLst>
              <a:path w="140970" h="130175">
                <a:moveTo>
                  <a:pt x="61100" y="0"/>
                </a:moveTo>
                <a:lnTo>
                  <a:pt x="0" y="130001"/>
                </a:lnTo>
                <a:lnTo>
                  <a:pt x="140662" y="100879"/>
                </a:lnTo>
                <a:lnTo>
                  <a:pt x="6110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88211" y="2290255"/>
            <a:ext cx="391795" cy="412750"/>
          </a:xfrm>
          <a:custGeom>
            <a:avLst/>
            <a:gdLst/>
            <a:ahLst/>
            <a:cxnLst/>
            <a:rect l="l" t="t" r="r" b="b"/>
            <a:pathLst>
              <a:path w="391795" h="412750">
                <a:moveTo>
                  <a:pt x="297908" y="0"/>
                </a:moveTo>
                <a:lnTo>
                  <a:pt x="0" y="85424"/>
                </a:lnTo>
                <a:lnTo>
                  <a:pt x="93706" y="412216"/>
                </a:lnTo>
                <a:lnTo>
                  <a:pt x="391614" y="326793"/>
                </a:lnTo>
                <a:lnTo>
                  <a:pt x="2979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88211" y="2290255"/>
            <a:ext cx="391795" cy="412750"/>
          </a:xfrm>
          <a:custGeom>
            <a:avLst/>
            <a:gdLst/>
            <a:ahLst/>
            <a:cxnLst/>
            <a:rect l="l" t="t" r="r" b="b"/>
            <a:pathLst>
              <a:path w="391795" h="412750">
                <a:moveTo>
                  <a:pt x="0" y="85423"/>
                </a:moveTo>
                <a:lnTo>
                  <a:pt x="297908" y="0"/>
                </a:lnTo>
                <a:lnTo>
                  <a:pt x="391614" y="326792"/>
                </a:lnTo>
                <a:lnTo>
                  <a:pt x="93706" y="412216"/>
                </a:lnTo>
                <a:lnTo>
                  <a:pt x="0" y="85423"/>
                </a:lnTo>
              </a:path>
            </a:pathLst>
          </a:custGeom>
          <a:ln w="334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19012" y="2097921"/>
            <a:ext cx="749300" cy="290195"/>
          </a:xfrm>
          <a:custGeom>
            <a:avLst/>
            <a:gdLst/>
            <a:ahLst/>
            <a:cxnLst/>
            <a:rect l="l" t="t" r="r" b="b"/>
            <a:pathLst>
              <a:path w="749300" h="290194">
                <a:moveTo>
                  <a:pt x="0" y="289573"/>
                </a:moveTo>
                <a:lnTo>
                  <a:pt x="6241" y="287160"/>
                </a:lnTo>
                <a:lnTo>
                  <a:pt x="748944" y="0"/>
                </a:lnTo>
              </a:path>
            </a:pathLst>
          </a:custGeom>
          <a:ln w="13383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50356" y="2347633"/>
            <a:ext cx="89535" cy="74930"/>
          </a:xfrm>
          <a:custGeom>
            <a:avLst/>
            <a:gdLst/>
            <a:ahLst/>
            <a:cxnLst/>
            <a:rect l="l" t="t" r="r" b="b"/>
            <a:pathLst>
              <a:path w="89534" h="74930">
                <a:moveTo>
                  <a:pt x="60417" y="0"/>
                </a:moveTo>
                <a:lnTo>
                  <a:pt x="0" y="66407"/>
                </a:lnTo>
                <a:lnTo>
                  <a:pt x="89376" y="74896"/>
                </a:lnTo>
                <a:lnTo>
                  <a:pt x="6041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59121" y="2545537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7795" y="0"/>
                </a:moveTo>
                <a:lnTo>
                  <a:pt x="12735" y="21004"/>
                </a:lnTo>
                <a:lnTo>
                  <a:pt x="0" y="25117"/>
                </a:lnTo>
              </a:path>
            </a:pathLst>
          </a:custGeom>
          <a:ln w="26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49593" y="2505410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40" h="122555">
                <a:moveTo>
                  <a:pt x="102528" y="0"/>
                </a:moveTo>
                <a:lnTo>
                  <a:pt x="0" y="100608"/>
                </a:lnTo>
                <a:lnTo>
                  <a:pt x="142002" y="122265"/>
                </a:lnTo>
                <a:lnTo>
                  <a:pt x="102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17763" y="3497432"/>
            <a:ext cx="321945" cy="351155"/>
          </a:xfrm>
          <a:custGeom>
            <a:avLst/>
            <a:gdLst/>
            <a:ahLst/>
            <a:cxnLst/>
            <a:rect l="l" t="t" r="r" b="b"/>
            <a:pathLst>
              <a:path w="321945" h="351154">
                <a:moveTo>
                  <a:pt x="309725" y="0"/>
                </a:moveTo>
                <a:lnTo>
                  <a:pt x="0" y="10816"/>
                </a:lnTo>
                <a:lnTo>
                  <a:pt x="11864" y="350572"/>
                </a:lnTo>
                <a:lnTo>
                  <a:pt x="321589" y="339756"/>
                </a:lnTo>
                <a:lnTo>
                  <a:pt x="3097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17763" y="3497433"/>
            <a:ext cx="321945" cy="351155"/>
          </a:xfrm>
          <a:custGeom>
            <a:avLst/>
            <a:gdLst/>
            <a:ahLst/>
            <a:cxnLst/>
            <a:rect l="l" t="t" r="r" b="b"/>
            <a:pathLst>
              <a:path w="321945" h="351154">
                <a:moveTo>
                  <a:pt x="0" y="10815"/>
                </a:moveTo>
                <a:lnTo>
                  <a:pt x="309725" y="0"/>
                </a:lnTo>
                <a:lnTo>
                  <a:pt x="321589" y="339755"/>
                </a:lnTo>
                <a:lnTo>
                  <a:pt x="11864" y="350571"/>
                </a:lnTo>
                <a:lnTo>
                  <a:pt x="0" y="10815"/>
                </a:lnTo>
              </a:path>
            </a:pathLst>
          </a:custGeom>
          <a:ln w="334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042370" y="3684845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560" y="0"/>
                </a:moveTo>
                <a:lnTo>
                  <a:pt x="13352" y="4641"/>
                </a:lnTo>
                <a:lnTo>
                  <a:pt x="0" y="5550"/>
                </a:lnTo>
              </a:path>
            </a:pathLst>
          </a:custGeom>
          <a:ln w="26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927539" y="3625395"/>
            <a:ext cx="132715" cy="128270"/>
          </a:xfrm>
          <a:custGeom>
            <a:avLst/>
            <a:gdLst/>
            <a:ahLst/>
            <a:cxnLst/>
            <a:rect l="l" t="t" r="r" b="b"/>
            <a:pathLst>
              <a:path w="132715" h="128270">
                <a:moveTo>
                  <a:pt x="123821" y="0"/>
                </a:moveTo>
                <a:lnTo>
                  <a:pt x="0" y="72815"/>
                </a:lnTo>
                <a:lnTo>
                  <a:pt x="132544" y="128183"/>
                </a:lnTo>
                <a:lnTo>
                  <a:pt x="1238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12142" y="4608494"/>
            <a:ext cx="381000" cy="403225"/>
          </a:xfrm>
          <a:custGeom>
            <a:avLst/>
            <a:gdLst/>
            <a:ahLst/>
            <a:cxnLst/>
            <a:rect l="l" t="t" r="r" b="b"/>
            <a:pathLst>
              <a:path w="381000" h="403225">
                <a:moveTo>
                  <a:pt x="79345" y="0"/>
                </a:moveTo>
                <a:lnTo>
                  <a:pt x="0" y="330573"/>
                </a:lnTo>
                <a:lnTo>
                  <a:pt x="301354" y="402904"/>
                </a:lnTo>
                <a:lnTo>
                  <a:pt x="380700" y="72331"/>
                </a:lnTo>
                <a:lnTo>
                  <a:pt x="7934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12142" y="4608494"/>
            <a:ext cx="381000" cy="403225"/>
          </a:xfrm>
          <a:custGeom>
            <a:avLst/>
            <a:gdLst/>
            <a:ahLst/>
            <a:cxnLst/>
            <a:rect l="l" t="t" r="r" b="b"/>
            <a:pathLst>
              <a:path w="381000" h="403225">
                <a:moveTo>
                  <a:pt x="79345" y="0"/>
                </a:moveTo>
                <a:lnTo>
                  <a:pt x="380700" y="72332"/>
                </a:lnTo>
                <a:lnTo>
                  <a:pt x="301354" y="402905"/>
                </a:lnTo>
                <a:lnTo>
                  <a:pt x="0" y="330573"/>
                </a:lnTo>
                <a:lnTo>
                  <a:pt x="79345" y="0"/>
                </a:lnTo>
              </a:path>
            </a:pathLst>
          </a:custGeom>
          <a:ln w="334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427490" y="4873680"/>
            <a:ext cx="651510" cy="156845"/>
          </a:xfrm>
          <a:custGeom>
            <a:avLst/>
            <a:gdLst/>
            <a:ahLst/>
            <a:cxnLst/>
            <a:rect l="l" t="t" r="r" b="b"/>
            <a:pathLst>
              <a:path w="651509" h="156845">
                <a:moveTo>
                  <a:pt x="0" y="0"/>
                </a:moveTo>
                <a:lnTo>
                  <a:pt x="6506" y="1564"/>
                </a:lnTo>
                <a:lnTo>
                  <a:pt x="650942" y="156504"/>
                </a:lnTo>
              </a:path>
            </a:pathLst>
          </a:custGeom>
          <a:ln w="13383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55922" y="4836208"/>
            <a:ext cx="87630" cy="78105"/>
          </a:xfrm>
          <a:custGeom>
            <a:avLst/>
            <a:gdLst/>
            <a:ahLst/>
            <a:cxnLst/>
            <a:rect l="l" t="t" r="r" b="b"/>
            <a:pathLst>
              <a:path w="87629" h="78104">
                <a:moveTo>
                  <a:pt x="87461" y="0"/>
                </a:moveTo>
                <a:lnTo>
                  <a:pt x="0" y="20265"/>
                </a:lnTo>
                <a:lnTo>
                  <a:pt x="68689" y="78074"/>
                </a:lnTo>
                <a:lnTo>
                  <a:pt x="8746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70169" y="4763873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078" y="16443"/>
                </a:moveTo>
                <a:lnTo>
                  <a:pt x="13109" y="2691"/>
                </a:lnTo>
                <a:lnTo>
                  <a:pt x="0" y="0"/>
                </a:lnTo>
              </a:path>
            </a:pathLst>
          </a:custGeom>
          <a:ln w="26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857423" y="4703638"/>
            <a:ext cx="139065" cy="126364"/>
          </a:xfrm>
          <a:custGeom>
            <a:avLst/>
            <a:gdLst/>
            <a:ahLst/>
            <a:cxnLst/>
            <a:rect l="l" t="t" r="r" b="b"/>
            <a:pathLst>
              <a:path w="139065" h="126364">
                <a:moveTo>
                  <a:pt x="138776" y="0"/>
                </a:moveTo>
                <a:lnTo>
                  <a:pt x="0" y="37084"/>
                </a:lnTo>
                <a:lnTo>
                  <a:pt x="112933" y="125854"/>
                </a:lnTo>
                <a:lnTo>
                  <a:pt x="1387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510456" y="3831313"/>
            <a:ext cx="582295" cy="411480"/>
          </a:xfrm>
          <a:custGeom>
            <a:avLst/>
            <a:gdLst/>
            <a:ahLst/>
            <a:cxnLst/>
            <a:rect l="l" t="t" r="r" b="b"/>
            <a:pathLst>
              <a:path w="582295" h="411479">
                <a:moveTo>
                  <a:pt x="0" y="0"/>
                </a:moveTo>
                <a:lnTo>
                  <a:pt x="5467" y="3858"/>
                </a:lnTo>
                <a:lnTo>
                  <a:pt x="582145" y="410873"/>
                </a:lnTo>
              </a:path>
            </a:pathLst>
          </a:custGeom>
          <a:ln w="13383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50318" y="3788868"/>
            <a:ext cx="88900" cy="79375"/>
          </a:xfrm>
          <a:custGeom>
            <a:avLst/>
            <a:gdLst/>
            <a:ahLst/>
            <a:cxnLst/>
            <a:rect l="l" t="t" r="r" b="b"/>
            <a:pathLst>
              <a:path w="88900" h="79375">
                <a:moveTo>
                  <a:pt x="0" y="0"/>
                </a:moveTo>
                <a:lnTo>
                  <a:pt x="42453" y="79105"/>
                </a:lnTo>
                <a:lnTo>
                  <a:pt x="88757" y="13501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539676" y="3729351"/>
            <a:ext cx="683260" cy="204470"/>
          </a:xfrm>
          <a:custGeom>
            <a:avLst/>
            <a:gdLst/>
            <a:ahLst/>
            <a:cxnLst/>
            <a:rect l="l" t="t" r="r" b="b"/>
            <a:pathLst>
              <a:path w="683259" h="204470">
                <a:moveTo>
                  <a:pt x="0" y="0"/>
                </a:moveTo>
                <a:lnTo>
                  <a:pt x="6410" y="1917"/>
                </a:lnTo>
                <a:lnTo>
                  <a:pt x="682654" y="204191"/>
                </a:lnTo>
              </a:path>
            </a:pathLst>
          </a:custGeom>
          <a:ln w="13383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69155" y="3692804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437" y="0"/>
                </a:moveTo>
                <a:lnTo>
                  <a:pt x="0" y="15453"/>
                </a:lnTo>
                <a:lnTo>
                  <a:pt x="65426" y="76931"/>
                </a:lnTo>
                <a:lnTo>
                  <a:pt x="884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13030" y="3138333"/>
            <a:ext cx="582295" cy="411480"/>
          </a:xfrm>
          <a:custGeom>
            <a:avLst/>
            <a:gdLst/>
            <a:ahLst/>
            <a:cxnLst/>
            <a:rect l="l" t="t" r="r" b="b"/>
            <a:pathLst>
              <a:path w="582295" h="411479">
                <a:moveTo>
                  <a:pt x="0" y="410873"/>
                </a:moveTo>
                <a:lnTo>
                  <a:pt x="5467" y="407014"/>
                </a:lnTo>
                <a:lnTo>
                  <a:pt x="582146" y="0"/>
                </a:lnTo>
              </a:path>
            </a:pathLst>
          </a:custGeom>
          <a:ln w="13383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452892" y="3512545"/>
            <a:ext cx="88900" cy="79375"/>
          </a:xfrm>
          <a:custGeom>
            <a:avLst/>
            <a:gdLst/>
            <a:ahLst/>
            <a:cxnLst/>
            <a:rect l="l" t="t" r="r" b="b"/>
            <a:pathLst>
              <a:path w="88900" h="79375">
                <a:moveTo>
                  <a:pt x="42453" y="0"/>
                </a:moveTo>
                <a:lnTo>
                  <a:pt x="0" y="79105"/>
                </a:lnTo>
                <a:lnTo>
                  <a:pt x="88756" y="65604"/>
                </a:lnTo>
                <a:lnTo>
                  <a:pt x="424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542253" y="3446976"/>
            <a:ext cx="683260" cy="204470"/>
          </a:xfrm>
          <a:custGeom>
            <a:avLst/>
            <a:gdLst/>
            <a:ahLst/>
            <a:cxnLst/>
            <a:rect l="l" t="t" r="r" b="b"/>
            <a:pathLst>
              <a:path w="683259" h="204470">
                <a:moveTo>
                  <a:pt x="0" y="204191"/>
                </a:moveTo>
                <a:lnTo>
                  <a:pt x="6410" y="202273"/>
                </a:lnTo>
                <a:lnTo>
                  <a:pt x="682654" y="0"/>
                </a:lnTo>
              </a:path>
            </a:pathLst>
          </a:custGeom>
          <a:ln w="13383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471732" y="361078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425" y="0"/>
                </a:moveTo>
                <a:lnTo>
                  <a:pt x="0" y="61478"/>
                </a:lnTo>
                <a:lnTo>
                  <a:pt x="88437" y="76931"/>
                </a:lnTo>
                <a:lnTo>
                  <a:pt x="654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49687" y="3435198"/>
            <a:ext cx="684530" cy="1029335"/>
          </a:xfrm>
          <a:custGeom>
            <a:avLst/>
            <a:gdLst/>
            <a:ahLst/>
            <a:cxnLst/>
            <a:rect l="l" t="t" r="r" b="b"/>
            <a:pathLst>
              <a:path w="684530" h="1029335">
                <a:moveTo>
                  <a:pt x="0" y="1021632"/>
                </a:moveTo>
                <a:lnTo>
                  <a:pt x="673335" y="0"/>
                </a:lnTo>
                <a:lnTo>
                  <a:pt x="684510" y="7364"/>
                </a:lnTo>
                <a:lnTo>
                  <a:pt x="11174" y="1028997"/>
                </a:lnTo>
                <a:lnTo>
                  <a:pt x="0" y="1021632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34164" y="3338190"/>
            <a:ext cx="1509395" cy="136525"/>
          </a:xfrm>
          <a:custGeom>
            <a:avLst/>
            <a:gdLst/>
            <a:ahLst/>
            <a:cxnLst/>
            <a:rect l="l" t="t" r="r" b="b"/>
            <a:pathLst>
              <a:path w="1509395" h="136525">
                <a:moveTo>
                  <a:pt x="1086" y="0"/>
                </a:moveTo>
                <a:lnTo>
                  <a:pt x="1509377" y="122797"/>
                </a:lnTo>
                <a:lnTo>
                  <a:pt x="1508291" y="136137"/>
                </a:lnTo>
                <a:lnTo>
                  <a:pt x="0" y="13339"/>
                </a:lnTo>
                <a:lnTo>
                  <a:pt x="10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051787" y="2695849"/>
            <a:ext cx="335915" cy="775335"/>
          </a:xfrm>
          <a:custGeom>
            <a:avLst/>
            <a:gdLst/>
            <a:ahLst/>
            <a:cxnLst/>
            <a:rect l="l" t="t" r="r" b="b"/>
            <a:pathLst>
              <a:path w="335914" h="775335">
                <a:moveTo>
                  <a:pt x="12340" y="0"/>
                </a:moveTo>
                <a:lnTo>
                  <a:pt x="335370" y="769714"/>
                </a:lnTo>
                <a:lnTo>
                  <a:pt x="323029" y="774893"/>
                </a:lnTo>
                <a:lnTo>
                  <a:pt x="0" y="5179"/>
                </a:lnTo>
                <a:lnTo>
                  <a:pt x="1234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025823" y="4900412"/>
            <a:ext cx="106870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0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79382" y="2721066"/>
            <a:ext cx="1270" cy="343535"/>
          </a:xfrm>
          <a:custGeom>
            <a:avLst/>
            <a:gdLst/>
            <a:ahLst/>
            <a:cxnLst/>
            <a:rect l="l" t="t" r="r" b="b"/>
            <a:pathLst>
              <a:path w="1269" h="343535">
                <a:moveTo>
                  <a:pt x="0" y="0"/>
                </a:moveTo>
                <a:lnTo>
                  <a:pt x="1142" y="336764"/>
                </a:lnTo>
                <a:lnTo>
                  <a:pt x="1165" y="343455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40375" y="3057695"/>
            <a:ext cx="80645" cy="80645"/>
          </a:xfrm>
          <a:custGeom>
            <a:avLst/>
            <a:gdLst/>
            <a:ahLst/>
            <a:cxnLst/>
            <a:rect l="l" t="t" r="r" b="b"/>
            <a:pathLst>
              <a:path w="80644" h="80644">
                <a:moveTo>
                  <a:pt x="80299" y="0"/>
                </a:moveTo>
                <a:lnTo>
                  <a:pt x="0" y="270"/>
                </a:lnTo>
                <a:lnTo>
                  <a:pt x="40422" y="80434"/>
                </a:lnTo>
                <a:lnTo>
                  <a:pt x="802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29890" y="2491414"/>
            <a:ext cx="106362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45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12704" y="2677282"/>
            <a:ext cx="1104265" cy="649605"/>
          </a:xfrm>
          <a:custGeom>
            <a:avLst/>
            <a:gdLst/>
            <a:ahLst/>
            <a:cxnLst/>
            <a:rect l="l" t="t" r="r" b="b"/>
            <a:pathLst>
              <a:path w="1104264" h="649604">
                <a:moveTo>
                  <a:pt x="1104222" y="11570"/>
                </a:moveTo>
                <a:lnTo>
                  <a:pt x="6726" y="649557"/>
                </a:lnTo>
                <a:lnTo>
                  <a:pt x="0" y="637987"/>
                </a:lnTo>
                <a:lnTo>
                  <a:pt x="1097496" y="0"/>
                </a:lnTo>
                <a:lnTo>
                  <a:pt x="1104222" y="1157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85683" y="2507775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80" h="271144">
                <a:moveTo>
                  <a:pt x="156642" y="0"/>
                </a:moveTo>
                <a:lnTo>
                  <a:pt x="114627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7"/>
                </a:lnTo>
                <a:lnTo>
                  <a:pt x="0" y="156219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7" y="270537"/>
                </a:lnTo>
                <a:lnTo>
                  <a:pt x="156642" y="270537"/>
                </a:lnTo>
                <a:lnTo>
                  <a:pt x="197058" y="257709"/>
                </a:lnTo>
                <a:lnTo>
                  <a:pt x="232679" y="232052"/>
                </a:lnTo>
                <a:lnTo>
                  <a:pt x="258406" y="196527"/>
                </a:lnTo>
                <a:lnTo>
                  <a:pt x="271269" y="156219"/>
                </a:lnTo>
                <a:lnTo>
                  <a:pt x="271269" y="114317"/>
                </a:lnTo>
                <a:lnTo>
                  <a:pt x="258406" y="74010"/>
                </a:lnTo>
                <a:lnTo>
                  <a:pt x="232679" y="38485"/>
                </a:lnTo>
                <a:lnTo>
                  <a:pt x="197058" y="12828"/>
                </a:lnTo>
                <a:lnTo>
                  <a:pt x="1566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962656" y="2480707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10568" y="3401922"/>
            <a:ext cx="408305" cy="880744"/>
          </a:xfrm>
          <a:custGeom>
            <a:avLst/>
            <a:gdLst/>
            <a:ahLst/>
            <a:cxnLst/>
            <a:rect l="l" t="t" r="r" b="b"/>
            <a:pathLst>
              <a:path w="408305" h="880745">
                <a:moveTo>
                  <a:pt x="408046" y="5516"/>
                </a:moveTo>
                <a:lnTo>
                  <a:pt x="12193" y="880453"/>
                </a:lnTo>
                <a:lnTo>
                  <a:pt x="0" y="874936"/>
                </a:lnTo>
                <a:lnTo>
                  <a:pt x="395853" y="0"/>
                </a:lnTo>
                <a:lnTo>
                  <a:pt x="408046" y="551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55429" y="4082455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80" h="271145">
                <a:moveTo>
                  <a:pt x="156641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7"/>
                </a:lnTo>
                <a:lnTo>
                  <a:pt x="0" y="156219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6" y="270537"/>
                </a:lnTo>
                <a:lnTo>
                  <a:pt x="156641" y="270537"/>
                </a:lnTo>
                <a:lnTo>
                  <a:pt x="197057" y="257709"/>
                </a:lnTo>
                <a:lnTo>
                  <a:pt x="232678" y="232052"/>
                </a:lnTo>
                <a:lnTo>
                  <a:pt x="258405" y="196527"/>
                </a:lnTo>
                <a:lnTo>
                  <a:pt x="271268" y="156219"/>
                </a:lnTo>
                <a:lnTo>
                  <a:pt x="271268" y="114317"/>
                </a:lnTo>
                <a:lnTo>
                  <a:pt x="258405" y="74010"/>
                </a:lnTo>
                <a:lnTo>
                  <a:pt x="232678" y="38485"/>
                </a:lnTo>
                <a:lnTo>
                  <a:pt x="197057" y="12828"/>
                </a:lnTo>
                <a:lnTo>
                  <a:pt x="15664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30640" y="4059940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611200" y="4355979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80" h="271145">
                <a:moveTo>
                  <a:pt x="156642" y="0"/>
                </a:moveTo>
                <a:lnTo>
                  <a:pt x="114627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7"/>
                </a:lnTo>
                <a:lnTo>
                  <a:pt x="0" y="156219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7" y="270537"/>
                </a:lnTo>
                <a:lnTo>
                  <a:pt x="156642" y="270537"/>
                </a:lnTo>
                <a:lnTo>
                  <a:pt x="197058" y="257709"/>
                </a:lnTo>
                <a:lnTo>
                  <a:pt x="232679" y="232052"/>
                </a:lnTo>
                <a:lnTo>
                  <a:pt x="258406" y="196527"/>
                </a:lnTo>
                <a:lnTo>
                  <a:pt x="271269" y="156219"/>
                </a:lnTo>
                <a:lnTo>
                  <a:pt x="271269" y="114317"/>
                </a:lnTo>
                <a:lnTo>
                  <a:pt x="258406" y="74010"/>
                </a:lnTo>
                <a:lnTo>
                  <a:pt x="232679" y="38485"/>
                </a:lnTo>
                <a:lnTo>
                  <a:pt x="197058" y="12828"/>
                </a:lnTo>
                <a:lnTo>
                  <a:pt x="1566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681605" y="4340990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438762" y="3526659"/>
            <a:ext cx="213995" cy="426720"/>
          </a:xfrm>
          <a:custGeom>
            <a:avLst/>
            <a:gdLst/>
            <a:ahLst/>
            <a:cxnLst/>
            <a:rect l="l" t="t" r="r" b="b"/>
            <a:pathLst>
              <a:path w="213994" h="426720">
                <a:moveTo>
                  <a:pt x="12066" y="0"/>
                </a:moveTo>
                <a:lnTo>
                  <a:pt x="213963" y="420831"/>
                </a:lnTo>
                <a:lnTo>
                  <a:pt x="201897" y="426620"/>
                </a:lnTo>
                <a:lnTo>
                  <a:pt x="0" y="5789"/>
                </a:lnTo>
                <a:lnTo>
                  <a:pt x="1206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501475" y="3838428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80" h="271145">
                <a:moveTo>
                  <a:pt x="156640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8"/>
                </a:lnTo>
                <a:lnTo>
                  <a:pt x="0" y="156220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6" y="270537"/>
                </a:lnTo>
                <a:lnTo>
                  <a:pt x="156640" y="270537"/>
                </a:lnTo>
                <a:lnTo>
                  <a:pt x="197056" y="257709"/>
                </a:lnTo>
                <a:lnTo>
                  <a:pt x="232677" y="232052"/>
                </a:lnTo>
                <a:lnTo>
                  <a:pt x="258403" y="196527"/>
                </a:lnTo>
                <a:lnTo>
                  <a:pt x="271266" y="156220"/>
                </a:lnTo>
                <a:lnTo>
                  <a:pt x="271266" y="114318"/>
                </a:lnTo>
                <a:lnTo>
                  <a:pt x="258403" y="74010"/>
                </a:lnTo>
                <a:lnTo>
                  <a:pt x="232677" y="38485"/>
                </a:lnTo>
                <a:lnTo>
                  <a:pt x="197056" y="12828"/>
                </a:lnTo>
                <a:lnTo>
                  <a:pt x="156640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564906" y="3819040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260019" y="3317537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80" h="271145">
                <a:moveTo>
                  <a:pt x="156641" y="0"/>
                </a:moveTo>
                <a:lnTo>
                  <a:pt x="114627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7"/>
                </a:lnTo>
                <a:lnTo>
                  <a:pt x="0" y="156219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7" y="270537"/>
                </a:lnTo>
                <a:lnTo>
                  <a:pt x="156641" y="270537"/>
                </a:lnTo>
                <a:lnTo>
                  <a:pt x="197057" y="257709"/>
                </a:lnTo>
                <a:lnTo>
                  <a:pt x="232678" y="232052"/>
                </a:lnTo>
                <a:lnTo>
                  <a:pt x="258404" y="196527"/>
                </a:lnTo>
                <a:lnTo>
                  <a:pt x="271268" y="156219"/>
                </a:lnTo>
                <a:lnTo>
                  <a:pt x="271268" y="114317"/>
                </a:lnTo>
                <a:lnTo>
                  <a:pt x="258404" y="74010"/>
                </a:lnTo>
                <a:lnTo>
                  <a:pt x="232678" y="38485"/>
                </a:lnTo>
                <a:lnTo>
                  <a:pt x="197057" y="12828"/>
                </a:lnTo>
                <a:lnTo>
                  <a:pt x="156641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324006" y="3297090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060144" y="3635215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5">
                <a:moveTo>
                  <a:pt x="156642" y="0"/>
                </a:moveTo>
                <a:lnTo>
                  <a:pt x="114627" y="0"/>
                </a:lnTo>
                <a:lnTo>
                  <a:pt x="74211" y="12828"/>
                </a:lnTo>
                <a:lnTo>
                  <a:pt x="38590" y="38485"/>
                </a:lnTo>
                <a:lnTo>
                  <a:pt x="12863" y="74010"/>
                </a:lnTo>
                <a:lnTo>
                  <a:pt x="0" y="114318"/>
                </a:lnTo>
                <a:lnTo>
                  <a:pt x="0" y="156220"/>
                </a:lnTo>
                <a:lnTo>
                  <a:pt x="12863" y="196527"/>
                </a:lnTo>
                <a:lnTo>
                  <a:pt x="38590" y="232052"/>
                </a:lnTo>
                <a:lnTo>
                  <a:pt x="74211" y="257709"/>
                </a:lnTo>
                <a:lnTo>
                  <a:pt x="114627" y="270538"/>
                </a:lnTo>
                <a:lnTo>
                  <a:pt x="156642" y="270538"/>
                </a:lnTo>
                <a:lnTo>
                  <a:pt x="197058" y="257709"/>
                </a:lnTo>
                <a:lnTo>
                  <a:pt x="232679" y="232052"/>
                </a:lnTo>
                <a:lnTo>
                  <a:pt x="258405" y="196527"/>
                </a:lnTo>
                <a:lnTo>
                  <a:pt x="271268" y="156220"/>
                </a:lnTo>
                <a:lnTo>
                  <a:pt x="271268" y="114318"/>
                </a:lnTo>
                <a:lnTo>
                  <a:pt x="258405" y="74010"/>
                </a:lnTo>
                <a:lnTo>
                  <a:pt x="232679" y="38485"/>
                </a:lnTo>
                <a:lnTo>
                  <a:pt x="197058" y="12828"/>
                </a:lnTo>
                <a:lnTo>
                  <a:pt x="1566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130754" y="3604906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668624" y="2494471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4">
                <a:moveTo>
                  <a:pt x="156640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8"/>
                </a:lnTo>
                <a:lnTo>
                  <a:pt x="0" y="156220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6" y="270538"/>
                </a:lnTo>
                <a:lnTo>
                  <a:pt x="156640" y="270538"/>
                </a:lnTo>
                <a:lnTo>
                  <a:pt x="197057" y="257709"/>
                </a:lnTo>
                <a:lnTo>
                  <a:pt x="232678" y="232052"/>
                </a:lnTo>
                <a:lnTo>
                  <a:pt x="258404" y="196527"/>
                </a:lnTo>
                <a:lnTo>
                  <a:pt x="271268" y="156220"/>
                </a:lnTo>
                <a:lnTo>
                  <a:pt x="271268" y="114318"/>
                </a:lnTo>
                <a:lnTo>
                  <a:pt x="258404" y="74010"/>
                </a:lnTo>
                <a:lnTo>
                  <a:pt x="232678" y="38485"/>
                </a:lnTo>
                <a:lnTo>
                  <a:pt x="197057" y="12828"/>
                </a:lnTo>
                <a:lnTo>
                  <a:pt x="15664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740502" y="2467324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628889" y="3569654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5">
                <a:moveTo>
                  <a:pt x="156642" y="0"/>
                </a:moveTo>
                <a:lnTo>
                  <a:pt x="114627" y="0"/>
                </a:lnTo>
                <a:lnTo>
                  <a:pt x="74211" y="12828"/>
                </a:lnTo>
                <a:lnTo>
                  <a:pt x="38590" y="38485"/>
                </a:lnTo>
                <a:lnTo>
                  <a:pt x="12863" y="74010"/>
                </a:lnTo>
                <a:lnTo>
                  <a:pt x="0" y="114317"/>
                </a:lnTo>
                <a:lnTo>
                  <a:pt x="0" y="156219"/>
                </a:lnTo>
                <a:lnTo>
                  <a:pt x="12863" y="196527"/>
                </a:lnTo>
                <a:lnTo>
                  <a:pt x="38590" y="232052"/>
                </a:lnTo>
                <a:lnTo>
                  <a:pt x="74211" y="257709"/>
                </a:lnTo>
                <a:lnTo>
                  <a:pt x="114627" y="270537"/>
                </a:lnTo>
                <a:lnTo>
                  <a:pt x="156642" y="270537"/>
                </a:lnTo>
                <a:lnTo>
                  <a:pt x="197058" y="257709"/>
                </a:lnTo>
                <a:lnTo>
                  <a:pt x="232679" y="232052"/>
                </a:lnTo>
                <a:lnTo>
                  <a:pt x="258405" y="196527"/>
                </a:lnTo>
                <a:lnTo>
                  <a:pt x="271268" y="156219"/>
                </a:lnTo>
                <a:lnTo>
                  <a:pt x="271268" y="114317"/>
                </a:lnTo>
                <a:lnTo>
                  <a:pt x="258405" y="74010"/>
                </a:lnTo>
                <a:lnTo>
                  <a:pt x="232679" y="38485"/>
                </a:lnTo>
                <a:lnTo>
                  <a:pt x="197058" y="12828"/>
                </a:lnTo>
                <a:lnTo>
                  <a:pt x="15664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686969" y="3551373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558806" y="4569635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5">
                <a:moveTo>
                  <a:pt x="156640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6"/>
                </a:lnTo>
                <a:lnTo>
                  <a:pt x="12863" y="74011"/>
                </a:lnTo>
                <a:lnTo>
                  <a:pt x="0" y="114318"/>
                </a:lnTo>
                <a:lnTo>
                  <a:pt x="0" y="156220"/>
                </a:lnTo>
                <a:lnTo>
                  <a:pt x="12863" y="196527"/>
                </a:lnTo>
                <a:lnTo>
                  <a:pt x="38589" y="232053"/>
                </a:lnTo>
                <a:lnTo>
                  <a:pt x="74210" y="257710"/>
                </a:lnTo>
                <a:lnTo>
                  <a:pt x="114626" y="270538"/>
                </a:lnTo>
                <a:lnTo>
                  <a:pt x="156640" y="270538"/>
                </a:lnTo>
                <a:lnTo>
                  <a:pt x="197057" y="257710"/>
                </a:lnTo>
                <a:lnTo>
                  <a:pt x="232678" y="232053"/>
                </a:lnTo>
                <a:lnTo>
                  <a:pt x="258404" y="196527"/>
                </a:lnTo>
                <a:lnTo>
                  <a:pt x="271267" y="156220"/>
                </a:lnTo>
                <a:lnTo>
                  <a:pt x="271267" y="114318"/>
                </a:lnTo>
                <a:lnTo>
                  <a:pt x="258404" y="74011"/>
                </a:lnTo>
                <a:lnTo>
                  <a:pt x="232678" y="38486"/>
                </a:lnTo>
                <a:lnTo>
                  <a:pt x="197057" y="12828"/>
                </a:lnTo>
                <a:lnTo>
                  <a:pt x="156640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633436" y="4555123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63987" y="3209284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80" h="271145">
                <a:moveTo>
                  <a:pt x="156641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8"/>
                </a:lnTo>
                <a:lnTo>
                  <a:pt x="0" y="156220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6" y="270538"/>
                </a:lnTo>
                <a:lnTo>
                  <a:pt x="156641" y="270538"/>
                </a:lnTo>
                <a:lnTo>
                  <a:pt x="197057" y="257709"/>
                </a:lnTo>
                <a:lnTo>
                  <a:pt x="232679" y="232052"/>
                </a:lnTo>
                <a:lnTo>
                  <a:pt x="258405" y="196527"/>
                </a:lnTo>
                <a:lnTo>
                  <a:pt x="271268" y="156220"/>
                </a:lnTo>
                <a:lnTo>
                  <a:pt x="271268" y="114318"/>
                </a:lnTo>
                <a:lnTo>
                  <a:pt x="258405" y="74010"/>
                </a:lnTo>
                <a:lnTo>
                  <a:pt x="232679" y="38485"/>
                </a:lnTo>
                <a:lnTo>
                  <a:pt x="197057" y="12828"/>
                </a:lnTo>
                <a:lnTo>
                  <a:pt x="15664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825073" y="3176641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540032" y="2514752"/>
            <a:ext cx="793750" cy="73660"/>
          </a:xfrm>
          <a:custGeom>
            <a:avLst/>
            <a:gdLst/>
            <a:ahLst/>
            <a:cxnLst/>
            <a:rect l="l" t="t" r="r" b="b"/>
            <a:pathLst>
              <a:path w="793750" h="73660">
                <a:moveTo>
                  <a:pt x="0" y="0"/>
                </a:moveTo>
                <a:lnTo>
                  <a:pt x="6663" y="616"/>
                </a:lnTo>
                <a:lnTo>
                  <a:pt x="793599" y="73384"/>
                </a:lnTo>
              </a:path>
            </a:pathLst>
          </a:custGeom>
          <a:ln w="13383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466738" y="2475388"/>
            <a:ext cx="83820" cy="80010"/>
          </a:xfrm>
          <a:custGeom>
            <a:avLst/>
            <a:gdLst/>
            <a:ahLst/>
            <a:cxnLst/>
            <a:rect l="l" t="t" r="r" b="b"/>
            <a:pathLst>
              <a:path w="83820" h="80010">
                <a:moveTo>
                  <a:pt x="83654" y="0"/>
                </a:moveTo>
                <a:lnTo>
                  <a:pt x="0" y="32585"/>
                </a:lnTo>
                <a:lnTo>
                  <a:pt x="76260" y="79959"/>
                </a:lnTo>
                <a:lnTo>
                  <a:pt x="836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987256" y="4892236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5">
                <a:moveTo>
                  <a:pt x="156641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6"/>
                </a:lnTo>
                <a:lnTo>
                  <a:pt x="12863" y="74011"/>
                </a:lnTo>
                <a:lnTo>
                  <a:pt x="0" y="114318"/>
                </a:lnTo>
                <a:lnTo>
                  <a:pt x="0" y="156220"/>
                </a:lnTo>
                <a:lnTo>
                  <a:pt x="12863" y="196527"/>
                </a:lnTo>
                <a:lnTo>
                  <a:pt x="38589" y="232053"/>
                </a:lnTo>
                <a:lnTo>
                  <a:pt x="74210" y="257710"/>
                </a:lnTo>
                <a:lnTo>
                  <a:pt x="114626" y="270538"/>
                </a:lnTo>
                <a:lnTo>
                  <a:pt x="156641" y="270538"/>
                </a:lnTo>
                <a:lnTo>
                  <a:pt x="197057" y="257710"/>
                </a:lnTo>
                <a:lnTo>
                  <a:pt x="232679" y="232053"/>
                </a:lnTo>
                <a:lnTo>
                  <a:pt x="258405" y="196527"/>
                </a:lnTo>
                <a:lnTo>
                  <a:pt x="271268" y="156220"/>
                </a:lnTo>
                <a:lnTo>
                  <a:pt x="271268" y="114318"/>
                </a:lnTo>
                <a:lnTo>
                  <a:pt x="258405" y="74011"/>
                </a:lnTo>
                <a:lnTo>
                  <a:pt x="232679" y="38486"/>
                </a:lnTo>
                <a:lnTo>
                  <a:pt x="197057" y="12828"/>
                </a:lnTo>
                <a:lnTo>
                  <a:pt x="15664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052068" y="4862939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135930" y="2013509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4">
                <a:moveTo>
                  <a:pt x="156640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7"/>
                </a:lnTo>
                <a:lnTo>
                  <a:pt x="0" y="156219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6" y="270538"/>
                </a:lnTo>
                <a:lnTo>
                  <a:pt x="156640" y="270538"/>
                </a:lnTo>
                <a:lnTo>
                  <a:pt x="197057" y="257709"/>
                </a:lnTo>
                <a:lnTo>
                  <a:pt x="232678" y="232052"/>
                </a:lnTo>
                <a:lnTo>
                  <a:pt x="258404" y="196527"/>
                </a:lnTo>
                <a:lnTo>
                  <a:pt x="271268" y="156219"/>
                </a:lnTo>
                <a:lnTo>
                  <a:pt x="271268" y="114317"/>
                </a:lnTo>
                <a:lnTo>
                  <a:pt x="258404" y="74010"/>
                </a:lnTo>
                <a:lnTo>
                  <a:pt x="232678" y="38485"/>
                </a:lnTo>
                <a:lnTo>
                  <a:pt x="197057" y="12828"/>
                </a:lnTo>
                <a:lnTo>
                  <a:pt x="15664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199284" y="1985524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142465" y="2450098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4">
                <a:moveTo>
                  <a:pt x="156642" y="0"/>
                </a:moveTo>
                <a:lnTo>
                  <a:pt x="114627" y="0"/>
                </a:lnTo>
                <a:lnTo>
                  <a:pt x="74210" y="12828"/>
                </a:lnTo>
                <a:lnTo>
                  <a:pt x="38588" y="38484"/>
                </a:lnTo>
                <a:lnTo>
                  <a:pt x="12862" y="74009"/>
                </a:lnTo>
                <a:lnTo>
                  <a:pt x="0" y="114317"/>
                </a:lnTo>
                <a:lnTo>
                  <a:pt x="0" y="156219"/>
                </a:lnTo>
                <a:lnTo>
                  <a:pt x="12862" y="196526"/>
                </a:lnTo>
                <a:lnTo>
                  <a:pt x="38588" y="232051"/>
                </a:lnTo>
                <a:lnTo>
                  <a:pt x="74210" y="257708"/>
                </a:lnTo>
                <a:lnTo>
                  <a:pt x="114627" y="270536"/>
                </a:lnTo>
                <a:lnTo>
                  <a:pt x="156642" y="270536"/>
                </a:lnTo>
                <a:lnTo>
                  <a:pt x="197058" y="257708"/>
                </a:lnTo>
                <a:lnTo>
                  <a:pt x="232678" y="232051"/>
                </a:lnTo>
                <a:lnTo>
                  <a:pt x="258405" y="196526"/>
                </a:lnTo>
                <a:lnTo>
                  <a:pt x="271268" y="156219"/>
                </a:lnTo>
                <a:lnTo>
                  <a:pt x="271268" y="114317"/>
                </a:lnTo>
                <a:lnTo>
                  <a:pt x="258405" y="74009"/>
                </a:lnTo>
                <a:lnTo>
                  <a:pt x="232678" y="38484"/>
                </a:lnTo>
                <a:lnTo>
                  <a:pt x="197058" y="12828"/>
                </a:lnTo>
                <a:lnTo>
                  <a:pt x="15664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199284" y="2427174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957895" y="4099888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5">
                <a:moveTo>
                  <a:pt x="156641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7"/>
                </a:lnTo>
                <a:lnTo>
                  <a:pt x="0" y="156219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6" y="270537"/>
                </a:lnTo>
                <a:lnTo>
                  <a:pt x="156641" y="270537"/>
                </a:lnTo>
                <a:lnTo>
                  <a:pt x="197057" y="257709"/>
                </a:lnTo>
                <a:lnTo>
                  <a:pt x="232678" y="232052"/>
                </a:lnTo>
                <a:lnTo>
                  <a:pt x="258404" y="196527"/>
                </a:lnTo>
                <a:lnTo>
                  <a:pt x="271268" y="156219"/>
                </a:lnTo>
                <a:lnTo>
                  <a:pt x="271268" y="114317"/>
                </a:lnTo>
                <a:lnTo>
                  <a:pt x="258404" y="74010"/>
                </a:lnTo>
                <a:lnTo>
                  <a:pt x="232678" y="38485"/>
                </a:lnTo>
                <a:lnTo>
                  <a:pt x="197057" y="12828"/>
                </a:lnTo>
                <a:lnTo>
                  <a:pt x="15664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025301" y="4086706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097949" y="3322943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5">
                <a:moveTo>
                  <a:pt x="156641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09"/>
                </a:lnTo>
                <a:lnTo>
                  <a:pt x="0" y="114317"/>
                </a:lnTo>
                <a:lnTo>
                  <a:pt x="0" y="156219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8"/>
                </a:lnTo>
                <a:lnTo>
                  <a:pt x="114626" y="270536"/>
                </a:lnTo>
                <a:lnTo>
                  <a:pt x="156641" y="270536"/>
                </a:lnTo>
                <a:lnTo>
                  <a:pt x="197058" y="257708"/>
                </a:lnTo>
                <a:lnTo>
                  <a:pt x="232679" y="232052"/>
                </a:lnTo>
                <a:lnTo>
                  <a:pt x="258406" y="196527"/>
                </a:lnTo>
                <a:lnTo>
                  <a:pt x="271269" y="156219"/>
                </a:lnTo>
                <a:lnTo>
                  <a:pt x="271269" y="114317"/>
                </a:lnTo>
                <a:lnTo>
                  <a:pt x="258406" y="74009"/>
                </a:lnTo>
                <a:lnTo>
                  <a:pt x="232679" y="38485"/>
                </a:lnTo>
                <a:lnTo>
                  <a:pt x="197058" y="12828"/>
                </a:lnTo>
                <a:lnTo>
                  <a:pt x="15664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081050" y="3763016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5">
                <a:moveTo>
                  <a:pt x="156641" y="0"/>
                </a:moveTo>
                <a:lnTo>
                  <a:pt x="114626" y="0"/>
                </a:lnTo>
                <a:lnTo>
                  <a:pt x="74209" y="12828"/>
                </a:lnTo>
                <a:lnTo>
                  <a:pt x="38588" y="38485"/>
                </a:lnTo>
                <a:lnTo>
                  <a:pt x="12862" y="74010"/>
                </a:lnTo>
                <a:lnTo>
                  <a:pt x="0" y="114317"/>
                </a:lnTo>
                <a:lnTo>
                  <a:pt x="0" y="156219"/>
                </a:lnTo>
                <a:lnTo>
                  <a:pt x="12862" y="196527"/>
                </a:lnTo>
                <a:lnTo>
                  <a:pt x="38588" y="232052"/>
                </a:lnTo>
                <a:lnTo>
                  <a:pt x="74209" y="257709"/>
                </a:lnTo>
                <a:lnTo>
                  <a:pt x="114626" y="270537"/>
                </a:lnTo>
                <a:lnTo>
                  <a:pt x="156641" y="270537"/>
                </a:lnTo>
                <a:lnTo>
                  <a:pt x="197057" y="257709"/>
                </a:lnTo>
                <a:lnTo>
                  <a:pt x="232678" y="232052"/>
                </a:lnTo>
                <a:lnTo>
                  <a:pt x="258405" y="196527"/>
                </a:lnTo>
                <a:lnTo>
                  <a:pt x="271268" y="156219"/>
                </a:lnTo>
                <a:lnTo>
                  <a:pt x="271268" y="114317"/>
                </a:lnTo>
                <a:lnTo>
                  <a:pt x="258405" y="74010"/>
                </a:lnTo>
                <a:lnTo>
                  <a:pt x="232678" y="38485"/>
                </a:lnTo>
                <a:lnTo>
                  <a:pt x="197057" y="12828"/>
                </a:lnTo>
                <a:lnTo>
                  <a:pt x="15664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145752" y="3738740"/>
            <a:ext cx="13843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006592" y="2985525"/>
            <a:ext cx="271780" cy="271145"/>
          </a:xfrm>
          <a:custGeom>
            <a:avLst/>
            <a:gdLst/>
            <a:ahLst/>
            <a:cxnLst/>
            <a:rect l="l" t="t" r="r" b="b"/>
            <a:pathLst>
              <a:path w="271779" h="271145">
                <a:moveTo>
                  <a:pt x="156641" y="0"/>
                </a:moveTo>
                <a:lnTo>
                  <a:pt x="114626" y="0"/>
                </a:lnTo>
                <a:lnTo>
                  <a:pt x="74210" y="12828"/>
                </a:lnTo>
                <a:lnTo>
                  <a:pt x="38589" y="38485"/>
                </a:lnTo>
                <a:lnTo>
                  <a:pt x="12863" y="74010"/>
                </a:lnTo>
                <a:lnTo>
                  <a:pt x="0" y="114318"/>
                </a:lnTo>
                <a:lnTo>
                  <a:pt x="0" y="156220"/>
                </a:lnTo>
                <a:lnTo>
                  <a:pt x="12863" y="196527"/>
                </a:lnTo>
                <a:lnTo>
                  <a:pt x="38589" y="232052"/>
                </a:lnTo>
                <a:lnTo>
                  <a:pt x="74210" y="257709"/>
                </a:lnTo>
                <a:lnTo>
                  <a:pt x="114626" y="270538"/>
                </a:lnTo>
                <a:lnTo>
                  <a:pt x="156641" y="270538"/>
                </a:lnTo>
                <a:lnTo>
                  <a:pt x="197057" y="257709"/>
                </a:lnTo>
                <a:lnTo>
                  <a:pt x="232678" y="232052"/>
                </a:lnTo>
                <a:lnTo>
                  <a:pt x="258404" y="196527"/>
                </a:lnTo>
                <a:lnTo>
                  <a:pt x="271268" y="156220"/>
                </a:lnTo>
                <a:lnTo>
                  <a:pt x="271268" y="114318"/>
                </a:lnTo>
                <a:lnTo>
                  <a:pt x="258404" y="74010"/>
                </a:lnTo>
                <a:lnTo>
                  <a:pt x="232678" y="38485"/>
                </a:lnTo>
                <a:lnTo>
                  <a:pt x="197057" y="12828"/>
                </a:lnTo>
                <a:lnTo>
                  <a:pt x="15664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078835" y="2825998"/>
            <a:ext cx="231775" cy="72136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045">
              <a:lnSpc>
                <a:spcPct val="100000"/>
              </a:lnSpc>
              <a:spcBef>
                <a:spcPts val="100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427015" y="2389323"/>
            <a:ext cx="526415" cy="1040130"/>
          </a:xfrm>
          <a:custGeom>
            <a:avLst/>
            <a:gdLst/>
            <a:ahLst/>
            <a:cxnLst/>
            <a:rect l="l" t="t" r="r" b="b"/>
            <a:pathLst>
              <a:path w="526414" h="1040129">
                <a:moveTo>
                  <a:pt x="483352" y="975804"/>
                </a:moveTo>
                <a:lnTo>
                  <a:pt x="457800" y="988597"/>
                </a:lnTo>
                <a:lnTo>
                  <a:pt x="525984" y="1039676"/>
                </a:lnTo>
                <a:lnTo>
                  <a:pt x="525959" y="993768"/>
                </a:lnTo>
                <a:lnTo>
                  <a:pt x="497116" y="993768"/>
                </a:lnTo>
                <a:lnTo>
                  <a:pt x="491393" y="991864"/>
                </a:lnTo>
                <a:lnTo>
                  <a:pt x="483352" y="975804"/>
                </a:lnTo>
                <a:close/>
              </a:path>
              <a:path w="526414" h="1040129">
                <a:moveTo>
                  <a:pt x="500386" y="967275"/>
                </a:moveTo>
                <a:lnTo>
                  <a:pt x="483352" y="975804"/>
                </a:lnTo>
                <a:lnTo>
                  <a:pt x="491393" y="991864"/>
                </a:lnTo>
                <a:lnTo>
                  <a:pt x="497116" y="993768"/>
                </a:lnTo>
                <a:lnTo>
                  <a:pt x="506522" y="989058"/>
                </a:lnTo>
                <a:lnTo>
                  <a:pt x="508427" y="983335"/>
                </a:lnTo>
                <a:lnTo>
                  <a:pt x="500386" y="967275"/>
                </a:lnTo>
                <a:close/>
              </a:path>
              <a:path w="526414" h="1040129">
                <a:moveTo>
                  <a:pt x="525937" y="954482"/>
                </a:moveTo>
                <a:lnTo>
                  <a:pt x="500386" y="967275"/>
                </a:lnTo>
                <a:lnTo>
                  <a:pt x="508427" y="983335"/>
                </a:lnTo>
                <a:lnTo>
                  <a:pt x="506522" y="989058"/>
                </a:lnTo>
                <a:lnTo>
                  <a:pt x="497116" y="993768"/>
                </a:lnTo>
                <a:lnTo>
                  <a:pt x="525959" y="993768"/>
                </a:lnTo>
                <a:lnTo>
                  <a:pt x="525937" y="954482"/>
                </a:lnTo>
                <a:close/>
              </a:path>
              <a:path w="526414" h="1040129">
                <a:moveTo>
                  <a:pt x="11311" y="0"/>
                </a:moveTo>
                <a:lnTo>
                  <a:pt x="1903" y="4709"/>
                </a:lnTo>
                <a:lnTo>
                  <a:pt x="0" y="10431"/>
                </a:lnTo>
                <a:lnTo>
                  <a:pt x="483352" y="975804"/>
                </a:lnTo>
                <a:lnTo>
                  <a:pt x="500386" y="967275"/>
                </a:lnTo>
                <a:lnTo>
                  <a:pt x="17034" y="1903"/>
                </a:lnTo>
                <a:lnTo>
                  <a:pt x="11311" y="0"/>
                </a:lnTo>
                <a:close/>
              </a:path>
            </a:pathLst>
          </a:custGeom>
          <a:solidFill>
            <a:srgbClr val="CF5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>
            <a:spLocks noGrp="1"/>
          </p:cNvSpPr>
          <p:nvPr>
            <p:ph type="title"/>
          </p:nvPr>
        </p:nvSpPr>
        <p:spPr>
          <a:xfrm>
            <a:off x="2627299" y="1194308"/>
            <a:ext cx="3913504" cy="112585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ctr"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20">
                <a:solidFill>
                  <a:srgbClr val="CF5B1B"/>
                </a:solidFill>
              </a:rPr>
              <a:t>Any </a:t>
            </a:r>
            <a:r>
              <a:rPr dirty="0" sz="2400" spc="-15">
                <a:solidFill>
                  <a:srgbClr val="CF5B1B"/>
                </a:solidFill>
              </a:rPr>
              <a:t>differentiable </a:t>
            </a:r>
            <a:r>
              <a:rPr dirty="0" sz="2400" spc="-5">
                <a:solidFill>
                  <a:srgbClr val="CF5B1B"/>
                </a:solidFill>
              </a:rPr>
              <a:t>function </a:t>
            </a:r>
            <a:r>
              <a:rPr dirty="0" sz="2400" spc="-10">
                <a:solidFill>
                  <a:srgbClr val="CF5B1B"/>
                </a:solidFill>
              </a:rPr>
              <a:t>that  </a:t>
            </a:r>
            <a:r>
              <a:rPr dirty="0" sz="2400" spc="-5">
                <a:solidFill>
                  <a:srgbClr val="CF5B1B"/>
                </a:solidFill>
              </a:rPr>
              <a:t>maps set of </a:t>
            </a:r>
            <a:r>
              <a:rPr dirty="0" sz="2400" spc="-20">
                <a:solidFill>
                  <a:srgbClr val="CF5B1B"/>
                </a:solidFill>
              </a:rPr>
              <a:t>vectors </a:t>
            </a:r>
            <a:r>
              <a:rPr dirty="0" sz="2400" spc="-5">
                <a:solidFill>
                  <a:srgbClr val="CF5B1B"/>
                </a:solidFill>
              </a:rPr>
              <a:t>in </a:t>
            </a:r>
            <a:r>
              <a:rPr dirty="0" sz="2400" spc="25">
                <a:solidFill>
                  <a:srgbClr val="CF5B1B"/>
                </a:solidFill>
                <a:latin typeface="Cambria Math"/>
                <a:cs typeface="Cambria Math"/>
              </a:rPr>
              <a:t>𝑁(𝑢) </a:t>
            </a:r>
            <a:r>
              <a:rPr dirty="0" sz="2400" spc="-30">
                <a:solidFill>
                  <a:srgbClr val="CF5B1B"/>
                </a:solidFill>
              </a:rPr>
              <a:t>to  </a:t>
            </a:r>
            <a:r>
              <a:rPr dirty="0" sz="2400">
                <a:solidFill>
                  <a:srgbClr val="CF5B1B"/>
                </a:solidFill>
              </a:rPr>
              <a:t>a </a:t>
            </a:r>
            <a:r>
              <a:rPr dirty="0" sz="2400" spc="-5">
                <a:solidFill>
                  <a:srgbClr val="CF5B1B"/>
                </a:solidFill>
              </a:rPr>
              <a:t>single</a:t>
            </a:r>
            <a:r>
              <a:rPr dirty="0" sz="2400" spc="-75">
                <a:solidFill>
                  <a:srgbClr val="CF5B1B"/>
                </a:solidFill>
              </a:rPr>
              <a:t> </a:t>
            </a:r>
            <a:r>
              <a:rPr dirty="0" sz="2400" spc="-15">
                <a:solidFill>
                  <a:srgbClr val="CF5B1B"/>
                </a:solidFill>
              </a:rPr>
              <a:t>vector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12295" y="5499100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02745" y="5299964"/>
            <a:ext cx="33883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mbria Math"/>
                <a:cs typeface="Cambria Math"/>
              </a:rPr>
              <a:t>h</a:t>
            </a:r>
            <a:r>
              <a:rPr dirty="0" baseline="40404" sz="3300">
                <a:latin typeface="Cambria Math"/>
                <a:cs typeface="Cambria Math"/>
              </a:rPr>
              <a:t>(670)  </a:t>
            </a:r>
            <a:r>
              <a:rPr dirty="0" sz="3000">
                <a:latin typeface="Cambria Math"/>
                <a:cs typeface="Cambria Math"/>
              </a:rPr>
              <a:t>= </a:t>
            </a:r>
            <a:r>
              <a:rPr dirty="0" sz="3000" spc="-135">
                <a:latin typeface="Cambria Math"/>
                <a:cs typeface="Cambria Math"/>
              </a:rPr>
              <a:t>𝜎([W</a:t>
            </a:r>
            <a:r>
              <a:rPr dirty="0" baseline="-15151" sz="3300" spc="-202">
                <a:latin typeface="Cambria Math"/>
                <a:cs typeface="Cambria Math"/>
              </a:rPr>
              <a:t>6  </a:t>
            </a:r>
            <a:r>
              <a:rPr dirty="0" sz="3000" spc="-1045">
                <a:latin typeface="Cambria Math"/>
                <a:cs typeface="Cambria Math"/>
              </a:rPr>
              <a:t>K</a:t>
            </a:r>
            <a:r>
              <a:rPr dirty="0" sz="3000" spc="-220">
                <a:latin typeface="Cambria Math"/>
                <a:cs typeface="Cambria Math"/>
              </a:rPr>
              <a:t> </a:t>
            </a:r>
            <a:r>
              <a:rPr dirty="0" sz="3000" spc="-15">
                <a:solidFill>
                  <a:srgbClr val="D60093"/>
                </a:solidFill>
                <a:latin typeface="Cambria Math"/>
                <a:cs typeface="Cambria Math"/>
              </a:rPr>
              <a:t>AGG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875092" y="5269783"/>
            <a:ext cx="3079750" cy="628650"/>
          </a:xfrm>
          <a:custGeom>
            <a:avLst/>
            <a:gdLst/>
            <a:ahLst/>
            <a:cxnLst/>
            <a:rect l="l" t="t" r="r" b="b"/>
            <a:pathLst>
              <a:path w="3079750" h="628650">
                <a:moveTo>
                  <a:pt x="2943889" y="0"/>
                </a:moveTo>
                <a:lnTo>
                  <a:pt x="2937936" y="14883"/>
                </a:lnTo>
                <a:lnTo>
                  <a:pt x="2961359" y="33922"/>
                </a:lnTo>
                <a:lnTo>
                  <a:pt x="2982143" y="58670"/>
                </a:lnTo>
                <a:lnTo>
                  <a:pt x="3015792" y="125294"/>
                </a:lnTo>
                <a:lnTo>
                  <a:pt x="3028204" y="166379"/>
                </a:lnTo>
                <a:lnTo>
                  <a:pt x="3037069" y="211591"/>
                </a:lnTo>
                <a:lnTo>
                  <a:pt x="3042388" y="260931"/>
                </a:lnTo>
                <a:lnTo>
                  <a:pt x="3044162" y="314398"/>
                </a:lnTo>
                <a:lnTo>
                  <a:pt x="3042400" y="367023"/>
                </a:lnTo>
                <a:lnTo>
                  <a:pt x="3037116" y="415881"/>
                </a:lnTo>
                <a:lnTo>
                  <a:pt x="3028308" y="460971"/>
                </a:lnTo>
                <a:lnTo>
                  <a:pt x="3015978" y="502294"/>
                </a:lnTo>
                <a:lnTo>
                  <a:pt x="3000531" y="538827"/>
                </a:lnTo>
                <a:lnTo>
                  <a:pt x="2961510" y="594451"/>
                </a:lnTo>
                <a:lnTo>
                  <a:pt x="2937936" y="613543"/>
                </a:lnTo>
                <a:lnTo>
                  <a:pt x="2943889" y="628426"/>
                </a:lnTo>
                <a:lnTo>
                  <a:pt x="2999816" y="583684"/>
                </a:lnTo>
                <a:lnTo>
                  <a:pt x="3022983" y="551198"/>
                </a:lnTo>
                <a:lnTo>
                  <a:pt x="3042953" y="511968"/>
                </a:lnTo>
                <a:lnTo>
                  <a:pt x="3059027" y="467645"/>
                </a:lnTo>
                <a:lnTo>
                  <a:pt x="3070509" y="419880"/>
                </a:lnTo>
                <a:lnTo>
                  <a:pt x="3077398" y="368674"/>
                </a:lnTo>
                <a:lnTo>
                  <a:pt x="3079695" y="314026"/>
                </a:lnTo>
                <a:lnTo>
                  <a:pt x="3077398" y="259099"/>
                </a:lnTo>
                <a:lnTo>
                  <a:pt x="3070509" y="207800"/>
                </a:lnTo>
                <a:lnTo>
                  <a:pt x="3059027" y="160129"/>
                </a:lnTo>
                <a:lnTo>
                  <a:pt x="3042953" y="116085"/>
                </a:lnTo>
                <a:lnTo>
                  <a:pt x="3022983" y="77157"/>
                </a:lnTo>
                <a:lnTo>
                  <a:pt x="2999816" y="44834"/>
                </a:lnTo>
                <a:lnTo>
                  <a:pt x="2973451" y="19114"/>
                </a:lnTo>
                <a:lnTo>
                  <a:pt x="2943889" y="0"/>
                </a:lnTo>
                <a:close/>
              </a:path>
              <a:path w="3079750" h="628650">
                <a:moveTo>
                  <a:pt x="135619" y="0"/>
                </a:moveTo>
                <a:lnTo>
                  <a:pt x="79831" y="44834"/>
                </a:lnTo>
                <a:lnTo>
                  <a:pt x="56699" y="77157"/>
                </a:lnTo>
                <a:lnTo>
                  <a:pt x="36741" y="116085"/>
                </a:lnTo>
                <a:lnTo>
                  <a:pt x="20666" y="160129"/>
                </a:lnTo>
                <a:lnTo>
                  <a:pt x="9185" y="207800"/>
                </a:lnTo>
                <a:lnTo>
                  <a:pt x="2296" y="259099"/>
                </a:lnTo>
                <a:lnTo>
                  <a:pt x="0" y="314026"/>
                </a:lnTo>
                <a:lnTo>
                  <a:pt x="2296" y="368674"/>
                </a:lnTo>
                <a:lnTo>
                  <a:pt x="9185" y="419880"/>
                </a:lnTo>
                <a:lnTo>
                  <a:pt x="20666" y="467645"/>
                </a:lnTo>
                <a:lnTo>
                  <a:pt x="36741" y="511968"/>
                </a:lnTo>
                <a:lnTo>
                  <a:pt x="56699" y="551198"/>
                </a:lnTo>
                <a:lnTo>
                  <a:pt x="79831" y="583684"/>
                </a:lnTo>
                <a:lnTo>
                  <a:pt x="135619" y="628426"/>
                </a:lnTo>
                <a:lnTo>
                  <a:pt x="141758" y="613543"/>
                </a:lnTo>
                <a:lnTo>
                  <a:pt x="118108" y="594451"/>
                </a:lnTo>
                <a:lnTo>
                  <a:pt x="97202" y="569546"/>
                </a:lnTo>
                <a:lnTo>
                  <a:pt x="63623" y="502294"/>
                </a:lnTo>
                <a:lnTo>
                  <a:pt x="51333" y="460971"/>
                </a:lnTo>
                <a:lnTo>
                  <a:pt x="42554" y="415881"/>
                </a:lnTo>
                <a:lnTo>
                  <a:pt x="37287" y="367023"/>
                </a:lnTo>
                <a:lnTo>
                  <a:pt x="35532" y="314398"/>
                </a:lnTo>
                <a:lnTo>
                  <a:pt x="37305" y="260931"/>
                </a:lnTo>
                <a:lnTo>
                  <a:pt x="42624" y="211591"/>
                </a:lnTo>
                <a:lnTo>
                  <a:pt x="51490" y="166379"/>
                </a:lnTo>
                <a:lnTo>
                  <a:pt x="63902" y="125294"/>
                </a:lnTo>
                <a:lnTo>
                  <a:pt x="79407" y="89127"/>
                </a:lnTo>
                <a:lnTo>
                  <a:pt x="118335" y="33922"/>
                </a:lnTo>
                <a:lnTo>
                  <a:pt x="141758" y="14883"/>
                </a:lnTo>
                <a:lnTo>
                  <a:pt x="135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047148" y="5271825"/>
            <a:ext cx="2735580" cy="624840"/>
          </a:xfrm>
          <a:custGeom>
            <a:avLst/>
            <a:gdLst/>
            <a:ahLst/>
            <a:cxnLst/>
            <a:rect l="l" t="t" r="r" b="b"/>
            <a:pathLst>
              <a:path w="2735579" h="624839">
                <a:moveTo>
                  <a:pt x="2603656" y="0"/>
                </a:moveTo>
                <a:lnTo>
                  <a:pt x="2603656" y="14881"/>
                </a:lnTo>
                <a:lnTo>
                  <a:pt x="2611277" y="15783"/>
                </a:lnTo>
                <a:lnTo>
                  <a:pt x="2618515" y="17370"/>
                </a:lnTo>
                <a:lnTo>
                  <a:pt x="2653327" y="42600"/>
                </a:lnTo>
                <a:lnTo>
                  <a:pt x="2669076" y="87930"/>
                </a:lnTo>
                <a:lnTo>
                  <a:pt x="2671744" y="127433"/>
                </a:lnTo>
                <a:lnTo>
                  <a:pt x="2671430" y="138775"/>
                </a:lnTo>
                <a:lnTo>
                  <a:pt x="2670489" y="152152"/>
                </a:lnTo>
                <a:lnTo>
                  <a:pt x="2668919" y="167564"/>
                </a:lnTo>
                <a:lnTo>
                  <a:pt x="2666721" y="185011"/>
                </a:lnTo>
                <a:lnTo>
                  <a:pt x="2664524" y="202050"/>
                </a:lnTo>
                <a:lnTo>
                  <a:pt x="2662954" y="216241"/>
                </a:lnTo>
                <a:lnTo>
                  <a:pt x="2662012" y="227584"/>
                </a:lnTo>
                <a:lnTo>
                  <a:pt x="2661699" y="236077"/>
                </a:lnTo>
                <a:lnTo>
                  <a:pt x="2662547" y="251187"/>
                </a:lnTo>
                <a:lnTo>
                  <a:pt x="2681929" y="295556"/>
                </a:lnTo>
                <a:lnTo>
                  <a:pt x="2700207" y="310120"/>
                </a:lnTo>
                <a:lnTo>
                  <a:pt x="2700207" y="313841"/>
                </a:lnTo>
                <a:lnTo>
                  <a:pt x="2669338" y="347047"/>
                </a:lnTo>
                <a:lnTo>
                  <a:pt x="2661699" y="387510"/>
                </a:lnTo>
                <a:lnTo>
                  <a:pt x="2662012" y="394248"/>
                </a:lnTo>
                <a:lnTo>
                  <a:pt x="2662954" y="405160"/>
                </a:lnTo>
                <a:lnTo>
                  <a:pt x="2664524" y="420247"/>
                </a:lnTo>
                <a:lnTo>
                  <a:pt x="2666721" y="439507"/>
                </a:lnTo>
                <a:lnTo>
                  <a:pt x="2668919" y="459012"/>
                </a:lnTo>
                <a:lnTo>
                  <a:pt x="2670489" y="474830"/>
                </a:lnTo>
                <a:lnTo>
                  <a:pt x="2671430" y="486963"/>
                </a:lnTo>
                <a:lnTo>
                  <a:pt x="2671744" y="495410"/>
                </a:lnTo>
                <a:lnTo>
                  <a:pt x="2671477" y="509758"/>
                </a:lnTo>
                <a:lnTo>
                  <a:pt x="2665024" y="556500"/>
                </a:lnTo>
                <a:lnTo>
                  <a:pt x="2644118" y="593009"/>
                </a:lnTo>
                <a:lnTo>
                  <a:pt x="2603656" y="609450"/>
                </a:lnTo>
                <a:lnTo>
                  <a:pt x="2603656" y="624333"/>
                </a:lnTo>
                <a:lnTo>
                  <a:pt x="2648722" y="614519"/>
                </a:lnTo>
                <a:lnTo>
                  <a:pt x="2680116" y="588056"/>
                </a:lnTo>
                <a:lnTo>
                  <a:pt x="2698534" y="545733"/>
                </a:lnTo>
                <a:lnTo>
                  <a:pt x="2704673" y="488341"/>
                </a:lnTo>
                <a:lnTo>
                  <a:pt x="2704318" y="476447"/>
                </a:lnTo>
                <a:lnTo>
                  <a:pt x="2703254" y="462157"/>
                </a:lnTo>
                <a:lnTo>
                  <a:pt x="2701481" y="445472"/>
                </a:lnTo>
                <a:lnTo>
                  <a:pt x="2698998" y="426391"/>
                </a:lnTo>
                <a:lnTo>
                  <a:pt x="2696516" y="408009"/>
                </a:lnTo>
                <a:lnTo>
                  <a:pt x="2694743" y="393417"/>
                </a:lnTo>
                <a:lnTo>
                  <a:pt x="2693679" y="382615"/>
                </a:lnTo>
                <a:lnTo>
                  <a:pt x="2693324" y="375604"/>
                </a:lnTo>
                <a:lnTo>
                  <a:pt x="2693993" y="363529"/>
                </a:lnTo>
                <a:lnTo>
                  <a:pt x="2710004" y="328822"/>
                </a:lnTo>
                <a:lnTo>
                  <a:pt x="2735555" y="319979"/>
                </a:lnTo>
                <a:lnTo>
                  <a:pt x="2735555" y="303980"/>
                </a:lnTo>
                <a:lnTo>
                  <a:pt x="2699394" y="280854"/>
                </a:lnTo>
                <a:lnTo>
                  <a:pt x="2693324" y="248170"/>
                </a:lnTo>
                <a:lnTo>
                  <a:pt x="2693679" y="240973"/>
                </a:lnTo>
                <a:lnTo>
                  <a:pt x="2694743" y="230543"/>
                </a:lnTo>
                <a:lnTo>
                  <a:pt x="2696610" y="216241"/>
                </a:lnTo>
                <a:lnTo>
                  <a:pt x="2698998" y="199986"/>
                </a:lnTo>
                <a:lnTo>
                  <a:pt x="2701481" y="182232"/>
                </a:lnTo>
                <a:lnTo>
                  <a:pt x="2703254" y="165989"/>
                </a:lnTo>
                <a:lnTo>
                  <a:pt x="2704318" y="151257"/>
                </a:lnTo>
                <a:lnTo>
                  <a:pt x="2704673" y="138037"/>
                </a:lnTo>
                <a:lnTo>
                  <a:pt x="2703051" y="105609"/>
                </a:lnTo>
                <a:lnTo>
                  <a:pt x="2690074" y="54356"/>
                </a:lnTo>
                <a:lnTo>
                  <a:pt x="2664297" y="20893"/>
                </a:lnTo>
                <a:lnTo>
                  <a:pt x="2626765" y="3127"/>
                </a:lnTo>
                <a:lnTo>
                  <a:pt x="2603656" y="0"/>
                </a:lnTo>
                <a:close/>
              </a:path>
              <a:path w="2735579" h="624839">
                <a:moveTo>
                  <a:pt x="131899" y="0"/>
                </a:moveTo>
                <a:lnTo>
                  <a:pt x="88460" y="10091"/>
                </a:lnTo>
                <a:lnTo>
                  <a:pt x="56741" y="35532"/>
                </a:lnTo>
                <a:lnTo>
                  <a:pt x="37347" y="77715"/>
                </a:lnTo>
                <a:lnTo>
                  <a:pt x="30882" y="138037"/>
                </a:lnTo>
                <a:lnTo>
                  <a:pt x="31237" y="151257"/>
                </a:lnTo>
                <a:lnTo>
                  <a:pt x="32300" y="165989"/>
                </a:lnTo>
                <a:lnTo>
                  <a:pt x="34073" y="182232"/>
                </a:lnTo>
                <a:lnTo>
                  <a:pt x="36555" y="199986"/>
                </a:lnTo>
                <a:lnTo>
                  <a:pt x="39038" y="216881"/>
                </a:lnTo>
                <a:lnTo>
                  <a:pt x="40811" y="230543"/>
                </a:lnTo>
                <a:lnTo>
                  <a:pt x="41875" y="240973"/>
                </a:lnTo>
                <a:lnTo>
                  <a:pt x="42230" y="248170"/>
                </a:lnTo>
                <a:lnTo>
                  <a:pt x="41555" y="260483"/>
                </a:lnTo>
                <a:lnTo>
                  <a:pt x="25428" y="295365"/>
                </a:lnTo>
                <a:lnTo>
                  <a:pt x="0" y="303980"/>
                </a:lnTo>
                <a:lnTo>
                  <a:pt x="0" y="319979"/>
                </a:lnTo>
                <a:lnTo>
                  <a:pt x="36212" y="343391"/>
                </a:lnTo>
                <a:lnTo>
                  <a:pt x="42230" y="375604"/>
                </a:lnTo>
                <a:lnTo>
                  <a:pt x="41875" y="382615"/>
                </a:lnTo>
                <a:lnTo>
                  <a:pt x="40811" y="393417"/>
                </a:lnTo>
                <a:lnTo>
                  <a:pt x="39038" y="408009"/>
                </a:lnTo>
                <a:lnTo>
                  <a:pt x="36555" y="426391"/>
                </a:lnTo>
                <a:lnTo>
                  <a:pt x="34073" y="445472"/>
                </a:lnTo>
                <a:lnTo>
                  <a:pt x="32300" y="462157"/>
                </a:lnTo>
                <a:lnTo>
                  <a:pt x="31237" y="476447"/>
                </a:lnTo>
                <a:lnTo>
                  <a:pt x="30882" y="488341"/>
                </a:lnTo>
                <a:lnTo>
                  <a:pt x="32411" y="518921"/>
                </a:lnTo>
                <a:lnTo>
                  <a:pt x="44642" y="568778"/>
                </a:lnTo>
                <a:lnTo>
                  <a:pt x="69303" y="603369"/>
                </a:lnTo>
                <a:lnTo>
                  <a:pt x="107581" y="621507"/>
                </a:lnTo>
                <a:lnTo>
                  <a:pt x="131899" y="624333"/>
                </a:lnTo>
                <a:lnTo>
                  <a:pt x="131899" y="609450"/>
                </a:lnTo>
                <a:lnTo>
                  <a:pt x="123957" y="608537"/>
                </a:lnTo>
                <a:lnTo>
                  <a:pt x="116504" y="606915"/>
                </a:lnTo>
                <a:lnTo>
                  <a:pt x="81297" y="580987"/>
                </a:lnTo>
                <a:lnTo>
                  <a:pt x="66216" y="535245"/>
                </a:lnTo>
                <a:lnTo>
                  <a:pt x="63809" y="495410"/>
                </a:lnTo>
                <a:lnTo>
                  <a:pt x="64123" y="486963"/>
                </a:lnTo>
                <a:lnTo>
                  <a:pt x="65065" y="474830"/>
                </a:lnTo>
                <a:lnTo>
                  <a:pt x="66635" y="459012"/>
                </a:lnTo>
                <a:lnTo>
                  <a:pt x="68832" y="439507"/>
                </a:lnTo>
                <a:lnTo>
                  <a:pt x="71030" y="420247"/>
                </a:lnTo>
                <a:lnTo>
                  <a:pt x="72600" y="405160"/>
                </a:lnTo>
                <a:lnTo>
                  <a:pt x="73541" y="394248"/>
                </a:lnTo>
                <a:lnTo>
                  <a:pt x="73855" y="387510"/>
                </a:lnTo>
                <a:lnTo>
                  <a:pt x="73001" y="372348"/>
                </a:lnTo>
                <a:lnTo>
                  <a:pt x="53502" y="328490"/>
                </a:lnTo>
                <a:lnTo>
                  <a:pt x="35346" y="313841"/>
                </a:lnTo>
                <a:lnTo>
                  <a:pt x="35346" y="310120"/>
                </a:lnTo>
                <a:lnTo>
                  <a:pt x="66164" y="276628"/>
                </a:lnTo>
                <a:lnTo>
                  <a:pt x="73855" y="236077"/>
                </a:lnTo>
                <a:lnTo>
                  <a:pt x="73541" y="227584"/>
                </a:lnTo>
                <a:lnTo>
                  <a:pt x="72600" y="216241"/>
                </a:lnTo>
                <a:lnTo>
                  <a:pt x="71030" y="202050"/>
                </a:lnTo>
                <a:lnTo>
                  <a:pt x="68832" y="185011"/>
                </a:lnTo>
                <a:lnTo>
                  <a:pt x="66635" y="167564"/>
                </a:lnTo>
                <a:lnTo>
                  <a:pt x="65065" y="152152"/>
                </a:lnTo>
                <a:lnTo>
                  <a:pt x="64123" y="138775"/>
                </a:lnTo>
                <a:lnTo>
                  <a:pt x="63809" y="127433"/>
                </a:lnTo>
                <a:lnTo>
                  <a:pt x="64106" y="113184"/>
                </a:lnTo>
                <a:lnTo>
                  <a:pt x="71182" y="66931"/>
                </a:lnTo>
                <a:lnTo>
                  <a:pt x="91924" y="30904"/>
                </a:lnTo>
                <a:lnTo>
                  <a:pt x="131899" y="14881"/>
                </a:lnTo>
                <a:lnTo>
                  <a:pt x="131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137388" y="5407492"/>
            <a:ext cx="468630" cy="353060"/>
          </a:xfrm>
          <a:custGeom>
            <a:avLst/>
            <a:gdLst/>
            <a:ahLst/>
            <a:cxnLst/>
            <a:rect l="l" t="t" r="r" b="b"/>
            <a:pathLst>
              <a:path w="468629" h="353060">
                <a:moveTo>
                  <a:pt x="355860" y="0"/>
                </a:moveTo>
                <a:lnTo>
                  <a:pt x="350837" y="14324"/>
                </a:lnTo>
                <a:lnTo>
                  <a:pt x="371266" y="23190"/>
                </a:lnTo>
                <a:lnTo>
                  <a:pt x="388834" y="35462"/>
                </a:lnTo>
                <a:lnTo>
                  <a:pt x="415391" y="70228"/>
                </a:lnTo>
                <a:lnTo>
                  <a:pt x="431018" y="117132"/>
                </a:lnTo>
                <a:lnTo>
                  <a:pt x="436227" y="174687"/>
                </a:lnTo>
                <a:lnTo>
                  <a:pt x="434919" y="205812"/>
                </a:lnTo>
                <a:lnTo>
                  <a:pt x="424454" y="259483"/>
                </a:lnTo>
                <a:lnTo>
                  <a:pt x="403455" y="301399"/>
                </a:lnTo>
                <a:lnTo>
                  <a:pt x="371504" y="329677"/>
                </a:lnTo>
                <a:lnTo>
                  <a:pt x="351395" y="338583"/>
                </a:lnTo>
                <a:lnTo>
                  <a:pt x="355860" y="352908"/>
                </a:lnTo>
                <a:lnTo>
                  <a:pt x="403996" y="330328"/>
                </a:lnTo>
                <a:lnTo>
                  <a:pt x="439389" y="291237"/>
                </a:lnTo>
                <a:lnTo>
                  <a:pt x="461155" y="238892"/>
                </a:lnTo>
                <a:lnTo>
                  <a:pt x="468411" y="176546"/>
                </a:lnTo>
                <a:lnTo>
                  <a:pt x="466591" y="144194"/>
                </a:lnTo>
                <a:lnTo>
                  <a:pt x="452034" y="86849"/>
                </a:lnTo>
                <a:lnTo>
                  <a:pt x="423164" y="40166"/>
                </a:lnTo>
                <a:lnTo>
                  <a:pt x="381445" y="9237"/>
                </a:lnTo>
                <a:lnTo>
                  <a:pt x="355860" y="0"/>
                </a:lnTo>
                <a:close/>
              </a:path>
              <a:path w="468629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6"/>
                </a:lnTo>
                <a:lnTo>
                  <a:pt x="1813" y="208969"/>
                </a:lnTo>
                <a:lnTo>
                  <a:pt x="16324" y="266314"/>
                </a:lnTo>
                <a:lnTo>
                  <a:pt x="45125" y="312846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9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1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4177883" y="5299964"/>
            <a:ext cx="23044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4070" algn="l"/>
              </a:tabLst>
            </a:pPr>
            <a:r>
              <a:rPr dirty="0" sz="3000" spc="-10">
                <a:latin typeface="Cambria Math"/>
                <a:cs typeface="Cambria Math"/>
              </a:rPr>
              <a:t>h</a:t>
            </a:r>
            <a:r>
              <a:rPr dirty="0" baseline="40404" sz="3300" spc="-7">
                <a:latin typeface="Cambria Math"/>
                <a:cs typeface="Cambria Math"/>
              </a:rPr>
              <a:t>(</a:t>
            </a:r>
            <a:r>
              <a:rPr dirty="0" baseline="40404" sz="3300" spc="-562">
                <a:latin typeface="Cambria Math"/>
                <a:cs typeface="Cambria Math"/>
              </a:rPr>
              <a:t>6</a:t>
            </a:r>
            <a:r>
              <a:rPr dirty="0" baseline="40404" sz="3300" spc="127">
                <a:latin typeface="Cambria Math"/>
                <a:cs typeface="Cambria Math"/>
              </a:rPr>
              <a:t>)</a:t>
            </a: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∀𝑢</a:t>
            </a:r>
            <a:r>
              <a:rPr dirty="0" sz="3000" spc="250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∈</a:t>
            </a:r>
            <a:r>
              <a:rPr dirty="0" sz="3000" spc="17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𝑁	𝑣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6" name="object 9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  <p:sp>
        <p:nvSpPr>
          <p:cNvPr id="91" name="object 91"/>
          <p:cNvSpPr txBox="1"/>
          <p:nvPr/>
        </p:nvSpPr>
        <p:spPr>
          <a:xfrm>
            <a:off x="4387433" y="5499100"/>
            <a:ext cx="35426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1215" algn="l"/>
              </a:tabLst>
            </a:pPr>
            <a:r>
              <a:rPr dirty="0" sz="2200" spc="204">
                <a:latin typeface="Cambria Math"/>
                <a:cs typeface="Cambria Math"/>
              </a:rPr>
              <a:t>8</a:t>
            </a:r>
            <a:r>
              <a:rPr dirty="0" sz="2200" spc="204">
                <a:latin typeface="Cambria Math"/>
                <a:cs typeface="Cambria Math"/>
              </a:rPr>
              <a:t>	</a:t>
            </a: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038304" y="5299964"/>
            <a:ext cx="13804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229">
                <a:latin typeface="Cambria Math"/>
                <a:cs typeface="Cambria Math"/>
              </a:rPr>
              <a:t> </a:t>
            </a:r>
            <a:r>
              <a:rPr dirty="0" sz="3000" spc="-80">
                <a:latin typeface="Cambria Math"/>
                <a:cs typeface="Cambria Math"/>
              </a:rPr>
              <a:t>B</a:t>
            </a:r>
            <a:r>
              <a:rPr dirty="0" baseline="-15151" sz="3300" spc="-120">
                <a:latin typeface="Cambria Math"/>
                <a:cs typeface="Cambria Math"/>
              </a:rPr>
              <a:t>6</a:t>
            </a:r>
            <a:r>
              <a:rPr dirty="0" sz="3000" spc="-80">
                <a:latin typeface="Cambria Math"/>
                <a:cs typeface="Cambria Math"/>
              </a:rPr>
              <a:t>h</a:t>
            </a:r>
            <a:r>
              <a:rPr dirty="0" baseline="40404" sz="3300" spc="-120">
                <a:latin typeface="Cambria Math"/>
                <a:cs typeface="Cambria Math"/>
              </a:rPr>
              <a:t>(6)</a:t>
            </a:r>
            <a:r>
              <a:rPr dirty="0" sz="3000" spc="-80">
                <a:solidFill>
                  <a:srgbClr val="D60093"/>
                </a:solidFill>
                <a:latin typeface="Cambria Math"/>
                <a:cs typeface="Cambria Math"/>
              </a:rPr>
              <a:t>]</a:t>
            </a:r>
            <a:r>
              <a:rPr dirty="0" sz="3000" spc="-80">
                <a:latin typeface="Cambria Math"/>
                <a:cs typeface="Cambria Math"/>
              </a:rPr>
              <a:t>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158032" y="6028435"/>
            <a:ext cx="700468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F5B1B"/>
                </a:solidFill>
                <a:latin typeface="Arial"/>
                <a:cs typeface="Arial"/>
              </a:rPr>
              <a:t>How does </a:t>
            </a:r>
            <a:r>
              <a:rPr dirty="0" sz="2400" spc="-5">
                <a:solidFill>
                  <a:srgbClr val="CF5B1B"/>
                </a:solidFill>
                <a:latin typeface="Arial"/>
                <a:cs typeface="Arial"/>
              </a:rPr>
              <a:t>this </a:t>
            </a:r>
            <a:r>
              <a:rPr dirty="0" sz="2400">
                <a:solidFill>
                  <a:srgbClr val="CF5B1B"/>
                </a:solidFill>
                <a:latin typeface="Arial"/>
                <a:cs typeface="Arial"/>
              </a:rPr>
              <a:t>message passing </a:t>
            </a:r>
            <a:r>
              <a:rPr dirty="0" sz="2400" spc="-5">
                <a:solidFill>
                  <a:srgbClr val="CF5B1B"/>
                </a:solidFill>
                <a:latin typeface="Arial"/>
                <a:cs typeface="Arial"/>
              </a:rPr>
              <a:t>architecture</a:t>
            </a:r>
            <a:r>
              <a:rPr dirty="0" sz="2400" spc="-40">
                <a:solidFill>
                  <a:srgbClr val="CF5B1B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CF5B1B"/>
                </a:solidFill>
                <a:latin typeface="Arial"/>
                <a:cs typeface="Arial"/>
              </a:rPr>
              <a:t>differ?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81279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2619756"/>
            <a:ext cx="33426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385">
                <a:latin typeface="Cambria Math"/>
                <a:cs typeface="Cambria Math"/>
              </a:rPr>
              <a:t>ℓ</a:t>
            </a:r>
            <a:r>
              <a:rPr dirty="0" baseline="-15700" sz="3450" spc="577">
                <a:latin typeface="Cambria Math"/>
                <a:cs typeface="Cambria Math"/>
              </a:rPr>
              <a:t>'</a:t>
            </a:r>
            <a:r>
              <a:rPr dirty="0" baseline="-15700" sz="3450" spc="112">
                <a:latin typeface="Cambria Math"/>
                <a:cs typeface="Cambria Math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Normalization: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3446" y="3586479"/>
            <a:ext cx="1619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54">
                <a:latin typeface="Cambria Math"/>
                <a:cs typeface="Cambria Math"/>
              </a:rPr>
              <a:t>*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6660" y="3235959"/>
            <a:ext cx="31178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467" sz="2850" spc="1237">
                <a:latin typeface="Cambria Math"/>
                <a:cs typeface="Cambria Math"/>
              </a:rPr>
              <a:t>,</a:t>
            </a:r>
            <a:r>
              <a:rPr dirty="0" sz="1600" spc="135">
                <a:latin typeface="Cambria Math"/>
                <a:cs typeface="Cambria Math"/>
              </a:rPr>
              <a:t>7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67386" y="3729185"/>
            <a:ext cx="0" cy="292100"/>
          </a:xfrm>
          <a:custGeom>
            <a:avLst/>
            <a:gdLst/>
            <a:ahLst/>
            <a:cxnLst/>
            <a:rect l="l" t="t" r="r" b="b"/>
            <a:pathLst>
              <a:path w="0" h="292100">
                <a:moveTo>
                  <a:pt x="0" y="0"/>
                </a:moveTo>
                <a:lnTo>
                  <a:pt x="0" y="291491"/>
                </a:lnTo>
              </a:path>
            </a:pathLst>
          </a:custGeom>
          <a:ln w="18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16134" y="3729185"/>
            <a:ext cx="0" cy="292100"/>
          </a:xfrm>
          <a:custGeom>
            <a:avLst/>
            <a:gdLst/>
            <a:ahLst/>
            <a:cxnLst/>
            <a:rect l="l" t="t" r="r" b="b"/>
            <a:pathLst>
              <a:path w="0" h="292100">
                <a:moveTo>
                  <a:pt x="0" y="0"/>
                </a:moveTo>
                <a:lnTo>
                  <a:pt x="0" y="291491"/>
                </a:lnTo>
              </a:path>
            </a:pathLst>
          </a:custGeom>
          <a:ln w="18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47651" y="3729185"/>
            <a:ext cx="0" cy="292100"/>
          </a:xfrm>
          <a:custGeom>
            <a:avLst/>
            <a:gdLst/>
            <a:ahLst/>
            <a:cxnLst/>
            <a:rect l="l" t="t" r="r" b="b"/>
            <a:pathLst>
              <a:path w="0" h="292100">
                <a:moveTo>
                  <a:pt x="0" y="0"/>
                </a:moveTo>
                <a:lnTo>
                  <a:pt x="0" y="291491"/>
                </a:lnTo>
              </a:path>
            </a:pathLst>
          </a:custGeom>
          <a:ln w="18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96399" y="3729185"/>
            <a:ext cx="0" cy="292100"/>
          </a:xfrm>
          <a:custGeom>
            <a:avLst/>
            <a:gdLst/>
            <a:ahLst/>
            <a:cxnLst/>
            <a:rect l="l" t="t" r="r" b="b"/>
            <a:pathLst>
              <a:path w="0" h="292100">
                <a:moveTo>
                  <a:pt x="0" y="0"/>
                </a:moveTo>
                <a:lnTo>
                  <a:pt x="0" y="291491"/>
                </a:lnTo>
              </a:path>
            </a:pathLst>
          </a:custGeom>
          <a:ln w="18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22195" y="3786123"/>
            <a:ext cx="1422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25">
                <a:latin typeface="Cambria Math"/>
                <a:cs typeface="Cambria Math"/>
              </a:rPr>
              <a:t>6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2970" y="3598672"/>
            <a:ext cx="31178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467" sz="2850" spc="1237">
                <a:latin typeface="Cambria Math"/>
                <a:cs typeface="Cambria Math"/>
              </a:rPr>
              <a:t>,</a:t>
            </a:r>
            <a:r>
              <a:rPr dirty="0" sz="1600" spc="135">
                <a:latin typeface="Cambria Math"/>
                <a:cs typeface="Cambria Math"/>
              </a:rPr>
              <a:t>7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2704" y="3840988"/>
            <a:ext cx="1466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60">
                <a:latin typeface="Cambria Math"/>
                <a:cs typeface="Cambria Math"/>
              </a:rPr>
              <a:t>8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6563" y="3430523"/>
            <a:ext cx="384492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441450" algn="l"/>
                <a:tab pos="1777364" algn="l"/>
              </a:tabLst>
            </a:pPr>
            <a:r>
              <a:rPr dirty="0" sz="2600" spc="-120">
                <a:latin typeface="Cambria Math"/>
                <a:cs typeface="Cambria Math"/>
              </a:rPr>
              <a:t>ℎ</a:t>
            </a:r>
            <a:r>
              <a:rPr dirty="0" baseline="27777" sz="2850" spc="-179">
                <a:latin typeface="Cambria Math"/>
                <a:cs typeface="Cambria Math"/>
              </a:rPr>
              <a:t>+ </a:t>
            </a:r>
            <a:r>
              <a:rPr dirty="0" baseline="27777" sz="2850" spc="-104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←</a:t>
            </a:r>
            <a:r>
              <a:rPr dirty="0" baseline="24572" sz="3900" u="heavy">
                <a:latin typeface="Cambria Math"/>
                <a:cs typeface="Cambria Math"/>
              </a:rPr>
              <a:t> 	</a:t>
            </a:r>
            <a:r>
              <a:rPr dirty="0" baseline="39930" sz="2400" spc="37" u="heavy">
                <a:latin typeface="Cambria Math"/>
                <a:cs typeface="Cambria Math"/>
              </a:rPr>
              <a:t>6	</a:t>
            </a:r>
            <a:r>
              <a:rPr dirty="0" sz="2600">
                <a:latin typeface="Cambria Math"/>
                <a:cs typeface="Cambria Math"/>
              </a:rPr>
              <a:t>∀𝑣  ∈ 𝑉</a:t>
            </a:r>
            <a:r>
              <a:rPr dirty="0" sz="2600" spc="-155">
                <a:latin typeface="Cambria Math"/>
                <a:cs typeface="Cambria Math"/>
              </a:rPr>
              <a:t> </a:t>
            </a:r>
            <a:r>
              <a:rPr dirty="0" sz="2600" spc="-10">
                <a:latin typeface="Calibri"/>
                <a:cs typeface="Calibri"/>
              </a:rPr>
              <a:t>where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56170" y="35301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86035" y="35301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84251" y="35301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14115" y="35301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395721" y="3586479"/>
            <a:ext cx="16510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95">
                <a:latin typeface="Cambria Math"/>
                <a:cs typeface="Cambria Math"/>
              </a:rPr>
              <a:t>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96931" y="3291840"/>
            <a:ext cx="979805" cy="738505"/>
          </a:xfrm>
          <a:custGeom>
            <a:avLst/>
            <a:gdLst/>
            <a:ahLst/>
            <a:cxnLst/>
            <a:rect l="l" t="t" r="r" b="b"/>
            <a:pathLst>
              <a:path w="979804" h="738504">
                <a:moveTo>
                  <a:pt x="69712" y="555501"/>
                </a:moveTo>
                <a:lnTo>
                  <a:pt x="35793" y="555501"/>
                </a:lnTo>
                <a:lnTo>
                  <a:pt x="135272" y="738337"/>
                </a:lnTo>
                <a:lnTo>
                  <a:pt x="150266" y="738337"/>
                </a:lnTo>
                <a:lnTo>
                  <a:pt x="156138" y="679810"/>
                </a:lnTo>
                <a:lnTo>
                  <a:pt x="136884" y="679810"/>
                </a:lnTo>
                <a:lnTo>
                  <a:pt x="69712" y="555501"/>
                </a:lnTo>
                <a:close/>
              </a:path>
              <a:path w="979804" h="738504">
                <a:moveTo>
                  <a:pt x="979432" y="0"/>
                </a:moveTo>
                <a:lnTo>
                  <a:pt x="242832" y="0"/>
                </a:lnTo>
                <a:lnTo>
                  <a:pt x="242832" y="1836"/>
                </a:lnTo>
                <a:lnTo>
                  <a:pt x="203956" y="1836"/>
                </a:lnTo>
                <a:lnTo>
                  <a:pt x="136884" y="679810"/>
                </a:lnTo>
                <a:lnTo>
                  <a:pt x="156138" y="679810"/>
                </a:lnTo>
                <a:lnTo>
                  <a:pt x="222015" y="23280"/>
                </a:lnTo>
                <a:lnTo>
                  <a:pt x="979432" y="23280"/>
                </a:lnTo>
                <a:lnTo>
                  <a:pt x="979432" y="0"/>
                </a:lnTo>
                <a:close/>
              </a:path>
              <a:path w="979804" h="738504">
                <a:moveTo>
                  <a:pt x="55947" y="530028"/>
                </a:moveTo>
                <a:lnTo>
                  <a:pt x="0" y="559532"/>
                </a:lnTo>
                <a:lnTo>
                  <a:pt x="6287" y="570980"/>
                </a:lnTo>
                <a:lnTo>
                  <a:pt x="35793" y="555501"/>
                </a:lnTo>
                <a:lnTo>
                  <a:pt x="69712" y="555501"/>
                </a:lnTo>
                <a:lnTo>
                  <a:pt x="55947" y="530028"/>
                </a:lnTo>
                <a:close/>
              </a:path>
              <a:path w="979804" h="738504">
                <a:moveTo>
                  <a:pt x="979432" y="23280"/>
                </a:moveTo>
                <a:lnTo>
                  <a:pt x="242832" y="23280"/>
                </a:lnTo>
                <a:lnTo>
                  <a:pt x="242832" y="25400"/>
                </a:lnTo>
                <a:lnTo>
                  <a:pt x="979432" y="25400"/>
                </a:lnTo>
                <a:lnTo>
                  <a:pt x="979432" y="23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460363" y="3610864"/>
            <a:ext cx="44640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8615" algn="l"/>
              </a:tabLst>
            </a:pPr>
            <a:r>
              <a:rPr dirty="0" sz="1900" spc="114">
                <a:latin typeface="Cambria Math"/>
                <a:cs typeface="Cambria Math"/>
              </a:rPr>
              <a:t>!</a:t>
            </a:r>
            <a:r>
              <a:rPr dirty="0" sz="1900" spc="114">
                <a:latin typeface="Cambria Math"/>
                <a:cs typeface="Cambria Math"/>
              </a:rPr>
              <a:t>	</a:t>
            </a:r>
            <a:r>
              <a:rPr dirty="0" sz="1900" spc="114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77620" y="3586479"/>
            <a:ext cx="16510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95">
                <a:latin typeface="Cambria Math"/>
                <a:cs typeface="Cambria Math"/>
              </a:rPr>
              <a:t>%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23802" y="3430523"/>
            <a:ext cx="346138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9285" algn="l"/>
                <a:tab pos="1214755" algn="l"/>
                <a:tab pos="1596390" algn="l"/>
                <a:tab pos="2519680" algn="l"/>
              </a:tabLst>
            </a:pPr>
            <a:r>
              <a:rPr dirty="0" sz="2600">
                <a:latin typeface="Cambria Math"/>
                <a:cs typeface="Cambria Math"/>
              </a:rPr>
              <a:t>𝑢	=	</a:t>
            </a:r>
            <a:r>
              <a:rPr dirty="0" baseline="2136" sz="3900">
                <a:latin typeface="Cambria Math"/>
                <a:cs typeface="Cambria Math"/>
              </a:rPr>
              <a:t>∑	</a:t>
            </a:r>
            <a:r>
              <a:rPr dirty="0" sz="2600" spc="55">
                <a:latin typeface="Cambria Math"/>
                <a:cs typeface="Cambria Math"/>
              </a:rPr>
              <a:t>𝑢</a:t>
            </a:r>
            <a:r>
              <a:rPr dirty="0" baseline="27777" sz="2850" spc="-892">
                <a:latin typeface="Cambria Math"/>
                <a:cs typeface="Cambria Math"/>
              </a:rPr>
              <a:t>%</a:t>
            </a:r>
            <a:r>
              <a:rPr dirty="0" baseline="27777" sz="2850">
                <a:latin typeface="Cambria Math"/>
                <a:cs typeface="Cambria Math"/>
              </a:rPr>
              <a:t> </a:t>
            </a:r>
            <a:r>
              <a:rPr dirty="0" baseline="27777" sz="2850" spc="127">
                <a:latin typeface="Cambria Math"/>
                <a:cs typeface="Cambria Math"/>
              </a:rPr>
              <a:t> </a:t>
            </a:r>
            <a:r>
              <a:rPr dirty="0" sz="2600" spc="-5">
                <a:latin typeface="Calibri"/>
                <a:cs typeface="Calibri"/>
              </a:rPr>
              <a:t>(</a:t>
            </a:r>
            <a:r>
              <a:rPr dirty="0" sz="2600">
                <a:latin typeface="Cambria Math"/>
                <a:cs typeface="Cambria Math"/>
              </a:rPr>
              <a:t>ℓ	</a:t>
            </a:r>
            <a:r>
              <a:rPr dirty="0" sz="2600">
                <a:latin typeface="Calibri"/>
                <a:cs typeface="Calibri"/>
              </a:rPr>
              <a:t>-</a:t>
            </a:r>
            <a:r>
              <a:rPr dirty="0" sz="2600" spc="-5">
                <a:latin typeface="Calibri"/>
                <a:cs typeface="Calibri"/>
              </a:rPr>
              <a:t>n</a:t>
            </a:r>
            <a:r>
              <a:rPr dirty="0" sz="2600">
                <a:latin typeface="Calibri"/>
                <a:cs typeface="Calibri"/>
              </a:rPr>
              <a:t>o</a:t>
            </a:r>
            <a:r>
              <a:rPr dirty="0" sz="2600" spc="0">
                <a:latin typeface="Calibri"/>
                <a:cs typeface="Calibri"/>
              </a:rPr>
              <a:t>r</a:t>
            </a:r>
            <a:r>
              <a:rPr dirty="0" sz="2600" spc="-5">
                <a:latin typeface="Calibri"/>
                <a:cs typeface="Calibri"/>
              </a:rPr>
              <a:t>m)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6563" y="4040123"/>
            <a:ext cx="7880984" cy="235458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287020" marR="194310" indent="-274320">
              <a:lnSpc>
                <a:spcPts val="2810"/>
              </a:lnSpc>
              <a:spcBef>
                <a:spcPts val="4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Without </a:t>
            </a:r>
            <a:r>
              <a:rPr dirty="0" sz="2600" spc="-300">
                <a:latin typeface="Cambria Math"/>
                <a:cs typeface="Cambria Math"/>
              </a:rPr>
              <a:t>ℓ</a:t>
            </a:r>
            <a:r>
              <a:rPr dirty="0" baseline="-16081" sz="2850" spc="-450">
                <a:latin typeface="Cambria Math"/>
                <a:cs typeface="Cambria Math"/>
              </a:rPr>
              <a:t>% </a:t>
            </a:r>
            <a:r>
              <a:rPr dirty="0" sz="2600" spc="-10">
                <a:latin typeface="Calibri"/>
                <a:cs typeface="Calibri"/>
              </a:rPr>
              <a:t>normalization, </a:t>
            </a:r>
            <a:r>
              <a:rPr dirty="0" sz="2600" spc="-5">
                <a:latin typeface="Calibri"/>
                <a:cs typeface="Calibri"/>
              </a:rPr>
              <a:t>the embedding </a:t>
            </a:r>
            <a:r>
              <a:rPr dirty="0" sz="2600" spc="-15">
                <a:latin typeface="Calibri"/>
                <a:cs typeface="Calibri"/>
              </a:rPr>
              <a:t>vectors </a:t>
            </a:r>
            <a:r>
              <a:rPr dirty="0" sz="2600" spc="-105">
                <a:latin typeface="Calibri"/>
                <a:cs typeface="Calibri"/>
              </a:rPr>
              <a:t>have 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10">
                <a:latin typeface="Calibri"/>
                <a:cs typeface="Calibri"/>
              </a:rPr>
              <a:t>scales </a:t>
            </a:r>
            <a:r>
              <a:rPr dirty="0" sz="2600" spc="-60">
                <a:latin typeface="Calibri"/>
                <a:cs typeface="Calibri"/>
              </a:rPr>
              <a:t>(</a:t>
            </a:r>
            <a:r>
              <a:rPr dirty="0" sz="2600" spc="-60">
                <a:latin typeface="Cambria Math"/>
                <a:cs typeface="Cambria Math"/>
              </a:rPr>
              <a:t>ℓ</a:t>
            </a:r>
            <a:r>
              <a:rPr dirty="0" baseline="-16081" sz="2850" spc="-89">
                <a:latin typeface="Cambria Math"/>
                <a:cs typeface="Cambria Math"/>
              </a:rPr>
              <a:t>%</a:t>
            </a:r>
            <a:r>
              <a:rPr dirty="0" sz="2600" spc="-60">
                <a:latin typeface="Calibri"/>
                <a:cs typeface="Calibri"/>
              </a:rPr>
              <a:t>-norm) </a:t>
            </a:r>
            <a:r>
              <a:rPr dirty="0" sz="2600" spc="-25">
                <a:latin typeface="Calibri"/>
                <a:cs typeface="Calibri"/>
              </a:rPr>
              <a:t>for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vectors</a:t>
            </a:r>
            <a:endParaRPr sz="2600">
              <a:latin typeface="Calibri"/>
              <a:cs typeface="Calibri"/>
            </a:endParaRPr>
          </a:p>
          <a:p>
            <a:pPr marL="287020" marR="81915" indent="-274320">
              <a:lnSpc>
                <a:spcPts val="278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In some </a:t>
            </a:r>
            <a:r>
              <a:rPr dirty="0" sz="2600" spc="-10">
                <a:latin typeface="Calibri"/>
                <a:cs typeface="Calibri"/>
              </a:rPr>
              <a:t>cases </a:t>
            </a:r>
            <a:r>
              <a:rPr dirty="0" sz="2600" spc="-5">
                <a:latin typeface="Calibri"/>
                <a:cs typeface="Calibri"/>
              </a:rPr>
              <a:t>(not </a:t>
            </a:r>
            <a:r>
              <a:rPr dirty="0" sz="2600" spc="-15">
                <a:latin typeface="Calibri"/>
                <a:cs typeface="Calibri"/>
              </a:rPr>
              <a:t>always), </a:t>
            </a:r>
            <a:r>
              <a:rPr dirty="0" sz="2600" spc="-10">
                <a:latin typeface="Calibri"/>
                <a:cs typeface="Calibri"/>
              </a:rPr>
              <a:t>normalization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65">
                <a:latin typeface="Calibri"/>
                <a:cs typeface="Calibri"/>
              </a:rPr>
              <a:t>embedding  </a:t>
            </a:r>
            <a:r>
              <a:rPr dirty="0" sz="2600" spc="-10">
                <a:latin typeface="Calibri"/>
                <a:cs typeface="Calibri"/>
              </a:rPr>
              <a:t>results </a:t>
            </a:r>
            <a:r>
              <a:rPr dirty="0" sz="2600">
                <a:latin typeface="Calibri"/>
                <a:cs typeface="Calibri"/>
              </a:rPr>
              <a:t>in </a:t>
            </a:r>
            <a:r>
              <a:rPr dirty="0" sz="2600" spc="-10">
                <a:latin typeface="Calibri"/>
                <a:cs typeface="Calibri"/>
              </a:rPr>
              <a:t>performance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improvement</a:t>
            </a:r>
            <a:endParaRPr sz="2600">
              <a:latin typeface="Calibri"/>
              <a:cs typeface="Calibri"/>
            </a:endParaRPr>
          </a:p>
          <a:p>
            <a:pPr marL="287020" marR="5080" indent="-274320">
              <a:lnSpc>
                <a:spcPts val="281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>
                <a:latin typeface="Calibri"/>
                <a:cs typeface="Calibri"/>
              </a:rPr>
              <a:t>After </a:t>
            </a:r>
            <a:r>
              <a:rPr dirty="0" sz="2600" spc="-300">
                <a:latin typeface="Cambria Math"/>
                <a:cs typeface="Cambria Math"/>
              </a:rPr>
              <a:t>ℓ</a:t>
            </a:r>
            <a:r>
              <a:rPr dirty="0" baseline="-16081" sz="2850" spc="-450">
                <a:latin typeface="Cambria Math"/>
                <a:cs typeface="Cambria Math"/>
              </a:rPr>
              <a:t>% </a:t>
            </a:r>
            <a:r>
              <a:rPr dirty="0" sz="2600" spc="-10">
                <a:latin typeface="Calibri"/>
                <a:cs typeface="Calibri"/>
              </a:rPr>
              <a:t>normalization, </a:t>
            </a:r>
            <a:r>
              <a:rPr dirty="0" sz="2600">
                <a:latin typeface="Calibri"/>
                <a:cs typeface="Calibri"/>
              </a:rPr>
              <a:t>all </a:t>
            </a:r>
            <a:r>
              <a:rPr dirty="0" sz="2600" spc="-15">
                <a:latin typeface="Calibri"/>
                <a:cs typeface="Calibri"/>
              </a:rPr>
              <a:t>vectors </a:t>
            </a:r>
            <a:r>
              <a:rPr dirty="0" sz="2600">
                <a:latin typeface="Calibri"/>
                <a:cs typeface="Calibri"/>
              </a:rPr>
              <a:t>will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5">
                <a:latin typeface="Calibri"/>
                <a:cs typeface="Calibri"/>
              </a:rPr>
              <a:t>the same </a:t>
            </a:r>
            <a:r>
              <a:rPr dirty="0" sz="2600" spc="-280">
                <a:latin typeface="Cambria Math"/>
                <a:cs typeface="Cambria Math"/>
              </a:rPr>
              <a:t>ℓ</a:t>
            </a:r>
            <a:r>
              <a:rPr dirty="0" baseline="-16081" sz="2850" spc="-419">
                <a:latin typeface="Cambria Math"/>
                <a:cs typeface="Cambria Math"/>
              </a:rPr>
              <a:t>%</a:t>
            </a:r>
            <a:r>
              <a:rPr dirty="0" sz="2600" spc="-280">
                <a:latin typeface="Calibri"/>
                <a:cs typeface="Calibri"/>
              </a:rPr>
              <a:t>-  </a:t>
            </a:r>
            <a:r>
              <a:rPr dirty="0" sz="2600" spc="-5">
                <a:latin typeface="Calibri"/>
                <a:cs typeface="Calibri"/>
              </a:rPr>
              <a:t>norm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12690" y="2352039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90">
                <a:solidFill>
                  <a:srgbClr val="008000"/>
                </a:solidFill>
                <a:latin typeface="Cambria Math"/>
                <a:cs typeface="Cambria Math"/>
              </a:rPr>
              <a:t>(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3115" y="2230627"/>
            <a:ext cx="67925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Optional: Apply L2 normalization to </a:t>
            </a:r>
            <a:r>
              <a:rPr dirty="0" sz="1800" spc="40">
                <a:solidFill>
                  <a:srgbClr val="008000"/>
                </a:solidFill>
                <a:latin typeface="Cambria Math"/>
                <a:cs typeface="Cambria Math"/>
              </a:rPr>
              <a:t>h</a:t>
            </a:r>
            <a:r>
              <a:rPr dirty="0" baseline="40598" sz="1950" spc="60">
                <a:solidFill>
                  <a:srgbClr val="008000"/>
                </a:solidFill>
                <a:latin typeface="Cambria Math"/>
                <a:cs typeface="Cambria Math"/>
              </a:rPr>
              <a:t>(*+!)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embedding at every</a:t>
            </a:r>
            <a:r>
              <a:rPr dirty="0" sz="1800" spc="-2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563178" y="1416811"/>
            <a:ext cx="33883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mbria Math"/>
                <a:cs typeface="Cambria Math"/>
              </a:rPr>
              <a:t>h</a:t>
            </a:r>
            <a:r>
              <a:rPr dirty="0" baseline="40404" sz="3300">
                <a:latin typeface="Cambria Math"/>
                <a:cs typeface="Cambria Math"/>
              </a:rPr>
              <a:t>(670)  </a:t>
            </a:r>
            <a:r>
              <a:rPr dirty="0" sz="3000">
                <a:latin typeface="Cambria Math"/>
                <a:cs typeface="Cambria Math"/>
              </a:rPr>
              <a:t>= </a:t>
            </a:r>
            <a:r>
              <a:rPr dirty="0" sz="3000" spc="-135">
                <a:latin typeface="Cambria Math"/>
                <a:cs typeface="Cambria Math"/>
              </a:rPr>
              <a:t>𝜎([W</a:t>
            </a:r>
            <a:r>
              <a:rPr dirty="0" baseline="-15151" sz="3300" spc="-202">
                <a:latin typeface="Cambria Math"/>
                <a:cs typeface="Cambria Math"/>
              </a:rPr>
              <a:t>6  </a:t>
            </a:r>
            <a:r>
              <a:rPr dirty="0" sz="3000" spc="-1045">
                <a:latin typeface="Cambria Math"/>
                <a:cs typeface="Cambria Math"/>
              </a:rPr>
              <a:t>K</a:t>
            </a:r>
            <a:r>
              <a:rPr dirty="0" sz="3000" spc="-220">
                <a:latin typeface="Cambria Math"/>
                <a:cs typeface="Cambria Math"/>
              </a:rPr>
              <a:t> </a:t>
            </a:r>
            <a:r>
              <a:rPr dirty="0" sz="3000" spc="-15">
                <a:solidFill>
                  <a:srgbClr val="D60093"/>
                </a:solidFill>
                <a:latin typeface="Cambria Math"/>
                <a:cs typeface="Cambria Math"/>
              </a:rPr>
              <a:t>AGG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035525" y="1386441"/>
            <a:ext cx="3079750" cy="628650"/>
          </a:xfrm>
          <a:custGeom>
            <a:avLst/>
            <a:gdLst/>
            <a:ahLst/>
            <a:cxnLst/>
            <a:rect l="l" t="t" r="r" b="b"/>
            <a:pathLst>
              <a:path w="3079750" h="628650">
                <a:moveTo>
                  <a:pt x="2943890" y="0"/>
                </a:moveTo>
                <a:lnTo>
                  <a:pt x="2937936" y="14883"/>
                </a:lnTo>
                <a:lnTo>
                  <a:pt x="2961359" y="33922"/>
                </a:lnTo>
                <a:lnTo>
                  <a:pt x="2982143" y="58671"/>
                </a:lnTo>
                <a:lnTo>
                  <a:pt x="3015792" y="125294"/>
                </a:lnTo>
                <a:lnTo>
                  <a:pt x="3028204" y="166379"/>
                </a:lnTo>
                <a:lnTo>
                  <a:pt x="3037070" y="211591"/>
                </a:lnTo>
                <a:lnTo>
                  <a:pt x="3042390" y="260932"/>
                </a:lnTo>
                <a:lnTo>
                  <a:pt x="3044163" y="314399"/>
                </a:lnTo>
                <a:lnTo>
                  <a:pt x="3042401" y="367024"/>
                </a:lnTo>
                <a:lnTo>
                  <a:pt x="3037116" y="415881"/>
                </a:lnTo>
                <a:lnTo>
                  <a:pt x="3028309" y="460972"/>
                </a:lnTo>
                <a:lnTo>
                  <a:pt x="3015978" y="502295"/>
                </a:lnTo>
                <a:lnTo>
                  <a:pt x="3000531" y="538827"/>
                </a:lnTo>
                <a:lnTo>
                  <a:pt x="2961510" y="594452"/>
                </a:lnTo>
                <a:lnTo>
                  <a:pt x="2937936" y="613544"/>
                </a:lnTo>
                <a:lnTo>
                  <a:pt x="2943890" y="628426"/>
                </a:lnTo>
                <a:lnTo>
                  <a:pt x="2999816" y="583685"/>
                </a:lnTo>
                <a:lnTo>
                  <a:pt x="3022983" y="551199"/>
                </a:lnTo>
                <a:lnTo>
                  <a:pt x="3042953" y="511968"/>
                </a:lnTo>
                <a:lnTo>
                  <a:pt x="3059028" y="467646"/>
                </a:lnTo>
                <a:lnTo>
                  <a:pt x="3070510" y="419881"/>
                </a:lnTo>
                <a:lnTo>
                  <a:pt x="3077399" y="368675"/>
                </a:lnTo>
                <a:lnTo>
                  <a:pt x="3079695" y="314027"/>
                </a:lnTo>
                <a:lnTo>
                  <a:pt x="3077399" y="259100"/>
                </a:lnTo>
                <a:lnTo>
                  <a:pt x="3070510" y="207801"/>
                </a:lnTo>
                <a:lnTo>
                  <a:pt x="3059028" y="160129"/>
                </a:lnTo>
                <a:lnTo>
                  <a:pt x="3042953" y="116085"/>
                </a:lnTo>
                <a:lnTo>
                  <a:pt x="3022983" y="77158"/>
                </a:lnTo>
                <a:lnTo>
                  <a:pt x="2999816" y="44834"/>
                </a:lnTo>
                <a:lnTo>
                  <a:pt x="2973452" y="19115"/>
                </a:lnTo>
                <a:lnTo>
                  <a:pt x="2943890" y="0"/>
                </a:lnTo>
                <a:close/>
              </a:path>
              <a:path w="3079750" h="628650">
                <a:moveTo>
                  <a:pt x="135619" y="0"/>
                </a:moveTo>
                <a:lnTo>
                  <a:pt x="79831" y="44834"/>
                </a:lnTo>
                <a:lnTo>
                  <a:pt x="56699" y="77158"/>
                </a:lnTo>
                <a:lnTo>
                  <a:pt x="36741" y="116085"/>
                </a:lnTo>
                <a:lnTo>
                  <a:pt x="20666" y="160129"/>
                </a:lnTo>
                <a:lnTo>
                  <a:pt x="9185" y="207801"/>
                </a:lnTo>
                <a:lnTo>
                  <a:pt x="2296" y="259100"/>
                </a:lnTo>
                <a:lnTo>
                  <a:pt x="0" y="314027"/>
                </a:lnTo>
                <a:lnTo>
                  <a:pt x="2296" y="368675"/>
                </a:lnTo>
                <a:lnTo>
                  <a:pt x="9185" y="419881"/>
                </a:lnTo>
                <a:lnTo>
                  <a:pt x="20666" y="467646"/>
                </a:lnTo>
                <a:lnTo>
                  <a:pt x="36741" y="511968"/>
                </a:lnTo>
                <a:lnTo>
                  <a:pt x="56699" y="551199"/>
                </a:lnTo>
                <a:lnTo>
                  <a:pt x="79831" y="583685"/>
                </a:lnTo>
                <a:lnTo>
                  <a:pt x="135619" y="628426"/>
                </a:lnTo>
                <a:lnTo>
                  <a:pt x="141758" y="613544"/>
                </a:lnTo>
                <a:lnTo>
                  <a:pt x="118108" y="594452"/>
                </a:lnTo>
                <a:lnTo>
                  <a:pt x="97202" y="569546"/>
                </a:lnTo>
                <a:lnTo>
                  <a:pt x="63623" y="502295"/>
                </a:lnTo>
                <a:lnTo>
                  <a:pt x="51333" y="460972"/>
                </a:lnTo>
                <a:lnTo>
                  <a:pt x="42554" y="415881"/>
                </a:lnTo>
                <a:lnTo>
                  <a:pt x="37287" y="367024"/>
                </a:lnTo>
                <a:lnTo>
                  <a:pt x="35532" y="314399"/>
                </a:lnTo>
                <a:lnTo>
                  <a:pt x="37305" y="260932"/>
                </a:lnTo>
                <a:lnTo>
                  <a:pt x="42625" y="211591"/>
                </a:lnTo>
                <a:lnTo>
                  <a:pt x="51490" y="166379"/>
                </a:lnTo>
                <a:lnTo>
                  <a:pt x="63902" y="125294"/>
                </a:lnTo>
                <a:lnTo>
                  <a:pt x="79407" y="89128"/>
                </a:lnTo>
                <a:lnTo>
                  <a:pt x="118335" y="33922"/>
                </a:lnTo>
                <a:lnTo>
                  <a:pt x="141758" y="14883"/>
                </a:lnTo>
                <a:lnTo>
                  <a:pt x="135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07581" y="1388483"/>
            <a:ext cx="2735580" cy="624840"/>
          </a:xfrm>
          <a:custGeom>
            <a:avLst/>
            <a:gdLst/>
            <a:ahLst/>
            <a:cxnLst/>
            <a:rect l="l" t="t" r="r" b="b"/>
            <a:pathLst>
              <a:path w="2735579" h="624839">
                <a:moveTo>
                  <a:pt x="2603656" y="0"/>
                </a:moveTo>
                <a:lnTo>
                  <a:pt x="2603656" y="14883"/>
                </a:lnTo>
                <a:lnTo>
                  <a:pt x="2611277" y="15784"/>
                </a:lnTo>
                <a:lnTo>
                  <a:pt x="2618516" y="17371"/>
                </a:lnTo>
                <a:lnTo>
                  <a:pt x="2653327" y="42602"/>
                </a:lnTo>
                <a:lnTo>
                  <a:pt x="2669076" y="87930"/>
                </a:lnTo>
                <a:lnTo>
                  <a:pt x="2671744" y="127434"/>
                </a:lnTo>
                <a:lnTo>
                  <a:pt x="2671430" y="138776"/>
                </a:lnTo>
                <a:lnTo>
                  <a:pt x="2670489" y="152153"/>
                </a:lnTo>
                <a:lnTo>
                  <a:pt x="2668919" y="167565"/>
                </a:lnTo>
                <a:lnTo>
                  <a:pt x="2666721" y="185012"/>
                </a:lnTo>
                <a:lnTo>
                  <a:pt x="2664524" y="202052"/>
                </a:lnTo>
                <a:lnTo>
                  <a:pt x="2662955" y="216243"/>
                </a:lnTo>
                <a:lnTo>
                  <a:pt x="2662013" y="227585"/>
                </a:lnTo>
                <a:lnTo>
                  <a:pt x="2661699" y="236079"/>
                </a:lnTo>
                <a:lnTo>
                  <a:pt x="2662547" y="251188"/>
                </a:lnTo>
                <a:lnTo>
                  <a:pt x="2681931" y="295557"/>
                </a:lnTo>
                <a:lnTo>
                  <a:pt x="2700209" y="310120"/>
                </a:lnTo>
                <a:lnTo>
                  <a:pt x="2700209" y="313841"/>
                </a:lnTo>
                <a:lnTo>
                  <a:pt x="2669338" y="347048"/>
                </a:lnTo>
                <a:lnTo>
                  <a:pt x="2661699" y="387511"/>
                </a:lnTo>
                <a:lnTo>
                  <a:pt x="2662013" y="394249"/>
                </a:lnTo>
                <a:lnTo>
                  <a:pt x="2662955" y="405161"/>
                </a:lnTo>
                <a:lnTo>
                  <a:pt x="2664524" y="420247"/>
                </a:lnTo>
                <a:lnTo>
                  <a:pt x="2666721" y="439507"/>
                </a:lnTo>
                <a:lnTo>
                  <a:pt x="2668919" y="459012"/>
                </a:lnTo>
                <a:lnTo>
                  <a:pt x="2670489" y="474831"/>
                </a:lnTo>
                <a:lnTo>
                  <a:pt x="2671430" y="486964"/>
                </a:lnTo>
                <a:lnTo>
                  <a:pt x="2671744" y="495411"/>
                </a:lnTo>
                <a:lnTo>
                  <a:pt x="2671477" y="509759"/>
                </a:lnTo>
                <a:lnTo>
                  <a:pt x="2665024" y="556500"/>
                </a:lnTo>
                <a:lnTo>
                  <a:pt x="2644118" y="593010"/>
                </a:lnTo>
                <a:lnTo>
                  <a:pt x="2603656" y="609451"/>
                </a:lnTo>
                <a:lnTo>
                  <a:pt x="2603656" y="624333"/>
                </a:lnTo>
                <a:lnTo>
                  <a:pt x="2648723" y="614520"/>
                </a:lnTo>
                <a:lnTo>
                  <a:pt x="2680116" y="588056"/>
                </a:lnTo>
                <a:lnTo>
                  <a:pt x="2698534" y="545733"/>
                </a:lnTo>
                <a:lnTo>
                  <a:pt x="2704673" y="488341"/>
                </a:lnTo>
                <a:lnTo>
                  <a:pt x="2704318" y="476447"/>
                </a:lnTo>
                <a:lnTo>
                  <a:pt x="2703254" y="462157"/>
                </a:lnTo>
                <a:lnTo>
                  <a:pt x="2701481" y="445472"/>
                </a:lnTo>
                <a:lnTo>
                  <a:pt x="2698998" y="426392"/>
                </a:lnTo>
                <a:lnTo>
                  <a:pt x="2696516" y="408009"/>
                </a:lnTo>
                <a:lnTo>
                  <a:pt x="2694744" y="393417"/>
                </a:lnTo>
                <a:lnTo>
                  <a:pt x="2693680" y="382616"/>
                </a:lnTo>
                <a:lnTo>
                  <a:pt x="2693325" y="375605"/>
                </a:lnTo>
                <a:lnTo>
                  <a:pt x="2693994" y="363530"/>
                </a:lnTo>
                <a:lnTo>
                  <a:pt x="2710004" y="328822"/>
                </a:lnTo>
                <a:lnTo>
                  <a:pt x="2735555" y="319980"/>
                </a:lnTo>
                <a:lnTo>
                  <a:pt x="2735555" y="303980"/>
                </a:lnTo>
                <a:lnTo>
                  <a:pt x="2699395" y="280854"/>
                </a:lnTo>
                <a:lnTo>
                  <a:pt x="2693325" y="248170"/>
                </a:lnTo>
                <a:lnTo>
                  <a:pt x="2693680" y="240973"/>
                </a:lnTo>
                <a:lnTo>
                  <a:pt x="2694744" y="230544"/>
                </a:lnTo>
                <a:lnTo>
                  <a:pt x="2696610" y="216243"/>
                </a:lnTo>
                <a:lnTo>
                  <a:pt x="2698998" y="199988"/>
                </a:lnTo>
                <a:lnTo>
                  <a:pt x="2701481" y="182233"/>
                </a:lnTo>
                <a:lnTo>
                  <a:pt x="2703254" y="165989"/>
                </a:lnTo>
                <a:lnTo>
                  <a:pt x="2704318" y="151257"/>
                </a:lnTo>
                <a:lnTo>
                  <a:pt x="2704673" y="138037"/>
                </a:lnTo>
                <a:lnTo>
                  <a:pt x="2703051" y="105609"/>
                </a:lnTo>
                <a:lnTo>
                  <a:pt x="2690075" y="54357"/>
                </a:lnTo>
                <a:lnTo>
                  <a:pt x="2664298" y="20894"/>
                </a:lnTo>
                <a:lnTo>
                  <a:pt x="2626765" y="3128"/>
                </a:lnTo>
                <a:lnTo>
                  <a:pt x="2603656" y="0"/>
                </a:lnTo>
                <a:close/>
              </a:path>
              <a:path w="2735579" h="624839">
                <a:moveTo>
                  <a:pt x="131899" y="0"/>
                </a:moveTo>
                <a:lnTo>
                  <a:pt x="88460" y="10092"/>
                </a:lnTo>
                <a:lnTo>
                  <a:pt x="56741" y="35533"/>
                </a:lnTo>
                <a:lnTo>
                  <a:pt x="37347" y="77716"/>
                </a:lnTo>
                <a:lnTo>
                  <a:pt x="30882" y="138037"/>
                </a:lnTo>
                <a:lnTo>
                  <a:pt x="31237" y="151257"/>
                </a:lnTo>
                <a:lnTo>
                  <a:pt x="32300" y="165989"/>
                </a:lnTo>
                <a:lnTo>
                  <a:pt x="34073" y="182233"/>
                </a:lnTo>
                <a:lnTo>
                  <a:pt x="36555" y="199988"/>
                </a:lnTo>
                <a:lnTo>
                  <a:pt x="39038" y="216882"/>
                </a:lnTo>
                <a:lnTo>
                  <a:pt x="40811" y="230544"/>
                </a:lnTo>
                <a:lnTo>
                  <a:pt x="41875" y="240973"/>
                </a:lnTo>
                <a:lnTo>
                  <a:pt x="42230" y="248170"/>
                </a:lnTo>
                <a:lnTo>
                  <a:pt x="41555" y="260483"/>
                </a:lnTo>
                <a:lnTo>
                  <a:pt x="25428" y="295365"/>
                </a:lnTo>
                <a:lnTo>
                  <a:pt x="0" y="303980"/>
                </a:lnTo>
                <a:lnTo>
                  <a:pt x="0" y="319980"/>
                </a:lnTo>
                <a:lnTo>
                  <a:pt x="36213" y="343391"/>
                </a:lnTo>
                <a:lnTo>
                  <a:pt x="42230" y="375605"/>
                </a:lnTo>
                <a:lnTo>
                  <a:pt x="41875" y="382616"/>
                </a:lnTo>
                <a:lnTo>
                  <a:pt x="40811" y="393417"/>
                </a:lnTo>
                <a:lnTo>
                  <a:pt x="39038" y="408009"/>
                </a:lnTo>
                <a:lnTo>
                  <a:pt x="36555" y="426392"/>
                </a:lnTo>
                <a:lnTo>
                  <a:pt x="34073" y="445472"/>
                </a:lnTo>
                <a:lnTo>
                  <a:pt x="32300" y="462157"/>
                </a:lnTo>
                <a:lnTo>
                  <a:pt x="31237" y="476447"/>
                </a:lnTo>
                <a:lnTo>
                  <a:pt x="30882" y="488341"/>
                </a:lnTo>
                <a:lnTo>
                  <a:pt x="32411" y="518921"/>
                </a:lnTo>
                <a:lnTo>
                  <a:pt x="44643" y="568778"/>
                </a:lnTo>
                <a:lnTo>
                  <a:pt x="69303" y="603370"/>
                </a:lnTo>
                <a:lnTo>
                  <a:pt x="107581" y="621508"/>
                </a:lnTo>
                <a:lnTo>
                  <a:pt x="131899" y="624333"/>
                </a:lnTo>
                <a:lnTo>
                  <a:pt x="131899" y="609451"/>
                </a:lnTo>
                <a:lnTo>
                  <a:pt x="123958" y="608538"/>
                </a:lnTo>
                <a:lnTo>
                  <a:pt x="116505" y="606916"/>
                </a:lnTo>
                <a:lnTo>
                  <a:pt x="81297" y="580988"/>
                </a:lnTo>
                <a:lnTo>
                  <a:pt x="66217" y="535246"/>
                </a:lnTo>
                <a:lnTo>
                  <a:pt x="63809" y="495411"/>
                </a:lnTo>
                <a:lnTo>
                  <a:pt x="64123" y="486964"/>
                </a:lnTo>
                <a:lnTo>
                  <a:pt x="65066" y="474831"/>
                </a:lnTo>
                <a:lnTo>
                  <a:pt x="66636" y="459012"/>
                </a:lnTo>
                <a:lnTo>
                  <a:pt x="68833" y="439507"/>
                </a:lnTo>
                <a:lnTo>
                  <a:pt x="71031" y="420247"/>
                </a:lnTo>
                <a:lnTo>
                  <a:pt x="72600" y="405161"/>
                </a:lnTo>
                <a:lnTo>
                  <a:pt x="73542" y="394249"/>
                </a:lnTo>
                <a:lnTo>
                  <a:pt x="73856" y="387511"/>
                </a:lnTo>
                <a:lnTo>
                  <a:pt x="73002" y="372349"/>
                </a:lnTo>
                <a:lnTo>
                  <a:pt x="53502" y="328491"/>
                </a:lnTo>
                <a:lnTo>
                  <a:pt x="35346" y="313841"/>
                </a:lnTo>
                <a:lnTo>
                  <a:pt x="35346" y="310120"/>
                </a:lnTo>
                <a:lnTo>
                  <a:pt x="66165" y="276628"/>
                </a:lnTo>
                <a:lnTo>
                  <a:pt x="73856" y="236079"/>
                </a:lnTo>
                <a:lnTo>
                  <a:pt x="73542" y="227585"/>
                </a:lnTo>
                <a:lnTo>
                  <a:pt x="72600" y="216243"/>
                </a:lnTo>
                <a:lnTo>
                  <a:pt x="71031" y="202052"/>
                </a:lnTo>
                <a:lnTo>
                  <a:pt x="68833" y="185012"/>
                </a:lnTo>
                <a:lnTo>
                  <a:pt x="66636" y="167565"/>
                </a:lnTo>
                <a:lnTo>
                  <a:pt x="65066" y="152153"/>
                </a:lnTo>
                <a:lnTo>
                  <a:pt x="64123" y="138776"/>
                </a:lnTo>
                <a:lnTo>
                  <a:pt x="63809" y="127434"/>
                </a:lnTo>
                <a:lnTo>
                  <a:pt x="64106" y="113184"/>
                </a:lnTo>
                <a:lnTo>
                  <a:pt x="71182" y="66931"/>
                </a:lnTo>
                <a:lnTo>
                  <a:pt x="91924" y="30905"/>
                </a:lnTo>
                <a:lnTo>
                  <a:pt x="131899" y="14883"/>
                </a:lnTo>
                <a:lnTo>
                  <a:pt x="131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72728" y="1615948"/>
            <a:ext cx="39820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87775" algn="l"/>
              </a:tabLst>
            </a:pPr>
            <a:r>
              <a:rPr dirty="0" sz="2200" spc="25">
                <a:latin typeface="Cambria Math"/>
                <a:cs typeface="Cambria Math"/>
              </a:rPr>
              <a:t>1</a:t>
            </a:r>
            <a:r>
              <a:rPr dirty="0" sz="2200" spc="25">
                <a:latin typeface="Cambria Math"/>
                <a:cs typeface="Cambria Math"/>
              </a:rPr>
              <a:t>	</a:t>
            </a:r>
            <a:r>
              <a:rPr dirty="0" sz="2200" spc="204">
                <a:latin typeface="Cambria Math"/>
                <a:cs typeface="Cambria Math"/>
              </a:rPr>
              <a:t>8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97820" y="1524149"/>
            <a:ext cx="468630" cy="353060"/>
          </a:xfrm>
          <a:custGeom>
            <a:avLst/>
            <a:gdLst/>
            <a:ahLst/>
            <a:cxnLst/>
            <a:rect l="l" t="t" r="r" b="b"/>
            <a:pathLst>
              <a:path w="468629" h="353060">
                <a:moveTo>
                  <a:pt x="355860" y="0"/>
                </a:moveTo>
                <a:lnTo>
                  <a:pt x="350837" y="14325"/>
                </a:lnTo>
                <a:lnTo>
                  <a:pt x="371266" y="23190"/>
                </a:lnTo>
                <a:lnTo>
                  <a:pt x="388834" y="35463"/>
                </a:lnTo>
                <a:lnTo>
                  <a:pt x="415391" y="70228"/>
                </a:lnTo>
                <a:lnTo>
                  <a:pt x="431018" y="117132"/>
                </a:lnTo>
                <a:lnTo>
                  <a:pt x="436227" y="174687"/>
                </a:lnTo>
                <a:lnTo>
                  <a:pt x="434919" y="205813"/>
                </a:lnTo>
                <a:lnTo>
                  <a:pt x="424455" y="259484"/>
                </a:lnTo>
                <a:lnTo>
                  <a:pt x="403456" y="301400"/>
                </a:lnTo>
                <a:lnTo>
                  <a:pt x="371504" y="329677"/>
                </a:lnTo>
                <a:lnTo>
                  <a:pt x="351395" y="338584"/>
                </a:lnTo>
                <a:lnTo>
                  <a:pt x="355860" y="352908"/>
                </a:lnTo>
                <a:lnTo>
                  <a:pt x="403996" y="330328"/>
                </a:lnTo>
                <a:lnTo>
                  <a:pt x="439389" y="291237"/>
                </a:lnTo>
                <a:lnTo>
                  <a:pt x="461156" y="238892"/>
                </a:lnTo>
                <a:lnTo>
                  <a:pt x="468411" y="176547"/>
                </a:lnTo>
                <a:lnTo>
                  <a:pt x="466591" y="144194"/>
                </a:lnTo>
                <a:lnTo>
                  <a:pt x="452034" y="86849"/>
                </a:lnTo>
                <a:lnTo>
                  <a:pt x="423164" y="40166"/>
                </a:lnTo>
                <a:lnTo>
                  <a:pt x="381445" y="9238"/>
                </a:lnTo>
                <a:lnTo>
                  <a:pt x="355860" y="0"/>
                </a:lnTo>
                <a:close/>
              </a:path>
              <a:path w="468629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5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4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3" y="282030"/>
                </a:lnTo>
                <a:lnTo>
                  <a:pt x="37416" y="234079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7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5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338317" y="1416811"/>
            <a:ext cx="23044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4070" algn="l"/>
              </a:tabLst>
            </a:pPr>
            <a:r>
              <a:rPr dirty="0" sz="3000" spc="-10">
                <a:latin typeface="Cambria Math"/>
                <a:cs typeface="Cambria Math"/>
              </a:rPr>
              <a:t>h</a:t>
            </a:r>
            <a:r>
              <a:rPr dirty="0" baseline="40404" sz="3300" spc="-7">
                <a:latin typeface="Cambria Math"/>
                <a:cs typeface="Cambria Math"/>
              </a:rPr>
              <a:t>(</a:t>
            </a:r>
            <a:r>
              <a:rPr dirty="0" baseline="40404" sz="3300" spc="-562">
                <a:latin typeface="Cambria Math"/>
                <a:cs typeface="Cambria Math"/>
              </a:rPr>
              <a:t>6</a:t>
            </a:r>
            <a:r>
              <a:rPr dirty="0" baseline="40404" sz="3300" spc="127">
                <a:latin typeface="Cambria Math"/>
                <a:cs typeface="Cambria Math"/>
              </a:rPr>
              <a:t>)</a:t>
            </a: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∀𝑢</a:t>
            </a:r>
            <a:r>
              <a:rPr dirty="0" sz="3000" spc="250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∈</a:t>
            </a:r>
            <a:r>
              <a:rPr dirty="0" sz="3000" spc="17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𝑁	𝑣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  <p:sp>
        <p:nvSpPr>
          <p:cNvPr id="32" name="object 32"/>
          <p:cNvSpPr txBox="1"/>
          <p:nvPr/>
        </p:nvSpPr>
        <p:spPr>
          <a:xfrm>
            <a:off x="7906698" y="1615948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98737" y="1416811"/>
            <a:ext cx="13804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229">
                <a:latin typeface="Cambria Math"/>
                <a:cs typeface="Cambria Math"/>
              </a:rPr>
              <a:t> </a:t>
            </a:r>
            <a:r>
              <a:rPr dirty="0" sz="3000" spc="-80">
                <a:latin typeface="Cambria Math"/>
                <a:cs typeface="Cambria Math"/>
              </a:rPr>
              <a:t>B</a:t>
            </a:r>
            <a:r>
              <a:rPr dirty="0" baseline="-15151" sz="3300" spc="-120">
                <a:latin typeface="Cambria Math"/>
                <a:cs typeface="Cambria Math"/>
              </a:rPr>
              <a:t>6</a:t>
            </a:r>
            <a:r>
              <a:rPr dirty="0" sz="3000" spc="-80">
                <a:latin typeface="Cambria Math"/>
                <a:cs typeface="Cambria Math"/>
              </a:rPr>
              <a:t>h</a:t>
            </a:r>
            <a:r>
              <a:rPr dirty="0" baseline="40404" sz="3300" spc="-120">
                <a:latin typeface="Cambria Math"/>
                <a:cs typeface="Cambria Math"/>
              </a:rPr>
              <a:t>(6)</a:t>
            </a:r>
            <a:r>
              <a:rPr dirty="0" sz="3000" spc="-80">
                <a:solidFill>
                  <a:srgbClr val="D60093"/>
                </a:solidFill>
                <a:latin typeface="Cambria Math"/>
                <a:cs typeface="Cambria Math"/>
              </a:rPr>
              <a:t>]</a:t>
            </a:r>
            <a:r>
              <a:rPr dirty="0" sz="3000" spc="-80">
                <a:latin typeface="Cambria Math"/>
                <a:cs typeface="Cambria Math"/>
              </a:rPr>
              <a:t>)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147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1620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Simple neighborhood</a:t>
            </a:r>
            <a:r>
              <a:rPr dirty="0" spc="-2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aggregation: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3787140"/>
            <a:ext cx="23723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G</a:t>
            </a:r>
            <a:r>
              <a:rPr dirty="0" sz="3200" spc="-70" b="1">
                <a:latin typeface="Calibri"/>
                <a:cs typeface="Calibri"/>
              </a:rPr>
              <a:t>r</a:t>
            </a:r>
            <a:r>
              <a:rPr dirty="0" sz="3200" spc="-10" b="1">
                <a:latin typeface="Calibri"/>
                <a:cs typeface="Calibri"/>
              </a:rPr>
              <a:t>aph</a:t>
            </a:r>
            <a:r>
              <a:rPr dirty="0" sz="3200" spc="-40" b="1">
                <a:latin typeface="Calibri"/>
                <a:cs typeface="Calibri"/>
              </a:rPr>
              <a:t>SA</a:t>
            </a:r>
            <a:r>
              <a:rPr dirty="0" sz="3200" spc="-5" b="1">
                <a:latin typeface="Calibri"/>
                <a:cs typeface="Calibri"/>
              </a:rPr>
              <a:t>G</a:t>
            </a:r>
            <a:r>
              <a:rPr dirty="0" sz="3200" b="1">
                <a:latin typeface="Calibri"/>
                <a:cs typeface="Calibri"/>
              </a:rPr>
              <a:t>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6239" y="5105401"/>
            <a:ext cx="4003675" cy="717550"/>
          </a:xfrm>
          <a:custGeom>
            <a:avLst/>
            <a:gdLst/>
            <a:ahLst/>
            <a:cxnLst/>
            <a:rect l="l" t="t" r="r" b="b"/>
            <a:pathLst>
              <a:path w="4003675" h="717550">
                <a:moveTo>
                  <a:pt x="0" y="0"/>
                </a:moveTo>
                <a:lnTo>
                  <a:pt x="4003403" y="0"/>
                </a:lnTo>
                <a:lnTo>
                  <a:pt x="4003403" y="717015"/>
                </a:lnTo>
                <a:lnTo>
                  <a:pt x="0" y="717015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25127" y="5094288"/>
            <a:ext cx="4025900" cy="739775"/>
          </a:xfrm>
          <a:custGeom>
            <a:avLst/>
            <a:gdLst/>
            <a:ahLst/>
            <a:cxnLst/>
            <a:rect l="l" t="t" r="r" b="b"/>
            <a:pathLst>
              <a:path w="4025900" h="739775">
                <a:moveTo>
                  <a:pt x="4020652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734265"/>
                </a:lnTo>
                <a:lnTo>
                  <a:pt x="4974" y="739240"/>
                </a:lnTo>
                <a:lnTo>
                  <a:pt x="4020652" y="739240"/>
                </a:lnTo>
                <a:lnTo>
                  <a:pt x="4025628" y="734265"/>
                </a:lnTo>
                <a:lnTo>
                  <a:pt x="4025628" y="725905"/>
                </a:lnTo>
                <a:lnTo>
                  <a:pt x="13335" y="725905"/>
                </a:lnTo>
                <a:lnTo>
                  <a:pt x="13335" y="13335"/>
                </a:lnTo>
                <a:lnTo>
                  <a:pt x="4025628" y="13335"/>
                </a:lnTo>
                <a:lnTo>
                  <a:pt x="4025628" y="4974"/>
                </a:lnTo>
                <a:lnTo>
                  <a:pt x="4020652" y="0"/>
                </a:lnTo>
                <a:close/>
              </a:path>
              <a:path w="4025900" h="739775">
                <a:moveTo>
                  <a:pt x="4025628" y="13335"/>
                </a:moveTo>
                <a:lnTo>
                  <a:pt x="4012293" y="13335"/>
                </a:lnTo>
                <a:lnTo>
                  <a:pt x="4012293" y="725905"/>
                </a:lnTo>
                <a:lnTo>
                  <a:pt x="4025628" y="725905"/>
                </a:lnTo>
                <a:lnTo>
                  <a:pt x="4025628" y="13335"/>
                </a:lnTo>
                <a:close/>
              </a:path>
              <a:path w="4025900" h="739775">
                <a:moveTo>
                  <a:pt x="4007848" y="17780"/>
                </a:moveTo>
                <a:lnTo>
                  <a:pt x="17780" y="17780"/>
                </a:lnTo>
                <a:lnTo>
                  <a:pt x="17780" y="721460"/>
                </a:lnTo>
                <a:lnTo>
                  <a:pt x="4007848" y="721460"/>
                </a:lnTo>
                <a:lnTo>
                  <a:pt x="4007848" y="717015"/>
                </a:lnTo>
                <a:lnTo>
                  <a:pt x="22225" y="717015"/>
                </a:lnTo>
                <a:lnTo>
                  <a:pt x="22225" y="22225"/>
                </a:lnTo>
                <a:lnTo>
                  <a:pt x="4007848" y="22225"/>
                </a:lnTo>
                <a:lnTo>
                  <a:pt x="4007848" y="17780"/>
                </a:lnTo>
                <a:close/>
              </a:path>
              <a:path w="4025900" h="739775">
                <a:moveTo>
                  <a:pt x="4007848" y="22225"/>
                </a:moveTo>
                <a:lnTo>
                  <a:pt x="4003403" y="22225"/>
                </a:lnTo>
                <a:lnTo>
                  <a:pt x="4003403" y="717015"/>
                </a:lnTo>
                <a:lnTo>
                  <a:pt x="4007848" y="717015"/>
                </a:lnTo>
                <a:lnTo>
                  <a:pt x="4007848" y="22225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32521" y="5691925"/>
            <a:ext cx="288290" cy="491490"/>
          </a:xfrm>
          <a:custGeom>
            <a:avLst/>
            <a:gdLst/>
            <a:ahLst/>
            <a:cxnLst/>
            <a:rect l="l" t="t" r="r" b="b"/>
            <a:pathLst>
              <a:path w="288289" h="491489">
                <a:moveTo>
                  <a:pt x="241889" y="61222"/>
                </a:moveTo>
                <a:lnTo>
                  <a:pt x="0" y="480066"/>
                </a:lnTo>
                <a:lnTo>
                  <a:pt x="1559" y="485892"/>
                </a:lnTo>
                <a:lnTo>
                  <a:pt x="10670" y="491154"/>
                </a:lnTo>
                <a:lnTo>
                  <a:pt x="16496" y="489593"/>
                </a:lnTo>
                <a:lnTo>
                  <a:pt x="258386" y="70750"/>
                </a:lnTo>
                <a:lnTo>
                  <a:pt x="241889" y="61222"/>
                </a:lnTo>
                <a:close/>
              </a:path>
              <a:path w="288289" h="491489">
                <a:moveTo>
                  <a:pt x="285593" y="44109"/>
                </a:moveTo>
                <a:lnTo>
                  <a:pt x="256697" y="44109"/>
                </a:lnTo>
                <a:lnTo>
                  <a:pt x="265808" y="49370"/>
                </a:lnTo>
                <a:lnTo>
                  <a:pt x="267369" y="55196"/>
                </a:lnTo>
                <a:lnTo>
                  <a:pt x="258386" y="70750"/>
                </a:lnTo>
                <a:lnTo>
                  <a:pt x="283131" y="85040"/>
                </a:lnTo>
                <a:lnTo>
                  <a:pt x="285593" y="44109"/>
                </a:lnTo>
                <a:close/>
              </a:path>
              <a:path w="288289" h="491489">
                <a:moveTo>
                  <a:pt x="256697" y="44109"/>
                </a:moveTo>
                <a:lnTo>
                  <a:pt x="250871" y="45669"/>
                </a:lnTo>
                <a:lnTo>
                  <a:pt x="241889" y="61222"/>
                </a:lnTo>
                <a:lnTo>
                  <a:pt x="258386" y="70750"/>
                </a:lnTo>
                <a:lnTo>
                  <a:pt x="267369" y="55196"/>
                </a:lnTo>
                <a:lnTo>
                  <a:pt x="265808" y="49370"/>
                </a:lnTo>
                <a:lnTo>
                  <a:pt x="256697" y="44109"/>
                </a:lnTo>
                <a:close/>
              </a:path>
              <a:path w="288289" h="491489">
                <a:moveTo>
                  <a:pt x="288246" y="0"/>
                </a:moveTo>
                <a:lnTo>
                  <a:pt x="217144" y="46932"/>
                </a:lnTo>
                <a:lnTo>
                  <a:pt x="241889" y="61222"/>
                </a:lnTo>
                <a:lnTo>
                  <a:pt x="250871" y="45669"/>
                </a:lnTo>
                <a:lnTo>
                  <a:pt x="256697" y="44109"/>
                </a:lnTo>
                <a:lnTo>
                  <a:pt x="285593" y="44109"/>
                </a:lnTo>
                <a:lnTo>
                  <a:pt x="288246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88850" y="3769867"/>
            <a:ext cx="423418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896619" marR="5080" indent="-884555">
              <a:lnSpc>
                <a:spcPct val="100800"/>
              </a:lnSpc>
              <a:spcBef>
                <a:spcPts val="75"/>
              </a:spcBef>
            </a:pPr>
            <a:r>
              <a:rPr dirty="0" sz="2400" spc="-15">
                <a:solidFill>
                  <a:srgbClr val="0070C0"/>
                </a:solidFill>
                <a:latin typeface="Calibri"/>
                <a:cs typeface="Calibri"/>
              </a:rPr>
              <a:t>Concatenate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neighbor embedding  </a:t>
            </a:r>
            <a:r>
              <a:rPr dirty="0" sz="2400">
                <a:solidFill>
                  <a:srgbClr val="0070C0"/>
                </a:solidFill>
                <a:latin typeface="Calibri"/>
                <a:cs typeface="Calibri"/>
              </a:rPr>
              <a:t>and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self</a:t>
            </a:r>
            <a:r>
              <a:rPr dirty="0" sz="2400" spc="-5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embedding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67200" y="4561144"/>
            <a:ext cx="1154430" cy="546735"/>
          </a:xfrm>
          <a:custGeom>
            <a:avLst/>
            <a:gdLst/>
            <a:ahLst/>
            <a:cxnLst/>
            <a:rect l="l" t="t" r="r" b="b"/>
            <a:pathLst>
              <a:path w="1154429" h="546735">
                <a:moveTo>
                  <a:pt x="52938" y="477506"/>
                </a:moveTo>
                <a:lnTo>
                  <a:pt x="0" y="544255"/>
                </a:lnTo>
                <a:lnTo>
                  <a:pt x="85163" y="546557"/>
                </a:lnTo>
                <a:lnTo>
                  <a:pt x="76623" y="528257"/>
                </a:lnTo>
                <a:lnTo>
                  <a:pt x="56804" y="528257"/>
                </a:lnTo>
                <a:lnTo>
                  <a:pt x="51137" y="526196"/>
                </a:lnTo>
                <a:lnTo>
                  <a:pt x="46687" y="516662"/>
                </a:lnTo>
                <a:lnTo>
                  <a:pt x="48748" y="510994"/>
                </a:lnTo>
                <a:lnTo>
                  <a:pt x="65023" y="503400"/>
                </a:lnTo>
                <a:lnTo>
                  <a:pt x="52938" y="477506"/>
                </a:lnTo>
                <a:close/>
              </a:path>
              <a:path w="1154429" h="546735">
                <a:moveTo>
                  <a:pt x="65023" y="503400"/>
                </a:moveTo>
                <a:lnTo>
                  <a:pt x="48748" y="510994"/>
                </a:lnTo>
                <a:lnTo>
                  <a:pt x="46687" y="516662"/>
                </a:lnTo>
                <a:lnTo>
                  <a:pt x="51137" y="526196"/>
                </a:lnTo>
                <a:lnTo>
                  <a:pt x="56804" y="528257"/>
                </a:lnTo>
                <a:lnTo>
                  <a:pt x="73079" y="520662"/>
                </a:lnTo>
                <a:lnTo>
                  <a:pt x="65023" y="503400"/>
                </a:lnTo>
                <a:close/>
              </a:path>
              <a:path w="1154429" h="546735">
                <a:moveTo>
                  <a:pt x="73079" y="520662"/>
                </a:moveTo>
                <a:lnTo>
                  <a:pt x="56804" y="528257"/>
                </a:lnTo>
                <a:lnTo>
                  <a:pt x="76623" y="528257"/>
                </a:lnTo>
                <a:lnTo>
                  <a:pt x="73079" y="520662"/>
                </a:lnTo>
                <a:close/>
              </a:path>
              <a:path w="1154429" h="546735">
                <a:moveTo>
                  <a:pt x="1143739" y="0"/>
                </a:moveTo>
                <a:lnTo>
                  <a:pt x="65023" y="503400"/>
                </a:lnTo>
                <a:lnTo>
                  <a:pt x="73079" y="520662"/>
                </a:lnTo>
                <a:lnTo>
                  <a:pt x="1151794" y="17263"/>
                </a:lnTo>
                <a:lnTo>
                  <a:pt x="1153855" y="11595"/>
                </a:lnTo>
                <a:lnTo>
                  <a:pt x="1149407" y="2061"/>
                </a:lnTo>
                <a:lnTo>
                  <a:pt x="114373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61446" y="4561246"/>
            <a:ext cx="1610995" cy="606425"/>
          </a:xfrm>
          <a:custGeom>
            <a:avLst/>
            <a:gdLst/>
            <a:ahLst/>
            <a:cxnLst/>
            <a:rect l="l" t="t" r="r" b="b"/>
            <a:pathLst>
              <a:path w="1610995" h="606425">
                <a:moveTo>
                  <a:pt x="1536125" y="579535"/>
                </a:moveTo>
                <a:lnTo>
                  <a:pt x="1526298" y="606367"/>
                </a:lnTo>
                <a:lnTo>
                  <a:pt x="1610953" y="596795"/>
                </a:lnTo>
                <a:lnTo>
                  <a:pt x="1600501" y="585712"/>
                </a:lnTo>
                <a:lnTo>
                  <a:pt x="1552991" y="585712"/>
                </a:lnTo>
                <a:lnTo>
                  <a:pt x="1536125" y="579535"/>
                </a:lnTo>
                <a:close/>
              </a:path>
              <a:path w="1610995" h="606425">
                <a:moveTo>
                  <a:pt x="1542675" y="561647"/>
                </a:moveTo>
                <a:lnTo>
                  <a:pt x="1536125" y="579535"/>
                </a:lnTo>
                <a:lnTo>
                  <a:pt x="1552991" y="585712"/>
                </a:lnTo>
                <a:lnTo>
                  <a:pt x="1558461" y="583173"/>
                </a:lnTo>
                <a:lnTo>
                  <a:pt x="1562079" y="573294"/>
                </a:lnTo>
                <a:lnTo>
                  <a:pt x="1559542" y="567824"/>
                </a:lnTo>
                <a:lnTo>
                  <a:pt x="1542675" y="561647"/>
                </a:lnTo>
                <a:close/>
              </a:path>
              <a:path w="1610995" h="606425">
                <a:moveTo>
                  <a:pt x="1552502" y="534814"/>
                </a:moveTo>
                <a:lnTo>
                  <a:pt x="1542675" y="561647"/>
                </a:lnTo>
                <a:lnTo>
                  <a:pt x="1559542" y="567824"/>
                </a:lnTo>
                <a:lnTo>
                  <a:pt x="1562079" y="573294"/>
                </a:lnTo>
                <a:lnTo>
                  <a:pt x="1558461" y="583173"/>
                </a:lnTo>
                <a:lnTo>
                  <a:pt x="1552991" y="585712"/>
                </a:lnTo>
                <a:lnTo>
                  <a:pt x="1600501" y="585712"/>
                </a:lnTo>
                <a:lnTo>
                  <a:pt x="1552502" y="534814"/>
                </a:lnTo>
                <a:close/>
              </a:path>
              <a:path w="1610995" h="606425">
                <a:moveTo>
                  <a:pt x="9089" y="0"/>
                </a:moveTo>
                <a:lnTo>
                  <a:pt x="3618" y="2537"/>
                </a:lnTo>
                <a:lnTo>
                  <a:pt x="0" y="12416"/>
                </a:lnTo>
                <a:lnTo>
                  <a:pt x="2537" y="17887"/>
                </a:lnTo>
                <a:lnTo>
                  <a:pt x="1536125" y="579535"/>
                </a:lnTo>
                <a:lnTo>
                  <a:pt x="1542675" y="561647"/>
                </a:lnTo>
                <a:lnTo>
                  <a:pt x="908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19321" y="5958332"/>
            <a:ext cx="392747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solidFill>
                  <a:srgbClr val="CF5B1B"/>
                </a:solidFill>
                <a:latin typeface="Arial"/>
                <a:cs typeface="Arial"/>
              </a:rPr>
              <a:t>Flexible aggregation function  instead </a:t>
            </a:r>
            <a:r>
              <a:rPr dirty="0" sz="2400">
                <a:solidFill>
                  <a:srgbClr val="CF5B1B"/>
                </a:solidFill>
                <a:latin typeface="Arial"/>
                <a:cs typeface="Arial"/>
              </a:rPr>
              <a:t>of</a:t>
            </a:r>
            <a:r>
              <a:rPr dirty="0" sz="2400" spc="-80">
                <a:solidFill>
                  <a:srgbClr val="CF5B1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F5B1B"/>
                </a:solidFill>
                <a:latin typeface="Arial"/>
                <a:cs typeface="Arial"/>
              </a:rPr>
              <a:t>mean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7069" y="2365248"/>
            <a:ext cx="7727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-375">
                <a:latin typeface="Cambria Math"/>
                <a:cs typeface="Cambria Math"/>
              </a:rPr>
              <a:t>9</a:t>
            </a:r>
            <a:r>
              <a:rPr dirty="0" sz="2300" spc="1085">
                <a:latin typeface="Cambria Math"/>
                <a:cs typeface="Cambria Math"/>
              </a:rPr>
              <a:t>:</a:t>
            </a:r>
            <a:r>
              <a:rPr dirty="0" sz="2300" spc="-245">
                <a:latin typeface="Cambria Math"/>
                <a:cs typeface="Cambria Math"/>
              </a:rPr>
              <a:t>&amp;</a:t>
            </a:r>
            <a:r>
              <a:rPr dirty="0" sz="230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3233" y="2265922"/>
            <a:ext cx="3533140" cy="1210310"/>
          </a:xfrm>
          <a:prstGeom prst="rect">
            <a:avLst/>
          </a:prstGeom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  <a:tabLst>
                <a:tab pos="1115695" algn="l"/>
                <a:tab pos="2735580" algn="l"/>
              </a:tabLst>
            </a:pPr>
            <a:r>
              <a:rPr dirty="0" sz="3200" spc="310">
                <a:latin typeface="Cambria Math"/>
                <a:cs typeface="Cambria Math"/>
              </a:rPr>
              <a:t>h</a:t>
            </a:r>
            <a:r>
              <a:rPr dirty="0" baseline="-19323" sz="3450" spc="465">
                <a:latin typeface="Cambria Math"/>
                <a:cs typeface="Cambria Math"/>
              </a:rPr>
              <a:t>!	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 spc="-170">
                <a:latin typeface="Cambria Math"/>
                <a:cs typeface="Cambria Math"/>
              </a:rPr>
              <a:t>𝜎(W</a:t>
            </a:r>
            <a:r>
              <a:rPr dirty="0" baseline="-15700" sz="3450" spc="-254">
                <a:latin typeface="Cambria Math"/>
                <a:cs typeface="Cambria Math"/>
              </a:rPr>
              <a:t>9	</a:t>
            </a:r>
            <a:r>
              <a:rPr dirty="0" sz="3200" spc="2150">
                <a:latin typeface="Cambria Math"/>
                <a:cs typeface="Cambria Math"/>
              </a:rPr>
              <a:t>Q</a:t>
            </a:r>
            <a:endParaRPr sz="32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1135"/>
              </a:spcBef>
            </a:pPr>
            <a:r>
              <a:rPr dirty="0" sz="2300" spc="114">
                <a:latin typeface="Cambria Math"/>
                <a:cs typeface="Cambria Math"/>
              </a:rPr>
              <a:t>#</a:t>
            </a:r>
            <a:r>
              <a:rPr dirty="0" sz="2300" spc="10">
                <a:latin typeface="Cambria Math"/>
                <a:cs typeface="Cambria Math"/>
              </a:rPr>
              <a:t>∈</a:t>
            </a:r>
            <a:r>
              <a:rPr dirty="0" sz="2300" spc="1200">
                <a:latin typeface="Cambria Math"/>
                <a:cs typeface="Cambria Math"/>
              </a:rPr>
              <a:t>;</a:t>
            </a: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715">
                <a:latin typeface="Cambria Math"/>
                <a:cs typeface="Cambria Math"/>
              </a:rPr>
              <a:t>!</a:t>
            </a:r>
            <a:r>
              <a:rPr dirty="0" sz="230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07012" y="2377439"/>
            <a:ext cx="11557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6095" algn="l"/>
                <a:tab pos="1142365" algn="l"/>
              </a:tabLst>
            </a:pPr>
            <a:r>
              <a:rPr dirty="0" sz="2300" u="heavy">
                <a:latin typeface="Times New Roman"/>
                <a:cs typeface="Times New Roman"/>
              </a:rPr>
              <a:t> 	</a:t>
            </a:r>
            <a:r>
              <a:rPr dirty="0" sz="2300" spc="60" u="heavy">
                <a:latin typeface="Cambria Math"/>
                <a:cs typeface="Cambria Math"/>
              </a:rPr>
              <a:t>#	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6760" y="1943100"/>
            <a:ext cx="6096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513" sz="4800" spc="-7">
                <a:latin typeface="Cambria Math"/>
                <a:cs typeface="Cambria Math"/>
              </a:rPr>
              <a:t>h</a:t>
            </a: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-375">
                <a:latin typeface="Cambria Math"/>
                <a:cs typeface="Cambria Math"/>
              </a:rPr>
              <a:t>9</a:t>
            </a:r>
            <a:r>
              <a:rPr dirty="0" sz="230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94164" y="2857131"/>
            <a:ext cx="0" cy="369570"/>
          </a:xfrm>
          <a:custGeom>
            <a:avLst/>
            <a:gdLst/>
            <a:ahLst/>
            <a:cxnLst/>
            <a:rect l="l" t="t" r="r" b="b"/>
            <a:pathLst>
              <a:path w="0" h="369569">
                <a:moveTo>
                  <a:pt x="0" y="0"/>
                </a:moveTo>
                <a:lnTo>
                  <a:pt x="0" y="369291"/>
                </a:lnTo>
              </a:path>
            </a:pathLst>
          </a:custGeom>
          <a:ln w="305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88070" y="2857131"/>
            <a:ext cx="0" cy="369570"/>
          </a:xfrm>
          <a:custGeom>
            <a:avLst/>
            <a:gdLst/>
            <a:ahLst/>
            <a:cxnLst/>
            <a:rect l="l" t="t" r="r" b="b"/>
            <a:pathLst>
              <a:path w="0" h="369569">
                <a:moveTo>
                  <a:pt x="0" y="0"/>
                </a:moveTo>
                <a:lnTo>
                  <a:pt x="0" y="369291"/>
                </a:lnTo>
              </a:path>
            </a:pathLst>
          </a:custGeom>
          <a:ln w="305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39663" y="2738628"/>
            <a:ext cx="9036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75">
                <a:latin typeface="Cambria Math"/>
                <a:cs typeface="Cambria Math"/>
              </a:rPr>
              <a:t>𝑁</a:t>
            </a:r>
            <a:r>
              <a:rPr dirty="0" sz="3200" spc="-5">
                <a:latin typeface="Cambria Math"/>
                <a:cs typeface="Cambria Math"/>
              </a:rPr>
              <a:t>(</a:t>
            </a:r>
            <a:r>
              <a:rPr dirty="0" sz="3200" spc="85">
                <a:latin typeface="Cambria Math"/>
                <a:cs typeface="Cambria Math"/>
              </a:rPr>
              <a:t>𝑣</a:t>
            </a:r>
            <a:r>
              <a:rPr dirty="0" sz="320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8802" y="2663951"/>
            <a:ext cx="12890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465">
                <a:latin typeface="Cambria Math"/>
                <a:cs typeface="Cambria Math"/>
              </a:rPr>
              <a:t>9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36055" y="2467356"/>
            <a:ext cx="10242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+ B</a:t>
            </a:r>
            <a:r>
              <a:rPr dirty="0" sz="3200" spc="22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h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34465" y="2685288"/>
            <a:ext cx="19113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34465" y="2365248"/>
            <a:ext cx="3854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-375">
                <a:latin typeface="Cambria Math"/>
                <a:cs typeface="Cambria Math"/>
              </a:rPr>
              <a:t>9</a:t>
            </a:r>
            <a:r>
              <a:rPr dirty="0" sz="230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13941" y="2467356"/>
            <a:ext cx="1943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4128" y="5392420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4578" y="5193284"/>
            <a:ext cx="33883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mbria Math"/>
                <a:cs typeface="Cambria Math"/>
              </a:rPr>
              <a:t>h</a:t>
            </a:r>
            <a:r>
              <a:rPr dirty="0" baseline="40404" sz="3300">
                <a:latin typeface="Cambria Math"/>
                <a:cs typeface="Cambria Math"/>
              </a:rPr>
              <a:t>(670)  </a:t>
            </a:r>
            <a:r>
              <a:rPr dirty="0" sz="3000">
                <a:latin typeface="Cambria Math"/>
                <a:cs typeface="Cambria Math"/>
              </a:rPr>
              <a:t>= </a:t>
            </a:r>
            <a:r>
              <a:rPr dirty="0" sz="3000" spc="-135">
                <a:latin typeface="Cambria Math"/>
                <a:cs typeface="Cambria Math"/>
              </a:rPr>
              <a:t>𝜎([W</a:t>
            </a:r>
            <a:r>
              <a:rPr dirty="0" baseline="-15151" sz="3300" spc="-202">
                <a:latin typeface="Cambria Math"/>
                <a:cs typeface="Cambria Math"/>
              </a:rPr>
              <a:t>6  </a:t>
            </a:r>
            <a:r>
              <a:rPr dirty="0" sz="3000" spc="-1045">
                <a:latin typeface="Cambria Math"/>
                <a:cs typeface="Cambria Math"/>
              </a:rPr>
              <a:t>K</a:t>
            </a:r>
            <a:r>
              <a:rPr dirty="0" sz="3000" spc="-220">
                <a:latin typeface="Cambria Math"/>
                <a:cs typeface="Cambria Math"/>
              </a:rPr>
              <a:t> </a:t>
            </a:r>
            <a:r>
              <a:rPr dirty="0" sz="3000" spc="-15">
                <a:latin typeface="Cambria Math"/>
                <a:cs typeface="Cambria Math"/>
              </a:rPr>
              <a:t>AGG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06925" y="5164960"/>
            <a:ext cx="3079750" cy="628650"/>
          </a:xfrm>
          <a:custGeom>
            <a:avLst/>
            <a:gdLst/>
            <a:ahLst/>
            <a:cxnLst/>
            <a:rect l="l" t="t" r="r" b="b"/>
            <a:pathLst>
              <a:path w="3079750" h="628650">
                <a:moveTo>
                  <a:pt x="2943890" y="0"/>
                </a:moveTo>
                <a:lnTo>
                  <a:pt x="2937936" y="14883"/>
                </a:lnTo>
                <a:lnTo>
                  <a:pt x="2961359" y="33922"/>
                </a:lnTo>
                <a:lnTo>
                  <a:pt x="2982143" y="58670"/>
                </a:lnTo>
                <a:lnTo>
                  <a:pt x="3015792" y="125294"/>
                </a:lnTo>
                <a:lnTo>
                  <a:pt x="3028204" y="166379"/>
                </a:lnTo>
                <a:lnTo>
                  <a:pt x="3037070" y="211591"/>
                </a:lnTo>
                <a:lnTo>
                  <a:pt x="3042390" y="260932"/>
                </a:lnTo>
                <a:lnTo>
                  <a:pt x="3044163" y="314399"/>
                </a:lnTo>
                <a:lnTo>
                  <a:pt x="3042401" y="367024"/>
                </a:lnTo>
                <a:lnTo>
                  <a:pt x="3037116" y="415881"/>
                </a:lnTo>
                <a:lnTo>
                  <a:pt x="3028309" y="460971"/>
                </a:lnTo>
                <a:lnTo>
                  <a:pt x="3015978" y="502294"/>
                </a:lnTo>
                <a:lnTo>
                  <a:pt x="3000531" y="538827"/>
                </a:lnTo>
                <a:lnTo>
                  <a:pt x="2961510" y="594451"/>
                </a:lnTo>
                <a:lnTo>
                  <a:pt x="2937936" y="613543"/>
                </a:lnTo>
                <a:lnTo>
                  <a:pt x="2943890" y="628426"/>
                </a:lnTo>
                <a:lnTo>
                  <a:pt x="2999816" y="583685"/>
                </a:lnTo>
                <a:lnTo>
                  <a:pt x="3022983" y="551198"/>
                </a:lnTo>
                <a:lnTo>
                  <a:pt x="3042953" y="511968"/>
                </a:lnTo>
                <a:lnTo>
                  <a:pt x="3059028" y="467645"/>
                </a:lnTo>
                <a:lnTo>
                  <a:pt x="3070510" y="419881"/>
                </a:lnTo>
                <a:lnTo>
                  <a:pt x="3077399" y="368675"/>
                </a:lnTo>
                <a:lnTo>
                  <a:pt x="3079695" y="314027"/>
                </a:lnTo>
                <a:lnTo>
                  <a:pt x="3077399" y="259100"/>
                </a:lnTo>
                <a:lnTo>
                  <a:pt x="3070510" y="207801"/>
                </a:lnTo>
                <a:lnTo>
                  <a:pt x="3059028" y="160129"/>
                </a:lnTo>
                <a:lnTo>
                  <a:pt x="3042953" y="116085"/>
                </a:lnTo>
                <a:lnTo>
                  <a:pt x="3022983" y="77157"/>
                </a:lnTo>
                <a:lnTo>
                  <a:pt x="2999816" y="44834"/>
                </a:lnTo>
                <a:lnTo>
                  <a:pt x="2973452" y="19115"/>
                </a:lnTo>
                <a:lnTo>
                  <a:pt x="2943890" y="0"/>
                </a:lnTo>
                <a:close/>
              </a:path>
              <a:path w="3079750" h="628650">
                <a:moveTo>
                  <a:pt x="135619" y="0"/>
                </a:moveTo>
                <a:lnTo>
                  <a:pt x="79831" y="44834"/>
                </a:lnTo>
                <a:lnTo>
                  <a:pt x="56699" y="77157"/>
                </a:lnTo>
                <a:lnTo>
                  <a:pt x="36741" y="116085"/>
                </a:lnTo>
                <a:lnTo>
                  <a:pt x="20666" y="160129"/>
                </a:lnTo>
                <a:lnTo>
                  <a:pt x="9185" y="207801"/>
                </a:lnTo>
                <a:lnTo>
                  <a:pt x="2296" y="259100"/>
                </a:lnTo>
                <a:lnTo>
                  <a:pt x="0" y="314027"/>
                </a:lnTo>
                <a:lnTo>
                  <a:pt x="2296" y="368675"/>
                </a:lnTo>
                <a:lnTo>
                  <a:pt x="9185" y="419881"/>
                </a:lnTo>
                <a:lnTo>
                  <a:pt x="20666" y="467645"/>
                </a:lnTo>
                <a:lnTo>
                  <a:pt x="36741" y="511968"/>
                </a:lnTo>
                <a:lnTo>
                  <a:pt x="56699" y="551198"/>
                </a:lnTo>
                <a:lnTo>
                  <a:pt x="79831" y="583685"/>
                </a:lnTo>
                <a:lnTo>
                  <a:pt x="135619" y="628426"/>
                </a:lnTo>
                <a:lnTo>
                  <a:pt x="141758" y="613543"/>
                </a:lnTo>
                <a:lnTo>
                  <a:pt x="118108" y="594451"/>
                </a:lnTo>
                <a:lnTo>
                  <a:pt x="97202" y="569546"/>
                </a:lnTo>
                <a:lnTo>
                  <a:pt x="63623" y="502294"/>
                </a:lnTo>
                <a:lnTo>
                  <a:pt x="51333" y="460971"/>
                </a:lnTo>
                <a:lnTo>
                  <a:pt x="42554" y="415881"/>
                </a:lnTo>
                <a:lnTo>
                  <a:pt x="37287" y="367024"/>
                </a:lnTo>
                <a:lnTo>
                  <a:pt x="35532" y="314399"/>
                </a:lnTo>
                <a:lnTo>
                  <a:pt x="37305" y="260932"/>
                </a:lnTo>
                <a:lnTo>
                  <a:pt x="42625" y="211591"/>
                </a:lnTo>
                <a:lnTo>
                  <a:pt x="51490" y="166379"/>
                </a:lnTo>
                <a:lnTo>
                  <a:pt x="63902" y="125294"/>
                </a:lnTo>
                <a:lnTo>
                  <a:pt x="79407" y="89127"/>
                </a:lnTo>
                <a:lnTo>
                  <a:pt x="118335" y="33922"/>
                </a:lnTo>
                <a:lnTo>
                  <a:pt x="141758" y="14883"/>
                </a:lnTo>
                <a:lnTo>
                  <a:pt x="135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978981" y="5167002"/>
            <a:ext cx="2735580" cy="624840"/>
          </a:xfrm>
          <a:custGeom>
            <a:avLst/>
            <a:gdLst/>
            <a:ahLst/>
            <a:cxnLst/>
            <a:rect l="l" t="t" r="r" b="b"/>
            <a:pathLst>
              <a:path w="2735579" h="624839">
                <a:moveTo>
                  <a:pt x="2603656" y="0"/>
                </a:moveTo>
                <a:lnTo>
                  <a:pt x="2603656" y="14883"/>
                </a:lnTo>
                <a:lnTo>
                  <a:pt x="2611277" y="15783"/>
                </a:lnTo>
                <a:lnTo>
                  <a:pt x="2618516" y="17370"/>
                </a:lnTo>
                <a:lnTo>
                  <a:pt x="2653328" y="42602"/>
                </a:lnTo>
                <a:lnTo>
                  <a:pt x="2669076" y="87930"/>
                </a:lnTo>
                <a:lnTo>
                  <a:pt x="2671744" y="127434"/>
                </a:lnTo>
                <a:lnTo>
                  <a:pt x="2671430" y="138776"/>
                </a:lnTo>
                <a:lnTo>
                  <a:pt x="2670489" y="152153"/>
                </a:lnTo>
                <a:lnTo>
                  <a:pt x="2668919" y="167564"/>
                </a:lnTo>
                <a:lnTo>
                  <a:pt x="2666721" y="185011"/>
                </a:lnTo>
                <a:lnTo>
                  <a:pt x="2664524" y="202051"/>
                </a:lnTo>
                <a:lnTo>
                  <a:pt x="2662955" y="216242"/>
                </a:lnTo>
                <a:lnTo>
                  <a:pt x="2662013" y="227584"/>
                </a:lnTo>
                <a:lnTo>
                  <a:pt x="2661699" y="236077"/>
                </a:lnTo>
                <a:lnTo>
                  <a:pt x="2662547" y="251187"/>
                </a:lnTo>
                <a:lnTo>
                  <a:pt x="2681931" y="295557"/>
                </a:lnTo>
                <a:lnTo>
                  <a:pt x="2700209" y="310120"/>
                </a:lnTo>
                <a:lnTo>
                  <a:pt x="2700209" y="313841"/>
                </a:lnTo>
                <a:lnTo>
                  <a:pt x="2669338" y="347048"/>
                </a:lnTo>
                <a:lnTo>
                  <a:pt x="2661699" y="387511"/>
                </a:lnTo>
                <a:lnTo>
                  <a:pt x="2662013" y="394249"/>
                </a:lnTo>
                <a:lnTo>
                  <a:pt x="2662955" y="405161"/>
                </a:lnTo>
                <a:lnTo>
                  <a:pt x="2664524" y="420247"/>
                </a:lnTo>
                <a:lnTo>
                  <a:pt x="2666721" y="439507"/>
                </a:lnTo>
                <a:lnTo>
                  <a:pt x="2668919" y="459012"/>
                </a:lnTo>
                <a:lnTo>
                  <a:pt x="2670489" y="474831"/>
                </a:lnTo>
                <a:lnTo>
                  <a:pt x="2671430" y="486964"/>
                </a:lnTo>
                <a:lnTo>
                  <a:pt x="2671744" y="495411"/>
                </a:lnTo>
                <a:lnTo>
                  <a:pt x="2671477" y="509759"/>
                </a:lnTo>
                <a:lnTo>
                  <a:pt x="2665024" y="556500"/>
                </a:lnTo>
                <a:lnTo>
                  <a:pt x="2644118" y="593009"/>
                </a:lnTo>
                <a:lnTo>
                  <a:pt x="2603656" y="609450"/>
                </a:lnTo>
                <a:lnTo>
                  <a:pt x="2603656" y="624333"/>
                </a:lnTo>
                <a:lnTo>
                  <a:pt x="2648723" y="614520"/>
                </a:lnTo>
                <a:lnTo>
                  <a:pt x="2680116" y="588056"/>
                </a:lnTo>
                <a:lnTo>
                  <a:pt x="2698534" y="545733"/>
                </a:lnTo>
                <a:lnTo>
                  <a:pt x="2704673" y="488341"/>
                </a:lnTo>
                <a:lnTo>
                  <a:pt x="2704318" y="476447"/>
                </a:lnTo>
                <a:lnTo>
                  <a:pt x="2703254" y="462157"/>
                </a:lnTo>
                <a:lnTo>
                  <a:pt x="2701481" y="445472"/>
                </a:lnTo>
                <a:lnTo>
                  <a:pt x="2698998" y="426392"/>
                </a:lnTo>
                <a:lnTo>
                  <a:pt x="2696516" y="408009"/>
                </a:lnTo>
                <a:lnTo>
                  <a:pt x="2694744" y="393417"/>
                </a:lnTo>
                <a:lnTo>
                  <a:pt x="2693680" y="382616"/>
                </a:lnTo>
                <a:lnTo>
                  <a:pt x="2693325" y="375605"/>
                </a:lnTo>
                <a:lnTo>
                  <a:pt x="2693994" y="363530"/>
                </a:lnTo>
                <a:lnTo>
                  <a:pt x="2710004" y="328822"/>
                </a:lnTo>
                <a:lnTo>
                  <a:pt x="2735555" y="319980"/>
                </a:lnTo>
                <a:lnTo>
                  <a:pt x="2735555" y="303980"/>
                </a:lnTo>
                <a:lnTo>
                  <a:pt x="2699395" y="280854"/>
                </a:lnTo>
                <a:lnTo>
                  <a:pt x="2693325" y="248170"/>
                </a:lnTo>
                <a:lnTo>
                  <a:pt x="2693680" y="240973"/>
                </a:lnTo>
                <a:lnTo>
                  <a:pt x="2694744" y="230543"/>
                </a:lnTo>
                <a:lnTo>
                  <a:pt x="2696610" y="216242"/>
                </a:lnTo>
                <a:lnTo>
                  <a:pt x="2698998" y="199986"/>
                </a:lnTo>
                <a:lnTo>
                  <a:pt x="2701481" y="182232"/>
                </a:lnTo>
                <a:lnTo>
                  <a:pt x="2703254" y="165989"/>
                </a:lnTo>
                <a:lnTo>
                  <a:pt x="2704318" y="151257"/>
                </a:lnTo>
                <a:lnTo>
                  <a:pt x="2704673" y="138037"/>
                </a:lnTo>
                <a:lnTo>
                  <a:pt x="2703051" y="105609"/>
                </a:lnTo>
                <a:lnTo>
                  <a:pt x="2690075" y="54356"/>
                </a:lnTo>
                <a:lnTo>
                  <a:pt x="2664298" y="20893"/>
                </a:lnTo>
                <a:lnTo>
                  <a:pt x="2626765" y="3127"/>
                </a:lnTo>
                <a:lnTo>
                  <a:pt x="2603656" y="0"/>
                </a:lnTo>
                <a:close/>
              </a:path>
              <a:path w="2735579" h="624839">
                <a:moveTo>
                  <a:pt x="131899" y="0"/>
                </a:moveTo>
                <a:lnTo>
                  <a:pt x="88460" y="10092"/>
                </a:lnTo>
                <a:lnTo>
                  <a:pt x="56741" y="35532"/>
                </a:lnTo>
                <a:lnTo>
                  <a:pt x="37347" y="77715"/>
                </a:lnTo>
                <a:lnTo>
                  <a:pt x="30882" y="138037"/>
                </a:lnTo>
                <a:lnTo>
                  <a:pt x="31237" y="151257"/>
                </a:lnTo>
                <a:lnTo>
                  <a:pt x="32300" y="165989"/>
                </a:lnTo>
                <a:lnTo>
                  <a:pt x="34073" y="182232"/>
                </a:lnTo>
                <a:lnTo>
                  <a:pt x="36555" y="199986"/>
                </a:lnTo>
                <a:lnTo>
                  <a:pt x="39038" y="216881"/>
                </a:lnTo>
                <a:lnTo>
                  <a:pt x="40811" y="230543"/>
                </a:lnTo>
                <a:lnTo>
                  <a:pt x="41875" y="240973"/>
                </a:lnTo>
                <a:lnTo>
                  <a:pt x="42230" y="248170"/>
                </a:lnTo>
                <a:lnTo>
                  <a:pt x="41555" y="260483"/>
                </a:lnTo>
                <a:lnTo>
                  <a:pt x="25428" y="295365"/>
                </a:lnTo>
                <a:lnTo>
                  <a:pt x="0" y="303980"/>
                </a:lnTo>
                <a:lnTo>
                  <a:pt x="0" y="319980"/>
                </a:lnTo>
                <a:lnTo>
                  <a:pt x="36213" y="343391"/>
                </a:lnTo>
                <a:lnTo>
                  <a:pt x="42230" y="375605"/>
                </a:lnTo>
                <a:lnTo>
                  <a:pt x="41875" y="382616"/>
                </a:lnTo>
                <a:lnTo>
                  <a:pt x="40811" y="393417"/>
                </a:lnTo>
                <a:lnTo>
                  <a:pt x="39038" y="408009"/>
                </a:lnTo>
                <a:lnTo>
                  <a:pt x="36555" y="426392"/>
                </a:lnTo>
                <a:lnTo>
                  <a:pt x="34073" y="445472"/>
                </a:lnTo>
                <a:lnTo>
                  <a:pt x="32300" y="462157"/>
                </a:lnTo>
                <a:lnTo>
                  <a:pt x="31237" y="476447"/>
                </a:lnTo>
                <a:lnTo>
                  <a:pt x="30882" y="488341"/>
                </a:lnTo>
                <a:lnTo>
                  <a:pt x="32411" y="518921"/>
                </a:lnTo>
                <a:lnTo>
                  <a:pt x="44643" y="568778"/>
                </a:lnTo>
                <a:lnTo>
                  <a:pt x="69303" y="603369"/>
                </a:lnTo>
                <a:lnTo>
                  <a:pt x="107581" y="621508"/>
                </a:lnTo>
                <a:lnTo>
                  <a:pt x="131899" y="624333"/>
                </a:lnTo>
                <a:lnTo>
                  <a:pt x="131899" y="609450"/>
                </a:lnTo>
                <a:lnTo>
                  <a:pt x="123958" y="608538"/>
                </a:lnTo>
                <a:lnTo>
                  <a:pt x="116505" y="606916"/>
                </a:lnTo>
                <a:lnTo>
                  <a:pt x="81297" y="580987"/>
                </a:lnTo>
                <a:lnTo>
                  <a:pt x="66217" y="535246"/>
                </a:lnTo>
                <a:lnTo>
                  <a:pt x="63809" y="495411"/>
                </a:lnTo>
                <a:lnTo>
                  <a:pt x="64123" y="486964"/>
                </a:lnTo>
                <a:lnTo>
                  <a:pt x="65066" y="474831"/>
                </a:lnTo>
                <a:lnTo>
                  <a:pt x="66636" y="459012"/>
                </a:lnTo>
                <a:lnTo>
                  <a:pt x="68833" y="439507"/>
                </a:lnTo>
                <a:lnTo>
                  <a:pt x="71031" y="420247"/>
                </a:lnTo>
                <a:lnTo>
                  <a:pt x="72600" y="405161"/>
                </a:lnTo>
                <a:lnTo>
                  <a:pt x="73542" y="394249"/>
                </a:lnTo>
                <a:lnTo>
                  <a:pt x="73856" y="387511"/>
                </a:lnTo>
                <a:lnTo>
                  <a:pt x="73002" y="372349"/>
                </a:lnTo>
                <a:lnTo>
                  <a:pt x="53502" y="328491"/>
                </a:lnTo>
                <a:lnTo>
                  <a:pt x="35346" y="313841"/>
                </a:lnTo>
                <a:lnTo>
                  <a:pt x="35346" y="310120"/>
                </a:lnTo>
                <a:lnTo>
                  <a:pt x="66165" y="276628"/>
                </a:lnTo>
                <a:lnTo>
                  <a:pt x="73856" y="236077"/>
                </a:lnTo>
                <a:lnTo>
                  <a:pt x="73542" y="227584"/>
                </a:lnTo>
                <a:lnTo>
                  <a:pt x="72600" y="216242"/>
                </a:lnTo>
                <a:lnTo>
                  <a:pt x="71031" y="202051"/>
                </a:lnTo>
                <a:lnTo>
                  <a:pt x="68833" y="185011"/>
                </a:lnTo>
                <a:lnTo>
                  <a:pt x="66636" y="167564"/>
                </a:lnTo>
                <a:lnTo>
                  <a:pt x="65066" y="152153"/>
                </a:lnTo>
                <a:lnTo>
                  <a:pt x="64123" y="138776"/>
                </a:lnTo>
                <a:lnTo>
                  <a:pt x="63809" y="127434"/>
                </a:lnTo>
                <a:lnTo>
                  <a:pt x="64106" y="113184"/>
                </a:lnTo>
                <a:lnTo>
                  <a:pt x="71182" y="66931"/>
                </a:lnTo>
                <a:lnTo>
                  <a:pt x="91924" y="30904"/>
                </a:lnTo>
                <a:lnTo>
                  <a:pt x="131899" y="14883"/>
                </a:lnTo>
                <a:lnTo>
                  <a:pt x="131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319267" y="5392420"/>
            <a:ext cx="2070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04">
                <a:latin typeface="Cambria Math"/>
                <a:cs typeface="Cambria Math"/>
              </a:rPr>
              <a:t>8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69220" y="5302668"/>
            <a:ext cx="468630" cy="353060"/>
          </a:xfrm>
          <a:custGeom>
            <a:avLst/>
            <a:gdLst/>
            <a:ahLst/>
            <a:cxnLst/>
            <a:rect l="l" t="t" r="r" b="b"/>
            <a:pathLst>
              <a:path w="468629" h="353060">
                <a:moveTo>
                  <a:pt x="355860" y="0"/>
                </a:moveTo>
                <a:lnTo>
                  <a:pt x="350837" y="14324"/>
                </a:lnTo>
                <a:lnTo>
                  <a:pt x="371266" y="23190"/>
                </a:lnTo>
                <a:lnTo>
                  <a:pt x="388834" y="35463"/>
                </a:lnTo>
                <a:lnTo>
                  <a:pt x="415391" y="70228"/>
                </a:lnTo>
                <a:lnTo>
                  <a:pt x="431018" y="117132"/>
                </a:lnTo>
                <a:lnTo>
                  <a:pt x="436227" y="174687"/>
                </a:lnTo>
                <a:lnTo>
                  <a:pt x="434919" y="205812"/>
                </a:lnTo>
                <a:lnTo>
                  <a:pt x="424455" y="259483"/>
                </a:lnTo>
                <a:lnTo>
                  <a:pt x="403456" y="301399"/>
                </a:lnTo>
                <a:lnTo>
                  <a:pt x="371504" y="329677"/>
                </a:lnTo>
                <a:lnTo>
                  <a:pt x="351395" y="338583"/>
                </a:lnTo>
                <a:lnTo>
                  <a:pt x="355860" y="352908"/>
                </a:lnTo>
                <a:lnTo>
                  <a:pt x="403996" y="330328"/>
                </a:lnTo>
                <a:lnTo>
                  <a:pt x="439389" y="291238"/>
                </a:lnTo>
                <a:lnTo>
                  <a:pt x="461156" y="238892"/>
                </a:lnTo>
                <a:lnTo>
                  <a:pt x="468411" y="176547"/>
                </a:lnTo>
                <a:lnTo>
                  <a:pt x="466591" y="144194"/>
                </a:lnTo>
                <a:lnTo>
                  <a:pt x="452034" y="86849"/>
                </a:lnTo>
                <a:lnTo>
                  <a:pt x="423164" y="40166"/>
                </a:lnTo>
                <a:lnTo>
                  <a:pt x="381445" y="9238"/>
                </a:lnTo>
                <a:lnTo>
                  <a:pt x="355860" y="0"/>
                </a:lnTo>
                <a:close/>
              </a:path>
              <a:path w="468629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5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3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7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109717" y="5193284"/>
            <a:ext cx="23044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4070" algn="l"/>
              </a:tabLst>
            </a:pPr>
            <a:r>
              <a:rPr dirty="0" sz="3000" spc="-10">
                <a:latin typeface="Cambria Math"/>
                <a:cs typeface="Cambria Math"/>
              </a:rPr>
              <a:t>h</a:t>
            </a:r>
            <a:r>
              <a:rPr dirty="0" baseline="40404" sz="3300" spc="-7">
                <a:latin typeface="Cambria Math"/>
                <a:cs typeface="Cambria Math"/>
              </a:rPr>
              <a:t>(</a:t>
            </a:r>
            <a:r>
              <a:rPr dirty="0" baseline="40404" sz="3300" spc="-562">
                <a:latin typeface="Cambria Math"/>
                <a:cs typeface="Cambria Math"/>
              </a:rPr>
              <a:t>6</a:t>
            </a:r>
            <a:r>
              <a:rPr dirty="0" baseline="40404" sz="3300" spc="127">
                <a:latin typeface="Cambria Math"/>
                <a:cs typeface="Cambria Math"/>
              </a:rPr>
              <a:t>)</a:t>
            </a: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∀𝑢</a:t>
            </a:r>
            <a:r>
              <a:rPr dirty="0" sz="3000" spc="250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∈</a:t>
            </a:r>
            <a:r>
              <a:rPr dirty="0" sz="3000" spc="17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𝑁	𝑣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7678098" y="5392420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70137" y="5193284"/>
            <a:ext cx="13804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229">
                <a:latin typeface="Cambria Math"/>
                <a:cs typeface="Cambria Math"/>
              </a:rPr>
              <a:t> </a:t>
            </a:r>
            <a:r>
              <a:rPr dirty="0" sz="3000" spc="-80">
                <a:latin typeface="Cambria Math"/>
                <a:cs typeface="Cambria Math"/>
              </a:rPr>
              <a:t>B</a:t>
            </a:r>
            <a:r>
              <a:rPr dirty="0" baseline="-15151" sz="3300" spc="-120">
                <a:latin typeface="Cambria Math"/>
                <a:cs typeface="Cambria Math"/>
              </a:rPr>
              <a:t>6</a:t>
            </a:r>
            <a:r>
              <a:rPr dirty="0" sz="3000" spc="-80">
                <a:latin typeface="Cambria Math"/>
                <a:cs typeface="Cambria Math"/>
              </a:rPr>
              <a:t>h</a:t>
            </a:r>
            <a:r>
              <a:rPr dirty="0" baseline="40404" sz="3300" spc="-120">
                <a:latin typeface="Cambria Math"/>
                <a:cs typeface="Cambria Math"/>
              </a:rPr>
              <a:t>(6)</a:t>
            </a:r>
            <a:r>
              <a:rPr dirty="0" sz="3000" spc="-80">
                <a:latin typeface="Cambria Math"/>
                <a:cs typeface="Cambria Math"/>
              </a:rPr>
              <a:t>])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754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78530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Mean: </a:t>
            </a:r>
            <a:r>
              <a:rPr dirty="0" spc="-90"/>
              <a:t>Take </a:t>
            </a:r>
            <a:r>
              <a:rPr dirty="0"/>
              <a:t>a </a:t>
            </a:r>
            <a:r>
              <a:rPr dirty="0" spc="-15"/>
              <a:t>weighted </a:t>
            </a:r>
            <a:r>
              <a:rPr dirty="0" spc="-30"/>
              <a:t>average </a:t>
            </a:r>
            <a:r>
              <a:rPr dirty="0" spc="-5"/>
              <a:t>of</a:t>
            </a:r>
            <a:r>
              <a:rPr dirty="0" spc="140"/>
              <a:t> </a:t>
            </a:r>
            <a:r>
              <a:rPr dirty="0" spc="-10"/>
              <a:t>neighbors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9363" y="5347716"/>
            <a:ext cx="790955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LSTM: </a:t>
            </a:r>
            <a:r>
              <a:rPr dirty="0" sz="3200" spc="-5">
                <a:latin typeface="Calibri"/>
                <a:cs typeface="Calibri"/>
              </a:rPr>
              <a:t>Apply LSTM </a:t>
            </a:r>
            <a:r>
              <a:rPr dirty="0" sz="3200" spc="-15">
                <a:latin typeface="Calibri"/>
                <a:cs typeface="Calibri"/>
              </a:rPr>
              <a:t>to reshuffled </a:t>
            </a:r>
            <a:r>
              <a:rPr dirty="0" sz="3200" spc="-5">
                <a:latin typeface="Calibri"/>
                <a:cs typeface="Calibri"/>
              </a:rPr>
              <a:t>of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neighbors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8826" y="4739954"/>
            <a:ext cx="268605" cy="422909"/>
          </a:xfrm>
          <a:custGeom>
            <a:avLst/>
            <a:gdLst/>
            <a:ahLst/>
            <a:cxnLst/>
            <a:rect l="l" t="t" r="r" b="b"/>
            <a:pathLst>
              <a:path w="268604" h="422910">
                <a:moveTo>
                  <a:pt x="0" y="0"/>
                </a:moveTo>
                <a:lnTo>
                  <a:pt x="268223" y="0"/>
                </a:lnTo>
                <a:lnTo>
                  <a:pt x="268223" y="422656"/>
                </a:lnTo>
                <a:lnTo>
                  <a:pt x="0" y="422656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27713" y="4728842"/>
            <a:ext cx="290830" cy="445134"/>
          </a:xfrm>
          <a:custGeom>
            <a:avLst/>
            <a:gdLst/>
            <a:ahLst/>
            <a:cxnLst/>
            <a:rect l="l" t="t" r="r" b="b"/>
            <a:pathLst>
              <a:path w="290829" h="445135">
                <a:moveTo>
                  <a:pt x="285474" y="0"/>
                </a:moveTo>
                <a:lnTo>
                  <a:pt x="4975" y="0"/>
                </a:lnTo>
                <a:lnTo>
                  <a:pt x="0" y="4975"/>
                </a:lnTo>
                <a:lnTo>
                  <a:pt x="0" y="439906"/>
                </a:lnTo>
                <a:lnTo>
                  <a:pt x="4975" y="444881"/>
                </a:lnTo>
                <a:lnTo>
                  <a:pt x="285474" y="444881"/>
                </a:lnTo>
                <a:lnTo>
                  <a:pt x="290448" y="439906"/>
                </a:lnTo>
                <a:lnTo>
                  <a:pt x="290448" y="431546"/>
                </a:lnTo>
                <a:lnTo>
                  <a:pt x="13335" y="431546"/>
                </a:lnTo>
                <a:lnTo>
                  <a:pt x="13335" y="13335"/>
                </a:lnTo>
                <a:lnTo>
                  <a:pt x="290448" y="13335"/>
                </a:lnTo>
                <a:lnTo>
                  <a:pt x="290448" y="4975"/>
                </a:lnTo>
                <a:lnTo>
                  <a:pt x="285474" y="0"/>
                </a:lnTo>
                <a:close/>
              </a:path>
              <a:path w="290829" h="445135">
                <a:moveTo>
                  <a:pt x="290448" y="13335"/>
                </a:moveTo>
                <a:lnTo>
                  <a:pt x="277114" y="13335"/>
                </a:lnTo>
                <a:lnTo>
                  <a:pt x="277114" y="431546"/>
                </a:lnTo>
                <a:lnTo>
                  <a:pt x="290448" y="431546"/>
                </a:lnTo>
                <a:lnTo>
                  <a:pt x="290448" y="13335"/>
                </a:lnTo>
                <a:close/>
              </a:path>
              <a:path w="290829" h="445135">
                <a:moveTo>
                  <a:pt x="272669" y="17780"/>
                </a:moveTo>
                <a:lnTo>
                  <a:pt x="17780" y="17780"/>
                </a:lnTo>
                <a:lnTo>
                  <a:pt x="17780" y="427101"/>
                </a:lnTo>
                <a:lnTo>
                  <a:pt x="272669" y="427101"/>
                </a:lnTo>
                <a:lnTo>
                  <a:pt x="272669" y="422656"/>
                </a:lnTo>
                <a:lnTo>
                  <a:pt x="22225" y="422656"/>
                </a:lnTo>
                <a:lnTo>
                  <a:pt x="22225" y="22225"/>
                </a:lnTo>
                <a:lnTo>
                  <a:pt x="272669" y="22225"/>
                </a:lnTo>
                <a:lnTo>
                  <a:pt x="272669" y="17780"/>
                </a:lnTo>
                <a:close/>
              </a:path>
              <a:path w="290829" h="445135">
                <a:moveTo>
                  <a:pt x="272669" y="22225"/>
                </a:moveTo>
                <a:lnTo>
                  <a:pt x="268223" y="22225"/>
                </a:lnTo>
                <a:lnTo>
                  <a:pt x="268223" y="422656"/>
                </a:lnTo>
                <a:lnTo>
                  <a:pt x="272669" y="422656"/>
                </a:lnTo>
                <a:lnTo>
                  <a:pt x="272669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47873" y="4332599"/>
            <a:ext cx="577850" cy="246379"/>
          </a:xfrm>
          <a:custGeom>
            <a:avLst/>
            <a:gdLst/>
            <a:ahLst/>
            <a:cxnLst/>
            <a:rect l="l" t="t" r="r" b="b"/>
            <a:pathLst>
              <a:path w="577850" h="246379">
                <a:moveTo>
                  <a:pt x="56447" y="175323"/>
                </a:moveTo>
                <a:lnTo>
                  <a:pt x="0" y="239133"/>
                </a:lnTo>
                <a:lnTo>
                  <a:pt x="84916" y="246006"/>
                </a:lnTo>
                <a:lnTo>
                  <a:pt x="76943" y="226211"/>
                </a:lnTo>
                <a:lnTo>
                  <a:pt x="57580" y="226211"/>
                </a:lnTo>
                <a:lnTo>
                  <a:pt x="52031" y="223847"/>
                </a:lnTo>
                <a:lnTo>
                  <a:pt x="48101" y="214088"/>
                </a:lnTo>
                <a:lnTo>
                  <a:pt x="50463" y="208540"/>
                </a:lnTo>
                <a:lnTo>
                  <a:pt x="67123" y="201830"/>
                </a:lnTo>
                <a:lnTo>
                  <a:pt x="56447" y="175323"/>
                </a:lnTo>
                <a:close/>
              </a:path>
              <a:path w="577850" h="246379">
                <a:moveTo>
                  <a:pt x="67123" y="201830"/>
                </a:moveTo>
                <a:lnTo>
                  <a:pt x="50463" y="208540"/>
                </a:lnTo>
                <a:lnTo>
                  <a:pt x="48101" y="214088"/>
                </a:lnTo>
                <a:lnTo>
                  <a:pt x="52031" y="223847"/>
                </a:lnTo>
                <a:lnTo>
                  <a:pt x="57580" y="226211"/>
                </a:lnTo>
                <a:lnTo>
                  <a:pt x="74240" y="219501"/>
                </a:lnTo>
                <a:lnTo>
                  <a:pt x="67123" y="201830"/>
                </a:lnTo>
                <a:close/>
              </a:path>
              <a:path w="577850" h="246379">
                <a:moveTo>
                  <a:pt x="74240" y="219501"/>
                </a:moveTo>
                <a:lnTo>
                  <a:pt x="57580" y="226211"/>
                </a:lnTo>
                <a:lnTo>
                  <a:pt x="76943" y="226211"/>
                </a:lnTo>
                <a:lnTo>
                  <a:pt x="74240" y="219501"/>
                </a:lnTo>
                <a:close/>
              </a:path>
              <a:path w="577850" h="246379">
                <a:moveTo>
                  <a:pt x="568247" y="0"/>
                </a:moveTo>
                <a:lnTo>
                  <a:pt x="67123" y="201830"/>
                </a:lnTo>
                <a:lnTo>
                  <a:pt x="74240" y="219501"/>
                </a:lnTo>
                <a:lnTo>
                  <a:pt x="575364" y="17669"/>
                </a:lnTo>
                <a:lnTo>
                  <a:pt x="577726" y="12120"/>
                </a:lnTo>
                <a:lnTo>
                  <a:pt x="573796" y="2362"/>
                </a:lnTo>
                <a:lnTo>
                  <a:pt x="568247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9363" y="3177540"/>
            <a:ext cx="7673975" cy="130683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69900" marR="5080" indent="-45720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Pool: </a:t>
            </a:r>
            <a:r>
              <a:rPr dirty="0" sz="3200" spc="-45">
                <a:latin typeface="Calibri"/>
                <a:cs typeface="Calibri"/>
              </a:rPr>
              <a:t>Transform </a:t>
            </a:r>
            <a:r>
              <a:rPr dirty="0" sz="3200" spc="-5">
                <a:latin typeface="Calibri"/>
                <a:cs typeface="Calibri"/>
              </a:rPr>
              <a:t>neighbor </a:t>
            </a:r>
            <a:r>
              <a:rPr dirty="0" sz="3200" spc="-20">
                <a:latin typeface="Calibri"/>
                <a:cs typeface="Calibri"/>
              </a:rPr>
              <a:t>vectors </a:t>
            </a:r>
            <a:r>
              <a:rPr dirty="0" sz="3200">
                <a:latin typeface="Calibri"/>
                <a:cs typeface="Calibri"/>
              </a:rPr>
              <a:t>and apply  </a:t>
            </a:r>
            <a:r>
              <a:rPr dirty="0" sz="3200" spc="-10">
                <a:latin typeface="Calibri"/>
                <a:cs typeface="Calibri"/>
              </a:rPr>
              <a:t>symmetric </a:t>
            </a:r>
            <a:r>
              <a:rPr dirty="0" sz="3200" spc="-15">
                <a:latin typeface="Calibri"/>
                <a:cs typeface="Calibri"/>
              </a:rPr>
              <a:t>vector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function</a:t>
            </a:r>
            <a:endParaRPr sz="3200">
              <a:latin typeface="Calibri"/>
              <a:cs typeface="Calibri"/>
            </a:endParaRPr>
          </a:p>
          <a:p>
            <a:pPr marL="3673475">
              <a:lnSpc>
                <a:spcPts val="2340"/>
              </a:lnSpc>
            </a:pPr>
            <a:r>
              <a:rPr dirty="0" sz="2400" spc="-10">
                <a:solidFill>
                  <a:srgbClr val="CF5B1B"/>
                </a:solidFill>
                <a:latin typeface="Calibri"/>
                <a:cs typeface="Calibri"/>
              </a:rPr>
              <a:t>Element-wise</a:t>
            </a:r>
            <a:r>
              <a:rPr dirty="0" sz="2400" spc="-60">
                <a:solidFill>
                  <a:srgbClr val="CF5B1B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F5B1B"/>
                </a:solidFill>
                <a:latin typeface="Calibri"/>
                <a:cs typeface="Calibri"/>
              </a:rPr>
              <a:t>mean/max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1958" y="2269236"/>
            <a:ext cx="20834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0985" algn="l"/>
              </a:tabLst>
            </a:pPr>
            <a:r>
              <a:rPr dirty="0" sz="3200" spc="-60">
                <a:latin typeface="Cambria Math"/>
                <a:cs typeface="Cambria Math"/>
              </a:rPr>
              <a:t>A</a:t>
            </a:r>
            <a:r>
              <a:rPr dirty="0" sz="3200" spc="-5">
                <a:latin typeface="Cambria Math"/>
                <a:cs typeface="Cambria Math"/>
              </a:rPr>
              <a:t>G</a:t>
            </a:r>
            <a:r>
              <a:rPr dirty="0" sz="3200">
                <a:latin typeface="Cambria Math"/>
                <a:cs typeface="Cambria Math"/>
              </a:rPr>
              <a:t>G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	</a:t>
            </a:r>
            <a:r>
              <a:rPr dirty="0" sz="3200" spc="2150">
                <a:latin typeface="Cambria Math"/>
                <a:cs typeface="Cambria Math"/>
              </a:rPr>
              <a:t>Q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2339" y="2898648"/>
            <a:ext cx="10585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14">
                <a:latin typeface="Cambria Math"/>
                <a:cs typeface="Cambria Math"/>
              </a:rPr>
              <a:t>#</a:t>
            </a:r>
            <a:r>
              <a:rPr dirty="0" sz="2300" spc="10">
                <a:latin typeface="Cambria Math"/>
                <a:cs typeface="Cambria Math"/>
              </a:rPr>
              <a:t>∈</a:t>
            </a:r>
            <a:r>
              <a:rPr dirty="0" sz="2300" spc="1200">
                <a:latin typeface="Cambria Math"/>
                <a:cs typeface="Cambria Math"/>
              </a:rPr>
              <a:t>;</a:t>
            </a: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715">
                <a:latin typeface="Cambria Math"/>
                <a:cs typeface="Cambria Math"/>
              </a:rPr>
              <a:t>!</a:t>
            </a:r>
            <a:r>
              <a:rPr dirty="0" sz="230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1621" y="2179320"/>
            <a:ext cx="11557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5934" algn="l"/>
                <a:tab pos="1142365" algn="l"/>
              </a:tabLst>
            </a:pPr>
            <a:r>
              <a:rPr dirty="0" sz="2300" u="heavy">
                <a:latin typeface="Times New Roman"/>
                <a:cs typeface="Times New Roman"/>
              </a:rPr>
              <a:t> 	</a:t>
            </a:r>
            <a:r>
              <a:rPr dirty="0" sz="2300" spc="60" u="heavy">
                <a:latin typeface="Cambria Math"/>
                <a:cs typeface="Cambria Math"/>
              </a:rPr>
              <a:t>#	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1336" y="1741932"/>
            <a:ext cx="6096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381" sz="4800" spc="-7">
                <a:latin typeface="Cambria Math"/>
                <a:cs typeface="Cambria Math"/>
              </a:rPr>
              <a:t>h</a:t>
            </a: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-375">
                <a:latin typeface="Cambria Math"/>
                <a:cs typeface="Cambria Math"/>
              </a:rPr>
              <a:t>9</a:t>
            </a:r>
            <a:r>
              <a:rPr dirty="0" sz="230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48739" y="2658033"/>
            <a:ext cx="0" cy="369570"/>
          </a:xfrm>
          <a:custGeom>
            <a:avLst/>
            <a:gdLst/>
            <a:ahLst/>
            <a:cxnLst/>
            <a:rect l="l" t="t" r="r" b="b"/>
            <a:pathLst>
              <a:path w="0" h="369569">
                <a:moveTo>
                  <a:pt x="0" y="0"/>
                </a:moveTo>
                <a:lnTo>
                  <a:pt x="0" y="369293"/>
                </a:lnTo>
              </a:path>
            </a:pathLst>
          </a:custGeom>
          <a:ln w="305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42645" y="2658033"/>
            <a:ext cx="0" cy="369570"/>
          </a:xfrm>
          <a:custGeom>
            <a:avLst/>
            <a:gdLst/>
            <a:ahLst/>
            <a:cxnLst/>
            <a:rect l="l" t="t" r="r" b="b"/>
            <a:pathLst>
              <a:path w="0" h="369569">
                <a:moveTo>
                  <a:pt x="0" y="0"/>
                </a:moveTo>
                <a:lnTo>
                  <a:pt x="0" y="369293"/>
                </a:lnTo>
              </a:path>
            </a:pathLst>
          </a:custGeom>
          <a:ln w="305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94239" y="2540508"/>
            <a:ext cx="9036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75">
                <a:latin typeface="Cambria Math"/>
                <a:cs typeface="Cambria Math"/>
              </a:rPr>
              <a:t>𝑁</a:t>
            </a:r>
            <a:r>
              <a:rPr dirty="0" sz="3200" spc="-5">
                <a:latin typeface="Cambria Math"/>
                <a:cs typeface="Cambria Math"/>
              </a:rPr>
              <a:t>(</a:t>
            </a:r>
            <a:r>
              <a:rPr dirty="0" sz="3200" spc="85">
                <a:latin typeface="Cambria Math"/>
                <a:cs typeface="Cambria Math"/>
              </a:rPr>
              <a:t>𝑣</a:t>
            </a:r>
            <a:r>
              <a:rPr dirty="0" sz="320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89228" y="4865116"/>
            <a:ext cx="2070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04">
                <a:latin typeface="Cambria Math"/>
                <a:cs typeface="Cambria Math"/>
              </a:rPr>
              <a:t>8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78083" y="4665979"/>
            <a:ext cx="55416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5">
                <a:latin typeface="Cambria Math"/>
                <a:cs typeface="Cambria Math"/>
              </a:rPr>
              <a:t>AGG </a:t>
            </a:r>
            <a:r>
              <a:rPr dirty="0" sz="3000">
                <a:latin typeface="Cambria Math"/>
                <a:cs typeface="Cambria Math"/>
              </a:rPr>
              <a:t>= </a:t>
            </a:r>
            <a:r>
              <a:rPr dirty="0" sz="3000" spc="-20">
                <a:latin typeface="Cambria Math"/>
                <a:cs typeface="Cambria Math"/>
              </a:rPr>
              <a:t>𝛾({MLP(h</a:t>
            </a:r>
            <a:r>
              <a:rPr dirty="0" baseline="40404" sz="3300" spc="-30">
                <a:latin typeface="Cambria Math"/>
                <a:cs typeface="Cambria Math"/>
              </a:rPr>
              <a:t>(6)</a:t>
            </a:r>
            <a:r>
              <a:rPr dirty="0" sz="3000" spc="-20">
                <a:latin typeface="Cambria Math"/>
                <a:cs typeface="Cambria Math"/>
              </a:rPr>
              <a:t>), </a:t>
            </a:r>
            <a:r>
              <a:rPr dirty="0" sz="3000">
                <a:latin typeface="Cambria Math"/>
                <a:cs typeface="Cambria Math"/>
              </a:rPr>
              <a:t>∀𝑢  ∈</a:t>
            </a:r>
            <a:r>
              <a:rPr dirty="0" sz="3000" spc="-80">
                <a:latin typeface="Cambria Math"/>
                <a:cs typeface="Cambria Math"/>
              </a:rPr>
              <a:t> </a:t>
            </a:r>
            <a:r>
              <a:rPr dirty="0" sz="3000" spc="25">
                <a:latin typeface="Cambria Math"/>
                <a:cs typeface="Cambria Math"/>
              </a:rPr>
              <a:t>𝑁(𝑣)})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38675" y="6163564"/>
            <a:ext cx="2070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04">
                <a:latin typeface="Cambria Math"/>
                <a:cs typeface="Cambria Math"/>
              </a:rPr>
              <a:t>8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33575" y="6020872"/>
            <a:ext cx="1099820" cy="460375"/>
          </a:xfrm>
          <a:custGeom>
            <a:avLst/>
            <a:gdLst/>
            <a:ahLst/>
            <a:cxnLst/>
            <a:rect l="l" t="t" r="r" b="b"/>
            <a:pathLst>
              <a:path w="1099820" h="460375">
                <a:moveTo>
                  <a:pt x="978429" y="0"/>
                </a:moveTo>
                <a:lnTo>
                  <a:pt x="973777" y="15254"/>
                </a:lnTo>
                <a:lnTo>
                  <a:pt x="994921" y="26219"/>
                </a:lnTo>
                <a:lnTo>
                  <a:pt x="1013333" y="42183"/>
                </a:lnTo>
                <a:lnTo>
                  <a:pt x="1041960" y="89110"/>
                </a:lnTo>
                <a:lnTo>
                  <a:pt x="1059330" y="152874"/>
                </a:lnTo>
                <a:lnTo>
                  <a:pt x="1065121" y="230311"/>
                </a:lnTo>
                <a:lnTo>
                  <a:pt x="1063673" y="270652"/>
                </a:lnTo>
                <a:lnTo>
                  <a:pt x="1052093" y="341112"/>
                </a:lnTo>
                <a:lnTo>
                  <a:pt x="1029013" y="397155"/>
                </a:lnTo>
                <a:lnTo>
                  <a:pt x="994921" y="434037"/>
                </a:lnTo>
                <a:lnTo>
                  <a:pt x="973777" y="444996"/>
                </a:lnTo>
                <a:lnTo>
                  <a:pt x="978429" y="460250"/>
                </a:lnTo>
                <a:lnTo>
                  <a:pt x="1029821" y="432857"/>
                </a:lnTo>
                <a:lnTo>
                  <a:pt x="1067912" y="381186"/>
                </a:lnTo>
                <a:lnTo>
                  <a:pt x="1091491" y="311515"/>
                </a:lnTo>
                <a:lnTo>
                  <a:pt x="1097386" y="272285"/>
                </a:lnTo>
                <a:lnTo>
                  <a:pt x="1099351" y="230125"/>
                </a:lnTo>
                <a:lnTo>
                  <a:pt x="1097386" y="187965"/>
                </a:lnTo>
                <a:lnTo>
                  <a:pt x="1091491" y="148735"/>
                </a:lnTo>
                <a:lnTo>
                  <a:pt x="1067912" y="79064"/>
                </a:lnTo>
                <a:lnTo>
                  <a:pt x="1029821" y="27393"/>
                </a:lnTo>
                <a:lnTo>
                  <a:pt x="1005787" y="10662"/>
                </a:lnTo>
                <a:lnTo>
                  <a:pt x="978429" y="0"/>
                </a:lnTo>
                <a:close/>
              </a:path>
              <a:path w="1099820" h="460375">
                <a:moveTo>
                  <a:pt x="120923" y="0"/>
                </a:moveTo>
                <a:lnTo>
                  <a:pt x="69530" y="27393"/>
                </a:lnTo>
                <a:lnTo>
                  <a:pt x="31440" y="79064"/>
                </a:lnTo>
                <a:lnTo>
                  <a:pt x="7860" y="148735"/>
                </a:lnTo>
                <a:lnTo>
                  <a:pt x="1965" y="187965"/>
                </a:lnTo>
                <a:lnTo>
                  <a:pt x="0" y="230125"/>
                </a:lnTo>
                <a:lnTo>
                  <a:pt x="1965" y="272285"/>
                </a:lnTo>
                <a:lnTo>
                  <a:pt x="7860" y="311515"/>
                </a:lnTo>
                <a:lnTo>
                  <a:pt x="31440" y="381186"/>
                </a:lnTo>
                <a:lnTo>
                  <a:pt x="69530" y="432857"/>
                </a:lnTo>
                <a:lnTo>
                  <a:pt x="120923" y="460250"/>
                </a:lnTo>
                <a:lnTo>
                  <a:pt x="125573" y="444996"/>
                </a:lnTo>
                <a:lnTo>
                  <a:pt x="104429" y="434037"/>
                </a:lnTo>
                <a:lnTo>
                  <a:pt x="86018" y="418090"/>
                </a:lnTo>
                <a:lnTo>
                  <a:pt x="57391" y="371233"/>
                </a:lnTo>
                <a:lnTo>
                  <a:pt x="40020" y="307585"/>
                </a:lnTo>
                <a:lnTo>
                  <a:pt x="34230" y="230311"/>
                </a:lnTo>
                <a:lnTo>
                  <a:pt x="35677" y="189883"/>
                </a:lnTo>
                <a:lnTo>
                  <a:pt x="47258" y="119283"/>
                </a:lnTo>
                <a:lnTo>
                  <a:pt x="70338" y="63147"/>
                </a:lnTo>
                <a:lnTo>
                  <a:pt x="104429" y="26219"/>
                </a:lnTo>
                <a:lnTo>
                  <a:pt x="125573" y="15254"/>
                </a:lnTo>
                <a:lnTo>
                  <a:pt x="120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93379" y="6074498"/>
            <a:ext cx="468630" cy="353060"/>
          </a:xfrm>
          <a:custGeom>
            <a:avLst/>
            <a:gdLst/>
            <a:ahLst/>
            <a:cxnLst/>
            <a:rect l="l" t="t" r="r" b="b"/>
            <a:pathLst>
              <a:path w="468629" h="353060">
                <a:moveTo>
                  <a:pt x="355859" y="0"/>
                </a:moveTo>
                <a:lnTo>
                  <a:pt x="350836" y="14324"/>
                </a:lnTo>
                <a:lnTo>
                  <a:pt x="371265" y="23190"/>
                </a:lnTo>
                <a:lnTo>
                  <a:pt x="388833" y="35463"/>
                </a:lnTo>
                <a:lnTo>
                  <a:pt x="415390" y="70228"/>
                </a:lnTo>
                <a:lnTo>
                  <a:pt x="431017" y="117132"/>
                </a:lnTo>
                <a:lnTo>
                  <a:pt x="436227" y="174686"/>
                </a:lnTo>
                <a:lnTo>
                  <a:pt x="434919" y="205813"/>
                </a:lnTo>
                <a:lnTo>
                  <a:pt x="424453" y="259484"/>
                </a:lnTo>
                <a:lnTo>
                  <a:pt x="403455" y="301400"/>
                </a:lnTo>
                <a:lnTo>
                  <a:pt x="371503" y="329677"/>
                </a:lnTo>
                <a:lnTo>
                  <a:pt x="351395" y="338583"/>
                </a:lnTo>
                <a:lnTo>
                  <a:pt x="355859" y="352908"/>
                </a:lnTo>
                <a:lnTo>
                  <a:pt x="403996" y="330328"/>
                </a:lnTo>
                <a:lnTo>
                  <a:pt x="439389" y="291238"/>
                </a:lnTo>
                <a:lnTo>
                  <a:pt x="461155" y="238892"/>
                </a:lnTo>
                <a:lnTo>
                  <a:pt x="468410" y="176547"/>
                </a:lnTo>
                <a:lnTo>
                  <a:pt x="466590" y="144194"/>
                </a:lnTo>
                <a:lnTo>
                  <a:pt x="452034" y="86849"/>
                </a:lnTo>
                <a:lnTo>
                  <a:pt x="423163" y="40166"/>
                </a:lnTo>
                <a:lnTo>
                  <a:pt x="381444" y="9237"/>
                </a:lnTo>
                <a:lnTo>
                  <a:pt x="355859" y="0"/>
                </a:lnTo>
                <a:close/>
              </a:path>
              <a:path w="468629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9"/>
                </a:lnTo>
                <a:lnTo>
                  <a:pt x="37416" y="234078"/>
                </a:lnTo>
                <a:lnTo>
                  <a:pt x="32184" y="174686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920316" y="5967476"/>
            <a:ext cx="57505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0715" algn="l"/>
                <a:tab pos="4897120" algn="l"/>
                <a:tab pos="5445760" algn="l"/>
              </a:tabLst>
            </a:pPr>
            <a:r>
              <a:rPr dirty="0" sz="3000" spc="-45">
                <a:latin typeface="Cambria Math"/>
                <a:cs typeface="Cambria Math"/>
              </a:rPr>
              <a:t>A</a:t>
            </a:r>
            <a:r>
              <a:rPr dirty="0" sz="3000">
                <a:latin typeface="Cambria Math"/>
                <a:cs typeface="Cambria Math"/>
              </a:rPr>
              <a:t>GG</a:t>
            </a:r>
            <a:r>
              <a:rPr dirty="0" sz="3000" spc="17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=</a:t>
            </a:r>
            <a:r>
              <a:rPr dirty="0" sz="3000" spc="160">
                <a:latin typeface="Cambria Math"/>
                <a:cs typeface="Cambria Math"/>
              </a:rPr>
              <a:t> </a:t>
            </a:r>
            <a:r>
              <a:rPr dirty="0" sz="3000" spc="-25">
                <a:latin typeface="Cambria Math"/>
                <a:cs typeface="Cambria Math"/>
              </a:rPr>
              <a:t>L</a:t>
            </a:r>
            <a:r>
              <a:rPr dirty="0" sz="3000" spc="-40">
                <a:latin typeface="Cambria Math"/>
                <a:cs typeface="Cambria Math"/>
              </a:rPr>
              <a:t>S</a:t>
            </a:r>
            <a:r>
              <a:rPr dirty="0" sz="3000" spc="-5">
                <a:latin typeface="Cambria Math"/>
                <a:cs typeface="Cambria Math"/>
              </a:rPr>
              <a:t>T</a:t>
            </a:r>
            <a:r>
              <a:rPr dirty="0" sz="3000">
                <a:latin typeface="Cambria Math"/>
                <a:cs typeface="Cambria Math"/>
              </a:rPr>
              <a:t>M(</a:t>
            </a:r>
            <a:r>
              <a:rPr dirty="0" sz="3000" spc="-5">
                <a:latin typeface="Cambria Math"/>
                <a:cs typeface="Cambria Math"/>
              </a:rPr>
              <a:t>[</a:t>
            </a:r>
            <a:r>
              <a:rPr dirty="0" sz="3000" spc="-10">
                <a:latin typeface="Cambria Math"/>
                <a:cs typeface="Cambria Math"/>
              </a:rPr>
              <a:t>h</a:t>
            </a:r>
            <a:r>
              <a:rPr dirty="0" baseline="40404" sz="3300" spc="-7">
                <a:latin typeface="Cambria Math"/>
                <a:cs typeface="Cambria Math"/>
              </a:rPr>
              <a:t>(</a:t>
            </a:r>
            <a:r>
              <a:rPr dirty="0" baseline="40404" sz="3300" spc="-562">
                <a:latin typeface="Cambria Math"/>
                <a:cs typeface="Cambria Math"/>
              </a:rPr>
              <a:t>6</a:t>
            </a:r>
            <a:r>
              <a:rPr dirty="0" baseline="40404" sz="3300" spc="127">
                <a:latin typeface="Cambria Math"/>
                <a:cs typeface="Cambria Math"/>
              </a:rPr>
              <a:t>)</a:t>
            </a: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∀𝑢</a:t>
            </a:r>
            <a:r>
              <a:rPr dirty="0" sz="3000" spc="250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∈</a:t>
            </a:r>
            <a:r>
              <a:rPr dirty="0" sz="3000" spc="17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𝜋	𝑁	𝑣	</a:t>
            </a:r>
            <a:r>
              <a:rPr dirty="0" sz="3000" spc="-5">
                <a:latin typeface="Cambria Math"/>
                <a:cs typeface="Cambria Math"/>
              </a:rPr>
              <a:t>]</a:t>
            </a:r>
            <a:r>
              <a:rPr dirty="0" sz="3000">
                <a:latin typeface="Cambria Math"/>
                <a:cs typeface="Cambria Math"/>
              </a:rPr>
              <a:t>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64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1257" y="4684462"/>
            <a:ext cx="5567420" cy="18992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67814" y="5658103"/>
            <a:ext cx="2120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mbria Math"/>
                <a:cs typeface="Cambria Math"/>
              </a:rPr>
              <a:t>𝑣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8174" y="5685535"/>
            <a:ext cx="2120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mbria Math"/>
                <a:cs typeface="Cambria Math"/>
              </a:rPr>
              <a:t>𝑣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5216" y="347472"/>
            <a:ext cx="6038088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9363" y="1273555"/>
            <a:ext cx="7337425" cy="836294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ct val="77300"/>
              </a:lnSpc>
              <a:spcBef>
                <a:spcPts val="915"/>
              </a:spcBef>
            </a:pPr>
            <a:r>
              <a:rPr dirty="0" sz="3000" spc="-30" b="1">
                <a:solidFill>
                  <a:srgbClr val="D60093"/>
                </a:solidFill>
                <a:latin typeface="Calibri"/>
                <a:cs typeface="Calibri"/>
              </a:rPr>
              <a:t>Key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idea: </a:t>
            </a:r>
            <a:r>
              <a:rPr dirty="0" sz="3000" spc="-20"/>
              <a:t>Generate </a:t>
            </a:r>
            <a:r>
              <a:rPr dirty="0" sz="3000" spc="-5"/>
              <a:t>node embeddings based </a:t>
            </a:r>
            <a:r>
              <a:rPr dirty="0" sz="3000"/>
              <a:t>on  </a:t>
            </a:r>
            <a:r>
              <a:rPr dirty="0" sz="3000" spc="-10">
                <a:solidFill>
                  <a:srgbClr val="D60093"/>
                </a:solidFill>
              </a:rPr>
              <a:t>local</a:t>
            </a:r>
            <a:r>
              <a:rPr dirty="0" sz="3000" spc="-55">
                <a:solidFill>
                  <a:srgbClr val="D60093"/>
                </a:solidFill>
              </a:rPr>
              <a:t> </a:t>
            </a:r>
            <a:r>
              <a:rPr dirty="0" sz="3000" spc="-5">
                <a:solidFill>
                  <a:srgbClr val="D60093"/>
                </a:solidFill>
              </a:rPr>
              <a:t>neighborhoods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64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18108" y="2098548"/>
            <a:ext cx="7835900" cy="25679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625475" marR="471805" indent="-274320">
              <a:lnSpc>
                <a:spcPts val="2500"/>
              </a:lnSpc>
              <a:spcBef>
                <a:spcPts val="7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Nodes </a:t>
            </a:r>
            <a:r>
              <a:rPr dirty="0" sz="2600" spc="-15">
                <a:latin typeface="Calibri"/>
                <a:cs typeface="Calibri"/>
              </a:rPr>
              <a:t>aggregate </a:t>
            </a:r>
            <a:r>
              <a:rPr dirty="0" sz="2600" spc="-10">
                <a:latin typeface="Calibri"/>
                <a:cs typeface="Calibri"/>
              </a:rPr>
              <a:t>“messages” </a:t>
            </a:r>
            <a:r>
              <a:rPr dirty="0" sz="2600" spc="-15">
                <a:latin typeface="Calibri"/>
                <a:cs typeface="Calibri"/>
              </a:rPr>
              <a:t>from </a:t>
            </a:r>
            <a:r>
              <a:rPr dirty="0" sz="2600" spc="-5">
                <a:latin typeface="Calibri"/>
                <a:cs typeface="Calibri"/>
              </a:rPr>
              <a:t>their </a:t>
            </a:r>
            <a:r>
              <a:rPr dirty="0" sz="2600" spc="-70">
                <a:latin typeface="Calibri"/>
                <a:cs typeface="Calibri"/>
              </a:rPr>
              <a:t>neighbors  </a:t>
            </a:r>
            <a:r>
              <a:rPr dirty="0" sz="2600" spc="-5">
                <a:latin typeface="Calibri"/>
                <a:cs typeface="Calibri"/>
              </a:rPr>
              <a:t>using </a:t>
            </a:r>
            <a:r>
              <a:rPr dirty="0" sz="2600" spc="-15">
                <a:latin typeface="Calibri"/>
                <a:cs typeface="Calibri"/>
              </a:rPr>
              <a:t>neural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networks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27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convolutional</a:t>
            </a:r>
            <a:r>
              <a:rPr dirty="0" sz="3000" spc="-7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networks:</a:t>
            </a:r>
            <a:endParaRPr sz="3000">
              <a:latin typeface="Calibri"/>
              <a:cs typeface="Calibri"/>
            </a:endParaRPr>
          </a:p>
          <a:p>
            <a:pPr lvl="1" marL="625475" marR="5080" indent="-274320">
              <a:lnSpc>
                <a:spcPct val="76900"/>
              </a:lnSpc>
              <a:spcBef>
                <a:spcPts val="8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latin typeface="Calibri"/>
                <a:cs typeface="Calibri"/>
              </a:rPr>
              <a:t>Basic </a:t>
            </a:r>
            <a:r>
              <a:rPr dirty="0" sz="2600" spc="-10" b="1">
                <a:latin typeface="Calibri"/>
                <a:cs typeface="Calibri"/>
              </a:rPr>
              <a:t>variant: </a:t>
            </a:r>
            <a:r>
              <a:rPr dirty="0" sz="2600" spc="-25">
                <a:latin typeface="Calibri"/>
                <a:cs typeface="Calibri"/>
              </a:rPr>
              <a:t>Average </a:t>
            </a:r>
            <a:r>
              <a:rPr dirty="0" sz="2600" spc="-5">
                <a:latin typeface="Calibri"/>
                <a:cs typeface="Calibri"/>
              </a:rPr>
              <a:t>neighborhood </a:t>
            </a:r>
            <a:r>
              <a:rPr dirty="0" sz="2600" spc="-10">
                <a:latin typeface="Calibri"/>
                <a:cs typeface="Calibri"/>
              </a:rPr>
              <a:t>information </a:t>
            </a:r>
            <a:r>
              <a:rPr dirty="0" sz="2600" spc="-185">
                <a:latin typeface="Calibri"/>
                <a:cs typeface="Calibri"/>
              </a:rPr>
              <a:t>and  </a:t>
            </a:r>
            <a:r>
              <a:rPr dirty="0" sz="2600" spc="-15">
                <a:latin typeface="Calibri"/>
                <a:cs typeface="Calibri"/>
              </a:rPr>
              <a:t>stack neural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networks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288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GraphSAGE: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3115"/>
              </a:lnSpc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>
                <a:latin typeface="Calibri"/>
                <a:cs typeface="Calibri"/>
              </a:rPr>
              <a:t>Generalized </a:t>
            </a:r>
            <a:r>
              <a:rPr dirty="0" sz="2600" spc="-5">
                <a:latin typeface="Calibri"/>
                <a:cs typeface="Calibri"/>
              </a:rPr>
              <a:t>neighborhood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aggregation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2889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In this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lecture,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we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introduced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12/6/18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64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/>
              <a:t>Basics of </a:t>
            </a:r>
            <a:r>
              <a:rPr dirty="0" spc="-15"/>
              <a:t>neural</a:t>
            </a:r>
            <a:r>
              <a:rPr dirty="0" spc="-35"/>
              <a:t> </a:t>
            </a:r>
            <a:r>
              <a:rPr dirty="0" spc="-15"/>
              <a:t>networks</a:t>
            </a: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Loss, </a:t>
            </a:r>
            <a:r>
              <a:rPr dirty="0" sz="2400" spc="-10">
                <a:latin typeface="Calibri"/>
                <a:cs typeface="Calibri"/>
              </a:rPr>
              <a:t>Optimization, Gradient, </a:t>
            </a:r>
            <a:r>
              <a:rPr dirty="0" sz="2400" spc="-20">
                <a:latin typeface="Calibri"/>
                <a:cs typeface="Calibri"/>
              </a:rPr>
              <a:t>SGD, </a:t>
            </a:r>
            <a:r>
              <a:rPr dirty="0" sz="2400" spc="-15">
                <a:latin typeface="Calibri"/>
                <a:cs typeface="Calibri"/>
              </a:rPr>
              <a:t>non-linearity,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MLP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/>
              <a:t>Idea </a:t>
            </a:r>
            <a:r>
              <a:rPr dirty="0" spc="-25"/>
              <a:t>for </a:t>
            </a:r>
            <a:r>
              <a:rPr dirty="0" spc="-5"/>
              <a:t>Deep Learning </a:t>
            </a:r>
            <a:r>
              <a:rPr dirty="0" spc="-25"/>
              <a:t>for</a:t>
            </a:r>
            <a:r>
              <a:rPr dirty="0" spc="-10"/>
              <a:t> </a:t>
            </a:r>
            <a:r>
              <a:rPr dirty="0" spc="-15"/>
              <a:t>Graphs</a:t>
            </a:r>
          </a:p>
          <a:p>
            <a:pPr lvl="1" marL="552450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Multiple </a:t>
            </a:r>
            <a:r>
              <a:rPr dirty="0" sz="2400" spc="-25">
                <a:latin typeface="Calibri"/>
                <a:cs typeface="Calibri"/>
              </a:rPr>
              <a:t>layers </a:t>
            </a:r>
            <a:r>
              <a:rPr dirty="0" sz="2400" spc="-5">
                <a:latin typeface="Calibri"/>
                <a:cs typeface="Calibri"/>
              </a:rPr>
              <a:t>of embedding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transformation</a:t>
            </a:r>
            <a:endParaRPr sz="24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50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35">
                <a:latin typeface="Calibri"/>
                <a:cs typeface="Calibri"/>
              </a:rPr>
              <a:t>At </a:t>
            </a:r>
            <a:r>
              <a:rPr dirty="0" sz="2400" spc="-10">
                <a:latin typeface="Calibri"/>
                <a:cs typeface="Calibri"/>
              </a:rPr>
              <a:t>every </a:t>
            </a:r>
            <a:r>
              <a:rPr dirty="0" sz="2400" spc="-50">
                <a:latin typeface="Calibri"/>
                <a:cs typeface="Calibri"/>
              </a:rPr>
              <a:t>layer, </a:t>
            </a:r>
            <a:r>
              <a:rPr dirty="0" sz="2400" spc="-5">
                <a:latin typeface="Calibri"/>
                <a:cs typeface="Calibri"/>
              </a:rPr>
              <a:t>use the embedding </a:t>
            </a:r>
            <a:r>
              <a:rPr dirty="0" sz="2400" spc="-15">
                <a:latin typeface="Calibri"/>
                <a:cs typeface="Calibri"/>
              </a:rPr>
              <a:t>at </a:t>
            </a:r>
            <a:r>
              <a:rPr dirty="0" sz="2400" spc="-10">
                <a:latin typeface="Calibri"/>
                <a:cs typeface="Calibri"/>
              </a:rPr>
              <a:t>previous </a:t>
            </a:r>
            <a:r>
              <a:rPr dirty="0" sz="2400" spc="-20">
                <a:latin typeface="Calibri"/>
                <a:cs typeface="Calibri"/>
              </a:rPr>
              <a:t>layer </a:t>
            </a:r>
            <a:r>
              <a:rPr dirty="0" sz="2400" spc="-505">
                <a:latin typeface="Calibri"/>
                <a:cs typeface="Calibri"/>
              </a:rPr>
              <a:t>as  </a:t>
            </a:r>
            <a:r>
              <a:rPr dirty="0" sz="2400" spc="-5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input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Aggregation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0">
                <a:latin typeface="Calibri"/>
                <a:cs typeface="Calibri"/>
              </a:rPr>
              <a:t>neighbors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5">
                <a:latin typeface="Calibri"/>
                <a:cs typeface="Calibri"/>
              </a:rPr>
              <a:t>self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5"/>
              <a:t>Graph </a:t>
            </a:r>
            <a:r>
              <a:rPr dirty="0" spc="-10"/>
              <a:t>Convolutional</a:t>
            </a:r>
            <a:r>
              <a:rPr dirty="0" spc="-65"/>
              <a:t> </a:t>
            </a:r>
            <a:r>
              <a:rPr dirty="0" spc="-10"/>
              <a:t>Network</a:t>
            </a: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Mean </a:t>
            </a:r>
            <a:r>
              <a:rPr dirty="0" sz="2400" spc="-10">
                <a:latin typeface="Calibri"/>
                <a:cs typeface="Calibri"/>
              </a:rPr>
              <a:t>aggregation; 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10">
                <a:latin typeface="Calibri"/>
                <a:cs typeface="Calibri"/>
              </a:rPr>
              <a:t>expressed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matrix</a:t>
            </a:r>
            <a:r>
              <a:rPr dirty="0" sz="2400" spc="-15">
                <a:latin typeface="Calibri"/>
                <a:cs typeface="Calibri"/>
              </a:rPr>
              <a:t> form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5"/>
              <a:t>GraphSAGE: more flexible</a:t>
            </a:r>
            <a:r>
              <a:rPr dirty="0" spc="10"/>
              <a:t> </a:t>
            </a:r>
            <a:r>
              <a:rPr dirty="0" spc="-15"/>
              <a:t>aggregation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2026-10-20T23:49:00Z</dcterms:created>
  <dcterms:modified xsi:type="dcterms:W3CDTF">2026-10-20T23:49:00Z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2021-02-23T00:00:00Z</vt:filetime>
  </property>
  <property fmtid="{D5CDD505-2E9C-101B-9397-08002B2CF9AE}" pid="3" name="LastSaved">
    <vt:filetime>2026-10-20T00:00:00Z</vt:filetime>
  </property>
</Properties>
</file>