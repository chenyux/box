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B482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B482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B482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341" y="1348740"/>
            <a:ext cx="8259316" cy="1491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B482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16813" y="2467355"/>
            <a:ext cx="5080000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://cs224w.stanford.edu/" TargetMode="External"/><Relationship Id="rId5" Type="http://schemas.openxmlformats.org/officeDocument/2006/relationships/image" Target="../media/image9.jpg"/><Relationship Id="rId6" Type="http://schemas.openxmlformats.org/officeDocument/2006/relationships/image" Target="../media/image1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hyperlink" Target="http://cs224w.stanford.edu/" TargetMode="External"/><Relationship Id="rId5" Type="http://schemas.openxmlformats.org/officeDocument/2006/relationships/image" Target="../media/image49.jpg"/><Relationship Id="rId6" Type="http://schemas.openxmlformats.org/officeDocument/2006/relationships/image" Target="../media/image5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54.jpg"/><Relationship Id="rId4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jpg"/><Relationship Id="rId4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jpg"/><Relationship Id="rId4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jpg"/><Relationship Id="rId4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jpg"/><Relationship Id="rId4" Type="http://schemas.openxmlformats.org/officeDocument/2006/relationships/image" Target="../media/image65.png"/><Relationship Id="rId5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hyperlink" Target="http://cs224w.stanford.edu/" TargetMode="External"/><Relationship Id="rId5" Type="http://schemas.openxmlformats.org/officeDocument/2006/relationships/image" Target="../media/image68.jpg"/><Relationship Id="rId6" Type="http://schemas.openxmlformats.org/officeDocument/2006/relationships/image" Target="../media/image6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jpg"/><Relationship Id="rId4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8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hyperlink" Target="http://cs224w.stanford.edu/" TargetMode="Externa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png"/><Relationship Id="rId3" Type="http://schemas.openxmlformats.org/officeDocument/2006/relationships/hyperlink" Target="http://cs224w.stanford.edu/" TargetMode="Externa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2526792"/>
            <a:ext cx="7208520" cy="1837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44016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2325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G</a:t>
            </a:r>
            <a:r>
              <a:rPr dirty="0">
                <a:solidFill>
                  <a:srgbClr val="000000"/>
                </a:solidFill>
              </a:rPr>
              <a:t>o</a:t>
            </a:r>
            <a:r>
              <a:rPr dirty="0" spc="-10">
                <a:solidFill>
                  <a:srgbClr val="000000"/>
                </a:solidFill>
              </a:rPr>
              <a:t>a</a:t>
            </a:r>
            <a:r>
              <a:rPr dirty="0" spc="0">
                <a:solidFill>
                  <a:srgbClr val="000000"/>
                </a:solidFill>
              </a:rPr>
              <a:t>l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7741284" cy="40005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So </a:t>
            </a:r>
            <a:r>
              <a:rPr dirty="0" sz="2800" spc="-25">
                <a:latin typeface="Calibri"/>
                <a:cs typeface="Calibri"/>
              </a:rPr>
              <a:t>far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only handle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5">
                <a:latin typeface="Calibri"/>
                <a:cs typeface="Calibri"/>
              </a:rPr>
              <a:t>with one </a:t>
            </a:r>
            <a:r>
              <a:rPr dirty="0" sz="2800" spc="-10">
                <a:latin typeface="Calibri"/>
                <a:cs typeface="Calibri"/>
              </a:rPr>
              <a:t>edge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105">
                <a:latin typeface="Calibri"/>
                <a:cs typeface="Calibri"/>
              </a:rPr>
              <a:t>type.</a:t>
            </a:r>
            <a:endParaRPr sz="2800">
              <a:latin typeface="Calibri"/>
              <a:cs typeface="Calibri"/>
            </a:endParaRPr>
          </a:p>
          <a:p>
            <a:pPr marL="625475" marR="450850" indent="-274320">
              <a:lnSpc>
                <a:spcPts val="329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handle </a:t>
            </a:r>
            <a:r>
              <a:rPr dirty="0" sz="2800" spc="-10">
                <a:latin typeface="Calibri"/>
                <a:cs typeface="Calibri"/>
              </a:rPr>
              <a:t>(directed)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80">
                <a:latin typeface="Calibri"/>
                <a:cs typeface="Calibri"/>
              </a:rPr>
              <a:t>multiple  </a:t>
            </a:r>
            <a:r>
              <a:rPr dirty="0" sz="2800" spc="-10">
                <a:latin typeface="Calibri"/>
                <a:cs typeface="Calibri"/>
              </a:rPr>
              <a:t>edge </a:t>
            </a:r>
            <a:r>
              <a:rPr dirty="0" sz="2800" spc="-5">
                <a:latin typeface="Calibri"/>
                <a:cs typeface="Calibri"/>
              </a:rPr>
              <a:t>types (a.k.a </a:t>
            </a:r>
            <a:r>
              <a:rPr dirty="0" sz="2800" spc="-15">
                <a:latin typeface="Calibri"/>
                <a:cs typeface="Calibri"/>
              </a:rPr>
              <a:t>heterogeneous</a:t>
            </a:r>
            <a:r>
              <a:rPr dirty="0" sz="2800" spc="-10">
                <a:latin typeface="Calibri"/>
                <a:cs typeface="Calibri"/>
              </a:rPr>
              <a:t> graphs)?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Heterogeneous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Relational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GCNs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Knowledge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60">
                <a:latin typeface="Calibri"/>
                <a:cs typeface="Calibri"/>
              </a:rPr>
              <a:t>KG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Completion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6847" y="6694423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4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4672" y="2971800"/>
            <a:ext cx="7089648" cy="2005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6083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98356" y="1946172"/>
            <a:ext cx="1788795" cy="376555"/>
          </a:xfrm>
          <a:custGeom>
            <a:avLst/>
            <a:gdLst/>
            <a:ahLst/>
            <a:cxnLst/>
            <a:rect l="l" t="t" r="r" b="b"/>
            <a:pathLst>
              <a:path w="1788795" h="376555">
                <a:moveTo>
                  <a:pt x="1668311" y="0"/>
                </a:moveTo>
                <a:lnTo>
                  <a:pt x="1662953" y="15279"/>
                </a:lnTo>
                <a:lnTo>
                  <a:pt x="1684744" y="24736"/>
                </a:lnTo>
                <a:lnTo>
                  <a:pt x="1703484" y="37826"/>
                </a:lnTo>
                <a:lnTo>
                  <a:pt x="1731811" y="74909"/>
                </a:lnTo>
                <a:lnTo>
                  <a:pt x="1748480" y="124940"/>
                </a:lnTo>
                <a:lnTo>
                  <a:pt x="1754036" y="186331"/>
                </a:lnTo>
                <a:lnTo>
                  <a:pt x="1752641" y="219533"/>
                </a:lnTo>
                <a:lnTo>
                  <a:pt x="1741479" y="276782"/>
                </a:lnTo>
                <a:lnTo>
                  <a:pt x="1719080" y="321493"/>
                </a:lnTo>
                <a:lnTo>
                  <a:pt x="1684998" y="351655"/>
                </a:lnTo>
                <a:lnTo>
                  <a:pt x="1663548" y="361156"/>
                </a:lnTo>
                <a:lnTo>
                  <a:pt x="1668311" y="376435"/>
                </a:lnTo>
                <a:lnTo>
                  <a:pt x="1719656" y="352349"/>
                </a:lnTo>
                <a:lnTo>
                  <a:pt x="1757409" y="310653"/>
                </a:lnTo>
                <a:lnTo>
                  <a:pt x="1780626" y="254818"/>
                </a:lnTo>
                <a:lnTo>
                  <a:pt x="1788365" y="188316"/>
                </a:lnTo>
                <a:lnTo>
                  <a:pt x="1786424" y="153807"/>
                </a:lnTo>
                <a:lnTo>
                  <a:pt x="1770897" y="92638"/>
                </a:lnTo>
                <a:lnTo>
                  <a:pt x="1740102" y="42843"/>
                </a:lnTo>
                <a:lnTo>
                  <a:pt x="1695602" y="9853"/>
                </a:lnTo>
                <a:lnTo>
                  <a:pt x="1668311" y="0"/>
                </a:lnTo>
                <a:close/>
              </a:path>
              <a:path w="1788795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3571" y="1348740"/>
            <a:ext cx="645985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A </a:t>
            </a:r>
            <a:r>
              <a:rPr dirty="0" spc="-15">
                <a:solidFill>
                  <a:srgbClr val="000000"/>
                </a:solidFill>
              </a:rPr>
              <a:t>heterogeneous </a:t>
            </a:r>
            <a:r>
              <a:rPr dirty="0" spc="-20">
                <a:solidFill>
                  <a:srgbClr val="000000"/>
                </a:solidFill>
              </a:rPr>
              <a:t>graph </a:t>
            </a:r>
            <a:r>
              <a:rPr dirty="0">
                <a:solidFill>
                  <a:srgbClr val="000000"/>
                </a:solidFill>
              </a:rPr>
              <a:t>is </a:t>
            </a:r>
            <a:r>
              <a:rPr dirty="0" spc="-5">
                <a:solidFill>
                  <a:srgbClr val="000000"/>
                </a:solidFill>
              </a:rPr>
              <a:t>defined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as</a:t>
            </a:r>
          </a:p>
          <a:p>
            <a:pPr marL="2646680">
              <a:lnSpc>
                <a:spcPts val="3815"/>
              </a:lnSpc>
              <a:tabLst>
                <a:tab pos="3617595" algn="l"/>
              </a:tabLst>
            </a:pP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𝑮</a:t>
            </a:r>
            <a:r>
              <a:rPr dirty="0" spc="1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=	</a:t>
            </a:r>
            <a:r>
              <a:rPr dirty="0" spc="-5" b="0">
                <a:solidFill>
                  <a:srgbClr val="000000"/>
                </a:solidFill>
                <a:latin typeface="Cambria Math"/>
                <a:cs typeface="Cambria Math"/>
              </a:rPr>
              <a:t>𝑽,</a:t>
            </a:r>
            <a:r>
              <a:rPr dirty="0" spc="-19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𝑬,</a:t>
            </a:r>
            <a:r>
              <a:rPr dirty="0" spc="-19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mbria Math"/>
                <a:cs typeface="Cambria Math"/>
              </a:rPr>
              <a:t>𝑹,</a:t>
            </a:r>
            <a:r>
              <a:rPr dirty="0" spc="-19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𝑻</a:t>
            </a:r>
          </a:p>
        </p:txBody>
      </p:sp>
      <p:sp>
        <p:nvSpPr>
          <p:cNvPr id="5" name="object 5"/>
          <p:cNvSpPr/>
          <p:nvPr/>
        </p:nvSpPr>
        <p:spPr>
          <a:xfrm>
            <a:off x="4770508" y="3026280"/>
            <a:ext cx="1308100" cy="429895"/>
          </a:xfrm>
          <a:custGeom>
            <a:avLst/>
            <a:gdLst/>
            <a:ahLst/>
            <a:cxnLst/>
            <a:rect l="l" t="t" r="r" b="b"/>
            <a:pathLst>
              <a:path w="1308100" h="429895">
                <a:moveTo>
                  <a:pt x="1194937" y="0"/>
                </a:moveTo>
                <a:lnTo>
                  <a:pt x="1190597" y="14237"/>
                </a:lnTo>
                <a:lnTo>
                  <a:pt x="1210331" y="24471"/>
                </a:lnTo>
                <a:lnTo>
                  <a:pt x="1227515" y="39371"/>
                </a:lnTo>
                <a:lnTo>
                  <a:pt x="1254232" y="83171"/>
                </a:lnTo>
                <a:lnTo>
                  <a:pt x="1270446" y="142683"/>
                </a:lnTo>
                <a:lnTo>
                  <a:pt x="1275850" y="214957"/>
                </a:lnTo>
                <a:lnTo>
                  <a:pt x="1274499" y="252609"/>
                </a:lnTo>
                <a:lnTo>
                  <a:pt x="1263690" y="318372"/>
                </a:lnTo>
                <a:lnTo>
                  <a:pt x="1242149" y="370679"/>
                </a:lnTo>
                <a:lnTo>
                  <a:pt x="1210331" y="405102"/>
                </a:lnTo>
                <a:lnTo>
                  <a:pt x="1190597" y="415330"/>
                </a:lnTo>
                <a:lnTo>
                  <a:pt x="1194937" y="429568"/>
                </a:lnTo>
                <a:lnTo>
                  <a:pt x="1242903" y="404000"/>
                </a:lnTo>
                <a:lnTo>
                  <a:pt x="1278454" y="355773"/>
                </a:lnTo>
                <a:lnTo>
                  <a:pt x="1300462" y="290748"/>
                </a:lnTo>
                <a:lnTo>
                  <a:pt x="1307799" y="214783"/>
                </a:lnTo>
                <a:lnTo>
                  <a:pt x="1305964" y="175434"/>
                </a:lnTo>
                <a:lnTo>
                  <a:pt x="1291292" y="104939"/>
                </a:lnTo>
                <a:lnTo>
                  <a:pt x="1262230" y="46848"/>
                </a:lnTo>
                <a:lnTo>
                  <a:pt x="1220472" y="9951"/>
                </a:lnTo>
                <a:lnTo>
                  <a:pt x="1194937" y="0"/>
                </a:lnTo>
                <a:close/>
              </a:path>
              <a:path w="1308100" h="429895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19"/>
                </a:lnTo>
                <a:lnTo>
                  <a:pt x="0" y="214783"/>
                </a:lnTo>
                <a:lnTo>
                  <a:pt x="1834" y="254133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3" y="287080"/>
                </a:lnTo>
                <a:lnTo>
                  <a:pt x="31955" y="214783"/>
                </a:lnTo>
                <a:lnTo>
                  <a:pt x="33300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75160" y="3622473"/>
            <a:ext cx="537210" cy="329565"/>
          </a:xfrm>
          <a:custGeom>
            <a:avLst/>
            <a:gdLst/>
            <a:ahLst/>
            <a:cxnLst/>
            <a:rect l="l" t="t" r="r" b="b"/>
            <a:pathLst>
              <a:path w="537210" h="329564">
                <a:moveTo>
                  <a:pt x="431835" y="0"/>
                </a:moveTo>
                <a:lnTo>
                  <a:pt x="427146" y="13370"/>
                </a:lnTo>
                <a:lnTo>
                  <a:pt x="446214" y="21645"/>
                </a:lnTo>
                <a:lnTo>
                  <a:pt x="462611" y="33099"/>
                </a:lnTo>
                <a:lnTo>
                  <a:pt x="487398" y="65547"/>
                </a:lnTo>
                <a:lnTo>
                  <a:pt x="501982" y="109324"/>
                </a:lnTo>
                <a:lnTo>
                  <a:pt x="506844" y="163041"/>
                </a:lnTo>
                <a:lnTo>
                  <a:pt x="505623" y="192092"/>
                </a:lnTo>
                <a:lnTo>
                  <a:pt x="495856" y="242185"/>
                </a:lnTo>
                <a:lnTo>
                  <a:pt x="476257" y="281307"/>
                </a:lnTo>
                <a:lnTo>
                  <a:pt x="446436" y="307699"/>
                </a:lnTo>
                <a:lnTo>
                  <a:pt x="427667" y="316012"/>
                </a:lnTo>
                <a:lnTo>
                  <a:pt x="431835" y="329382"/>
                </a:lnTo>
                <a:lnTo>
                  <a:pt x="476763" y="308307"/>
                </a:lnTo>
                <a:lnTo>
                  <a:pt x="509795" y="271823"/>
                </a:lnTo>
                <a:lnTo>
                  <a:pt x="530111" y="222966"/>
                </a:lnTo>
                <a:lnTo>
                  <a:pt x="536883" y="164778"/>
                </a:lnTo>
                <a:lnTo>
                  <a:pt x="535185" y="134582"/>
                </a:lnTo>
                <a:lnTo>
                  <a:pt x="521597" y="81059"/>
                </a:lnTo>
                <a:lnTo>
                  <a:pt x="494652" y="37488"/>
                </a:lnTo>
                <a:lnTo>
                  <a:pt x="455715" y="8622"/>
                </a:lnTo>
                <a:lnTo>
                  <a:pt x="431835" y="0"/>
                </a:lnTo>
                <a:close/>
              </a:path>
              <a:path w="537210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8"/>
                </a:lnTo>
                <a:lnTo>
                  <a:pt x="1693" y="195039"/>
                </a:lnTo>
                <a:lnTo>
                  <a:pt x="15237" y="248561"/>
                </a:lnTo>
                <a:lnTo>
                  <a:pt x="42117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6" y="316012"/>
                </a:lnTo>
                <a:lnTo>
                  <a:pt x="90447" y="307699"/>
                </a:lnTo>
                <a:lnTo>
                  <a:pt x="74250" y="296131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7" y="86193"/>
                </a:lnTo>
                <a:lnTo>
                  <a:pt x="60658" y="47733"/>
                </a:lnTo>
                <a:lnTo>
                  <a:pt x="90740" y="21645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52026" y="2280411"/>
            <a:ext cx="6012815" cy="219900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15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Nodes with node types </a:t>
            </a:r>
            <a:r>
              <a:rPr dirty="0" sz="2800" spc="40">
                <a:latin typeface="Cambria Math"/>
                <a:cs typeface="Cambria Math"/>
              </a:rPr>
              <a:t>𝑣</a:t>
            </a:r>
            <a:r>
              <a:rPr dirty="0" baseline="-16666" sz="3000" spc="60">
                <a:latin typeface="Cambria Math"/>
                <a:cs typeface="Cambria Math"/>
              </a:rPr>
              <a:t>!  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-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𝑉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105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4146550" algn="l"/>
                <a:tab pos="5455920" algn="l"/>
              </a:tabLst>
            </a:pPr>
            <a:r>
              <a:rPr dirty="0" sz="2800" spc="-20">
                <a:solidFill>
                  <a:srgbClr val="008000"/>
                </a:solidFill>
                <a:latin typeface="Calibri"/>
                <a:cs typeface="Calibri"/>
              </a:rPr>
              <a:t>Edges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with</a:t>
            </a:r>
            <a:r>
              <a:rPr dirty="0" sz="2800" spc="5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008000"/>
                </a:solidFill>
                <a:latin typeface="Calibri"/>
                <a:cs typeface="Calibri"/>
              </a:rPr>
              <a:t>relation</a:t>
            </a:r>
            <a:r>
              <a:rPr dirty="0" sz="2800" spc="1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types	</a:t>
            </a:r>
            <a:r>
              <a:rPr dirty="0" sz="2800" spc="75">
                <a:latin typeface="Cambria Math"/>
                <a:cs typeface="Cambria Math"/>
              </a:rPr>
              <a:t>𝑣</a:t>
            </a:r>
            <a:r>
              <a:rPr dirty="0" baseline="-15277" sz="3000" spc="112">
                <a:latin typeface="Cambria Math"/>
                <a:cs typeface="Cambria Math"/>
              </a:rPr>
              <a:t>!</a:t>
            </a:r>
            <a:r>
              <a:rPr dirty="0" sz="2800" spc="75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65">
                <a:latin typeface="Cambria Math"/>
                <a:cs typeface="Cambria Math"/>
              </a:rPr>
              <a:t>𝑣</a:t>
            </a:r>
            <a:r>
              <a:rPr dirty="0" baseline="-15277" sz="3000" spc="-97">
                <a:latin typeface="Cambria Math"/>
                <a:cs typeface="Cambria Math"/>
              </a:rPr>
              <a:t>"	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𝐸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9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2239010" algn="l"/>
              </a:tabLst>
            </a:pPr>
            <a:r>
              <a:rPr dirty="0" sz="2800" spc="-5">
                <a:solidFill>
                  <a:srgbClr val="B48200"/>
                </a:solidFill>
                <a:latin typeface="Calibri"/>
                <a:cs typeface="Calibri"/>
              </a:rPr>
              <a:t>Node</a:t>
            </a:r>
            <a:r>
              <a:rPr dirty="0" sz="2800" spc="0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B48200"/>
                </a:solidFill>
                <a:latin typeface="Calibri"/>
                <a:cs typeface="Calibri"/>
              </a:rPr>
              <a:t>type</a:t>
            </a:r>
            <a:r>
              <a:rPr dirty="0" sz="2800" spc="0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𝑇	</a:t>
            </a:r>
            <a:r>
              <a:rPr dirty="0" sz="2800" spc="40">
                <a:latin typeface="Cambria Math"/>
                <a:cs typeface="Cambria Math"/>
              </a:rPr>
              <a:t>𝑣</a:t>
            </a:r>
            <a:r>
              <a:rPr dirty="0" baseline="-16666" sz="3000" spc="60">
                <a:latin typeface="Cambria Math"/>
                <a:cs typeface="Cambria Math"/>
              </a:rPr>
              <a:t>!</a:t>
            </a:r>
            <a:endParaRPr baseline="-16666" sz="30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Relation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type </a:t>
            </a:r>
            <a:r>
              <a:rPr dirty="0" sz="2800">
                <a:latin typeface="Cambria Math"/>
                <a:cs typeface="Cambria Math"/>
              </a:rPr>
              <a:t>𝑟  ∈</a:t>
            </a:r>
            <a:r>
              <a:rPr dirty="0" sz="2800" spc="-28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072" y="405384"/>
            <a:ext cx="8007096" cy="423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84724" y="2114983"/>
            <a:ext cx="2718262" cy="21181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2088" y="4583684"/>
            <a:ext cx="3860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Biomedical </a:t>
            </a:r>
            <a:r>
              <a:rPr dirty="0" sz="2400" spc="-10" b="1">
                <a:latin typeface="Calibri"/>
                <a:cs typeface="Calibri"/>
              </a:rPr>
              <a:t>Knowledge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7469" y="4410557"/>
            <a:ext cx="3303270" cy="158750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522605">
              <a:lnSpc>
                <a:spcPct val="100000"/>
              </a:lnSpc>
              <a:spcBef>
                <a:spcPts val="1460"/>
              </a:spcBef>
            </a:pPr>
            <a:r>
              <a:rPr dirty="0" sz="2400" spc="-25" b="1">
                <a:latin typeface="Calibri"/>
                <a:cs typeface="Calibri"/>
              </a:rPr>
              <a:t>Event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500" spc="-10" b="1">
                <a:solidFill>
                  <a:srgbClr val="C00000"/>
                </a:solidFill>
                <a:latin typeface="Calibri"/>
                <a:cs typeface="Calibri"/>
              </a:rPr>
              <a:t>Example </a:t>
            </a:r>
            <a:r>
              <a:rPr dirty="0" sz="1500" spc="-5" b="1">
                <a:solidFill>
                  <a:srgbClr val="C00000"/>
                </a:solidFill>
                <a:latin typeface="Calibri"/>
                <a:cs typeface="Calibri"/>
              </a:rPr>
              <a:t>node:</a:t>
            </a:r>
            <a:r>
              <a:rPr dirty="0" sz="15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500" spc="-5" b="1">
                <a:solidFill>
                  <a:srgbClr val="C00000"/>
                </a:solidFill>
                <a:latin typeface="Calibri"/>
                <a:cs typeface="Calibri"/>
              </a:rPr>
              <a:t>SFO</a:t>
            </a:r>
            <a:endParaRPr sz="1500">
              <a:latin typeface="Calibri"/>
              <a:cs typeface="Calibri"/>
            </a:endParaRPr>
          </a:p>
          <a:p>
            <a:pPr marL="12700" marR="483870">
              <a:lnSpc>
                <a:spcPct val="100000"/>
              </a:lnSpc>
            </a:pPr>
            <a:r>
              <a:rPr dirty="0" sz="1500" spc="-10" b="1">
                <a:solidFill>
                  <a:srgbClr val="0070C0"/>
                </a:solidFill>
                <a:latin typeface="Calibri"/>
                <a:cs typeface="Calibri"/>
              </a:rPr>
              <a:t>Example edge: (UA689, </a:t>
            </a:r>
            <a:r>
              <a:rPr dirty="0" sz="1500" spc="-5" b="1">
                <a:solidFill>
                  <a:srgbClr val="0070C0"/>
                </a:solidFill>
                <a:latin typeface="Calibri"/>
                <a:cs typeface="Calibri"/>
              </a:rPr>
              <a:t>Origin, LAX)  </a:t>
            </a:r>
            <a:r>
              <a:rPr dirty="0" sz="1500" spc="-10" b="1">
                <a:solidFill>
                  <a:srgbClr val="B48200"/>
                </a:solidFill>
                <a:latin typeface="Calibri"/>
                <a:cs typeface="Calibri"/>
              </a:rPr>
              <a:t>Example </a:t>
            </a:r>
            <a:r>
              <a:rPr dirty="0" sz="1500" spc="-5" b="1">
                <a:solidFill>
                  <a:srgbClr val="B48200"/>
                </a:solidFill>
                <a:latin typeface="Calibri"/>
                <a:cs typeface="Calibri"/>
              </a:rPr>
              <a:t>node type:</a:t>
            </a:r>
            <a:r>
              <a:rPr dirty="0" sz="1500" spc="-45" b="1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B48200"/>
                </a:solidFill>
                <a:latin typeface="Calibri"/>
                <a:cs typeface="Calibri"/>
              </a:rPr>
              <a:t>Flight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 b="1">
                <a:solidFill>
                  <a:srgbClr val="479249"/>
                </a:solidFill>
                <a:latin typeface="Calibri"/>
                <a:cs typeface="Calibri"/>
              </a:rPr>
              <a:t>Example edge </a:t>
            </a:r>
            <a:r>
              <a:rPr dirty="0" sz="1500" spc="-5" b="1">
                <a:solidFill>
                  <a:srgbClr val="479249"/>
                </a:solidFill>
                <a:latin typeface="Calibri"/>
                <a:cs typeface="Calibri"/>
              </a:rPr>
              <a:t>type </a:t>
            </a:r>
            <a:r>
              <a:rPr dirty="0" sz="1500" spc="-10" b="1">
                <a:solidFill>
                  <a:srgbClr val="479249"/>
                </a:solidFill>
                <a:latin typeface="Calibri"/>
                <a:cs typeface="Calibri"/>
              </a:rPr>
              <a:t>(relation):</a:t>
            </a:r>
            <a:r>
              <a:rPr dirty="0" sz="1500" spc="25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479249"/>
                </a:solidFill>
                <a:latin typeface="Calibri"/>
                <a:cs typeface="Calibri"/>
              </a:rPr>
              <a:t>Destination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308" y="5057647"/>
            <a:ext cx="427228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C00000"/>
                </a:solidFill>
                <a:latin typeface="Calibri"/>
                <a:cs typeface="Calibri"/>
              </a:rPr>
              <a:t>Example </a:t>
            </a:r>
            <a:r>
              <a:rPr dirty="0" sz="1500" spc="-5" b="1">
                <a:solidFill>
                  <a:srgbClr val="C00000"/>
                </a:solidFill>
                <a:latin typeface="Calibri"/>
                <a:cs typeface="Calibri"/>
              </a:rPr>
              <a:t>node:</a:t>
            </a:r>
            <a:r>
              <a:rPr dirty="0" sz="15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C00000"/>
                </a:solidFill>
                <a:latin typeface="Calibri"/>
                <a:cs typeface="Calibri"/>
              </a:rPr>
              <a:t>Migraine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500" spc="-10" b="1">
                <a:solidFill>
                  <a:srgbClr val="0070C0"/>
                </a:solidFill>
                <a:latin typeface="Calibri"/>
                <a:cs typeface="Calibri"/>
              </a:rPr>
              <a:t>Example edge: (fulvestrant, </a:t>
            </a:r>
            <a:r>
              <a:rPr dirty="0" sz="1500" spc="-20" b="1">
                <a:solidFill>
                  <a:srgbClr val="0070C0"/>
                </a:solidFill>
                <a:latin typeface="Calibri"/>
                <a:cs typeface="Calibri"/>
              </a:rPr>
              <a:t>Treats, </a:t>
            </a:r>
            <a:r>
              <a:rPr dirty="0" sz="1500" spc="-10" b="1">
                <a:solidFill>
                  <a:srgbClr val="0070C0"/>
                </a:solidFill>
                <a:latin typeface="Calibri"/>
                <a:cs typeface="Calibri"/>
              </a:rPr>
              <a:t>Breast </a:t>
            </a:r>
            <a:r>
              <a:rPr dirty="0" sz="1500" spc="-5" b="1">
                <a:solidFill>
                  <a:srgbClr val="0070C0"/>
                </a:solidFill>
                <a:latin typeface="Calibri"/>
                <a:cs typeface="Calibri"/>
              </a:rPr>
              <a:t>Neoplasms)  </a:t>
            </a:r>
            <a:r>
              <a:rPr dirty="0" sz="1500" spc="-10" b="1">
                <a:solidFill>
                  <a:srgbClr val="B48200"/>
                </a:solidFill>
                <a:latin typeface="Calibri"/>
                <a:cs typeface="Calibri"/>
              </a:rPr>
              <a:t>Example </a:t>
            </a:r>
            <a:r>
              <a:rPr dirty="0" sz="1500" spc="-5" b="1">
                <a:solidFill>
                  <a:srgbClr val="B48200"/>
                </a:solidFill>
                <a:latin typeface="Calibri"/>
                <a:cs typeface="Calibri"/>
              </a:rPr>
              <a:t>node type:</a:t>
            </a:r>
            <a:r>
              <a:rPr dirty="0" sz="1500" spc="-35" b="1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B48200"/>
                </a:solidFill>
                <a:latin typeface="Calibri"/>
                <a:cs typeface="Calibri"/>
              </a:rPr>
              <a:t>Protein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500" spc="-10" b="1">
                <a:solidFill>
                  <a:srgbClr val="479249"/>
                </a:solidFill>
                <a:latin typeface="Calibri"/>
                <a:cs typeface="Calibri"/>
              </a:rPr>
              <a:t>Example edge </a:t>
            </a:r>
            <a:r>
              <a:rPr dirty="0" sz="1500" spc="-5" b="1">
                <a:solidFill>
                  <a:srgbClr val="479249"/>
                </a:solidFill>
                <a:latin typeface="Calibri"/>
                <a:cs typeface="Calibri"/>
              </a:rPr>
              <a:t>type </a:t>
            </a:r>
            <a:r>
              <a:rPr dirty="0" sz="1500" spc="-10" b="1">
                <a:solidFill>
                  <a:srgbClr val="479249"/>
                </a:solidFill>
                <a:latin typeface="Calibri"/>
                <a:cs typeface="Calibri"/>
              </a:rPr>
              <a:t>(relation): </a:t>
            </a:r>
            <a:r>
              <a:rPr dirty="0" sz="1500" spc="-5" b="1">
                <a:solidFill>
                  <a:srgbClr val="479249"/>
                </a:solidFill>
                <a:latin typeface="Calibri"/>
                <a:cs typeface="Calibri"/>
              </a:rPr>
              <a:t>Causes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244" y="1895152"/>
            <a:ext cx="4945423" cy="2405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66369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9119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28638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000000"/>
                </a:solidFill>
              </a:rPr>
              <a:t>We </a:t>
            </a:r>
            <a:r>
              <a:rPr dirty="0">
                <a:solidFill>
                  <a:srgbClr val="000000"/>
                </a:solidFill>
              </a:rPr>
              <a:t>will </a:t>
            </a:r>
            <a:r>
              <a:rPr dirty="0" spc="-20">
                <a:solidFill>
                  <a:srgbClr val="000000"/>
                </a:solidFill>
              </a:rPr>
              <a:t>extend </a:t>
            </a:r>
            <a:r>
              <a:rPr dirty="0" spc="-5">
                <a:solidFill>
                  <a:srgbClr val="00B050"/>
                </a:solidFill>
              </a:rPr>
              <a:t>GCN </a:t>
            </a:r>
            <a:r>
              <a:rPr dirty="0" spc="-15">
                <a:solidFill>
                  <a:srgbClr val="000000"/>
                </a:solidFill>
              </a:rPr>
              <a:t>to </a:t>
            </a:r>
            <a:r>
              <a:rPr dirty="0" spc="-10">
                <a:solidFill>
                  <a:srgbClr val="000000"/>
                </a:solidFill>
              </a:rPr>
              <a:t>handle </a:t>
            </a:r>
            <a:r>
              <a:rPr dirty="0" spc="-15">
                <a:solidFill>
                  <a:srgbClr val="000000"/>
                </a:solidFill>
              </a:rPr>
              <a:t>heterogeneous  </a:t>
            </a:r>
            <a:r>
              <a:rPr dirty="0" spc="-20">
                <a:solidFill>
                  <a:srgbClr val="000000"/>
                </a:solidFill>
              </a:rPr>
              <a:t>graphs </a:t>
            </a:r>
            <a:r>
              <a:rPr dirty="0">
                <a:solidFill>
                  <a:srgbClr val="000000"/>
                </a:solidFill>
              </a:rPr>
              <a:t>with </a:t>
            </a:r>
            <a:r>
              <a:rPr dirty="0" spc="-5">
                <a:solidFill>
                  <a:srgbClr val="000000"/>
                </a:solidFill>
              </a:rPr>
              <a:t>multiple </a:t>
            </a:r>
            <a:r>
              <a:rPr dirty="0" spc="-10">
                <a:solidFill>
                  <a:srgbClr val="000000"/>
                </a:solidFill>
              </a:rPr>
              <a:t>edge/relation</a:t>
            </a:r>
            <a:r>
              <a:rPr dirty="0" spc="-4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types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start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with 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directed graph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dirty="0" spc="-5">
                <a:solidFill>
                  <a:srgbClr val="000000"/>
                </a:solidFill>
              </a:rPr>
              <a:t>one</a:t>
            </a:r>
            <a:r>
              <a:rPr dirty="0" spc="100">
                <a:solidFill>
                  <a:srgbClr val="000000"/>
                </a:solidFill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899155"/>
            <a:ext cx="7732395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run </a:t>
            </a:r>
            <a:r>
              <a:rPr dirty="0" sz="2800" spc="-10">
                <a:latin typeface="Calibri"/>
                <a:cs typeface="Calibri"/>
              </a:rPr>
              <a:t>GCN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update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65">
                <a:latin typeface="Calibri"/>
                <a:cs typeface="Calibri"/>
              </a:rPr>
              <a:t>representation 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20" b="1">
                <a:solidFill>
                  <a:srgbClr val="B48200"/>
                </a:solidFill>
                <a:latin typeface="Calibri"/>
                <a:cs typeface="Calibri"/>
              </a:rPr>
              <a:t>target </a:t>
            </a:r>
            <a:r>
              <a:rPr dirty="0" sz="2800" spc="-5" b="1">
                <a:solidFill>
                  <a:srgbClr val="B48200"/>
                </a:solidFill>
                <a:latin typeface="Calibri"/>
                <a:cs typeface="Calibri"/>
              </a:rPr>
              <a:t>node </a:t>
            </a:r>
            <a:r>
              <a:rPr dirty="0" sz="2800" b="1">
                <a:solidFill>
                  <a:srgbClr val="B48200"/>
                </a:solidFill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on this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1456" y="494805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18121" y="512942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1"/>
                </a:lnTo>
                <a:lnTo>
                  <a:pt x="89287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2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18230" y="5153659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9339" y="4414269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39448" y="4437379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05939" y="597962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29217" y="579427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238851" y="5818123"/>
            <a:ext cx="140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5740" y="597962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6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96324" y="6001003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37433" y="4730681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2" y="75080"/>
                </a:moveTo>
                <a:lnTo>
                  <a:pt x="26716" y="85217"/>
                </a:lnTo>
                <a:lnTo>
                  <a:pt x="150407" y="411187"/>
                </a:lnTo>
                <a:lnTo>
                  <a:pt x="158657" y="414898"/>
                </a:lnTo>
                <a:lnTo>
                  <a:pt x="173412" y="409300"/>
                </a:lnTo>
                <a:lnTo>
                  <a:pt x="177123" y="401050"/>
                </a:lnTo>
                <a:lnTo>
                  <a:pt x="53432" y="75080"/>
                </a:lnTo>
                <a:close/>
              </a:path>
              <a:path w="177164" h="415289">
                <a:moveTo>
                  <a:pt x="9660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2"/>
                </a:lnTo>
                <a:lnTo>
                  <a:pt x="22559" y="56233"/>
                </a:lnTo>
                <a:lnTo>
                  <a:pt x="37313" y="50633"/>
                </a:lnTo>
                <a:lnTo>
                  <a:pt x="64617" y="50633"/>
                </a:lnTo>
                <a:lnTo>
                  <a:pt x="9660" y="0"/>
                </a:lnTo>
                <a:close/>
              </a:path>
              <a:path w="177164" h="415289">
                <a:moveTo>
                  <a:pt x="37313" y="50633"/>
                </a:moveTo>
                <a:lnTo>
                  <a:pt x="22559" y="56233"/>
                </a:lnTo>
                <a:lnTo>
                  <a:pt x="18848" y="64482"/>
                </a:lnTo>
                <a:lnTo>
                  <a:pt x="26716" y="85217"/>
                </a:lnTo>
                <a:lnTo>
                  <a:pt x="53432" y="75080"/>
                </a:lnTo>
                <a:lnTo>
                  <a:pt x="45563" y="54344"/>
                </a:lnTo>
                <a:lnTo>
                  <a:pt x="37313" y="50633"/>
                </a:lnTo>
                <a:close/>
              </a:path>
              <a:path w="177164" h="415289">
                <a:moveTo>
                  <a:pt x="64617" y="50633"/>
                </a:moveTo>
                <a:lnTo>
                  <a:pt x="37313" y="50633"/>
                </a:lnTo>
                <a:lnTo>
                  <a:pt x="45563" y="54344"/>
                </a:lnTo>
                <a:lnTo>
                  <a:pt x="53432" y="75080"/>
                </a:lnTo>
                <a:lnTo>
                  <a:pt x="80148" y="64942"/>
                </a:lnTo>
                <a:lnTo>
                  <a:pt x="64617" y="50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32012" y="4583300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5">
                <a:moveTo>
                  <a:pt x="55678" y="472090"/>
                </a:moveTo>
                <a:lnTo>
                  <a:pt x="0" y="550103"/>
                </a:lnTo>
                <a:lnTo>
                  <a:pt x="95816" y="547838"/>
                </a:lnTo>
                <a:lnTo>
                  <a:pt x="87939" y="532973"/>
                </a:lnTo>
                <a:lnTo>
                  <a:pt x="62839" y="532973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5" h="550545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3"/>
                </a:lnTo>
                <a:lnTo>
                  <a:pt x="82436" y="522588"/>
                </a:lnTo>
                <a:lnTo>
                  <a:pt x="69057" y="497339"/>
                </a:lnTo>
                <a:close/>
              </a:path>
              <a:path w="1024255" h="550545">
                <a:moveTo>
                  <a:pt x="82436" y="522588"/>
                </a:moveTo>
                <a:lnTo>
                  <a:pt x="62839" y="532973"/>
                </a:lnTo>
                <a:lnTo>
                  <a:pt x="87939" y="532973"/>
                </a:lnTo>
                <a:lnTo>
                  <a:pt x="82436" y="522588"/>
                </a:lnTo>
                <a:close/>
              </a:path>
              <a:path w="1024255" h="550545">
                <a:moveTo>
                  <a:pt x="1007609" y="0"/>
                </a:moveTo>
                <a:lnTo>
                  <a:pt x="69057" y="497339"/>
                </a:lnTo>
                <a:lnTo>
                  <a:pt x="82436" y="522588"/>
                </a:lnTo>
                <a:lnTo>
                  <a:pt x="1020989" y="25248"/>
                </a:lnTo>
                <a:lnTo>
                  <a:pt x="1023646" y="16601"/>
                </a:lnTo>
                <a:lnTo>
                  <a:pt x="1016256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0104" y="5264466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7"/>
                </a:lnTo>
                <a:lnTo>
                  <a:pt x="607734" y="73471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7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79211" y="5224852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4"/>
                </a:moveTo>
                <a:lnTo>
                  <a:pt x="85127" y="57108"/>
                </a:lnTo>
                <a:lnTo>
                  <a:pt x="1346258" y="104494"/>
                </a:lnTo>
                <a:lnTo>
                  <a:pt x="1352890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0" y="28554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4" y="85664"/>
                </a:lnTo>
                <a:lnTo>
                  <a:pt x="85127" y="57108"/>
                </a:lnTo>
                <a:lnTo>
                  <a:pt x="62965" y="56276"/>
                </a:lnTo>
                <a:lnTo>
                  <a:pt x="56813" y="49644"/>
                </a:lnTo>
                <a:lnTo>
                  <a:pt x="57405" y="33873"/>
                </a:lnTo>
                <a:lnTo>
                  <a:pt x="64038" y="27721"/>
                </a:lnTo>
                <a:lnTo>
                  <a:pt x="86231" y="27721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1"/>
                </a:moveTo>
                <a:lnTo>
                  <a:pt x="57405" y="33873"/>
                </a:lnTo>
                <a:lnTo>
                  <a:pt x="56813" y="49644"/>
                </a:lnTo>
                <a:lnTo>
                  <a:pt x="62965" y="56276"/>
                </a:lnTo>
                <a:lnTo>
                  <a:pt x="85127" y="57108"/>
                </a:lnTo>
                <a:lnTo>
                  <a:pt x="86200" y="28554"/>
                </a:lnTo>
                <a:lnTo>
                  <a:pt x="64038" y="27721"/>
                </a:lnTo>
                <a:close/>
              </a:path>
              <a:path w="1353820" h="104775">
                <a:moveTo>
                  <a:pt x="86231" y="27721"/>
                </a:moveTo>
                <a:lnTo>
                  <a:pt x="64038" y="27721"/>
                </a:lnTo>
                <a:lnTo>
                  <a:pt x="86200" y="28554"/>
                </a:lnTo>
                <a:lnTo>
                  <a:pt x="86231" y="277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97895" y="5445835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3" y="52399"/>
                </a:moveTo>
                <a:lnTo>
                  <a:pt x="0" y="583977"/>
                </a:lnTo>
                <a:lnTo>
                  <a:pt x="243" y="593020"/>
                </a:lnTo>
                <a:lnTo>
                  <a:pt x="11699" y="603875"/>
                </a:lnTo>
                <a:lnTo>
                  <a:pt x="20742" y="603631"/>
                </a:lnTo>
                <a:lnTo>
                  <a:pt x="524435" y="72053"/>
                </a:lnTo>
                <a:lnTo>
                  <a:pt x="503693" y="52399"/>
                </a:lnTo>
                <a:close/>
              </a:path>
              <a:path w="573405" h="603885">
                <a:moveTo>
                  <a:pt x="562078" y="36056"/>
                </a:moveTo>
                <a:lnTo>
                  <a:pt x="527991" y="36056"/>
                </a:lnTo>
                <a:lnTo>
                  <a:pt x="539446" y="46911"/>
                </a:lnTo>
                <a:lnTo>
                  <a:pt x="539690" y="55954"/>
                </a:lnTo>
                <a:lnTo>
                  <a:pt x="524435" y="72053"/>
                </a:lnTo>
                <a:lnTo>
                  <a:pt x="545177" y="91707"/>
                </a:lnTo>
                <a:lnTo>
                  <a:pt x="562078" y="36056"/>
                </a:lnTo>
                <a:close/>
              </a:path>
              <a:path w="573405" h="603885">
                <a:moveTo>
                  <a:pt x="527991" y="36056"/>
                </a:moveTo>
                <a:lnTo>
                  <a:pt x="518948" y="36300"/>
                </a:lnTo>
                <a:lnTo>
                  <a:pt x="503693" y="52399"/>
                </a:lnTo>
                <a:lnTo>
                  <a:pt x="524435" y="72053"/>
                </a:lnTo>
                <a:lnTo>
                  <a:pt x="539690" y="55954"/>
                </a:lnTo>
                <a:lnTo>
                  <a:pt x="539446" y="46911"/>
                </a:lnTo>
                <a:lnTo>
                  <a:pt x="527991" y="36056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3" y="52399"/>
                </a:lnTo>
                <a:lnTo>
                  <a:pt x="518948" y="36300"/>
                </a:lnTo>
                <a:lnTo>
                  <a:pt x="527991" y="36056"/>
                </a:lnTo>
                <a:lnTo>
                  <a:pt x="562078" y="36056"/>
                </a:lnTo>
                <a:lnTo>
                  <a:pt x="573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98399" y="5500122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2" y="47061"/>
                </a:moveTo>
                <a:lnTo>
                  <a:pt x="53850" y="68213"/>
                </a:lnTo>
                <a:lnTo>
                  <a:pt x="379855" y="364321"/>
                </a:lnTo>
                <a:lnTo>
                  <a:pt x="388891" y="363886"/>
                </a:lnTo>
                <a:lnTo>
                  <a:pt x="399502" y="352204"/>
                </a:lnTo>
                <a:lnTo>
                  <a:pt x="399068" y="343168"/>
                </a:lnTo>
                <a:lnTo>
                  <a:pt x="73062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7" y="89365"/>
                </a:lnTo>
                <a:lnTo>
                  <a:pt x="53850" y="68213"/>
                </a:lnTo>
                <a:lnTo>
                  <a:pt x="37433" y="53301"/>
                </a:lnTo>
                <a:lnTo>
                  <a:pt x="36998" y="44265"/>
                </a:lnTo>
                <a:lnTo>
                  <a:pt x="47609" y="32584"/>
                </a:lnTo>
                <a:lnTo>
                  <a:pt x="56645" y="32150"/>
                </a:lnTo>
                <a:lnTo>
                  <a:pt x="86606" y="32150"/>
                </a:lnTo>
                <a:lnTo>
                  <a:pt x="92274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09" y="32584"/>
                </a:lnTo>
                <a:lnTo>
                  <a:pt x="36998" y="44265"/>
                </a:lnTo>
                <a:lnTo>
                  <a:pt x="37433" y="53301"/>
                </a:lnTo>
                <a:lnTo>
                  <a:pt x="53850" y="68213"/>
                </a:lnTo>
                <a:lnTo>
                  <a:pt x="73062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6" y="32150"/>
                </a:moveTo>
                <a:lnTo>
                  <a:pt x="56645" y="32150"/>
                </a:lnTo>
                <a:lnTo>
                  <a:pt x="73062" y="47061"/>
                </a:lnTo>
                <a:lnTo>
                  <a:pt x="86606" y="32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66495" y="5964102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6" y="142575"/>
                </a:moveTo>
                <a:lnTo>
                  <a:pt x="0" y="200871"/>
                </a:lnTo>
                <a:lnTo>
                  <a:pt x="92283" y="226754"/>
                </a:lnTo>
                <a:lnTo>
                  <a:pt x="87688" y="202887"/>
                </a:lnTo>
                <a:lnTo>
                  <a:pt x="65102" y="202887"/>
                </a:lnTo>
                <a:lnTo>
                  <a:pt x="57612" y="197815"/>
                </a:lnTo>
                <a:lnTo>
                  <a:pt x="54627" y="182318"/>
                </a:lnTo>
                <a:lnTo>
                  <a:pt x="59700" y="174827"/>
                </a:lnTo>
                <a:lnTo>
                  <a:pt x="81478" y="170634"/>
                </a:lnTo>
                <a:lnTo>
                  <a:pt x="76076" y="142575"/>
                </a:lnTo>
                <a:close/>
              </a:path>
              <a:path w="978535" h="227329">
                <a:moveTo>
                  <a:pt x="81478" y="170634"/>
                </a:moveTo>
                <a:lnTo>
                  <a:pt x="59700" y="174827"/>
                </a:lnTo>
                <a:lnTo>
                  <a:pt x="54627" y="182318"/>
                </a:lnTo>
                <a:lnTo>
                  <a:pt x="57612" y="197815"/>
                </a:lnTo>
                <a:lnTo>
                  <a:pt x="65102" y="202887"/>
                </a:lnTo>
                <a:lnTo>
                  <a:pt x="86881" y="198694"/>
                </a:lnTo>
                <a:lnTo>
                  <a:pt x="81478" y="170634"/>
                </a:lnTo>
                <a:close/>
              </a:path>
              <a:path w="978535" h="227329">
                <a:moveTo>
                  <a:pt x="86881" y="198694"/>
                </a:moveTo>
                <a:lnTo>
                  <a:pt x="65102" y="202887"/>
                </a:lnTo>
                <a:lnTo>
                  <a:pt x="87688" y="202887"/>
                </a:lnTo>
                <a:lnTo>
                  <a:pt x="86881" y="198694"/>
                </a:lnTo>
                <a:close/>
              </a:path>
              <a:path w="978535" h="227329">
                <a:moveTo>
                  <a:pt x="967770" y="0"/>
                </a:moveTo>
                <a:lnTo>
                  <a:pt x="81478" y="170634"/>
                </a:lnTo>
                <a:lnTo>
                  <a:pt x="86881" y="198694"/>
                </a:lnTo>
                <a:lnTo>
                  <a:pt x="973171" y="28059"/>
                </a:lnTo>
                <a:lnTo>
                  <a:pt x="978244" y="20568"/>
                </a:lnTo>
                <a:lnTo>
                  <a:pt x="975260" y="5071"/>
                </a:lnTo>
                <a:lnTo>
                  <a:pt x="967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2256" y="4501388"/>
            <a:ext cx="1270635" cy="7696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800" spc="-40">
                <a:latin typeface="Arial"/>
                <a:cs typeface="Arial"/>
              </a:rPr>
              <a:t>Target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  <a:p>
            <a:pPr algn="ctr" marL="269240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9350" y="5848603"/>
            <a:ext cx="1233170" cy="87884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3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6083" y="29971"/>
            <a:ext cx="5855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Schlichtkrull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Modeling Relational Data with Graph Convolutional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ESWC</a:t>
            </a:r>
            <a:r>
              <a:rPr dirty="0" sz="1200" spc="-8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2018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366369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779384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25146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>
                <a:solidFill>
                  <a:srgbClr val="000000"/>
                </a:solidFill>
              </a:rPr>
              <a:t>We </a:t>
            </a:r>
            <a:r>
              <a:rPr dirty="0" sz="3000">
                <a:solidFill>
                  <a:srgbClr val="000000"/>
                </a:solidFill>
              </a:rPr>
              <a:t>will </a:t>
            </a:r>
            <a:r>
              <a:rPr dirty="0" sz="3000" spc="-15">
                <a:solidFill>
                  <a:srgbClr val="000000"/>
                </a:solidFill>
              </a:rPr>
              <a:t>extend </a:t>
            </a:r>
            <a:r>
              <a:rPr dirty="0" sz="3000">
                <a:solidFill>
                  <a:srgbClr val="00B050"/>
                </a:solidFill>
              </a:rPr>
              <a:t>GCN </a:t>
            </a:r>
            <a:r>
              <a:rPr dirty="0" sz="3000" spc="-20">
                <a:solidFill>
                  <a:srgbClr val="000000"/>
                </a:solidFill>
              </a:rPr>
              <a:t>to </a:t>
            </a:r>
            <a:r>
              <a:rPr dirty="0" sz="3000" spc="-5">
                <a:solidFill>
                  <a:srgbClr val="000000"/>
                </a:solidFill>
              </a:rPr>
              <a:t>handle </a:t>
            </a:r>
            <a:r>
              <a:rPr dirty="0" sz="3000" spc="-15">
                <a:solidFill>
                  <a:srgbClr val="000000"/>
                </a:solidFill>
              </a:rPr>
              <a:t>heterogeneous  graphs </a:t>
            </a:r>
            <a:r>
              <a:rPr dirty="0" sz="3000" spc="-5">
                <a:solidFill>
                  <a:srgbClr val="000000"/>
                </a:solidFill>
              </a:rPr>
              <a:t>with multiple </a:t>
            </a:r>
            <a:r>
              <a:rPr dirty="0" sz="3000" spc="-15">
                <a:solidFill>
                  <a:srgbClr val="000000"/>
                </a:solidFill>
              </a:rPr>
              <a:t>edge/relation</a:t>
            </a:r>
            <a:r>
              <a:rPr dirty="0" sz="3000" spc="40">
                <a:solidFill>
                  <a:srgbClr val="000000"/>
                </a:solidFill>
              </a:rPr>
              <a:t> </a:t>
            </a:r>
            <a:r>
              <a:rPr dirty="0" sz="3000" spc="-5">
                <a:solidFill>
                  <a:srgbClr val="000000"/>
                </a:solidFill>
              </a:rPr>
              <a:t>types</a:t>
            </a:r>
            <a:endParaRPr sz="3000"/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start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directed graph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dirty="0" sz="3000" spc="-5">
                <a:solidFill>
                  <a:srgbClr val="000000"/>
                </a:solidFill>
              </a:rPr>
              <a:t>one</a:t>
            </a:r>
            <a:r>
              <a:rPr dirty="0" sz="3000" spc="50">
                <a:solidFill>
                  <a:srgbClr val="000000"/>
                </a:solidFill>
              </a:rPr>
              <a:t>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relation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808732"/>
            <a:ext cx="7548245" cy="8153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287020" marR="5080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How do </a:t>
            </a:r>
            <a:r>
              <a:rPr dirty="0" sz="2600" spc="-10">
                <a:latin typeface="Calibri"/>
                <a:cs typeface="Calibri"/>
              </a:rPr>
              <a:t>we </a:t>
            </a:r>
            <a:r>
              <a:rPr dirty="0" sz="2600" spc="-5">
                <a:latin typeface="Calibri"/>
                <a:cs typeface="Calibri"/>
              </a:rPr>
              <a:t>run GCN and </a:t>
            </a:r>
            <a:r>
              <a:rPr dirty="0" sz="2600" spc="-10">
                <a:latin typeface="Calibri"/>
                <a:cs typeface="Calibri"/>
              </a:rPr>
              <a:t>update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representation </a:t>
            </a:r>
            <a:r>
              <a:rPr dirty="0" sz="2600" spc="-560">
                <a:latin typeface="Calibri"/>
                <a:cs typeface="Calibri"/>
              </a:rPr>
              <a:t>of 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20" b="1">
                <a:solidFill>
                  <a:srgbClr val="B48200"/>
                </a:solidFill>
                <a:latin typeface="Calibri"/>
                <a:cs typeface="Calibri"/>
              </a:rPr>
              <a:t>target </a:t>
            </a:r>
            <a:r>
              <a:rPr dirty="0" sz="2600" b="1">
                <a:solidFill>
                  <a:srgbClr val="B48200"/>
                </a:solidFill>
                <a:latin typeface="Calibri"/>
                <a:cs typeface="Calibri"/>
              </a:rPr>
              <a:t>node A </a:t>
            </a:r>
            <a:r>
              <a:rPr dirty="0" sz="2600">
                <a:latin typeface="Calibri"/>
                <a:cs typeface="Calibri"/>
              </a:rPr>
              <a:t>on </a:t>
            </a:r>
            <a:r>
              <a:rPr dirty="0" sz="2600" spc="-5">
                <a:latin typeface="Calibri"/>
                <a:cs typeface="Calibri"/>
              </a:rPr>
              <a:t>this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graph?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5509" y="454861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62173" y="472998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62282" y="4751323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83391" y="4014828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83500" y="4038091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49991" y="558018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73269" y="539483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82903" y="5418835"/>
            <a:ext cx="140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792" y="558018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6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0376" y="5601715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81484" y="4331239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2" y="75080"/>
                </a:moveTo>
                <a:lnTo>
                  <a:pt x="26716" y="85217"/>
                </a:lnTo>
                <a:lnTo>
                  <a:pt x="150407" y="411187"/>
                </a:lnTo>
                <a:lnTo>
                  <a:pt x="158657" y="414898"/>
                </a:lnTo>
                <a:lnTo>
                  <a:pt x="173412" y="409299"/>
                </a:lnTo>
                <a:lnTo>
                  <a:pt x="177124" y="401049"/>
                </a:lnTo>
                <a:lnTo>
                  <a:pt x="53432" y="75080"/>
                </a:lnTo>
                <a:close/>
              </a:path>
              <a:path w="177164" h="415289">
                <a:moveTo>
                  <a:pt x="9660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1"/>
                </a:lnTo>
                <a:lnTo>
                  <a:pt x="22559" y="56231"/>
                </a:lnTo>
                <a:lnTo>
                  <a:pt x="37313" y="50633"/>
                </a:lnTo>
                <a:lnTo>
                  <a:pt x="64617" y="50633"/>
                </a:lnTo>
                <a:lnTo>
                  <a:pt x="9660" y="0"/>
                </a:lnTo>
                <a:close/>
              </a:path>
              <a:path w="177164" h="415289">
                <a:moveTo>
                  <a:pt x="37313" y="50633"/>
                </a:moveTo>
                <a:lnTo>
                  <a:pt x="22559" y="56231"/>
                </a:lnTo>
                <a:lnTo>
                  <a:pt x="18848" y="64481"/>
                </a:lnTo>
                <a:lnTo>
                  <a:pt x="26716" y="85217"/>
                </a:lnTo>
                <a:lnTo>
                  <a:pt x="53432" y="75080"/>
                </a:lnTo>
                <a:lnTo>
                  <a:pt x="45563" y="54344"/>
                </a:lnTo>
                <a:lnTo>
                  <a:pt x="37313" y="50633"/>
                </a:lnTo>
                <a:close/>
              </a:path>
              <a:path w="177164" h="415289">
                <a:moveTo>
                  <a:pt x="64617" y="50633"/>
                </a:moveTo>
                <a:lnTo>
                  <a:pt x="37313" y="50633"/>
                </a:lnTo>
                <a:lnTo>
                  <a:pt x="45563" y="54344"/>
                </a:lnTo>
                <a:lnTo>
                  <a:pt x="53432" y="75080"/>
                </a:lnTo>
                <a:lnTo>
                  <a:pt x="80148" y="64942"/>
                </a:lnTo>
                <a:lnTo>
                  <a:pt x="64617" y="506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76064" y="4183858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5">
                <a:moveTo>
                  <a:pt x="55678" y="472090"/>
                </a:moveTo>
                <a:lnTo>
                  <a:pt x="0" y="550103"/>
                </a:lnTo>
                <a:lnTo>
                  <a:pt x="95817" y="547838"/>
                </a:lnTo>
                <a:lnTo>
                  <a:pt x="87939" y="532973"/>
                </a:lnTo>
                <a:lnTo>
                  <a:pt x="62839" y="532973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5" h="550545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3"/>
                </a:lnTo>
                <a:lnTo>
                  <a:pt x="82437" y="522588"/>
                </a:lnTo>
                <a:lnTo>
                  <a:pt x="69057" y="497339"/>
                </a:lnTo>
                <a:close/>
              </a:path>
              <a:path w="1024255" h="550545">
                <a:moveTo>
                  <a:pt x="82437" y="522588"/>
                </a:moveTo>
                <a:lnTo>
                  <a:pt x="62839" y="532973"/>
                </a:lnTo>
                <a:lnTo>
                  <a:pt x="87939" y="532973"/>
                </a:lnTo>
                <a:lnTo>
                  <a:pt x="82437" y="522588"/>
                </a:lnTo>
                <a:close/>
              </a:path>
              <a:path w="1024255" h="550545">
                <a:moveTo>
                  <a:pt x="1007609" y="0"/>
                </a:moveTo>
                <a:lnTo>
                  <a:pt x="69057" y="497339"/>
                </a:lnTo>
                <a:lnTo>
                  <a:pt x="82437" y="522588"/>
                </a:lnTo>
                <a:lnTo>
                  <a:pt x="1020989" y="25248"/>
                </a:lnTo>
                <a:lnTo>
                  <a:pt x="1023646" y="16601"/>
                </a:lnTo>
                <a:lnTo>
                  <a:pt x="1016257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4156" y="4865024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7"/>
                </a:lnTo>
                <a:lnTo>
                  <a:pt x="607734" y="73471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7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23263" y="4825410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1" y="28554"/>
                </a:moveTo>
                <a:lnTo>
                  <a:pt x="85128" y="57108"/>
                </a:lnTo>
                <a:lnTo>
                  <a:pt x="1346258" y="104494"/>
                </a:lnTo>
                <a:lnTo>
                  <a:pt x="1352891" y="98341"/>
                </a:lnTo>
                <a:lnTo>
                  <a:pt x="1353483" y="82571"/>
                </a:lnTo>
                <a:lnTo>
                  <a:pt x="1347331" y="75938"/>
                </a:lnTo>
                <a:lnTo>
                  <a:pt x="86201" y="28554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2"/>
                </a:lnTo>
                <a:lnTo>
                  <a:pt x="84055" y="85664"/>
                </a:lnTo>
                <a:lnTo>
                  <a:pt x="85128" y="57108"/>
                </a:lnTo>
                <a:lnTo>
                  <a:pt x="62965" y="56276"/>
                </a:lnTo>
                <a:lnTo>
                  <a:pt x="56813" y="49644"/>
                </a:lnTo>
                <a:lnTo>
                  <a:pt x="57406" y="33873"/>
                </a:lnTo>
                <a:lnTo>
                  <a:pt x="64038" y="27721"/>
                </a:lnTo>
                <a:lnTo>
                  <a:pt x="86232" y="27721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1"/>
                </a:moveTo>
                <a:lnTo>
                  <a:pt x="57406" y="33873"/>
                </a:lnTo>
                <a:lnTo>
                  <a:pt x="56813" y="49644"/>
                </a:lnTo>
                <a:lnTo>
                  <a:pt x="62965" y="56276"/>
                </a:lnTo>
                <a:lnTo>
                  <a:pt x="85128" y="57108"/>
                </a:lnTo>
                <a:lnTo>
                  <a:pt x="86201" y="28554"/>
                </a:lnTo>
                <a:lnTo>
                  <a:pt x="64038" y="27721"/>
                </a:lnTo>
                <a:close/>
              </a:path>
              <a:path w="1353820" h="104775">
                <a:moveTo>
                  <a:pt x="86232" y="27721"/>
                </a:moveTo>
                <a:lnTo>
                  <a:pt x="64038" y="27721"/>
                </a:lnTo>
                <a:lnTo>
                  <a:pt x="86201" y="28554"/>
                </a:lnTo>
                <a:lnTo>
                  <a:pt x="86232" y="277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41946" y="5046393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4" y="52399"/>
                </a:moveTo>
                <a:lnTo>
                  <a:pt x="0" y="583977"/>
                </a:lnTo>
                <a:lnTo>
                  <a:pt x="243" y="593020"/>
                </a:lnTo>
                <a:lnTo>
                  <a:pt x="11699" y="603874"/>
                </a:lnTo>
                <a:lnTo>
                  <a:pt x="20742" y="603631"/>
                </a:lnTo>
                <a:lnTo>
                  <a:pt x="524436" y="72053"/>
                </a:lnTo>
                <a:lnTo>
                  <a:pt x="503694" y="52399"/>
                </a:lnTo>
                <a:close/>
              </a:path>
              <a:path w="573405" h="603885">
                <a:moveTo>
                  <a:pt x="562078" y="36056"/>
                </a:moveTo>
                <a:lnTo>
                  <a:pt x="527991" y="36056"/>
                </a:lnTo>
                <a:lnTo>
                  <a:pt x="539447" y="46911"/>
                </a:lnTo>
                <a:lnTo>
                  <a:pt x="539690" y="55954"/>
                </a:lnTo>
                <a:lnTo>
                  <a:pt x="524436" y="72053"/>
                </a:lnTo>
                <a:lnTo>
                  <a:pt x="545179" y="91707"/>
                </a:lnTo>
                <a:lnTo>
                  <a:pt x="562078" y="36056"/>
                </a:lnTo>
                <a:close/>
              </a:path>
              <a:path w="573405" h="603885">
                <a:moveTo>
                  <a:pt x="527991" y="36056"/>
                </a:moveTo>
                <a:lnTo>
                  <a:pt x="518948" y="36300"/>
                </a:lnTo>
                <a:lnTo>
                  <a:pt x="503694" y="52399"/>
                </a:lnTo>
                <a:lnTo>
                  <a:pt x="524436" y="72053"/>
                </a:lnTo>
                <a:lnTo>
                  <a:pt x="539690" y="55954"/>
                </a:lnTo>
                <a:lnTo>
                  <a:pt x="539447" y="46911"/>
                </a:lnTo>
                <a:lnTo>
                  <a:pt x="527991" y="36056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4"/>
                </a:lnTo>
                <a:lnTo>
                  <a:pt x="503694" y="52399"/>
                </a:lnTo>
                <a:lnTo>
                  <a:pt x="518948" y="36300"/>
                </a:lnTo>
                <a:lnTo>
                  <a:pt x="527991" y="36056"/>
                </a:lnTo>
                <a:lnTo>
                  <a:pt x="562078" y="36056"/>
                </a:lnTo>
                <a:lnTo>
                  <a:pt x="573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42450" y="5100680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0" y="68213"/>
                </a:lnTo>
                <a:lnTo>
                  <a:pt x="379855" y="364321"/>
                </a:lnTo>
                <a:lnTo>
                  <a:pt x="388891" y="363886"/>
                </a:lnTo>
                <a:lnTo>
                  <a:pt x="399502" y="352204"/>
                </a:lnTo>
                <a:lnTo>
                  <a:pt x="399068" y="343167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7" y="89366"/>
                </a:lnTo>
                <a:lnTo>
                  <a:pt x="53850" y="68213"/>
                </a:lnTo>
                <a:lnTo>
                  <a:pt x="37433" y="53301"/>
                </a:lnTo>
                <a:lnTo>
                  <a:pt x="36998" y="44265"/>
                </a:lnTo>
                <a:lnTo>
                  <a:pt x="47609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09" y="32584"/>
                </a:lnTo>
                <a:lnTo>
                  <a:pt x="36998" y="44265"/>
                </a:lnTo>
                <a:lnTo>
                  <a:pt x="37433" y="53301"/>
                </a:lnTo>
                <a:lnTo>
                  <a:pt x="53850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10548" y="5564659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2"/>
                </a:lnTo>
                <a:lnTo>
                  <a:pt x="92282" y="226754"/>
                </a:lnTo>
                <a:lnTo>
                  <a:pt x="87687" y="202888"/>
                </a:lnTo>
                <a:lnTo>
                  <a:pt x="65101" y="202888"/>
                </a:lnTo>
                <a:lnTo>
                  <a:pt x="57611" y="197816"/>
                </a:lnTo>
                <a:lnTo>
                  <a:pt x="54627" y="182319"/>
                </a:lnTo>
                <a:lnTo>
                  <a:pt x="59698" y="174828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698" y="174828"/>
                </a:lnTo>
                <a:lnTo>
                  <a:pt x="54627" y="182319"/>
                </a:lnTo>
                <a:lnTo>
                  <a:pt x="57611" y="197816"/>
                </a:lnTo>
                <a:lnTo>
                  <a:pt x="65101" y="202888"/>
                </a:lnTo>
                <a:lnTo>
                  <a:pt x="86879" y="198695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5"/>
                </a:moveTo>
                <a:lnTo>
                  <a:pt x="65101" y="202888"/>
                </a:lnTo>
                <a:lnTo>
                  <a:pt x="87687" y="202888"/>
                </a:lnTo>
                <a:lnTo>
                  <a:pt x="86879" y="198695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5"/>
                </a:lnTo>
                <a:lnTo>
                  <a:pt x="973170" y="28060"/>
                </a:lnTo>
                <a:lnTo>
                  <a:pt x="978242" y="20568"/>
                </a:lnTo>
                <a:lnTo>
                  <a:pt x="975259" y="5072"/>
                </a:lnTo>
                <a:lnTo>
                  <a:pt x="9677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6308" y="4102100"/>
            <a:ext cx="1270635" cy="7696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800" spc="-40">
                <a:latin typeface="Arial"/>
                <a:cs typeface="Arial"/>
              </a:rPr>
              <a:t>Target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  <a:p>
            <a:pPr algn="ctr" marL="269240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3403" y="5449315"/>
            <a:ext cx="1233170" cy="87884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3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34457" y="511316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029804" y="5135371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72570" y="580443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563155" y="5827267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72570" y="507795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572680" y="5101844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72570" y="4348608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5"/>
                </a:lnTo>
                <a:lnTo>
                  <a:pt x="0" y="185348"/>
                </a:lnTo>
                <a:lnTo>
                  <a:pt x="6439" y="234622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3" y="364078"/>
                </a:lnTo>
                <a:lnTo>
                  <a:pt x="180279" y="370699"/>
                </a:lnTo>
                <a:lnTo>
                  <a:pt x="228203" y="364078"/>
                </a:lnTo>
                <a:lnTo>
                  <a:pt x="271268" y="345393"/>
                </a:lnTo>
                <a:lnTo>
                  <a:pt x="307754" y="316411"/>
                </a:lnTo>
                <a:lnTo>
                  <a:pt x="335943" y="278899"/>
                </a:lnTo>
                <a:lnTo>
                  <a:pt x="354117" y="234622"/>
                </a:lnTo>
                <a:lnTo>
                  <a:pt x="360556" y="185348"/>
                </a:lnTo>
                <a:lnTo>
                  <a:pt x="354117" y="136075"/>
                </a:lnTo>
                <a:lnTo>
                  <a:pt x="335943" y="91799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572680" y="4370323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553374" y="556899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8658245" y="5592571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553374" y="481004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3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663007" y="4833620"/>
            <a:ext cx="140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529379" y="396589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8629487" y="3989323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89577" y="3852763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89577" y="3852763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318084" y="4111151"/>
            <a:ext cx="226060" cy="85725"/>
          </a:xfrm>
          <a:custGeom>
            <a:avLst/>
            <a:gdLst/>
            <a:ahLst/>
            <a:cxnLst/>
            <a:rect l="l" t="t" r="r" b="b"/>
            <a:pathLst>
              <a:path w="226059" h="85725">
                <a:moveTo>
                  <a:pt x="84762" y="0"/>
                </a:moveTo>
                <a:lnTo>
                  <a:pt x="0" y="44735"/>
                </a:lnTo>
                <a:lnTo>
                  <a:pt x="86645" y="85704"/>
                </a:lnTo>
                <a:lnTo>
                  <a:pt x="86028" y="57623"/>
                </a:lnTo>
                <a:lnTo>
                  <a:pt x="63844" y="57623"/>
                </a:lnTo>
                <a:lnTo>
                  <a:pt x="57308" y="51368"/>
                </a:lnTo>
                <a:lnTo>
                  <a:pt x="56962" y="35591"/>
                </a:lnTo>
                <a:lnTo>
                  <a:pt x="63216" y="29055"/>
                </a:lnTo>
                <a:lnTo>
                  <a:pt x="85390" y="28567"/>
                </a:lnTo>
                <a:lnTo>
                  <a:pt x="84762" y="0"/>
                </a:lnTo>
                <a:close/>
              </a:path>
              <a:path w="226059" h="85725">
                <a:moveTo>
                  <a:pt x="85390" y="28567"/>
                </a:moveTo>
                <a:lnTo>
                  <a:pt x="63216" y="29055"/>
                </a:lnTo>
                <a:lnTo>
                  <a:pt x="56962" y="35591"/>
                </a:lnTo>
                <a:lnTo>
                  <a:pt x="57308" y="51368"/>
                </a:lnTo>
                <a:lnTo>
                  <a:pt x="63844" y="57623"/>
                </a:lnTo>
                <a:lnTo>
                  <a:pt x="86017" y="57136"/>
                </a:lnTo>
                <a:lnTo>
                  <a:pt x="85390" y="28567"/>
                </a:lnTo>
                <a:close/>
              </a:path>
              <a:path w="226059" h="85725">
                <a:moveTo>
                  <a:pt x="86017" y="57136"/>
                </a:moveTo>
                <a:lnTo>
                  <a:pt x="63844" y="57623"/>
                </a:lnTo>
                <a:lnTo>
                  <a:pt x="86028" y="57623"/>
                </a:lnTo>
                <a:lnTo>
                  <a:pt x="86017" y="57136"/>
                </a:lnTo>
                <a:close/>
              </a:path>
              <a:path w="226059" h="85725">
                <a:moveTo>
                  <a:pt x="218869" y="25634"/>
                </a:moveTo>
                <a:lnTo>
                  <a:pt x="85390" y="28567"/>
                </a:lnTo>
                <a:lnTo>
                  <a:pt x="86017" y="57136"/>
                </a:lnTo>
                <a:lnTo>
                  <a:pt x="219496" y="54202"/>
                </a:lnTo>
                <a:lnTo>
                  <a:pt x="225751" y="47666"/>
                </a:lnTo>
                <a:lnTo>
                  <a:pt x="225404" y="31888"/>
                </a:lnTo>
                <a:lnTo>
                  <a:pt x="218869" y="25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326493" y="4947381"/>
            <a:ext cx="241935" cy="85725"/>
          </a:xfrm>
          <a:custGeom>
            <a:avLst/>
            <a:gdLst/>
            <a:ahLst/>
            <a:cxnLst/>
            <a:rect l="l" t="t" r="r" b="b"/>
            <a:pathLst>
              <a:path w="241934" h="85725">
                <a:moveTo>
                  <a:pt x="87237" y="0"/>
                </a:moveTo>
                <a:lnTo>
                  <a:pt x="0" y="39693"/>
                </a:lnTo>
                <a:lnTo>
                  <a:pt x="84098" y="85667"/>
                </a:lnTo>
                <a:lnTo>
                  <a:pt x="85144" y="57112"/>
                </a:lnTo>
                <a:lnTo>
                  <a:pt x="62981" y="56300"/>
                </a:lnTo>
                <a:lnTo>
                  <a:pt x="56823" y="49673"/>
                </a:lnTo>
                <a:lnTo>
                  <a:pt x="57401" y="33902"/>
                </a:lnTo>
                <a:lnTo>
                  <a:pt x="64028" y="27744"/>
                </a:lnTo>
                <a:lnTo>
                  <a:pt x="86220" y="27744"/>
                </a:lnTo>
                <a:lnTo>
                  <a:pt x="87237" y="0"/>
                </a:lnTo>
                <a:close/>
              </a:path>
              <a:path w="241934" h="85725">
                <a:moveTo>
                  <a:pt x="86191" y="28556"/>
                </a:moveTo>
                <a:lnTo>
                  <a:pt x="85144" y="57112"/>
                </a:lnTo>
                <a:lnTo>
                  <a:pt x="234242" y="62576"/>
                </a:lnTo>
                <a:lnTo>
                  <a:pt x="240869" y="56418"/>
                </a:lnTo>
                <a:lnTo>
                  <a:pt x="241447" y="40647"/>
                </a:lnTo>
                <a:lnTo>
                  <a:pt x="235289" y="34020"/>
                </a:lnTo>
                <a:lnTo>
                  <a:pt x="86191" y="28556"/>
                </a:lnTo>
                <a:close/>
              </a:path>
              <a:path w="241934" h="85725">
                <a:moveTo>
                  <a:pt x="64028" y="27744"/>
                </a:moveTo>
                <a:lnTo>
                  <a:pt x="57401" y="33902"/>
                </a:lnTo>
                <a:lnTo>
                  <a:pt x="56823" y="49673"/>
                </a:lnTo>
                <a:lnTo>
                  <a:pt x="62981" y="56300"/>
                </a:lnTo>
                <a:lnTo>
                  <a:pt x="85144" y="57112"/>
                </a:lnTo>
                <a:lnTo>
                  <a:pt x="86191" y="28556"/>
                </a:lnTo>
                <a:lnTo>
                  <a:pt x="64028" y="27744"/>
                </a:lnTo>
                <a:close/>
              </a:path>
              <a:path w="241934" h="85725">
                <a:moveTo>
                  <a:pt x="86220" y="27744"/>
                </a:moveTo>
                <a:lnTo>
                  <a:pt x="64028" y="27744"/>
                </a:lnTo>
                <a:lnTo>
                  <a:pt x="86191" y="28556"/>
                </a:lnTo>
                <a:lnTo>
                  <a:pt x="86220" y="2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324800" y="5711480"/>
            <a:ext cx="243204" cy="85725"/>
          </a:xfrm>
          <a:custGeom>
            <a:avLst/>
            <a:gdLst/>
            <a:ahLst/>
            <a:cxnLst/>
            <a:rect l="l" t="t" r="r" b="b"/>
            <a:pathLst>
              <a:path w="243204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1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243204" h="85725">
                <a:moveTo>
                  <a:pt x="85725" y="28575"/>
                </a:moveTo>
                <a:lnTo>
                  <a:pt x="71437" y="28575"/>
                </a:lnTo>
                <a:lnTo>
                  <a:pt x="63546" y="28575"/>
                </a:lnTo>
                <a:lnTo>
                  <a:pt x="57150" y="34971"/>
                </a:lnTo>
                <a:lnTo>
                  <a:pt x="57150" y="50753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243204" h="85725">
                <a:moveTo>
                  <a:pt x="85725" y="57150"/>
                </a:moveTo>
                <a:lnTo>
                  <a:pt x="63546" y="57150"/>
                </a:lnTo>
                <a:lnTo>
                  <a:pt x="85725" y="57150"/>
                </a:lnTo>
                <a:close/>
              </a:path>
              <a:path w="243204" h="85725">
                <a:moveTo>
                  <a:pt x="236463" y="28574"/>
                </a:moveTo>
                <a:lnTo>
                  <a:pt x="85725" y="28575"/>
                </a:lnTo>
                <a:lnTo>
                  <a:pt x="85725" y="57150"/>
                </a:lnTo>
                <a:lnTo>
                  <a:pt x="236463" y="57149"/>
                </a:lnTo>
                <a:lnTo>
                  <a:pt x="242860" y="50753"/>
                </a:lnTo>
                <a:lnTo>
                  <a:pt x="242860" y="34971"/>
                </a:lnTo>
                <a:lnTo>
                  <a:pt x="236463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780324" y="4139582"/>
            <a:ext cx="418465" cy="263525"/>
          </a:xfrm>
          <a:custGeom>
            <a:avLst/>
            <a:gdLst/>
            <a:ahLst/>
            <a:cxnLst/>
            <a:rect l="l" t="t" r="r" b="b"/>
            <a:pathLst>
              <a:path w="418465" h="263525">
                <a:moveTo>
                  <a:pt x="50566" y="181894"/>
                </a:moveTo>
                <a:lnTo>
                  <a:pt x="0" y="263312"/>
                </a:lnTo>
                <a:lnTo>
                  <a:pt x="95474" y="254914"/>
                </a:lnTo>
                <a:lnTo>
                  <a:pt x="87650" y="242192"/>
                </a:lnTo>
                <a:lnTo>
                  <a:pt x="61614" y="242192"/>
                </a:lnTo>
                <a:lnTo>
                  <a:pt x="52814" y="240094"/>
                </a:lnTo>
                <a:lnTo>
                  <a:pt x="44546" y="226653"/>
                </a:lnTo>
                <a:lnTo>
                  <a:pt x="46644" y="217853"/>
                </a:lnTo>
                <a:lnTo>
                  <a:pt x="65535" y="206234"/>
                </a:lnTo>
                <a:lnTo>
                  <a:pt x="50566" y="181894"/>
                </a:lnTo>
                <a:close/>
              </a:path>
              <a:path w="418465" h="263525">
                <a:moveTo>
                  <a:pt x="65535" y="206234"/>
                </a:moveTo>
                <a:lnTo>
                  <a:pt x="46644" y="217853"/>
                </a:lnTo>
                <a:lnTo>
                  <a:pt x="44546" y="226653"/>
                </a:lnTo>
                <a:lnTo>
                  <a:pt x="52814" y="240094"/>
                </a:lnTo>
                <a:lnTo>
                  <a:pt x="61614" y="242192"/>
                </a:lnTo>
                <a:lnTo>
                  <a:pt x="80505" y="230574"/>
                </a:lnTo>
                <a:lnTo>
                  <a:pt x="65535" y="206234"/>
                </a:lnTo>
                <a:close/>
              </a:path>
              <a:path w="418465" h="263525">
                <a:moveTo>
                  <a:pt x="80505" y="230574"/>
                </a:moveTo>
                <a:lnTo>
                  <a:pt x="61614" y="242192"/>
                </a:lnTo>
                <a:lnTo>
                  <a:pt x="87650" y="242192"/>
                </a:lnTo>
                <a:lnTo>
                  <a:pt x="80505" y="230574"/>
                </a:lnTo>
                <a:close/>
              </a:path>
              <a:path w="418465" h="263525">
                <a:moveTo>
                  <a:pt x="400867" y="0"/>
                </a:moveTo>
                <a:lnTo>
                  <a:pt x="65535" y="206234"/>
                </a:lnTo>
                <a:lnTo>
                  <a:pt x="80505" y="230574"/>
                </a:lnTo>
                <a:lnTo>
                  <a:pt x="415837" y="24340"/>
                </a:lnTo>
                <a:lnTo>
                  <a:pt x="417935" y="15540"/>
                </a:lnTo>
                <a:lnTo>
                  <a:pt x="409667" y="2098"/>
                </a:lnTo>
                <a:lnTo>
                  <a:pt x="400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833127" y="5224156"/>
            <a:ext cx="599440" cy="85725"/>
          </a:xfrm>
          <a:custGeom>
            <a:avLst/>
            <a:gdLst/>
            <a:ahLst/>
            <a:cxnLst/>
            <a:rect l="l" t="t" r="r" b="b"/>
            <a:pathLst>
              <a:path w="599440" h="85725">
                <a:moveTo>
                  <a:pt x="87485" y="0"/>
                </a:moveTo>
                <a:lnTo>
                  <a:pt x="0" y="39143"/>
                </a:lnTo>
                <a:lnTo>
                  <a:pt x="83806" y="85646"/>
                </a:lnTo>
                <a:lnTo>
                  <a:pt x="85032" y="57097"/>
                </a:lnTo>
                <a:lnTo>
                  <a:pt x="62875" y="56145"/>
                </a:lnTo>
                <a:lnTo>
                  <a:pt x="56758" y="49480"/>
                </a:lnTo>
                <a:lnTo>
                  <a:pt x="57435" y="33713"/>
                </a:lnTo>
                <a:lnTo>
                  <a:pt x="64101" y="27597"/>
                </a:lnTo>
                <a:lnTo>
                  <a:pt x="86299" y="27597"/>
                </a:lnTo>
                <a:lnTo>
                  <a:pt x="87485" y="0"/>
                </a:lnTo>
                <a:close/>
              </a:path>
              <a:path w="599440" h="85725">
                <a:moveTo>
                  <a:pt x="86258" y="28548"/>
                </a:moveTo>
                <a:lnTo>
                  <a:pt x="85032" y="57097"/>
                </a:lnTo>
                <a:lnTo>
                  <a:pt x="592067" y="78880"/>
                </a:lnTo>
                <a:lnTo>
                  <a:pt x="598732" y="72764"/>
                </a:lnTo>
                <a:lnTo>
                  <a:pt x="599409" y="56997"/>
                </a:lnTo>
                <a:lnTo>
                  <a:pt x="593293" y="50331"/>
                </a:lnTo>
                <a:lnTo>
                  <a:pt x="86258" y="28548"/>
                </a:lnTo>
                <a:close/>
              </a:path>
              <a:path w="599440" h="85725">
                <a:moveTo>
                  <a:pt x="64101" y="27597"/>
                </a:moveTo>
                <a:lnTo>
                  <a:pt x="57435" y="33713"/>
                </a:lnTo>
                <a:lnTo>
                  <a:pt x="56758" y="49480"/>
                </a:lnTo>
                <a:lnTo>
                  <a:pt x="62875" y="56145"/>
                </a:lnTo>
                <a:lnTo>
                  <a:pt x="85032" y="57097"/>
                </a:lnTo>
                <a:lnTo>
                  <a:pt x="86258" y="28548"/>
                </a:lnTo>
                <a:lnTo>
                  <a:pt x="64101" y="27597"/>
                </a:lnTo>
                <a:close/>
              </a:path>
              <a:path w="599440" h="85725">
                <a:moveTo>
                  <a:pt x="86299" y="27597"/>
                </a:moveTo>
                <a:lnTo>
                  <a:pt x="64101" y="27597"/>
                </a:lnTo>
                <a:lnTo>
                  <a:pt x="86258" y="28548"/>
                </a:lnTo>
                <a:lnTo>
                  <a:pt x="86299" y="27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102998" y="4491096"/>
            <a:ext cx="384175" cy="85725"/>
          </a:xfrm>
          <a:custGeom>
            <a:avLst/>
            <a:gdLst/>
            <a:ahLst/>
            <a:cxnLst/>
            <a:rect l="l" t="t" r="r" b="b"/>
            <a:pathLst>
              <a:path w="38417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50"/>
                </a:lnTo>
                <a:lnTo>
                  <a:pt x="57150" y="50753"/>
                </a:lnTo>
                <a:lnTo>
                  <a:pt x="57151" y="34970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384175" h="85725">
                <a:moveTo>
                  <a:pt x="85725" y="28575"/>
                </a:moveTo>
                <a:lnTo>
                  <a:pt x="63546" y="28575"/>
                </a:lnTo>
                <a:lnTo>
                  <a:pt x="57151" y="34970"/>
                </a:lnTo>
                <a:lnTo>
                  <a:pt x="57150" y="50753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384175" h="85725">
                <a:moveTo>
                  <a:pt x="377463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377463" y="57150"/>
                </a:lnTo>
                <a:lnTo>
                  <a:pt x="383858" y="50753"/>
                </a:lnTo>
                <a:lnTo>
                  <a:pt x="383858" y="34970"/>
                </a:lnTo>
                <a:lnTo>
                  <a:pt x="377463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119316" y="5222384"/>
            <a:ext cx="367665" cy="85725"/>
          </a:xfrm>
          <a:custGeom>
            <a:avLst/>
            <a:gdLst/>
            <a:ahLst/>
            <a:cxnLst/>
            <a:rect l="l" t="t" r="r" b="b"/>
            <a:pathLst>
              <a:path w="367664" h="85725">
                <a:moveTo>
                  <a:pt x="85411" y="0"/>
                </a:moveTo>
                <a:lnTo>
                  <a:pt x="0" y="43484"/>
                </a:lnTo>
                <a:lnTo>
                  <a:pt x="86034" y="85722"/>
                </a:lnTo>
                <a:lnTo>
                  <a:pt x="85828" y="57310"/>
                </a:lnTo>
                <a:lnTo>
                  <a:pt x="63648" y="57310"/>
                </a:lnTo>
                <a:lnTo>
                  <a:pt x="57205" y="50960"/>
                </a:lnTo>
                <a:lnTo>
                  <a:pt x="57090" y="35178"/>
                </a:lnTo>
                <a:lnTo>
                  <a:pt x="63440" y="28735"/>
                </a:lnTo>
                <a:lnTo>
                  <a:pt x="85619" y="28573"/>
                </a:lnTo>
                <a:lnTo>
                  <a:pt x="85411" y="0"/>
                </a:lnTo>
                <a:close/>
              </a:path>
              <a:path w="367664" h="85725">
                <a:moveTo>
                  <a:pt x="85619" y="28573"/>
                </a:moveTo>
                <a:lnTo>
                  <a:pt x="63440" y="28735"/>
                </a:lnTo>
                <a:lnTo>
                  <a:pt x="57090" y="35178"/>
                </a:lnTo>
                <a:lnTo>
                  <a:pt x="57205" y="50960"/>
                </a:lnTo>
                <a:lnTo>
                  <a:pt x="63648" y="57310"/>
                </a:lnTo>
                <a:lnTo>
                  <a:pt x="85827" y="57148"/>
                </a:lnTo>
                <a:lnTo>
                  <a:pt x="85619" y="28573"/>
                </a:lnTo>
                <a:close/>
              </a:path>
              <a:path w="367664" h="85725">
                <a:moveTo>
                  <a:pt x="85827" y="57148"/>
                </a:moveTo>
                <a:lnTo>
                  <a:pt x="63648" y="57310"/>
                </a:lnTo>
                <a:lnTo>
                  <a:pt x="85828" y="57310"/>
                </a:lnTo>
                <a:lnTo>
                  <a:pt x="85827" y="57148"/>
                </a:lnTo>
                <a:close/>
              </a:path>
              <a:path w="367664" h="85725">
                <a:moveTo>
                  <a:pt x="361041" y="26570"/>
                </a:moveTo>
                <a:lnTo>
                  <a:pt x="85619" y="28573"/>
                </a:lnTo>
                <a:lnTo>
                  <a:pt x="85827" y="57148"/>
                </a:lnTo>
                <a:lnTo>
                  <a:pt x="361248" y="55144"/>
                </a:lnTo>
                <a:lnTo>
                  <a:pt x="367598" y="48701"/>
                </a:lnTo>
                <a:lnTo>
                  <a:pt x="367484" y="32920"/>
                </a:lnTo>
                <a:lnTo>
                  <a:pt x="361041" y="265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129489" y="5944460"/>
            <a:ext cx="357505" cy="85725"/>
          </a:xfrm>
          <a:custGeom>
            <a:avLst/>
            <a:gdLst/>
            <a:ahLst/>
            <a:cxnLst/>
            <a:rect l="l" t="t" r="r" b="b"/>
            <a:pathLst>
              <a:path w="357504" h="85725">
                <a:moveTo>
                  <a:pt x="86131" y="0"/>
                </a:moveTo>
                <a:lnTo>
                  <a:pt x="0" y="42040"/>
                </a:lnTo>
                <a:lnTo>
                  <a:pt x="85310" y="85721"/>
                </a:lnTo>
                <a:lnTo>
                  <a:pt x="85584" y="57147"/>
                </a:lnTo>
                <a:lnTo>
                  <a:pt x="63407" y="56935"/>
                </a:lnTo>
                <a:lnTo>
                  <a:pt x="57071" y="50477"/>
                </a:lnTo>
                <a:lnTo>
                  <a:pt x="57222" y="34696"/>
                </a:lnTo>
                <a:lnTo>
                  <a:pt x="63680" y="28361"/>
                </a:lnTo>
                <a:lnTo>
                  <a:pt x="85859" y="28361"/>
                </a:lnTo>
                <a:lnTo>
                  <a:pt x="86131" y="0"/>
                </a:lnTo>
                <a:close/>
              </a:path>
              <a:path w="357504" h="85725">
                <a:moveTo>
                  <a:pt x="85857" y="28573"/>
                </a:moveTo>
                <a:lnTo>
                  <a:pt x="85584" y="57147"/>
                </a:lnTo>
                <a:lnTo>
                  <a:pt x="350834" y="59684"/>
                </a:lnTo>
                <a:lnTo>
                  <a:pt x="357291" y="53349"/>
                </a:lnTo>
                <a:lnTo>
                  <a:pt x="357442" y="37568"/>
                </a:lnTo>
                <a:lnTo>
                  <a:pt x="351108" y="31111"/>
                </a:lnTo>
                <a:lnTo>
                  <a:pt x="85857" y="28573"/>
                </a:lnTo>
                <a:close/>
              </a:path>
              <a:path w="357504" h="85725">
                <a:moveTo>
                  <a:pt x="63680" y="28361"/>
                </a:moveTo>
                <a:lnTo>
                  <a:pt x="57222" y="34696"/>
                </a:lnTo>
                <a:lnTo>
                  <a:pt x="57071" y="50477"/>
                </a:lnTo>
                <a:lnTo>
                  <a:pt x="63407" y="56935"/>
                </a:lnTo>
                <a:lnTo>
                  <a:pt x="85584" y="57147"/>
                </a:lnTo>
                <a:lnTo>
                  <a:pt x="85857" y="28573"/>
                </a:lnTo>
                <a:lnTo>
                  <a:pt x="63680" y="28361"/>
                </a:lnTo>
                <a:close/>
              </a:path>
              <a:path w="357504" h="85725">
                <a:moveTo>
                  <a:pt x="85859" y="28361"/>
                </a:moveTo>
                <a:lnTo>
                  <a:pt x="63680" y="28361"/>
                </a:lnTo>
                <a:lnTo>
                  <a:pt x="85857" y="28573"/>
                </a:lnTo>
                <a:lnTo>
                  <a:pt x="85859" y="28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295014" y="5255651"/>
            <a:ext cx="415290" cy="85725"/>
          </a:xfrm>
          <a:custGeom>
            <a:avLst/>
            <a:gdLst/>
            <a:ahLst/>
            <a:cxnLst/>
            <a:rect l="l" t="t" r="r" b="b"/>
            <a:pathLst>
              <a:path w="415289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5" y="57149"/>
                </a:lnTo>
                <a:lnTo>
                  <a:pt x="57151" y="50754"/>
                </a:lnTo>
                <a:lnTo>
                  <a:pt x="57150" y="34970"/>
                </a:lnTo>
                <a:lnTo>
                  <a:pt x="63545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415289" h="85725">
                <a:moveTo>
                  <a:pt x="85725" y="28574"/>
                </a:moveTo>
                <a:lnTo>
                  <a:pt x="63545" y="28574"/>
                </a:lnTo>
                <a:lnTo>
                  <a:pt x="57150" y="34970"/>
                </a:lnTo>
                <a:lnTo>
                  <a:pt x="57151" y="50754"/>
                </a:lnTo>
                <a:lnTo>
                  <a:pt x="63545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415289" h="85725">
                <a:moveTo>
                  <a:pt x="408590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408590" y="57149"/>
                </a:lnTo>
                <a:lnTo>
                  <a:pt x="414987" y="50754"/>
                </a:lnTo>
                <a:lnTo>
                  <a:pt x="414986" y="34970"/>
                </a:lnTo>
                <a:lnTo>
                  <a:pt x="40859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097986" y="4683952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97986" y="4683952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181955" y="3852763"/>
            <a:ext cx="520700" cy="606425"/>
          </a:xfrm>
          <a:custGeom>
            <a:avLst/>
            <a:gdLst/>
            <a:ahLst/>
            <a:cxnLst/>
            <a:rect l="l" t="t" r="r" b="b"/>
            <a:pathLst>
              <a:path w="520700" h="606425">
                <a:moveTo>
                  <a:pt x="0" y="0"/>
                </a:moveTo>
                <a:lnTo>
                  <a:pt x="520387" y="0"/>
                </a:lnTo>
                <a:lnTo>
                  <a:pt x="52038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solidFill>
            <a:srgbClr val="BAC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81955" y="3852763"/>
            <a:ext cx="520700" cy="606425"/>
          </a:xfrm>
          <a:custGeom>
            <a:avLst/>
            <a:gdLst/>
            <a:ahLst/>
            <a:cxnLst/>
            <a:rect l="l" t="t" r="r" b="b"/>
            <a:pathLst>
              <a:path w="520700" h="606425">
                <a:moveTo>
                  <a:pt x="0" y="0"/>
                </a:moveTo>
                <a:lnTo>
                  <a:pt x="520388" y="0"/>
                </a:lnTo>
                <a:lnTo>
                  <a:pt x="520388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721236" y="4109464"/>
            <a:ext cx="382905" cy="85725"/>
          </a:xfrm>
          <a:custGeom>
            <a:avLst/>
            <a:gdLst/>
            <a:ahLst/>
            <a:cxnLst/>
            <a:rect l="l" t="t" r="r" b="b"/>
            <a:pathLst>
              <a:path w="382904" h="85725">
                <a:moveTo>
                  <a:pt x="86258" y="0"/>
                </a:moveTo>
                <a:lnTo>
                  <a:pt x="0" y="41777"/>
                </a:lnTo>
                <a:lnTo>
                  <a:pt x="85177" y="85717"/>
                </a:lnTo>
                <a:lnTo>
                  <a:pt x="85537" y="57145"/>
                </a:lnTo>
                <a:lnTo>
                  <a:pt x="63361" y="56865"/>
                </a:lnTo>
                <a:lnTo>
                  <a:pt x="57045" y="50388"/>
                </a:lnTo>
                <a:lnTo>
                  <a:pt x="57245" y="34608"/>
                </a:lnTo>
                <a:lnTo>
                  <a:pt x="63722" y="28293"/>
                </a:lnTo>
                <a:lnTo>
                  <a:pt x="85901" y="28293"/>
                </a:lnTo>
                <a:lnTo>
                  <a:pt x="86258" y="0"/>
                </a:lnTo>
                <a:close/>
              </a:path>
              <a:path w="382904" h="85725">
                <a:moveTo>
                  <a:pt x="85898" y="28572"/>
                </a:moveTo>
                <a:lnTo>
                  <a:pt x="85537" y="57145"/>
                </a:lnTo>
                <a:lnTo>
                  <a:pt x="376050" y="60807"/>
                </a:lnTo>
                <a:lnTo>
                  <a:pt x="382527" y="54491"/>
                </a:lnTo>
                <a:lnTo>
                  <a:pt x="382725" y="38712"/>
                </a:lnTo>
                <a:lnTo>
                  <a:pt x="376410" y="32235"/>
                </a:lnTo>
                <a:lnTo>
                  <a:pt x="85898" y="28572"/>
                </a:lnTo>
                <a:close/>
              </a:path>
              <a:path w="382904" h="85725">
                <a:moveTo>
                  <a:pt x="63722" y="28293"/>
                </a:moveTo>
                <a:lnTo>
                  <a:pt x="57245" y="34608"/>
                </a:lnTo>
                <a:lnTo>
                  <a:pt x="57045" y="50388"/>
                </a:lnTo>
                <a:lnTo>
                  <a:pt x="63361" y="56865"/>
                </a:lnTo>
                <a:lnTo>
                  <a:pt x="85537" y="57145"/>
                </a:lnTo>
                <a:lnTo>
                  <a:pt x="85898" y="28572"/>
                </a:lnTo>
                <a:lnTo>
                  <a:pt x="63722" y="28293"/>
                </a:lnTo>
                <a:close/>
              </a:path>
              <a:path w="382904" h="85725">
                <a:moveTo>
                  <a:pt x="85901" y="28293"/>
                </a:moveTo>
                <a:lnTo>
                  <a:pt x="63722" y="28293"/>
                </a:lnTo>
                <a:lnTo>
                  <a:pt x="85898" y="28572"/>
                </a:lnTo>
                <a:lnTo>
                  <a:pt x="85901" y="28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096293" y="5451219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096293" y="5451219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718459" y="4971095"/>
            <a:ext cx="395605" cy="342265"/>
          </a:xfrm>
          <a:custGeom>
            <a:avLst/>
            <a:gdLst/>
            <a:ahLst/>
            <a:cxnLst/>
            <a:rect l="l" t="t" r="r" b="b"/>
            <a:pathLst>
              <a:path w="395604" h="342264">
                <a:moveTo>
                  <a:pt x="37120" y="253461"/>
                </a:moveTo>
                <a:lnTo>
                  <a:pt x="0" y="341824"/>
                </a:lnTo>
                <a:lnTo>
                  <a:pt x="92962" y="318503"/>
                </a:lnTo>
                <a:lnTo>
                  <a:pt x="86752" y="311269"/>
                </a:lnTo>
                <a:lnTo>
                  <a:pt x="57522" y="311269"/>
                </a:lnTo>
                <a:lnTo>
                  <a:pt x="48501" y="310583"/>
                </a:lnTo>
                <a:lnTo>
                  <a:pt x="38221" y="298608"/>
                </a:lnTo>
                <a:lnTo>
                  <a:pt x="38907" y="289589"/>
                </a:lnTo>
                <a:lnTo>
                  <a:pt x="55734" y="275142"/>
                </a:lnTo>
                <a:lnTo>
                  <a:pt x="37120" y="253461"/>
                </a:lnTo>
                <a:close/>
              </a:path>
              <a:path w="395604" h="342264">
                <a:moveTo>
                  <a:pt x="55734" y="275142"/>
                </a:moveTo>
                <a:lnTo>
                  <a:pt x="38907" y="289589"/>
                </a:lnTo>
                <a:lnTo>
                  <a:pt x="38221" y="298608"/>
                </a:lnTo>
                <a:lnTo>
                  <a:pt x="48501" y="310583"/>
                </a:lnTo>
                <a:lnTo>
                  <a:pt x="57522" y="311269"/>
                </a:lnTo>
                <a:lnTo>
                  <a:pt x="74348" y="296822"/>
                </a:lnTo>
                <a:lnTo>
                  <a:pt x="55734" y="275142"/>
                </a:lnTo>
                <a:close/>
              </a:path>
              <a:path w="395604" h="342264">
                <a:moveTo>
                  <a:pt x="74348" y="296822"/>
                </a:moveTo>
                <a:lnTo>
                  <a:pt x="57522" y="311269"/>
                </a:lnTo>
                <a:lnTo>
                  <a:pt x="86752" y="311269"/>
                </a:lnTo>
                <a:lnTo>
                  <a:pt x="74348" y="296822"/>
                </a:lnTo>
                <a:close/>
              </a:path>
              <a:path w="395604" h="342264">
                <a:moveTo>
                  <a:pt x="376207" y="0"/>
                </a:moveTo>
                <a:lnTo>
                  <a:pt x="55734" y="275142"/>
                </a:lnTo>
                <a:lnTo>
                  <a:pt x="74348" y="296822"/>
                </a:lnTo>
                <a:lnTo>
                  <a:pt x="394821" y="21681"/>
                </a:lnTo>
                <a:lnTo>
                  <a:pt x="395507" y="12660"/>
                </a:lnTo>
                <a:lnTo>
                  <a:pt x="385227" y="687"/>
                </a:lnTo>
                <a:lnTo>
                  <a:pt x="376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718459" y="5312919"/>
            <a:ext cx="394335" cy="457834"/>
          </a:xfrm>
          <a:custGeom>
            <a:avLst/>
            <a:gdLst/>
            <a:ahLst/>
            <a:cxnLst/>
            <a:rect l="l" t="t" r="r" b="b"/>
            <a:pathLst>
              <a:path w="394334" h="457835">
                <a:moveTo>
                  <a:pt x="66597" y="55834"/>
                </a:moveTo>
                <a:lnTo>
                  <a:pt x="44889" y="74415"/>
                </a:lnTo>
                <a:lnTo>
                  <a:pt x="372111" y="456709"/>
                </a:lnTo>
                <a:lnTo>
                  <a:pt x="381130" y="457409"/>
                </a:lnTo>
                <a:lnTo>
                  <a:pt x="393119" y="447146"/>
                </a:lnTo>
                <a:lnTo>
                  <a:pt x="393819" y="438127"/>
                </a:lnTo>
                <a:lnTo>
                  <a:pt x="66597" y="55834"/>
                </a:lnTo>
                <a:close/>
              </a:path>
              <a:path w="394334" h="457835">
                <a:moveTo>
                  <a:pt x="0" y="0"/>
                </a:moveTo>
                <a:lnTo>
                  <a:pt x="23181" y="92997"/>
                </a:lnTo>
                <a:lnTo>
                  <a:pt x="44889" y="74415"/>
                </a:lnTo>
                <a:lnTo>
                  <a:pt x="30468" y="57567"/>
                </a:lnTo>
                <a:lnTo>
                  <a:pt x="31168" y="48548"/>
                </a:lnTo>
                <a:lnTo>
                  <a:pt x="43158" y="38285"/>
                </a:lnTo>
                <a:lnTo>
                  <a:pt x="87100" y="38285"/>
                </a:lnTo>
                <a:lnTo>
                  <a:pt x="88306" y="37252"/>
                </a:lnTo>
                <a:lnTo>
                  <a:pt x="0" y="0"/>
                </a:lnTo>
                <a:close/>
              </a:path>
              <a:path w="394334" h="457835">
                <a:moveTo>
                  <a:pt x="43158" y="38285"/>
                </a:moveTo>
                <a:lnTo>
                  <a:pt x="31168" y="48548"/>
                </a:lnTo>
                <a:lnTo>
                  <a:pt x="30468" y="57567"/>
                </a:lnTo>
                <a:lnTo>
                  <a:pt x="44889" y="74415"/>
                </a:lnTo>
                <a:lnTo>
                  <a:pt x="66597" y="55834"/>
                </a:lnTo>
                <a:lnTo>
                  <a:pt x="52176" y="38986"/>
                </a:lnTo>
                <a:lnTo>
                  <a:pt x="43158" y="38285"/>
                </a:lnTo>
                <a:close/>
              </a:path>
              <a:path w="394334" h="457835">
                <a:moveTo>
                  <a:pt x="87100" y="38285"/>
                </a:moveTo>
                <a:lnTo>
                  <a:pt x="43158" y="38285"/>
                </a:lnTo>
                <a:lnTo>
                  <a:pt x="52176" y="38986"/>
                </a:lnTo>
                <a:lnTo>
                  <a:pt x="66597" y="55834"/>
                </a:lnTo>
                <a:lnTo>
                  <a:pt x="87100" y="38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198071" y="5009795"/>
            <a:ext cx="520700" cy="606425"/>
          </a:xfrm>
          <a:custGeom>
            <a:avLst/>
            <a:gdLst/>
            <a:ahLst/>
            <a:cxnLst/>
            <a:rect l="l" t="t" r="r" b="b"/>
            <a:pathLst>
              <a:path w="520700" h="606425">
                <a:moveTo>
                  <a:pt x="0" y="0"/>
                </a:moveTo>
                <a:lnTo>
                  <a:pt x="520388" y="0"/>
                </a:lnTo>
                <a:lnTo>
                  <a:pt x="520388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solidFill>
            <a:srgbClr val="BAC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198071" y="5009795"/>
            <a:ext cx="520700" cy="606425"/>
          </a:xfrm>
          <a:custGeom>
            <a:avLst/>
            <a:gdLst/>
            <a:ahLst/>
            <a:cxnLst/>
            <a:rect l="l" t="t" r="r" b="b"/>
            <a:pathLst>
              <a:path w="520700" h="606425">
                <a:moveTo>
                  <a:pt x="0" y="0"/>
                </a:moveTo>
                <a:lnTo>
                  <a:pt x="520388" y="0"/>
                </a:lnTo>
                <a:lnTo>
                  <a:pt x="520388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883507" y="4261257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83507" y="4261257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890808" y="4962747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890808" y="4962747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00982" y="5683377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434A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900982" y="5683377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695714" y="4995391"/>
            <a:ext cx="520700" cy="606425"/>
          </a:xfrm>
          <a:custGeom>
            <a:avLst/>
            <a:gdLst/>
            <a:ahLst/>
            <a:cxnLst/>
            <a:rect l="l" t="t" r="r" b="b"/>
            <a:pathLst>
              <a:path w="520700" h="606425">
                <a:moveTo>
                  <a:pt x="0" y="0"/>
                </a:moveTo>
                <a:lnTo>
                  <a:pt x="520388" y="0"/>
                </a:lnTo>
                <a:lnTo>
                  <a:pt x="520388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BAC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695714" y="4995391"/>
            <a:ext cx="520700" cy="606425"/>
          </a:xfrm>
          <a:custGeom>
            <a:avLst/>
            <a:gdLst/>
            <a:ahLst/>
            <a:cxnLst/>
            <a:rect l="l" t="t" r="r" b="b"/>
            <a:pathLst>
              <a:path w="520700" h="606425">
                <a:moveTo>
                  <a:pt x="0" y="0"/>
                </a:moveTo>
                <a:lnTo>
                  <a:pt x="520388" y="0"/>
                </a:lnTo>
                <a:lnTo>
                  <a:pt x="520388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256386" y="5250804"/>
            <a:ext cx="649605" cy="118745"/>
          </a:xfrm>
          <a:custGeom>
            <a:avLst/>
            <a:gdLst/>
            <a:ahLst/>
            <a:cxnLst/>
            <a:rect l="l" t="t" r="r" b="b"/>
            <a:pathLst>
              <a:path w="649604" h="118745">
                <a:moveTo>
                  <a:pt x="80518" y="32932"/>
                </a:moveTo>
                <a:lnTo>
                  <a:pt x="0" y="84919"/>
                </a:lnTo>
                <a:lnTo>
                  <a:pt x="89900" y="118143"/>
                </a:lnTo>
                <a:lnTo>
                  <a:pt x="87040" y="92166"/>
                </a:lnTo>
                <a:lnTo>
                  <a:pt x="64728" y="92166"/>
                </a:lnTo>
                <a:lnTo>
                  <a:pt x="57669" y="86508"/>
                </a:lnTo>
                <a:lnTo>
                  <a:pt x="55942" y="70821"/>
                </a:lnTo>
                <a:lnTo>
                  <a:pt x="61601" y="63762"/>
                </a:lnTo>
                <a:lnTo>
                  <a:pt x="83645" y="61335"/>
                </a:lnTo>
                <a:lnTo>
                  <a:pt x="80518" y="32932"/>
                </a:lnTo>
                <a:close/>
              </a:path>
              <a:path w="649604" h="118745">
                <a:moveTo>
                  <a:pt x="83645" y="61335"/>
                </a:moveTo>
                <a:lnTo>
                  <a:pt x="61601" y="63762"/>
                </a:lnTo>
                <a:lnTo>
                  <a:pt x="55942" y="70821"/>
                </a:lnTo>
                <a:lnTo>
                  <a:pt x="57669" y="86508"/>
                </a:lnTo>
                <a:lnTo>
                  <a:pt x="64728" y="92166"/>
                </a:lnTo>
                <a:lnTo>
                  <a:pt x="86773" y="89739"/>
                </a:lnTo>
                <a:lnTo>
                  <a:pt x="83645" y="61335"/>
                </a:lnTo>
                <a:close/>
              </a:path>
              <a:path w="649604" h="118745">
                <a:moveTo>
                  <a:pt x="86773" y="89739"/>
                </a:moveTo>
                <a:lnTo>
                  <a:pt x="64728" y="92166"/>
                </a:lnTo>
                <a:lnTo>
                  <a:pt x="87040" y="92166"/>
                </a:lnTo>
                <a:lnTo>
                  <a:pt x="86773" y="89739"/>
                </a:lnTo>
                <a:close/>
              </a:path>
              <a:path w="649604" h="118745">
                <a:moveTo>
                  <a:pt x="640702" y="0"/>
                </a:moveTo>
                <a:lnTo>
                  <a:pt x="83645" y="61335"/>
                </a:lnTo>
                <a:lnTo>
                  <a:pt x="86773" y="89739"/>
                </a:lnTo>
                <a:lnTo>
                  <a:pt x="643829" y="28403"/>
                </a:lnTo>
                <a:lnTo>
                  <a:pt x="649488" y="21344"/>
                </a:lnTo>
                <a:lnTo>
                  <a:pt x="647760" y="5657"/>
                </a:lnTo>
                <a:lnTo>
                  <a:pt x="640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296913" y="4548427"/>
            <a:ext cx="602615" cy="688340"/>
          </a:xfrm>
          <a:custGeom>
            <a:avLst/>
            <a:gdLst/>
            <a:ahLst/>
            <a:cxnLst/>
            <a:rect l="l" t="t" r="r" b="b"/>
            <a:pathLst>
              <a:path w="602614" h="688339">
                <a:moveTo>
                  <a:pt x="24060" y="595497"/>
                </a:moveTo>
                <a:lnTo>
                  <a:pt x="0" y="688272"/>
                </a:lnTo>
                <a:lnTo>
                  <a:pt x="88654" y="651856"/>
                </a:lnTo>
                <a:lnTo>
                  <a:pt x="86982" y="650397"/>
                </a:lnTo>
                <a:lnTo>
                  <a:pt x="43517" y="650397"/>
                </a:lnTo>
                <a:lnTo>
                  <a:pt x="31625" y="640021"/>
                </a:lnTo>
                <a:lnTo>
                  <a:pt x="31010" y="630996"/>
                </a:lnTo>
                <a:lnTo>
                  <a:pt x="45592" y="614284"/>
                </a:lnTo>
                <a:lnTo>
                  <a:pt x="24060" y="595497"/>
                </a:lnTo>
                <a:close/>
              </a:path>
              <a:path w="602614" h="688339">
                <a:moveTo>
                  <a:pt x="45592" y="614284"/>
                </a:moveTo>
                <a:lnTo>
                  <a:pt x="31010" y="630996"/>
                </a:lnTo>
                <a:lnTo>
                  <a:pt x="31625" y="640021"/>
                </a:lnTo>
                <a:lnTo>
                  <a:pt x="43517" y="650397"/>
                </a:lnTo>
                <a:lnTo>
                  <a:pt x="52542" y="649782"/>
                </a:lnTo>
                <a:lnTo>
                  <a:pt x="67123" y="633070"/>
                </a:lnTo>
                <a:lnTo>
                  <a:pt x="45592" y="614284"/>
                </a:lnTo>
                <a:close/>
              </a:path>
              <a:path w="602614" h="688339">
                <a:moveTo>
                  <a:pt x="67123" y="633070"/>
                </a:moveTo>
                <a:lnTo>
                  <a:pt x="52542" y="649782"/>
                </a:lnTo>
                <a:lnTo>
                  <a:pt x="43517" y="650397"/>
                </a:lnTo>
                <a:lnTo>
                  <a:pt x="86982" y="650397"/>
                </a:lnTo>
                <a:lnTo>
                  <a:pt x="67123" y="633070"/>
                </a:lnTo>
                <a:close/>
              </a:path>
              <a:path w="602614" h="688339">
                <a:moveTo>
                  <a:pt x="590042" y="0"/>
                </a:moveTo>
                <a:lnTo>
                  <a:pt x="581016" y="614"/>
                </a:lnTo>
                <a:lnTo>
                  <a:pt x="45592" y="614284"/>
                </a:lnTo>
                <a:lnTo>
                  <a:pt x="67123" y="633070"/>
                </a:lnTo>
                <a:lnTo>
                  <a:pt x="602547" y="19400"/>
                </a:lnTo>
                <a:lnTo>
                  <a:pt x="601933" y="10375"/>
                </a:lnTo>
                <a:lnTo>
                  <a:pt x="5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247671" y="5405580"/>
            <a:ext cx="669290" cy="596900"/>
          </a:xfrm>
          <a:custGeom>
            <a:avLst/>
            <a:gdLst/>
            <a:ahLst/>
            <a:cxnLst/>
            <a:rect l="l" t="t" r="r" b="b"/>
            <a:pathLst>
              <a:path w="669289" h="596900">
                <a:moveTo>
                  <a:pt x="73556" y="46285"/>
                </a:moveTo>
                <a:lnTo>
                  <a:pt x="54568" y="67640"/>
                </a:lnTo>
                <a:lnTo>
                  <a:pt x="649714" y="596840"/>
                </a:lnTo>
                <a:lnTo>
                  <a:pt x="658745" y="596310"/>
                </a:lnTo>
                <a:lnTo>
                  <a:pt x="669231" y="584516"/>
                </a:lnTo>
                <a:lnTo>
                  <a:pt x="668701" y="575486"/>
                </a:lnTo>
                <a:lnTo>
                  <a:pt x="73556" y="46285"/>
                </a:lnTo>
                <a:close/>
              </a:path>
              <a:path w="669289" h="596900">
                <a:moveTo>
                  <a:pt x="0" y="0"/>
                </a:moveTo>
                <a:lnTo>
                  <a:pt x="35580" y="88993"/>
                </a:lnTo>
                <a:lnTo>
                  <a:pt x="54568" y="67640"/>
                </a:lnTo>
                <a:lnTo>
                  <a:pt x="37994" y="52903"/>
                </a:lnTo>
                <a:lnTo>
                  <a:pt x="37464" y="43872"/>
                </a:lnTo>
                <a:lnTo>
                  <a:pt x="47951" y="32078"/>
                </a:lnTo>
                <a:lnTo>
                  <a:pt x="56982" y="31548"/>
                </a:lnTo>
                <a:lnTo>
                  <a:pt x="86661" y="31548"/>
                </a:lnTo>
                <a:lnTo>
                  <a:pt x="92543" y="24932"/>
                </a:lnTo>
                <a:lnTo>
                  <a:pt x="0" y="0"/>
                </a:lnTo>
                <a:close/>
              </a:path>
              <a:path w="669289" h="596900">
                <a:moveTo>
                  <a:pt x="56982" y="31548"/>
                </a:moveTo>
                <a:lnTo>
                  <a:pt x="47951" y="32078"/>
                </a:lnTo>
                <a:lnTo>
                  <a:pt x="37464" y="43872"/>
                </a:lnTo>
                <a:lnTo>
                  <a:pt x="37994" y="52903"/>
                </a:lnTo>
                <a:lnTo>
                  <a:pt x="54568" y="67640"/>
                </a:lnTo>
                <a:lnTo>
                  <a:pt x="73556" y="46285"/>
                </a:lnTo>
                <a:lnTo>
                  <a:pt x="56982" y="31548"/>
                </a:lnTo>
                <a:close/>
              </a:path>
              <a:path w="669289" h="596900">
                <a:moveTo>
                  <a:pt x="86661" y="31548"/>
                </a:moveTo>
                <a:lnTo>
                  <a:pt x="56982" y="31548"/>
                </a:lnTo>
                <a:lnTo>
                  <a:pt x="73556" y="46285"/>
                </a:lnTo>
                <a:lnTo>
                  <a:pt x="86661" y="315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2970518" y="4004564"/>
            <a:ext cx="266827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b="1">
                <a:solidFill>
                  <a:srgbClr val="D9253E"/>
                </a:solidFill>
                <a:latin typeface="Arial"/>
                <a:cs typeface="Arial"/>
              </a:rPr>
              <a:t>Only pass </a:t>
            </a:r>
            <a:r>
              <a:rPr dirty="0" sz="1800" spc="-5" b="1">
                <a:solidFill>
                  <a:srgbClr val="D9253E"/>
                </a:solidFill>
                <a:latin typeface="Arial"/>
                <a:cs typeface="Arial"/>
              </a:rPr>
              <a:t>messages  along direction </a:t>
            </a:r>
            <a:r>
              <a:rPr dirty="0" sz="1800" b="1">
                <a:solidFill>
                  <a:srgbClr val="D9253E"/>
                </a:solidFill>
                <a:latin typeface="Arial"/>
                <a:cs typeface="Arial"/>
              </a:rPr>
              <a:t>of</a:t>
            </a:r>
            <a:r>
              <a:rPr dirty="0" sz="1800" spc="-45" b="1">
                <a:solidFill>
                  <a:srgbClr val="D9253E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D9253E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3" name="object 7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27640" y="5346389"/>
            <a:ext cx="829007" cy="1297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43416" y="6543843"/>
            <a:ext cx="276860" cy="215265"/>
          </a:xfrm>
          <a:custGeom>
            <a:avLst/>
            <a:gdLst/>
            <a:ahLst/>
            <a:cxnLst/>
            <a:rect l="l" t="t" r="r" b="b"/>
            <a:pathLst>
              <a:path w="276860" h="215265">
                <a:moveTo>
                  <a:pt x="0" y="214927"/>
                </a:moveTo>
                <a:lnTo>
                  <a:pt x="276335" y="214927"/>
                </a:lnTo>
                <a:lnTo>
                  <a:pt x="276335" y="0"/>
                </a:lnTo>
                <a:lnTo>
                  <a:pt x="0" y="0"/>
                </a:lnTo>
                <a:lnTo>
                  <a:pt x="0" y="214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10803" y="5763544"/>
            <a:ext cx="1004569" cy="593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Calibri"/>
                <a:cs typeface="Calibri"/>
              </a:rPr>
              <a:t>(2)</a:t>
            </a:r>
            <a:r>
              <a:rPr dirty="0" sz="12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200" spc="-5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200" spc="-8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5216" y="347472"/>
            <a:ext cx="6568440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5814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A </a:t>
            </a:r>
            <a:r>
              <a:rPr dirty="0" spc="-5">
                <a:solidFill>
                  <a:srgbClr val="000000"/>
                </a:solidFill>
              </a:rPr>
              <a:t>single GNN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layer: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6563" y="1920747"/>
            <a:ext cx="68465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(1)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each node </a:t>
            </a:r>
            <a:r>
              <a:rPr dirty="0" sz="2800" spc="-10">
                <a:latin typeface="Calibri"/>
                <a:cs typeface="Calibri"/>
              </a:rPr>
              <a:t>computes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message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2947923"/>
            <a:ext cx="792543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(2)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Aggregation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20">
                <a:latin typeface="Calibri"/>
                <a:cs typeface="Calibri"/>
              </a:rPr>
              <a:t>aggregate </a:t>
            </a:r>
            <a:r>
              <a:rPr dirty="0" sz="2800" spc="-10">
                <a:latin typeface="Calibri"/>
                <a:cs typeface="Calibri"/>
              </a:rPr>
              <a:t>messages </a:t>
            </a:r>
            <a:r>
              <a:rPr dirty="0" sz="2800" spc="-15">
                <a:latin typeface="Calibri"/>
                <a:cs typeface="Calibri"/>
              </a:rPr>
              <a:t>from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65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563" y="3897545"/>
            <a:ext cx="7035800" cy="140970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Nonlinearity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(activation): </a:t>
            </a:r>
            <a:r>
              <a:rPr dirty="0" sz="2800">
                <a:latin typeface="Calibri"/>
                <a:cs typeface="Calibri"/>
              </a:rPr>
              <a:t>Adds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expressiveness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Often </a:t>
            </a:r>
            <a:r>
              <a:rPr dirty="0" sz="2400" spc="-15">
                <a:latin typeface="Calibri"/>
                <a:cs typeface="Calibri"/>
              </a:rPr>
              <a:t>written </a:t>
            </a:r>
            <a:r>
              <a:rPr dirty="0" sz="2400">
                <a:latin typeface="Calibri"/>
                <a:cs typeface="Calibri"/>
              </a:rPr>
              <a:t>as </a:t>
            </a:r>
            <a:r>
              <a:rPr dirty="0" sz="2400" spc="0">
                <a:latin typeface="Cambria Math"/>
                <a:cs typeface="Cambria Math"/>
              </a:rPr>
              <a:t>𝜎(⋅)</a:t>
            </a:r>
            <a:r>
              <a:rPr dirty="0" sz="2400" spc="0">
                <a:latin typeface="Calibri"/>
                <a:cs typeface="Calibri"/>
              </a:rPr>
              <a:t>: </a:t>
            </a:r>
            <a:r>
              <a:rPr dirty="0" sz="2400" spc="-15">
                <a:latin typeface="Cambria Math"/>
                <a:cs typeface="Cambria Math"/>
              </a:rPr>
              <a:t>ReLU(⋅)</a:t>
            </a:r>
            <a:r>
              <a:rPr dirty="0" sz="2400" spc="-15">
                <a:latin typeface="Calibri"/>
                <a:cs typeface="Calibri"/>
              </a:rPr>
              <a:t>, </a:t>
            </a:r>
            <a:r>
              <a:rPr dirty="0" sz="2400" spc="-5">
                <a:latin typeface="Cambria Math"/>
                <a:cs typeface="Cambria Math"/>
              </a:rPr>
              <a:t>Sigmoid(⋅) </a:t>
            </a:r>
            <a:r>
              <a:rPr dirty="0" sz="2400">
                <a:latin typeface="Calibri"/>
                <a:cs typeface="Calibri"/>
              </a:rPr>
              <a:t>,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0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added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message or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20901" y="2469889"/>
            <a:ext cx="269875" cy="235585"/>
          </a:xfrm>
          <a:custGeom>
            <a:avLst/>
            <a:gdLst/>
            <a:ahLst/>
            <a:cxnLst/>
            <a:rect l="l" t="t" r="r" b="b"/>
            <a:pathLst>
              <a:path w="269875" h="235585">
                <a:moveTo>
                  <a:pt x="194397" y="0"/>
                </a:moveTo>
                <a:lnTo>
                  <a:pt x="191048" y="9549"/>
                </a:lnTo>
                <a:lnTo>
                  <a:pt x="204668" y="15460"/>
                </a:lnTo>
                <a:lnTo>
                  <a:pt x="216381" y="23641"/>
                </a:lnTo>
                <a:lnTo>
                  <a:pt x="240162" y="61565"/>
                </a:lnTo>
                <a:lnTo>
                  <a:pt x="247976" y="116457"/>
                </a:lnTo>
                <a:lnTo>
                  <a:pt x="247104" y="137208"/>
                </a:lnTo>
                <a:lnTo>
                  <a:pt x="234022" y="188019"/>
                </a:lnTo>
                <a:lnTo>
                  <a:pt x="204827" y="219784"/>
                </a:lnTo>
                <a:lnTo>
                  <a:pt x="191420" y="225722"/>
                </a:lnTo>
                <a:lnTo>
                  <a:pt x="194397" y="235272"/>
                </a:lnTo>
                <a:lnTo>
                  <a:pt x="239348" y="208564"/>
                </a:lnTo>
                <a:lnTo>
                  <a:pt x="264594" y="159261"/>
                </a:lnTo>
                <a:lnTo>
                  <a:pt x="269431" y="117698"/>
                </a:lnTo>
                <a:lnTo>
                  <a:pt x="268218" y="96129"/>
                </a:lnTo>
                <a:lnTo>
                  <a:pt x="258514" y="57899"/>
                </a:lnTo>
                <a:lnTo>
                  <a:pt x="226411" y="15084"/>
                </a:lnTo>
                <a:lnTo>
                  <a:pt x="211455" y="6158"/>
                </a:lnTo>
                <a:lnTo>
                  <a:pt x="194397" y="0"/>
                </a:lnTo>
                <a:close/>
              </a:path>
              <a:path w="2698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69523" y="2420619"/>
            <a:ext cx="2039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0">
                <a:latin typeface="Cambria Math"/>
                <a:cs typeface="Cambria Math"/>
              </a:rPr>
              <a:t>𝐦</a:t>
            </a:r>
            <a:r>
              <a:rPr dirty="0" baseline="41666" sz="3000" spc="-375">
                <a:latin typeface="Cambria Math"/>
                <a:cs typeface="Cambria Math"/>
              </a:rPr>
              <a:t>(%)  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MSG</a:t>
            </a:r>
            <a:r>
              <a:rPr dirty="0" sz="2800" spc="330">
                <a:latin typeface="Cambria Math"/>
                <a:cs typeface="Cambria Math"/>
              </a:rPr>
              <a:t> </a:t>
            </a:r>
            <a:r>
              <a:rPr dirty="0" baseline="27777" sz="3000" spc="-1612">
                <a:latin typeface="Cambria Math"/>
                <a:cs typeface="Cambria Math"/>
              </a:rPr>
              <a:t>%</a:t>
            </a:r>
            <a:endParaRPr baseline="27777" sz="3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19534" y="2395566"/>
            <a:ext cx="1176020" cy="586740"/>
          </a:xfrm>
          <a:custGeom>
            <a:avLst/>
            <a:gdLst/>
            <a:ahLst/>
            <a:cxnLst/>
            <a:rect l="l" t="t" r="r" b="b"/>
            <a:pathLst>
              <a:path w="1176020" h="586739">
                <a:moveTo>
                  <a:pt x="1049129" y="0"/>
                </a:moveTo>
                <a:lnTo>
                  <a:pt x="1043572" y="13891"/>
                </a:lnTo>
                <a:lnTo>
                  <a:pt x="1065434" y="31661"/>
                </a:lnTo>
                <a:lnTo>
                  <a:pt x="1084832" y="54759"/>
                </a:lnTo>
                <a:lnTo>
                  <a:pt x="1116238" y="116941"/>
                </a:lnTo>
                <a:lnTo>
                  <a:pt x="1127823" y="155287"/>
                </a:lnTo>
                <a:lnTo>
                  <a:pt x="1136097" y="197485"/>
                </a:lnTo>
                <a:lnTo>
                  <a:pt x="1141062" y="243536"/>
                </a:lnTo>
                <a:lnTo>
                  <a:pt x="1142716" y="293439"/>
                </a:lnTo>
                <a:lnTo>
                  <a:pt x="1141072" y="342555"/>
                </a:lnTo>
                <a:lnTo>
                  <a:pt x="1136140" y="388156"/>
                </a:lnTo>
                <a:lnTo>
                  <a:pt x="1127920" y="430240"/>
                </a:lnTo>
                <a:lnTo>
                  <a:pt x="1116411" y="468809"/>
                </a:lnTo>
                <a:lnTo>
                  <a:pt x="1085049" y="531577"/>
                </a:lnTo>
                <a:lnTo>
                  <a:pt x="1043572" y="572641"/>
                </a:lnTo>
                <a:lnTo>
                  <a:pt x="1049129" y="586531"/>
                </a:lnTo>
                <a:lnTo>
                  <a:pt x="1101327" y="544773"/>
                </a:lnTo>
                <a:lnTo>
                  <a:pt x="1141589" y="477837"/>
                </a:lnTo>
                <a:lnTo>
                  <a:pt x="1156591" y="436469"/>
                </a:lnTo>
                <a:lnTo>
                  <a:pt x="1167308" y="391889"/>
                </a:lnTo>
                <a:lnTo>
                  <a:pt x="1173738" y="344096"/>
                </a:lnTo>
                <a:lnTo>
                  <a:pt x="1175881" y="293091"/>
                </a:lnTo>
                <a:lnTo>
                  <a:pt x="1173738" y="241826"/>
                </a:lnTo>
                <a:lnTo>
                  <a:pt x="1167308" y="193947"/>
                </a:lnTo>
                <a:lnTo>
                  <a:pt x="1156591" y="149454"/>
                </a:lnTo>
                <a:lnTo>
                  <a:pt x="1141589" y="108347"/>
                </a:lnTo>
                <a:lnTo>
                  <a:pt x="1122950" y="72014"/>
                </a:lnTo>
                <a:lnTo>
                  <a:pt x="1076720" y="17840"/>
                </a:lnTo>
                <a:lnTo>
                  <a:pt x="1049129" y="0"/>
                </a:lnTo>
                <a:close/>
              </a:path>
              <a:path w="1176020" h="586739">
                <a:moveTo>
                  <a:pt x="126578" y="0"/>
                </a:moveTo>
                <a:lnTo>
                  <a:pt x="74509" y="41845"/>
                </a:lnTo>
                <a:lnTo>
                  <a:pt x="34292" y="108347"/>
                </a:lnTo>
                <a:lnTo>
                  <a:pt x="19289" y="149454"/>
                </a:lnTo>
                <a:lnTo>
                  <a:pt x="8573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3" y="391889"/>
                </a:lnTo>
                <a:lnTo>
                  <a:pt x="19289" y="436469"/>
                </a:lnTo>
                <a:lnTo>
                  <a:pt x="34292" y="477837"/>
                </a:lnTo>
                <a:lnTo>
                  <a:pt x="52919" y="514452"/>
                </a:lnTo>
                <a:lnTo>
                  <a:pt x="99062" y="568799"/>
                </a:lnTo>
                <a:lnTo>
                  <a:pt x="126578" y="586531"/>
                </a:lnTo>
                <a:lnTo>
                  <a:pt x="132308" y="572641"/>
                </a:lnTo>
                <a:lnTo>
                  <a:pt x="110235" y="554822"/>
                </a:lnTo>
                <a:lnTo>
                  <a:pt x="90723" y="531577"/>
                </a:lnTo>
                <a:lnTo>
                  <a:pt x="59382" y="468809"/>
                </a:lnTo>
                <a:lnTo>
                  <a:pt x="47911" y="430240"/>
                </a:lnTo>
                <a:lnTo>
                  <a:pt x="39718" y="388156"/>
                </a:lnTo>
                <a:lnTo>
                  <a:pt x="34802" y="342555"/>
                </a:lnTo>
                <a:lnTo>
                  <a:pt x="33163" y="293439"/>
                </a:lnTo>
                <a:lnTo>
                  <a:pt x="34818" y="243536"/>
                </a:lnTo>
                <a:lnTo>
                  <a:pt x="39783" y="197485"/>
                </a:lnTo>
                <a:lnTo>
                  <a:pt x="48058" y="155287"/>
                </a:lnTo>
                <a:lnTo>
                  <a:pt x="59643" y="116941"/>
                </a:lnTo>
                <a:lnTo>
                  <a:pt x="91048" y="54759"/>
                </a:lnTo>
                <a:lnTo>
                  <a:pt x="132308" y="13891"/>
                </a:lnTo>
                <a:lnTo>
                  <a:pt x="1265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91786" y="2613659"/>
            <a:ext cx="2466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88540" algn="l"/>
              </a:tabLst>
            </a:pPr>
            <a:r>
              <a:rPr dirty="0" sz="2000" spc="55">
                <a:latin typeface="Cambria Math"/>
                <a:cs typeface="Cambria Math"/>
              </a:rPr>
              <a:t>#</a:t>
            </a:r>
            <a:r>
              <a:rPr dirty="0" sz="2000" spc="55">
                <a:latin typeface="Cambria Math"/>
                <a:cs typeface="Cambria Math"/>
              </a:rPr>
              <a:t>	</a:t>
            </a:r>
            <a:r>
              <a:rPr dirty="0" baseline="1388" sz="3000" spc="82">
                <a:latin typeface="Cambria Math"/>
                <a:cs typeface="Cambria Math"/>
              </a:rPr>
              <a:t>#</a:t>
            </a:r>
            <a:endParaRPr baseline="1388" sz="3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03094" y="2420994"/>
            <a:ext cx="609600" cy="235585"/>
          </a:xfrm>
          <a:custGeom>
            <a:avLst/>
            <a:gdLst/>
            <a:ahLst/>
            <a:cxnLst/>
            <a:rect l="l" t="t" r="r" b="b"/>
            <a:pathLst>
              <a:path w="609600" h="235585">
                <a:moveTo>
                  <a:pt x="534122" y="0"/>
                </a:moveTo>
                <a:lnTo>
                  <a:pt x="530774" y="9550"/>
                </a:lnTo>
                <a:lnTo>
                  <a:pt x="544393" y="15460"/>
                </a:lnTo>
                <a:lnTo>
                  <a:pt x="556106" y="23642"/>
                </a:lnTo>
                <a:lnTo>
                  <a:pt x="579887" y="61565"/>
                </a:lnTo>
                <a:lnTo>
                  <a:pt x="587701" y="116457"/>
                </a:lnTo>
                <a:lnTo>
                  <a:pt x="586829" y="137208"/>
                </a:lnTo>
                <a:lnTo>
                  <a:pt x="573747" y="188019"/>
                </a:lnTo>
                <a:lnTo>
                  <a:pt x="544553" y="219784"/>
                </a:lnTo>
                <a:lnTo>
                  <a:pt x="531147" y="225722"/>
                </a:lnTo>
                <a:lnTo>
                  <a:pt x="534122" y="235272"/>
                </a:lnTo>
                <a:lnTo>
                  <a:pt x="579073" y="208564"/>
                </a:lnTo>
                <a:lnTo>
                  <a:pt x="604319" y="159261"/>
                </a:lnTo>
                <a:lnTo>
                  <a:pt x="609156" y="117698"/>
                </a:lnTo>
                <a:lnTo>
                  <a:pt x="607943" y="96129"/>
                </a:lnTo>
                <a:lnTo>
                  <a:pt x="598239" y="57899"/>
                </a:lnTo>
                <a:lnTo>
                  <a:pt x="566136" y="15084"/>
                </a:lnTo>
                <a:lnTo>
                  <a:pt x="551180" y="6158"/>
                </a:lnTo>
                <a:lnTo>
                  <a:pt x="534122" y="0"/>
                </a:lnTo>
                <a:close/>
              </a:path>
              <a:path w="60960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1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250583" y="2243835"/>
            <a:ext cx="7880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4200">
                <a:latin typeface="Cambria Math"/>
                <a:cs typeface="Cambria Math"/>
              </a:rPr>
              <a:t>𝐡</a:t>
            </a:r>
            <a:r>
              <a:rPr dirty="0" baseline="-27777" sz="4200" spc="209">
                <a:latin typeface="Cambria Math"/>
                <a:cs typeface="Cambria Math"/>
              </a:rPr>
              <a:t> </a:t>
            </a:r>
            <a:r>
              <a:rPr dirty="0" sz="2000" spc="105">
                <a:latin typeface="Cambria Math"/>
                <a:cs typeface="Cambria Math"/>
              </a:rPr>
              <a:t>%'(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89553" y="2524125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69"/>
                </a:lnTo>
                <a:lnTo>
                  <a:pt x="346074" y="21643"/>
                </a:lnTo>
                <a:lnTo>
                  <a:pt x="362471" y="33098"/>
                </a:lnTo>
                <a:lnTo>
                  <a:pt x="387257" y="65545"/>
                </a:lnTo>
                <a:lnTo>
                  <a:pt x="401842" y="109323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4"/>
                </a:lnTo>
                <a:lnTo>
                  <a:pt x="376118" y="281306"/>
                </a:lnTo>
                <a:lnTo>
                  <a:pt x="346296" y="307698"/>
                </a:lnTo>
                <a:lnTo>
                  <a:pt x="327527" y="316011"/>
                </a:lnTo>
                <a:lnTo>
                  <a:pt x="331694" y="329380"/>
                </a:lnTo>
                <a:lnTo>
                  <a:pt x="376622" y="308306"/>
                </a:lnTo>
                <a:lnTo>
                  <a:pt x="409656" y="271821"/>
                </a:lnTo>
                <a:lnTo>
                  <a:pt x="429971" y="222965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8"/>
                </a:lnTo>
                <a:lnTo>
                  <a:pt x="394512" y="37488"/>
                </a:lnTo>
                <a:lnTo>
                  <a:pt x="355574" y="8621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30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372501" y="2420619"/>
            <a:ext cx="24409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2865" algn="l"/>
                <a:tab pos="1763395" algn="l"/>
              </a:tabLst>
            </a:pPr>
            <a:r>
              <a:rPr dirty="0" sz="2800">
                <a:latin typeface="Cambria Math"/>
                <a:cs typeface="Cambria Math"/>
              </a:rPr>
              <a:t>, 𝑢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{𝑁	𝑣	∪</a:t>
            </a:r>
            <a:r>
              <a:rPr dirty="0" sz="2800" spc="-8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18352" y="3546591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20">
                <a:moveTo>
                  <a:pt x="180442" y="0"/>
                </a:moveTo>
                <a:lnTo>
                  <a:pt x="177261" y="9072"/>
                </a:lnTo>
                <a:lnTo>
                  <a:pt x="190200" y="14687"/>
                </a:lnTo>
                <a:lnTo>
                  <a:pt x="201327" y="22460"/>
                </a:lnTo>
                <a:lnTo>
                  <a:pt x="223919" y="58488"/>
                </a:lnTo>
                <a:lnTo>
                  <a:pt x="231341" y="110636"/>
                </a:lnTo>
                <a:lnTo>
                  <a:pt x="230513" y="130349"/>
                </a:lnTo>
                <a:lnTo>
                  <a:pt x="218086" y="178619"/>
                </a:lnTo>
                <a:lnTo>
                  <a:pt x="190351" y="208796"/>
                </a:lnTo>
                <a:lnTo>
                  <a:pt x="177615" y="214436"/>
                </a:lnTo>
                <a:lnTo>
                  <a:pt x="180442" y="223509"/>
                </a:lnTo>
                <a:lnTo>
                  <a:pt x="223146" y="198137"/>
                </a:lnTo>
                <a:lnTo>
                  <a:pt x="247130" y="151299"/>
                </a:lnTo>
                <a:lnTo>
                  <a:pt x="251725" y="111813"/>
                </a:lnTo>
                <a:lnTo>
                  <a:pt x="250572" y="91323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88296" y="3481491"/>
            <a:ext cx="3361054" cy="544830"/>
          </a:xfrm>
          <a:custGeom>
            <a:avLst/>
            <a:gdLst/>
            <a:ahLst/>
            <a:cxnLst/>
            <a:rect l="l" t="t" r="r" b="b"/>
            <a:pathLst>
              <a:path w="3361054" h="544829">
                <a:moveTo>
                  <a:pt x="3242750" y="0"/>
                </a:moveTo>
                <a:lnTo>
                  <a:pt x="3237590" y="12898"/>
                </a:lnTo>
                <a:lnTo>
                  <a:pt x="3257891" y="29398"/>
                </a:lnTo>
                <a:lnTo>
                  <a:pt x="3275904" y="50847"/>
                </a:lnTo>
                <a:lnTo>
                  <a:pt x="3305065" y="108588"/>
                </a:lnTo>
                <a:lnTo>
                  <a:pt x="3323506" y="183378"/>
                </a:lnTo>
                <a:lnTo>
                  <a:pt x="3328117" y="226140"/>
                </a:lnTo>
                <a:lnTo>
                  <a:pt x="3329654" y="272478"/>
                </a:lnTo>
                <a:lnTo>
                  <a:pt x="3328127" y="318087"/>
                </a:lnTo>
                <a:lnTo>
                  <a:pt x="3323547" y="360430"/>
                </a:lnTo>
                <a:lnTo>
                  <a:pt x="3315914" y="399508"/>
                </a:lnTo>
                <a:lnTo>
                  <a:pt x="3291840" y="466983"/>
                </a:lnTo>
                <a:lnTo>
                  <a:pt x="3258022" y="515190"/>
                </a:lnTo>
                <a:lnTo>
                  <a:pt x="3237590" y="531737"/>
                </a:lnTo>
                <a:lnTo>
                  <a:pt x="3242750" y="544635"/>
                </a:lnTo>
                <a:lnTo>
                  <a:pt x="3291220" y="505860"/>
                </a:lnTo>
                <a:lnTo>
                  <a:pt x="3328605" y="443706"/>
                </a:lnTo>
                <a:lnTo>
                  <a:pt x="3342536" y="405292"/>
                </a:lnTo>
                <a:lnTo>
                  <a:pt x="3352488" y="363896"/>
                </a:lnTo>
                <a:lnTo>
                  <a:pt x="3358458" y="319517"/>
                </a:lnTo>
                <a:lnTo>
                  <a:pt x="3360449" y="272155"/>
                </a:lnTo>
                <a:lnTo>
                  <a:pt x="3358458" y="224553"/>
                </a:lnTo>
                <a:lnTo>
                  <a:pt x="3352488" y="180093"/>
                </a:lnTo>
                <a:lnTo>
                  <a:pt x="3342536" y="138778"/>
                </a:lnTo>
                <a:lnTo>
                  <a:pt x="3328605" y="100606"/>
                </a:lnTo>
                <a:lnTo>
                  <a:pt x="3291220" y="38856"/>
                </a:lnTo>
                <a:lnTo>
                  <a:pt x="3268371" y="16566"/>
                </a:lnTo>
                <a:lnTo>
                  <a:pt x="3242750" y="0"/>
                </a:lnTo>
                <a:close/>
              </a:path>
              <a:path w="3361054" h="544829">
                <a:moveTo>
                  <a:pt x="117535" y="0"/>
                </a:moveTo>
                <a:lnTo>
                  <a:pt x="69187" y="38856"/>
                </a:lnTo>
                <a:lnTo>
                  <a:pt x="31842" y="100606"/>
                </a:lnTo>
                <a:lnTo>
                  <a:pt x="17911" y="138778"/>
                </a:lnTo>
                <a:lnTo>
                  <a:pt x="7960" y="180093"/>
                </a:lnTo>
                <a:lnTo>
                  <a:pt x="1990" y="224553"/>
                </a:lnTo>
                <a:lnTo>
                  <a:pt x="0" y="272155"/>
                </a:lnTo>
                <a:lnTo>
                  <a:pt x="1990" y="319517"/>
                </a:lnTo>
                <a:lnTo>
                  <a:pt x="7960" y="363896"/>
                </a:lnTo>
                <a:lnTo>
                  <a:pt x="17911" y="405292"/>
                </a:lnTo>
                <a:lnTo>
                  <a:pt x="31842" y="443706"/>
                </a:lnTo>
                <a:lnTo>
                  <a:pt x="49139" y="477705"/>
                </a:lnTo>
                <a:lnTo>
                  <a:pt x="91986" y="528170"/>
                </a:lnTo>
                <a:lnTo>
                  <a:pt x="117535" y="544635"/>
                </a:lnTo>
                <a:lnTo>
                  <a:pt x="122857" y="531737"/>
                </a:lnTo>
                <a:lnTo>
                  <a:pt x="102360" y="515190"/>
                </a:lnTo>
                <a:lnTo>
                  <a:pt x="84242" y="493606"/>
                </a:lnTo>
                <a:lnTo>
                  <a:pt x="55140" y="435321"/>
                </a:lnTo>
                <a:lnTo>
                  <a:pt x="36881" y="360430"/>
                </a:lnTo>
                <a:lnTo>
                  <a:pt x="32316" y="318087"/>
                </a:lnTo>
                <a:lnTo>
                  <a:pt x="30794" y="272478"/>
                </a:lnTo>
                <a:lnTo>
                  <a:pt x="32331" y="226140"/>
                </a:lnTo>
                <a:lnTo>
                  <a:pt x="36941" y="183378"/>
                </a:lnTo>
                <a:lnTo>
                  <a:pt x="44625" y="144195"/>
                </a:lnTo>
                <a:lnTo>
                  <a:pt x="68819" y="77244"/>
                </a:lnTo>
                <a:lnTo>
                  <a:pt x="102557" y="29398"/>
                </a:lnTo>
                <a:lnTo>
                  <a:pt x="122857" y="12898"/>
                </a:lnTo>
                <a:lnTo>
                  <a:pt x="1175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37420" y="3483299"/>
            <a:ext cx="2277745" cy="541655"/>
          </a:xfrm>
          <a:custGeom>
            <a:avLst/>
            <a:gdLst/>
            <a:ahLst/>
            <a:cxnLst/>
            <a:rect l="l" t="t" r="r" b="b"/>
            <a:pathLst>
              <a:path w="2277745" h="541654">
                <a:moveTo>
                  <a:pt x="2163326" y="0"/>
                </a:moveTo>
                <a:lnTo>
                  <a:pt x="2163326" y="12898"/>
                </a:lnTo>
                <a:lnTo>
                  <a:pt x="2172355" y="13543"/>
                </a:lnTo>
                <a:lnTo>
                  <a:pt x="2180497" y="15773"/>
                </a:lnTo>
                <a:lnTo>
                  <a:pt x="2210017" y="43134"/>
                </a:lnTo>
                <a:lnTo>
                  <a:pt x="2221309" y="86681"/>
                </a:lnTo>
                <a:lnTo>
                  <a:pt x="2222337" y="110443"/>
                </a:lnTo>
                <a:lnTo>
                  <a:pt x="2222065" y="120272"/>
                </a:lnTo>
                <a:lnTo>
                  <a:pt x="2221248" y="131866"/>
                </a:lnTo>
                <a:lnTo>
                  <a:pt x="2219888" y="145223"/>
                </a:lnTo>
                <a:lnTo>
                  <a:pt x="2217983" y="160343"/>
                </a:lnTo>
                <a:lnTo>
                  <a:pt x="2216079" y="175111"/>
                </a:lnTo>
                <a:lnTo>
                  <a:pt x="2214718" y="187410"/>
                </a:lnTo>
                <a:lnTo>
                  <a:pt x="2213902" y="197240"/>
                </a:lnTo>
                <a:lnTo>
                  <a:pt x="2213630" y="204602"/>
                </a:lnTo>
                <a:lnTo>
                  <a:pt x="2214365" y="217696"/>
                </a:lnTo>
                <a:lnTo>
                  <a:pt x="2231164" y="256149"/>
                </a:lnTo>
                <a:lnTo>
                  <a:pt x="2247005" y="268771"/>
                </a:lnTo>
                <a:lnTo>
                  <a:pt x="2247005" y="271995"/>
                </a:lnTo>
                <a:lnTo>
                  <a:pt x="2220250" y="300775"/>
                </a:lnTo>
                <a:lnTo>
                  <a:pt x="2213630" y="335842"/>
                </a:lnTo>
                <a:lnTo>
                  <a:pt x="2213902" y="341682"/>
                </a:lnTo>
                <a:lnTo>
                  <a:pt x="2214718" y="351139"/>
                </a:lnTo>
                <a:lnTo>
                  <a:pt x="2216079" y="364214"/>
                </a:lnTo>
                <a:lnTo>
                  <a:pt x="2219888" y="397811"/>
                </a:lnTo>
                <a:lnTo>
                  <a:pt x="2221248" y="411520"/>
                </a:lnTo>
                <a:lnTo>
                  <a:pt x="2222065" y="422035"/>
                </a:lnTo>
                <a:lnTo>
                  <a:pt x="2222337" y="429356"/>
                </a:lnTo>
                <a:lnTo>
                  <a:pt x="2222105" y="441791"/>
                </a:lnTo>
                <a:lnTo>
                  <a:pt x="2216512" y="482300"/>
                </a:lnTo>
                <a:lnTo>
                  <a:pt x="2193537" y="518018"/>
                </a:lnTo>
                <a:lnTo>
                  <a:pt x="2163326" y="528190"/>
                </a:lnTo>
                <a:lnTo>
                  <a:pt x="2163326" y="541089"/>
                </a:lnTo>
                <a:lnTo>
                  <a:pt x="2202384" y="532584"/>
                </a:lnTo>
                <a:lnTo>
                  <a:pt x="2238903" y="492942"/>
                </a:lnTo>
                <a:lnTo>
                  <a:pt x="2249544" y="449732"/>
                </a:lnTo>
                <a:lnTo>
                  <a:pt x="2250874" y="423230"/>
                </a:lnTo>
                <a:lnTo>
                  <a:pt x="2250567" y="412921"/>
                </a:lnTo>
                <a:lnTo>
                  <a:pt x="2249645" y="400536"/>
                </a:lnTo>
                <a:lnTo>
                  <a:pt x="2248108" y="386076"/>
                </a:lnTo>
                <a:lnTo>
                  <a:pt x="2245956" y="369540"/>
                </a:lnTo>
                <a:lnTo>
                  <a:pt x="2243805" y="353608"/>
                </a:lnTo>
                <a:lnTo>
                  <a:pt x="2242268" y="340961"/>
                </a:lnTo>
                <a:lnTo>
                  <a:pt x="2241346" y="331600"/>
                </a:lnTo>
                <a:lnTo>
                  <a:pt x="2241039" y="325523"/>
                </a:lnTo>
                <a:lnTo>
                  <a:pt x="2241618" y="315059"/>
                </a:lnTo>
                <a:lnTo>
                  <a:pt x="2261777" y="280883"/>
                </a:lnTo>
                <a:lnTo>
                  <a:pt x="2277639" y="277315"/>
                </a:lnTo>
                <a:lnTo>
                  <a:pt x="2277639" y="263450"/>
                </a:lnTo>
                <a:lnTo>
                  <a:pt x="2243377" y="235194"/>
                </a:lnTo>
                <a:lnTo>
                  <a:pt x="2241039" y="215080"/>
                </a:lnTo>
                <a:lnTo>
                  <a:pt x="2241346" y="208843"/>
                </a:lnTo>
                <a:lnTo>
                  <a:pt x="2242268" y="199804"/>
                </a:lnTo>
                <a:lnTo>
                  <a:pt x="2243887" y="187410"/>
                </a:lnTo>
                <a:lnTo>
                  <a:pt x="2245956" y="173323"/>
                </a:lnTo>
                <a:lnTo>
                  <a:pt x="2248108" y="157935"/>
                </a:lnTo>
                <a:lnTo>
                  <a:pt x="2249645" y="143857"/>
                </a:lnTo>
                <a:lnTo>
                  <a:pt x="2250567" y="131090"/>
                </a:lnTo>
                <a:lnTo>
                  <a:pt x="2250874" y="119632"/>
                </a:lnTo>
                <a:lnTo>
                  <a:pt x="2249468" y="91528"/>
                </a:lnTo>
                <a:lnTo>
                  <a:pt x="2238222" y="47109"/>
                </a:lnTo>
                <a:lnTo>
                  <a:pt x="2200873" y="8746"/>
                </a:lnTo>
                <a:lnTo>
                  <a:pt x="2183354" y="2710"/>
                </a:lnTo>
                <a:lnTo>
                  <a:pt x="2163326" y="0"/>
                </a:lnTo>
                <a:close/>
              </a:path>
              <a:path w="2277745" h="541654">
                <a:moveTo>
                  <a:pt x="114312" y="0"/>
                </a:moveTo>
                <a:lnTo>
                  <a:pt x="76665" y="8746"/>
                </a:lnTo>
                <a:lnTo>
                  <a:pt x="39371" y="47109"/>
                </a:lnTo>
                <a:lnTo>
                  <a:pt x="28165" y="91528"/>
                </a:lnTo>
                <a:lnTo>
                  <a:pt x="26765" y="119632"/>
                </a:lnTo>
                <a:lnTo>
                  <a:pt x="27072" y="131090"/>
                </a:lnTo>
                <a:lnTo>
                  <a:pt x="27994" y="143857"/>
                </a:lnTo>
                <a:lnTo>
                  <a:pt x="29530" y="157935"/>
                </a:lnTo>
                <a:lnTo>
                  <a:pt x="31682" y="173323"/>
                </a:lnTo>
                <a:lnTo>
                  <a:pt x="33833" y="187964"/>
                </a:lnTo>
                <a:lnTo>
                  <a:pt x="35370" y="199804"/>
                </a:lnTo>
                <a:lnTo>
                  <a:pt x="36292" y="208843"/>
                </a:lnTo>
                <a:lnTo>
                  <a:pt x="36600" y="215080"/>
                </a:lnTo>
                <a:lnTo>
                  <a:pt x="36015" y="225752"/>
                </a:lnTo>
                <a:lnTo>
                  <a:pt x="15760" y="260024"/>
                </a:lnTo>
                <a:lnTo>
                  <a:pt x="0" y="263450"/>
                </a:lnTo>
                <a:lnTo>
                  <a:pt x="0" y="277315"/>
                </a:lnTo>
                <a:lnTo>
                  <a:pt x="34282" y="305753"/>
                </a:lnTo>
                <a:lnTo>
                  <a:pt x="36600" y="325523"/>
                </a:lnTo>
                <a:lnTo>
                  <a:pt x="36292" y="331600"/>
                </a:lnTo>
                <a:lnTo>
                  <a:pt x="35370" y="340961"/>
                </a:lnTo>
                <a:lnTo>
                  <a:pt x="33833" y="353608"/>
                </a:lnTo>
                <a:lnTo>
                  <a:pt x="31682" y="369540"/>
                </a:lnTo>
                <a:lnTo>
                  <a:pt x="29530" y="386076"/>
                </a:lnTo>
                <a:lnTo>
                  <a:pt x="27994" y="400536"/>
                </a:lnTo>
                <a:lnTo>
                  <a:pt x="27072" y="412921"/>
                </a:lnTo>
                <a:lnTo>
                  <a:pt x="26765" y="423230"/>
                </a:lnTo>
                <a:lnTo>
                  <a:pt x="28090" y="449732"/>
                </a:lnTo>
                <a:lnTo>
                  <a:pt x="38690" y="492942"/>
                </a:lnTo>
                <a:lnTo>
                  <a:pt x="75153" y="532584"/>
                </a:lnTo>
                <a:lnTo>
                  <a:pt x="114312" y="541089"/>
                </a:lnTo>
                <a:lnTo>
                  <a:pt x="114312" y="528190"/>
                </a:lnTo>
                <a:lnTo>
                  <a:pt x="107430" y="527399"/>
                </a:lnTo>
                <a:lnTo>
                  <a:pt x="100970" y="525994"/>
                </a:lnTo>
                <a:lnTo>
                  <a:pt x="66840" y="497295"/>
                </a:lnTo>
                <a:lnTo>
                  <a:pt x="56229" y="453299"/>
                </a:lnTo>
                <a:lnTo>
                  <a:pt x="55302" y="429356"/>
                </a:lnTo>
                <a:lnTo>
                  <a:pt x="55574" y="422035"/>
                </a:lnTo>
                <a:lnTo>
                  <a:pt x="56390" y="411520"/>
                </a:lnTo>
                <a:lnTo>
                  <a:pt x="57751" y="397811"/>
                </a:lnTo>
                <a:lnTo>
                  <a:pt x="61560" y="364214"/>
                </a:lnTo>
                <a:lnTo>
                  <a:pt x="62920" y="351139"/>
                </a:lnTo>
                <a:lnTo>
                  <a:pt x="63737" y="341682"/>
                </a:lnTo>
                <a:lnTo>
                  <a:pt x="64009" y="335842"/>
                </a:lnTo>
                <a:lnTo>
                  <a:pt x="63268" y="322702"/>
                </a:lnTo>
                <a:lnTo>
                  <a:pt x="46369" y="284692"/>
                </a:lnTo>
                <a:lnTo>
                  <a:pt x="30633" y="271995"/>
                </a:lnTo>
                <a:lnTo>
                  <a:pt x="30633" y="268771"/>
                </a:lnTo>
                <a:lnTo>
                  <a:pt x="57343" y="239744"/>
                </a:lnTo>
                <a:lnTo>
                  <a:pt x="64009" y="204602"/>
                </a:lnTo>
                <a:lnTo>
                  <a:pt x="63737" y="197240"/>
                </a:lnTo>
                <a:lnTo>
                  <a:pt x="62920" y="187410"/>
                </a:lnTo>
                <a:lnTo>
                  <a:pt x="61560" y="175111"/>
                </a:lnTo>
                <a:lnTo>
                  <a:pt x="59655" y="160343"/>
                </a:lnTo>
                <a:lnTo>
                  <a:pt x="57751" y="145223"/>
                </a:lnTo>
                <a:lnTo>
                  <a:pt x="56390" y="131866"/>
                </a:lnTo>
                <a:lnTo>
                  <a:pt x="55574" y="120272"/>
                </a:lnTo>
                <a:lnTo>
                  <a:pt x="55302" y="110443"/>
                </a:lnTo>
                <a:lnTo>
                  <a:pt x="55559" y="98093"/>
                </a:lnTo>
                <a:lnTo>
                  <a:pt x="61691" y="58007"/>
                </a:lnTo>
                <a:lnTo>
                  <a:pt x="84530" y="22819"/>
                </a:lnTo>
                <a:lnTo>
                  <a:pt x="114312" y="12898"/>
                </a:lnTo>
                <a:lnTo>
                  <a:pt x="114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481393" y="3501316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20">
                <a:moveTo>
                  <a:pt x="180442" y="0"/>
                </a:moveTo>
                <a:lnTo>
                  <a:pt x="177261" y="9072"/>
                </a:lnTo>
                <a:lnTo>
                  <a:pt x="190200" y="14687"/>
                </a:lnTo>
                <a:lnTo>
                  <a:pt x="201327" y="22460"/>
                </a:lnTo>
                <a:lnTo>
                  <a:pt x="223919" y="58488"/>
                </a:lnTo>
                <a:lnTo>
                  <a:pt x="231341" y="110636"/>
                </a:lnTo>
                <a:lnTo>
                  <a:pt x="230513" y="130349"/>
                </a:lnTo>
                <a:lnTo>
                  <a:pt x="218086" y="178619"/>
                </a:lnTo>
                <a:lnTo>
                  <a:pt x="190350" y="208796"/>
                </a:lnTo>
                <a:lnTo>
                  <a:pt x="177614" y="214436"/>
                </a:lnTo>
                <a:lnTo>
                  <a:pt x="180442" y="223509"/>
                </a:lnTo>
                <a:lnTo>
                  <a:pt x="223146" y="198137"/>
                </a:lnTo>
                <a:lnTo>
                  <a:pt x="247130" y="151299"/>
                </a:lnTo>
                <a:lnTo>
                  <a:pt x="251725" y="111813"/>
                </a:lnTo>
                <a:lnTo>
                  <a:pt x="250572" y="91323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56666" y="3600898"/>
            <a:ext cx="405130" cy="306070"/>
          </a:xfrm>
          <a:custGeom>
            <a:avLst/>
            <a:gdLst/>
            <a:ahLst/>
            <a:cxnLst/>
            <a:rect l="l" t="t" r="r" b="b"/>
            <a:pathLst>
              <a:path w="405129" h="306070">
                <a:moveTo>
                  <a:pt x="307531" y="0"/>
                </a:moveTo>
                <a:lnTo>
                  <a:pt x="303178" y="12414"/>
                </a:lnTo>
                <a:lnTo>
                  <a:pt x="320883" y="20097"/>
                </a:lnTo>
                <a:lnTo>
                  <a:pt x="336109" y="30733"/>
                </a:lnTo>
                <a:lnTo>
                  <a:pt x="367025" y="80034"/>
                </a:lnTo>
                <a:lnTo>
                  <a:pt x="376053" y="125300"/>
                </a:lnTo>
                <a:lnTo>
                  <a:pt x="377182" y="151395"/>
                </a:lnTo>
                <a:lnTo>
                  <a:pt x="376048" y="178370"/>
                </a:lnTo>
                <a:lnTo>
                  <a:pt x="366980" y="224885"/>
                </a:lnTo>
                <a:lnTo>
                  <a:pt x="348781" y="261213"/>
                </a:lnTo>
                <a:lnTo>
                  <a:pt x="303662" y="293438"/>
                </a:lnTo>
                <a:lnTo>
                  <a:pt x="307531" y="305854"/>
                </a:lnTo>
                <a:lnTo>
                  <a:pt x="349249" y="286284"/>
                </a:lnTo>
                <a:lnTo>
                  <a:pt x="379924" y="252406"/>
                </a:lnTo>
                <a:lnTo>
                  <a:pt x="398787" y="207039"/>
                </a:lnTo>
                <a:lnTo>
                  <a:pt x="405075" y="153007"/>
                </a:lnTo>
                <a:lnTo>
                  <a:pt x="403498" y="124968"/>
                </a:lnTo>
                <a:lnTo>
                  <a:pt x="390882" y="75269"/>
                </a:lnTo>
                <a:lnTo>
                  <a:pt x="365861" y="34810"/>
                </a:lnTo>
                <a:lnTo>
                  <a:pt x="329705" y="8006"/>
                </a:lnTo>
                <a:lnTo>
                  <a:pt x="307531" y="0"/>
                </a:lnTo>
                <a:close/>
              </a:path>
              <a:path w="405129" h="306070">
                <a:moveTo>
                  <a:pt x="97544" y="0"/>
                </a:moveTo>
                <a:lnTo>
                  <a:pt x="55927" y="19609"/>
                </a:lnTo>
                <a:lnTo>
                  <a:pt x="25233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2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6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27868" y="3503676"/>
            <a:ext cx="4129404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3295" algn="l"/>
                <a:tab pos="3936365" algn="l"/>
              </a:tabLst>
            </a:pPr>
            <a:r>
              <a:rPr dirty="0" sz="2600" spc="-5">
                <a:latin typeface="Cambria Math"/>
                <a:cs typeface="Cambria Math"/>
              </a:rPr>
              <a:t>𝐡</a:t>
            </a:r>
            <a:r>
              <a:rPr dirty="0" baseline="39473" sz="2850" spc="-7">
                <a:latin typeface="Cambria Math"/>
                <a:cs typeface="Cambria Math"/>
              </a:rPr>
              <a:t>(</a:t>
            </a:r>
            <a:r>
              <a:rPr dirty="0" baseline="39473" sz="2850" spc="-667">
                <a:latin typeface="Cambria Math"/>
                <a:cs typeface="Cambria Math"/>
              </a:rPr>
              <a:t>#</a:t>
            </a:r>
            <a:r>
              <a:rPr dirty="0" baseline="39473" sz="2850">
                <a:latin typeface="Cambria Math"/>
                <a:cs typeface="Cambria Math"/>
              </a:rPr>
              <a:t>)</a:t>
            </a:r>
            <a:r>
              <a:rPr dirty="0" baseline="39473" sz="2850" spc="27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=</a:t>
            </a:r>
            <a:r>
              <a:rPr dirty="0" sz="2600" spc="135">
                <a:latin typeface="Cambria Math"/>
                <a:cs typeface="Cambria Math"/>
              </a:rPr>
              <a:t> </a:t>
            </a:r>
            <a:r>
              <a:rPr dirty="0" sz="2600" spc="-45">
                <a:latin typeface="Cambria Math"/>
                <a:cs typeface="Cambria Math"/>
              </a:rPr>
              <a:t>A</a:t>
            </a:r>
            <a:r>
              <a:rPr dirty="0" sz="2600" spc="-5">
                <a:latin typeface="Cambria Math"/>
                <a:cs typeface="Cambria Math"/>
              </a:rPr>
              <a:t>G</a:t>
            </a:r>
            <a:r>
              <a:rPr dirty="0" sz="2600">
                <a:latin typeface="Cambria Math"/>
                <a:cs typeface="Cambria Math"/>
              </a:rPr>
              <a:t>G </a:t>
            </a:r>
            <a:r>
              <a:rPr dirty="0" sz="2600" spc="-245">
                <a:latin typeface="Cambria Math"/>
                <a:cs typeface="Cambria Math"/>
              </a:rPr>
              <a:t> </a:t>
            </a:r>
            <a:r>
              <a:rPr dirty="0" baseline="27777" sz="2850" spc="-765">
                <a:latin typeface="Cambria Math"/>
                <a:cs typeface="Cambria Math"/>
              </a:rPr>
              <a:t>#</a:t>
            </a:r>
            <a:r>
              <a:rPr dirty="0" baseline="27777" sz="2850">
                <a:latin typeface="Cambria Math"/>
                <a:cs typeface="Cambria Math"/>
              </a:rPr>
              <a:t>	</a:t>
            </a:r>
            <a:r>
              <a:rPr dirty="0" sz="2600">
                <a:latin typeface="Cambria Math"/>
                <a:cs typeface="Cambria Math"/>
              </a:rPr>
              <a:t>𝐦</a:t>
            </a:r>
            <a:r>
              <a:rPr dirty="0" sz="2600" spc="204">
                <a:latin typeface="Cambria Math"/>
                <a:cs typeface="Cambria Math"/>
              </a:rPr>
              <a:t> </a:t>
            </a:r>
            <a:r>
              <a:rPr dirty="0" baseline="38011" sz="2850" spc="-765">
                <a:latin typeface="Cambria Math"/>
                <a:cs typeface="Cambria Math"/>
              </a:rPr>
              <a:t>#</a:t>
            </a:r>
            <a:r>
              <a:rPr dirty="0" baseline="38011" sz="2850">
                <a:latin typeface="Cambria Math"/>
                <a:cs typeface="Cambria Math"/>
              </a:rPr>
              <a:t> </a:t>
            </a:r>
            <a:r>
              <a:rPr dirty="0" baseline="38011" sz="2850" spc="-202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,</a:t>
            </a:r>
            <a:r>
              <a:rPr dirty="0" sz="2600" spc="-135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𝑢</a:t>
            </a:r>
            <a:r>
              <a:rPr dirty="0" sz="2600" spc="204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∈</a:t>
            </a:r>
            <a:r>
              <a:rPr dirty="0" sz="2600" spc="150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𝑁	𝑣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9481" y="3677920"/>
            <a:ext cx="482727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0450" algn="l"/>
                <a:tab pos="4677410" algn="l"/>
              </a:tabLst>
            </a:pPr>
            <a:r>
              <a:rPr dirty="0" sz="1900" spc="525">
                <a:latin typeface="Cambria Math"/>
                <a:cs typeface="Cambria Math"/>
              </a:rPr>
              <a:t>!</a:t>
            </a:r>
            <a:r>
              <a:rPr dirty="0" sz="1900" spc="525">
                <a:latin typeface="Cambria Math"/>
                <a:cs typeface="Cambria Math"/>
              </a:rPr>
              <a:t>	</a:t>
            </a:r>
            <a:r>
              <a:rPr dirty="0" baseline="1461" sz="2850" spc="-690">
                <a:latin typeface="Cambria Math"/>
                <a:cs typeface="Cambria Math"/>
              </a:rPr>
              <a:t>%</a:t>
            </a:r>
            <a:r>
              <a:rPr dirty="0" baseline="1461" sz="2850" spc="-690">
                <a:latin typeface="Cambria Math"/>
                <a:cs typeface="Cambria Math"/>
              </a:rPr>
              <a:t>	</a:t>
            </a:r>
            <a:r>
              <a:rPr dirty="0" baseline="1461" sz="2850" spc="787">
                <a:latin typeface="Cambria Math"/>
                <a:cs typeface="Cambria Math"/>
              </a:rPr>
              <a:t>!</a:t>
            </a:r>
            <a:endParaRPr baseline="1461" sz="28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828734" y="3501316"/>
            <a:ext cx="252095" cy="223520"/>
          </a:xfrm>
          <a:custGeom>
            <a:avLst/>
            <a:gdLst/>
            <a:ahLst/>
            <a:cxnLst/>
            <a:rect l="l" t="t" r="r" b="b"/>
            <a:pathLst>
              <a:path w="252095" h="223520">
                <a:moveTo>
                  <a:pt x="180442" y="0"/>
                </a:moveTo>
                <a:lnTo>
                  <a:pt x="177261" y="9072"/>
                </a:lnTo>
                <a:lnTo>
                  <a:pt x="190200" y="14687"/>
                </a:lnTo>
                <a:lnTo>
                  <a:pt x="201326" y="22460"/>
                </a:lnTo>
                <a:lnTo>
                  <a:pt x="223919" y="58488"/>
                </a:lnTo>
                <a:lnTo>
                  <a:pt x="231341" y="110636"/>
                </a:lnTo>
                <a:lnTo>
                  <a:pt x="230513" y="130349"/>
                </a:lnTo>
                <a:lnTo>
                  <a:pt x="218086" y="178619"/>
                </a:lnTo>
                <a:lnTo>
                  <a:pt x="190350" y="208796"/>
                </a:lnTo>
                <a:lnTo>
                  <a:pt x="177614" y="214436"/>
                </a:lnTo>
                <a:lnTo>
                  <a:pt x="180442" y="223509"/>
                </a:lnTo>
                <a:lnTo>
                  <a:pt x="223146" y="198137"/>
                </a:lnTo>
                <a:lnTo>
                  <a:pt x="247130" y="151299"/>
                </a:lnTo>
                <a:lnTo>
                  <a:pt x="251725" y="111813"/>
                </a:lnTo>
                <a:lnTo>
                  <a:pt x="250572" y="91323"/>
                </a:lnTo>
                <a:lnTo>
                  <a:pt x="233286" y="39175"/>
                </a:lnTo>
                <a:lnTo>
                  <a:pt x="196647" y="5850"/>
                </a:lnTo>
                <a:lnTo>
                  <a:pt x="180442" y="0"/>
                </a:lnTo>
                <a:close/>
              </a:path>
              <a:path w="25209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6"/>
                </a:lnTo>
                <a:lnTo>
                  <a:pt x="71282" y="223509"/>
                </a:lnTo>
                <a:lnTo>
                  <a:pt x="74109" y="214436"/>
                </a:lnTo>
                <a:lnTo>
                  <a:pt x="61373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373059" y="3503676"/>
            <a:ext cx="63246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mbria Math"/>
                <a:cs typeface="Cambria Math"/>
              </a:rPr>
              <a:t>, 𝐦</a:t>
            </a:r>
            <a:r>
              <a:rPr dirty="0" sz="2600" spc="-25">
                <a:latin typeface="Cambria Math"/>
                <a:cs typeface="Cambria Math"/>
              </a:rPr>
              <a:t> </a:t>
            </a:r>
            <a:r>
              <a:rPr dirty="0" baseline="38011" sz="2850" spc="-765">
                <a:latin typeface="Cambria Math"/>
                <a:cs typeface="Cambria Math"/>
              </a:rPr>
              <a:t>#</a:t>
            </a:r>
            <a:endParaRPr baseline="38011" sz="28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072" y="399288"/>
            <a:ext cx="7013448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812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6BB76D"/>
                </a:solidFill>
              </a:rPr>
              <a:t>(1) </a:t>
            </a:r>
            <a:r>
              <a:rPr dirty="0" spc="-20">
                <a:solidFill>
                  <a:srgbClr val="6BB76D"/>
                </a:solidFill>
              </a:rPr>
              <a:t>Graph </a:t>
            </a:r>
            <a:r>
              <a:rPr dirty="0" spc="-10">
                <a:solidFill>
                  <a:srgbClr val="6BB76D"/>
                </a:solidFill>
              </a:rPr>
              <a:t>Convolutional Networks</a:t>
            </a:r>
            <a:r>
              <a:rPr dirty="0" spc="25">
                <a:solidFill>
                  <a:srgbClr val="6BB76D"/>
                </a:solidFill>
              </a:rPr>
              <a:t> </a:t>
            </a:r>
            <a:r>
              <a:rPr dirty="0" spc="-5">
                <a:solidFill>
                  <a:srgbClr val="6BB76D"/>
                </a:solidFill>
              </a:rPr>
              <a:t>(GCN)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53354" y="2474467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450">
                <a:latin typeface="Cambria Math"/>
                <a:cs typeface="Cambria Math"/>
              </a:rPr>
              <a:t>#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7616" y="2562860"/>
            <a:ext cx="1068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5150" algn="l"/>
              </a:tabLst>
            </a:pPr>
            <a:r>
              <a:rPr dirty="0" sz="2400" spc="240">
                <a:latin typeface="Cambria Math"/>
                <a:cs typeface="Cambria Math"/>
              </a:rPr>
              <a:t>𝐡</a:t>
            </a:r>
            <a:r>
              <a:rPr dirty="0" baseline="-18518" sz="2700" spc="359">
                <a:latin typeface="Cambria Math"/>
                <a:cs typeface="Cambria Math"/>
              </a:rPr>
              <a:t>!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03946" y="2225494"/>
            <a:ext cx="2755900" cy="1133475"/>
          </a:xfrm>
          <a:custGeom>
            <a:avLst/>
            <a:gdLst/>
            <a:ahLst/>
            <a:cxnLst/>
            <a:rect l="l" t="t" r="r" b="b"/>
            <a:pathLst>
              <a:path w="2755900" h="1133475">
                <a:moveTo>
                  <a:pt x="2590784" y="0"/>
                </a:moveTo>
                <a:lnTo>
                  <a:pt x="2580664" y="10269"/>
                </a:lnTo>
                <a:lnTo>
                  <a:pt x="2607197" y="48473"/>
                </a:lnTo>
                <a:lnTo>
                  <a:pt x="2631075" y="91410"/>
                </a:lnTo>
                <a:lnTo>
                  <a:pt x="2652298" y="139080"/>
                </a:lnTo>
                <a:lnTo>
                  <a:pt x="2670866" y="191482"/>
                </a:lnTo>
                <a:lnTo>
                  <a:pt x="2686778" y="248617"/>
                </a:lnTo>
                <a:lnTo>
                  <a:pt x="2697920" y="298741"/>
                </a:lnTo>
                <a:lnTo>
                  <a:pt x="2707035" y="349944"/>
                </a:lnTo>
                <a:lnTo>
                  <a:pt x="2714125" y="402226"/>
                </a:lnTo>
                <a:lnTo>
                  <a:pt x="2719190" y="455587"/>
                </a:lnTo>
                <a:lnTo>
                  <a:pt x="2722229" y="510027"/>
                </a:lnTo>
                <a:lnTo>
                  <a:pt x="2723239" y="565694"/>
                </a:lnTo>
                <a:lnTo>
                  <a:pt x="2722229" y="619833"/>
                </a:lnTo>
                <a:lnTo>
                  <a:pt x="2719190" y="673455"/>
                </a:lnTo>
                <a:lnTo>
                  <a:pt x="2714125" y="726411"/>
                </a:lnTo>
                <a:lnTo>
                  <a:pt x="2707035" y="778701"/>
                </a:lnTo>
                <a:lnTo>
                  <a:pt x="2697920" y="830326"/>
                </a:lnTo>
                <a:lnTo>
                  <a:pt x="2686778" y="881286"/>
                </a:lnTo>
                <a:lnTo>
                  <a:pt x="2670866" y="939551"/>
                </a:lnTo>
                <a:lnTo>
                  <a:pt x="2652298" y="992847"/>
                </a:lnTo>
                <a:lnTo>
                  <a:pt x="2631075" y="1041171"/>
                </a:lnTo>
                <a:lnTo>
                  <a:pt x="2607197" y="1084524"/>
                </a:lnTo>
                <a:lnTo>
                  <a:pt x="2580664" y="1122907"/>
                </a:lnTo>
                <a:lnTo>
                  <a:pt x="2590784" y="1132879"/>
                </a:lnTo>
                <a:lnTo>
                  <a:pt x="2619785" y="1095282"/>
                </a:lnTo>
                <a:lnTo>
                  <a:pt x="2646303" y="1052381"/>
                </a:lnTo>
                <a:lnTo>
                  <a:pt x="2670338" y="1004176"/>
                </a:lnTo>
                <a:lnTo>
                  <a:pt x="2691892" y="950666"/>
                </a:lnTo>
                <a:lnTo>
                  <a:pt x="2710963" y="891852"/>
                </a:lnTo>
                <a:lnTo>
                  <a:pt x="2722789" y="847563"/>
                </a:lnTo>
                <a:lnTo>
                  <a:pt x="2732795" y="802506"/>
                </a:lnTo>
                <a:lnTo>
                  <a:pt x="2740982" y="756681"/>
                </a:lnTo>
                <a:lnTo>
                  <a:pt x="2747349" y="710087"/>
                </a:lnTo>
                <a:lnTo>
                  <a:pt x="2751898" y="662724"/>
                </a:lnTo>
                <a:lnTo>
                  <a:pt x="2754627" y="614594"/>
                </a:lnTo>
                <a:lnTo>
                  <a:pt x="2755534" y="565546"/>
                </a:lnTo>
                <a:lnTo>
                  <a:pt x="2754627" y="515826"/>
                </a:lnTo>
                <a:lnTo>
                  <a:pt x="2751898" y="467000"/>
                </a:lnTo>
                <a:lnTo>
                  <a:pt x="2747349" y="419216"/>
                </a:lnTo>
                <a:lnTo>
                  <a:pt x="2740982" y="372473"/>
                </a:lnTo>
                <a:lnTo>
                  <a:pt x="2732795" y="326772"/>
                </a:lnTo>
                <a:lnTo>
                  <a:pt x="2722789" y="282114"/>
                </a:lnTo>
                <a:lnTo>
                  <a:pt x="2710963" y="238497"/>
                </a:lnTo>
                <a:lnTo>
                  <a:pt x="2691892" y="180689"/>
                </a:lnTo>
                <a:lnTo>
                  <a:pt x="2670338" y="127935"/>
                </a:lnTo>
                <a:lnTo>
                  <a:pt x="2646303" y="80235"/>
                </a:lnTo>
                <a:lnTo>
                  <a:pt x="2619785" y="37590"/>
                </a:lnTo>
                <a:lnTo>
                  <a:pt x="2590784" y="0"/>
                </a:lnTo>
                <a:close/>
              </a:path>
              <a:path w="2755900" h="1133475">
                <a:moveTo>
                  <a:pt x="164753" y="0"/>
                </a:moveTo>
                <a:lnTo>
                  <a:pt x="135701" y="37590"/>
                </a:lnTo>
                <a:lnTo>
                  <a:pt x="109150" y="80235"/>
                </a:lnTo>
                <a:lnTo>
                  <a:pt x="85100" y="127935"/>
                </a:lnTo>
                <a:lnTo>
                  <a:pt x="63550" y="180689"/>
                </a:lnTo>
                <a:lnTo>
                  <a:pt x="44500" y="238497"/>
                </a:lnTo>
                <a:lnTo>
                  <a:pt x="32694" y="282114"/>
                </a:lnTo>
                <a:lnTo>
                  <a:pt x="22704" y="326772"/>
                </a:lnTo>
                <a:lnTo>
                  <a:pt x="14530" y="372473"/>
                </a:lnTo>
                <a:lnTo>
                  <a:pt x="8173" y="419216"/>
                </a:lnTo>
                <a:lnTo>
                  <a:pt x="3632" y="467000"/>
                </a:lnTo>
                <a:lnTo>
                  <a:pt x="908" y="515826"/>
                </a:lnTo>
                <a:lnTo>
                  <a:pt x="0" y="565694"/>
                </a:lnTo>
                <a:lnTo>
                  <a:pt x="908" y="614594"/>
                </a:lnTo>
                <a:lnTo>
                  <a:pt x="3632" y="662724"/>
                </a:lnTo>
                <a:lnTo>
                  <a:pt x="8173" y="710087"/>
                </a:lnTo>
                <a:lnTo>
                  <a:pt x="14530" y="756681"/>
                </a:lnTo>
                <a:lnTo>
                  <a:pt x="22704" y="802506"/>
                </a:lnTo>
                <a:lnTo>
                  <a:pt x="32694" y="847563"/>
                </a:lnTo>
                <a:lnTo>
                  <a:pt x="44500" y="891852"/>
                </a:lnTo>
                <a:lnTo>
                  <a:pt x="63550" y="950666"/>
                </a:lnTo>
                <a:lnTo>
                  <a:pt x="85100" y="1004176"/>
                </a:lnTo>
                <a:lnTo>
                  <a:pt x="109150" y="1052381"/>
                </a:lnTo>
                <a:lnTo>
                  <a:pt x="135701" y="1095282"/>
                </a:lnTo>
                <a:lnTo>
                  <a:pt x="164753" y="1132879"/>
                </a:lnTo>
                <a:lnTo>
                  <a:pt x="174725" y="1122907"/>
                </a:lnTo>
                <a:lnTo>
                  <a:pt x="148194" y="1084524"/>
                </a:lnTo>
                <a:lnTo>
                  <a:pt x="124325" y="1041171"/>
                </a:lnTo>
                <a:lnTo>
                  <a:pt x="103117" y="992847"/>
                </a:lnTo>
                <a:lnTo>
                  <a:pt x="84570" y="939551"/>
                </a:lnTo>
                <a:lnTo>
                  <a:pt x="68684" y="881286"/>
                </a:lnTo>
                <a:lnTo>
                  <a:pt x="57565" y="830326"/>
                </a:lnTo>
                <a:lnTo>
                  <a:pt x="48468" y="778701"/>
                </a:lnTo>
                <a:lnTo>
                  <a:pt x="41393" y="726411"/>
                </a:lnTo>
                <a:lnTo>
                  <a:pt x="36339" y="673455"/>
                </a:lnTo>
                <a:lnTo>
                  <a:pt x="33306" y="619833"/>
                </a:lnTo>
                <a:lnTo>
                  <a:pt x="32296" y="565546"/>
                </a:lnTo>
                <a:lnTo>
                  <a:pt x="33308" y="510027"/>
                </a:lnTo>
                <a:lnTo>
                  <a:pt x="36347" y="455587"/>
                </a:lnTo>
                <a:lnTo>
                  <a:pt x="41411" y="402226"/>
                </a:lnTo>
                <a:lnTo>
                  <a:pt x="48501" y="349944"/>
                </a:lnTo>
                <a:lnTo>
                  <a:pt x="57617" y="298741"/>
                </a:lnTo>
                <a:lnTo>
                  <a:pt x="68759" y="248617"/>
                </a:lnTo>
                <a:lnTo>
                  <a:pt x="84665" y="191482"/>
                </a:lnTo>
                <a:lnTo>
                  <a:pt x="103215" y="139080"/>
                </a:lnTo>
                <a:lnTo>
                  <a:pt x="124409" y="91410"/>
                </a:lnTo>
                <a:lnTo>
                  <a:pt x="148245" y="48473"/>
                </a:lnTo>
                <a:lnTo>
                  <a:pt x="174725" y="10269"/>
                </a:lnTo>
                <a:lnTo>
                  <a:pt x="164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17245" y="2596442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6" y="8595"/>
                </a:lnTo>
                <a:lnTo>
                  <a:pt x="174143" y="13914"/>
                </a:lnTo>
                <a:lnTo>
                  <a:pt x="184684" y="21278"/>
                </a:lnTo>
                <a:lnTo>
                  <a:pt x="206088" y="55409"/>
                </a:lnTo>
                <a:lnTo>
                  <a:pt x="213121" y="104813"/>
                </a:lnTo>
                <a:lnTo>
                  <a:pt x="212336" y="123488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6" y="187708"/>
                </a:lnTo>
                <a:lnTo>
                  <a:pt x="228078" y="143335"/>
                </a:lnTo>
                <a:lnTo>
                  <a:pt x="232431" y="105928"/>
                </a:lnTo>
                <a:lnTo>
                  <a:pt x="231339" y="86516"/>
                </a:lnTo>
                <a:lnTo>
                  <a:pt x="214962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75653" y="2450084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3600">
                <a:latin typeface="Cambria Math"/>
                <a:cs typeface="Cambria Math"/>
              </a:rPr>
              <a:t>𝐖</a:t>
            </a:r>
            <a:r>
              <a:rPr dirty="0" baseline="-20833" sz="3600" spc="270">
                <a:latin typeface="Cambria Math"/>
                <a:cs typeface="Cambria Math"/>
              </a:rPr>
              <a:t> </a:t>
            </a:r>
            <a:r>
              <a:rPr dirty="0" sz="1800" spc="-48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10614" y="3098346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5"/>
                </a:lnTo>
                <a:lnTo>
                  <a:pt x="219800" y="13914"/>
                </a:lnTo>
                <a:lnTo>
                  <a:pt x="230341" y="21278"/>
                </a:lnTo>
                <a:lnTo>
                  <a:pt x="251744" y="55409"/>
                </a:lnTo>
                <a:lnTo>
                  <a:pt x="258776" y="104813"/>
                </a:lnTo>
                <a:lnTo>
                  <a:pt x="257991" y="123488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5"/>
                </a:lnTo>
                <a:lnTo>
                  <a:pt x="251012" y="187708"/>
                </a:lnTo>
                <a:lnTo>
                  <a:pt x="273734" y="143335"/>
                </a:lnTo>
                <a:lnTo>
                  <a:pt x="278088" y="105928"/>
                </a:lnTo>
                <a:lnTo>
                  <a:pt x="276996" y="86516"/>
                </a:lnTo>
                <a:lnTo>
                  <a:pt x="260619" y="37114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17955" y="2428747"/>
            <a:ext cx="707390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algn="ctr" marL="93980">
              <a:lnSpc>
                <a:spcPct val="100000"/>
              </a:lnSpc>
              <a:spcBef>
                <a:spcPts val="1155"/>
              </a:spcBef>
            </a:pPr>
            <a:r>
              <a:rPr dirty="0" sz="2400" spc="18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1800" spc="150">
                <a:latin typeface="Cambria Math"/>
                <a:cs typeface="Cambria Math"/>
              </a:rPr>
              <a:t>%∈'</a:t>
            </a:r>
            <a:r>
              <a:rPr dirty="0" sz="1800" spc="240">
                <a:latin typeface="Cambria Math"/>
                <a:cs typeface="Cambria Math"/>
              </a:rPr>
              <a:t> </a:t>
            </a:r>
            <a:r>
              <a:rPr dirty="0" sz="1800" spc="500"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57806" y="2790056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76183" y="2480564"/>
            <a:ext cx="173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34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08974" y="2323964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3" y="0"/>
                </a:moveTo>
                <a:lnTo>
                  <a:pt x="452399" y="8595"/>
                </a:lnTo>
                <a:lnTo>
                  <a:pt x="464656" y="13914"/>
                </a:lnTo>
                <a:lnTo>
                  <a:pt x="475197" y="21278"/>
                </a:lnTo>
                <a:lnTo>
                  <a:pt x="496601" y="55409"/>
                </a:lnTo>
                <a:lnTo>
                  <a:pt x="503633" y="104813"/>
                </a:lnTo>
                <a:lnTo>
                  <a:pt x="502848" y="123488"/>
                </a:lnTo>
                <a:lnTo>
                  <a:pt x="491075" y="169217"/>
                </a:lnTo>
                <a:lnTo>
                  <a:pt x="464799" y="197806"/>
                </a:lnTo>
                <a:lnTo>
                  <a:pt x="452733" y="203150"/>
                </a:lnTo>
                <a:lnTo>
                  <a:pt x="455413" y="211745"/>
                </a:lnTo>
                <a:lnTo>
                  <a:pt x="495868" y="187708"/>
                </a:lnTo>
                <a:lnTo>
                  <a:pt x="518590" y="143335"/>
                </a:lnTo>
                <a:lnTo>
                  <a:pt x="522944" y="105929"/>
                </a:lnTo>
                <a:lnTo>
                  <a:pt x="521852" y="86517"/>
                </a:lnTo>
                <a:lnTo>
                  <a:pt x="505475" y="37114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9"/>
                </a:lnTo>
                <a:lnTo>
                  <a:pt x="1088" y="125382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70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90445" y="2178811"/>
            <a:ext cx="683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latin typeface="Cambria Math"/>
                <a:cs typeface="Cambria Math"/>
              </a:rPr>
              <a:t>𝐡</a:t>
            </a:r>
            <a:r>
              <a:rPr dirty="0" baseline="-27777" sz="3600" spc="150">
                <a:latin typeface="Cambria Math"/>
                <a:cs typeface="Cambria Math"/>
              </a:rPr>
              <a:t> </a:t>
            </a:r>
            <a:r>
              <a:rPr dirty="0" sz="1800" spc="114">
                <a:latin typeface="Cambria Math"/>
                <a:cs typeface="Cambria Math"/>
              </a:rPr>
              <a:t>#()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60025" y="2857309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4">
                <a:moveTo>
                  <a:pt x="0" y="0"/>
                </a:moveTo>
                <a:lnTo>
                  <a:pt x="0" y="276969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105264" y="2857309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4">
                <a:moveTo>
                  <a:pt x="0" y="0"/>
                </a:moveTo>
                <a:lnTo>
                  <a:pt x="0" y="276969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11557" y="2854653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29" y="0"/>
                </a:moveTo>
                <a:lnTo>
                  <a:pt x="279411" y="11460"/>
                </a:lnTo>
                <a:lnTo>
                  <a:pt x="295754" y="18552"/>
                </a:lnTo>
                <a:lnTo>
                  <a:pt x="309809" y="28370"/>
                </a:lnTo>
                <a:lnTo>
                  <a:pt x="338347" y="73879"/>
                </a:lnTo>
                <a:lnTo>
                  <a:pt x="346681" y="115662"/>
                </a:lnTo>
                <a:lnTo>
                  <a:pt x="347723" y="139749"/>
                </a:lnTo>
                <a:lnTo>
                  <a:pt x="346677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8"/>
                </a:lnTo>
                <a:lnTo>
                  <a:pt x="283429" y="282327"/>
                </a:lnTo>
                <a:lnTo>
                  <a:pt x="321939" y="264263"/>
                </a:lnTo>
                <a:lnTo>
                  <a:pt x="350253" y="232990"/>
                </a:lnTo>
                <a:lnTo>
                  <a:pt x="367666" y="191113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69" y="69479"/>
                </a:lnTo>
                <a:lnTo>
                  <a:pt x="337273" y="32133"/>
                </a:lnTo>
                <a:lnTo>
                  <a:pt x="303898" y="7390"/>
                </a:lnTo>
                <a:lnTo>
                  <a:pt x="283429" y="0"/>
                </a:lnTo>
                <a:close/>
              </a:path>
              <a:path w="374014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8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140801" y="2764027"/>
            <a:ext cx="54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</a:tabLst>
            </a:pPr>
            <a:r>
              <a:rPr dirty="0" sz="2400"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53689" y="5040884"/>
            <a:ext cx="29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(</a:t>
            </a:r>
            <a:r>
              <a:rPr dirty="0" sz="1800" spc="-450">
                <a:latin typeface="Cambria Math"/>
                <a:cs typeface="Cambria Math"/>
              </a:rPr>
              <a:t>#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04282" y="4791928"/>
            <a:ext cx="2755900" cy="1133475"/>
          </a:xfrm>
          <a:custGeom>
            <a:avLst/>
            <a:gdLst/>
            <a:ahLst/>
            <a:cxnLst/>
            <a:rect l="l" t="t" r="r" b="b"/>
            <a:pathLst>
              <a:path w="2755900" h="1133475">
                <a:moveTo>
                  <a:pt x="2590784" y="0"/>
                </a:moveTo>
                <a:lnTo>
                  <a:pt x="2580664" y="10269"/>
                </a:lnTo>
                <a:lnTo>
                  <a:pt x="2607196" y="48473"/>
                </a:lnTo>
                <a:lnTo>
                  <a:pt x="2631074" y="91410"/>
                </a:lnTo>
                <a:lnTo>
                  <a:pt x="2652297" y="139080"/>
                </a:lnTo>
                <a:lnTo>
                  <a:pt x="2670865" y="191482"/>
                </a:lnTo>
                <a:lnTo>
                  <a:pt x="2686778" y="248617"/>
                </a:lnTo>
                <a:lnTo>
                  <a:pt x="2697920" y="298741"/>
                </a:lnTo>
                <a:lnTo>
                  <a:pt x="2707035" y="349944"/>
                </a:lnTo>
                <a:lnTo>
                  <a:pt x="2714125" y="402226"/>
                </a:lnTo>
                <a:lnTo>
                  <a:pt x="2719189" y="455587"/>
                </a:lnTo>
                <a:lnTo>
                  <a:pt x="2722227" y="510027"/>
                </a:lnTo>
                <a:lnTo>
                  <a:pt x="2723237" y="565694"/>
                </a:lnTo>
                <a:lnTo>
                  <a:pt x="2722227" y="619833"/>
                </a:lnTo>
                <a:lnTo>
                  <a:pt x="2719189" y="673455"/>
                </a:lnTo>
                <a:lnTo>
                  <a:pt x="2714125" y="726411"/>
                </a:lnTo>
                <a:lnTo>
                  <a:pt x="2707035" y="778701"/>
                </a:lnTo>
                <a:lnTo>
                  <a:pt x="2697920" y="830326"/>
                </a:lnTo>
                <a:lnTo>
                  <a:pt x="2686778" y="881285"/>
                </a:lnTo>
                <a:lnTo>
                  <a:pt x="2670865" y="939551"/>
                </a:lnTo>
                <a:lnTo>
                  <a:pt x="2652297" y="992846"/>
                </a:lnTo>
                <a:lnTo>
                  <a:pt x="2631074" y="1041171"/>
                </a:lnTo>
                <a:lnTo>
                  <a:pt x="2607196" y="1084525"/>
                </a:lnTo>
                <a:lnTo>
                  <a:pt x="2580664" y="1122907"/>
                </a:lnTo>
                <a:lnTo>
                  <a:pt x="2590784" y="1132879"/>
                </a:lnTo>
                <a:lnTo>
                  <a:pt x="2619785" y="1095282"/>
                </a:lnTo>
                <a:lnTo>
                  <a:pt x="2646303" y="1052381"/>
                </a:lnTo>
                <a:lnTo>
                  <a:pt x="2670338" y="1004175"/>
                </a:lnTo>
                <a:lnTo>
                  <a:pt x="2691892" y="950666"/>
                </a:lnTo>
                <a:lnTo>
                  <a:pt x="2710963" y="891852"/>
                </a:lnTo>
                <a:lnTo>
                  <a:pt x="2722789" y="847563"/>
                </a:lnTo>
                <a:lnTo>
                  <a:pt x="2732795" y="802506"/>
                </a:lnTo>
                <a:lnTo>
                  <a:pt x="2740982" y="756681"/>
                </a:lnTo>
                <a:lnTo>
                  <a:pt x="2747349" y="710087"/>
                </a:lnTo>
                <a:lnTo>
                  <a:pt x="2751898" y="662724"/>
                </a:lnTo>
                <a:lnTo>
                  <a:pt x="2754627" y="614594"/>
                </a:lnTo>
                <a:lnTo>
                  <a:pt x="2755534" y="565546"/>
                </a:lnTo>
                <a:lnTo>
                  <a:pt x="2754627" y="515826"/>
                </a:lnTo>
                <a:lnTo>
                  <a:pt x="2751898" y="467000"/>
                </a:lnTo>
                <a:lnTo>
                  <a:pt x="2747349" y="419216"/>
                </a:lnTo>
                <a:lnTo>
                  <a:pt x="2740982" y="372473"/>
                </a:lnTo>
                <a:lnTo>
                  <a:pt x="2732795" y="326772"/>
                </a:lnTo>
                <a:lnTo>
                  <a:pt x="2722789" y="282114"/>
                </a:lnTo>
                <a:lnTo>
                  <a:pt x="2710963" y="238497"/>
                </a:lnTo>
                <a:lnTo>
                  <a:pt x="2691892" y="180689"/>
                </a:lnTo>
                <a:lnTo>
                  <a:pt x="2670338" y="127935"/>
                </a:lnTo>
                <a:lnTo>
                  <a:pt x="2646303" y="80235"/>
                </a:lnTo>
                <a:lnTo>
                  <a:pt x="2619785" y="37590"/>
                </a:lnTo>
                <a:lnTo>
                  <a:pt x="2590784" y="0"/>
                </a:lnTo>
                <a:close/>
              </a:path>
              <a:path w="2755900" h="1133475">
                <a:moveTo>
                  <a:pt x="164753" y="0"/>
                </a:moveTo>
                <a:lnTo>
                  <a:pt x="135701" y="37590"/>
                </a:lnTo>
                <a:lnTo>
                  <a:pt x="109150" y="80235"/>
                </a:lnTo>
                <a:lnTo>
                  <a:pt x="85100" y="127935"/>
                </a:lnTo>
                <a:lnTo>
                  <a:pt x="63549" y="180689"/>
                </a:lnTo>
                <a:lnTo>
                  <a:pt x="44499" y="238497"/>
                </a:lnTo>
                <a:lnTo>
                  <a:pt x="32693" y="282114"/>
                </a:lnTo>
                <a:lnTo>
                  <a:pt x="22704" y="326772"/>
                </a:lnTo>
                <a:lnTo>
                  <a:pt x="14530" y="372473"/>
                </a:lnTo>
                <a:lnTo>
                  <a:pt x="8173" y="419216"/>
                </a:lnTo>
                <a:lnTo>
                  <a:pt x="3632" y="467000"/>
                </a:lnTo>
                <a:lnTo>
                  <a:pt x="908" y="515826"/>
                </a:lnTo>
                <a:lnTo>
                  <a:pt x="0" y="565694"/>
                </a:lnTo>
                <a:lnTo>
                  <a:pt x="908" y="614594"/>
                </a:lnTo>
                <a:lnTo>
                  <a:pt x="3632" y="662724"/>
                </a:lnTo>
                <a:lnTo>
                  <a:pt x="8173" y="710087"/>
                </a:lnTo>
                <a:lnTo>
                  <a:pt x="14530" y="756681"/>
                </a:lnTo>
                <a:lnTo>
                  <a:pt x="22704" y="802506"/>
                </a:lnTo>
                <a:lnTo>
                  <a:pt x="32693" y="847563"/>
                </a:lnTo>
                <a:lnTo>
                  <a:pt x="44499" y="891852"/>
                </a:lnTo>
                <a:lnTo>
                  <a:pt x="63549" y="950666"/>
                </a:lnTo>
                <a:lnTo>
                  <a:pt x="85100" y="1004175"/>
                </a:lnTo>
                <a:lnTo>
                  <a:pt x="109150" y="1052381"/>
                </a:lnTo>
                <a:lnTo>
                  <a:pt x="135701" y="1095282"/>
                </a:lnTo>
                <a:lnTo>
                  <a:pt x="164753" y="1132879"/>
                </a:lnTo>
                <a:lnTo>
                  <a:pt x="174724" y="1122907"/>
                </a:lnTo>
                <a:lnTo>
                  <a:pt x="148194" y="1084525"/>
                </a:lnTo>
                <a:lnTo>
                  <a:pt x="124325" y="1041171"/>
                </a:lnTo>
                <a:lnTo>
                  <a:pt x="103117" y="992846"/>
                </a:lnTo>
                <a:lnTo>
                  <a:pt x="84570" y="939551"/>
                </a:lnTo>
                <a:lnTo>
                  <a:pt x="68684" y="881285"/>
                </a:lnTo>
                <a:lnTo>
                  <a:pt x="57565" y="830326"/>
                </a:lnTo>
                <a:lnTo>
                  <a:pt x="48468" y="778701"/>
                </a:lnTo>
                <a:lnTo>
                  <a:pt x="41393" y="726411"/>
                </a:lnTo>
                <a:lnTo>
                  <a:pt x="36339" y="673455"/>
                </a:lnTo>
                <a:lnTo>
                  <a:pt x="33306" y="619833"/>
                </a:lnTo>
                <a:lnTo>
                  <a:pt x="32296" y="565546"/>
                </a:lnTo>
                <a:lnTo>
                  <a:pt x="33308" y="510027"/>
                </a:lnTo>
                <a:lnTo>
                  <a:pt x="36347" y="455587"/>
                </a:lnTo>
                <a:lnTo>
                  <a:pt x="41411" y="402226"/>
                </a:lnTo>
                <a:lnTo>
                  <a:pt x="48501" y="349944"/>
                </a:lnTo>
                <a:lnTo>
                  <a:pt x="57617" y="298741"/>
                </a:lnTo>
                <a:lnTo>
                  <a:pt x="68759" y="248617"/>
                </a:lnTo>
                <a:lnTo>
                  <a:pt x="84665" y="191482"/>
                </a:lnTo>
                <a:lnTo>
                  <a:pt x="103215" y="139080"/>
                </a:lnTo>
                <a:lnTo>
                  <a:pt x="124408" y="91410"/>
                </a:lnTo>
                <a:lnTo>
                  <a:pt x="148244" y="48473"/>
                </a:lnTo>
                <a:lnTo>
                  <a:pt x="174724" y="10269"/>
                </a:lnTo>
                <a:lnTo>
                  <a:pt x="164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68647" y="5664780"/>
            <a:ext cx="278130" cy="212090"/>
          </a:xfrm>
          <a:custGeom>
            <a:avLst/>
            <a:gdLst/>
            <a:ahLst/>
            <a:cxnLst/>
            <a:rect l="l" t="t" r="r" b="b"/>
            <a:pathLst>
              <a:path w="278129" h="212089">
                <a:moveTo>
                  <a:pt x="210557" y="0"/>
                </a:moveTo>
                <a:lnTo>
                  <a:pt x="207543" y="8594"/>
                </a:lnTo>
                <a:lnTo>
                  <a:pt x="219800" y="13914"/>
                </a:lnTo>
                <a:lnTo>
                  <a:pt x="230341" y="21277"/>
                </a:lnTo>
                <a:lnTo>
                  <a:pt x="251744" y="55409"/>
                </a:lnTo>
                <a:lnTo>
                  <a:pt x="258776" y="104812"/>
                </a:lnTo>
                <a:lnTo>
                  <a:pt x="257991" y="123487"/>
                </a:lnTo>
                <a:lnTo>
                  <a:pt x="246219" y="169217"/>
                </a:lnTo>
                <a:lnTo>
                  <a:pt x="219942" y="197806"/>
                </a:lnTo>
                <a:lnTo>
                  <a:pt x="207877" y="203150"/>
                </a:lnTo>
                <a:lnTo>
                  <a:pt x="210557" y="211745"/>
                </a:lnTo>
                <a:lnTo>
                  <a:pt x="251012" y="187708"/>
                </a:lnTo>
                <a:lnTo>
                  <a:pt x="273734" y="143335"/>
                </a:lnTo>
                <a:lnTo>
                  <a:pt x="278088" y="105928"/>
                </a:lnTo>
                <a:lnTo>
                  <a:pt x="276996" y="86516"/>
                </a:lnTo>
                <a:lnTo>
                  <a:pt x="260619" y="37113"/>
                </a:lnTo>
                <a:lnTo>
                  <a:pt x="225908" y="5542"/>
                </a:lnTo>
                <a:lnTo>
                  <a:pt x="210557" y="0"/>
                </a:lnTo>
                <a:close/>
              </a:path>
              <a:path w="2781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2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2"/>
                </a:lnTo>
                <a:lnTo>
                  <a:pt x="20095" y="86747"/>
                </a:lnTo>
                <a:lnTo>
                  <a:pt x="31868" y="42136"/>
                </a:lnTo>
                <a:lnTo>
                  <a:pt x="58332" y="13914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67952" y="4995164"/>
            <a:ext cx="2141220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565150" algn="l"/>
                <a:tab pos="1506220" algn="l"/>
              </a:tabLst>
            </a:pPr>
            <a:r>
              <a:rPr dirty="0" sz="2400" spc="240">
                <a:latin typeface="Cambria Math"/>
                <a:cs typeface="Cambria Math"/>
              </a:rPr>
              <a:t>𝐡</a:t>
            </a:r>
            <a:r>
              <a:rPr dirty="0" baseline="-18518" sz="2700" spc="359">
                <a:latin typeface="Cambria Math"/>
                <a:cs typeface="Cambria Math"/>
              </a:rPr>
              <a:t>!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𝜎	</a:t>
            </a:r>
            <a:r>
              <a:rPr dirty="0" sz="2400" spc="18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  <a:p>
            <a:pPr marL="1320165">
              <a:lnSpc>
                <a:spcPct val="100000"/>
              </a:lnSpc>
              <a:spcBef>
                <a:spcPts val="790"/>
              </a:spcBef>
            </a:pPr>
            <a:r>
              <a:rPr dirty="0" sz="1800" spc="150">
                <a:latin typeface="Cambria Math"/>
                <a:cs typeface="Cambria Math"/>
              </a:rPr>
              <a:t>%∈'</a:t>
            </a:r>
            <a:r>
              <a:rPr dirty="0" sz="1800" spc="240">
                <a:latin typeface="Cambria Math"/>
                <a:cs typeface="Cambria Math"/>
              </a:rPr>
              <a:t> </a:t>
            </a:r>
            <a:r>
              <a:rPr dirty="0" sz="1800" spc="500"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43969" y="5162876"/>
            <a:ext cx="233045" cy="212090"/>
          </a:xfrm>
          <a:custGeom>
            <a:avLst/>
            <a:gdLst/>
            <a:ahLst/>
            <a:cxnLst/>
            <a:rect l="l" t="t" r="r" b="b"/>
            <a:pathLst>
              <a:path w="233045" h="212089">
                <a:moveTo>
                  <a:pt x="164900" y="0"/>
                </a:moveTo>
                <a:lnTo>
                  <a:pt x="161885" y="8595"/>
                </a:lnTo>
                <a:lnTo>
                  <a:pt x="174143" y="13914"/>
                </a:lnTo>
                <a:lnTo>
                  <a:pt x="184684" y="21278"/>
                </a:lnTo>
                <a:lnTo>
                  <a:pt x="206088" y="55409"/>
                </a:lnTo>
                <a:lnTo>
                  <a:pt x="213119" y="104813"/>
                </a:lnTo>
                <a:lnTo>
                  <a:pt x="212335" y="123488"/>
                </a:lnTo>
                <a:lnTo>
                  <a:pt x="200563" y="169217"/>
                </a:lnTo>
                <a:lnTo>
                  <a:pt x="174286" y="197806"/>
                </a:lnTo>
                <a:lnTo>
                  <a:pt x="162220" y="203150"/>
                </a:lnTo>
                <a:lnTo>
                  <a:pt x="164900" y="211745"/>
                </a:lnTo>
                <a:lnTo>
                  <a:pt x="205355" y="187708"/>
                </a:lnTo>
                <a:lnTo>
                  <a:pt x="228077" y="143335"/>
                </a:lnTo>
                <a:lnTo>
                  <a:pt x="232430" y="105928"/>
                </a:lnTo>
                <a:lnTo>
                  <a:pt x="231338" y="86516"/>
                </a:lnTo>
                <a:lnTo>
                  <a:pt x="214961" y="37114"/>
                </a:lnTo>
                <a:lnTo>
                  <a:pt x="180251" y="5542"/>
                </a:lnTo>
                <a:lnTo>
                  <a:pt x="164900" y="0"/>
                </a:lnTo>
                <a:close/>
              </a:path>
              <a:path w="23304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70"/>
                </a:lnTo>
                <a:lnTo>
                  <a:pt x="26374" y="155690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15077" y="5016500"/>
            <a:ext cx="4946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0833" sz="3600">
                <a:solidFill>
                  <a:srgbClr val="C00000"/>
                </a:solidFill>
                <a:latin typeface="Cambria Math"/>
                <a:cs typeface="Cambria Math"/>
              </a:rPr>
              <a:t>𝐖</a:t>
            </a:r>
            <a:r>
              <a:rPr dirty="0" baseline="-20833" sz="3600" spc="27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480">
                <a:solidFill>
                  <a:srgbClr val="C00000"/>
                </a:solidFill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58142" y="5356490"/>
            <a:ext cx="850900" cy="0"/>
          </a:xfrm>
          <a:custGeom>
            <a:avLst/>
            <a:gdLst/>
            <a:ahLst/>
            <a:cxnLst/>
            <a:rect l="l" t="t" r="r" b="b"/>
            <a:pathLst>
              <a:path w="850900" h="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09310" y="4890398"/>
            <a:ext cx="523240" cy="212090"/>
          </a:xfrm>
          <a:custGeom>
            <a:avLst/>
            <a:gdLst/>
            <a:ahLst/>
            <a:cxnLst/>
            <a:rect l="l" t="t" r="r" b="b"/>
            <a:pathLst>
              <a:path w="523239" h="212089">
                <a:moveTo>
                  <a:pt x="455413" y="0"/>
                </a:moveTo>
                <a:lnTo>
                  <a:pt x="452399" y="8595"/>
                </a:lnTo>
                <a:lnTo>
                  <a:pt x="464656" y="13914"/>
                </a:lnTo>
                <a:lnTo>
                  <a:pt x="475197" y="21278"/>
                </a:lnTo>
                <a:lnTo>
                  <a:pt x="496600" y="55409"/>
                </a:lnTo>
                <a:lnTo>
                  <a:pt x="503632" y="104813"/>
                </a:lnTo>
                <a:lnTo>
                  <a:pt x="502847" y="123488"/>
                </a:lnTo>
                <a:lnTo>
                  <a:pt x="491075" y="169218"/>
                </a:lnTo>
                <a:lnTo>
                  <a:pt x="464798" y="197807"/>
                </a:lnTo>
                <a:lnTo>
                  <a:pt x="452733" y="203150"/>
                </a:lnTo>
                <a:lnTo>
                  <a:pt x="455413" y="211745"/>
                </a:lnTo>
                <a:lnTo>
                  <a:pt x="495868" y="187708"/>
                </a:lnTo>
                <a:lnTo>
                  <a:pt x="518589" y="143335"/>
                </a:lnTo>
                <a:lnTo>
                  <a:pt x="522942" y="105929"/>
                </a:lnTo>
                <a:lnTo>
                  <a:pt x="521851" y="86517"/>
                </a:lnTo>
                <a:lnTo>
                  <a:pt x="505475" y="37114"/>
                </a:lnTo>
                <a:lnTo>
                  <a:pt x="470764" y="5542"/>
                </a:lnTo>
                <a:lnTo>
                  <a:pt x="455413" y="0"/>
                </a:lnTo>
                <a:close/>
              </a:path>
              <a:path w="52323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9"/>
                </a:lnTo>
                <a:lnTo>
                  <a:pt x="1088" y="125382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7"/>
                </a:lnTo>
                <a:lnTo>
                  <a:pt x="47732" y="190370"/>
                </a:lnTo>
                <a:lnTo>
                  <a:pt x="26374" y="155691"/>
                </a:lnTo>
                <a:lnTo>
                  <a:pt x="19310" y="104813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103481" y="4745228"/>
            <a:ext cx="6705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7777" sz="3600">
                <a:latin typeface="Cambria Math"/>
                <a:cs typeface="Cambria Math"/>
              </a:rPr>
              <a:t>𝐡</a:t>
            </a:r>
            <a:r>
              <a:rPr dirty="0" baseline="-27777" sz="3600" spc="150">
                <a:latin typeface="Cambria Math"/>
                <a:cs typeface="Cambria Math"/>
              </a:rPr>
              <a:t> </a:t>
            </a:r>
            <a:r>
              <a:rPr dirty="0" sz="1800" spc="114">
                <a:latin typeface="Cambria Math"/>
                <a:cs typeface="Cambria Math"/>
              </a:rPr>
              <a:t>#()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60360" y="5423743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5">
                <a:moveTo>
                  <a:pt x="0" y="0"/>
                </a:moveTo>
                <a:lnTo>
                  <a:pt x="0" y="276968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05599" y="5423743"/>
            <a:ext cx="0" cy="277495"/>
          </a:xfrm>
          <a:custGeom>
            <a:avLst/>
            <a:gdLst/>
            <a:ahLst/>
            <a:cxnLst/>
            <a:rect l="l" t="t" r="r" b="b"/>
            <a:pathLst>
              <a:path w="0" h="277495">
                <a:moveTo>
                  <a:pt x="0" y="0"/>
                </a:moveTo>
                <a:lnTo>
                  <a:pt x="0" y="276968"/>
                </a:lnTo>
              </a:path>
            </a:pathLst>
          </a:custGeom>
          <a:ln w="229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11891" y="5421087"/>
            <a:ext cx="374015" cy="282575"/>
          </a:xfrm>
          <a:custGeom>
            <a:avLst/>
            <a:gdLst/>
            <a:ahLst/>
            <a:cxnLst/>
            <a:rect l="l" t="t" r="r" b="b"/>
            <a:pathLst>
              <a:path w="374014" h="282575">
                <a:moveTo>
                  <a:pt x="283430" y="0"/>
                </a:moveTo>
                <a:lnTo>
                  <a:pt x="279412" y="11460"/>
                </a:lnTo>
                <a:lnTo>
                  <a:pt x="295755" y="18552"/>
                </a:lnTo>
                <a:lnTo>
                  <a:pt x="309810" y="28370"/>
                </a:lnTo>
                <a:lnTo>
                  <a:pt x="338348" y="73880"/>
                </a:lnTo>
                <a:lnTo>
                  <a:pt x="346682" y="115662"/>
                </a:lnTo>
                <a:lnTo>
                  <a:pt x="347724" y="139749"/>
                </a:lnTo>
                <a:lnTo>
                  <a:pt x="346678" y="164650"/>
                </a:lnTo>
                <a:lnTo>
                  <a:pt x="338306" y="207587"/>
                </a:lnTo>
                <a:lnTo>
                  <a:pt x="309828" y="253826"/>
                </a:lnTo>
                <a:lnTo>
                  <a:pt x="279858" y="270867"/>
                </a:lnTo>
                <a:lnTo>
                  <a:pt x="283430" y="282327"/>
                </a:lnTo>
                <a:lnTo>
                  <a:pt x="321940" y="264263"/>
                </a:lnTo>
                <a:lnTo>
                  <a:pt x="350254" y="232990"/>
                </a:lnTo>
                <a:lnTo>
                  <a:pt x="367667" y="191114"/>
                </a:lnTo>
                <a:lnTo>
                  <a:pt x="373471" y="141237"/>
                </a:lnTo>
                <a:lnTo>
                  <a:pt x="372015" y="115355"/>
                </a:lnTo>
                <a:lnTo>
                  <a:pt x="360370" y="69479"/>
                </a:lnTo>
                <a:lnTo>
                  <a:pt x="337274" y="32133"/>
                </a:lnTo>
                <a:lnTo>
                  <a:pt x="303899" y="7390"/>
                </a:lnTo>
                <a:lnTo>
                  <a:pt x="283430" y="0"/>
                </a:lnTo>
                <a:close/>
              </a:path>
              <a:path w="374014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6"/>
                </a:lnTo>
                <a:lnTo>
                  <a:pt x="13060" y="213052"/>
                </a:lnTo>
                <a:lnTo>
                  <a:pt x="36100" y="250278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7"/>
                </a:lnTo>
                <a:lnTo>
                  <a:pt x="77525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80"/>
                </a:lnTo>
                <a:lnTo>
                  <a:pt x="63755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153836" y="5046979"/>
            <a:ext cx="536575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9220">
              <a:lnSpc>
                <a:spcPct val="100000"/>
              </a:lnSpc>
              <a:spcBef>
                <a:spcPts val="100"/>
              </a:spcBef>
            </a:pPr>
            <a:r>
              <a:rPr dirty="0" sz="1800" spc="-434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  <a:p>
            <a:pPr algn="ctr" marR="5080">
              <a:lnSpc>
                <a:spcPct val="100000"/>
              </a:lnSpc>
              <a:spcBef>
                <a:spcPts val="70"/>
              </a:spcBef>
              <a:tabLst>
                <a:tab pos="357505" algn="l"/>
              </a:tabLst>
            </a:pPr>
            <a:r>
              <a:rPr dirty="0" sz="2400">
                <a:latin typeface="Cambria Math"/>
                <a:cs typeface="Cambria Math"/>
              </a:rPr>
              <a:t>𝑁	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46311" y="4947079"/>
            <a:ext cx="875030" cy="964565"/>
          </a:xfrm>
          <a:custGeom>
            <a:avLst/>
            <a:gdLst/>
            <a:ahLst/>
            <a:cxnLst/>
            <a:rect l="l" t="t" r="r" b="b"/>
            <a:pathLst>
              <a:path w="875029" h="964564">
                <a:moveTo>
                  <a:pt x="0" y="0"/>
                </a:moveTo>
                <a:lnTo>
                  <a:pt x="874931" y="0"/>
                </a:lnTo>
                <a:lnTo>
                  <a:pt x="874931" y="964286"/>
                </a:lnTo>
                <a:lnTo>
                  <a:pt x="0" y="96428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0A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302756" y="5918708"/>
            <a:ext cx="155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0AD00"/>
                </a:solidFill>
                <a:latin typeface="Calibri"/>
                <a:cs typeface="Calibri"/>
              </a:rPr>
              <a:t>A</a:t>
            </a:r>
            <a:r>
              <a:rPr dirty="0" sz="2400" spc="10" b="1">
                <a:solidFill>
                  <a:srgbClr val="F0AD00"/>
                </a:solidFill>
                <a:latin typeface="Calibri"/>
                <a:cs typeface="Calibri"/>
              </a:rPr>
              <a:t>g</a:t>
            </a:r>
            <a:r>
              <a:rPr dirty="0" sz="2400" spc="-5" b="1">
                <a:solidFill>
                  <a:srgbClr val="F0AD00"/>
                </a:solidFill>
                <a:latin typeface="Calibri"/>
                <a:cs typeface="Calibri"/>
              </a:rPr>
              <a:t>g</a:t>
            </a:r>
            <a:r>
              <a:rPr dirty="0" sz="2400" spc="-30" b="1">
                <a:solidFill>
                  <a:srgbClr val="F0AD00"/>
                </a:solidFill>
                <a:latin typeface="Calibri"/>
                <a:cs typeface="Calibri"/>
              </a:rPr>
              <a:t>r</a:t>
            </a:r>
            <a:r>
              <a:rPr dirty="0" sz="2400" b="1">
                <a:solidFill>
                  <a:srgbClr val="F0AD00"/>
                </a:solidFill>
                <a:latin typeface="Calibri"/>
                <a:cs typeface="Calibri"/>
              </a:rPr>
              <a:t>e</a:t>
            </a:r>
            <a:r>
              <a:rPr dirty="0" sz="2400" spc="-45" b="1">
                <a:solidFill>
                  <a:srgbClr val="F0AD00"/>
                </a:solidFill>
                <a:latin typeface="Calibri"/>
                <a:cs typeface="Calibri"/>
              </a:rPr>
              <a:t>g</a:t>
            </a:r>
            <a:r>
              <a:rPr dirty="0" sz="2400" spc="-20" b="1">
                <a:solidFill>
                  <a:srgbClr val="F0AD00"/>
                </a:solidFill>
                <a:latin typeface="Calibri"/>
                <a:cs typeface="Calibri"/>
              </a:rPr>
              <a:t>a</a:t>
            </a:r>
            <a:r>
              <a:rPr dirty="0" sz="2400" spc="0" b="1">
                <a:solidFill>
                  <a:srgbClr val="F0AD00"/>
                </a:solidFill>
                <a:latin typeface="Calibri"/>
                <a:cs typeface="Calibri"/>
              </a:rPr>
              <a:t>t</a:t>
            </a:r>
            <a:r>
              <a:rPr dirty="0" sz="2400" spc="-5" b="1">
                <a:solidFill>
                  <a:srgbClr val="F0AD00"/>
                </a:solidFill>
                <a:latin typeface="Calibri"/>
                <a:cs typeface="Calibri"/>
              </a:rPr>
              <a:t>io</a:t>
            </a:r>
            <a:r>
              <a:rPr dirty="0" sz="2400" b="1">
                <a:solidFill>
                  <a:srgbClr val="F0AD00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31245" y="4871646"/>
            <a:ext cx="1579245" cy="1037590"/>
          </a:xfrm>
          <a:custGeom>
            <a:avLst/>
            <a:gdLst/>
            <a:ahLst/>
            <a:cxnLst/>
            <a:rect l="l" t="t" r="r" b="b"/>
            <a:pathLst>
              <a:path w="1579245" h="1037589">
                <a:moveTo>
                  <a:pt x="0" y="0"/>
                </a:moveTo>
                <a:lnTo>
                  <a:pt x="1578818" y="0"/>
                </a:lnTo>
                <a:lnTo>
                  <a:pt x="1578818" y="1037325"/>
                </a:lnTo>
                <a:lnTo>
                  <a:pt x="0" y="10373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18108" y="3454061"/>
            <a:ext cx="6961505" cy="122555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82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How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spc="-10" b="1">
                <a:latin typeface="Calibri"/>
                <a:cs typeface="Calibri"/>
              </a:rPr>
              <a:t>write </a:t>
            </a:r>
            <a:r>
              <a:rPr dirty="0" sz="2800" spc="-5" b="1">
                <a:latin typeface="Calibri"/>
                <a:cs typeface="Calibri"/>
              </a:rPr>
              <a:t>this </a:t>
            </a:r>
            <a:r>
              <a:rPr dirty="0" sz="2800" b="1">
                <a:latin typeface="Calibri"/>
                <a:cs typeface="Calibri"/>
              </a:rPr>
              <a:t>as </a:t>
            </a:r>
            <a:r>
              <a:rPr dirty="0" sz="2800" spc="-10" b="1">
                <a:latin typeface="Calibri"/>
                <a:cs typeface="Calibri"/>
              </a:rPr>
              <a:t>Message </a:t>
            </a:r>
            <a:r>
              <a:rPr dirty="0" sz="2800" b="1">
                <a:latin typeface="Calibri"/>
                <a:cs typeface="Calibri"/>
              </a:rPr>
              <a:t>+</a:t>
            </a:r>
            <a:r>
              <a:rPr dirty="0" sz="2800" spc="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Aggregation?</a:t>
            </a:r>
            <a:endParaRPr sz="2800">
              <a:latin typeface="Calibri"/>
              <a:cs typeface="Calibri"/>
            </a:endParaRPr>
          </a:p>
          <a:p>
            <a:pPr marL="4270375">
              <a:lnSpc>
                <a:spcPct val="100000"/>
              </a:lnSpc>
              <a:spcBef>
                <a:spcPts val="14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56083" y="29971"/>
            <a:ext cx="5975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Kipf and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Welling.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Semi-Supervised Classification with Graph Convolutional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ICLR</a:t>
            </a:r>
            <a:r>
              <a:rPr dirty="0" sz="1200" spc="-14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2017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04921" y="4506290"/>
            <a:ext cx="930045" cy="14689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651397" y="4945574"/>
            <a:ext cx="113411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(2)</a:t>
            </a:r>
            <a:r>
              <a:rPr dirty="0" sz="1350" spc="-7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5A6378"/>
                </a:solidFill>
                <a:latin typeface="Calibri"/>
                <a:cs typeface="Calibri"/>
              </a:rPr>
              <a:t>Aggregation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51397" y="5380175"/>
            <a:ext cx="895350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(1)</a:t>
            </a:r>
            <a:r>
              <a:rPr dirty="0" sz="1350" spc="-90" b="1">
                <a:solidFill>
                  <a:srgbClr val="5A6378"/>
                </a:solidFill>
                <a:latin typeface="Calibri"/>
                <a:cs typeface="Calibri"/>
              </a:rPr>
              <a:t> </a:t>
            </a:r>
            <a:r>
              <a:rPr dirty="0" sz="1350" spc="0" b="1">
                <a:solidFill>
                  <a:srgbClr val="5A6378"/>
                </a:solidFill>
                <a:latin typeface="Calibri"/>
                <a:cs typeface="Calibri"/>
              </a:rPr>
              <a:t>Message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31792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0800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508634" algn="l"/>
              </a:tabLst>
            </a:pPr>
            <a:r>
              <a:rPr dirty="0" spc="-15">
                <a:solidFill>
                  <a:srgbClr val="000000"/>
                </a:solidFill>
              </a:rPr>
              <a:t>What </a:t>
            </a:r>
            <a:r>
              <a:rPr dirty="0">
                <a:solidFill>
                  <a:srgbClr val="000000"/>
                </a:solidFill>
              </a:rPr>
              <a:t>if </a:t>
            </a: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 spc="-20">
                <a:solidFill>
                  <a:srgbClr val="000000"/>
                </a:solidFill>
              </a:rPr>
              <a:t>graph </a:t>
            </a:r>
            <a:r>
              <a:rPr dirty="0" spc="-5">
                <a:solidFill>
                  <a:srgbClr val="000000"/>
                </a:solidFill>
              </a:rPr>
              <a:t>has </a:t>
            </a:r>
            <a:r>
              <a:rPr dirty="0" spc="-5">
                <a:solidFill>
                  <a:srgbClr val="D9253E"/>
                </a:solidFill>
              </a:rPr>
              <a:t>multiple </a:t>
            </a:r>
            <a:r>
              <a:rPr dirty="0" spc="-10">
                <a:solidFill>
                  <a:srgbClr val="D9253E"/>
                </a:solidFill>
              </a:rPr>
              <a:t>relation</a:t>
            </a:r>
            <a:r>
              <a:rPr dirty="0" spc="5">
                <a:solidFill>
                  <a:srgbClr val="D9253E"/>
                </a:solidFill>
              </a:rPr>
              <a:t> </a:t>
            </a:r>
            <a:r>
              <a:rPr dirty="0" spc="-5">
                <a:solidFill>
                  <a:srgbClr val="D9253E"/>
                </a:solidFill>
              </a:rPr>
              <a:t>types</a:t>
            </a:r>
            <a:r>
              <a:rPr dirty="0" spc="-5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4" name="object 4"/>
          <p:cNvSpPr/>
          <p:nvPr/>
        </p:nvSpPr>
        <p:spPr>
          <a:xfrm>
            <a:off x="3695700" y="315270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61675" y="2935334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2" y="75080"/>
                </a:moveTo>
                <a:lnTo>
                  <a:pt x="26716" y="85217"/>
                </a:lnTo>
                <a:lnTo>
                  <a:pt x="150407" y="411187"/>
                </a:lnTo>
                <a:lnTo>
                  <a:pt x="158657" y="414898"/>
                </a:lnTo>
                <a:lnTo>
                  <a:pt x="173412" y="409300"/>
                </a:lnTo>
                <a:lnTo>
                  <a:pt x="177123" y="401049"/>
                </a:lnTo>
                <a:lnTo>
                  <a:pt x="53432" y="75080"/>
                </a:lnTo>
                <a:close/>
              </a:path>
              <a:path w="177164" h="415289">
                <a:moveTo>
                  <a:pt x="9660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2"/>
                </a:lnTo>
                <a:lnTo>
                  <a:pt x="22559" y="56231"/>
                </a:lnTo>
                <a:lnTo>
                  <a:pt x="37313" y="50633"/>
                </a:lnTo>
                <a:lnTo>
                  <a:pt x="64617" y="50633"/>
                </a:lnTo>
                <a:lnTo>
                  <a:pt x="9660" y="0"/>
                </a:lnTo>
                <a:close/>
              </a:path>
              <a:path w="177164" h="415289">
                <a:moveTo>
                  <a:pt x="37313" y="50633"/>
                </a:moveTo>
                <a:lnTo>
                  <a:pt x="22559" y="56231"/>
                </a:lnTo>
                <a:lnTo>
                  <a:pt x="18848" y="64482"/>
                </a:lnTo>
                <a:lnTo>
                  <a:pt x="26716" y="85217"/>
                </a:lnTo>
                <a:lnTo>
                  <a:pt x="53432" y="75080"/>
                </a:lnTo>
                <a:lnTo>
                  <a:pt x="45563" y="54344"/>
                </a:lnTo>
                <a:lnTo>
                  <a:pt x="37313" y="50633"/>
                </a:lnTo>
                <a:close/>
              </a:path>
              <a:path w="177164" h="415289">
                <a:moveTo>
                  <a:pt x="64617" y="50633"/>
                </a:moveTo>
                <a:lnTo>
                  <a:pt x="37313" y="50633"/>
                </a:lnTo>
                <a:lnTo>
                  <a:pt x="45563" y="54344"/>
                </a:lnTo>
                <a:lnTo>
                  <a:pt x="53432" y="75080"/>
                </a:lnTo>
                <a:lnTo>
                  <a:pt x="80148" y="64942"/>
                </a:lnTo>
                <a:lnTo>
                  <a:pt x="64617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56255" y="2787953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4" h="550545">
                <a:moveTo>
                  <a:pt x="55678" y="472090"/>
                </a:moveTo>
                <a:lnTo>
                  <a:pt x="0" y="550103"/>
                </a:lnTo>
                <a:lnTo>
                  <a:pt x="95817" y="547838"/>
                </a:lnTo>
                <a:lnTo>
                  <a:pt x="87940" y="532973"/>
                </a:lnTo>
                <a:lnTo>
                  <a:pt x="62840" y="532973"/>
                </a:lnTo>
                <a:lnTo>
                  <a:pt x="54193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4" h="550545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3" y="530316"/>
                </a:lnTo>
                <a:lnTo>
                  <a:pt x="62840" y="532973"/>
                </a:lnTo>
                <a:lnTo>
                  <a:pt x="82437" y="522588"/>
                </a:lnTo>
                <a:lnTo>
                  <a:pt x="69057" y="497339"/>
                </a:lnTo>
                <a:close/>
              </a:path>
              <a:path w="1024254" h="550545">
                <a:moveTo>
                  <a:pt x="82437" y="522588"/>
                </a:moveTo>
                <a:lnTo>
                  <a:pt x="62840" y="532973"/>
                </a:lnTo>
                <a:lnTo>
                  <a:pt x="87940" y="532973"/>
                </a:lnTo>
                <a:lnTo>
                  <a:pt x="82437" y="522588"/>
                </a:lnTo>
                <a:close/>
              </a:path>
              <a:path w="1024254" h="550545">
                <a:moveTo>
                  <a:pt x="1007610" y="0"/>
                </a:moveTo>
                <a:lnTo>
                  <a:pt x="69057" y="497339"/>
                </a:lnTo>
                <a:lnTo>
                  <a:pt x="82437" y="522588"/>
                </a:lnTo>
                <a:lnTo>
                  <a:pt x="1020989" y="25248"/>
                </a:lnTo>
                <a:lnTo>
                  <a:pt x="1023646" y="16601"/>
                </a:lnTo>
                <a:lnTo>
                  <a:pt x="1016257" y="2656"/>
                </a:lnTo>
                <a:lnTo>
                  <a:pt x="100761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94347" y="3469119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8"/>
                </a:lnTo>
                <a:lnTo>
                  <a:pt x="607734" y="73471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1" y="56923"/>
                </a:lnTo>
                <a:lnTo>
                  <a:pt x="607734" y="73471"/>
                </a:lnTo>
                <a:lnTo>
                  <a:pt x="629053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1"/>
                </a:lnTo>
                <a:lnTo>
                  <a:pt x="622501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7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03454" y="3429505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1" y="28554"/>
                </a:moveTo>
                <a:lnTo>
                  <a:pt x="85128" y="57110"/>
                </a:lnTo>
                <a:lnTo>
                  <a:pt x="1346258" y="104494"/>
                </a:lnTo>
                <a:lnTo>
                  <a:pt x="1352891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1" y="28554"/>
                </a:lnTo>
                <a:close/>
              </a:path>
              <a:path w="1353820" h="104775">
                <a:moveTo>
                  <a:pt x="87274" y="0"/>
                </a:moveTo>
                <a:lnTo>
                  <a:pt x="0" y="39613"/>
                </a:lnTo>
                <a:lnTo>
                  <a:pt x="84054" y="85664"/>
                </a:lnTo>
                <a:lnTo>
                  <a:pt x="85128" y="57110"/>
                </a:lnTo>
                <a:lnTo>
                  <a:pt x="62965" y="56277"/>
                </a:lnTo>
                <a:lnTo>
                  <a:pt x="56813" y="49644"/>
                </a:lnTo>
                <a:lnTo>
                  <a:pt x="57406" y="33874"/>
                </a:lnTo>
                <a:lnTo>
                  <a:pt x="64038" y="27721"/>
                </a:lnTo>
                <a:lnTo>
                  <a:pt x="86232" y="27721"/>
                </a:lnTo>
                <a:lnTo>
                  <a:pt x="87274" y="0"/>
                </a:lnTo>
                <a:close/>
              </a:path>
              <a:path w="1353820" h="104775">
                <a:moveTo>
                  <a:pt x="64038" y="27721"/>
                </a:moveTo>
                <a:lnTo>
                  <a:pt x="57406" y="33874"/>
                </a:lnTo>
                <a:lnTo>
                  <a:pt x="56813" y="49644"/>
                </a:lnTo>
                <a:lnTo>
                  <a:pt x="62965" y="56277"/>
                </a:lnTo>
                <a:lnTo>
                  <a:pt x="85128" y="57110"/>
                </a:lnTo>
                <a:lnTo>
                  <a:pt x="86201" y="28554"/>
                </a:lnTo>
                <a:lnTo>
                  <a:pt x="64038" y="27721"/>
                </a:lnTo>
                <a:close/>
              </a:path>
              <a:path w="1353820" h="104775">
                <a:moveTo>
                  <a:pt x="86232" y="27721"/>
                </a:moveTo>
                <a:lnTo>
                  <a:pt x="64038" y="27721"/>
                </a:lnTo>
                <a:lnTo>
                  <a:pt x="86201" y="28554"/>
                </a:lnTo>
                <a:lnTo>
                  <a:pt x="86232" y="27721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22137" y="3650488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4" h="603885">
                <a:moveTo>
                  <a:pt x="503693" y="52399"/>
                </a:moveTo>
                <a:lnTo>
                  <a:pt x="0" y="583977"/>
                </a:lnTo>
                <a:lnTo>
                  <a:pt x="243" y="593020"/>
                </a:lnTo>
                <a:lnTo>
                  <a:pt x="11699" y="603876"/>
                </a:lnTo>
                <a:lnTo>
                  <a:pt x="20742" y="603632"/>
                </a:lnTo>
                <a:lnTo>
                  <a:pt x="524435" y="72053"/>
                </a:lnTo>
                <a:lnTo>
                  <a:pt x="503693" y="52399"/>
                </a:lnTo>
                <a:close/>
              </a:path>
              <a:path w="573404" h="603885">
                <a:moveTo>
                  <a:pt x="562077" y="36057"/>
                </a:moveTo>
                <a:lnTo>
                  <a:pt x="527991" y="36057"/>
                </a:lnTo>
                <a:lnTo>
                  <a:pt x="539446" y="46912"/>
                </a:lnTo>
                <a:lnTo>
                  <a:pt x="539690" y="55954"/>
                </a:lnTo>
                <a:lnTo>
                  <a:pt x="524435" y="72053"/>
                </a:lnTo>
                <a:lnTo>
                  <a:pt x="545177" y="91707"/>
                </a:lnTo>
                <a:lnTo>
                  <a:pt x="562077" y="36057"/>
                </a:lnTo>
                <a:close/>
              </a:path>
              <a:path w="573404" h="603885">
                <a:moveTo>
                  <a:pt x="527991" y="36057"/>
                </a:moveTo>
                <a:lnTo>
                  <a:pt x="518948" y="36300"/>
                </a:lnTo>
                <a:lnTo>
                  <a:pt x="503693" y="52399"/>
                </a:lnTo>
                <a:lnTo>
                  <a:pt x="524435" y="72053"/>
                </a:lnTo>
                <a:lnTo>
                  <a:pt x="539690" y="55954"/>
                </a:lnTo>
                <a:lnTo>
                  <a:pt x="539446" y="46912"/>
                </a:lnTo>
                <a:lnTo>
                  <a:pt x="527991" y="36057"/>
                </a:lnTo>
                <a:close/>
              </a:path>
              <a:path w="573404" h="603885">
                <a:moveTo>
                  <a:pt x="573027" y="0"/>
                </a:moveTo>
                <a:lnTo>
                  <a:pt x="482951" y="32745"/>
                </a:lnTo>
                <a:lnTo>
                  <a:pt x="503693" y="52399"/>
                </a:lnTo>
                <a:lnTo>
                  <a:pt x="518948" y="36300"/>
                </a:lnTo>
                <a:lnTo>
                  <a:pt x="527991" y="36057"/>
                </a:lnTo>
                <a:lnTo>
                  <a:pt x="562077" y="36057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22641" y="3704775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0" y="68213"/>
                </a:lnTo>
                <a:lnTo>
                  <a:pt x="379855" y="364321"/>
                </a:lnTo>
                <a:lnTo>
                  <a:pt x="388891" y="363886"/>
                </a:lnTo>
                <a:lnTo>
                  <a:pt x="399502" y="352204"/>
                </a:lnTo>
                <a:lnTo>
                  <a:pt x="399068" y="343169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7" y="89366"/>
                </a:lnTo>
                <a:lnTo>
                  <a:pt x="53850" y="68213"/>
                </a:lnTo>
                <a:lnTo>
                  <a:pt x="37433" y="53301"/>
                </a:lnTo>
                <a:lnTo>
                  <a:pt x="36998" y="44265"/>
                </a:lnTo>
                <a:lnTo>
                  <a:pt x="47609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09" y="32584"/>
                </a:lnTo>
                <a:lnTo>
                  <a:pt x="36998" y="44265"/>
                </a:lnTo>
                <a:lnTo>
                  <a:pt x="37433" y="53301"/>
                </a:lnTo>
                <a:lnTo>
                  <a:pt x="53850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90739" y="4168756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0"/>
                </a:lnTo>
                <a:lnTo>
                  <a:pt x="92282" y="226753"/>
                </a:lnTo>
                <a:lnTo>
                  <a:pt x="87687" y="202887"/>
                </a:lnTo>
                <a:lnTo>
                  <a:pt x="65101" y="202887"/>
                </a:lnTo>
                <a:lnTo>
                  <a:pt x="57611" y="197815"/>
                </a:lnTo>
                <a:lnTo>
                  <a:pt x="54627" y="182317"/>
                </a:lnTo>
                <a:lnTo>
                  <a:pt x="59698" y="174826"/>
                </a:lnTo>
                <a:lnTo>
                  <a:pt x="81477" y="170633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3"/>
                </a:moveTo>
                <a:lnTo>
                  <a:pt x="59698" y="174826"/>
                </a:lnTo>
                <a:lnTo>
                  <a:pt x="54627" y="182317"/>
                </a:lnTo>
                <a:lnTo>
                  <a:pt x="57611" y="197815"/>
                </a:lnTo>
                <a:lnTo>
                  <a:pt x="65101" y="202887"/>
                </a:lnTo>
                <a:lnTo>
                  <a:pt x="86879" y="198694"/>
                </a:lnTo>
                <a:lnTo>
                  <a:pt x="81477" y="170633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1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3"/>
                </a:lnTo>
                <a:lnTo>
                  <a:pt x="86879" y="198694"/>
                </a:lnTo>
                <a:lnTo>
                  <a:pt x="973170" y="28059"/>
                </a:lnTo>
                <a:lnTo>
                  <a:pt x="978242" y="20568"/>
                </a:lnTo>
                <a:lnTo>
                  <a:pt x="975259" y="5071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06498" y="2706116"/>
            <a:ext cx="1232535" cy="7696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800" spc="-40">
                <a:latin typeface="Arial"/>
                <a:cs typeface="Arial"/>
              </a:rPr>
              <a:t>Target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6509" y="5086603"/>
            <a:ext cx="1182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0844" y="3513327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89430" y="366623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03338" y="2525775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6975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9294" y="3379215"/>
            <a:ext cx="1638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8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5246" y="3535171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3403" y="3540759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76533" y="3552951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2484" y="3708908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31059" y="4171695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6975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342364" y="333407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5"/>
                </a:lnTo>
                <a:lnTo>
                  <a:pt x="0" y="185348"/>
                </a:lnTo>
                <a:lnTo>
                  <a:pt x="6439" y="234622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2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2"/>
                </a:lnTo>
                <a:lnTo>
                  <a:pt x="360555" y="185348"/>
                </a:lnTo>
                <a:lnTo>
                  <a:pt x="354115" y="136075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442473" y="2604826"/>
            <a:ext cx="389890" cy="105346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805"/>
              </a:spcBef>
            </a:pPr>
            <a:r>
              <a:rPr dirty="0" sz="2500" spc="-28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457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063582" y="261892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163691" y="2642107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30182" y="418427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635054" y="4205732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53460" y="399892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929354" y="3644900"/>
            <a:ext cx="174625" cy="6781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29982" y="418427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020566" y="4205732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34840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0800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508634" algn="l"/>
              </a:tabLst>
            </a:pPr>
            <a:r>
              <a:rPr dirty="0" spc="-15">
                <a:solidFill>
                  <a:srgbClr val="000000"/>
                </a:solidFill>
              </a:rPr>
              <a:t>What </a:t>
            </a:r>
            <a:r>
              <a:rPr dirty="0">
                <a:solidFill>
                  <a:srgbClr val="000000"/>
                </a:solidFill>
              </a:rPr>
              <a:t>if </a:t>
            </a: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 spc="-20">
                <a:solidFill>
                  <a:srgbClr val="000000"/>
                </a:solidFill>
              </a:rPr>
              <a:t>graph </a:t>
            </a:r>
            <a:r>
              <a:rPr dirty="0" spc="-5">
                <a:solidFill>
                  <a:srgbClr val="000000"/>
                </a:solidFill>
              </a:rPr>
              <a:t>has </a:t>
            </a:r>
            <a:r>
              <a:rPr dirty="0" spc="-5">
                <a:solidFill>
                  <a:srgbClr val="D9253E"/>
                </a:solidFill>
              </a:rPr>
              <a:t>multiple </a:t>
            </a:r>
            <a:r>
              <a:rPr dirty="0" spc="-10">
                <a:solidFill>
                  <a:srgbClr val="D9253E"/>
                </a:solidFill>
              </a:rPr>
              <a:t>relation</a:t>
            </a:r>
            <a:r>
              <a:rPr dirty="0" spc="5">
                <a:solidFill>
                  <a:srgbClr val="D9253E"/>
                </a:solidFill>
              </a:rPr>
              <a:t> </a:t>
            </a:r>
            <a:r>
              <a:rPr dirty="0" spc="-5">
                <a:solidFill>
                  <a:srgbClr val="D9253E"/>
                </a:solidFill>
              </a:rPr>
              <a:t>types</a:t>
            </a:r>
            <a:r>
              <a:rPr dirty="0" spc="-5">
                <a:solidFill>
                  <a:srgbClr val="000000"/>
                </a:solidFill>
              </a:rPr>
              <a:t>?</a:t>
            </a:r>
          </a:p>
          <a:p>
            <a:pPr marL="508000" marR="1054735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508634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neural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network weights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 different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relation</a:t>
            </a:r>
            <a:r>
              <a:rPr dirty="0" spc="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types.</a:t>
            </a:r>
          </a:p>
        </p:txBody>
      </p:sp>
      <p:sp>
        <p:nvSpPr>
          <p:cNvPr id="4" name="object 4"/>
          <p:cNvSpPr/>
          <p:nvPr/>
        </p:nvSpPr>
        <p:spPr>
          <a:xfrm>
            <a:off x="6861440" y="4037296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6" y="0"/>
                </a:lnTo>
                <a:lnTo>
                  <a:pt x="228506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DD91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61440" y="4037296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9A31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61440" y="3151182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solidFill>
            <a:srgbClr val="A0D3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61440" y="3151182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3792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861440" y="5035646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6" y="0"/>
                </a:lnTo>
                <a:lnTo>
                  <a:pt x="228506" y="606244"/>
                </a:lnTo>
                <a:lnTo>
                  <a:pt x="0" y="606244"/>
                </a:lnTo>
                <a:lnTo>
                  <a:pt x="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61440" y="5035646"/>
            <a:ext cx="228600" cy="606425"/>
          </a:xfrm>
          <a:custGeom>
            <a:avLst/>
            <a:gdLst/>
            <a:ahLst/>
            <a:cxnLst/>
            <a:rect l="l" t="t" r="r" b="b"/>
            <a:pathLst>
              <a:path w="228600" h="606425">
                <a:moveTo>
                  <a:pt x="0" y="0"/>
                </a:moveTo>
                <a:lnTo>
                  <a:pt x="228507" y="0"/>
                </a:lnTo>
                <a:lnTo>
                  <a:pt x="228507" y="606245"/>
                </a:lnTo>
                <a:lnTo>
                  <a:pt x="0" y="60624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82787" y="3230372"/>
            <a:ext cx="1849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60B5CC"/>
                </a:solidFill>
                <a:latin typeface="Arial"/>
                <a:cs typeface="Arial"/>
              </a:rPr>
              <a:t>Weights </a:t>
            </a:r>
            <a:r>
              <a:rPr dirty="0" sz="1800" spc="114">
                <a:solidFill>
                  <a:srgbClr val="60B5CC"/>
                </a:solidFill>
                <a:latin typeface="Cambria Math"/>
                <a:cs typeface="Cambria Math"/>
              </a:rPr>
              <a:t>𝐖</a:t>
            </a:r>
            <a:r>
              <a:rPr dirty="0" baseline="-14957" sz="1950" spc="172">
                <a:solidFill>
                  <a:srgbClr val="60B5CC"/>
                </a:solidFill>
                <a:latin typeface="Cambria Math"/>
                <a:cs typeface="Cambria Math"/>
              </a:rPr>
              <a:t>!</a:t>
            </a:r>
            <a:r>
              <a:rPr dirty="0" baseline="-32828" sz="1650" spc="172">
                <a:solidFill>
                  <a:srgbClr val="60B5CC"/>
                </a:solidFill>
                <a:latin typeface="Cambria Math"/>
                <a:cs typeface="Cambria Math"/>
              </a:rPr>
              <a:t>! </a:t>
            </a:r>
            <a:r>
              <a:rPr dirty="0" sz="1800" spc="-5">
                <a:solidFill>
                  <a:srgbClr val="60B5CC"/>
                </a:solidFill>
                <a:latin typeface="Arial"/>
                <a:cs typeface="Arial"/>
              </a:rPr>
              <a:t>for</a:t>
            </a:r>
            <a:r>
              <a:rPr dirty="0" sz="1800" spc="-60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 spc="-7">
                <a:solidFill>
                  <a:srgbClr val="60B5CC"/>
                </a:solidFill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88676" y="4156964"/>
            <a:ext cx="1854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C64847"/>
                </a:solidFill>
                <a:latin typeface="Arial"/>
                <a:cs typeface="Arial"/>
              </a:rPr>
              <a:t>Weights </a:t>
            </a:r>
            <a:r>
              <a:rPr dirty="0" sz="1800" spc="75">
                <a:solidFill>
                  <a:srgbClr val="C64847"/>
                </a:solidFill>
                <a:latin typeface="Cambria Math"/>
                <a:cs typeface="Cambria Math"/>
              </a:rPr>
              <a:t>𝐖</a:t>
            </a:r>
            <a:r>
              <a:rPr dirty="0" baseline="-17094" sz="1950" spc="112">
                <a:solidFill>
                  <a:srgbClr val="C64847"/>
                </a:solidFill>
                <a:latin typeface="Cambria Math"/>
                <a:cs typeface="Cambria Math"/>
              </a:rPr>
              <a:t>!</a:t>
            </a:r>
            <a:r>
              <a:rPr dirty="0" baseline="-32828" sz="1650" spc="112">
                <a:solidFill>
                  <a:srgbClr val="C64847"/>
                </a:solidFill>
                <a:latin typeface="Cambria Math"/>
                <a:cs typeface="Cambria Math"/>
              </a:rPr>
              <a:t>" </a:t>
            </a:r>
            <a:r>
              <a:rPr dirty="0" sz="1800" spc="-5">
                <a:solidFill>
                  <a:srgbClr val="C64847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C64847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r>
              <a:rPr dirty="0" baseline="-17094" sz="1950" spc="-195">
                <a:solidFill>
                  <a:srgbClr val="C64847"/>
                </a:solidFill>
                <a:latin typeface="Cambria Math"/>
                <a:cs typeface="Cambria Math"/>
              </a:rPr>
              <a:t>#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71840" y="5126228"/>
            <a:ext cx="1854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0AD00"/>
                </a:solidFill>
                <a:latin typeface="Arial"/>
                <a:cs typeface="Arial"/>
              </a:rPr>
              <a:t>Weights </a:t>
            </a:r>
            <a:r>
              <a:rPr dirty="0" sz="1800">
                <a:solidFill>
                  <a:srgbClr val="F0AD00"/>
                </a:solidFill>
                <a:latin typeface="Cambria Math"/>
                <a:cs typeface="Cambria Math"/>
              </a:rPr>
              <a:t>𝐖</a:t>
            </a:r>
            <a:r>
              <a:rPr dirty="0" baseline="-17094" sz="1950">
                <a:solidFill>
                  <a:srgbClr val="F0AD00"/>
                </a:solidFill>
                <a:latin typeface="Cambria Math"/>
                <a:cs typeface="Cambria Math"/>
              </a:rPr>
              <a:t>!</a:t>
            </a:r>
            <a:r>
              <a:rPr dirty="0" baseline="-32828" sz="1650">
                <a:solidFill>
                  <a:srgbClr val="F0AD00"/>
                </a:solidFill>
                <a:latin typeface="Cambria Math"/>
                <a:cs typeface="Cambria Math"/>
              </a:rPr>
              <a:t>#  </a:t>
            </a:r>
            <a:r>
              <a:rPr dirty="0" sz="1800" spc="-5">
                <a:solidFill>
                  <a:srgbClr val="F0AD00"/>
                </a:solidFill>
                <a:latin typeface="Arial"/>
                <a:cs typeface="Arial"/>
              </a:rPr>
              <a:t>for</a:t>
            </a:r>
            <a:r>
              <a:rPr dirty="0" sz="1800" spc="-185">
                <a:solidFill>
                  <a:srgbClr val="F0AD00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17094" sz="1950" spc="-89">
                <a:solidFill>
                  <a:srgbClr val="F0AD00"/>
                </a:solidFill>
                <a:latin typeface="Cambria Math"/>
                <a:cs typeface="Cambria Math"/>
              </a:rPr>
              <a:t>$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90486" y="400049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6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56461" y="3783125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3" y="75080"/>
                </a:moveTo>
                <a:lnTo>
                  <a:pt x="26716" y="85218"/>
                </a:lnTo>
                <a:lnTo>
                  <a:pt x="150408" y="411187"/>
                </a:lnTo>
                <a:lnTo>
                  <a:pt x="158658" y="414898"/>
                </a:lnTo>
                <a:lnTo>
                  <a:pt x="173413" y="409300"/>
                </a:lnTo>
                <a:lnTo>
                  <a:pt x="177124" y="401050"/>
                </a:lnTo>
                <a:lnTo>
                  <a:pt x="53433" y="75080"/>
                </a:lnTo>
                <a:close/>
              </a:path>
              <a:path w="177164" h="415289">
                <a:moveTo>
                  <a:pt x="9662" y="0"/>
                </a:moveTo>
                <a:lnTo>
                  <a:pt x="0" y="95355"/>
                </a:lnTo>
                <a:lnTo>
                  <a:pt x="26716" y="85218"/>
                </a:lnTo>
                <a:lnTo>
                  <a:pt x="18848" y="64482"/>
                </a:lnTo>
                <a:lnTo>
                  <a:pt x="22559" y="56233"/>
                </a:lnTo>
                <a:lnTo>
                  <a:pt x="37315" y="50633"/>
                </a:lnTo>
                <a:lnTo>
                  <a:pt x="64618" y="50633"/>
                </a:lnTo>
                <a:lnTo>
                  <a:pt x="9662" y="0"/>
                </a:lnTo>
                <a:close/>
              </a:path>
              <a:path w="177164" h="415289">
                <a:moveTo>
                  <a:pt x="37315" y="50633"/>
                </a:moveTo>
                <a:lnTo>
                  <a:pt x="22559" y="56233"/>
                </a:lnTo>
                <a:lnTo>
                  <a:pt x="18848" y="64482"/>
                </a:lnTo>
                <a:lnTo>
                  <a:pt x="26716" y="85218"/>
                </a:lnTo>
                <a:lnTo>
                  <a:pt x="53433" y="75080"/>
                </a:lnTo>
                <a:lnTo>
                  <a:pt x="45565" y="54344"/>
                </a:lnTo>
                <a:lnTo>
                  <a:pt x="37315" y="50633"/>
                </a:lnTo>
                <a:close/>
              </a:path>
              <a:path w="177164" h="415289">
                <a:moveTo>
                  <a:pt x="64618" y="50633"/>
                </a:moveTo>
                <a:lnTo>
                  <a:pt x="37315" y="50633"/>
                </a:lnTo>
                <a:lnTo>
                  <a:pt x="45565" y="54344"/>
                </a:lnTo>
                <a:lnTo>
                  <a:pt x="53433" y="75080"/>
                </a:lnTo>
                <a:lnTo>
                  <a:pt x="80149" y="64942"/>
                </a:lnTo>
                <a:lnTo>
                  <a:pt x="64618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51042" y="3635744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5">
                <a:moveTo>
                  <a:pt x="55678" y="472090"/>
                </a:moveTo>
                <a:lnTo>
                  <a:pt x="0" y="550103"/>
                </a:lnTo>
                <a:lnTo>
                  <a:pt x="95816" y="547838"/>
                </a:lnTo>
                <a:lnTo>
                  <a:pt x="87939" y="532973"/>
                </a:lnTo>
                <a:lnTo>
                  <a:pt x="62839" y="532973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5" h="550545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3"/>
                </a:lnTo>
                <a:lnTo>
                  <a:pt x="82436" y="522588"/>
                </a:lnTo>
                <a:lnTo>
                  <a:pt x="69057" y="497339"/>
                </a:lnTo>
                <a:close/>
              </a:path>
              <a:path w="1024255" h="550545">
                <a:moveTo>
                  <a:pt x="82436" y="522588"/>
                </a:moveTo>
                <a:lnTo>
                  <a:pt x="62839" y="532973"/>
                </a:lnTo>
                <a:lnTo>
                  <a:pt x="87939" y="532973"/>
                </a:lnTo>
                <a:lnTo>
                  <a:pt x="82436" y="522588"/>
                </a:lnTo>
                <a:close/>
              </a:path>
              <a:path w="1024255" h="550545">
                <a:moveTo>
                  <a:pt x="1007609" y="0"/>
                </a:moveTo>
                <a:lnTo>
                  <a:pt x="69057" y="497339"/>
                </a:lnTo>
                <a:lnTo>
                  <a:pt x="82436" y="522588"/>
                </a:lnTo>
                <a:lnTo>
                  <a:pt x="1020988" y="25248"/>
                </a:lnTo>
                <a:lnTo>
                  <a:pt x="1023646" y="16601"/>
                </a:lnTo>
                <a:lnTo>
                  <a:pt x="1016256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9133" y="4316910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7"/>
                </a:lnTo>
                <a:lnTo>
                  <a:pt x="607734" y="73471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7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98240" y="4277296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4"/>
                </a:moveTo>
                <a:lnTo>
                  <a:pt x="85127" y="57108"/>
                </a:lnTo>
                <a:lnTo>
                  <a:pt x="1346258" y="104494"/>
                </a:lnTo>
                <a:lnTo>
                  <a:pt x="1352890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0" y="28554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4" y="85664"/>
                </a:lnTo>
                <a:lnTo>
                  <a:pt x="85127" y="57108"/>
                </a:lnTo>
                <a:lnTo>
                  <a:pt x="62965" y="56276"/>
                </a:lnTo>
                <a:lnTo>
                  <a:pt x="56813" y="49644"/>
                </a:lnTo>
                <a:lnTo>
                  <a:pt x="57405" y="33873"/>
                </a:lnTo>
                <a:lnTo>
                  <a:pt x="64038" y="27721"/>
                </a:lnTo>
                <a:lnTo>
                  <a:pt x="86231" y="27721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1"/>
                </a:moveTo>
                <a:lnTo>
                  <a:pt x="57405" y="33873"/>
                </a:lnTo>
                <a:lnTo>
                  <a:pt x="56813" y="49644"/>
                </a:lnTo>
                <a:lnTo>
                  <a:pt x="62965" y="56276"/>
                </a:lnTo>
                <a:lnTo>
                  <a:pt x="85127" y="57108"/>
                </a:lnTo>
                <a:lnTo>
                  <a:pt x="86200" y="28554"/>
                </a:lnTo>
                <a:lnTo>
                  <a:pt x="64038" y="27721"/>
                </a:lnTo>
                <a:close/>
              </a:path>
              <a:path w="1353820" h="104775">
                <a:moveTo>
                  <a:pt x="86231" y="27721"/>
                </a:moveTo>
                <a:lnTo>
                  <a:pt x="64038" y="27721"/>
                </a:lnTo>
                <a:lnTo>
                  <a:pt x="86200" y="28554"/>
                </a:lnTo>
                <a:lnTo>
                  <a:pt x="86231" y="27721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16924" y="4498278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3" y="52399"/>
                </a:moveTo>
                <a:lnTo>
                  <a:pt x="0" y="583977"/>
                </a:lnTo>
                <a:lnTo>
                  <a:pt x="243" y="593020"/>
                </a:lnTo>
                <a:lnTo>
                  <a:pt x="11699" y="603874"/>
                </a:lnTo>
                <a:lnTo>
                  <a:pt x="20741" y="603632"/>
                </a:lnTo>
                <a:lnTo>
                  <a:pt x="524435" y="72053"/>
                </a:lnTo>
                <a:lnTo>
                  <a:pt x="503693" y="52399"/>
                </a:lnTo>
                <a:close/>
              </a:path>
              <a:path w="573405" h="603885">
                <a:moveTo>
                  <a:pt x="562078" y="36056"/>
                </a:moveTo>
                <a:lnTo>
                  <a:pt x="527991" y="36056"/>
                </a:lnTo>
                <a:lnTo>
                  <a:pt x="539446" y="46911"/>
                </a:lnTo>
                <a:lnTo>
                  <a:pt x="539690" y="55954"/>
                </a:lnTo>
                <a:lnTo>
                  <a:pt x="524435" y="72053"/>
                </a:lnTo>
                <a:lnTo>
                  <a:pt x="545177" y="91707"/>
                </a:lnTo>
                <a:lnTo>
                  <a:pt x="562078" y="36056"/>
                </a:lnTo>
                <a:close/>
              </a:path>
              <a:path w="573405" h="603885">
                <a:moveTo>
                  <a:pt x="527991" y="36056"/>
                </a:moveTo>
                <a:lnTo>
                  <a:pt x="518947" y="36300"/>
                </a:lnTo>
                <a:lnTo>
                  <a:pt x="503693" y="52399"/>
                </a:lnTo>
                <a:lnTo>
                  <a:pt x="524435" y="72053"/>
                </a:lnTo>
                <a:lnTo>
                  <a:pt x="539690" y="55954"/>
                </a:lnTo>
                <a:lnTo>
                  <a:pt x="539446" y="46911"/>
                </a:lnTo>
                <a:lnTo>
                  <a:pt x="527991" y="36056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3" y="52399"/>
                </a:lnTo>
                <a:lnTo>
                  <a:pt x="518947" y="36300"/>
                </a:lnTo>
                <a:lnTo>
                  <a:pt x="527991" y="36056"/>
                </a:lnTo>
                <a:lnTo>
                  <a:pt x="562078" y="36056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17427" y="4552566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1" y="68213"/>
                </a:lnTo>
                <a:lnTo>
                  <a:pt x="379856" y="364321"/>
                </a:lnTo>
                <a:lnTo>
                  <a:pt x="388891" y="363886"/>
                </a:lnTo>
                <a:lnTo>
                  <a:pt x="399502" y="352205"/>
                </a:lnTo>
                <a:lnTo>
                  <a:pt x="399068" y="343169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9" y="89366"/>
                </a:lnTo>
                <a:lnTo>
                  <a:pt x="53851" y="68213"/>
                </a:lnTo>
                <a:lnTo>
                  <a:pt x="37434" y="53301"/>
                </a:lnTo>
                <a:lnTo>
                  <a:pt x="37000" y="44265"/>
                </a:lnTo>
                <a:lnTo>
                  <a:pt x="47611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11" y="32584"/>
                </a:lnTo>
                <a:lnTo>
                  <a:pt x="37000" y="44265"/>
                </a:lnTo>
                <a:lnTo>
                  <a:pt x="37434" y="53301"/>
                </a:lnTo>
                <a:lnTo>
                  <a:pt x="53851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85524" y="5016545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2"/>
                </a:lnTo>
                <a:lnTo>
                  <a:pt x="92282" y="226754"/>
                </a:lnTo>
                <a:lnTo>
                  <a:pt x="87687" y="202887"/>
                </a:lnTo>
                <a:lnTo>
                  <a:pt x="65102" y="202887"/>
                </a:lnTo>
                <a:lnTo>
                  <a:pt x="57611" y="197816"/>
                </a:lnTo>
                <a:lnTo>
                  <a:pt x="54627" y="182318"/>
                </a:lnTo>
                <a:lnTo>
                  <a:pt x="59700" y="174828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700" y="174828"/>
                </a:lnTo>
                <a:lnTo>
                  <a:pt x="54627" y="182318"/>
                </a:lnTo>
                <a:lnTo>
                  <a:pt x="57611" y="197816"/>
                </a:lnTo>
                <a:lnTo>
                  <a:pt x="65102" y="202887"/>
                </a:lnTo>
                <a:lnTo>
                  <a:pt x="86879" y="198694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2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4"/>
                </a:lnTo>
                <a:lnTo>
                  <a:pt x="973171" y="28060"/>
                </a:lnTo>
                <a:lnTo>
                  <a:pt x="978244" y="20568"/>
                </a:lnTo>
                <a:lnTo>
                  <a:pt x="975259" y="5072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12942" y="5702300"/>
            <a:ext cx="1182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98125" y="3376167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06710" y="3529076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4081" y="4226559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53237" y="3668776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9188" y="382473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25846" y="5022088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37149" y="418186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3" y="364078"/>
                </a:lnTo>
                <a:lnTo>
                  <a:pt x="271268" y="345393"/>
                </a:lnTo>
                <a:lnTo>
                  <a:pt x="307754" y="316411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799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937258" y="4205732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58369" y="346671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658478" y="3489452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24969" y="503206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100032" y="4293615"/>
            <a:ext cx="545465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r>
              <a:rPr dirty="0" sz="1800" spc="300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baseline="-18888" sz="3750" spc="-442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41666" sz="2700" spc="-442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41666" sz="27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30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348247" y="484671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308188" y="4254979"/>
            <a:ext cx="290830" cy="91503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500" spc="-5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7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marL="161925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24769" y="503206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75630" y="3553459"/>
            <a:ext cx="1358265" cy="1802764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865"/>
              </a:spcBef>
            </a:pPr>
            <a:r>
              <a:rPr dirty="0" sz="1800" spc="-40">
                <a:latin typeface="Arial"/>
                <a:cs typeface="Arial"/>
              </a:rPr>
              <a:t>Target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  <a:p>
            <a:pPr marL="822325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500" spc="-2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3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marL="52069">
              <a:lnSpc>
                <a:spcPct val="100000"/>
              </a:lnSpc>
              <a:spcBef>
                <a:spcPts val="2475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28744" cy="536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6830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What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if this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has </a:t>
            </a:r>
            <a:r>
              <a:rPr dirty="0" spc="-5">
                <a:solidFill>
                  <a:srgbClr val="D9253E"/>
                </a:solidFill>
              </a:rPr>
              <a:t>multiple </a:t>
            </a:r>
            <a:r>
              <a:rPr dirty="0" spc="-10">
                <a:solidFill>
                  <a:srgbClr val="D9253E"/>
                </a:solidFill>
              </a:rPr>
              <a:t>relation</a:t>
            </a:r>
            <a:r>
              <a:rPr dirty="0" spc="5">
                <a:solidFill>
                  <a:srgbClr val="D9253E"/>
                </a:solidFill>
              </a:rPr>
              <a:t> </a:t>
            </a:r>
            <a:r>
              <a:rPr dirty="0" spc="-5">
                <a:solidFill>
                  <a:srgbClr val="D9253E"/>
                </a:solidFill>
              </a:rPr>
              <a:t>types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?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neural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network weights</a:t>
            </a:r>
            <a:r>
              <a:rPr dirty="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8147" y="2327148"/>
            <a:ext cx="39458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>
                <a:latin typeface="Calibri"/>
                <a:cs typeface="Calibri"/>
              </a:rPr>
              <a:t>different </a:t>
            </a:r>
            <a:r>
              <a:rPr dirty="0" sz="3200" spc="-15">
                <a:latin typeface="Calibri"/>
                <a:cs typeface="Calibri"/>
              </a:rPr>
              <a:t>relation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types!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36475" y="3016197"/>
            <a:ext cx="4979473" cy="3142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31822" y="4318508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3585" y="5059171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3611" y="4333747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3110" y="3586988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0263" y="4775708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5026" y="4004564"/>
            <a:ext cx="140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51936" y="3172460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8789" y="6197091"/>
            <a:ext cx="2475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Neural</a:t>
            </a:r>
            <a:r>
              <a:rPr dirty="0" sz="28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01429" y="3746864"/>
            <a:ext cx="854075" cy="2411730"/>
          </a:xfrm>
          <a:custGeom>
            <a:avLst/>
            <a:gdLst/>
            <a:ahLst/>
            <a:cxnLst/>
            <a:rect l="l" t="t" r="r" b="b"/>
            <a:pathLst>
              <a:path w="854075" h="2411729">
                <a:moveTo>
                  <a:pt x="822027" y="2325349"/>
                </a:moveTo>
                <a:lnTo>
                  <a:pt x="807107" y="2330489"/>
                </a:lnTo>
                <a:lnTo>
                  <a:pt x="803142" y="2338621"/>
                </a:lnTo>
                <a:lnTo>
                  <a:pt x="826898" y="2407575"/>
                </a:lnTo>
                <a:lnTo>
                  <a:pt x="835028" y="2411540"/>
                </a:lnTo>
                <a:lnTo>
                  <a:pt x="849950" y="2406399"/>
                </a:lnTo>
                <a:lnTo>
                  <a:pt x="853914" y="2398268"/>
                </a:lnTo>
                <a:lnTo>
                  <a:pt x="830159" y="2329313"/>
                </a:lnTo>
                <a:lnTo>
                  <a:pt x="822027" y="2325349"/>
                </a:lnTo>
                <a:close/>
              </a:path>
              <a:path w="854075" h="2411729">
                <a:moveTo>
                  <a:pt x="784799" y="2217282"/>
                </a:moveTo>
                <a:lnTo>
                  <a:pt x="769879" y="2222422"/>
                </a:lnTo>
                <a:lnTo>
                  <a:pt x="765914" y="2230553"/>
                </a:lnTo>
                <a:lnTo>
                  <a:pt x="789668" y="2299508"/>
                </a:lnTo>
                <a:lnTo>
                  <a:pt x="797800" y="2303472"/>
                </a:lnTo>
                <a:lnTo>
                  <a:pt x="812721" y="2298332"/>
                </a:lnTo>
                <a:lnTo>
                  <a:pt x="816684" y="2290201"/>
                </a:lnTo>
                <a:lnTo>
                  <a:pt x="792930" y="2221246"/>
                </a:lnTo>
                <a:lnTo>
                  <a:pt x="784799" y="2217282"/>
                </a:lnTo>
                <a:close/>
              </a:path>
              <a:path w="854075" h="2411729">
                <a:moveTo>
                  <a:pt x="747570" y="2109215"/>
                </a:moveTo>
                <a:lnTo>
                  <a:pt x="732649" y="2114355"/>
                </a:lnTo>
                <a:lnTo>
                  <a:pt x="728685" y="2122486"/>
                </a:lnTo>
                <a:lnTo>
                  <a:pt x="752439" y="2191441"/>
                </a:lnTo>
                <a:lnTo>
                  <a:pt x="760571" y="2195405"/>
                </a:lnTo>
                <a:lnTo>
                  <a:pt x="775492" y="2190265"/>
                </a:lnTo>
                <a:lnTo>
                  <a:pt x="779456" y="2182134"/>
                </a:lnTo>
                <a:lnTo>
                  <a:pt x="755702" y="2113179"/>
                </a:lnTo>
                <a:lnTo>
                  <a:pt x="747570" y="2109215"/>
                </a:lnTo>
                <a:close/>
              </a:path>
              <a:path w="854075" h="2411729">
                <a:moveTo>
                  <a:pt x="710341" y="2001148"/>
                </a:moveTo>
                <a:lnTo>
                  <a:pt x="695420" y="2006288"/>
                </a:lnTo>
                <a:lnTo>
                  <a:pt x="691456" y="2014419"/>
                </a:lnTo>
                <a:lnTo>
                  <a:pt x="715210" y="2083374"/>
                </a:lnTo>
                <a:lnTo>
                  <a:pt x="723342" y="2087338"/>
                </a:lnTo>
                <a:lnTo>
                  <a:pt x="738263" y="2082198"/>
                </a:lnTo>
                <a:lnTo>
                  <a:pt x="742227" y="2074067"/>
                </a:lnTo>
                <a:lnTo>
                  <a:pt x="718473" y="2005112"/>
                </a:lnTo>
                <a:lnTo>
                  <a:pt x="710341" y="2001148"/>
                </a:lnTo>
                <a:close/>
              </a:path>
              <a:path w="854075" h="2411729">
                <a:moveTo>
                  <a:pt x="673112" y="1893081"/>
                </a:moveTo>
                <a:lnTo>
                  <a:pt x="658191" y="1898221"/>
                </a:lnTo>
                <a:lnTo>
                  <a:pt x="654227" y="1906352"/>
                </a:lnTo>
                <a:lnTo>
                  <a:pt x="677981" y="1975307"/>
                </a:lnTo>
                <a:lnTo>
                  <a:pt x="686113" y="1979271"/>
                </a:lnTo>
                <a:lnTo>
                  <a:pt x="701034" y="1974131"/>
                </a:lnTo>
                <a:lnTo>
                  <a:pt x="704998" y="1965999"/>
                </a:lnTo>
                <a:lnTo>
                  <a:pt x="681244" y="1897045"/>
                </a:lnTo>
                <a:lnTo>
                  <a:pt x="673112" y="1893081"/>
                </a:lnTo>
                <a:close/>
              </a:path>
              <a:path w="854075" h="2411729">
                <a:moveTo>
                  <a:pt x="635883" y="1785014"/>
                </a:moveTo>
                <a:lnTo>
                  <a:pt x="620962" y="1790153"/>
                </a:lnTo>
                <a:lnTo>
                  <a:pt x="616997" y="1798285"/>
                </a:lnTo>
                <a:lnTo>
                  <a:pt x="640753" y="1867239"/>
                </a:lnTo>
                <a:lnTo>
                  <a:pt x="648884" y="1871204"/>
                </a:lnTo>
                <a:lnTo>
                  <a:pt x="663804" y="1866064"/>
                </a:lnTo>
                <a:lnTo>
                  <a:pt x="667769" y="1857932"/>
                </a:lnTo>
                <a:lnTo>
                  <a:pt x="644015" y="1788977"/>
                </a:lnTo>
                <a:lnTo>
                  <a:pt x="635883" y="1785014"/>
                </a:lnTo>
                <a:close/>
              </a:path>
              <a:path w="854075" h="2411729">
                <a:moveTo>
                  <a:pt x="598655" y="1676947"/>
                </a:moveTo>
                <a:lnTo>
                  <a:pt x="583733" y="1682087"/>
                </a:lnTo>
                <a:lnTo>
                  <a:pt x="579768" y="1690218"/>
                </a:lnTo>
                <a:lnTo>
                  <a:pt x="603524" y="1759172"/>
                </a:lnTo>
                <a:lnTo>
                  <a:pt x="611656" y="1763137"/>
                </a:lnTo>
                <a:lnTo>
                  <a:pt x="626576" y="1757997"/>
                </a:lnTo>
                <a:lnTo>
                  <a:pt x="630541" y="1749865"/>
                </a:lnTo>
                <a:lnTo>
                  <a:pt x="606785" y="1680911"/>
                </a:lnTo>
                <a:lnTo>
                  <a:pt x="598655" y="1676947"/>
                </a:lnTo>
                <a:close/>
              </a:path>
              <a:path w="854075" h="2411729">
                <a:moveTo>
                  <a:pt x="561426" y="1568879"/>
                </a:moveTo>
                <a:lnTo>
                  <a:pt x="546505" y="1574020"/>
                </a:lnTo>
                <a:lnTo>
                  <a:pt x="542540" y="1582150"/>
                </a:lnTo>
                <a:lnTo>
                  <a:pt x="566295" y="1651105"/>
                </a:lnTo>
                <a:lnTo>
                  <a:pt x="574426" y="1655070"/>
                </a:lnTo>
                <a:lnTo>
                  <a:pt x="589347" y="1649929"/>
                </a:lnTo>
                <a:lnTo>
                  <a:pt x="593312" y="1641798"/>
                </a:lnTo>
                <a:lnTo>
                  <a:pt x="569556" y="1572844"/>
                </a:lnTo>
                <a:lnTo>
                  <a:pt x="561426" y="1568879"/>
                </a:lnTo>
                <a:close/>
              </a:path>
              <a:path w="854075" h="2411729">
                <a:moveTo>
                  <a:pt x="524196" y="1460812"/>
                </a:moveTo>
                <a:lnTo>
                  <a:pt x="509276" y="1465953"/>
                </a:lnTo>
                <a:lnTo>
                  <a:pt x="505311" y="1474083"/>
                </a:lnTo>
                <a:lnTo>
                  <a:pt x="529066" y="1543038"/>
                </a:lnTo>
                <a:lnTo>
                  <a:pt x="537197" y="1547003"/>
                </a:lnTo>
                <a:lnTo>
                  <a:pt x="552118" y="1541862"/>
                </a:lnTo>
                <a:lnTo>
                  <a:pt x="556083" y="1533732"/>
                </a:lnTo>
                <a:lnTo>
                  <a:pt x="532328" y="1464777"/>
                </a:lnTo>
                <a:lnTo>
                  <a:pt x="524196" y="1460812"/>
                </a:lnTo>
                <a:close/>
              </a:path>
              <a:path w="854075" h="2411729">
                <a:moveTo>
                  <a:pt x="486967" y="1352745"/>
                </a:moveTo>
                <a:lnTo>
                  <a:pt x="472047" y="1357885"/>
                </a:lnTo>
                <a:lnTo>
                  <a:pt x="468082" y="1366017"/>
                </a:lnTo>
                <a:lnTo>
                  <a:pt x="491836" y="1434971"/>
                </a:lnTo>
                <a:lnTo>
                  <a:pt x="499968" y="1438935"/>
                </a:lnTo>
                <a:lnTo>
                  <a:pt x="514889" y="1433795"/>
                </a:lnTo>
                <a:lnTo>
                  <a:pt x="518854" y="1425663"/>
                </a:lnTo>
                <a:lnTo>
                  <a:pt x="495099" y="1356709"/>
                </a:lnTo>
                <a:lnTo>
                  <a:pt x="486967" y="1352745"/>
                </a:lnTo>
                <a:close/>
              </a:path>
              <a:path w="854075" h="2411729">
                <a:moveTo>
                  <a:pt x="449738" y="1244678"/>
                </a:moveTo>
                <a:lnTo>
                  <a:pt x="434817" y="1249818"/>
                </a:lnTo>
                <a:lnTo>
                  <a:pt x="430853" y="1257950"/>
                </a:lnTo>
                <a:lnTo>
                  <a:pt x="454607" y="1326904"/>
                </a:lnTo>
                <a:lnTo>
                  <a:pt x="462739" y="1330868"/>
                </a:lnTo>
                <a:lnTo>
                  <a:pt x="477660" y="1325728"/>
                </a:lnTo>
                <a:lnTo>
                  <a:pt x="481624" y="1317597"/>
                </a:lnTo>
                <a:lnTo>
                  <a:pt x="457870" y="1248642"/>
                </a:lnTo>
                <a:lnTo>
                  <a:pt x="449738" y="1244678"/>
                </a:lnTo>
                <a:close/>
              </a:path>
              <a:path w="854075" h="2411729">
                <a:moveTo>
                  <a:pt x="412509" y="1136611"/>
                </a:moveTo>
                <a:lnTo>
                  <a:pt x="397588" y="1141751"/>
                </a:lnTo>
                <a:lnTo>
                  <a:pt x="393625" y="1149883"/>
                </a:lnTo>
                <a:lnTo>
                  <a:pt x="417379" y="1218838"/>
                </a:lnTo>
                <a:lnTo>
                  <a:pt x="425510" y="1222801"/>
                </a:lnTo>
                <a:lnTo>
                  <a:pt x="440432" y="1217662"/>
                </a:lnTo>
                <a:lnTo>
                  <a:pt x="444395" y="1209530"/>
                </a:lnTo>
                <a:lnTo>
                  <a:pt x="420641" y="1140575"/>
                </a:lnTo>
                <a:lnTo>
                  <a:pt x="412509" y="1136611"/>
                </a:lnTo>
                <a:close/>
              </a:path>
              <a:path w="854075" h="2411729">
                <a:moveTo>
                  <a:pt x="375281" y="1028543"/>
                </a:moveTo>
                <a:lnTo>
                  <a:pt x="360359" y="1033684"/>
                </a:lnTo>
                <a:lnTo>
                  <a:pt x="356396" y="1041816"/>
                </a:lnTo>
                <a:lnTo>
                  <a:pt x="380150" y="1110769"/>
                </a:lnTo>
                <a:lnTo>
                  <a:pt x="388282" y="1114734"/>
                </a:lnTo>
                <a:lnTo>
                  <a:pt x="403203" y="1109595"/>
                </a:lnTo>
                <a:lnTo>
                  <a:pt x="407167" y="1101463"/>
                </a:lnTo>
                <a:lnTo>
                  <a:pt x="383413" y="1032508"/>
                </a:lnTo>
                <a:lnTo>
                  <a:pt x="375281" y="1028543"/>
                </a:lnTo>
                <a:close/>
              </a:path>
              <a:path w="854075" h="2411729">
                <a:moveTo>
                  <a:pt x="338052" y="920476"/>
                </a:moveTo>
                <a:lnTo>
                  <a:pt x="323131" y="925617"/>
                </a:lnTo>
                <a:lnTo>
                  <a:pt x="319167" y="933748"/>
                </a:lnTo>
                <a:lnTo>
                  <a:pt x="342921" y="1002703"/>
                </a:lnTo>
                <a:lnTo>
                  <a:pt x="351053" y="1006668"/>
                </a:lnTo>
                <a:lnTo>
                  <a:pt x="365973" y="1001527"/>
                </a:lnTo>
                <a:lnTo>
                  <a:pt x="369938" y="993396"/>
                </a:lnTo>
                <a:lnTo>
                  <a:pt x="346184" y="924441"/>
                </a:lnTo>
                <a:lnTo>
                  <a:pt x="338052" y="920476"/>
                </a:lnTo>
                <a:close/>
              </a:path>
              <a:path w="854075" h="2411729">
                <a:moveTo>
                  <a:pt x="300823" y="812410"/>
                </a:moveTo>
                <a:lnTo>
                  <a:pt x="285902" y="817551"/>
                </a:lnTo>
                <a:lnTo>
                  <a:pt x="281937" y="825681"/>
                </a:lnTo>
                <a:lnTo>
                  <a:pt x="305692" y="894636"/>
                </a:lnTo>
                <a:lnTo>
                  <a:pt x="313824" y="898601"/>
                </a:lnTo>
                <a:lnTo>
                  <a:pt x="328744" y="893460"/>
                </a:lnTo>
                <a:lnTo>
                  <a:pt x="332709" y="885329"/>
                </a:lnTo>
                <a:lnTo>
                  <a:pt x="308954" y="816375"/>
                </a:lnTo>
                <a:lnTo>
                  <a:pt x="300823" y="812410"/>
                </a:lnTo>
                <a:close/>
              </a:path>
              <a:path w="854075" h="2411729">
                <a:moveTo>
                  <a:pt x="263594" y="704343"/>
                </a:moveTo>
                <a:lnTo>
                  <a:pt x="248673" y="709482"/>
                </a:lnTo>
                <a:lnTo>
                  <a:pt x="244708" y="717614"/>
                </a:lnTo>
                <a:lnTo>
                  <a:pt x="268464" y="786569"/>
                </a:lnTo>
                <a:lnTo>
                  <a:pt x="276594" y="790534"/>
                </a:lnTo>
                <a:lnTo>
                  <a:pt x="291515" y="785393"/>
                </a:lnTo>
                <a:lnTo>
                  <a:pt x="295480" y="777261"/>
                </a:lnTo>
                <a:lnTo>
                  <a:pt x="271725" y="708306"/>
                </a:lnTo>
                <a:lnTo>
                  <a:pt x="263594" y="704343"/>
                </a:lnTo>
                <a:close/>
              </a:path>
              <a:path w="854075" h="2411729">
                <a:moveTo>
                  <a:pt x="226366" y="596276"/>
                </a:moveTo>
                <a:lnTo>
                  <a:pt x="211444" y="601416"/>
                </a:lnTo>
                <a:lnTo>
                  <a:pt x="207479" y="609547"/>
                </a:lnTo>
                <a:lnTo>
                  <a:pt x="231235" y="678502"/>
                </a:lnTo>
                <a:lnTo>
                  <a:pt x="239365" y="682466"/>
                </a:lnTo>
                <a:lnTo>
                  <a:pt x="254287" y="677326"/>
                </a:lnTo>
                <a:lnTo>
                  <a:pt x="258251" y="669194"/>
                </a:lnTo>
                <a:lnTo>
                  <a:pt x="234496" y="600240"/>
                </a:lnTo>
                <a:lnTo>
                  <a:pt x="226366" y="596276"/>
                </a:lnTo>
                <a:close/>
              </a:path>
              <a:path w="854075" h="2411729">
                <a:moveTo>
                  <a:pt x="189137" y="488208"/>
                </a:moveTo>
                <a:lnTo>
                  <a:pt x="174216" y="493349"/>
                </a:lnTo>
                <a:lnTo>
                  <a:pt x="170251" y="501481"/>
                </a:lnTo>
                <a:lnTo>
                  <a:pt x="194006" y="570435"/>
                </a:lnTo>
                <a:lnTo>
                  <a:pt x="202137" y="574399"/>
                </a:lnTo>
                <a:lnTo>
                  <a:pt x="217058" y="569259"/>
                </a:lnTo>
                <a:lnTo>
                  <a:pt x="221023" y="561127"/>
                </a:lnTo>
                <a:lnTo>
                  <a:pt x="197267" y="492173"/>
                </a:lnTo>
                <a:lnTo>
                  <a:pt x="189137" y="488208"/>
                </a:lnTo>
                <a:close/>
              </a:path>
              <a:path w="854075" h="2411729">
                <a:moveTo>
                  <a:pt x="151907" y="380141"/>
                </a:moveTo>
                <a:lnTo>
                  <a:pt x="136987" y="385282"/>
                </a:lnTo>
                <a:lnTo>
                  <a:pt x="133022" y="393412"/>
                </a:lnTo>
                <a:lnTo>
                  <a:pt x="156777" y="462367"/>
                </a:lnTo>
                <a:lnTo>
                  <a:pt x="164908" y="466332"/>
                </a:lnTo>
                <a:lnTo>
                  <a:pt x="179829" y="461191"/>
                </a:lnTo>
                <a:lnTo>
                  <a:pt x="183794" y="453061"/>
                </a:lnTo>
                <a:lnTo>
                  <a:pt x="160039" y="384106"/>
                </a:lnTo>
                <a:lnTo>
                  <a:pt x="151907" y="380141"/>
                </a:lnTo>
                <a:close/>
              </a:path>
              <a:path w="854075" h="2411729">
                <a:moveTo>
                  <a:pt x="114678" y="272074"/>
                </a:moveTo>
                <a:lnTo>
                  <a:pt x="99757" y="277214"/>
                </a:lnTo>
                <a:lnTo>
                  <a:pt x="95793" y="285346"/>
                </a:lnTo>
                <a:lnTo>
                  <a:pt x="119547" y="354300"/>
                </a:lnTo>
                <a:lnTo>
                  <a:pt x="127679" y="358265"/>
                </a:lnTo>
                <a:lnTo>
                  <a:pt x="142600" y="353124"/>
                </a:lnTo>
                <a:lnTo>
                  <a:pt x="146564" y="344992"/>
                </a:lnTo>
                <a:lnTo>
                  <a:pt x="122810" y="276039"/>
                </a:lnTo>
                <a:lnTo>
                  <a:pt x="114678" y="272074"/>
                </a:lnTo>
                <a:close/>
              </a:path>
              <a:path w="854075" h="2411729">
                <a:moveTo>
                  <a:pt x="77449" y="164007"/>
                </a:moveTo>
                <a:lnTo>
                  <a:pt x="62528" y="169147"/>
                </a:lnTo>
                <a:lnTo>
                  <a:pt x="58564" y="177279"/>
                </a:lnTo>
                <a:lnTo>
                  <a:pt x="82318" y="246233"/>
                </a:lnTo>
                <a:lnTo>
                  <a:pt x="90450" y="250197"/>
                </a:lnTo>
                <a:lnTo>
                  <a:pt x="105371" y="245057"/>
                </a:lnTo>
                <a:lnTo>
                  <a:pt x="109335" y="236926"/>
                </a:lnTo>
                <a:lnTo>
                  <a:pt x="85581" y="167971"/>
                </a:lnTo>
                <a:lnTo>
                  <a:pt x="77449" y="164007"/>
                </a:lnTo>
                <a:close/>
              </a:path>
              <a:path w="854075" h="2411729">
                <a:moveTo>
                  <a:pt x="54034" y="76397"/>
                </a:moveTo>
                <a:lnTo>
                  <a:pt x="27017" y="85704"/>
                </a:lnTo>
                <a:lnTo>
                  <a:pt x="45090" y="138167"/>
                </a:lnTo>
                <a:lnTo>
                  <a:pt x="53221" y="142130"/>
                </a:lnTo>
                <a:lnTo>
                  <a:pt x="68143" y="136991"/>
                </a:lnTo>
                <a:lnTo>
                  <a:pt x="72106" y="128859"/>
                </a:lnTo>
                <a:lnTo>
                  <a:pt x="54034" y="76397"/>
                </a:lnTo>
                <a:close/>
              </a:path>
              <a:path w="854075" h="2411729">
                <a:moveTo>
                  <a:pt x="12603" y="0"/>
                </a:moveTo>
                <a:lnTo>
                  <a:pt x="0" y="95011"/>
                </a:lnTo>
                <a:lnTo>
                  <a:pt x="27017" y="85704"/>
                </a:lnTo>
                <a:lnTo>
                  <a:pt x="21336" y="69212"/>
                </a:lnTo>
                <a:lnTo>
                  <a:pt x="25299" y="61080"/>
                </a:lnTo>
                <a:lnTo>
                  <a:pt x="40220" y="55939"/>
                </a:lnTo>
                <a:lnTo>
                  <a:pt x="69675" y="55939"/>
                </a:lnTo>
                <a:lnTo>
                  <a:pt x="12603" y="0"/>
                </a:lnTo>
                <a:close/>
              </a:path>
              <a:path w="854075" h="2411729">
                <a:moveTo>
                  <a:pt x="40220" y="55939"/>
                </a:moveTo>
                <a:lnTo>
                  <a:pt x="25299" y="61080"/>
                </a:lnTo>
                <a:lnTo>
                  <a:pt x="21336" y="69212"/>
                </a:lnTo>
                <a:lnTo>
                  <a:pt x="27017" y="85704"/>
                </a:lnTo>
                <a:lnTo>
                  <a:pt x="54034" y="76397"/>
                </a:lnTo>
                <a:lnTo>
                  <a:pt x="48352" y="59904"/>
                </a:lnTo>
                <a:lnTo>
                  <a:pt x="40220" y="55939"/>
                </a:lnTo>
                <a:close/>
              </a:path>
              <a:path w="854075" h="2411729">
                <a:moveTo>
                  <a:pt x="69675" y="55939"/>
                </a:moveTo>
                <a:lnTo>
                  <a:pt x="40220" y="55939"/>
                </a:lnTo>
                <a:lnTo>
                  <a:pt x="48352" y="59904"/>
                </a:lnTo>
                <a:lnTo>
                  <a:pt x="54034" y="76397"/>
                </a:lnTo>
                <a:lnTo>
                  <a:pt x="81051" y="67090"/>
                </a:lnTo>
                <a:lnTo>
                  <a:pt x="69675" y="55939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23050" y="3338371"/>
            <a:ext cx="1176020" cy="2820670"/>
          </a:xfrm>
          <a:custGeom>
            <a:avLst/>
            <a:gdLst/>
            <a:ahLst/>
            <a:cxnLst/>
            <a:rect l="l" t="t" r="r" b="b"/>
            <a:pathLst>
              <a:path w="1176020" h="2820670">
                <a:moveTo>
                  <a:pt x="36070" y="2734879"/>
                </a:moveTo>
                <a:lnTo>
                  <a:pt x="27722" y="2738364"/>
                </a:lnTo>
                <a:lnTo>
                  <a:pt x="0" y="2805821"/>
                </a:lnTo>
                <a:lnTo>
                  <a:pt x="3484" y="2814170"/>
                </a:lnTo>
                <a:lnTo>
                  <a:pt x="18082" y="2820168"/>
                </a:lnTo>
                <a:lnTo>
                  <a:pt x="26429" y="2816683"/>
                </a:lnTo>
                <a:lnTo>
                  <a:pt x="54152" y="2749226"/>
                </a:lnTo>
                <a:lnTo>
                  <a:pt x="50667" y="2740878"/>
                </a:lnTo>
                <a:lnTo>
                  <a:pt x="36070" y="2734879"/>
                </a:lnTo>
                <a:close/>
              </a:path>
              <a:path w="1176020" h="2820670">
                <a:moveTo>
                  <a:pt x="79518" y="2629159"/>
                </a:moveTo>
                <a:lnTo>
                  <a:pt x="71169" y="2632644"/>
                </a:lnTo>
                <a:lnTo>
                  <a:pt x="43447" y="2700101"/>
                </a:lnTo>
                <a:lnTo>
                  <a:pt x="46932" y="2708449"/>
                </a:lnTo>
                <a:lnTo>
                  <a:pt x="61528" y="2714448"/>
                </a:lnTo>
                <a:lnTo>
                  <a:pt x="69877" y="2710963"/>
                </a:lnTo>
                <a:lnTo>
                  <a:pt x="97600" y="2643506"/>
                </a:lnTo>
                <a:lnTo>
                  <a:pt x="94114" y="2635158"/>
                </a:lnTo>
                <a:lnTo>
                  <a:pt x="79518" y="2629159"/>
                </a:lnTo>
                <a:close/>
              </a:path>
              <a:path w="1176020" h="2820670">
                <a:moveTo>
                  <a:pt x="122965" y="2523438"/>
                </a:moveTo>
                <a:lnTo>
                  <a:pt x="114617" y="2526923"/>
                </a:lnTo>
                <a:lnTo>
                  <a:pt x="86894" y="2594381"/>
                </a:lnTo>
                <a:lnTo>
                  <a:pt x="90379" y="2602729"/>
                </a:lnTo>
                <a:lnTo>
                  <a:pt x="104976" y="2608728"/>
                </a:lnTo>
                <a:lnTo>
                  <a:pt x="113324" y="2605243"/>
                </a:lnTo>
                <a:lnTo>
                  <a:pt x="141047" y="2537785"/>
                </a:lnTo>
                <a:lnTo>
                  <a:pt x="137562" y="2529437"/>
                </a:lnTo>
                <a:lnTo>
                  <a:pt x="122965" y="2523438"/>
                </a:lnTo>
                <a:close/>
              </a:path>
              <a:path w="1176020" h="2820670">
                <a:moveTo>
                  <a:pt x="166413" y="2417718"/>
                </a:moveTo>
                <a:lnTo>
                  <a:pt x="158065" y="2421203"/>
                </a:lnTo>
                <a:lnTo>
                  <a:pt x="130342" y="2488660"/>
                </a:lnTo>
                <a:lnTo>
                  <a:pt x="133827" y="2497008"/>
                </a:lnTo>
                <a:lnTo>
                  <a:pt x="148424" y="2503007"/>
                </a:lnTo>
                <a:lnTo>
                  <a:pt x="156772" y="2499522"/>
                </a:lnTo>
                <a:lnTo>
                  <a:pt x="184495" y="2432065"/>
                </a:lnTo>
                <a:lnTo>
                  <a:pt x="181010" y="2423717"/>
                </a:lnTo>
                <a:lnTo>
                  <a:pt x="166413" y="2417718"/>
                </a:lnTo>
                <a:close/>
              </a:path>
              <a:path w="1176020" h="2820670">
                <a:moveTo>
                  <a:pt x="209861" y="2311998"/>
                </a:moveTo>
                <a:lnTo>
                  <a:pt x="201512" y="2315483"/>
                </a:lnTo>
                <a:lnTo>
                  <a:pt x="173790" y="2382940"/>
                </a:lnTo>
                <a:lnTo>
                  <a:pt x="177275" y="2391288"/>
                </a:lnTo>
                <a:lnTo>
                  <a:pt x="191871" y="2397287"/>
                </a:lnTo>
                <a:lnTo>
                  <a:pt x="200220" y="2393802"/>
                </a:lnTo>
                <a:lnTo>
                  <a:pt x="227942" y="2326344"/>
                </a:lnTo>
                <a:lnTo>
                  <a:pt x="224457" y="2317996"/>
                </a:lnTo>
                <a:lnTo>
                  <a:pt x="209861" y="2311998"/>
                </a:lnTo>
                <a:close/>
              </a:path>
              <a:path w="1176020" h="2820670">
                <a:moveTo>
                  <a:pt x="253307" y="2206278"/>
                </a:moveTo>
                <a:lnTo>
                  <a:pt x="244960" y="2209763"/>
                </a:lnTo>
                <a:lnTo>
                  <a:pt x="217237" y="2277219"/>
                </a:lnTo>
                <a:lnTo>
                  <a:pt x="220722" y="2285568"/>
                </a:lnTo>
                <a:lnTo>
                  <a:pt x="235319" y="2291566"/>
                </a:lnTo>
                <a:lnTo>
                  <a:pt x="243667" y="2288081"/>
                </a:lnTo>
                <a:lnTo>
                  <a:pt x="271390" y="2220624"/>
                </a:lnTo>
                <a:lnTo>
                  <a:pt x="267905" y="2212276"/>
                </a:lnTo>
                <a:lnTo>
                  <a:pt x="253307" y="2206278"/>
                </a:lnTo>
                <a:close/>
              </a:path>
              <a:path w="1176020" h="2820670">
                <a:moveTo>
                  <a:pt x="296755" y="2100557"/>
                </a:moveTo>
                <a:lnTo>
                  <a:pt x="288408" y="2104042"/>
                </a:lnTo>
                <a:lnTo>
                  <a:pt x="260685" y="2171499"/>
                </a:lnTo>
                <a:lnTo>
                  <a:pt x="264170" y="2179847"/>
                </a:lnTo>
                <a:lnTo>
                  <a:pt x="278767" y="2185846"/>
                </a:lnTo>
                <a:lnTo>
                  <a:pt x="287115" y="2182361"/>
                </a:lnTo>
                <a:lnTo>
                  <a:pt x="314838" y="2114904"/>
                </a:lnTo>
                <a:lnTo>
                  <a:pt x="311353" y="2106556"/>
                </a:lnTo>
                <a:lnTo>
                  <a:pt x="296755" y="2100557"/>
                </a:lnTo>
                <a:close/>
              </a:path>
              <a:path w="1176020" h="2820670">
                <a:moveTo>
                  <a:pt x="340203" y="1994837"/>
                </a:moveTo>
                <a:lnTo>
                  <a:pt x="331854" y="1998322"/>
                </a:lnTo>
                <a:lnTo>
                  <a:pt x="304131" y="2065779"/>
                </a:lnTo>
                <a:lnTo>
                  <a:pt x="307618" y="2074127"/>
                </a:lnTo>
                <a:lnTo>
                  <a:pt x="322214" y="2080126"/>
                </a:lnTo>
                <a:lnTo>
                  <a:pt x="330563" y="2076640"/>
                </a:lnTo>
                <a:lnTo>
                  <a:pt x="358284" y="2009184"/>
                </a:lnTo>
                <a:lnTo>
                  <a:pt x="354799" y="2000835"/>
                </a:lnTo>
                <a:lnTo>
                  <a:pt x="340203" y="1994837"/>
                </a:lnTo>
                <a:close/>
              </a:path>
              <a:path w="1176020" h="2820670">
                <a:moveTo>
                  <a:pt x="383650" y="1889116"/>
                </a:moveTo>
                <a:lnTo>
                  <a:pt x="375302" y="1892602"/>
                </a:lnTo>
                <a:lnTo>
                  <a:pt x="347579" y="1960058"/>
                </a:lnTo>
                <a:lnTo>
                  <a:pt x="351064" y="1968407"/>
                </a:lnTo>
                <a:lnTo>
                  <a:pt x="365662" y="1974405"/>
                </a:lnTo>
                <a:lnTo>
                  <a:pt x="374009" y="1970920"/>
                </a:lnTo>
                <a:lnTo>
                  <a:pt x="401732" y="1903463"/>
                </a:lnTo>
                <a:lnTo>
                  <a:pt x="398247" y="1895115"/>
                </a:lnTo>
                <a:lnTo>
                  <a:pt x="383650" y="1889116"/>
                </a:lnTo>
                <a:close/>
              </a:path>
              <a:path w="1176020" h="2820670">
                <a:moveTo>
                  <a:pt x="427098" y="1783396"/>
                </a:moveTo>
                <a:lnTo>
                  <a:pt x="418750" y="1786881"/>
                </a:lnTo>
                <a:lnTo>
                  <a:pt x="391027" y="1854338"/>
                </a:lnTo>
                <a:lnTo>
                  <a:pt x="394512" y="1862686"/>
                </a:lnTo>
                <a:lnTo>
                  <a:pt x="409108" y="1868685"/>
                </a:lnTo>
                <a:lnTo>
                  <a:pt x="417457" y="1865200"/>
                </a:lnTo>
                <a:lnTo>
                  <a:pt x="445180" y="1797743"/>
                </a:lnTo>
                <a:lnTo>
                  <a:pt x="441694" y="1789395"/>
                </a:lnTo>
                <a:lnTo>
                  <a:pt x="427098" y="1783396"/>
                </a:lnTo>
                <a:close/>
              </a:path>
              <a:path w="1176020" h="2820670">
                <a:moveTo>
                  <a:pt x="470545" y="1677675"/>
                </a:moveTo>
                <a:lnTo>
                  <a:pt x="462197" y="1681161"/>
                </a:lnTo>
                <a:lnTo>
                  <a:pt x="434474" y="1748618"/>
                </a:lnTo>
                <a:lnTo>
                  <a:pt x="437959" y="1756966"/>
                </a:lnTo>
                <a:lnTo>
                  <a:pt x="452556" y="1762964"/>
                </a:lnTo>
                <a:lnTo>
                  <a:pt x="460904" y="1759479"/>
                </a:lnTo>
                <a:lnTo>
                  <a:pt x="488627" y="1692022"/>
                </a:lnTo>
                <a:lnTo>
                  <a:pt x="485142" y="1683674"/>
                </a:lnTo>
                <a:lnTo>
                  <a:pt x="470545" y="1677675"/>
                </a:lnTo>
                <a:close/>
              </a:path>
              <a:path w="1176020" h="2820670">
                <a:moveTo>
                  <a:pt x="513993" y="1571955"/>
                </a:moveTo>
                <a:lnTo>
                  <a:pt x="505645" y="1575440"/>
                </a:lnTo>
                <a:lnTo>
                  <a:pt x="477922" y="1642897"/>
                </a:lnTo>
                <a:lnTo>
                  <a:pt x="481407" y="1651245"/>
                </a:lnTo>
                <a:lnTo>
                  <a:pt x="496004" y="1657244"/>
                </a:lnTo>
                <a:lnTo>
                  <a:pt x="504352" y="1653759"/>
                </a:lnTo>
                <a:lnTo>
                  <a:pt x="532075" y="1586302"/>
                </a:lnTo>
                <a:lnTo>
                  <a:pt x="528590" y="1577954"/>
                </a:lnTo>
                <a:lnTo>
                  <a:pt x="513993" y="1571955"/>
                </a:lnTo>
                <a:close/>
              </a:path>
              <a:path w="1176020" h="2820670">
                <a:moveTo>
                  <a:pt x="557441" y="1466235"/>
                </a:moveTo>
                <a:lnTo>
                  <a:pt x="549092" y="1469720"/>
                </a:lnTo>
                <a:lnTo>
                  <a:pt x="521370" y="1537177"/>
                </a:lnTo>
                <a:lnTo>
                  <a:pt x="524855" y="1545525"/>
                </a:lnTo>
                <a:lnTo>
                  <a:pt x="539451" y="1551523"/>
                </a:lnTo>
                <a:lnTo>
                  <a:pt x="547800" y="1548038"/>
                </a:lnTo>
                <a:lnTo>
                  <a:pt x="575522" y="1480581"/>
                </a:lnTo>
                <a:lnTo>
                  <a:pt x="572037" y="1472233"/>
                </a:lnTo>
                <a:lnTo>
                  <a:pt x="557441" y="1466235"/>
                </a:lnTo>
                <a:close/>
              </a:path>
              <a:path w="1176020" h="2820670">
                <a:moveTo>
                  <a:pt x="600887" y="1360514"/>
                </a:moveTo>
                <a:lnTo>
                  <a:pt x="592540" y="1363999"/>
                </a:lnTo>
                <a:lnTo>
                  <a:pt x="564817" y="1431456"/>
                </a:lnTo>
                <a:lnTo>
                  <a:pt x="568302" y="1439804"/>
                </a:lnTo>
                <a:lnTo>
                  <a:pt x="582899" y="1445803"/>
                </a:lnTo>
                <a:lnTo>
                  <a:pt x="591247" y="1442318"/>
                </a:lnTo>
                <a:lnTo>
                  <a:pt x="618970" y="1374861"/>
                </a:lnTo>
                <a:lnTo>
                  <a:pt x="615485" y="1366513"/>
                </a:lnTo>
                <a:lnTo>
                  <a:pt x="600887" y="1360514"/>
                </a:lnTo>
                <a:close/>
              </a:path>
              <a:path w="1176020" h="2820670">
                <a:moveTo>
                  <a:pt x="644335" y="1254794"/>
                </a:moveTo>
                <a:lnTo>
                  <a:pt x="635988" y="1258279"/>
                </a:lnTo>
                <a:lnTo>
                  <a:pt x="608265" y="1325736"/>
                </a:lnTo>
                <a:lnTo>
                  <a:pt x="611750" y="1334084"/>
                </a:lnTo>
                <a:lnTo>
                  <a:pt x="626347" y="1340082"/>
                </a:lnTo>
                <a:lnTo>
                  <a:pt x="634695" y="1336597"/>
                </a:lnTo>
                <a:lnTo>
                  <a:pt x="662418" y="1269140"/>
                </a:lnTo>
                <a:lnTo>
                  <a:pt x="658933" y="1260792"/>
                </a:lnTo>
                <a:lnTo>
                  <a:pt x="644335" y="1254794"/>
                </a:lnTo>
                <a:close/>
              </a:path>
              <a:path w="1176020" h="2820670">
                <a:moveTo>
                  <a:pt x="687783" y="1149073"/>
                </a:moveTo>
                <a:lnTo>
                  <a:pt x="679434" y="1152558"/>
                </a:lnTo>
                <a:lnTo>
                  <a:pt x="651711" y="1220015"/>
                </a:lnTo>
                <a:lnTo>
                  <a:pt x="655198" y="1228363"/>
                </a:lnTo>
                <a:lnTo>
                  <a:pt x="669794" y="1234362"/>
                </a:lnTo>
                <a:lnTo>
                  <a:pt x="678143" y="1230877"/>
                </a:lnTo>
                <a:lnTo>
                  <a:pt x="705864" y="1163420"/>
                </a:lnTo>
                <a:lnTo>
                  <a:pt x="702379" y="1155072"/>
                </a:lnTo>
                <a:lnTo>
                  <a:pt x="687783" y="1149073"/>
                </a:lnTo>
                <a:close/>
              </a:path>
              <a:path w="1176020" h="2820670">
                <a:moveTo>
                  <a:pt x="731230" y="1043353"/>
                </a:moveTo>
                <a:lnTo>
                  <a:pt x="722882" y="1046838"/>
                </a:lnTo>
                <a:lnTo>
                  <a:pt x="695159" y="1114295"/>
                </a:lnTo>
                <a:lnTo>
                  <a:pt x="698644" y="1122643"/>
                </a:lnTo>
                <a:lnTo>
                  <a:pt x="713242" y="1128642"/>
                </a:lnTo>
                <a:lnTo>
                  <a:pt x="721589" y="1125156"/>
                </a:lnTo>
                <a:lnTo>
                  <a:pt x="749312" y="1057700"/>
                </a:lnTo>
                <a:lnTo>
                  <a:pt x="745827" y="1049351"/>
                </a:lnTo>
                <a:lnTo>
                  <a:pt x="731230" y="1043353"/>
                </a:lnTo>
                <a:close/>
              </a:path>
              <a:path w="1176020" h="2820670">
                <a:moveTo>
                  <a:pt x="774678" y="937632"/>
                </a:moveTo>
                <a:lnTo>
                  <a:pt x="766330" y="941116"/>
                </a:lnTo>
                <a:lnTo>
                  <a:pt x="738607" y="1008574"/>
                </a:lnTo>
                <a:lnTo>
                  <a:pt x="742092" y="1016923"/>
                </a:lnTo>
                <a:lnTo>
                  <a:pt x="756690" y="1022921"/>
                </a:lnTo>
                <a:lnTo>
                  <a:pt x="765037" y="1019436"/>
                </a:lnTo>
                <a:lnTo>
                  <a:pt x="792760" y="951979"/>
                </a:lnTo>
                <a:lnTo>
                  <a:pt x="789274" y="943631"/>
                </a:lnTo>
                <a:lnTo>
                  <a:pt x="774678" y="937632"/>
                </a:lnTo>
                <a:close/>
              </a:path>
              <a:path w="1176020" h="2820670">
                <a:moveTo>
                  <a:pt x="818125" y="831912"/>
                </a:moveTo>
                <a:lnTo>
                  <a:pt x="809777" y="835397"/>
                </a:lnTo>
                <a:lnTo>
                  <a:pt x="782054" y="902854"/>
                </a:lnTo>
                <a:lnTo>
                  <a:pt x="785539" y="911202"/>
                </a:lnTo>
                <a:lnTo>
                  <a:pt x="800136" y="917201"/>
                </a:lnTo>
                <a:lnTo>
                  <a:pt x="808484" y="913716"/>
                </a:lnTo>
                <a:lnTo>
                  <a:pt x="836207" y="846259"/>
                </a:lnTo>
                <a:lnTo>
                  <a:pt x="832722" y="837911"/>
                </a:lnTo>
                <a:lnTo>
                  <a:pt x="818125" y="831912"/>
                </a:lnTo>
                <a:close/>
              </a:path>
              <a:path w="1176020" h="2820670">
                <a:moveTo>
                  <a:pt x="861573" y="726192"/>
                </a:moveTo>
                <a:lnTo>
                  <a:pt x="853225" y="729677"/>
                </a:lnTo>
                <a:lnTo>
                  <a:pt x="825502" y="797134"/>
                </a:lnTo>
                <a:lnTo>
                  <a:pt x="828987" y="805482"/>
                </a:lnTo>
                <a:lnTo>
                  <a:pt x="843584" y="811480"/>
                </a:lnTo>
                <a:lnTo>
                  <a:pt x="851932" y="807995"/>
                </a:lnTo>
                <a:lnTo>
                  <a:pt x="879655" y="740538"/>
                </a:lnTo>
                <a:lnTo>
                  <a:pt x="876170" y="732190"/>
                </a:lnTo>
                <a:lnTo>
                  <a:pt x="861573" y="726192"/>
                </a:lnTo>
                <a:close/>
              </a:path>
              <a:path w="1176020" h="2820670">
                <a:moveTo>
                  <a:pt x="905021" y="620471"/>
                </a:moveTo>
                <a:lnTo>
                  <a:pt x="896672" y="623956"/>
                </a:lnTo>
                <a:lnTo>
                  <a:pt x="868950" y="691413"/>
                </a:lnTo>
                <a:lnTo>
                  <a:pt x="872435" y="699761"/>
                </a:lnTo>
                <a:lnTo>
                  <a:pt x="887031" y="705760"/>
                </a:lnTo>
                <a:lnTo>
                  <a:pt x="895380" y="702275"/>
                </a:lnTo>
                <a:lnTo>
                  <a:pt x="923103" y="634818"/>
                </a:lnTo>
                <a:lnTo>
                  <a:pt x="919617" y="626469"/>
                </a:lnTo>
                <a:lnTo>
                  <a:pt x="905021" y="620471"/>
                </a:lnTo>
                <a:close/>
              </a:path>
              <a:path w="1176020" h="2820670">
                <a:moveTo>
                  <a:pt x="948467" y="514751"/>
                </a:moveTo>
                <a:lnTo>
                  <a:pt x="940120" y="518236"/>
                </a:lnTo>
                <a:lnTo>
                  <a:pt x="912397" y="585693"/>
                </a:lnTo>
                <a:lnTo>
                  <a:pt x="915882" y="594041"/>
                </a:lnTo>
                <a:lnTo>
                  <a:pt x="930479" y="600039"/>
                </a:lnTo>
                <a:lnTo>
                  <a:pt x="938827" y="596554"/>
                </a:lnTo>
                <a:lnTo>
                  <a:pt x="966550" y="529097"/>
                </a:lnTo>
                <a:lnTo>
                  <a:pt x="963065" y="520749"/>
                </a:lnTo>
                <a:lnTo>
                  <a:pt x="948467" y="514751"/>
                </a:lnTo>
                <a:close/>
              </a:path>
              <a:path w="1176020" h="2820670">
                <a:moveTo>
                  <a:pt x="991915" y="409030"/>
                </a:moveTo>
                <a:lnTo>
                  <a:pt x="983568" y="412515"/>
                </a:lnTo>
                <a:lnTo>
                  <a:pt x="955845" y="479972"/>
                </a:lnTo>
                <a:lnTo>
                  <a:pt x="959330" y="488321"/>
                </a:lnTo>
                <a:lnTo>
                  <a:pt x="973927" y="494319"/>
                </a:lnTo>
                <a:lnTo>
                  <a:pt x="982275" y="490834"/>
                </a:lnTo>
                <a:lnTo>
                  <a:pt x="1009997" y="423377"/>
                </a:lnTo>
                <a:lnTo>
                  <a:pt x="1006513" y="415028"/>
                </a:lnTo>
                <a:lnTo>
                  <a:pt x="991915" y="409030"/>
                </a:lnTo>
                <a:close/>
              </a:path>
              <a:path w="1176020" h="2820670">
                <a:moveTo>
                  <a:pt x="1035363" y="303310"/>
                </a:moveTo>
                <a:lnTo>
                  <a:pt x="1027014" y="306795"/>
                </a:lnTo>
                <a:lnTo>
                  <a:pt x="999291" y="374252"/>
                </a:lnTo>
                <a:lnTo>
                  <a:pt x="1002778" y="382600"/>
                </a:lnTo>
                <a:lnTo>
                  <a:pt x="1017374" y="388598"/>
                </a:lnTo>
                <a:lnTo>
                  <a:pt x="1025723" y="385113"/>
                </a:lnTo>
                <a:lnTo>
                  <a:pt x="1053444" y="317657"/>
                </a:lnTo>
                <a:lnTo>
                  <a:pt x="1049959" y="309308"/>
                </a:lnTo>
                <a:lnTo>
                  <a:pt x="1035363" y="303310"/>
                </a:lnTo>
                <a:close/>
              </a:path>
              <a:path w="1176020" h="2820670">
                <a:moveTo>
                  <a:pt x="1078810" y="197589"/>
                </a:moveTo>
                <a:lnTo>
                  <a:pt x="1070462" y="201075"/>
                </a:lnTo>
                <a:lnTo>
                  <a:pt x="1042739" y="268531"/>
                </a:lnTo>
                <a:lnTo>
                  <a:pt x="1046224" y="276880"/>
                </a:lnTo>
                <a:lnTo>
                  <a:pt x="1060822" y="282878"/>
                </a:lnTo>
                <a:lnTo>
                  <a:pt x="1069169" y="279393"/>
                </a:lnTo>
                <a:lnTo>
                  <a:pt x="1096892" y="211936"/>
                </a:lnTo>
                <a:lnTo>
                  <a:pt x="1093407" y="203588"/>
                </a:lnTo>
                <a:lnTo>
                  <a:pt x="1078810" y="197589"/>
                </a:lnTo>
                <a:close/>
              </a:path>
              <a:path w="1176020" h="2820670">
                <a:moveTo>
                  <a:pt x="1122258" y="91869"/>
                </a:moveTo>
                <a:lnTo>
                  <a:pt x="1113909" y="95354"/>
                </a:lnTo>
                <a:lnTo>
                  <a:pt x="1086187" y="162811"/>
                </a:lnTo>
                <a:lnTo>
                  <a:pt x="1089672" y="171159"/>
                </a:lnTo>
                <a:lnTo>
                  <a:pt x="1104268" y="177158"/>
                </a:lnTo>
                <a:lnTo>
                  <a:pt x="1112617" y="173673"/>
                </a:lnTo>
                <a:lnTo>
                  <a:pt x="1140340" y="106216"/>
                </a:lnTo>
                <a:lnTo>
                  <a:pt x="1136854" y="97868"/>
                </a:lnTo>
                <a:lnTo>
                  <a:pt x="1122258" y="91869"/>
                </a:lnTo>
                <a:close/>
              </a:path>
              <a:path w="1176020" h="2820670">
                <a:moveTo>
                  <a:pt x="1168544" y="0"/>
                </a:moveTo>
                <a:lnTo>
                  <a:pt x="1096313" y="62997"/>
                </a:lnTo>
                <a:lnTo>
                  <a:pt x="1175603" y="95582"/>
                </a:lnTo>
                <a:lnTo>
                  <a:pt x="116854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23120" y="4472682"/>
            <a:ext cx="1291590" cy="1685925"/>
          </a:xfrm>
          <a:custGeom>
            <a:avLst/>
            <a:gdLst/>
            <a:ahLst/>
            <a:cxnLst/>
            <a:rect l="l" t="t" r="r" b="b"/>
            <a:pathLst>
              <a:path w="1291590" h="1685925">
                <a:moveTo>
                  <a:pt x="53229" y="1608078"/>
                </a:moveTo>
                <a:lnTo>
                  <a:pt x="44263" y="1609280"/>
                </a:lnTo>
                <a:lnTo>
                  <a:pt x="0" y="1667243"/>
                </a:lnTo>
                <a:lnTo>
                  <a:pt x="1202" y="1676210"/>
                </a:lnTo>
                <a:lnTo>
                  <a:pt x="13745" y="1685788"/>
                </a:lnTo>
                <a:lnTo>
                  <a:pt x="22711" y="1684586"/>
                </a:lnTo>
                <a:lnTo>
                  <a:pt x="66973" y="1626622"/>
                </a:lnTo>
                <a:lnTo>
                  <a:pt x="65772" y="1617656"/>
                </a:lnTo>
                <a:lnTo>
                  <a:pt x="53229" y="1608078"/>
                </a:lnTo>
                <a:close/>
              </a:path>
              <a:path w="1291590" h="1685925">
                <a:moveTo>
                  <a:pt x="122599" y="1517236"/>
                </a:moveTo>
                <a:lnTo>
                  <a:pt x="113633" y="1518437"/>
                </a:lnTo>
                <a:lnTo>
                  <a:pt x="69369" y="1576401"/>
                </a:lnTo>
                <a:lnTo>
                  <a:pt x="70572" y="1585367"/>
                </a:lnTo>
                <a:lnTo>
                  <a:pt x="83115" y="1594945"/>
                </a:lnTo>
                <a:lnTo>
                  <a:pt x="92081" y="1593744"/>
                </a:lnTo>
                <a:lnTo>
                  <a:pt x="136343" y="1535780"/>
                </a:lnTo>
                <a:lnTo>
                  <a:pt x="135141" y="1526814"/>
                </a:lnTo>
                <a:lnTo>
                  <a:pt x="122599" y="1517236"/>
                </a:lnTo>
                <a:close/>
              </a:path>
              <a:path w="1291590" h="1685925">
                <a:moveTo>
                  <a:pt x="191969" y="1426394"/>
                </a:moveTo>
                <a:lnTo>
                  <a:pt x="183003" y="1427595"/>
                </a:lnTo>
                <a:lnTo>
                  <a:pt x="138739" y="1485559"/>
                </a:lnTo>
                <a:lnTo>
                  <a:pt x="139942" y="1494525"/>
                </a:lnTo>
                <a:lnTo>
                  <a:pt x="152485" y="1504103"/>
                </a:lnTo>
                <a:lnTo>
                  <a:pt x="161451" y="1502902"/>
                </a:lnTo>
                <a:lnTo>
                  <a:pt x="205713" y="1444938"/>
                </a:lnTo>
                <a:lnTo>
                  <a:pt x="204511" y="1435972"/>
                </a:lnTo>
                <a:lnTo>
                  <a:pt x="191969" y="1426394"/>
                </a:lnTo>
                <a:close/>
              </a:path>
              <a:path w="1291590" h="1685925">
                <a:moveTo>
                  <a:pt x="261339" y="1335552"/>
                </a:moveTo>
                <a:lnTo>
                  <a:pt x="252373" y="1336753"/>
                </a:lnTo>
                <a:lnTo>
                  <a:pt x="208109" y="1394717"/>
                </a:lnTo>
                <a:lnTo>
                  <a:pt x="209312" y="1403683"/>
                </a:lnTo>
                <a:lnTo>
                  <a:pt x="221855" y="1413261"/>
                </a:lnTo>
                <a:lnTo>
                  <a:pt x="230821" y="1412059"/>
                </a:lnTo>
                <a:lnTo>
                  <a:pt x="275083" y="1354096"/>
                </a:lnTo>
                <a:lnTo>
                  <a:pt x="273881" y="1345130"/>
                </a:lnTo>
                <a:lnTo>
                  <a:pt x="261339" y="1335552"/>
                </a:lnTo>
                <a:close/>
              </a:path>
              <a:path w="1291590" h="1685925">
                <a:moveTo>
                  <a:pt x="330709" y="1244709"/>
                </a:moveTo>
                <a:lnTo>
                  <a:pt x="321743" y="1245911"/>
                </a:lnTo>
                <a:lnTo>
                  <a:pt x="277479" y="1303875"/>
                </a:lnTo>
                <a:lnTo>
                  <a:pt x="278682" y="1312841"/>
                </a:lnTo>
                <a:lnTo>
                  <a:pt x="291224" y="1322419"/>
                </a:lnTo>
                <a:lnTo>
                  <a:pt x="300191" y="1321217"/>
                </a:lnTo>
                <a:lnTo>
                  <a:pt x="344454" y="1263254"/>
                </a:lnTo>
                <a:lnTo>
                  <a:pt x="343251" y="1254287"/>
                </a:lnTo>
                <a:lnTo>
                  <a:pt x="330709" y="1244709"/>
                </a:lnTo>
                <a:close/>
              </a:path>
              <a:path w="1291590" h="1685925">
                <a:moveTo>
                  <a:pt x="400079" y="1153867"/>
                </a:moveTo>
                <a:lnTo>
                  <a:pt x="391113" y="1155069"/>
                </a:lnTo>
                <a:lnTo>
                  <a:pt x="346850" y="1213033"/>
                </a:lnTo>
                <a:lnTo>
                  <a:pt x="348052" y="1221999"/>
                </a:lnTo>
                <a:lnTo>
                  <a:pt x="360594" y="1231577"/>
                </a:lnTo>
                <a:lnTo>
                  <a:pt x="369561" y="1230375"/>
                </a:lnTo>
                <a:lnTo>
                  <a:pt x="413824" y="1172411"/>
                </a:lnTo>
                <a:lnTo>
                  <a:pt x="412621" y="1163445"/>
                </a:lnTo>
                <a:lnTo>
                  <a:pt x="400079" y="1153867"/>
                </a:lnTo>
                <a:close/>
              </a:path>
              <a:path w="1291590" h="1685925">
                <a:moveTo>
                  <a:pt x="469449" y="1063025"/>
                </a:moveTo>
                <a:lnTo>
                  <a:pt x="460482" y="1064226"/>
                </a:lnTo>
                <a:lnTo>
                  <a:pt x="416220" y="1122191"/>
                </a:lnTo>
                <a:lnTo>
                  <a:pt x="417422" y="1131157"/>
                </a:lnTo>
                <a:lnTo>
                  <a:pt x="429964" y="1140735"/>
                </a:lnTo>
                <a:lnTo>
                  <a:pt x="438931" y="1139533"/>
                </a:lnTo>
                <a:lnTo>
                  <a:pt x="483194" y="1081570"/>
                </a:lnTo>
                <a:lnTo>
                  <a:pt x="481991" y="1072603"/>
                </a:lnTo>
                <a:lnTo>
                  <a:pt x="469449" y="1063025"/>
                </a:lnTo>
                <a:close/>
              </a:path>
              <a:path w="1291590" h="1685925">
                <a:moveTo>
                  <a:pt x="538819" y="972183"/>
                </a:moveTo>
                <a:lnTo>
                  <a:pt x="529852" y="973385"/>
                </a:lnTo>
                <a:lnTo>
                  <a:pt x="485590" y="1031349"/>
                </a:lnTo>
                <a:lnTo>
                  <a:pt x="486792" y="1040315"/>
                </a:lnTo>
                <a:lnTo>
                  <a:pt x="499334" y="1049892"/>
                </a:lnTo>
                <a:lnTo>
                  <a:pt x="508300" y="1048691"/>
                </a:lnTo>
                <a:lnTo>
                  <a:pt x="552564" y="990728"/>
                </a:lnTo>
                <a:lnTo>
                  <a:pt x="551361" y="981762"/>
                </a:lnTo>
                <a:lnTo>
                  <a:pt x="538819" y="972183"/>
                </a:lnTo>
                <a:close/>
              </a:path>
              <a:path w="1291590" h="1685925">
                <a:moveTo>
                  <a:pt x="608189" y="881341"/>
                </a:moveTo>
                <a:lnTo>
                  <a:pt x="599222" y="882543"/>
                </a:lnTo>
                <a:lnTo>
                  <a:pt x="554960" y="940507"/>
                </a:lnTo>
                <a:lnTo>
                  <a:pt x="556162" y="949473"/>
                </a:lnTo>
                <a:lnTo>
                  <a:pt x="568704" y="959050"/>
                </a:lnTo>
                <a:lnTo>
                  <a:pt x="577670" y="957849"/>
                </a:lnTo>
                <a:lnTo>
                  <a:pt x="621934" y="899885"/>
                </a:lnTo>
                <a:lnTo>
                  <a:pt x="620731" y="890918"/>
                </a:lnTo>
                <a:lnTo>
                  <a:pt x="608189" y="881341"/>
                </a:lnTo>
                <a:close/>
              </a:path>
              <a:path w="1291590" h="1685925">
                <a:moveTo>
                  <a:pt x="677558" y="790498"/>
                </a:moveTo>
                <a:lnTo>
                  <a:pt x="668592" y="791701"/>
                </a:lnTo>
                <a:lnTo>
                  <a:pt x="624330" y="849664"/>
                </a:lnTo>
                <a:lnTo>
                  <a:pt x="625532" y="858630"/>
                </a:lnTo>
                <a:lnTo>
                  <a:pt x="638074" y="868208"/>
                </a:lnTo>
                <a:lnTo>
                  <a:pt x="647040" y="867007"/>
                </a:lnTo>
                <a:lnTo>
                  <a:pt x="691304" y="809043"/>
                </a:lnTo>
                <a:lnTo>
                  <a:pt x="690102" y="800077"/>
                </a:lnTo>
                <a:lnTo>
                  <a:pt x="677558" y="790498"/>
                </a:lnTo>
                <a:close/>
              </a:path>
              <a:path w="1291590" h="1685925">
                <a:moveTo>
                  <a:pt x="746930" y="699656"/>
                </a:moveTo>
                <a:lnTo>
                  <a:pt x="737963" y="700858"/>
                </a:lnTo>
                <a:lnTo>
                  <a:pt x="693700" y="758822"/>
                </a:lnTo>
                <a:lnTo>
                  <a:pt x="694902" y="767788"/>
                </a:lnTo>
                <a:lnTo>
                  <a:pt x="707444" y="777366"/>
                </a:lnTo>
                <a:lnTo>
                  <a:pt x="716410" y="776165"/>
                </a:lnTo>
                <a:lnTo>
                  <a:pt x="760674" y="718201"/>
                </a:lnTo>
                <a:lnTo>
                  <a:pt x="759472" y="709235"/>
                </a:lnTo>
                <a:lnTo>
                  <a:pt x="746930" y="699656"/>
                </a:lnTo>
                <a:close/>
              </a:path>
              <a:path w="1291590" h="1685925">
                <a:moveTo>
                  <a:pt x="816300" y="608815"/>
                </a:moveTo>
                <a:lnTo>
                  <a:pt x="807333" y="610016"/>
                </a:lnTo>
                <a:lnTo>
                  <a:pt x="763070" y="667980"/>
                </a:lnTo>
                <a:lnTo>
                  <a:pt x="764272" y="676946"/>
                </a:lnTo>
                <a:lnTo>
                  <a:pt x="776814" y="686525"/>
                </a:lnTo>
                <a:lnTo>
                  <a:pt x="785780" y="685322"/>
                </a:lnTo>
                <a:lnTo>
                  <a:pt x="830044" y="627359"/>
                </a:lnTo>
                <a:lnTo>
                  <a:pt x="828842" y="618393"/>
                </a:lnTo>
                <a:lnTo>
                  <a:pt x="816300" y="608815"/>
                </a:lnTo>
                <a:close/>
              </a:path>
              <a:path w="1291590" h="1685925">
                <a:moveTo>
                  <a:pt x="885670" y="517973"/>
                </a:moveTo>
                <a:lnTo>
                  <a:pt x="876703" y="519174"/>
                </a:lnTo>
                <a:lnTo>
                  <a:pt x="832440" y="577138"/>
                </a:lnTo>
                <a:lnTo>
                  <a:pt x="833641" y="586104"/>
                </a:lnTo>
                <a:lnTo>
                  <a:pt x="846184" y="595682"/>
                </a:lnTo>
                <a:lnTo>
                  <a:pt x="855150" y="594480"/>
                </a:lnTo>
                <a:lnTo>
                  <a:pt x="899413" y="536516"/>
                </a:lnTo>
                <a:lnTo>
                  <a:pt x="898212" y="527550"/>
                </a:lnTo>
                <a:lnTo>
                  <a:pt x="885670" y="517973"/>
                </a:lnTo>
                <a:close/>
              </a:path>
              <a:path w="1291590" h="1685925">
                <a:moveTo>
                  <a:pt x="955039" y="427130"/>
                </a:moveTo>
                <a:lnTo>
                  <a:pt x="946073" y="428331"/>
                </a:lnTo>
                <a:lnTo>
                  <a:pt x="901810" y="486295"/>
                </a:lnTo>
                <a:lnTo>
                  <a:pt x="903011" y="495261"/>
                </a:lnTo>
                <a:lnTo>
                  <a:pt x="915554" y="504840"/>
                </a:lnTo>
                <a:lnTo>
                  <a:pt x="924520" y="503638"/>
                </a:lnTo>
                <a:lnTo>
                  <a:pt x="968783" y="445674"/>
                </a:lnTo>
                <a:lnTo>
                  <a:pt x="967582" y="436708"/>
                </a:lnTo>
                <a:lnTo>
                  <a:pt x="955039" y="427130"/>
                </a:lnTo>
                <a:close/>
              </a:path>
              <a:path w="1291590" h="1685925">
                <a:moveTo>
                  <a:pt x="1024409" y="336288"/>
                </a:moveTo>
                <a:lnTo>
                  <a:pt x="1015443" y="337489"/>
                </a:lnTo>
                <a:lnTo>
                  <a:pt x="971180" y="395453"/>
                </a:lnTo>
                <a:lnTo>
                  <a:pt x="972381" y="404420"/>
                </a:lnTo>
                <a:lnTo>
                  <a:pt x="984924" y="413998"/>
                </a:lnTo>
                <a:lnTo>
                  <a:pt x="993890" y="412795"/>
                </a:lnTo>
                <a:lnTo>
                  <a:pt x="1038153" y="354832"/>
                </a:lnTo>
                <a:lnTo>
                  <a:pt x="1036952" y="345866"/>
                </a:lnTo>
                <a:lnTo>
                  <a:pt x="1024409" y="336288"/>
                </a:lnTo>
                <a:close/>
              </a:path>
              <a:path w="1291590" h="1685925">
                <a:moveTo>
                  <a:pt x="1093779" y="245446"/>
                </a:moveTo>
                <a:lnTo>
                  <a:pt x="1084813" y="246647"/>
                </a:lnTo>
                <a:lnTo>
                  <a:pt x="1040550" y="304612"/>
                </a:lnTo>
                <a:lnTo>
                  <a:pt x="1041751" y="313578"/>
                </a:lnTo>
                <a:lnTo>
                  <a:pt x="1054294" y="323155"/>
                </a:lnTo>
                <a:lnTo>
                  <a:pt x="1063260" y="321953"/>
                </a:lnTo>
                <a:lnTo>
                  <a:pt x="1107523" y="263989"/>
                </a:lnTo>
                <a:lnTo>
                  <a:pt x="1106322" y="255024"/>
                </a:lnTo>
                <a:lnTo>
                  <a:pt x="1093779" y="245446"/>
                </a:lnTo>
                <a:close/>
              </a:path>
              <a:path w="1291590" h="1685925">
                <a:moveTo>
                  <a:pt x="1163149" y="154603"/>
                </a:moveTo>
                <a:lnTo>
                  <a:pt x="1154183" y="155806"/>
                </a:lnTo>
                <a:lnTo>
                  <a:pt x="1109920" y="213768"/>
                </a:lnTo>
                <a:lnTo>
                  <a:pt x="1111121" y="222735"/>
                </a:lnTo>
                <a:lnTo>
                  <a:pt x="1123664" y="232313"/>
                </a:lnTo>
                <a:lnTo>
                  <a:pt x="1132630" y="231112"/>
                </a:lnTo>
                <a:lnTo>
                  <a:pt x="1176893" y="173147"/>
                </a:lnTo>
                <a:lnTo>
                  <a:pt x="1175692" y="164181"/>
                </a:lnTo>
                <a:lnTo>
                  <a:pt x="1163149" y="154603"/>
                </a:lnTo>
                <a:close/>
              </a:path>
              <a:path w="1291590" h="1685925">
                <a:moveTo>
                  <a:pt x="1232519" y="63761"/>
                </a:moveTo>
                <a:lnTo>
                  <a:pt x="1223553" y="64964"/>
                </a:lnTo>
                <a:lnTo>
                  <a:pt x="1179290" y="122927"/>
                </a:lnTo>
                <a:lnTo>
                  <a:pt x="1180491" y="131893"/>
                </a:lnTo>
                <a:lnTo>
                  <a:pt x="1193034" y="141471"/>
                </a:lnTo>
                <a:lnTo>
                  <a:pt x="1202000" y="140270"/>
                </a:lnTo>
                <a:lnTo>
                  <a:pt x="1246263" y="82306"/>
                </a:lnTo>
                <a:lnTo>
                  <a:pt x="1245062" y="73339"/>
                </a:lnTo>
                <a:lnTo>
                  <a:pt x="1232519" y="63761"/>
                </a:lnTo>
                <a:close/>
              </a:path>
              <a:path w="1291590" h="1685925">
                <a:moveTo>
                  <a:pt x="1291139" y="0"/>
                </a:moveTo>
                <a:lnTo>
                  <a:pt x="1205045" y="42117"/>
                </a:lnTo>
                <a:lnTo>
                  <a:pt x="1273177" y="94145"/>
                </a:lnTo>
                <a:lnTo>
                  <a:pt x="1291139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23045" y="5239948"/>
            <a:ext cx="1289685" cy="918844"/>
          </a:xfrm>
          <a:custGeom>
            <a:avLst/>
            <a:gdLst/>
            <a:ahLst/>
            <a:cxnLst/>
            <a:rect l="l" t="t" r="r" b="b"/>
            <a:pathLst>
              <a:path w="1289684" h="918845">
                <a:moveTo>
                  <a:pt x="61024" y="853112"/>
                </a:moveTo>
                <a:lnTo>
                  <a:pt x="1520" y="895282"/>
                </a:lnTo>
                <a:lnTo>
                  <a:pt x="0" y="904200"/>
                </a:lnTo>
                <a:lnTo>
                  <a:pt x="9124" y="917076"/>
                </a:lnTo>
                <a:lnTo>
                  <a:pt x="18042" y="918596"/>
                </a:lnTo>
                <a:lnTo>
                  <a:pt x="77546" y="876426"/>
                </a:lnTo>
                <a:lnTo>
                  <a:pt x="79067" y="867509"/>
                </a:lnTo>
                <a:lnTo>
                  <a:pt x="69941" y="854633"/>
                </a:lnTo>
                <a:lnTo>
                  <a:pt x="61024" y="853112"/>
                </a:lnTo>
                <a:close/>
              </a:path>
              <a:path w="1289684" h="918845">
                <a:moveTo>
                  <a:pt x="154279" y="787023"/>
                </a:moveTo>
                <a:lnTo>
                  <a:pt x="94776" y="829193"/>
                </a:lnTo>
                <a:lnTo>
                  <a:pt x="93256" y="838110"/>
                </a:lnTo>
                <a:lnTo>
                  <a:pt x="102381" y="850986"/>
                </a:lnTo>
                <a:lnTo>
                  <a:pt x="111298" y="852507"/>
                </a:lnTo>
                <a:lnTo>
                  <a:pt x="170802" y="810337"/>
                </a:lnTo>
                <a:lnTo>
                  <a:pt x="172322" y="801419"/>
                </a:lnTo>
                <a:lnTo>
                  <a:pt x="163197" y="788543"/>
                </a:lnTo>
                <a:lnTo>
                  <a:pt x="154279" y="787023"/>
                </a:lnTo>
                <a:close/>
              </a:path>
              <a:path w="1289684" h="918845">
                <a:moveTo>
                  <a:pt x="247535" y="720933"/>
                </a:moveTo>
                <a:lnTo>
                  <a:pt x="188032" y="763103"/>
                </a:lnTo>
                <a:lnTo>
                  <a:pt x="186512" y="772021"/>
                </a:lnTo>
                <a:lnTo>
                  <a:pt x="195637" y="784897"/>
                </a:lnTo>
                <a:lnTo>
                  <a:pt x="204555" y="786417"/>
                </a:lnTo>
                <a:lnTo>
                  <a:pt x="264058" y="744247"/>
                </a:lnTo>
                <a:lnTo>
                  <a:pt x="265578" y="735329"/>
                </a:lnTo>
                <a:lnTo>
                  <a:pt x="256453" y="722453"/>
                </a:lnTo>
                <a:lnTo>
                  <a:pt x="247535" y="720933"/>
                </a:lnTo>
                <a:close/>
              </a:path>
              <a:path w="1289684" h="918845">
                <a:moveTo>
                  <a:pt x="340791" y="654844"/>
                </a:moveTo>
                <a:lnTo>
                  <a:pt x="281288" y="697013"/>
                </a:lnTo>
                <a:lnTo>
                  <a:pt x="279768" y="705931"/>
                </a:lnTo>
                <a:lnTo>
                  <a:pt x="288893" y="718807"/>
                </a:lnTo>
                <a:lnTo>
                  <a:pt x="297809" y="720327"/>
                </a:lnTo>
                <a:lnTo>
                  <a:pt x="357314" y="678158"/>
                </a:lnTo>
                <a:lnTo>
                  <a:pt x="358834" y="669240"/>
                </a:lnTo>
                <a:lnTo>
                  <a:pt x="349709" y="656364"/>
                </a:lnTo>
                <a:lnTo>
                  <a:pt x="340791" y="654844"/>
                </a:lnTo>
                <a:close/>
              </a:path>
              <a:path w="1289684" h="918845">
                <a:moveTo>
                  <a:pt x="434047" y="588754"/>
                </a:moveTo>
                <a:lnTo>
                  <a:pt x="374543" y="630924"/>
                </a:lnTo>
                <a:lnTo>
                  <a:pt x="373023" y="639841"/>
                </a:lnTo>
                <a:lnTo>
                  <a:pt x="382148" y="652717"/>
                </a:lnTo>
                <a:lnTo>
                  <a:pt x="391066" y="654238"/>
                </a:lnTo>
                <a:lnTo>
                  <a:pt x="450570" y="612068"/>
                </a:lnTo>
                <a:lnTo>
                  <a:pt x="452090" y="603150"/>
                </a:lnTo>
                <a:lnTo>
                  <a:pt x="442965" y="590274"/>
                </a:lnTo>
                <a:lnTo>
                  <a:pt x="434047" y="588754"/>
                </a:lnTo>
                <a:close/>
              </a:path>
              <a:path w="1289684" h="918845">
                <a:moveTo>
                  <a:pt x="527303" y="522664"/>
                </a:moveTo>
                <a:lnTo>
                  <a:pt x="467799" y="564834"/>
                </a:lnTo>
                <a:lnTo>
                  <a:pt x="466279" y="573752"/>
                </a:lnTo>
                <a:lnTo>
                  <a:pt x="475404" y="586628"/>
                </a:lnTo>
                <a:lnTo>
                  <a:pt x="484322" y="588148"/>
                </a:lnTo>
                <a:lnTo>
                  <a:pt x="543826" y="545978"/>
                </a:lnTo>
                <a:lnTo>
                  <a:pt x="545346" y="537061"/>
                </a:lnTo>
                <a:lnTo>
                  <a:pt x="536221" y="524185"/>
                </a:lnTo>
                <a:lnTo>
                  <a:pt x="527303" y="522664"/>
                </a:lnTo>
                <a:close/>
              </a:path>
              <a:path w="1289684" h="918845">
                <a:moveTo>
                  <a:pt x="620560" y="456575"/>
                </a:moveTo>
                <a:lnTo>
                  <a:pt x="561055" y="498745"/>
                </a:lnTo>
                <a:lnTo>
                  <a:pt x="559535" y="507662"/>
                </a:lnTo>
                <a:lnTo>
                  <a:pt x="568660" y="520538"/>
                </a:lnTo>
                <a:lnTo>
                  <a:pt x="577578" y="522059"/>
                </a:lnTo>
                <a:lnTo>
                  <a:pt x="637081" y="479889"/>
                </a:lnTo>
                <a:lnTo>
                  <a:pt x="638601" y="470971"/>
                </a:lnTo>
                <a:lnTo>
                  <a:pt x="629476" y="458095"/>
                </a:lnTo>
                <a:lnTo>
                  <a:pt x="620560" y="456575"/>
                </a:lnTo>
                <a:close/>
              </a:path>
              <a:path w="1289684" h="918845">
                <a:moveTo>
                  <a:pt x="713814" y="390485"/>
                </a:moveTo>
                <a:lnTo>
                  <a:pt x="654311" y="432655"/>
                </a:lnTo>
                <a:lnTo>
                  <a:pt x="652791" y="441573"/>
                </a:lnTo>
                <a:lnTo>
                  <a:pt x="661916" y="454449"/>
                </a:lnTo>
                <a:lnTo>
                  <a:pt x="670834" y="455969"/>
                </a:lnTo>
                <a:lnTo>
                  <a:pt x="730337" y="413799"/>
                </a:lnTo>
                <a:lnTo>
                  <a:pt x="731857" y="404881"/>
                </a:lnTo>
                <a:lnTo>
                  <a:pt x="722732" y="392005"/>
                </a:lnTo>
                <a:lnTo>
                  <a:pt x="713814" y="390485"/>
                </a:lnTo>
                <a:close/>
              </a:path>
              <a:path w="1289684" h="918845">
                <a:moveTo>
                  <a:pt x="807071" y="324396"/>
                </a:moveTo>
                <a:lnTo>
                  <a:pt x="747567" y="366565"/>
                </a:lnTo>
                <a:lnTo>
                  <a:pt x="746047" y="375483"/>
                </a:lnTo>
                <a:lnTo>
                  <a:pt x="755172" y="388359"/>
                </a:lnTo>
                <a:lnTo>
                  <a:pt x="764090" y="389879"/>
                </a:lnTo>
                <a:lnTo>
                  <a:pt x="823593" y="347709"/>
                </a:lnTo>
                <a:lnTo>
                  <a:pt x="825113" y="338792"/>
                </a:lnTo>
                <a:lnTo>
                  <a:pt x="815988" y="325916"/>
                </a:lnTo>
                <a:lnTo>
                  <a:pt x="807071" y="324396"/>
                </a:lnTo>
                <a:close/>
              </a:path>
              <a:path w="1289684" h="918845">
                <a:moveTo>
                  <a:pt x="900327" y="258306"/>
                </a:moveTo>
                <a:lnTo>
                  <a:pt x="840823" y="300475"/>
                </a:lnTo>
                <a:lnTo>
                  <a:pt x="839302" y="309393"/>
                </a:lnTo>
                <a:lnTo>
                  <a:pt x="848428" y="322270"/>
                </a:lnTo>
                <a:lnTo>
                  <a:pt x="857345" y="323790"/>
                </a:lnTo>
                <a:lnTo>
                  <a:pt x="916849" y="281619"/>
                </a:lnTo>
                <a:lnTo>
                  <a:pt x="918370" y="272702"/>
                </a:lnTo>
                <a:lnTo>
                  <a:pt x="909245" y="259826"/>
                </a:lnTo>
                <a:lnTo>
                  <a:pt x="900327" y="258306"/>
                </a:lnTo>
                <a:close/>
              </a:path>
              <a:path w="1289684" h="918845">
                <a:moveTo>
                  <a:pt x="993583" y="192217"/>
                </a:moveTo>
                <a:lnTo>
                  <a:pt x="934078" y="234386"/>
                </a:lnTo>
                <a:lnTo>
                  <a:pt x="932558" y="243304"/>
                </a:lnTo>
                <a:lnTo>
                  <a:pt x="941683" y="256180"/>
                </a:lnTo>
                <a:lnTo>
                  <a:pt x="950601" y="257700"/>
                </a:lnTo>
                <a:lnTo>
                  <a:pt x="1010105" y="215530"/>
                </a:lnTo>
                <a:lnTo>
                  <a:pt x="1011626" y="206612"/>
                </a:lnTo>
                <a:lnTo>
                  <a:pt x="1002501" y="193737"/>
                </a:lnTo>
                <a:lnTo>
                  <a:pt x="993583" y="192217"/>
                </a:lnTo>
                <a:close/>
              </a:path>
              <a:path w="1289684" h="918845">
                <a:moveTo>
                  <a:pt x="1086839" y="126127"/>
                </a:moveTo>
                <a:lnTo>
                  <a:pt x="1027334" y="168296"/>
                </a:lnTo>
                <a:lnTo>
                  <a:pt x="1025814" y="177214"/>
                </a:lnTo>
                <a:lnTo>
                  <a:pt x="1034939" y="190091"/>
                </a:lnTo>
                <a:lnTo>
                  <a:pt x="1043857" y="191611"/>
                </a:lnTo>
                <a:lnTo>
                  <a:pt x="1103360" y="149440"/>
                </a:lnTo>
                <a:lnTo>
                  <a:pt x="1104882" y="140522"/>
                </a:lnTo>
                <a:lnTo>
                  <a:pt x="1095755" y="127647"/>
                </a:lnTo>
                <a:lnTo>
                  <a:pt x="1086839" y="126127"/>
                </a:lnTo>
                <a:close/>
              </a:path>
              <a:path w="1289684" h="918845">
                <a:moveTo>
                  <a:pt x="1180094" y="60037"/>
                </a:moveTo>
                <a:lnTo>
                  <a:pt x="1120590" y="102207"/>
                </a:lnTo>
                <a:lnTo>
                  <a:pt x="1119070" y="111124"/>
                </a:lnTo>
                <a:lnTo>
                  <a:pt x="1128195" y="124001"/>
                </a:lnTo>
                <a:lnTo>
                  <a:pt x="1137113" y="125521"/>
                </a:lnTo>
                <a:lnTo>
                  <a:pt x="1196616" y="83351"/>
                </a:lnTo>
                <a:lnTo>
                  <a:pt x="1198137" y="74433"/>
                </a:lnTo>
                <a:lnTo>
                  <a:pt x="1189012" y="61558"/>
                </a:lnTo>
                <a:lnTo>
                  <a:pt x="1180094" y="60037"/>
                </a:lnTo>
                <a:close/>
              </a:path>
              <a:path w="1289684" h="918845">
                <a:moveTo>
                  <a:pt x="1226048" y="58695"/>
                </a:moveTo>
                <a:lnTo>
                  <a:pt x="1244362" y="84538"/>
                </a:lnTo>
                <a:lnTo>
                  <a:pt x="1257773" y="59432"/>
                </a:lnTo>
                <a:lnTo>
                  <a:pt x="1230368" y="59432"/>
                </a:lnTo>
                <a:lnTo>
                  <a:pt x="1226048" y="58695"/>
                </a:lnTo>
                <a:close/>
              </a:path>
              <a:path w="1289684" h="918845">
                <a:moveTo>
                  <a:pt x="1229414" y="25085"/>
                </a:moveTo>
                <a:lnTo>
                  <a:pt x="1213846" y="36117"/>
                </a:lnTo>
                <a:lnTo>
                  <a:pt x="1213110" y="40439"/>
                </a:lnTo>
                <a:lnTo>
                  <a:pt x="1226048" y="58695"/>
                </a:lnTo>
                <a:lnTo>
                  <a:pt x="1230368" y="59432"/>
                </a:lnTo>
                <a:lnTo>
                  <a:pt x="1245937" y="48398"/>
                </a:lnTo>
                <a:lnTo>
                  <a:pt x="1247457" y="39481"/>
                </a:lnTo>
                <a:lnTo>
                  <a:pt x="1238332" y="26605"/>
                </a:lnTo>
                <a:lnTo>
                  <a:pt x="1229414" y="25085"/>
                </a:lnTo>
                <a:close/>
              </a:path>
              <a:path w="1289684" h="918845">
                <a:moveTo>
                  <a:pt x="1276121" y="25085"/>
                </a:moveTo>
                <a:lnTo>
                  <a:pt x="1229414" y="25085"/>
                </a:lnTo>
                <a:lnTo>
                  <a:pt x="1238332" y="26605"/>
                </a:lnTo>
                <a:lnTo>
                  <a:pt x="1247457" y="39481"/>
                </a:lnTo>
                <a:lnTo>
                  <a:pt x="1245937" y="48398"/>
                </a:lnTo>
                <a:lnTo>
                  <a:pt x="1230368" y="59432"/>
                </a:lnTo>
                <a:lnTo>
                  <a:pt x="1257773" y="59432"/>
                </a:lnTo>
                <a:lnTo>
                  <a:pt x="1276121" y="25085"/>
                </a:lnTo>
                <a:close/>
              </a:path>
              <a:path w="1289684" h="918845">
                <a:moveTo>
                  <a:pt x="1213110" y="40439"/>
                </a:moveTo>
                <a:lnTo>
                  <a:pt x="1212326" y="45035"/>
                </a:lnTo>
                <a:lnTo>
                  <a:pt x="1221451" y="57911"/>
                </a:lnTo>
                <a:lnTo>
                  <a:pt x="1226048" y="58695"/>
                </a:lnTo>
                <a:lnTo>
                  <a:pt x="1213110" y="40439"/>
                </a:lnTo>
                <a:close/>
              </a:path>
              <a:path w="1289684" h="918845">
                <a:moveTo>
                  <a:pt x="1289521" y="0"/>
                </a:moveTo>
                <a:lnTo>
                  <a:pt x="1194795" y="14596"/>
                </a:lnTo>
                <a:lnTo>
                  <a:pt x="1213110" y="40439"/>
                </a:lnTo>
                <a:lnTo>
                  <a:pt x="1213846" y="36117"/>
                </a:lnTo>
                <a:lnTo>
                  <a:pt x="1229414" y="25085"/>
                </a:lnTo>
                <a:lnTo>
                  <a:pt x="1276121" y="25085"/>
                </a:lnTo>
                <a:lnTo>
                  <a:pt x="1289521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360803" y="2384043"/>
            <a:ext cx="18103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A</a:t>
            </a:r>
            <a:r>
              <a:rPr dirty="0" sz="2800" spc="15" b="1">
                <a:solidFill>
                  <a:srgbClr val="6BB76D"/>
                </a:solidFill>
                <a:latin typeface="Calibri"/>
                <a:cs typeface="Calibri"/>
              </a:rPr>
              <a:t>g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g</a:t>
            </a:r>
            <a:r>
              <a:rPr dirty="0" sz="2800" spc="-30" b="1">
                <a:solidFill>
                  <a:srgbClr val="6BB76D"/>
                </a:solidFill>
                <a:latin typeface="Calibri"/>
                <a:cs typeface="Calibri"/>
              </a:rPr>
              <a:t>r</a:t>
            </a: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e</a:t>
            </a:r>
            <a:r>
              <a:rPr dirty="0" sz="2800" spc="-55" b="1">
                <a:solidFill>
                  <a:srgbClr val="6BB76D"/>
                </a:solidFill>
                <a:latin typeface="Calibri"/>
                <a:cs typeface="Calibri"/>
              </a:rPr>
              <a:t>g</a:t>
            </a:r>
            <a:r>
              <a:rPr dirty="0" sz="2800" spc="-25" b="1">
                <a:solidFill>
                  <a:srgbClr val="6BB76D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t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io</a:t>
            </a: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57927" y="2904271"/>
            <a:ext cx="1422400" cy="1273810"/>
          </a:xfrm>
          <a:custGeom>
            <a:avLst/>
            <a:gdLst/>
            <a:ahLst/>
            <a:cxnLst/>
            <a:rect l="l" t="t" r="r" b="b"/>
            <a:pathLst>
              <a:path w="1422400" h="1273810">
                <a:moveTo>
                  <a:pt x="1402612" y="0"/>
                </a:moveTo>
                <a:lnTo>
                  <a:pt x="1348251" y="48618"/>
                </a:lnTo>
                <a:lnTo>
                  <a:pt x="1347746" y="57650"/>
                </a:lnTo>
                <a:lnTo>
                  <a:pt x="1358267" y="69414"/>
                </a:lnTo>
                <a:lnTo>
                  <a:pt x="1367299" y="69917"/>
                </a:lnTo>
                <a:lnTo>
                  <a:pt x="1421662" y="21299"/>
                </a:lnTo>
                <a:lnTo>
                  <a:pt x="1422165" y="12266"/>
                </a:lnTo>
                <a:lnTo>
                  <a:pt x="1411644" y="502"/>
                </a:lnTo>
                <a:lnTo>
                  <a:pt x="1402612" y="0"/>
                </a:lnTo>
                <a:close/>
              </a:path>
              <a:path w="1422400" h="1273810">
                <a:moveTo>
                  <a:pt x="1317415" y="76196"/>
                </a:moveTo>
                <a:lnTo>
                  <a:pt x="1263053" y="124815"/>
                </a:lnTo>
                <a:lnTo>
                  <a:pt x="1262550" y="133847"/>
                </a:lnTo>
                <a:lnTo>
                  <a:pt x="1273069" y="145610"/>
                </a:lnTo>
                <a:lnTo>
                  <a:pt x="1282103" y="146114"/>
                </a:lnTo>
                <a:lnTo>
                  <a:pt x="1336464" y="97495"/>
                </a:lnTo>
                <a:lnTo>
                  <a:pt x="1336968" y="88463"/>
                </a:lnTo>
                <a:lnTo>
                  <a:pt x="1326447" y="76700"/>
                </a:lnTo>
                <a:lnTo>
                  <a:pt x="1317415" y="76196"/>
                </a:lnTo>
                <a:close/>
              </a:path>
              <a:path w="1422400" h="1273810">
                <a:moveTo>
                  <a:pt x="1232217" y="152392"/>
                </a:moveTo>
                <a:lnTo>
                  <a:pt x="1177856" y="201011"/>
                </a:lnTo>
                <a:lnTo>
                  <a:pt x="1177352" y="210044"/>
                </a:lnTo>
                <a:lnTo>
                  <a:pt x="1187872" y="221806"/>
                </a:lnTo>
                <a:lnTo>
                  <a:pt x="1196905" y="222310"/>
                </a:lnTo>
                <a:lnTo>
                  <a:pt x="1251267" y="173691"/>
                </a:lnTo>
                <a:lnTo>
                  <a:pt x="1251770" y="164659"/>
                </a:lnTo>
                <a:lnTo>
                  <a:pt x="1241249" y="152896"/>
                </a:lnTo>
                <a:lnTo>
                  <a:pt x="1232217" y="152392"/>
                </a:lnTo>
                <a:close/>
              </a:path>
              <a:path w="1422400" h="1273810">
                <a:moveTo>
                  <a:pt x="1147020" y="228589"/>
                </a:moveTo>
                <a:lnTo>
                  <a:pt x="1092658" y="277207"/>
                </a:lnTo>
                <a:lnTo>
                  <a:pt x="1092155" y="286240"/>
                </a:lnTo>
                <a:lnTo>
                  <a:pt x="1102676" y="298004"/>
                </a:lnTo>
                <a:lnTo>
                  <a:pt x="1111708" y="298507"/>
                </a:lnTo>
                <a:lnTo>
                  <a:pt x="1166069" y="249889"/>
                </a:lnTo>
                <a:lnTo>
                  <a:pt x="1166573" y="240856"/>
                </a:lnTo>
                <a:lnTo>
                  <a:pt x="1156053" y="229092"/>
                </a:lnTo>
                <a:lnTo>
                  <a:pt x="1147020" y="228589"/>
                </a:lnTo>
                <a:close/>
              </a:path>
              <a:path w="1422400" h="1273810">
                <a:moveTo>
                  <a:pt x="1061824" y="304786"/>
                </a:moveTo>
                <a:lnTo>
                  <a:pt x="1007461" y="353405"/>
                </a:lnTo>
                <a:lnTo>
                  <a:pt x="1006957" y="362437"/>
                </a:lnTo>
                <a:lnTo>
                  <a:pt x="1017478" y="374200"/>
                </a:lnTo>
                <a:lnTo>
                  <a:pt x="1026510" y="374704"/>
                </a:lnTo>
                <a:lnTo>
                  <a:pt x="1080872" y="326085"/>
                </a:lnTo>
                <a:lnTo>
                  <a:pt x="1081377" y="317052"/>
                </a:lnTo>
                <a:lnTo>
                  <a:pt x="1070856" y="305290"/>
                </a:lnTo>
                <a:lnTo>
                  <a:pt x="1061824" y="304786"/>
                </a:lnTo>
                <a:close/>
              </a:path>
              <a:path w="1422400" h="1273810">
                <a:moveTo>
                  <a:pt x="976626" y="380982"/>
                </a:moveTo>
                <a:lnTo>
                  <a:pt x="922265" y="429601"/>
                </a:lnTo>
                <a:lnTo>
                  <a:pt x="921760" y="438633"/>
                </a:lnTo>
                <a:lnTo>
                  <a:pt x="932281" y="450396"/>
                </a:lnTo>
                <a:lnTo>
                  <a:pt x="941313" y="450900"/>
                </a:lnTo>
                <a:lnTo>
                  <a:pt x="995676" y="402281"/>
                </a:lnTo>
                <a:lnTo>
                  <a:pt x="996179" y="393249"/>
                </a:lnTo>
                <a:lnTo>
                  <a:pt x="985658" y="381486"/>
                </a:lnTo>
                <a:lnTo>
                  <a:pt x="976626" y="380982"/>
                </a:lnTo>
                <a:close/>
              </a:path>
              <a:path w="1422400" h="1273810">
                <a:moveTo>
                  <a:pt x="891429" y="457179"/>
                </a:moveTo>
                <a:lnTo>
                  <a:pt x="837067" y="505797"/>
                </a:lnTo>
                <a:lnTo>
                  <a:pt x="836564" y="514830"/>
                </a:lnTo>
                <a:lnTo>
                  <a:pt x="847083" y="526594"/>
                </a:lnTo>
                <a:lnTo>
                  <a:pt x="856117" y="527096"/>
                </a:lnTo>
                <a:lnTo>
                  <a:pt x="910478" y="478478"/>
                </a:lnTo>
                <a:lnTo>
                  <a:pt x="910982" y="469446"/>
                </a:lnTo>
                <a:lnTo>
                  <a:pt x="900461" y="457682"/>
                </a:lnTo>
                <a:lnTo>
                  <a:pt x="891429" y="457179"/>
                </a:lnTo>
                <a:close/>
              </a:path>
              <a:path w="1422400" h="1273810">
                <a:moveTo>
                  <a:pt x="806231" y="533375"/>
                </a:moveTo>
                <a:lnTo>
                  <a:pt x="751870" y="581995"/>
                </a:lnTo>
                <a:lnTo>
                  <a:pt x="751366" y="591027"/>
                </a:lnTo>
                <a:lnTo>
                  <a:pt x="761886" y="602790"/>
                </a:lnTo>
                <a:lnTo>
                  <a:pt x="770919" y="603294"/>
                </a:lnTo>
                <a:lnTo>
                  <a:pt x="825281" y="554675"/>
                </a:lnTo>
                <a:lnTo>
                  <a:pt x="825784" y="545642"/>
                </a:lnTo>
                <a:lnTo>
                  <a:pt x="815263" y="533880"/>
                </a:lnTo>
                <a:lnTo>
                  <a:pt x="806231" y="533375"/>
                </a:lnTo>
                <a:close/>
              </a:path>
              <a:path w="1422400" h="1273810">
                <a:moveTo>
                  <a:pt x="721034" y="609572"/>
                </a:moveTo>
                <a:lnTo>
                  <a:pt x="666672" y="658191"/>
                </a:lnTo>
                <a:lnTo>
                  <a:pt x="666169" y="667223"/>
                </a:lnTo>
                <a:lnTo>
                  <a:pt x="676690" y="678986"/>
                </a:lnTo>
                <a:lnTo>
                  <a:pt x="685722" y="679490"/>
                </a:lnTo>
                <a:lnTo>
                  <a:pt x="740083" y="630871"/>
                </a:lnTo>
                <a:lnTo>
                  <a:pt x="740587" y="621838"/>
                </a:lnTo>
                <a:lnTo>
                  <a:pt x="730067" y="610076"/>
                </a:lnTo>
                <a:lnTo>
                  <a:pt x="721034" y="609572"/>
                </a:lnTo>
                <a:close/>
              </a:path>
              <a:path w="1422400" h="1273810">
                <a:moveTo>
                  <a:pt x="635838" y="685769"/>
                </a:moveTo>
                <a:lnTo>
                  <a:pt x="581475" y="734387"/>
                </a:lnTo>
                <a:lnTo>
                  <a:pt x="580971" y="743419"/>
                </a:lnTo>
                <a:lnTo>
                  <a:pt x="591492" y="755183"/>
                </a:lnTo>
                <a:lnTo>
                  <a:pt x="600524" y="755686"/>
                </a:lnTo>
                <a:lnTo>
                  <a:pt x="654886" y="707068"/>
                </a:lnTo>
                <a:lnTo>
                  <a:pt x="655391" y="698036"/>
                </a:lnTo>
                <a:lnTo>
                  <a:pt x="644870" y="686272"/>
                </a:lnTo>
                <a:lnTo>
                  <a:pt x="635838" y="685769"/>
                </a:lnTo>
                <a:close/>
              </a:path>
              <a:path w="1422400" h="1273810">
                <a:moveTo>
                  <a:pt x="550640" y="761965"/>
                </a:moveTo>
                <a:lnTo>
                  <a:pt x="496279" y="810585"/>
                </a:lnTo>
                <a:lnTo>
                  <a:pt x="495774" y="819617"/>
                </a:lnTo>
                <a:lnTo>
                  <a:pt x="506295" y="831380"/>
                </a:lnTo>
                <a:lnTo>
                  <a:pt x="515327" y="831884"/>
                </a:lnTo>
                <a:lnTo>
                  <a:pt x="569688" y="783264"/>
                </a:lnTo>
                <a:lnTo>
                  <a:pt x="570193" y="774232"/>
                </a:lnTo>
                <a:lnTo>
                  <a:pt x="559672" y="762469"/>
                </a:lnTo>
                <a:lnTo>
                  <a:pt x="550640" y="761965"/>
                </a:lnTo>
                <a:close/>
              </a:path>
              <a:path w="1422400" h="1273810">
                <a:moveTo>
                  <a:pt x="465443" y="838161"/>
                </a:moveTo>
                <a:lnTo>
                  <a:pt x="411081" y="886781"/>
                </a:lnTo>
                <a:lnTo>
                  <a:pt x="410578" y="895813"/>
                </a:lnTo>
                <a:lnTo>
                  <a:pt x="421097" y="907576"/>
                </a:lnTo>
                <a:lnTo>
                  <a:pt x="430129" y="908080"/>
                </a:lnTo>
                <a:lnTo>
                  <a:pt x="484492" y="859461"/>
                </a:lnTo>
                <a:lnTo>
                  <a:pt x="484996" y="850428"/>
                </a:lnTo>
                <a:lnTo>
                  <a:pt x="474475" y="838666"/>
                </a:lnTo>
                <a:lnTo>
                  <a:pt x="465443" y="838161"/>
                </a:lnTo>
                <a:close/>
              </a:path>
              <a:path w="1422400" h="1273810">
                <a:moveTo>
                  <a:pt x="380245" y="914359"/>
                </a:moveTo>
                <a:lnTo>
                  <a:pt x="325884" y="962977"/>
                </a:lnTo>
                <a:lnTo>
                  <a:pt x="325380" y="972009"/>
                </a:lnTo>
                <a:lnTo>
                  <a:pt x="335901" y="983773"/>
                </a:lnTo>
                <a:lnTo>
                  <a:pt x="344933" y="984276"/>
                </a:lnTo>
                <a:lnTo>
                  <a:pt x="399295" y="935658"/>
                </a:lnTo>
                <a:lnTo>
                  <a:pt x="399798" y="926626"/>
                </a:lnTo>
                <a:lnTo>
                  <a:pt x="389277" y="914862"/>
                </a:lnTo>
                <a:lnTo>
                  <a:pt x="380245" y="914359"/>
                </a:lnTo>
                <a:close/>
              </a:path>
              <a:path w="1422400" h="1273810">
                <a:moveTo>
                  <a:pt x="295048" y="990555"/>
                </a:moveTo>
                <a:lnTo>
                  <a:pt x="240686" y="1039174"/>
                </a:lnTo>
                <a:lnTo>
                  <a:pt x="240183" y="1048207"/>
                </a:lnTo>
                <a:lnTo>
                  <a:pt x="250704" y="1059969"/>
                </a:lnTo>
                <a:lnTo>
                  <a:pt x="259736" y="1060474"/>
                </a:lnTo>
                <a:lnTo>
                  <a:pt x="314097" y="1011854"/>
                </a:lnTo>
                <a:lnTo>
                  <a:pt x="314601" y="1002822"/>
                </a:lnTo>
                <a:lnTo>
                  <a:pt x="304081" y="991059"/>
                </a:lnTo>
                <a:lnTo>
                  <a:pt x="295048" y="990555"/>
                </a:lnTo>
                <a:close/>
              </a:path>
              <a:path w="1422400" h="1273810">
                <a:moveTo>
                  <a:pt x="209850" y="1066753"/>
                </a:moveTo>
                <a:lnTo>
                  <a:pt x="155489" y="1115371"/>
                </a:lnTo>
                <a:lnTo>
                  <a:pt x="154985" y="1124403"/>
                </a:lnTo>
                <a:lnTo>
                  <a:pt x="165506" y="1136167"/>
                </a:lnTo>
                <a:lnTo>
                  <a:pt x="174538" y="1136670"/>
                </a:lnTo>
                <a:lnTo>
                  <a:pt x="228900" y="1088052"/>
                </a:lnTo>
                <a:lnTo>
                  <a:pt x="229403" y="1079019"/>
                </a:lnTo>
                <a:lnTo>
                  <a:pt x="218884" y="1067255"/>
                </a:lnTo>
                <a:lnTo>
                  <a:pt x="209850" y="1066753"/>
                </a:lnTo>
                <a:close/>
              </a:path>
              <a:path w="1422400" h="1273810">
                <a:moveTo>
                  <a:pt x="35323" y="1184507"/>
                </a:moveTo>
                <a:lnTo>
                  <a:pt x="0" y="1273602"/>
                </a:lnTo>
                <a:lnTo>
                  <a:pt x="92471" y="1248404"/>
                </a:lnTo>
                <a:lnTo>
                  <a:pt x="35323" y="1184507"/>
                </a:lnTo>
                <a:close/>
              </a:path>
              <a:path w="1422400" h="1273810">
                <a:moveTo>
                  <a:pt x="124654" y="1142949"/>
                </a:moveTo>
                <a:lnTo>
                  <a:pt x="70293" y="1191568"/>
                </a:lnTo>
                <a:lnTo>
                  <a:pt x="69789" y="1200600"/>
                </a:lnTo>
                <a:lnTo>
                  <a:pt x="80309" y="1212363"/>
                </a:lnTo>
                <a:lnTo>
                  <a:pt x="89341" y="1212867"/>
                </a:lnTo>
                <a:lnTo>
                  <a:pt x="143703" y="1164248"/>
                </a:lnTo>
                <a:lnTo>
                  <a:pt x="144207" y="1155216"/>
                </a:lnTo>
                <a:lnTo>
                  <a:pt x="133686" y="1143453"/>
                </a:lnTo>
                <a:lnTo>
                  <a:pt x="124654" y="1142949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83341" y="2905116"/>
            <a:ext cx="1061085" cy="163830"/>
          </a:xfrm>
          <a:custGeom>
            <a:avLst/>
            <a:gdLst/>
            <a:ahLst/>
            <a:cxnLst/>
            <a:rect l="l" t="t" r="r" b="b"/>
            <a:pathLst>
              <a:path w="1061084" h="163830">
                <a:moveTo>
                  <a:pt x="8784" y="0"/>
                </a:moveTo>
                <a:lnTo>
                  <a:pt x="1727" y="5659"/>
                </a:lnTo>
                <a:lnTo>
                  <a:pt x="0" y="21346"/>
                </a:lnTo>
                <a:lnTo>
                  <a:pt x="5659" y="28403"/>
                </a:lnTo>
                <a:lnTo>
                  <a:pt x="78153" y="36380"/>
                </a:lnTo>
                <a:lnTo>
                  <a:pt x="85211" y="30721"/>
                </a:lnTo>
                <a:lnTo>
                  <a:pt x="86937" y="15034"/>
                </a:lnTo>
                <a:lnTo>
                  <a:pt x="81278" y="7976"/>
                </a:lnTo>
                <a:lnTo>
                  <a:pt x="8784" y="0"/>
                </a:lnTo>
                <a:close/>
              </a:path>
              <a:path w="1061084" h="163830">
                <a:moveTo>
                  <a:pt x="122398" y="12500"/>
                </a:moveTo>
                <a:lnTo>
                  <a:pt x="115341" y="18159"/>
                </a:lnTo>
                <a:lnTo>
                  <a:pt x="113615" y="33846"/>
                </a:lnTo>
                <a:lnTo>
                  <a:pt x="119273" y="40904"/>
                </a:lnTo>
                <a:lnTo>
                  <a:pt x="191767" y="48881"/>
                </a:lnTo>
                <a:lnTo>
                  <a:pt x="198826" y="43223"/>
                </a:lnTo>
                <a:lnTo>
                  <a:pt x="200552" y="27536"/>
                </a:lnTo>
                <a:lnTo>
                  <a:pt x="194892" y="20477"/>
                </a:lnTo>
                <a:lnTo>
                  <a:pt x="122398" y="12500"/>
                </a:lnTo>
                <a:close/>
              </a:path>
              <a:path w="1061084" h="163830">
                <a:moveTo>
                  <a:pt x="236012" y="25002"/>
                </a:moveTo>
                <a:lnTo>
                  <a:pt x="228955" y="30661"/>
                </a:lnTo>
                <a:lnTo>
                  <a:pt x="227229" y="46347"/>
                </a:lnTo>
                <a:lnTo>
                  <a:pt x="232887" y="53406"/>
                </a:lnTo>
                <a:lnTo>
                  <a:pt x="305381" y="61382"/>
                </a:lnTo>
                <a:lnTo>
                  <a:pt x="312440" y="55723"/>
                </a:lnTo>
                <a:lnTo>
                  <a:pt x="314166" y="40036"/>
                </a:lnTo>
                <a:lnTo>
                  <a:pt x="308507" y="32979"/>
                </a:lnTo>
                <a:lnTo>
                  <a:pt x="236012" y="25002"/>
                </a:lnTo>
                <a:close/>
              </a:path>
              <a:path w="1061084" h="163830">
                <a:moveTo>
                  <a:pt x="349627" y="37503"/>
                </a:moveTo>
                <a:lnTo>
                  <a:pt x="342569" y="43162"/>
                </a:lnTo>
                <a:lnTo>
                  <a:pt x="340843" y="58849"/>
                </a:lnTo>
                <a:lnTo>
                  <a:pt x="346501" y="65906"/>
                </a:lnTo>
                <a:lnTo>
                  <a:pt x="418995" y="73883"/>
                </a:lnTo>
                <a:lnTo>
                  <a:pt x="426054" y="68225"/>
                </a:lnTo>
                <a:lnTo>
                  <a:pt x="427780" y="52538"/>
                </a:lnTo>
                <a:lnTo>
                  <a:pt x="422121" y="45479"/>
                </a:lnTo>
                <a:lnTo>
                  <a:pt x="349627" y="37503"/>
                </a:lnTo>
                <a:close/>
              </a:path>
              <a:path w="1061084" h="163830">
                <a:moveTo>
                  <a:pt x="463241" y="50004"/>
                </a:moveTo>
                <a:lnTo>
                  <a:pt x="456184" y="55664"/>
                </a:lnTo>
                <a:lnTo>
                  <a:pt x="454458" y="71349"/>
                </a:lnTo>
                <a:lnTo>
                  <a:pt x="460115" y="78408"/>
                </a:lnTo>
                <a:lnTo>
                  <a:pt x="532610" y="86385"/>
                </a:lnTo>
                <a:lnTo>
                  <a:pt x="539668" y="80726"/>
                </a:lnTo>
                <a:lnTo>
                  <a:pt x="541394" y="65039"/>
                </a:lnTo>
                <a:lnTo>
                  <a:pt x="535735" y="57981"/>
                </a:lnTo>
                <a:lnTo>
                  <a:pt x="463241" y="50004"/>
                </a:lnTo>
                <a:close/>
              </a:path>
              <a:path w="1061084" h="163830">
                <a:moveTo>
                  <a:pt x="576855" y="62505"/>
                </a:moveTo>
                <a:lnTo>
                  <a:pt x="569798" y="68164"/>
                </a:lnTo>
                <a:lnTo>
                  <a:pt x="568072" y="83851"/>
                </a:lnTo>
                <a:lnTo>
                  <a:pt x="573731" y="90909"/>
                </a:lnTo>
                <a:lnTo>
                  <a:pt x="646224" y="98886"/>
                </a:lnTo>
                <a:lnTo>
                  <a:pt x="653282" y="93226"/>
                </a:lnTo>
                <a:lnTo>
                  <a:pt x="655008" y="77541"/>
                </a:lnTo>
                <a:lnTo>
                  <a:pt x="649349" y="70482"/>
                </a:lnTo>
                <a:lnTo>
                  <a:pt x="576855" y="62505"/>
                </a:lnTo>
                <a:close/>
              </a:path>
              <a:path w="1061084" h="163830">
                <a:moveTo>
                  <a:pt x="690469" y="75007"/>
                </a:moveTo>
                <a:lnTo>
                  <a:pt x="683412" y="80665"/>
                </a:lnTo>
                <a:lnTo>
                  <a:pt x="681686" y="96352"/>
                </a:lnTo>
                <a:lnTo>
                  <a:pt x="687345" y="103411"/>
                </a:lnTo>
                <a:lnTo>
                  <a:pt x="759839" y="111387"/>
                </a:lnTo>
                <a:lnTo>
                  <a:pt x="766897" y="105728"/>
                </a:lnTo>
                <a:lnTo>
                  <a:pt x="768623" y="90041"/>
                </a:lnTo>
                <a:lnTo>
                  <a:pt x="762963" y="82984"/>
                </a:lnTo>
                <a:lnTo>
                  <a:pt x="690469" y="75007"/>
                </a:lnTo>
                <a:close/>
              </a:path>
              <a:path w="1061084" h="163830">
                <a:moveTo>
                  <a:pt x="804085" y="87508"/>
                </a:moveTo>
                <a:lnTo>
                  <a:pt x="797026" y="93167"/>
                </a:lnTo>
                <a:lnTo>
                  <a:pt x="795300" y="108854"/>
                </a:lnTo>
                <a:lnTo>
                  <a:pt x="800959" y="115911"/>
                </a:lnTo>
                <a:lnTo>
                  <a:pt x="873453" y="123888"/>
                </a:lnTo>
                <a:lnTo>
                  <a:pt x="880511" y="118229"/>
                </a:lnTo>
                <a:lnTo>
                  <a:pt x="882237" y="102542"/>
                </a:lnTo>
                <a:lnTo>
                  <a:pt x="876578" y="95484"/>
                </a:lnTo>
                <a:lnTo>
                  <a:pt x="804085" y="87508"/>
                </a:lnTo>
                <a:close/>
              </a:path>
              <a:path w="1061084" h="163830">
                <a:moveTo>
                  <a:pt x="974053" y="134958"/>
                </a:moveTo>
                <a:lnTo>
                  <a:pt x="970927" y="163361"/>
                </a:lnTo>
                <a:lnTo>
                  <a:pt x="1043894" y="136390"/>
                </a:lnTo>
                <a:lnTo>
                  <a:pt x="987068" y="136390"/>
                </a:lnTo>
                <a:lnTo>
                  <a:pt x="974053" y="134958"/>
                </a:lnTo>
                <a:close/>
              </a:path>
              <a:path w="1061084" h="163830">
                <a:moveTo>
                  <a:pt x="977178" y="106553"/>
                </a:moveTo>
                <a:lnTo>
                  <a:pt x="974053" y="134958"/>
                </a:lnTo>
                <a:lnTo>
                  <a:pt x="987068" y="136390"/>
                </a:lnTo>
                <a:lnTo>
                  <a:pt x="994125" y="130731"/>
                </a:lnTo>
                <a:lnTo>
                  <a:pt x="995851" y="115044"/>
                </a:lnTo>
                <a:lnTo>
                  <a:pt x="990193" y="107985"/>
                </a:lnTo>
                <a:lnTo>
                  <a:pt x="977178" y="106553"/>
                </a:lnTo>
                <a:close/>
              </a:path>
              <a:path w="1061084" h="163830">
                <a:moveTo>
                  <a:pt x="980304" y="78150"/>
                </a:moveTo>
                <a:lnTo>
                  <a:pt x="977178" y="106553"/>
                </a:lnTo>
                <a:lnTo>
                  <a:pt x="990193" y="107985"/>
                </a:lnTo>
                <a:lnTo>
                  <a:pt x="995851" y="115044"/>
                </a:lnTo>
                <a:lnTo>
                  <a:pt x="994125" y="130731"/>
                </a:lnTo>
                <a:lnTo>
                  <a:pt x="987068" y="136390"/>
                </a:lnTo>
                <a:lnTo>
                  <a:pt x="1043894" y="136390"/>
                </a:lnTo>
                <a:lnTo>
                  <a:pt x="1060825" y="130131"/>
                </a:lnTo>
                <a:lnTo>
                  <a:pt x="980304" y="78150"/>
                </a:lnTo>
                <a:close/>
              </a:path>
              <a:path w="1061084" h="163830">
                <a:moveTo>
                  <a:pt x="917699" y="100009"/>
                </a:moveTo>
                <a:lnTo>
                  <a:pt x="910640" y="105667"/>
                </a:lnTo>
                <a:lnTo>
                  <a:pt x="908914" y="121354"/>
                </a:lnTo>
                <a:lnTo>
                  <a:pt x="914573" y="128413"/>
                </a:lnTo>
                <a:lnTo>
                  <a:pt x="974053" y="134958"/>
                </a:lnTo>
                <a:lnTo>
                  <a:pt x="977178" y="106553"/>
                </a:lnTo>
                <a:lnTo>
                  <a:pt x="917699" y="100009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82390" y="2911480"/>
            <a:ext cx="1078230" cy="1281430"/>
          </a:xfrm>
          <a:custGeom>
            <a:avLst/>
            <a:gdLst/>
            <a:ahLst/>
            <a:cxnLst/>
            <a:rect l="l" t="t" r="r" b="b"/>
            <a:pathLst>
              <a:path w="1078229" h="1281429">
                <a:moveTo>
                  <a:pt x="12872" y="0"/>
                </a:moveTo>
                <a:lnTo>
                  <a:pt x="786" y="10147"/>
                </a:lnTo>
                <a:lnTo>
                  <a:pt x="0" y="19159"/>
                </a:lnTo>
                <a:lnTo>
                  <a:pt x="46896" y="75015"/>
                </a:lnTo>
                <a:lnTo>
                  <a:pt x="55907" y="75801"/>
                </a:lnTo>
                <a:lnTo>
                  <a:pt x="67994" y="65653"/>
                </a:lnTo>
                <a:lnTo>
                  <a:pt x="68780" y="56641"/>
                </a:lnTo>
                <a:lnTo>
                  <a:pt x="21884" y="786"/>
                </a:lnTo>
                <a:lnTo>
                  <a:pt x="12872" y="0"/>
                </a:lnTo>
                <a:close/>
              </a:path>
              <a:path w="1078229" h="1281429">
                <a:moveTo>
                  <a:pt x="86367" y="87538"/>
                </a:moveTo>
                <a:lnTo>
                  <a:pt x="74281" y="97685"/>
                </a:lnTo>
                <a:lnTo>
                  <a:pt x="73494" y="106697"/>
                </a:lnTo>
                <a:lnTo>
                  <a:pt x="120390" y="162553"/>
                </a:lnTo>
                <a:lnTo>
                  <a:pt x="129402" y="163339"/>
                </a:lnTo>
                <a:lnTo>
                  <a:pt x="141489" y="153192"/>
                </a:lnTo>
                <a:lnTo>
                  <a:pt x="142275" y="144180"/>
                </a:lnTo>
                <a:lnTo>
                  <a:pt x="95379" y="88324"/>
                </a:lnTo>
                <a:lnTo>
                  <a:pt x="86367" y="87538"/>
                </a:lnTo>
                <a:close/>
              </a:path>
              <a:path w="1078229" h="1281429">
                <a:moveTo>
                  <a:pt x="159862" y="175077"/>
                </a:moveTo>
                <a:lnTo>
                  <a:pt x="147775" y="185224"/>
                </a:lnTo>
                <a:lnTo>
                  <a:pt x="146989" y="194236"/>
                </a:lnTo>
                <a:lnTo>
                  <a:pt x="193885" y="250092"/>
                </a:lnTo>
                <a:lnTo>
                  <a:pt x="202897" y="250878"/>
                </a:lnTo>
                <a:lnTo>
                  <a:pt x="214984" y="240731"/>
                </a:lnTo>
                <a:lnTo>
                  <a:pt x="215770" y="231719"/>
                </a:lnTo>
                <a:lnTo>
                  <a:pt x="168874" y="175863"/>
                </a:lnTo>
                <a:lnTo>
                  <a:pt x="159862" y="175077"/>
                </a:lnTo>
                <a:close/>
              </a:path>
              <a:path w="1078229" h="1281429">
                <a:moveTo>
                  <a:pt x="233357" y="262615"/>
                </a:moveTo>
                <a:lnTo>
                  <a:pt x="221270" y="272762"/>
                </a:lnTo>
                <a:lnTo>
                  <a:pt x="220484" y="281774"/>
                </a:lnTo>
                <a:lnTo>
                  <a:pt x="267380" y="337630"/>
                </a:lnTo>
                <a:lnTo>
                  <a:pt x="276392" y="338416"/>
                </a:lnTo>
                <a:lnTo>
                  <a:pt x="288479" y="328269"/>
                </a:lnTo>
                <a:lnTo>
                  <a:pt x="289265" y="319256"/>
                </a:lnTo>
                <a:lnTo>
                  <a:pt x="242369" y="263401"/>
                </a:lnTo>
                <a:lnTo>
                  <a:pt x="233357" y="262615"/>
                </a:lnTo>
                <a:close/>
              </a:path>
              <a:path w="1078229" h="1281429">
                <a:moveTo>
                  <a:pt x="306852" y="350154"/>
                </a:moveTo>
                <a:lnTo>
                  <a:pt x="294765" y="360301"/>
                </a:lnTo>
                <a:lnTo>
                  <a:pt x="293979" y="369313"/>
                </a:lnTo>
                <a:lnTo>
                  <a:pt x="340875" y="425169"/>
                </a:lnTo>
                <a:lnTo>
                  <a:pt x="349887" y="425955"/>
                </a:lnTo>
                <a:lnTo>
                  <a:pt x="361974" y="415808"/>
                </a:lnTo>
                <a:lnTo>
                  <a:pt x="362758" y="406794"/>
                </a:lnTo>
                <a:lnTo>
                  <a:pt x="315864" y="350939"/>
                </a:lnTo>
                <a:lnTo>
                  <a:pt x="306852" y="350154"/>
                </a:lnTo>
                <a:close/>
              </a:path>
              <a:path w="1078229" h="1281429">
                <a:moveTo>
                  <a:pt x="380347" y="437692"/>
                </a:moveTo>
                <a:lnTo>
                  <a:pt x="368260" y="447840"/>
                </a:lnTo>
                <a:lnTo>
                  <a:pt x="367474" y="456852"/>
                </a:lnTo>
                <a:lnTo>
                  <a:pt x="414369" y="512707"/>
                </a:lnTo>
                <a:lnTo>
                  <a:pt x="423382" y="513494"/>
                </a:lnTo>
                <a:lnTo>
                  <a:pt x="435469" y="503346"/>
                </a:lnTo>
                <a:lnTo>
                  <a:pt x="436253" y="494333"/>
                </a:lnTo>
                <a:lnTo>
                  <a:pt x="389359" y="438477"/>
                </a:lnTo>
                <a:lnTo>
                  <a:pt x="380347" y="437692"/>
                </a:lnTo>
                <a:close/>
              </a:path>
              <a:path w="1078229" h="1281429">
                <a:moveTo>
                  <a:pt x="453842" y="525231"/>
                </a:moveTo>
                <a:lnTo>
                  <a:pt x="441755" y="535378"/>
                </a:lnTo>
                <a:lnTo>
                  <a:pt x="440969" y="544390"/>
                </a:lnTo>
                <a:lnTo>
                  <a:pt x="487864" y="600246"/>
                </a:lnTo>
                <a:lnTo>
                  <a:pt x="496877" y="601032"/>
                </a:lnTo>
                <a:lnTo>
                  <a:pt x="508963" y="590884"/>
                </a:lnTo>
                <a:lnTo>
                  <a:pt x="509748" y="581872"/>
                </a:lnTo>
                <a:lnTo>
                  <a:pt x="462854" y="526016"/>
                </a:lnTo>
                <a:lnTo>
                  <a:pt x="453842" y="525231"/>
                </a:lnTo>
                <a:close/>
              </a:path>
              <a:path w="1078229" h="1281429">
                <a:moveTo>
                  <a:pt x="527337" y="612768"/>
                </a:moveTo>
                <a:lnTo>
                  <a:pt x="515250" y="622917"/>
                </a:lnTo>
                <a:lnTo>
                  <a:pt x="514464" y="631929"/>
                </a:lnTo>
                <a:lnTo>
                  <a:pt x="561359" y="687785"/>
                </a:lnTo>
                <a:lnTo>
                  <a:pt x="570372" y="688571"/>
                </a:lnTo>
                <a:lnTo>
                  <a:pt x="582458" y="678422"/>
                </a:lnTo>
                <a:lnTo>
                  <a:pt x="583243" y="669410"/>
                </a:lnTo>
                <a:lnTo>
                  <a:pt x="536348" y="613554"/>
                </a:lnTo>
                <a:lnTo>
                  <a:pt x="527337" y="612768"/>
                </a:lnTo>
                <a:close/>
              </a:path>
              <a:path w="1078229" h="1281429">
                <a:moveTo>
                  <a:pt x="600831" y="700307"/>
                </a:moveTo>
                <a:lnTo>
                  <a:pt x="588745" y="710455"/>
                </a:lnTo>
                <a:lnTo>
                  <a:pt x="587959" y="719467"/>
                </a:lnTo>
                <a:lnTo>
                  <a:pt x="634853" y="775323"/>
                </a:lnTo>
                <a:lnTo>
                  <a:pt x="643867" y="776109"/>
                </a:lnTo>
                <a:lnTo>
                  <a:pt x="655953" y="765961"/>
                </a:lnTo>
                <a:lnTo>
                  <a:pt x="656738" y="756949"/>
                </a:lnTo>
                <a:lnTo>
                  <a:pt x="609843" y="701093"/>
                </a:lnTo>
                <a:lnTo>
                  <a:pt x="600831" y="700307"/>
                </a:lnTo>
                <a:close/>
              </a:path>
              <a:path w="1078229" h="1281429">
                <a:moveTo>
                  <a:pt x="674326" y="787845"/>
                </a:moveTo>
                <a:lnTo>
                  <a:pt x="662240" y="797994"/>
                </a:lnTo>
                <a:lnTo>
                  <a:pt x="661454" y="807006"/>
                </a:lnTo>
                <a:lnTo>
                  <a:pt x="708348" y="862862"/>
                </a:lnTo>
                <a:lnTo>
                  <a:pt x="717362" y="863646"/>
                </a:lnTo>
                <a:lnTo>
                  <a:pt x="729448" y="853499"/>
                </a:lnTo>
                <a:lnTo>
                  <a:pt x="730233" y="844487"/>
                </a:lnTo>
                <a:lnTo>
                  <a:pt x="683338" y="788631"/>
                </a:lnTo>
                <a:lnTo>
                  <a:pt x="674326" y="787845"/>
                </a:lnTo>
                <a:close/>
              </a:path>
              <a:path w="1078229" h="1281429">
                <a:moveTo>
                  <a:pt x="747821" y="875384"/>
                </a:moveTo>
                <a:lnTo>
                  <a:pt x="735735" y="885531"/>
                </a:lnTo>
                <a:lnTo>
                  <a:pt x="734948" y="894544"/>
                </a:lnTo>
                <a:lnTo>
                  <a:pt x="781843" y="950400"/>
                </a:lnTo>
                <a:lnTo>
                  <a:pt x="790856" y="951185"/>
                </a:lnTo>
                <a:lnTo>
                  <a:pt x="802943" y="941038"/>
                </a:lnTo>
                <a:lnTo>
                  <a:pt x="803728" y="932026"/>
                </a:lnTo>
                <a:lnTo>
                  <a:pt x="756833" y="876170"/>
                </a:lnTo>
                <a:lnTo>
                  <a:pt x="747821" y="875384"/>
                </a:lnTo>
                <a:close/>
              </a:path>
              <a:path w="1078229" h="1281429">
                <a:moveTo>
                  <a:pt x="821316" y="962922"/>
                </a:moveTo>
                <a:lnTo>
                  <a:pt x="809230" y="973070"/>
                </a:lnTo>
                <a:lnTo>
                  <a:pt x="808443" y="982083"/>
                </a:lnTo>
                <a:lnTo>
                  <a:pt x="855338" y="1037939"/>
                </a:lnTo>
                <a:lnTo>
                  <a:pt x="864351" y="1038724"/>
                </a:lnTo>
                <a:lnTo>
                  <a:pt x="876437" y="1028576"/>
                </a:lnTo>
                <a:lnTo>
                  <a:pt x="877223" y="1019564"/>
                </a:lnTo>
                <a:lnTo>
                  <a:pt x="830328" y="963709"/>
                </a:lnTo>
                <a:lnTo>
                  <a:pt x="821316" y="962922"/>
                </a:lnTo>
                <a:close/>
              </a:path>
              <a:path w="1078229" h="1281429">
                <a:moveTo>
                  <a:pt x="894811" y="1050461"/>
                </a:moveTo>
                <a:lnTo>
                  <a:pt x="882724" y="1060608"/>
                </a:lnTo>
                <a:lnTo>
                  <a:pt x="881938" y="1069621"/>
                </a:lnTo>
                <a:lnTo>
                  <a:pt x="928833" y="1125477"/>
                </a:lnTo>
                <a:lnTo>
                  <a:pt x="937845" y="1126262"/>
                </a:lnTo>
                <a:lnTo>
                  <a:pt x="949932" y="1116115"/>
                </a:lnTo>
                <a:lnTo>
                  <a:pt x="950718" y="1107103"/>
                </a:lnTo>
                <a:lnTo>
                  <a:pt x="903823" y="1051247"/>
                </a:lnTo>
                <a:lnTo>
                  <a:pt x="894811" y="1050461"/>
                </a:lnTo>
                <a:close/>
              </a:path>
              <a:path w="1078229" h="1281429">
                <a:moveTo>
                  <a:pt x="1055599" y="1187584"/>
                </a:moveTo>
                <a:lnTo>
                  <a:pt x="989945" y="1242706"/>
                </a:lnTo>
                <a:lnTo>
                  <a:pt x="1077893" y="1280800"/>
                </a:lnTo>
                <a:lnTo>
                  <a:pt x="1055599" y="1187584"/>
                </a:lnTo>
                <a:close/>
              </a:path>
              <a:path w="1078229" h="1281429">
                <a:moveTo>
                  <a:pt x="968306" y="1138000"/>
                </a:moveTo>
                <a:lnTo>
                  <a:pt x="956219" y="1148148"/>
                </a:lnTo>
                <a:lnTo>
                  <a:pt x="955433" y="1157160"/>
                </a:lnTo>
                <a:lnTo>
                  <a:pt x="1002328" y="1213016"/>
                </a:lnTo>
                <a:lnTo>
                  <a:pt x="1011340" y="1213801"/>
                </a:lnTo>
                <a:lnTo>
                  <a:pt x="1023426" y="1203653"/>
                </a:lnTo>
                <a:lnTo>
                  <a:pt x="1024213" y="1194642"/>
                </a:lnTo>
                <a:lnTo>
                  <a:pt x="977318" y="1138786"/>
                </a:lnTo>
                <a:lnTo>
                  <a:pt x="968306" y="113800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90486" y="400049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6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56461" y="3783125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3" y="75080"/>
                </a:moveTo>
                <a:lnTo>
                  <a:pt x="26716" y="85218"/>
                </a:lnTo>
                <a:lnTo>
                  <a:pt x="150408" y="411187"/>
                </a:lnTo>
                <a:lnTo>
                  <a:pt x="158658" y="414898"/>
                </a:lnTo>
                <a:lnTo>
                  <a:pt x="173413" y="409300"/>
                </a:lnTo>
                <a:lnTo>
                  <a:pt x="177124" y="401050"/>
                </a:lnTo>
                <a:lnTo>
                  <a:pt x="53433" y="75080"/>
                </a:lnTo>
                <a:close/>
              </a:path>
              <a:path w="177164" h="415289">
                <a:moveTo>
                  <a:pt x="9662" y="0"/>
                </a:moveTo>
                <a:lnTo>
                  <a:pt x="0" y="95355"/>
                </a:lnTo>
                <a:lnTo>
                  <a:pt x="26716" y="85218"/>
                </a:lnTo>
                <a:lnTo>
                  <a:pt x="18848" y="64482"/>
                </a:lnTo>
                <a:lnTo>
                  <a:pt x="22559" y="56233"/>
                </a:lnTo>
                <a:lnTo>
                  <a:pt x="37315" y="50633"/>
                </a:lnTo>
                <a:lnTo>
                  <a:pt x="64618" y="50633"/>
                </a:lnTo>
                <a:lnTo>
                  <a:pt x="9662" y="0"/>
                </a:lnTo>
                <a:close/>
              </a:path>
              <a:path w="177164" h="415289">
                <a:moveTo>
                  <a:pt x="37315" y="50633"/>
                </a:moveTo>
                <a:lnTo>
                  <a:pt x="22559" y="56233"/>
                </a:lnTo>
                <a:lnTo>
                  <a:pt x="18848" y="64482"/>
                </a:lnTo>
                <a:lnTo>
                  <a:pt x="26716" y="85218"/>
                </a:lnTo>
                <a:lnTo>
                  <a:pt x="53433" y="75080"/>
                </a:lnTo>
                <a:lnTo>
                  <a:pt x="45565" y="54344"/>
                </a:lnTo>
                <a:lnTo>
                  <a:pt x="37315" y="50633"/>
                </a:lnTo>
                <a:close/>
              </a:path>
              <a:path w="177164" h="415289">
                <a:moveTo>
                  <a:pt x="64618" y="50633"/>
                </a:moveTo>
                <a:lnTo>
                  <a:pt x="37315" y="50633"/>
                </a:lnTo>
                <a:lnTo>
                  <a:pt x="45565" y="54344"/>
                </a:lnTo>
                <a:lnTo>
                  <a:pt x="53433" y="75080"/>
                </a:lnTo>
                <a:lnTo>
                  <a:pt x="80149" y="64942"/>
                </a:lnTo>
                <a:lnTo>
                  <a:pt x="64618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51042" y="3635744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5">
                <a:moveTo>
                  <a:pt x="55678" y="472090"/>
                </a:moveTo>
                <a:lnTo>
                  <a:pt x="0" y="550103"/>
                </a:lnTo>
                <a:lnTo>
                  <a:pt x="95816" y="547838"/>
                </a:lnTo>
                <a:lnTo>
                  <a:pt x="87939" y="532973"/>
                </a:lnTo>
                <a:lnTo>
                  <a:pt x="62839" y="532973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5" h="550545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3"/>
                </a:lnTo>
                <a:lnTo>
                  <a:pt x="82436" y="522588"/>
                </a:lnTo>
                <a:lnTo>
                  <a:pt x="69057" y="497339"/>
                </a:lnTo>
                <a:close/>
              </a:path>
              <a:path w="1024255" h="550545">
                <a:moveTo>
                  <a:pt x="82436" y="522588"/>
                </a:moveTo>
                <a:lnTo>
                  <a:pt x="62839" y="532973"/>
                </a:lnTo>
                <a:lnTo>
                  <a:pt x="87939" y="532973"/>
                </a:lnTo>
                <a:lnTo>
                  <a:pt x="82436" y="522588"/>
                </a:lnTo>
                <a:close/>
              </a:path>
              <a:path w="1024255" h="550545">
                <a:moveTo>
                  <a:pt x="1007609" y="0"/>
                </a:moveTo>
                <a:lnTo>
                  <a:pt x="69057" y="497339"/>
                </a:lnTo>
                <a:lnTo>
                  <a:pt x="82436" y="522588"/>
                </a:lnTo>
                <a:lnTo>
                  <a:pt x="1020988" y="25248"/>
                </a:lnTo>
                <a:lnTo>
                  <a:pt x="1023646" y="16601"/>
                </a:lnTo>
                <a:lnTo>
                  <a:pt x="1016256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9133" y="4316910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7"/>
                </a:lnTo>
                <a:lnTo>
                  <a:pt x="607734" y="73471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7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98240" y="4277296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4"/>
                </a:moveTo>
                <a:lnTo>
                  <a:pt x="85127" y="57108"/>
                </a:lnTo>
                <a:lnTo>
                  <a:pt x="1346258" y="104494"/>
                </a:lnTo>
                <a:lnTo>
                  <a:pt x="1352890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0" y="28554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4" y="85664"/>
                </a:lnTo>
                <a:lnTo>
                  <a:pt x="85127" y="57108"/>
                </a:lnTo>
                <a:lnTo>
                  <a:pt x="62965" y="56276"/>
                </a:lnTo>
                <a:lnTo>
                  <a:pt x="56813" y="49644"/>
                </a:lnTo>
                <a:lnTo>
                  <a:pt x="57405" y="33873"/>
                </a:lnTo>
                <a:lnTo>
                  <a:pt x="64038" y="27721"/>
                </a:lnTo>
                <a:lnTo>
                  <a:pt x="86231" y="27721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1"/>
                </a:moveTo>
                <a:lnTo>
                  <a:pt x="57405" y="33873"/>
                </a:lnTo>
                <a:lnTo>
                  <a:pt x="56813" y="49644"/>
                </a:lnTo>
                <a:lnTo>
                  <a:pt x="62965" y="56276"/>
                </a:lnTo>
                <a:lnTo>
                  <a:pt x="85127" y="57108"/>
                </a:lnTo>
                <a:lnTo>
                  <a:pt x="86200" y="28554"/>
                </a:lnTo>
                <a:lnTo>
                  <a:pt x="64038" y="27721"/>
                </a:lnTo>
                <a:close/>
              </a:path>
              <a:path w="1353820" h="104775">
                <a:moveTo>
                  <a:pt x="86231" y="27721"/>
                </a:moveTo>
                <a:lnTo>
                  <a:pt x="64038" y="27721"/>
                </a:lnTo>
                <a:lnTo>
                  <a:pt x="86200" y="28554"/>
                </a:lnTo>
                <a:lnTo>
                  <a:pt x="86231" y="27721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16924" y="4498278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3" y="52399"/>
                </a:moveTo>
                <a:lnTo>
                  <a:pt x="0" y="583977"/>
                </a:lnTo>
                <a:lnTo>
                  <a:pt x="243" y="593020"/>
                </a:lnTo>
                <a:lnTo>
                  <a:pt x="11699" y="603874"/>
                </a:lnTo>
                <a:lnTo>
                  <a:pt x="20741" y="603632"/>
                </a:lnTo>
                <a:lnTo>
                  <a:pt x="524435" y="72053"/>
                </a:lnTo>
                <a:lnTo>
                  <a:pt x="503693" y="52399"/>
                </a:lnTo>
                <a:close/>
              </a:path>
              <a:path w="573405" h="603885">
                <a:moveTo>
                  <a:pt x="562078" y="36056"/>
                </a:moveTo>
                <a:lnTo>
                  <a:pt x="527991" y="36056"/>
                </a:lnTo>
                <a:lnTo>
                  <a:pt x="539446" y="46911"/>
                </a:lnTo>
                <a:lnTo>
                  <a:pt x="539690" y="55954"/>
                </a:lnTo>
                <a:lnTo>
                  <a:pt x="524435" y="72053"/>
                </a:lnTo>
                <a:lnTo>
                  <a:pt x="545177" y="91707"/>
                </a:lnTo>
                <a:lnTo>
                  <a:pt x="562078" y="36056"/>
                </a:lnTo>
                <a:close/>
              </a:path>
              <a:path w="573405" h="603885">
                <a:moveTo>
                  <a:pt x="527991" y="36056"/>
                </a:moveTo>
                <a:lnTo>
                  <a:pt x="518947" y="36300"/>
                </a:lnTo>
                <a:lnTo>
                  <a:pt x="503693" y="52399"/>
                </a:lnTo>
                <a:lnTo>
                  <a:pt x="524435" y="72053"/>
                </a:lnTo>
                <a:lnTo>
                  <a:pt x="539690" y="55954"/>
                </a:lnTo>
                <a:lnTo>
                  <a:pt x="539446" y="46911"/>
                </a:lnTo>
                <a:lnTo>
                  <a:pt x="527991" y="36056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3" y="52399"/>
                </a:lnTo>
                <a:lnTo>
                  <a:pt x="518947" y="36300"/>
                </a:lnTo>
                <a:lnTo>
                  <a:pt x="527991" y="36056"/>
                </a:lnTo>
                <a:lnTo>
                  <a:pt x="562078" y="36056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17427" y="4552566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1" y="68213"/>
                </a:lnTo>
                <a:lnTo>
                  <a:pt x="379856" y="364321"/>
                </a:lnTo>
                <a:lnTo>
                  <a:pt x="388891" y="363886"/>
                </a:lnTo>
                <a:lnTo>
                  <a:pt x="399502" y="352205"/>
                </a:lnTo>
                <a:lnTo>
                  <a:pt x="399068" y="343169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9" y="89366"/>
                </a:lnTo>
                <a:lnTo>
                  <a:pt x="53851" y="68213"/>
                </a:lnTo>
                <a:lnTo>
                  <a:pt x="37434" y="53301"/>
                </a:lnTo>
                <a:lnTo>
                  <a:pt x="37000" y="44265"/>
                </a:lnTo>
                <a:lnTo>
                  <a:pt x="47611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11" y="32584"/>
                </a:lnTo>
                <a:lnTo>
                  <a:pt x="37000" y="44265"/>
                </a:lnTo>
                <a:lnTo>
                  <a:pt x="37434" y="53301"/>
                </a:lnTo>
                <a:lnTo>
                  <a:pt x="53851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385524" y="5016545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2"/>
                </a:lnTo>
                <a:lnTo>
                  <a:pt x="92282" y="226754"/>
                </a:lnTo>
                <a:lnTo>
                  <a:pt x="87687" y="202887"/>
                </a:lnTo>
                <a:lnTo>
                  <a:pt x="65102" y="202887"/>
                </a:lnTo>
                <a:lnTo>
                  <a:pt x="57611" y="197816"/>
                </a:lnTo>
                <a:lnTo>
                  <a:pt x="54627" y="182318"/>
                </a:lnTo>
                <a:lnTo>
                  <a:pt x="59700" y="174828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700" y="174828"/>
                </a:lnTo>
                <a:lnTo>
                  <a:pt x="54627" y="182318"/>
                </a:lnTo>
                <a:lnTo>
                  <a:pt x="57611" y="197816"/>
                </a:lnTo>
                <a:lnTo>
                  <a:pt x="65102" y="202887"/>
                </a:lnTo>
                <a:lnTo>
                  <a:pt x="86879" y="198694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2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4"/>
                </a:lnTo>
                <a:lnTo>
                  <a:pt x="973171" y="28060"/>
                </a:lnTo>
                <a:lnTo>
                  <a:pt x="978244" y="20568"/>
                </a:lnTo>
                <a:lnTo>
                  <a:pt x="975259" y="5072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512942" y="5702300"/>
            <a:ext cx="1182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630" y="4360671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4215" y="4513579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1284" y="3376167"/>
            <a:ext cx="1563370" cy="946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58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ts val="1739"/>
              </a:lnSpc>
            </a:pPr>
            <a:r>
              <a:rPr dirty="0" sz="1800" spc="-40">
                <a:latin typeface="Arial"/>
                <a:cs typeface="Arial"/>
              </a:rPr>
              <a:t>Target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  <a:p>
            <a:pPr algn="ctr" marR="15240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84081" y="4226559"/>
            <a:ext cx="1638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8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00032" y="438251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08188" y="4391151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53237" y="3668776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69188" y="382473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71319" y="440029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87270" y="455625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25846" y="5022088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837149" y="418186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3" y="364078"/>
                </a:lnTo>
                <a:lnTo>
                  <a:pt x="271268" y="345393"/>
                </a:lnTo>
                <a:lnTo>
                  <a:pt x="307754" y="316411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799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937258" y="4205732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558369" y="346671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658478" y="3489452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024969" y="503206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129840" y="5056123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348247" y="484671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424140" y="4492244"/>
            <a:ext cx="174625" cy="6781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24769" y="503206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15352" y="5056123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42518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723" y="1285239"/>
            <a:ext cx="344170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500" spc="-10">
                <a:solidFill>
                  <a:srgbClr val="6BB76D"/>
                </a:solidFill>
              </a:rPr>
              <a:t>Relational </a:t>
            </a:r>
            <a:r>
              <a:rPr dirty="0" sz="2500" spc="-5">
                <a:solidFill>
                  <a:srgbClr val="6BB76D"/>
                </a:solidFill>
              </a:rPr>
              <a:t>GCN</a:t>
            </a:r>
            <a:r>
              <a:rPr dirty="0" sz="2500" spc="-50">
                <a:solidFill>
                  <a:srgbClr val="6BB76D"/>
                </a:solidFill>
              </a:rPr>
              <a:t> </a:t>
            </a:r>
            <a:r>
              <a:rPr dirty="0" sz="2500" spc="-5">
                <a:solidFill>
                  <a:srgbClr val="6BB76D"/>
                </a:solidFill>
              </a:rPr>
              <a:t>(RGCN):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1700676" y="2047748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0"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33468" y="1881248"/>
            <a:ext cx="541655" cy="212090"/>
          </a:xfrm>
          <a:custGeom>
            <a:avLst/>
            <a:gdLst/>
            <a:ahLst/>
            <a:cxnLst/>
            <a:rect l="l" t="t" r="r" b="b"/>
            <a:pathLst>
              <a:path w="541655" h="212089">
                <a:moveTo>
                  <a:pt x="473890" y="0"/>
                </a:moveTo>
                <a:lnTo>
                  <a:pt x="470876" y="8595"/>
                </a:lnTo>
                <a:lnTo>
                  <a:pt x="483134" y="13914"/>
                </a:lnTo>
                <a:lnTo>
                  <a:pt x="493675" y="21277"/>
                </a:lnTo>
                <a:lnTo>
                  <a:pt x="515078" y="55409"/>
                </a:lnTo>
                <a:lnTo>
                  <a:pt x="522110" y="104811"/>
                </a:lnTo>
                <a:lnTo>
                  <a:pt x="521326" y="123487"/>
                </a:lnTo>
                <a:lnTo>
                  <a:pt x="509553" y="169217"/>
                </a:lnTo>
                <a:lnTo>
                  <a:pt x="483277" y="197806"/>
                </a:lnTo>
                <a:lnTo>
                  <a:pt x="471211" y="203150"/>
                </a:lnTo>
                <a:lnTo>
                  <a:pt x="473890" y="211745"/>
                </a:lnTo>
                <a:lnTo>
                  <a:pt x="514345" y="187708"/>
                </a:lnTo>
                <a:lnTo>
                  <a:pt x="537068" y="143335"/>
                </a:lnTo>
                <a:lnTo>
                  <a:pt x="541421" y="105928"/>
                </a:lnTo>
                <a:lnTo>
                  <a:pt x="540329" y="86516"/>
                </a:lnTo>
                <a:lnTo>
                  <a:pt x="523952" y="37114"/>
                </a:lnTo>
                <a:lnTo>
                  <a:pt x="489241" y="5542"/>
                </a:lnTo>
                <a:lnTo>
                  <a:pt x="473890" y="0"/>
                </a:lnTo>
                <a:close/>
              </a:path>
              <a:path w="541655" h="212089">
                <a:moveTo>
                  <a:pt x="67529" y="0"/>
                </a:moveTo>
                <a:lnTo>
                  <a:pt x="27147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3" y="206209"/>
                </a:lnTo>
                <a:lnTo>
                  <a:pt x="67529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6" y="42137"/>
                </a:lnTo>
                <a:lnTo>
                  <a:pt x="58331" y="13914"/>
                </a:lnTo>
                <a:lnTo>
                  <a:pt x="70543" y="8595"/>
                </a:lnTo>
                <a:lnTo>
                  <a:pt x="67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07001" y="1721103"/>
            <a:ext cx="7048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7777" sz="3750">
                <a:latin typeface="Cambria Math"/>
                <a:cs typeface="Cambria Math"/>
              </a:rPr>
              <a:t>𝐡</a:t>
            </a:r>
            <a:r>
              <a:rPr dirty="0" baseline="-27777" sz="3750" spc="172">
                <a:latin typeface="Cambria Math"/>
                <a:cs typeface="Cambria Math"/>
              </a:rPr>
              <a:t> </a:t>
            </a:r>
            <a:r>
              <a:rPr dirty="0" sz="1800" spc="265">
                <a:latin typeface="Cambria Math"/>
                <a:cs typeface="Cambria Math"/>
              </a:rPr>
              <a:t>#.)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93638" y="1743778"/>
            <a:ext cx="4584065" cy="938530"/>
          </a:xfrm>
          <a:custGeom>
            <a:avLst/>
            <a:gdLst/>
            <a:ahLst/>
            <a:cxnLst/>
            <a:rect l="l" t="t" r="r" b="b"/>
            <a:pathLst>
              <a:path w="4584065" h="938530">
                <a:moveTo>
                  <a:pt x="4434796" y="0"/>
                </a:moveTo>
                <a:lnTo>
                  <a:pt x="4424874" y="11007"/>
                </a:lnTo>
                <a:lnTo>
                  <a:pt x="4454349" y="49139"/>
                </a:lnTo>
                <a:lnTo>
                  <a:pt x="4479987" y="93308"/>
                </a:lnTo>
                <a:lnTo>
                  <a:pt x="4501788" y="143513"/>
                </a:lnTo>
                <a:lnTo>
                  <a:pt x="4519752" y="199755"/>
                </a:lnTo>
                <a:lnTo>
                  <a:pt x="4531305" y="248444"/>
                </a:lnTo>
                <a:lnTo>
                  <a:pt x="4540290" y="299693"/>
                </a:lnTo>
                <a:lnTo>
                  <a:pt x="4546709" y="353503"/>
                </a:lnTo>
                <a:lnTo>
                  <a:pt x="4550560" y="409875"/>
                </a:lnTo>
                <a:lnTo>
                  <a:pt x="4551843" y="468809"/>
                </a:lnTo>
                <a:lnTo>
                  <a:pt x="4550560" y="528017"/>
                </a:lnTo>
                <a:lnTo>
                  <a:pt x="4546709" y="584597"/>
                </a:lnTo>
                <a:lnTo>
                  <a:pt x="4540290" y="638547"/>
                </a:lnTo>
                <a:lnTo>
                  <a:pt x="4531305" y="689868"/>
                </a:lnTo>
                <a:lnTo>
                  <a:pt x="4519752" y="738559"/>
                </a:lnTo>
                <a:lnTo>
                  <a:pt x="4501788" y="794767"/>
                </a:lnTo>
                <a:lnTo>
                  <a:pt x="4479987" y="844948"/>
                </a:lnTo>
                <a:lnTo>
                  <a:pt x="4454349" y="889102"/>
                </a:lnTo>
                <a:lnTo>
                  <a:pt x="4424874" y="927230"/>
                </a:lnTo>
                <a:lnTo>
                  <a:pt x="4434796" y="938237"/>
                </a:lnTo>
                <a:lnTo>
                  <a:pt x="4467910" y="900710"/>
                </a:lnTo>
                <a:lnTo>
                  <a:pt x="4497176" y="856808"/>
                </a:lnTo>
                <a:lnTo>
                  <a:pt x="4522597" y="806530"/>
                </a:lnTo>
                <a:lnTo>
                  <a:pt x="4544170" y="749876"/>
                </a:lnTo>
                <a:lnTo>
                  <a:pt x="4556178" y="708815"/>
                </a:lnTo>
                <a:lnTo>
                  <a:pt x="4566003" y="665420"/>
                </a:lnTo>
                <a:lnTo>
                  <a:pt x="4573644" y="619691"/>
                </a:lnTo>
                <a:lnTo>
                  <a:pt x="4579102" y="571627"/>
                </a:lnTo>
                <a:lnTo>
                  <a:pt x="4582377" y="521230"/>
                </a:lnTo>
                <a:lnTo>
                  <a:pt x="4583469" y="468499"/>
                </a:lnTo>
                <a:lnTo>
                  <a:pt x="4582377" y="416146"/>
                </a:lnTo>
                <a:lnTo>
                  <a:pt x="4579102" y="366058"/>
                </a:lnTo>
                <a:lnTo>
                  <a:pt x="4573644" y="318236"/>
                </a:lnTo>
                <a:lnTo>
                  <a:pt x="4566003" y="272679"/>
                </a:lnTo>
                <a:lnTo>
                  <a:pt x="4556178" y="229387"/>
                </a:lnTo>
                <a:lnTo>
                  <a:pt x="4544170" y="188361"/>
                </a:lnTo>
                <a:lnTo>
                  <a:pt x="4522597" y="131707"/>
                </a:lnTo>
                <a:lnTo>
                  <a:pt x="4497176" y="81429"/>
                </a:lnTo>
                <a:lnTo>
                  <a:pt x="4467910" y="37527"/>
                </a:lnTo>
                <a:lnTo>
                  <a:pt x="4434796" y="0"/>
                </a:lnTo>
                <a:close/>
              </a:path>
              <a:path w="4584065" h="938530">
                <a:moveTo>
                  <a:pt x="148673" y="0"/>
                </a:moveTo>
                <a:lnTo>
                  <a:pt x="115560" y="37527"/>
                </a:lnTo>
                <a:lnTo>
                  <a:pt x="86293" y="81429"/>
                </a:lnTo>
                <a:lnTo>
                  <a:pt x="60873" y="131707"/>
                </a:lnTo>
                <a:lnTo>
                  <a:pt x="39300" y="188361"/>
                </a:lnTo>
                <a:lnTo>
                  <a:pt x="27291" y="229387"/>
                </a:lnTo>
                <a:lnTo>
                  <a:pt x="17466" y="272679"/>
                </a:lnTo>
                <a:lnTo>
                  <a:pt x="9825" y="318236"/>
                </a:lnTo>
                <a:lnTo>
                  <a:pt x="4366" y="366058"/>
                </a:lnTo>
                <a:lnTo>
                  <a:pt x="1091" y="416146"/>
                </a:lnTo>
                <a:lnTo>
                  <a:pt x="0" y="468499"/>
                </a:lnTo>
                <a:lnTo>
                  <a:pt x="1091" y="521230"/>
                </a:lnTo>
                <a:lnTo>
                  <a:pt x="4366" y="571627"/>
                </a:lnTo>
                <a:lnTo>
                  <a:pt x="9825" y="619691"/>
                </a:lnTo>
                <a:lnTo>
                  <a:pt x="17466" y="665420"/>
                </a:lnTo>
                <a:lnTo>
                  <a:pt x="27291" y="708815"/>
                </a:lnTo>
                <a:lnTo>
                  <a:pt x="39300" y="749876"/>
                </a:lnTo>
                <a:lnTo>
                  <a:pt x="60873" y="806530"/>
                </a:lnTo>
                <a:lnTo>
                  <a:pt x="86293" y="856808"/>
                </a:lnTo>
                <a:lnTo>
                  <a:pt x="115560" y="900710"/>
                </a:lnTo>
                <a:lnTo>
                  <a:pt x="148673" y="938237"/>
                </a:lnTo>
                <a:lnTo>
                  <a:pt x="158595" y="927230"/>
                </a:lnTo>
                <a:lnTo>
                  <a:pt x="129120" y="889102"/>
                </a:lnTo>
                <a:lnTo>
                  <a:pt x="103482" y="844948"/>
                </a:lnTo>
                <a:lnTo>
                  <a:pt x="81681" y="794767"/>
                </a:lnTo>
                <a:lnTo>
                  <a:pt x="63717" y="738559"/>
                </a:lnTo>
                <a:lnTo>
                  <a:pt x="52164" y="689868"/>
                </a:lnTo>
                <a:lnTo>
                  <a:pt x="43179" y="638547"/>
                </a:lnTo>
                <a:lnTo>
                  <a:pt x="36761" y="584597"/>
                </a:lnTo>
                <a:lnTo>
                  <a:pt x="32910" y="528017"/>
                </a:lnTo>
                <a:lnTo>
                  <a:pt x="31626" y="468809"/>
                </a:lnTo>
                <a:lnTo>
                  <a:pt x="32910" y="409875"/>
                </a:lnTo>
                <a:lnTo>
                  <a:pt x="36761" y="353503"/>
                </a:lnTo>
                <a:lnTo>
                  <a:pt x="43179" y="299693"/>
                </a:lnTo>
                <a:lnTo>
                  <a:pt x="52164" y="248444"/>
                </a:lnTo>
                <a:lnTo>
                  <a:pt x="63717" y="199755"/>
                </a:lnTo>
                <a:lnTo>
                  <a:pt x="81681" y="143513"/>
                </a:lnTo>
                <a:lnTo>
                  <a:pt x="103482" y="93308"/>
                </a:lnTo>
                <a:lnTo>
                  <a:pt x="129120" y="49139"/>
                </a:lnTo>
                <a:lnTo>
                  <a:pt x="158595" y="11007"/>
                </a:lnTo>
                <a:lnTo>
                  <a:pt x="148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85015" y="1882647"/>
            <a:ext cx="17856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2955" algn="l"/>
                <a:tab pos="1351280" algn="l"/>
              </a:tabLst>
            </a:pPr>
            <a:r>
              <a:rPr dirty="0" sz="2500">
                <a:latin typeface="Cambria Math"/>
                <a:cs typeface="Cambria Math"/>
              </a:rPr>
              <a:t>=</a:t>
            </a:r>
            <a:r>
              <a:rPr dirty="0" sz="2500" spc="130">
                <a:latin typeface="Cambria Math"/>
                <a:cs typeface="Cambria Math"/>
              </a:rPr>
              <a:t> </a:t>
            </a:r>
            <a:r>
              <a:rPr dirty="0" sz="2500">
                <a:latin typeface="Cambria Math"/>
                <a:cs typeface="Cambria Math"/>
              </a:rPr>
              <a:t>𝜎	</a:t>
            </a:r>
            <a:r>
              <a:rPr dirty="0" sz="2500" spc="1085">
                <a:latin typeface="Cambria Math"/>
                <a:cs typeface="Cambria Math"/>
              </a:rPr>
              <a:t>%</a:t>
            </a:r>
            <a:r>
              <a:rPr dirty="0" sz="2500">
                <a:latin typeface="Cambria Math"/>
                <a:cs typeface="Cambria Math"/>
              </a:rPr>
              <a:t>	</a:t>
            </a:r>
            <a:r>
              <a:rPr dirty="0" sz="2500" spc="1085">
                <a:latin typeface="Cambria Math"/>
                <a:cs typeface="Cambria Math"/>
              </a:rPr>
              <a:t>%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7356" y="2482088"/>
            <a:ext cx="1352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25">
                <a:latin typeface="Cambria Math"/>
                <a:cs typeface="Cambria Math"/>
              </a:rPr>
              <a:t>!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9618" y="2389123"/>
            <a:ext cx="1099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086" sz="2700" spc="150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r>
              <a:rPr dirty="0" baseline="3086" sz="2700" spc="150">
                <a:latin typeface="Cambria Math"/>
                <a:cs typeface="Cambria Math"/>
              </a:rPr>
              <a:t>∈0</a:t>
            </a:r>
            <a:r>
              <a:rPr dirty="0" baseline="3086" sz="2700" spc="37">
                <a:latin typeface="Cambria Math"/>
                <a:cs typeface="Cambria Math"/>
              </a:rPr>
              <a:t> </a:t>
            </a:r>
            <a:r>
              <a:rPr dirty="0" sz="1800" spc="210">
                <a:latin typeface="Cambria Math"/>
                <a:cs typeface="Cambria Math"/>
              </a:rPr>
              <a:t>%∈'</a:t>
            </a:r>
            <a:r>
              <a:rPr dirty="0" baseline="25925" sz="2250" spc="315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endParaRPr baseline="25925" sz="22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03477" y="2123439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30795" y="1641855"/>
            <a:ext cx="2012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1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5697" y="2160015"/>
            <a:ext cx="47053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111" sz="3750" spc="-97">
                <a:latin typeface="Cambria Math"/>
                <a:cs typeface="Cambria Math"/>
              </a:rPr>
              <a:t>𝑐</a:t>
            </a:r>
            <a:r>
              <a:rPr dirty="0" sz="1800" spc="560">
                <a:latin typeface="Cambria Math"/>
                <a:cs typeface="Cambria Math"/>
              </a:rPr>
              <a:t>!</a:t>
            </a:r>
            <a:r>
              <a:rPr dirty="0" sz="1800" spc="0">
                <a:latin typeface="Cambria Math"/>
                <a:cs typeface="Cambria Math"/>
              </a:rPr>
              <a:t>,</a:t>
            </a:r>
            <a:r>
              <a:rPr dirty="0" sz="1800" spc="65">
                <a:latin typeface="Cambria Math"/>
                <a:cs typeface="Cambria Math"/>
              </a:rPr>
              <a:t>/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59736" y="1881248"/>
            <a:ext cx="240029" cy="212090"/>
          </a:xfrm>
          <a:custGeom>
            <a:avLst/>
            <a:gdLst/>
            <a:ahLst/>
            <a:cxnLst/>
            <a:rect l="l" t="t" r="r" b="b"/>
            <a:pathLst>
              <a:path w="240029" h="212089">
                <a:moveTo>
                  <a:pt x="172266" y="0"/>
                </a:moveTo>
                <a:lnTo>
                  <a:pt x="169252" y="8595"/>
                </a:lnTo>
                <a:lnTo>
                  <a:pt x="181509" y="13914"/>
                </a:lnTo>
                <a:lnTo>
                  <a:pt x="192050" y="21277"/>
                </a:lnTo>
                <a:lnTo>
                  <a:pt x="213454" y="55409"/>
                </a:lnTo>
                <a:lnTo>
                  <a:pt x="220487" y="104811"/>
                </a:lnTo>
                <a:lnTo>
                  <a:pt x="219702" y="123487"/>
                </a:lnTo>
                <a:lnTo>
                  <a:pt x="207929" y="169217"/>
                </a:lnTo>
                <a:lnTo>
                  <a:pt x="181652" y="197806"/>
                </a:lnTo>
                <a:lnTo>
                  <a:pt x="169586" y="203150"/>
                </a:lnTo>
                <a:lnTo>
                  <a:pt x="172266" y="211745"/>
                </a:lnTo>
                <a:lnTo>
                  <a:pt x="212722" y="187708"/>
                </a:lnTo>
                <a:lnTo>
                  <a:pt x="235444" y="143335"/>
                </a:lnTo>
                <a:lnTo>
                  <a:pt x="239797" y="105928"/>
                </a:lnTo>
                <a:lnTo>
                  <a:pt x="238705" y="86516"/>
                </a:lnTo>
                <a:lnTo>
                  <a:pt x="222328" y="37114"/>
                </a:lnTo>
                <a:lnTo>
                  <a:pt x="187617" y="5542"/>
                </a:lnTo>
                <a:lnTo>
                  <a:pt x="172266" y="0"/>
                </a:lnTo>
                <a:close/>
              </a:path>
              <a:path w="240029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10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23148" y="1810004"/>
            <a:ext cx="106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80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5000" y="1882647"/>
            <a:ext cx="83629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8650" algn="l"/>
              </a:tabLst>
            </a:pPr>
            <a:r>
              <a:rPr dirty="0" sz="2500">
                <a:latin typeface="Cambria Math"/>
                <a:cs typeface="Cambria Math"/>
              </a:rPr>
              <a:t>𝐖	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6686" y="2050795"/>
            <a:ext cx="702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020" algn="l"/>
              </a:tabLst>
            </a:pPr>
            <a:r>
              <a:rPr dirty="0" sz="1800" spc="65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r>
              <a:rPr dirty="0" sz="1800" spc="65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dirty="0" sz="1800" spc="-434">
                <a:latin typeface="Cambria Math"/>
                <a:cs typeface="Cambria Math"/>
              </a:rPr>
              <a:t>%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5133" y="1800860"/>
            <a:ext cx="306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latin typeface="Cambria Math"/>
                <a:cs typeface="Cambria Math"/>
              </a:rPr>
              <a:t>(</a:t>
            </a:r>
            <a:r>
              <a:rPr dirty="0" sz="1800" spc="-420">
                <a:latin typeface="Cambria Math"/>
                <a:cs typeface="Cambria Math"/>
              </a:rPr>
              <a:t>#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0236" y="206603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1465" y="1882647"/>
            <a:ext cx="11449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260" algn="l"/>
              </a:tabLst>
            </a:pPr>
            <a:r>
              <a:rPr dirty="0" sz="2500">
                <a:latin typeface="Cambria Math"/>
                <a:cs typeface="Cambria Math"/>
              </a:rPr>
              <a:t>+</a:t>
            </a:r>
            <a:r>
              <a:rPr dirty="0" sz="2500" spc="-5">
                <a:latin typeface="Cambria Math"/>
                <a:cs typeface="Cambria Math"/>
              </a:rPr>
              <a:t> </a:t>
            </a:r>
            <a:r>
              <a:rPr dirty="0" sz="2500">
                <a:latin typeface="Cambria Math"/>
                <a:cs typeface="Cambria Math"/>
              </a:rPr>
              <a:t>𝐖	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99954" y="2050795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0"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0495" y="1800860"/>
            <a:ext cx="795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650" algn="l"/>
              </a:tabLst>
            </a:pPr>
            <a:r>
              <a:rPr dirty="0" sz="1800" spc="10">
                <a:latin typeface="Cambria Math"/>
                <a:cs typeface="Cambria Math"/>
              </a:rPr>
              <a:t>(</a:t>
            </a:r>
            <a:r>
              <a:rPr dirty="0" sz="1800" spc="-420">
                <a:latin typeface="Cambria Math"/>
                <a:cs typeface="Cambria Math"/>
              </a:rPr>
              <a:t>#</a:t>
            </a:r>
            <a:r>
              <a:rPr dirty="0" sz="1800">
                <a:latin typeface="Cambria Math"/>
                <a:cs typeface="Cambria Math"/>
              </a:rPr>
              <a:t>)	</a:t>
            </a:r>
            <a:r>
              <a:rPr dirty="0" sz="1800" spc="10">
                <a:latin typeface="Cambria Math"/>
                <a:cs typeface="Cambria Math"/>
              </a:rPr>
              <a:t>(</a:t>
            </a:r>
            <a:r>
              <a:rPr dirty="0" sz="1800" spc="-420">
                <a:latin typeface="Cambria Math"/>
                <a:cs typeface="Cambria Math"/>
              </a:rPr>
              <a:t>#</a:t>
            </a:r>
            <a:r>
              <a:rPr dirty="0" sz="180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4723" y="2580639"/>
            <a:ext cx="624967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500" spc="-5" b="1">
                <a:solidFill>
                  <a:srgbClr val="C64847"/>
                </a:solidFill>
                <a:latin typeface="Calibri"/>
                <a:cs typeface="Calibri"/>
              </a:rPr>
              <a:t>How </a:t>
            </a:r>
            <a:r>
              <a:rPr dirty="0" sz="2500" spc="-15" b="1">
                <a:solidFill>
                  <a:srgbClr val="C64847"/>
                </a:solidFill>
                <a:latin typeface="Calibri"/>
                <a:cs typeface="Calibri"/>
              </a:rPr>
              <a:t>to </a:t>
            </a:r>
            <a:r>
              <a:rPr dirty="0" sz="2500" spc="-10" b="1">
                <a:solidFill>
                  <a:srgbClr val="C64847"/>
                </a:solidFill>
                <a:latin typeface="Calibri"/>
                <a:cs typeface="Calibri"/>
              </a:rPr>
              <a:t>write </a:t>
            </a:r>
            <a:r>
              <a:rPr dirty="0" sz="2500" spc="-5" b="1">
                <a:solidFill>
                  <a:srgbClr val="C64847"/>
                </a:solidFill>
                <a:latin typeface="Calibri"/>
                <a:cs typeface="Calibri"/>
              </a:rPr>
              <a:t>this </a:t>
            </a:r>
            <a:r>
              <a:rPr dirty="0" sz="2500" b="1">
                <a:solidFill>
                  <a:srgbClr val="C64847"/>
                </a:solidFill>
                <a:latin typeface="Calibri"/>
                <a:cs typeface="Calibri"/>
              </a:rPr>
              <a:t>as </a:t>
            </a:r>
            <a:r>
              <a:rPr dirty="0" sz="2500" spc="-5" b="1">
                <a:solidFill>
                  <a:srgbClr val="C64847"/>
                </a:solidFill>
                <a:latin typeface="Calibri"/>
                <a:cs typeface="Calibri"/>
              </a:rPr>
              <a:t>Message </a:t>
            </a:r>
            <a:r>
              <a:rPr dirty="0" sz="2500" b="1">
                <a:solidFill>
                  <a:srgbClr val="C64847"/>
                </a:solidFill>
                <a:latin typeface="Calibri"/>
                <a:cs typeface="Calibri"/>
              </a:rPr>
              <a:t>+</a:t>
            </a:r>
            <a:r>
              <a:rPr dirty="0" sz="2500" spc="-10" b="1">
                <a:solidFill>
                  <a:srgbClr val="C64847"/>
                </a:solidFill>
                <a:latin typeface="Calibri"/>
                <a:cs typeface="Calibri"/>
              </a:rPr>
              <a:t> Aggregation?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4723" y="2885439"/>
            <a:ext cx="4424680" cy="740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2995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500" spc="-5" b="1">
                <a:solidFill>
                  <a:srgbClr val="C64847"/>
                </a:solidFill>
                <a:latin typeface="Calibri"/>
                <a:cs typeface="Calibri"/>
              </a:rPr>
              <a:t>Message:</a:t>
            </a:r>
            <a:endParaRPr sz="2500">
              <a:latin typeface="Calibri"/>
              <a:cs typeface="Calibri"/>
            </a:endParaRPr>
          </a:p>
          <a:p>
            <a:pPr lvl="1" marL="625475" indent="-274320">
              <a:lnSpc>
                <a:spcPts val="2635"/>
              </a:lnSpc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200" spc="-15">
                <a:latin typeface="Calibri"/>
                <a:cs typeface="Calibri"/>
              </a:rPr>
              <a:t>Each </a:t>
            </a:r>
            <a:r>
              <a:rPr dirty="0" sz="2200" spc="-5">
                <a:latin typeface="Calibri"/>
                <a:cs typeface="Calibri"/>
              </a:rPr>
              <a:t>neighbor </a:t>
            </a:r>
            <a:r>
              <a:rPr dirty="0" sz="2200">
                <a:latin typeface="Calibri"/>
                <a:cs typeface="Calibri"/>
              </a:rPr>
              <a:t>of a </a:t>
            </a:r>
            <a:r>
              <a:rPr dirty="0" sz="2200" spc="-10">
                <a:latin typeface="Calibri"/>
                <a:cs typeface="Calibri"/>
              </a:rPr>
              <a:t>given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55">
                <a:latin typeface="Calibri"/>
                <a:cs typeface="Calibri"/>
              </a:rPr>
              <a:t>relation: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58102" y="3923284"/>
            <a:ext cx="3098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00">
                <a:latin typeface="Cambria Math"/>
                <a:cs typeface="Cambria Math"/>
              </a:rPr>
              <a:t>!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145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05689" y="3624579"/>
            <a:ext cx="8667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303" sz="3300" spc="-307">
                <a:latin typeface="Cambria Math"/>
                <a:cs typeface="Cambria Math"/>
              </a:rPr>
              <a:t>𝐦</a:t>
            </a:r>
            <a:r>
              <a:rPr dirty="0" sz="1600" spc="-204">
                <a:latin typeface="Cambria Math"/>
                <a:cs typeface="Cambria Math"/>
              </a:rPr>
              <a:t>(%)   </a:t>
            </a:r>
            <a:r>
              <a:rPr dirty="0" sz="1600" spc="-135">
                <a:latin typeface="Cambria Math"/>
                <a:cs typeface="Cambria Math"/>
              </a:rPr>
              <a:t> </a:t>
            </a:r>
            <a:r>
              <a:rPr dirty="0" baseline="-30303" sz="3300">
                <a:latin typeface="Cambria Math"/>
                <a:cs typeface="Cambria Math"/>
              </a:rPr>
              <a:t>=</a:t>
            </a:r>
            <a:endParaRPr baseline="-30303" sz="33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38377" y="3983990"/>
            <a:ext cx="406400" cy="0"/>
          </a:xfrm>
          <a:custGeom>
            <a:avLst/>
            <a:gdLst/>
            <a:ahLst/>
            <a:cxnLst/>
            <a:rect l="l" t="t" r="r" b="b"/>
            <a:pathLst>
              <a:path w="406400" h="0">
                <a:moveTo>
                  <a:pt x="0" y="0"/>
                </a:moveTo>
                <a:lnTo>
                  <a:pt x="4064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251915" y="3563620"/>
            <a:ext cx="18034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23835" y="4017771"/>
            <a:ext cx="4171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363" sz="3300" spc="-82">
                <a:latin typeface="Cambria Math"/>
                <a:cs typeface="Cambria Math"/>
              </a:rPr>
              <a:t>𝑐</a:t>
            </a:r>
            <a:r>
              <a:rPr dirty="0" sz="1600" spc="565">
                <a:latin typeface="Cambria Math"/>
                <a:cs typeface="Cambria Math"/>
              </a:rPr>
              <a:t>'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145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893536" y="3773752"/>
            <a:ext cx="212090" cy="188595"/>
          </a:xfrm>
          <a:custGeom>
            <a:avLst/>
            <a:gdLst/>
            <a:ahLst/>
            <a:cxnLst/>
            <a:rect l="l" t="t" r="r" b="b"/>
            <a:pathLst>
              <a:path w="212089" h="188595">
                <a:moveTo>
                  <a:pt x="151657" y="0"/>
                </a:moveTo>
                <a:lnTo>
                  <a:pt x="148978" y="7640"/>
                </a:lnTo>
                <a:lnTo>
                  <a:pt x="159873" y="12368"/>
                </a:lnTo>
                <a:lnTo>
                  <a:pt x="169243" y="18913"/>
                </a:lnTo>
                <a:lnTo>
                  <a:pt x="191741" y="62471"/>
                </a:lnTo>
                <a:lnTo>
                  <a:pt x="194519" y="93167"/>
                </a:lnTo>
                <a:lnTo>
                  <a:pt x="193821" y="109767"/>
                </a:lnTo>
                <a:lnTo>
                  <a:pt x="183357" y="150416"/>
                </a:lnTo>
                <a:lnTo>
                  <a:pt x="149275" y="180578"/>
                </a:lnTo>
                <a:lnTo>
                  <a:pt x="151657" y="188219"/>
                </a:lnTo>
                <a:lnTo>
                  <a:pt x="187617" y="166852"/>
                </a:lnTo>
                <a:lnTo>
                  <a:pt x="207815" y="127409"/>
                </a:lnTo>
                <a:lnTo>
                  <a:pt x="211684" y="94159"/>
                </a:lnTo>
                <a:lnTo>
                  <a:pt x="210714" y="76904"/>
                </a:lnTo>
                <a:lnTo>
                  <a:pt x="196156" y="32990"/>
                </a:lnTo>
                <a:lnTo>
                  <a:pt x="165303" y="4927"/>
                </a:lnTo>
                <a:lnTo>
                  <a:pt x="151657" y="0"/>
                </a:lnTo>
                <a:close/>
              </a:path>
              <a:path w="212089" h="188595">
                <a:moveTo>
                  <a:pt x="60026" y="0"/>
                </a:moveTo>
                <a:lnTo>
                  <a:pt x="24131" y="21422"/>
                </a:lnTo>
                <a:lnTo>
                  <a:pt x="3881" y="60957"/>
                </a:lnTo>
                <a:lnTo>
                  <a:pt x="0" y="94159"/>
                </a:lnTo>
                <a:lnTo>
                  <a:pt x="967" y="111450"/>
                </a:lnTo>
                <a:lnTo>
                  <a:pt x="15477" y="155327"/>
                </a:lnTo>
                <a:lnTo>
                  <a:pt x="46340" y="183297"/>
                </a:lnTo>
                <a:lnTo>
                  <a:pt x="60026" y="188219"/>
                </a:lnTo>
                <a:lnTo>
                  <a:pt x="62407" y="180578"/>
                </a:lnTo>
                <a:lnTo>
                  <a:pt x="51683" y="175828"/>
                </a:lnTo>
                <a:lnTo>
                  <a:pt x="42428" y="169217"/>
                </a:lnTo>
                <a:lnTo>
                  <a:pt x="19954" y="124842"/>
                </a:lnTo>
                <a:lnTo>
                  <a:pt x="17164" y="93167"/>
                </a:lnTo>
                <a:lnTo>
                  <a:pt x="17861" y="77109"/>
                </a:lnTo>
                <a:lnTo>
                  <a:pt x="28326" y="37456"/>
                </a:lnTo>
                <a:lnTo>
                  <a:pt x="62706" y="7640"/>
                </a:lnTo>
                <a:lnTo>
                  <a:pt x="60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947621" y="3709923"/>
            <a:ext cx="971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860">
                <a:latin typeface="Cambria Math"/>
                <a:cs typeface="Cambria Math"/>
              </a:rPr>
              <a:t>%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80591" y="3773932"/>
            <a:ext cx="7385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4355" algn="l"/>
              </a:tabLst>
            </a:pPr>
            <a:r>
              <a:rPr dirty="0" sz="2200">
                <a:latin typeface="Cambria Math"/>
                <a:cs typeface="Cambria Math"/>
              </a:rPr>
              <a:t>𝐖	𝐡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27479" y="3700779"/>
            <a:ext cx="739140" cy="492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8790">
              <a:lnSpc>
                <a:spcPts val="1835"/>
              </a:lnSpc>
              <a:spcBef>
                <a:spcPts val="100"/>
              </a:spcBef>
            </a:pPr>
            <a:r>
              <a:rPr dirty="0" sz="1600" spc="-5">
                <a:latin typeface="Cambria Math"/>
                <a:cs typeface="Cambria Math"/>
              </a:rPr>
              <a:t>(</a:t>
            </a:r>
            <a:r>
              <a:rPr dirty="0" sz="1600" spc="-810">
                <a:latin typeface="Cambria Math"/>
                <a:cs typeface="Cambria Math"/>
              </a:rPr>
              <a:t>%</a:t>
            </a:r>
            <a:r>
              <a:rPr dirty="0" sz="160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  <a:p>
            <a:pPr marL="12700">
              <a:lnSpc>
                <a:spcPts val="1835"/>
              </a:lnSpc>
              <a:tabLst>
                <a:tab pos="478790" algn="l"/>
              </a:tabLst>
            </a:pPr>
            <a:r>
              <a:rPr dirty="0" baseline="1736" sz="2400" spc="-217">
                <a:solidFill>
                  <a:srgbClr val="0000FF"/>
                </a:solidFill>
                <a:latin typeface="Cambria Math"/>
                <a:cs typeface="Cambria Math"/>
              </a:rPr>
              <a:t>#	</a:t>
            </a:r>
            <a:r>
              <a:rPr dirty="0" sz="1600" spc="575">
                <a:latin typeface="Cambria Math"/>
                <a:cs typeface="Cambria Math"/>
              </a:rPr>
              <a:t>!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3177" y="4319523"/>
            <a:ext cx="137541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200" spc="-55">
                <a:latin typeface="Calibri"/>
                <a:cs typeface="Calibri"/>
              </a:rPr>
              <a:t>Self-loop: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43028" y="4713552"/>
            <a:ext cx="212090" cy="188595"/>
          </a:xfrm>
          <a:custGeom>
            <a:avLst/>
            <a:gdLst/>
            <a:ahLst/>
            <a:cxnLst/>
            <a:rect l="l" t="t" r="r" b="b"/>
            <a:pathLst>
              <a:path w="212089" h="188595">
                <a:moveTo>
                  <a:pt x="151657" y="0"/>
                </a:moveTo>
                <a:lnTo>
                  <a:pt x="148978" y="7640"/>
                </a:lnTo>
                <a:lnTo>
                  <a:pt x="159873" y="12368"/>
                </a:lnTo>
                <a:lnTo>
                  <a:pt x="169243" y="18913"/>
                </a:lnTo>
                <a:lnTo>
                  <a:pt x="191741" y="62470"/>
                </a:lnTo>
                <a:lnTo>
                  <a:pt x="194519" y="93167"/>
                </a:lnTo>
                <a:lnTo>
                  <a:pt x="193821" y="109767"/>
                </a:lnTo>
                <a:lnTo>
                  <a:pt x="183357" y="150416"/>
                </a:lnTo>
                <a:lnTo>
                  <a:pt x="149275" y="180578"/>
                </a:lnTo>
                <a:lnTo>
                  <a:pt x="151657" y="188217"/>
                </a:lnTo>
                <a:lnTo>
                  <a:pt x="187617" y="166852"/>
                </a:lnTo>
                <a:lnTo>
                  <a:pt x="207815" y="127409"/>
                </a:lnTo>
                <a:lnTo>
                  <a:pt x="211684" y="94159"/>
                </a:lnTo>
                <a:lnTo>
                  <a:pt x="210714" y="76904"/>
                </a:lnTo>
                <a:lnTo>
                  <a:pt x="196156" y="32990"/>
                </a:lnTo>
                <a:lnTo>
                  <a:pt x="165303" y="4927"/>
                </a:lnTo>
                <a:lnTo>
                  <a:pt x="151657" y="0"/>
                </a:lnTo>
                <a:close/>
              </a:path>
              <a:path w="212089" h="188595">
                <a:moveTo>
                  <a:pt x="60026" y="0"/>
                </a:moveTo>
                <a:lnTo>
                  <a:pt x="24131" y="21422"/>
                </a:lnTo>
                <a:lnTo>
                  <a:pt x="3881" y="60957"/>
                </a:lnTo>
                <a:lnTo>
                  <a:pt x="0" y="94159"/>
                </a:lnTo>
                <a:lnTo>
                  <a:pt x="967" y="111450"/>
                </a:lnTo>
                <a:lnTo>
                  <a:pt x="15477" y="155327"/>
                </a:lnTo>
                <a:lnTo>
                  <a:pt x="46340" y="183297"/>
                </a:lnTo>
                <a:lnTo>
                  <a:pt x="60026" y="188217"/>
                </a:lnTo>
                <a:lnTo>
                  <a:pt x="62407" y="180578"/>
                </a:lnTo>
                <a:lnTo>
                  <a:pt x="51683" y="175828"/>
                </a:lnTo>
                <a:lnTo>
                  <a:pt x="42428" y="169217"/>
                </a:lnTo>
                <a:lnTo>
                  <a:pt x="19954" y="124842"/>
                </a:lnTo>
                <a:lnTo>
                  <a:pt x="17164" y="93167"/>
                </a:lnTo>
                <a:lnTo>
                  <a:pt x="17861" y="77108"/>
                </a:lnTo>
                <a:lnTo>
                  <a:pt x="28326" y="37454"/>
                </a:lnTo>
                <a:lnTo>
                  <a:pt x="62704" y="7640"/>
                </a:lnTo>
                <a:lnTo>
                  <a:pt x="60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456197" y="4572508"/>
            <a:ext cx="1859914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495"/>
              </a:lnSpc>
              <a:spcBef>
                <a:spcPts val="100"/>
              </a:spcBef>
            </a:pPr>
            <a:r>
              <a:rPr dirty="0" baseline="-27777" sz="3300" spc="-307">
                <a:latin typeface="Cambria Math"/>
                <a:cs typeface="Cambria Math"/>
              </a:rPr>
              <a:t>𝐦</a:t>
            </a:r>
            <a:r>
              <a:rPr dirty="0" baseline="1736" sz="2400" spc="-307">
                <a:latin typeface="Cambria Math"/>
                <a:cs typeface="Cambria Math"/>
              </a:rPr>
              <a:t>(%)    </a:t>
            </a:r>
            <a:r>
              <a:rPr dirty="0" baseline="-27777" sz="3300">
                <a:latin typeface="Cambria Math"/>
                <a:cs typeface="Cambria Math"/>
              </a:rPr>
              <a:t>= 𝐖  </a:t>
            </a:r>
            <a:r>
              <a:rPr dirty="0" sz="1600" spc="-860">
                <a:latin typeface="Cambria Math"/>
                <a:cs typeface="Cambria Math"/>
              </a:rPr>
              <a:t>%</a:t>
            </a:r>
            <a:r>
              <a:rPr dirty="0" sz="1600" spc="-40">
                <a:latin typeface="Cambria Math"/>
                <a:cs typeface="Cambria Math"/>
              </a:rPr>
              <a:t> </a:t>
            </a:r>
            <a:r>
              <a:rPr dirty="0" baseline="-27777" sz="3300" spc="-307">
                <a:latin typeface="Cambria Math"/>
                <a:cs typeface="Cambria Math"/>
              </a:rPr>
              <a:t>𝐡</a:t>
            </a:r>
            <a:r>
              <a:rPr dirty="0" baseline="1736" sz="2400" spc="-307">
                <a:latin typeface="Cambria Math"/>
                <a:cs typeface="Cambria Math"/>
              </a:rPr>
              <a:t>(%)</a:t>
            </a:r>
            <a:endParaRPr baseline="1736" sz="2400">
              <a:latin typeface="Cambria Math"/>
              <a:cs typeface="Cambria Math"/>
            </a:endParaRPr>
          </a:p>
          <a:p>
            <a:pPr algn="ctr" marL="120014">
              <a:lnSpc>
                <a:spcPts val="1775"/>
              </a:lnSpc>
              <a:tabLst>
                <a:tab pos="988694" algn="l"/>
                <a:tab pos="1454785" algn="l"/>
              </a:tabLst>
            </a:pPr>
            <a:r>
              <a:rPr dirty="0" baseline="1736" sz="2400" spc="787">
                <a:latin typeface="Cambria Math"/>
                <a:cs typeface="Cambria Math"/>
              </a:rPr>
              <a:t>'	</a:t>
            </a:r>
            <a:r>
              <a:rPr dirty="0" sz="1600" spc="254">
                <a:latin typeface="Cambria Math"/>
                <a:cs typeface="Cambria Math"/>
              </a:rPr>
              <a:t>(	</a:t>
            </a:r>
            <a:r>
              <a:rPr dirty="0" baseline="1736" sz="2400" spc="787">
                <a:latin typeface="Cambria Math"/>
                <a:cs typeface="Cambria Math"/>
              </a:rPr>
              <a:t>'</a:t>
            </a:r>
            <a:endParaRPr baseline="1736"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4723" y="4994655"/>
            <a:ext cx="20275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500" spc="-10" b="1">
                <a:solidFill>
                  <a:srgbClr val="C64847"/>
                </a:solidFill>
                <a:latin typeface="Calibri"/>
                <a:cs typeface="Calibri"/>
              </a:rPr>
              <a:t>Aggregation: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3177" y="5374132"/>
            <a:ext cx="83724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200" spc="-5">
                <a:latin typeface="Calibri"/>
                <a:cs typeface="Calibri"/>
              </a:rPr>
              <a:t>Sum </a:t>
            </a:r>
            <a:r>
              <a:rPr dirty="0" sz="2200" spc="-10">
                <a:latin typeface="Calibri"/>
                <a:cs typeface="Calibri"/>
              </a:rPr>
              <a:t>over </a:t>
            </a:r>
            <a:r>
              <a:rPr dirty="0" sz="2200" spc="-5">
                <a:latin typeface="Calibri"/>
                <a:cs typeface="Calibri"/>
              </a:rPr>
              <a:t>messages </a:t>
            </a:r>
            <a:r>
              <a:rPr dirty="0" sz="2200" spc="-15">
                <a:latin typeface="Calibri"/>
                <a:cs typeface="Calibri"/>
              </a:rPr>
              <a:t>from </a:t>
            </a:r>
            <a:r>
              <a:rPr dirty="0" sz="2200" spc="-10">
                <a:latin typeface="Calibri"/>
                <a:cs typeface="Calibri"/>
              </a:rPr>
              <a:t>neighbors </a:t>
            </a:r>
            <a:r>
              <a:rPr dirty="0" sz="2200" spc="-5">
                <a:latin typeface="Calibri"/>
                <a:cs typeface="Calibri"/>
              </a:rPr>
              <a:t>and </a:t>
            </a:r>
            <a:r>
              <a:rPr dirty="0" sz="2200" spc="-10">
                <a:latin typeface="Calibri"/>
                <a:cs typeface="Calibri"/>
              </a:rPr>
              <a:t>self-loop, </a:t>
            </a:r>
            <a:r>
              <a:rPr dirty="0" sz="2200" spc="-5">
                <a:latin typeface="Calibri"/>
                <a:cs typeface="Calibri"/>
              </a:rPr>
              <a:t>then </a:t>
            </a:r>
            <a:r>
              <a:rPr dirty="0" sz="2200" spc="-10">
                <a:latin typeface="Calibri"/>
                <a:cs typeface="Calibri"/>
              </a:rPr>
              <a:t>apply</a:t>
            </a:r>
            <a:r>
              <a:rPr dirty="0" sz="2200" spc="150">
                <a:latin typeface="Calibri"/>
                <a:cs typeface="Calibri"/>
              </a:rPr>
              <a:t> </a:t>
            </a:r>
            <a:r>
              <a:rPr dirty="0" sz="2200" spc="-45">
                <a:latin typeface="Calibri"/>
                <a:cs typeface="Calibri"/>
              </a:rPr>
              <a:t>activation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78947" y="6102603"/>
            <a:ext cx="1403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25">
                <a:latin typeface="Cambria Math"/>
                <a:cs typeface="Cambria Math"/>
              </a:rPr>
              <a:t>'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09507" y="5958153"/>
            <a:ext cx="476884" cy="188595"/>
          </a:xfrm>
          <a:custGeom>
            <a:avLst/>
            <a:gdLst/>
            <a:ahLst/>
            <a:cxnLst/>
            <a:rect l="l" t="t" r="r" b="b"/>
            <a:pathLst>
              <a:path w="476884" h="188595">
                <a:moveTo>
                  <a:pt x="416769" y="0"/>
                </a:moveTo>
                <a:lnTo>
                  <a:pt x="414091" y="7639"/>
                </a:lnTo>
                <a:lnTo>
                  <a:pt x="424987" y="12368"/>
                </a:lnTo>
                <a:lnTo>
                  <a:pt x="434356" y="18913"/>
                </a:lnTo>
                <a:lnTo>
                  <a:pt x="456854" y="62470"/>
                </a:lnTo>
                <a:lnTo>
                  <a:pt x="459632" y="93166"/>
                </a:lnTo>
                <a:lnTo>
                  <a:pt x="458934" y="109766"/>
                </a:lnTo>
                <a:lnTo>
                  <a:pt x="448470" y="150415"/>
                </a:lnTo>
                <a:lnTo>
                  <a:pt x="414388" y="180578"/>
                </a:lnTo>
                <a:lnTo>
                  <a:pt x="416769" y="188217"/>
                </a:lnTo>
                <a:lnTo>
                  <a:pt x="452730" y="166851"/>
                </a:lnTo>
                <a:lnTo>
                  <a:pt x="472927" y="127409"/>
                </a:lnTo>
                <a:lnTo>
                  <a:pt x="476797" y="94158"/>
                </a:lnTo>
                <a:lnTo>
                  <a:pt x="475827" y="76903"/>
                </a:lnTo>
                <a:lnTo>
                  <a:pt x="461269" y="32990"/>
                </a:lnTo>
                <a:lnTo>
                  <a:pt x="430415" y="4926"/>
                </a:lnTo>
                <a:lnTo>
                  <a:pt x="416769" y="0"/>
                </a:lnTo>
                <a:close/>
              </a:path>
              <a:path w="476884" h="188595">
                <a:moveTo>
                  <a:pt x="60027" y="0"/>
                </a:moveTo>
                <a:lnTo>
                  <a:pt x="24131" y="21421"/>
                </a:lnTo>
                <a:lnTo>
                  <a:pt x="3881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8" y="155326"/>
                </a:lnTo>
                <a:lnTo>
                  <a:pt x="46341" y="183297"/>
                </a:lnTo>
                <a:lnTo>
                  <a:pt x="60027" y="188217"/>
                </a:lnTo>
                <a:lnTo>
                  <a:pt x="62408" y="180578"/>
                </a:lnTo>
                <a:lnTo>
                  <a:pt x="51683" y="175827"/>
                </a:lnTo>
                <a:lnTo>
                  <a:pt x="42428" y="169217"/>
                </a:lnTo>
                <a:lnTo>
                  <a:pt x="19955" y="124841"/>
                </a:lnTo>
                <a:lnTo>
                  <a:pt x="17164" y="93166"/>
                </a:lnTo>
                <a:lnTo>
                  <a:pt x="17862" y="77108"/>
                </a:lnTo>
                <a:lnTo>
                  <a:pt x="28326" y="37454"/>
                </a:lnTo>
                <a:lnTo>
                  <a:pt x="62706" y="7639"/>
                </a:lnTo>
                <a:lnTo>
                  <a:pt x="60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219300" y="5895141"/>
            <a:ext cx="3978910" cy="552450"/>
          </a:xfrm>
          <a:custGeom>
            <a:avLst/>
            <a:gdLst/>
            <a:ahLst/>
            <a:cxnLst/>
            <a:rect l="l" t="t" r="r" b="b"/>
            <a:pathLst>
              <a:path w="3978910" h="552450">
                <a:moveTo>
                  <a:pt x="3880481" y="0"/>
                </a:moveTo>
                <a:lnTo>
                  <a:pt x="3872567" y="9140"/>
                </a:lnTo>
                <a:lnTo>
                  <a:pt x="3889075" y="27319"/>
                </a:lnTo>
                <a:lnTo>
                  <a:pt x="3904082" y="49931"/>
                </a:lnTo>
                <a:lnTo>
                  <a:pt x="3929594" y="108458"/>
                </a:lnTo>
                <a:lnTo>
                  <a:pt x="3946476" y="184038"/>
                </a:lnTo>
                <a:lnTo>
                  <a:pt x="3950697" y="227967"/>
                </a:lnTo>
                <a:lnTo>
                  <a:pt x="3952104" y="275989"/>
                </a:lnTo>
                <a:lnTo>
                  <a:pt x="3950697" y="324011"/>
                </a:lnTo>
                <a:lnTo>
                  <a:pt x="3946476" y="367940"/>
                </a:lnTo>
                <a:lnTo>
                  <a:pt x="3939442" y="407776"/>
                </a:lnTo>
                <a:lnTo>
                  <a:pt x="3917588" y="475000"/>
                </a:lnTo>
                <a:lnTo>
                  <a:pt x="3889075" y="524659"/>
                </a:lnTo>
                <a:lnTo>
                  <a:pt x="3872567" y="542838"/>
                </a:lnTo>
                <a:lnTo>
                  <a:pt x="3880481" y="551978"/>
                </a:lnTo>
                <a:lnTo>
                  <a:pt x="3917384" y="511340"/>
                </a:lnTo>
                <a:lnTo>
                  <a:pt x="3949240" y="451091"/>
                </a:lnTo>
                <a:lnTo>
                  <a:pt x="3962072" y="413868"/>
                </a:lnTo>
                <a:lnTo>
                  <a:pt x="3971238" y="372254"/>
                </a:lnTo>
                <a:lnTo>
                  <a:pt x="3976737" y="326249"/>
                </a:lnTo>
                <a:lnTo>
                  <a:pt x="3978571" y="275853"/>
                </a:lnTo>
                <a:lnTo>
                  <a:pt x="3976737" y="225575"/>
                </a:lnTo>
                <a:lnTo>
                  <a:pt x="3971238" y="179655"/>
                </a:lnTo>
                <a:lnTo>
                  <a:pt x="3962072" y="138092"/>
                </a:lnTo>
                <a:lnTo>
                  <a:pt x="3949240" y="100886"/>
                </a:lnTo>
                <a:lnTo>
                  <a:pt x="3917384" y="40637"/>
                </a:lnTo>
                <a:lnTo>
                  <a:pt x="3899563" y="17867"/>
                </a:lnTo>
                <a:lnTo>
                  <a:pt x="3880481" y="0"/>
                </a:lnTo>
                <a:close/>
              </a:path>
              <a:path w="3978910" h="552450">
                <a:moveTo>
                  <a:pt x="98084" y="0"/>
                </a:moveTo>
                <a:lnTo>
                  <a:pt x="61182" y="40637"/>
                </a:lnTo>
                <a:lnTo>
                  <a:pt x="29326" y="100886"/>
                </a:lnTo>
                <a:lnTo>
                  <a:pt x="16494" y="138092"/>
                </a:lnTo>
                <a:lnTo>
                  <a:pt x="7328" y="179655"/>
                </a:lnTo>
                <a:lnTo>
                  <a:pt x="1828" y="225575"/>
                </a:lnTo>
                <a:lnTo>
                  <a:pt x="0" y="275989"/>
                </a:lnTo>
                <a:lnTo>
                  <a:pt x="1828" y="326249"/>
                </a:lnTo>
                <a:lnTo>
                  <a:pt x="7328" y="372254"/>
                </a:lnTo>
                <a:lnTo>
                  <a:pt x="16494" y="413868"/>
                </a:lnTo>
                <a:lnTo>
                  <a:pt x="29326" y="451091"/>
                </a:lnTo>
                <a:lnTo>
                  <a:pt x="61182" y="511340"/>
                </a:lnTo>
                <a:lnTo>
                  <a:pt x="98084" y="551978"/>
                </a:lnTo>
                <a:lnTo>
                  <a:pt x="105998" y="542838"/>
                </a:lnTo>
                <a:lnTo>
                  <a:pt x="89490" y="524659"/>
                </a:lnTo>
                <a:lnTo>
                  <a:pt x="74483" y="502046"/>
                </a:lnTo>
                <a:lnTo>
                  <a:pt x="48971" y="443520"/>
                </a:lnTo>
                <a:lnTo>
                  <a:pt x="32089" y="367940"/>
                </a:lnTo>
                <a:lnTo>
                  <a:pt x="27868" y="324011"/>
                </a:lnTo>
                <a:lnTo>
                  <a:pt x="26465" y="275853"/>
                </a:lnTo>
                <a:lnTo>
                  <a:pt x="27868" y="227967"/>
                </a:lnTo>
                <a:lnTo>
                  <a:pt x="32089" y="184038"/>
                </a:lnTo>
                <a:lnTo>
                  <a:pt x="39123" y="144202"/>
                </a:lnTo>
                <a:lnTo>
                  <a:pt x="60977" y="76978"/>
                </a:lnTo>
                <a:lnTo>
                  <a:pt x="89490" y="27319"/>
                </a:lnTo>
                <a:lnTo>
                  <a:pt x="105998" y="9140"/>
                </a:lnTo>
                <a:lnTo>
                  <a:pt x="98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928583" y="5940761"/>
            <a:ext cx="3130550" cy="461009"/>
          </a:xfrm>
          <a:custGeom>
            <a:avLst/>
            <a:gdLst/>
            <a:ahLst/>
            <a:cxnLst/>
            <a:rect l="l" t="t" r="r" b="b"/>
            <a:pathLst>
              <a:path w="3130550" h="461010">
                <a:moveTo>
                  <a:pt x="3030818" y="0"/>
                </a:moveTo>
                <a:lnTo>
                  <a:pt x="3026453" y="10914"/>
                </a:lnTo>
                <a:lnTo>
                  <a:pt x="3043629" y="24876"/>
                </a:lnTo>
                <a:lnTo>
                  <a:pt x="3058871" y="43025"/>
                </a:lnTo>
                <a:lnTo>
                  <a:pt x="3083547" y="91882"/>
                </a:lnTo>
                <a:lnTo>
                  <a:pt x="3099150" y="155167"/>
                </a:lnTo>
                <a:lnTo>
                  <a:pt x="3104352" y="230559"/>
                </a:lnTo>
                <a:lnTo>
                  <a:pt x="3103060" y="269151"/>
                </a:lnTo>
                <a:lnTo>
                  <a:pt x="3092725" y="338046"/>
                </a:lnTo>
                <a:lnTo>
                  <a:pt x="3072356" y="395140"/>
                </a:lnTo>
                <a:lnTo>
                  <a:pt x="3043741" y="435931"/>
                </a:lnTo>
                <a:lnTo>
                  <a:pt x="3026453" y="449932"/>
                </a:lnTo>
                <a:lnTo>
                  <a:pt x="3030818" y="460846"/>
                </a:lnTo>
                <a:lnTo>
                  <a:pt x="3071831" y="428035"/>
                </a:lnTo>
                <a:lnTo>
                  <a:pt x="3103464" y="375443"/>
                </a:lnTo>
                <a:lnTo>
                  <a:pt x="3123672" y="307912"/>
                </a:lnTo>
                <a:lnTo>
                  <a:pt x="3130409" y="230286"/>
                </a:lnTo>
                <a:lnTo>
                  <a:pt x="3128725" y="190007"/>
                </a:lnTo>
                <a:lnTo>
                  <a:pt x="3115252" y="117428"/>
                </a:lnTo>
                <a:lnTo>
                  <a:pt x="3088820" y="56582"/>
                </a:lnTo>
                <a:lnTo>
                  <a:pt x="3052497" y="14017"/>
                </a:lnTo>
                <a:lnTo>
                  <a:pt x="3030818" y="0"/>
                </a:lnTo>
                <a:close/>
              </a:path>
              <a:path w="3130550" h="461010">
                <a:moveTo>
                  <a:pt x="99454" y="0"/>
                </a:moveTo>
                <a:lnTo>
                  <a:pt x="58544" y="32878"/>
                </a:lnTo>
                <a:lnTo>
                  <a:pt x="26944" y="85129"/>
                </a:lnTo>
                <a:lnTo>
                  <a:pt x="6736" y="152387"/>
                </a:lnTo>
                <a:lnTo>
                  <a:pt x="0" y="230286"/>
                </a:lnTo>
                <a:lnTo>
                  <a:pt x="1684" y="270361"/>
                </a:lnTo>
                <a:lnTo>
                  <a:pt x="15156" y="342940"/>
                </a:lnTo>
                <a:lnTo>
                  <a:pt x="41580" y="404212"/>
                </a:lnTo>
                <a:lnTo>
                  <a:pt x="77835" y="446913"/>
                </a:lnTo>
                <a:lnTo>
                  <a:pt x="99454" y="460846"/>
                </a:lnTo>
                <a:lnTo>
                  <a:pt x="103957" y="449932"/>
                </a:lnTo>
                <a:lnTo>
                  <a:pt x="86614" y="435931"/>
                </a:lnTo>
                <a:lnTo>
                  <a:pt x="71283" y="417667"/>
                </a:lnTo>
                <a:lnTo>
                  <a:pt x="46658" y="368349"/>
                </a:lnTo>
                <a:lnTo>
                  <a:pt x="31208" y="304979"/>
                </a:lnTo>
                <a:lnTo>
                  <a:pt x="26057" y="230559"/>
                </a:lnTo>
                <a:lnTo>
                  <a:pt x="27358" y="191349"/>
                </a:lnTo>
                <a:lnTo>
                  <a:pt x="37760" y="122011"/>
                </a:lnTo>
                <a:lnTo>
                  <a:pt x="58233" y="65360"/>
                </a:lnTo>
                <a:lnTo>
                  <a:pt x="86779" y="24876"/>
                </a:lnTo>
                <a:lnTo>
                  <a:pt x="103957" y="10914"/>
                </a:lnTo>
                <a:lnTo>
                  <a:pt x="99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54775" y="5942208"/>
            <a:ext cx="2878455" cy="458470"/>
          </a:xfrm>
          <a:custGeom>
            <a:avLst/>
            <a:gdLst/>
            <a:ahLst/>
            <a:cxnLst/>
            <a:rect l="l" t="t" r="r" b="b"/>
            <a:pathLst>
              <a:path w="2878454" h="458470">
                <a:moveTo>
                  <a:pt x="2781287" y="0"/>
                </a:moveTo>
                <a:lnTo>
                  <a:pt x="2781287" y="10913"/>
                </a:lnTo>
                <a:lnTo>
                  <a:pt x="2788927" y="11459"/>
                </a:lnTo>
                <a:lnTo>
                  <a:pt x="2795816" y="13346"/>
                </a:lnTo>
                <a:lnTo>
                  <a:pt x="2823494" y="42445"/>
                </a:lnTo>
                <a:lnTo>
                  <a:pt x="2831001" y="83002"/>
                </a:lnTo>
                <a:lnTo>
                  <a:pt x="2831218" y="93451"/>
                </a:lnTo>
                <a:lnTo>
                  <a:pt x="2830988" y="101769"/>
                </a:lnTo>
                <a:lnTo>
                  <a:pt x="2830298" y="111579"/>
                </a:lnTo>
                <a:lnTo>
                  <a:pt x="2829147" y="122881"/>
                </a:lnTo>
                <a:lnTo>
                  <a:pt x="2827535" y="135675"/>
                </a:lnTo>
                <a:lnTo>
                  <a:pt x="2825923" y="148171"/>
                </a:lnTo>
                <a:lnTo>
                  <a:pt x="2824734" y="159046"/>
                </a:lnTo>
                <a:lnTo>
                  <a:pt x="2824082" y="166895"/>
                </a:lnTo>
                <a:lnTo>
                  <a:pt x="2823852" y="173124"/>
                </a:lnTo>
                <a:lnTo>
                  <a:pt x="2824475" y="184204"/>
                </a:lnTo>
                <a:lnTo>
                  <a:pt x="2840450" y="219759"/>
                </a:lnTo>
                <a:lnTo>
                  <a:pt x="2852092" y="227421"/>
                </a:lnTo>
                <a:lnTo>
                  <a:pt x="2852092" y="230150"/>
                </a:lnTo>
                <a:lnTo>
                  <a:pt x="2826342" y="263165"/>
                </a:lnTo>
                <a:lnTo>
                  <a:pt x="2823852" y="284174"/>
                </a:lnTo>
                <a:lnTo>
                  <a:pt x="2824082" y="289115"/>
                </a:lnTo>
                <a:lnTo>
                  <a:pt x="2824773" y="297118"/>
                </a:lnTo>
                <a:lnTo>
                  <a:pt x="2825923" y="308181"/>
                </a:lnTo>
                <a:lnTo>
                  <a:pt x="2829147" y="336609"/>
                </a:lnTo>
                <a:lnTo>
                  <a:pt x="2830298" y="348209"/>
                </a:lnTo>
                <a:lnTo>
                  <a:pt x="2830988" y="357107"/>
                </a:lnTo>
                <a:lnTo>
                  <a:pt x="2831218" y="363301"/>
                </a:lnTo>
                <a:lnTo>
                  <a:pt x="2831022" y="373823"/>
                </a:lnTo>
                <a:lnTo>
                  <a:pt x="2824057" y="414802"/>
                </a:lnTo>
                <a:lnTo>
                  <a:pt x="2796339" y="444452"/>
                </a:lnTo>
                <a:lnTo>
                  <a:pt x="2781287" y="446930"/>
                </a:lnTo>
                <a:lnTo>
                  <a:pt x="2781287" y="457844"/>
                </a:lnTo>
                <a:lnTo>
                  <a:pt x="2827100" y="442471"/>
                </a:lnTo>
                <a:lnTo>
                  <a:pt x="2850864" y="400205"/>
                </a:lnTo>
                <a:lnTo>
                  <a:pt x="2855366" y="358117"/>
                </a:lnTo>
                <a:lnTo>
                  <a:pt x="2855106" y="349394"/>
                </a:lnTo>
                <a:lnTo>
                  <a:pt x="2854326" y="338915"/>
                </a:lnTo>
                <a:lnTo>
                  <a:pt x="2853026" y="326680"/>
                </a:lnTo>
                <a:lnTo>
                  <a:pt x="2851205" y="312687"/>
                </a:lnTo>
                <a:lnTo>
                  <a:pt x="2849385" y="299207"/>
                </a:lnTo>
                <a:lnTo>
                  <a:pt x="2848084" y="288506"/>
                </a:lnTo>
                <a:lnTo>
                  <a:pt x="2847304" y="280585"/>
                </a:lnTo>
                <a:lnTo>
                  <a:pt x="2847044" y="275443"/>
                </a:lnTo>
                <a:lnTo>
                  <a:pt x="2847534" y="266588"/>
                </a:lnTo>
                <a:lnTo>
                  <a:pt x="2870838" y="235509"/>
                </a:lnTo>
                <a:lnTo>
                  <a:pt x="2878013" y="234652"/>
                </a:lnTo>
                <a:lnTo>
                  <a:pt x="2878013" y="222919"/>
                </a:lnTo>
                <a:lnTo>
                  <a:pt x="2847538" y="191021"/>
                </a:lnTo>
                <a:lnTo>
                  <a:pt x="2847044" y="181992"/>
                </a:lnTo>
                <a:lnTo>
                  <a:pt x="2847304" y="176714"/>
                </a:lnTo>
                <a:lnTo>
                  <a:pt x="2848084" y="169065"/>
                </a:lnTo>
                <a:lnTo>
                  <a:pt x="2849454" y="158577"/>
                </a:lnTo>
                <a:lnTo>
                  <a:pt x="2851205" y="146657"/>
                </a:lnTo>
                <a:lnTo>
                  <a:pt x="2853026" y="133637"/>
                </a:lnTo>
                <a:lnTo>
                  <a:pt x="2854326" y="121725"/>
                </a:lnTo>
                <a:lnTo>
                  <a:pt x="2855106" y="110922"/>
                </a:lnTo>
                <a:lnTo>
                  <a:pt x="2855366" y="101227"/>
                </a:lnTo>
                <a:lnTo>
                  <a:pt x="2854176" y="77447"/>
                </a:lnTo>
                <a:lnTo>
                  <a:pt x="2844661" y="39861"/>
                </a:lnTo>
                <a:lnTo>
                  <a:pt x="2813057" y="7401"/>
                </a:lnTo>
                <a:lnTo>
                  <a:pt x="2798233" y="2293"/>
                </a:lnTo>
                <a:lnTo>
                  <a:pt x="2781287" y="0"/>
                </a:lnTo>
                <a:close/>
              </a:path>
              <a:path w="2878454" h="458470">
                <a:moveTo>
                  <a:pt x="96725" y="0"/>
                </a:moveTo>
                <a:lnTo>
                  <a:pt x="52165" y="15322"/>
                </a:lnTo>
                <a:lnTo>
                  <a:pt x="27387" y="56991"/>
                </a:lnTo>
                <a:lnTo>
                  <a:pt x="22646" y="101227"/>
                </a:lnTo>
                <a:lnTo>
                  <a:pt x="22906" y="110922"/>
                </a:lnTo>
                <a:lnTo>
                  <a:pt x="23686" y="121725"/>
                </a:lnTo>
                <a:lnTo>
                  <a:pt x="24986" y="133637"/>
                </a:lnTo>
                <a:lnTo>
                  <a:pt x="26807" y="146657"/>
                </a:lnTo>
                <a:lnTo>
                  <a:pt x="28628" y="159046"/>
                </a:lnTo>
                <a:lnTo>
                  <a:pt x="29928" y="169065"/>
                </a:lnTo>
                <a:lnTo>
                  <a:pt x="30708" y="176714"/>
                </a:lnTo>
                <a:lnTo>
                  <a:pt x="30968" y="181992"/>
                </a:lnTo>
                <a:lnTo>
                  <a:pt x="30474" y="191021"/>
                </a:lnTo>
                <a:lnTo>
                  <a:pt x="7119" y="222126"/>
                </a:lnTo>
                <a:lnTo>
                  <a:pt x="0" y="222919"/>
                </a:lnTo>
                <a:lnTo>
                  <a:pt x="0" y="234652"/>
                </a:lnTo>
                <a:lnTo>
                  <a:pt x="30478" y="266588"/>
                </a:lnTo>
                <a:lnTo>
                  <a:pt x="30968" y="275443"/>
                </a:lnTo>
                <a:lnTo>
                  <a:pt x="30708" y="280585"/>
                </a:lnTo>
                <a:lnTo>
                  <a:pt x="29928" y="288506"/>
                </a:lnTo>
                <a:lnTo>
                  <a:pt x="28628" y="299207"/>
                </a:lnTo>
                <a:lnTo>
                  <a:pt x="26807" y="312687"/>
                </a:lnTo>
                <a:lnTo>
                  <a:pt x="24986" y="326680"/>
                </a:lnTo>
                <a:lnTo>
                  <a:pt x="23686" y="338915"/>
                </a:lnTo>
                <a:lnTo>
                  <a:pt x="22906" y="349394"/>
                </a:lnTo>
                <a:lnTo>
                  <a:pt x="22646" y="358117"/>
                </a:lnTo>
                <a:lnTo>
                  <a:pt x="23767" y="380542"/>
                </a:lnTo>
                <a:lnTo>
                  <a:pt x="40586" y="431241"/>
                </a:lnTo>
                <a:lnTo>
                  <a:pt x="78892" y="455772"/>
                </a:lnTo>
                <a:lnTo>
                  <a:pt x="96725" y="457844"/>
                </a:lnTo>
                <a:lnTo>
                  <a:pt x="96725" y="446930"/>
                </a:lnTo>
                <a:lnTo>
                  <a:pt x="88722" y="446385"/>
                </a:lnTo>
                <a:lnTo>
                  <a:pt x="81673" y="444452"/>
                </a:lnTo>
                <a:lnTo>
                  <a:pt x="53922" y="414802"/>
                </a:lnTo>
                <a:lnTo>
                  <a:pt x="46990" y="373823"/>
                </a:lnTo>
                <a:lnTo>
                  <a:pt x="46794" y="363301"/>
                </a:lnTo>
                <a:lnTo>
                  <a:pt x="47024" y="357107"/>
                </a:lnTo>
                <a:lnTo>
                  <a:pt x="47715" y="348209"/>
                </a:lnTo>
                <a:lnTo>
                  <a:pt x="48866" y="336609"/>
                </a:lnTo>
                <a:lnTo>
                  <a:pt x="52089" y="308181"/>
                </a:lnTo>
                <a:lnTo>
                  <a:pt x="53240" y="297118"/>
                </a:lnTo>
                <a:lnTo>
                  <a:pt x="53931" y="289115"/>
                </a:lnTo>
                <a:lnTo>
                  <a:pt x="54161" y="284174"/>
                </a:lnTo>
                <a:lnTo>
                  <a:pt x="53534" y="273056"/>
                </a:lnTo>
                <a:lnTo>
                  <a:pt x="37448" y="237971"/>
                </a:lnTo>
                <a:lnTo>
                  <a:pt x="25920" y="230150"/>
                </a:lnTo>
                <a:lnTo>
                  <a:pt x="25920" y="227421"/>
                </a:lnTo>
                <a:lnTo>
                  <a:pt x="51654" y="194116"/>
                </a:lnTo>
                <a:lnTo>
                  <a:pt x="54161" y="173124"/>
                </a:lnTo>
                <a:lnTo>
                  <a:pt x="53931" y="166895"/>
                </a:lnTo>
                <a:lnTo>
                  <a:pt x="53240" y="158577"/>
                </a:lnTo>
                <a:lnTo>
                  <a:pt x="52089" y="148171"/>
                </a:lnTo>
                <a:lnTo>
                  <a:pt x="50477" y="135675"/>
                </a:lnTo>
                <a:lnTo>
                  <a:pt x="48866" y="122881"/>
                </a:lnTo>
                <a:lnTo>
                  <a:pt x="47715" y="111579"/>
                </a:lnTo>
                <a:lnTo>
                  <a:pt x="47024" y="101769"/>
                </a:lnTo>
                <a:lnTo>
                  <a:pt x="46794" y="93451"/>
                </a:lnTo>
                <a:lnTo>
                  <a:pt x="47011" y="83002"/>
                </a:lnTo>
                <a:lnTo>
                  <a:pt x="54502" y="42445"/>
                </a:lnTo>
                <a:lnTo>
                  <a:pt x="82174" y="13346"/>
                </a:lnTo>
                <a:lnTo>
                  <a:pt x="96725" y="10913"/>
                </a:lnTo>
                <a:lnTo>
                  <a:pt x="96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399682" y="6102603"/>
            <a:ext cx="3098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00">
                <a:latin typeface="Cambria Math"/>
                <a:cs typeface="Cambria Math"/>
              </a:rPr>
              <a:t>!</a:t>
            </a:r>
            <a:r>
              <a:rPr dirty="0" sz="1600" spc="-5">
                <a:latin typeface="Cambria Math"/>
                <a:cs typeface="Cambria Math"/>
              </a:rPr>
              <a:t>,</a:t>
            </a:r>
            <a:r>
              <a:rPr dirty="0" sz="1600" spc="-145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430242" y="5958153"/>
            <a:ext cx="212090" cy="188595"/>
          </a:xfrm>
          <a:custGeom>
            <a:avLst/>
            <a:gdLst/>
            <a:ahLst/>
            <a:cxnLst/>
            <a:rect l="l" t="t" r="r" b="b"/>
            <a:pathLst>
              <a:path w="212089" h="188595">
                <a:moveTo>
                  <a:pt x="151657" y="0"/>
                </a:moveTo>
                <a:lnTo>
                  <a:pt x="148978" y="7639"/>
                </a:lnTo>
                <a:lnTo>
                  <a:pt x="159873" y="12368"/>
                </a:lnTo>
                <a:lnTo>
                  <a:pt x="169243" y="18913"/>
                </a:lnTo>
                <a:lnTo>
                  <a:pt x="191741" y="62470"/>
                </a:lnTo>
                <a:lnTo>
                  <a:pt x="194519" y="93166"/>
                </a:lnTo>
                <a:lnTo>
                  <a:pt x="193821" y="109766"/>
                </a:lnTo>
                <a:lnTo>
                  <a:pt x="183357" y="150415"/>
                </a:lnTo>
                <a:lnTo>
                  <a:pt x="149275" y="180578"/>
                </a:lnTo>
                <a:lnTo>
                  <a:pt x="151657" y="188217"/>
                </a:lnTo>
                <a:lnTo>
                  <a:pt x="187617" y="166851"/>
                </a:lnTo>
                <a:lnTo>
                  <a:pt x="207815" y="127409"/>
                </a:lnTo>
                <a:lnTo>
                  <a:pt x="211684" y="94158"/>
                </a:lnTo>
                <a:lnTo>
                  <a:pt x="210714" y="76903"/>
                </a:lnTo>
                <a:lnTo>
                  <a:pt x="196156" y="32990"/>
                </a:lnTo>
                <a:lnTo>
                  <a:pt x="165303" y="4926"/>
                </a:lnTo>
                <a:lnTo>
                  <a:pt x="151657" y="0"/>
                </a:lnTo>
                <a:close/>
              </a:path>
              <a:path w="212089" h="188595">
                <a:moveTo>
                  <a:pt x="60026" y="0"/>
                </a:moveTo>
                <a:lnTo>
                  <a:pt x="24131" y="21421"/>
                </a:lnTo>
                <a:lnTo>
                  <a:pt x="3881" y="60957"/>
                </a:lnTo>
                <a:lnTo>
                  <a:pt x="0" y="94158"/>
                </a:lnTo>
                <a:lnTo>
                  <a:pt x="967" y="111450"/>
                </a:lnTo>
                <a:lnTo>
                  <a:pt x="15477" y="155326"/>
                </a:lnTo>
                <a:lnTo>
                  <a:pt x="46340" y="183297"/>
                </a:lnTo>
                <a:lnTo>
                  <a:pt x="60026" y="188217"/>
                </a:lnTo>
                <a:lnTo>
                  <a:pt x="62407" y="180578"/>
                </a:lnTo>
                <a:lnTo>
                  <a:pt x="51683" y="175827"/>
                </a:lnTo>
                <a:lnTo>
                  <a:pt x="42428" y="169217"/>
                </a:lnTo>
                <a:lnTo>
                  <a:pt x="19954" y="124841"/>
                </a:lnTo>
                <a:lnTo>
                  <a:pt x="17164" y="93166"/>
                </a:lnTo>
                <a:lnTo>
                  <a:pt x="17861" y="77108"/>
                </a:lnTo>
                <a:lnTo>
                  <a:pt x="28326" y="37454"/>
                </a:lnTo>
                <a:lnTo>
                  <a:pt x="62706" y="7639"/>
                </a:lnTo>
                <a:lnTo>
                  <a:pt x="600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33177" y="5819140"/>
            <a:ext cx="2948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2526665" algn="l"/>
              </a:tabLst>
            </a:pPr>
            <a:r>
              <a:rPr dirty="0" baseline="-27777" sz="3300">
                <a:latin typeface="Cambria Math"/>
                <a:cs typeface="Cambria Math"/>
              </a:rPr>
              <a:t>𝐡</a:t>
            </a:r>
            <a:r>
              <a:rPr dirty="0" baseline="-27777" sz="3300" spc="270">
                <a:latin typeface="Cambria Math"/>
                <a:cs typeface="Cambria Math"/>
              </a:rPr>
              <a:t> </a:t>
            </a:r>
            <a:r>
              <a:rPr dirty="0" sz="1600" spc="-25">
                <a:latin typeface="Cambria Math"/>
                <a:cs typeface="Cambria Math"/>
              </a:rPr>
              <a:t>%)*	</a:t>
            </a:r>
            <a:r>
              <a:rPr dirty="0" baseline="-27777" sz="3300">
                <a:latin typeface="Cambria Math"/>
                <a:cs typeface="Cambria Math"/>
              </a:rPr>
              <a:t>𝐦</a:t>
            </a:r>
            <a:r>
              <a:rPr dirty="0" baseline="-27777" sz="3300" spc="112">
                <a:latin typeface="Cambria Math"/>
                <a:cs typeface="Cambria Math"/>
              </a:rPr>
              <a:t> </a:t>
            </a:r>
            <a:r>
              <a:rPr dirty="0" sz="1600" spc="-860">
                <a:latin typeface="Cambria Math"/>
                <a:cs typeface="Cambria Math"/>
              </a:rPr>
              <a:t>%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328883" y="6041066"/>
            <a:ext cx="795020" cy="260350"/>
          </a:xfrm>
          <a:custGeom>
            <a:avLst/>
            <a:gdLst/>
            <a:ahLst/>
            <a:cxnLst/>
            <a:rect l="l" t="t" r="r" b="b"/>
            <a:pathLst>
              <a:path w="795020" h="260350">
                <a:moveTo>
                  <a:pt x="711051" y="0"/>
                </a:moveTo>
                <a:lnTo>
                  <a:pt x="707504" y="0"/>
                </a:lnTo>
                <a:lnTo>
                  <a:pt x="707504" y="10368"/>
                </a:lnTo>
                <a:lnTo>
                  <a:pt x="709551" y="10368"/>
                </a:lnTo>
                <a:lnTo>
                  <a:pt x="718905" y="11012"/>
                </a:lnTo>
                <a:lnTo>
                  <a:pt x="751007" y="43677"/>
                </a:lnTo>
                <a:lnTo>
                  <a:pt x="751706" y="54706"/>
                </a:lnTo>
                <a:lnTo>
                  <a:pt x="751706" y="61073"/>
                </a:lnTo>
                <a:lnTo>
                  <a:pt x="750797" y="68940"/>
                </a:lnTo>
                <a:lnTo>
                  <a:pt x="747158" y="87676"/>
                </a:lnTo>
                <a:lnTo>
                  <a:pt x="746249" y="94361"/>
                </a:lnTo>
                <a:lnTo>
                  <a:pt x="746249" y="106093"/>
                </a:lnTo>
                <a:lnTo>
                  <a:pt x="748522" y="112437"/>
                </a:lnTo>
                <a:lnTo>
                  <a:pt x="757618" y="122351"/>
                </a:lnTo>
                <a:lnTo>
                  <a:pt x="763029" y="126011"/>
                </a:lnTo>
                <a:lnTo>
                  <a:pt x="769306" y="128376"/>
                </a:lnTo>
                <a:lnTo>
                  <a:pt x="769306" y="130832"/>
                </a:lnTo>
                <a:lnTo>
                  <a:pt x="763029" y="133196"/>
                </a:lnTo>
                <a:lnTo>
                  <a:pt x="757618" y="136857"/>
                </a:lnTo>
                <a:lnTo>
                  <a:pt x="748522" y="146771"/>
                </a:lnTo>
                <a:lnTo>
                  <a:pt x="746249" y="153115"/>
                </a:lnTo>
                <a:lnTo>
                  <a:pt x="746249" y="164847"/>
                </a:lnTo>
                <a:lnTo>
                  <a:pt x="747158" y="171532"/>
                </a:lnTo>
                <a:lnTo>
                  <a:pt x="750797" y="190268"/>
                </a:lnTo>
                <a:lnTo>
                  <a:pt x="751706" y="198135"/>
                </a:lnTo>
                <a:lnTo>
                  <a:pt x="751706" y="204502"/>
                </a:lnTo>
                <a:lnTo>
                  <a:pt x="751007" y="215949"/>
                </a:lnTo>
                <a:lnTo>
                  <a:pt x="727184" y="247220"/>
                </a:lnTo>
                <a:lnTo>
                  <a:pt x="709551" y="249795"/>
                </a:lnTo>
                <a:lnTo>
                  <a:pt x="707504" y="249795"/>
                </a:lnTo>
                <a:lnTo>
                  <a:pt x="707504" y="260163"/>
                </a:lnTo>
                <a:lnTo>
                  <a:pt x="711051" y="260163"/>
                </a:lnTo>
                <a:lnTo>
                  <a:pt x="726071" y="259042"/>
                </a:lnTo>
                <a:lnTo>
                  <a:pt x="765958" y="237487"/>
                </a:lnTo>
                <a:lnTo>
                  <a:pt x="774899" y="202046"/>
                </a:lnTo>
                <a:lnTo>
                  <a:pt x="774698" y="196188"/>
                </a:lnTo>
                <a:lnTo>
                  <a:pt x="774097" y="189938"/>
                </a:lnTo>
                <a:lnTo>
                  <a:pt x="773095" y="183296"/>
                </a:lnTo>
                <a:lnTo>
                  <a:pt x="771692" y="176262"/>
                </a:lnTo>
                <a:lnTo>
                  <a:pt x="769555" y="166621"/>
                </a:lnTo>
                <a:lnTo>
                  <a:pt x="768487" y="160163"/>
                </a:lnTo>
                <a:lnTo>
                  <a:pt x="768487" y="150613"/>
                </a:lnTo>
                <a:lnTo>
                  <a:pt x="770647" y="145498"/>
                </a:lnTo>
                <a:lnTo>
                  <a:pt x="779287" y="137585"/>
                </a:lnTo>
                <a:lnTo>
                  <a:pt x="785813" y="135470"/>
                </a:lnTo>
                <a:lnTo>
                  <a:pt x="794545" y="135197"/>
                </a:lnTo>
                <a:lnTo>
                  <a:pt x="794545" y="124011"/>
                </a:lnTo>
                <a:lnTo>
                  <a:pt x="785813" y="123738"/>
                </a:lnTo>
                <a:lnTo>
                  <a:pt x="779287" y="121623"/>
                </a:lnTo>
                <a:lnTo>
                  <a:pt x="770647" y="113710"/>
                </a:lnTo>
                <a:lnTo>
                  <a:pt x="768487" y="108594"/>
                </a:lnTo>
                <a:lnTo>
                  <a:pt x="768487" y="99045"/>
                </a:lnTo>
                <a:lnTo>
                  <a:pt x="769555" y="92587"/>
                </a:lnTo>
                <a:lnTo>
                  <a:pt x="771692" y="82946"/>
                </a:lnTo>
                <a:lnTo>
                  <a:pt x="773095" y="75912"/>
                </a:lnTo>
                <a:lnTo>
                  <a:pt x="774097" y="69270"/>
                </a:lnTo>
                <a:lnTo>
                  <a:pt x="774698" y="63020"/>
                </a:lnTo>
                <a:lnTo>
                  <a:pt x="774899" y="57162"/>
                </a:lnTo>
                <a:lnTo>
                  <a:pt x="773905" y="43865"/>
                </a:lnTo>
                <a:lnTo>
                  <a:pt x="750048" y="8454"/>
                </a:lnTo>
                <a:lnTo>
                  <a:pt x="726071" y="1121"/>
                </a:lnTo>
                <a:lnTo>
                  <a:pt x="711051" y="0"/>
                </a:lnTo>
                <a:close/>
              </a:path>
              <a:path w="795020" h="260350">
                <a:moveTo>
                  <a:pt x="87039" y="0"/>
                </a:moveTo>
                <a:lnTo>
                  <a:pt x="83492" y="0"/>
                </a:lnTo>
                <a:lnTo>
                  <a:pt x="68473" y="1121"/>
                </a:lnTo>
                <a:lnTo>
                  <a:pt x="28585" y="22608"/>
                </a:lnTo>
                <a:lnTo>
                  <a:pt x="19645" y="57025"/>
                </a:lnTo>
                <a:lnTo>
                  <a:pt x="19845" y="62883"/>
                </a:lnTo>
                <a:lnTo>
                  <a:pt x="20446" y="69133"/>
                </a:lnTo>
                <a:lnTo>
                  <a:pt x="21448" y="75775"/>
                </a:lnTo>
                <a:lnTo>
                  <a:pt x="22851" y="82810"/>
                </a:lnTo>
                <a:lnTo>
                  <a:pt x="24988" y="92451"/>
                </a:lnTo>
                <a:lnTo>
                  <a:pt x="26057" y="98908"/>
                </a:lnTo>
                <a:lnTo>
                  <a:pt x="26057" y="108458"/>
                </a:lnTo>
                <a:lnTo>
                  <a:pt x="23897" y="113574"/>
                </a:lnTo>
                <a:lnTo>
                  <a:pt x="15257" y="121487"/>
                </a:lnTo>
                <a:lnTo>
                  <a:pt x="8731" y="123601"/>
                </a:lnTo>
                <a:lnTo>
                  <a:pt x="0" y="123874"/>
                </a:lnTo>
                <a:lnTo>
                  <a:pt x="0" y="135061"/>
                </a:lnTo>
                <a:lnTo>
                  <a:pt x="8731" y="135334"/>
                </a:lnTo>
                <a:lnTo>
                  <a:pt x="15257" y="137448"/>
                </a:lnTo>
                <a:lnTo>
                  <a:pt x="23897" y="145361"/>
                </a:lnTo>
                <a:lnTo>
                  <a:pt x="26057" y="150477"/>
                </a:lnTo>
                <a:lnTo>
                  <a:pt x="26057" y="160027"/>
                </a:lnTo>
                <a:lnTo>
                  <a:pt x="24988" y="166484"/>
                </a:lnTo>
                <a:lnTo>
                  <a:pt x="22851" y="176125"/>
                </a:lnTo>
                <a:lnTo>
                  <a:pt x="21448" y="183160"/>
                </a:lnTo>
                <a:lnTo>
                  <a:pt x="20446" y="189802"/>
                </a:lnTo>
                <a:lnTo>
                  <a:pt x="19845" y="196052"/>
                </a:lnTo>
                <a:lnTo>
                  <a:pt x="19645" y="201910"/>
                </a:lnTo>
                <a:lnTo>
                  <a:pt x="20639" y="215684"/>
                </a:lnTo>
                <a:lnTo>
                  <a:pt x="44496" y="251709"/>
                </a:lnTo>
                <a:lnTo>
                  <a:pt x="83492" y="260163"/>
                </a:lnTo>
                <a:lnTo>
                  <a:pt x="87039" y="260163"/>
                </a:lnTo>
                <a:lnTo>
                  <a:pt x="87039" y="249795"/>
                </a:lnTo>
                <a:lnTo>
                  <a:pt x="84993" y="249795"/>
                </a:lnTo>
                <a:lnTo>
                  <a:pt x="75639" y="249151"/>
                </a:lnTo>
                <a:lnTo>
                  <a:pt x="45634" y="225562"/>
                </a:lnTo>
                <a:lnTo>
                  <a:pt x="42837" y="204365"/>
                </a:lnTo>
                <a:lnTo>
                  <a:pt x="42837" y="197999"/>
                </a:lnTo>
                <a:lnTo>
                  <a:pt x="43747" y="190132"/>
                </a:lnTo>
                <a:lnTo>
                  <a:pt x="47384" y="171396"/>
                </a:lnTo>
                <a:lnTo>
                  <a:pt x="48294" y="164711"/>
                </a:lnTo>
                <a:lnTo>
                  <a:pt x="48294" y="152978"/>
                </a:lnTo>
                <a:lnTo>
                  <a:pt x="46020" y="146634"/>
                </a:lnTo>
                <a:lnTo>
                  <a:pt x="36926" y="136721"/>
                </a:lnTo>
                <a:lnTo>
                  <a:pt x="31513" y="133060"/>
                </a:lnTo>
                <a:lnTo>
                  <a:pt x="25238" y="130695"/>
                </a:lnTo>
                <a:lnTo>
                  <a:pt x="25238" y="128240"/>
                </a:lnTo>
                <a:lnTo>
                  <a:pt x="31513" y="125875"/>
                </a:lnTo>
                <a:lnTo>
                  <a:pt x="36926" y="122214"/>
                </a:lnTo>
                <a:lnTo>
                  <a:pt x="46020" y="112301"/>
                </a:lnTo>
                <a:lnTo>
                  <a:pt x="48294" y="105957"/>
                </a:lnTo>
                <a:lnTo>
                  <a:pt x="48294" y="94224"/>
                </a:lnTo>
                <a:lnTo>
                  <a:pt x="47384" y="87539"/>
                </a:lnTo>
                <a:lnTo>
                  <a:pt x="43747" y="68804"/>
                </a:lnTo>
                <a:lnTo>
                  <a:pt x="42837" y="60936"/>
                </a:lnTo>
                <a:lnTo>
                  <a:pt x="42837" y="54570"/>
                </a:lnTo>
                <a:lnTo>
                  <a:pt x="43536" y="43600"/>
                </a:lnTo>
                <a:lnTo>
                  <a:pt x="67360" y="12943"/>
                </a:lnTo>
                <a:lnTo>
                  <a:pt x="84993" y="10368"/>
                </a:lnTo>
                <a:lnTo>
                  <a:pt x="87039" y="10368"/>
                </a:lnTo>
                <a:lnTo>
                  <a:pt x="870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60266" y="6041676"/>
            <a:ext cx="343535" cy="259079"/>
          </a:xfrm>
          <a:custGeom>
            <a:avLst/>
            <a:gdLst/>
            <a:ahLst/>
            <a:cxnLst/>
            <a:rect l="l" t="t" r="r" b="b"/>
            <a:pathLst>
              <a:path w="343535" h="259079">
                <a:moveTo>
                  <a:pt x="260854" y="0"/>
                </a:moveTo>
                <a:lnTo>
                  <a:pt x="257169" y="10504"/>
                </a:lnTo>
                <a:lnTo>
                  <a:pt x="272151" y="17006"/>
                </a:lnTo>
                <a:lnTo>
                  <a:pt x="285034" y="26006"/>
                </a:lnTo>
                <a:lnTo>
                  <a:pt x="311194" y="67722"/>
                </a:lnTo>
                <a:lnTo>
                  <a:pt x="318834" y="106024"/>
                </a:lnTo>
                <a:lnTo>
                  <a:pt x="319789" y="128103"/>
                </a:lnTo>
                <a:lnTo>
                  <a:pt x="318830" y="150929"/>
                </a:lnTo>
                <a:lnTo>
                  <a:pt x="311156" y="190288"/>
                </a:lnTo>
                <a:lnTo>
                  <a:pt x="285051" y="232674"/>
                </a:lnTo>
                <a:lnTo>
                  <a:pt x="257578" y="248294"/>
                </a:lnTo>
                <a:lnTo>
                  <a:pt x="260854" y="258799"/>
                </a:lnTo>
                <a:lnTo>
                  <a:pt x="296153" y="242240"/>
                </a:lnTo>
                <a:lnTo>
                  <a:pt x="322108" y="213574"/>
                </a:lnTo>
                <a:lnTo>
                  <a:pt x="338070" y="175187"/>
                </a:lnTo>
                <a:lnTo>
                  <a:pt x="343391" y="129467"/>
                </a:lnTo>
                <a:lnTo>
                  <a:pt x="342057" y="105742"/>
                </a:lnTo>
                <a:lnTo>
                  <a:pt x="331381" y="63689"/>
                </a:lnTo>
                <a:lnTo>
                  <a:pt x="310209" y="29455"/>
                </a:lnTo>
                <a:lnTo>
                  <a:pt x="279616" y="6774"/>
                </a:lnTo>
                <a:lnTo>
                  <a:pt x="260854" y="0"/>
                </a:lnTo>
                <a:close/>
              </a:path>
              <a:path w="343535" h="259079">
                <a:moveTo>
                  <a:pt x="82537" y="0"/>
                </a:moveTo>
                <a:lnTo>
                  <a:pt x="47322" y="16592"/>
                </a:lnTo>
                <a:lnTo>
                  <a:pt x="21351" y="45361"/>
                </a:lnTo>
                <a:lnTo>
                  <a:pt x="5337" y="83816"/>
                </a:lnTo>
                <a:lnTo>
                  <a:pt x="0" y="129467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2" y="229421"/>
                </a:lnTo>
                <a:lnTo>
                  <a:pt x="82537" y="258799"/>
                </a:lnTo>
                <a:lnTo>
                  <a:pt x="85811" y="248294"/>
                </a:lnTo>
                <a:lnTo>
                  <a:pt x="71064" y="241763"/>
                </a:lnTo>
                <a:lnTo>
                  <a:pt x="58339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2"/>
                </a:lnTo>
                <a:lnTo>
                  <a:pt x="58441" y="26006"/>
                </a:lnTo>
                <a:lnTo>
                  <a:pt x="86221" y="10504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680990" y="5959347"/>
            <a:ext cx="32359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780" algn="l"/>
                <a:tab pos="2033905" algn="l"/>
                <a:tab pos="2742565" algn="l"/>
              </a:tabLst>
            </a:pPr>
            <a:r>
              <a:rPr dirty="0" sz="2200">
                <a:latin typeface="Cambria Math"/>
                <a:cs typeface="Cambria Math"/>
              </a:rPr>
              <a:t>=</a:t>
            </a:r>
            <a:r>
              <a:rPr dirty="0" sz="2200" spc="11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𝜎	</a:t>
            </a:r>
            <a:r>
              <a:rPr dirty="0" sz="2200" spc="-5">
                <a:solidFill>
                  <a:srgbClr val="C00000"/>
                </a:solidFill>
                <a:latin typeface="Cambria Math"/>
                <a:cs typeface="Cambria Math"/>
              </a:rPr>
              <a:t>Sum	</a:t>
            </a:r>
            <a:r>
              <a:rPr dirty="0" sz="2200">
                <a:latin typeface="Cambria Math"/>
                <a:cs typeface="Cambria Math"/>
              </a:rPr>
              <a:t>,</a:t>
            </a:r>
            <a:r>
              <a:rPr dirty="0" sz="2200" spc="-120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𝑢</a:t>
            </a:r>
            <a:r>
              <a:rPr dirty="0" sz="2200" spc="17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∈	𝑁</a:t>
            </a:r>
            <a:r>
              <a:rPr dirty="0" sz="2200" spc="375">
                <a:latin typeface="Cambria Math"/>
                <a:cs typeface="Cambria Math"/>
              </a:rPr>
              <a:t> </a:t>
            </a:r>
            <a:r>
              <a:rPr dirty="0" sz="2200">
                <a:latin typeface="Cambria Math"/>
                <a:cs typeface="Cambria Math"/>
              </a:rPr>
              <a:t>𝑣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85810" y="5959347"/>
            <a:ext cx="6553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 Math"/>
                <a:cs typeface="Cambria Math"/>
              </a:rPr>
              <a:t>∪</a:t>
            </a:r>
            <a:r>
              <a:rPr dirty="0" sz="2200" spc="-85">
                <a:latin typeface="Cambria Math"/>
                <a:cs typeface="Cambria Math"/>
              </a:rPr>
              <a:t> </a:t>
            </a:r>
            <a:r>
              <a:rPr dirty="0" sz="2200" spc="10">
                <a:latin typeface="Cambria Math"/>
                <a:cs typeface="Cambria Math"/>
              </a:rPr>
              <a:t>{𝑣}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38239" y="2971292"/>
            <a:ext cx="263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Normalized by </a:t>
            </a:r>
            <a:r>
              <a:rPr dirty="0" sz="1800" spc="-5" b="1">
                <a:solidFill>
                  <a:srgbClr val="60B5CC"/>
                </a:solidFill>
                <a:latin typeface="Calibri"/>
                <a:cs typeface="Calibri"/>
              </a:rPr>
              <a:t>node</a:t>
            </a:r>
            <a:r>
              <a:rPr dirty="0" sz="1800" spc="-7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degree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783023" y="3323661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427867" y="3323661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7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8599030" y="3360928"/>
            <a:ext cx="1193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425">
                <a:latin typeface="Cambria Math"/>
                <a:cs typeface="Cambria Math"/>
              </a:rPr>
              <a:t>%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55" name="object 55"/>
          <p:cNvSpPr txBox="1"/>
          <p:nvPr/>
        </p:nvSpPr>
        <p:spPr>
          <a:xfrm>
            <a:off x="6338239" y="3251708"/>
            <a:ext cx="2405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5345" algn="l"/>
              </a:tabLst>
            </a:pP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o</a:t>
            </a:r>
            <a:r>
              <a:rPr dirty="0" sz="1800" b="1">
                <a:solidFill>
                  <a:srgbClr val="60B5CC"/>
                </a:solidFill>
                <a:latin typeface="Calibri"/>
                <a:cs typeface="Calibri"/>
              </a:rPr>
              <a:t>f</a:t>
            </a:r>
            <a:r>
              <a:rPr dirty="0" sz="1800" spc="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0B5CC"/>
                </a:solidFill>
                <a:latin typeface="Calibri"/>
                <a:cs typeface="Calibri"/>
              </a:rPr>
              <a:t>t</a:t>
            </a:r>
            <a:r>
              <a:rPr dirty="0" sz="1800" spc="-5" b="1">
                <a:solidFill>
                  <a:srgbClr val="60B5CC"/>
                </a:solidFill>
                <a:latin typeface="Calibri"/>
                <a:cs typeface="Calibri"/>
              </a:rPr>
              <a:t>h</a:t>
            </a:r>
            <a:r>
              <a:rPr dirty="0" sz="1800" b="1">
                <a:solidFill>
                  <a:srgbClr val="60B5CC"/>
                </a:solidFill>
                <a:latin typeface="Calibri"/>
                <a:cs typeface="Calibri"/>
              </a:rPr>
              <a:t>e</a:t>
            </a:r>
            <a:r>
              <a:rPr dirty="0" sz="1800" spc="-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60B5CC"/>
                </a:solidFill>
                <a:latin typeface="Calibri"/>
                <a:cs typeface="Calibri"/>
              </a:rPr>
              <a:t>r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el</a:t>
            </a:r>
            <a:r>
              <a:rPr dirty="0" sz="1800" spc="-20" b="1">
                <a:solidFill>
                  <a:srgbClr val="60B5CC"/>
                </a:solidFill>
                <a:latin typeface="Calibri"/>
                <a:cs typeface="Calibri"/>
              </a:rPr>
              <a:t>a</a:t>
            </a:r>
            <a:r>
              <a:rPr dirty="0" sz="1800" b="1">
                <a:solidFill>
                  <a:srgbClr val="60B5CC"/>
                </a:solidFill>
                <a:latin typeface="Calibri"/>
                <a:cs typeface="Calibri"/>
              </a:rPr>
              <a:t>t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io</a:t>
            </a:r>
            <a:r>
              <a:rPr dirty="0" sz="1800" b="1">
                <a:solidFill>
                  <a:srgbClr val="60B5CC"/>
                </a:solidFill>
                <a:latin typeface="Calibri"/>
                <a:cs typeface="Calibri"/>
              </a:rPr>
              <a:t>n </a:t>
            </a:r>
            <a:r>
              <a:rPr dirty="0" sz="1800" spc="-50">
                <a:latin typeface="Cambria Math"/>
                <a:cs typeface="Cambria Math"/>
              </a:rPr>
              <a:t>𝑐</a:t>
            </a:r>
            <a:r>
              <a:rPr dirty="0" baseline="-14957" sz="1950" spc="-592">
                <a:latin typeface="Cambria Math"/>
                <a:cs typeface="Cambria Math"/>
              </a:rPr>
              <a:t>%</a:t>
            </a:r>
            <a:r>
              <a:rPr dirty="0" baseline="-14957" sz="1950" spc="0">
                <a:latin typeface="Cambria Math"/>
                <a:cs typeface="Cambria Math"/>
              </a:rPr>
              <a:t>,</a:t>
            </a:r>
            <a:r>
              <a:rPr dirty="0" baseline="-14957" sz="1950" spc="465">
                <a:latin typeface="Cambria Math"/>
                <a:cs typeface="Cambria Math"/>
              </a:rPr>
              <a:t>!</a:t>
            </a:r>
            <a:r>
              <a:rPr dirty="0" baseline="-14957" sz="1950">
                <a:latin typeface="Cambria Math"/>
                <a:cs typeface="Cambria Math"/>
              </a:rPr>
              <a:t> </a:t>
            </a:r>
            <a:r>
              <a:rPr dirty="0" baseline="-14957" sz="1950" spc="-179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	</a:t>
            </a:r>
            <a:r>
              <a:rPr dirty="0" sz="1800" spc="85">
                <a:latin typeface="Cambria Math"/>
                <a:cs typeface="Cambria Math"/>
              </a:rPr>
              <a:t>𝑁</a:t>
            </a:r>
            <a:r>
              <a:rPr dirty="0" baseline="27777" sz="1950" spc="465">
                <a:latin typeface="Cambria Math"/>
                <a:cs typeface="Cambria Math"/>
              </a:rPr>
              <a:t>!</a:t>
            </a:r>
            <a:endParaRPr baseline="2777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30377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901283" y="1445983"/>
            <a:ext cx="364490" cy="271145"/>
          </a:xfrm>
          <a:custGeom>
            <a:avLst/>
            <a:gdLst/>
            <a:ahLst/>
            <a:cxnLst/>
            <a:rect l="l" t="t" r="r" b="b"/>
            <a:pathLst>
              <a:path w="364489" h="271144">
                <a:moveTo>
                  <a:pt x="278175" y="0"/>
                </a:moveTo>
                <a:lnTo>
                  <a:pt x="274323" y="10981"/>
                </a:lnTo>
                <a:lnTo>
                  <a:pt x="289986" y="17778"/>
                </a:lnTo>
                <a:lnTo>
                  <a:pt x="303456" y="27187"/>
                </a:lnTo>
                <a:lnTo>
                  <a:pt x="330804" y="70800"/>
                </a:lnTo>
                <a:lnTo>
                  <a:pt x="338791" y="110843"/>
                </a:lnTo>
                <a:lnTo>
                  <a:pt x="339789" y="133926"/>
                </a:lnTo>
                <a:lnTo>
                  <a:pt x="338787" y="157789"/>
                </a:lnTo>
                <a:lnTo>
                  <a:pt x="330764" y="198937"/>
                </a:lnTo>
                <a:lnTo>
                  <a:pt x="303473" y="243249"/>
                </a:lnTo>
                <a:lnTo>
                  <a:pt x="274751" y="259580"/>
                </a:lnTo>
                <a:lnTo>
                  <a:pt x="278175" y="270563"/>
                </a:lnTo>
                <a:lnTo>
                  <a:pt x="315079" y="253251"/>
                </a:lnTo>
                <a:lnTo>
                  <a:pt x="342214" y="223282"/>
                </a:lnTo>
                <a:lnTo>
                  <a:pt x="358901" y="183150"/>
                </a:lnTo>
                <a:lnTo>
                  <a:pt x="364464" y="135352"/>
                </a:lnTo>
                <a:lnTo>
                  <a:pt x="363069" y="110548"/>
                </a:lnTo>
                <a:lnTo>
                  <a:pt x="351908" y="66584"/>
                </a:lnTo>
                <a:lnTo>
                  <a:pt x="329774" y="30793"/>
                </a:lnTo>
                <a:lnTo>
                  <a:pt x="297790" y="7082"/>
                </a:lnTo>
                <a:lnTo>
                  <a:pt x="278175" y="0"/>
                </a:lnTo>
                <a:close/>
              </a:path>
              <a:path w="364489" h="271144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8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98932" y="1445983"/>
            <a:ext cx="364490" cy="271145"/>
          </a:xfrm>
          <a:custGeom>
            <a:avLst/>
            <a:gdLst/>
            <a:ahLst/>
            <a:cxnLst/>
            <a:rect l="l" t="t" r="r" b="b"/>
            <a:pathLst>
              <a:path w="364490" h="271144">
                <a:moveTo>
                  <a:pt x="278174" y="0"/>
                </a:moveTo>
                <a:lnTo>
                  <a:pt x="274323" y="10981"/>
                </a:lnTo>
                <a:lnTo>
                  <a:pt x="289986" y="17778"/>
                </a:lnTo>
                <a:lnTo>
                  <a:pt x="303455" y="27187"/>
                </a:lnTo>
                <a:lnTo>
                  <a:pt x="330804" y="70800"/>
                </a:lnTo>
                <a:lnTo>
                  <a:pt x="338791" y="110843"/>
                </a:lnTo>
                <a:lnTo>
                  <a:pt x="339789" y="133926"/>
                </a:lnTo>
                <a:lnTo>
                  <a:pt x="338787" y="157789"/>
                </a:lnTo>
                <a:lnTo>
                  <a:pt x="330764" y="198937"/>
                </a:lnTo>
                <a:lnTo>
                  <a:pt x="303473" y="243249"/>
                </a:lnTo>
                <a:lnTo>
                  <a:pt x="274751" y="259580"/>
                </a:lnTo>
                <a:lnTo>
                  <a:pt x="278174" y="270563"/>
                </a:lnTo>
                <a:lnTo>
                  <a:pt x="315079" y="253251"/>
                </a:lnTo>
                <a:lnTo>
                  <a:pt x="342214" y="223282"/>
                </a:lnTo>
                <a:lnTo>
                  <a:pt x="358901" y="183150"/>
                </a:lnTo>
                <a:lnTo>
                  <a:pt x="364464" y="135352"/>
                </a:lnTo>
                <a:lnTo>
                  <a:pt x="363069" y="110548"/>
                </a:lnTo>
                <a:lnTo>
                  <a:pt x="351908" y="66584"/>
                </a:lnTo>
                <a:lnTo>
                  <a:pt x="329774" y="30793"/>
                </a:lnTo>
                <a:lnTo>
                  <a:pt x="297790" y="7082"/>
                </a:lnTo>
                <a:lnTo>
                  <a:pt x="278174" y="0"/>
                </a:lnTo>
                <a:close/>
              </a:path>
              <a:path w="364490" h="271144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4723" y="1449324"/>
            <a:ext cx="68834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Each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has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𝐿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matrices: </a:t>
            </a:r>
            <a:r>
              <a:rPr dirty="0" spc="275" b="0">
                <a:solidFill>
                  <a:srgbClr val="000000"/>
                </a:solidFill>
                <a:latin typeface="Cambria Math"/>
                <a:cs typeface="Cambria Math"/>
              </a:rPr>
              <a:t>𝐖</a:t>
            </a:r>
            <a:r>
              <a:rPr dirty="0" baseline="-18115" sz="3450" spc="412" b="0">
                <a:solidFill>
                  <a:srgbClr val="000000"/>
                </a:solidFill>
                <a:latin typeface="Cambria Math"/>
                <a:cs typeface="Cambria Math"/>
              </a:rPr>
              <a:t>!</a:t>
            </a:r>
            <a:r>
              <a:rPr dirty="0" baseline="38647" sz="3450" spc="412" b="0">
                <a:solidFill>
                  <a:srgbClr val="000000"/>
                </a:solidFill>
                <a:latin typeface="Cambria Math"/>
                <a:cs typeface="Cambria Math"/>
              </a:rPr>
              <a:t>"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3200" spc="-5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105" b="0">
                <a:solidFill>
                  <a:srgbClr val="000000"/>
                </a:solidFill>
                <a:latin typeface="Cambria Math"/>
                <a:cs typeface="Cambria Math"/>
              </a:rPr>
              <a:t>𝐖</a:t>
            </a:r>
            <a:r>
              <a:rPr dirty="0" baseline="-18115" sz="3450" spc="157" b="0">
                <a:solidFill>
                  <a:srgbClr val="000000"/>
                </a:solidFill>
                <a:latin typeface="Cambria Math"/>
                <a:cs typeface="Cambria Math"/>
              </a:rPr>
              <a:t>!</a:t>
            </a:r>
            <a:r>
              <a:rPr dirty="0" baseline="38647" sz="3450" spc="157" b="0">
                <a:solidFill>
                  <a:srgbClr val="000000"/>
                </a:solidFill>
                <a:latin typeface="Cambria Math"/>
                <a:cs typeface="Cambria Math"/>
              </a:rPr>
              <a:t>#</a:t>
            </a:r>
            <a:endParaRPr baseline="38647" sz="34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27859" y="1445983"/>
            <a:ext cx="363220" cy="271145"/>
          </a:xfrm>
          <a:custGeom>
            <a:avLst/>
            <a:gdLst/>
            <a:ahLst/>
            <a:cxnLst/>
            <a:rect l="l" t="t" r="r" b="b"/>
            <a:pathLst>
              <a:path w="363220" h="271144">
                <a:moveTo>
                  <a:pt x="276586" y="0"/>
                </a:moveTo>
                <a:lnTo>
                  <a:pt x="272736" y="10981"/>
                </a:lnTo>
                <a:lnTo>
                  <a:pt x="288398" y="17778"/>
                </a:lnTo>
                <a:lnTo>
                  <a:pt x="301868" y="27187"/>
                </a:lnTo>
                <a:lnTo>
                  <a:pt x="329217" y="70800"/>
                </a:lnTo>
                <a:lnTo>
                  <a:pt x="337204" y="110843"/>
                </a:lnTo>
                <a:lnTo>
                  <a:pt x="338202" y="133926"/>
                </a:lnTo>
                <a:lnTo>
                  <a:pt x="337199" y="157789"/>
                </a:lnTo>
                <a:lnTo>
                  <a:pt x="329177" y="198937"/>
                </a:lnTo>
                <a:lnTo>
                  <a:pt x="301885" y="243249"/>
                </a:lnTo>
                <a:lnTo>
                  <a:pt x="273164" y="259580"/>
                </a:lnTo>
                <a:lnTo>
                  <a:pt x="276586" y="270563"/>
                </a:lnTo>
                <a:lnTo>
                  <a:pt x="313492" y="253251"/>
                </a:lnTo>
                <a:lnTo>
                  <a:pt x="340626" y="223282"/>
                </a:lnTo>
                <a:lnTo>
                  <a:pt x="357314" y="183150"/>
                </a:lnTo>
                <a:lnTo>
                  <a:pt x="362877" y="135352"/>
                </a:lnTo>
                <a:lnTo>
                  <a:pt x="361481" y="110548"/>
                </a:lnTo>
                <a:lnTo>
                  <a:pt x="350321" y="66584"/>
                </a:lnTo>
                <a:lnTo>
                  <a:pt x="328187" y="30793"/>
                </a:lnTo>
                <a:lnTo>
                  <a:pt x="296203" y="7082"/>
                </a:lnTo>
                <a:lnTo>
                  <a:pt x="276586" y="0"/>
                </a:lnTo>
                <a:close/>
              </a:path>
              <a:path w="363220" h="271144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2955" y="2030183"/>
            <a:ext cx="307975" cy="271145"/>
          </a:xfrm>
          <a:custGeom>
            <a:avLst/>
            <a:gdLst/>
            <a:ahLst/>
            <a:cxnLst/>
            <a:rect l="l" t="t" r="r" b="b"/>
            <a:pathLst>
              <a:path w="307975" h="271144">
                <a:moveTo>
                  <a:pt x="221659" y="0"/>
                </a:moveTo>
                <a:lnTo>
                  <a:pt x="217807" y="10981"/>
                </a:lnTo>
                <a:lnTo>
                  <a:pt x="233470" y="17778"/>
                </a:lnTo>
                <a:lnTo>
                  <a:pt x="246939" y="27187"/>
                </a:lnTo>
                <a:lnTo>
                  <a:pt x="274288" y="70800"/>
                </a:lnTo>
                <a:lnTo>
                  <a:pt x="282275" y="110843"/>
                </a:lnTo>
                <a:lnTo>
                  <a:pt x="283273" y="133926"/>
                </a:lnTo>
                <a:lnTo>
                  <a:pt x="282270" y="157789"/>
                </a:lnTo>
                <a:lnTo>
                  <a:pt x="274248" y="198937"/>
                </a:lnTo>
                <a:lnTo>
                  <a:pt x="246957" y="243249"/>
                </a:lnTo>
                <a:lnTo>
                  <a:pt x="218235" y="259580"/>
                </a:lnTo>
                <a:lnTo>
                  <a:pt x="221659" y="270563"/>
                </a:lnTo>
                <a:lnTo>
                  <a:pt x="258564" y="253251"/>
                </a:lnTo>
                <a:lnTo>
                  <a:pt x="285697" y="223282"/>
                </a:lnTo>
                <a:lnTo>
                  <a:pt x="302385" y="183150"/>
                </a:lnTo>
                <a:lnTo>
                  <a:pt x="307948" y="135352"/>
                </a:lnTo>
                <a:lnTo>
                  <a:pt x="306553" y="110548"/>
                </a:lnTo>
                <a:lnTo>
                  <a:pt x="295392" y="66584"/>
                </a:lnTo>
                <a:lnTo>
                  <a:pt x="273258" y="30793"/>
                </a:lnTo>
                <a:lnTo>
                  <a:pt x="241275" y="7082"/>
                </a:lnTo>
                <a:lnTo>
                  <a:pt x="221659" y="0"/>
                </a:lnTo>
                <a:close/>
              </a:path>
              <a:path w="307975" h="271144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4723" y="2034540"/>
            <a:ext cx="36918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size </a:t>
            </a:r>
            <a:r>
              <a:rPr dirty="0" sz="3200" spc="-5">
                <a:latin typeface="Calibri"/>
                <a:cs typeface="Calibri"/>
              </a:rPr>
              <a:t>of each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70">
                <a:latin typeface="Cambria Math"/>
                <a:cs typeface="Cambria Math"/>
              </a:rPr>
              <a:t>𝐖</a:t>
            </a:r>
            <a:r>
              <a:rPr dirty="0" baseline="-18115" sz="3450" spc="-405">
                <a:latin typeface="Cambria Math"/>
                <a:cs typeface="Cambria Math"/>
              </a:rPr>
              <a:t>!</a:t>
            </a:r>
            <a:r>
              <a:rPr dirty="0" baseline="38647" sz="3450" spc="-405">
                <a:latin typeface="Cambria Math"/>
                <a:cs typeface="Cambria Math"/>
              </a:rPr>
              <a:t>%</a:t>
            </a:r>
            <a:endParaRPr baseline="38647" sz="34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4204736" y="1885188"/>
            <a:ext cx="22834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4800">
                <a:latin typeface="Calibri"/>
                <a:cs typeface="Calibri"/>
              </a:rPr>
              <a:t>is</a:t>
            </a:r>
            <a:r>
              <a:rPr dirty="0" baseline="-20833" sz="4800" spc="-37">
                <a:latin typeface="Calibri"/>
                <a:cs typeface="Calibri"/>
              </a:rPr>
              <a:t> </a:t>
            </a:r>
            <a:r>
              <a:rPr dirty="0" baseline="-20833" sz="4800" spc="-60">
                <a:latin typeface="Cambria Math"/>
                <a:cs typeface="Cambria Math"/>
              </a:rPr>
              <a:t>𝑑</a:t>
            </a:r>
            <a:r>
              <a:rPr dirty="0" sz="2300" spc="-40">
                <a:latin typeface="Cambria Math"/>
                <a:cs typeface="Cambria Math"/>
              </a:rPr>
              <a:t>(%'")</a:t>
            </a:r>
            <a:r>
              <a:rPr dirty="0" baseline="-20833" sz="4800" spc="-60">
                <a:latin typeface="Cambria Math"/>
                <a:cs typeface="Cambria Math"/>
              </a:rPr>
              <a:t>×𝑑</a:t>
            </a:r>
            <a:r>
              <a:rPr dirty="0" sz="2300" spc="-40">
                <a:latin typeface="Cambria Math"/>
                <a:cs typeface="Cambria Math"/>
              </a:rPr>
              <a:t>(%)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723" y="2755464"/>
            <a:ext cx="7757795" cy="111442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Rapid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#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parameters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growth </a:t>
            </a:r>
            <a:r>
              <a:rPr dirty="0" sz="3200" spc="-114" b="1">
                <a:solidFill>
                  <a:srgbClr val="D60093"/>
                </a:solidFill>
                <a:latin typeface="Calibri"/>
                <a:cs typeface="Calibri"/>
              </a:rPr>
              <a:t>w.r.t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#</a:t>
            </a:r>
            <a:r>
              <a:rPr dirty="0" sz="3200" spc="1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relations!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Overfitting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becomes </a:t>
            </a:r>
            <a:r>
              <a:rPr dirty="0" sz="2800" b="1">
                <a:solidFill>
                  <a:srgbClr val="D60093"/>
                </a:solidFill>
                <a:latin typeface="Calibri"/>
                <a:cs typeface="Calibri"/>
              </a:rPr>
              <a:t>an</a:t>
            </a:r>
            <a:r>
              <a:rPr dirty="0" sz="28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issue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16591" y="4486655"/>
            <a:ext cx="1822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723" y="4268723"/>
            <a:ext cx="7753984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0" b="1">
                <a:solidFill>
                  <a:srgbClr val="0000FF"/>
                </a:solidFill>
                <a:latin typeface="Calibri"/>
                <a:cs typeface="Calibri"/>
              </a:rPr>
              <a:t>Two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methods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regularize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weights</a:t>
            </a:r>
            <a:r>
              <a:rPr dirty="0" sz="3200" spc="10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25">
                <a:solidFill>
                  <a:srgbClr val="0000FF"/>
                </a:solidFill>
                <a:latin typeface="Cambria Math"/>
                <a:cs typeface="Cambria Math"/>
              </a:rPr>
              <a:t>𝐖</a:t>
            </a:r>
            <a:r>
              <a:rPr dirty="0" baseline="41062" sz="3450" spc="37">
                <a:solidFill>
                  <a:srgbClr val="0000FF"/>
                </a:solidFill>
                <a:latin typeface="Cambria Math"/>
                <a:cs typeface="Cambria Math"/>
              </a:rPr>
              <a:t>(𝒍)</a:t>
            </a:r>
            <a:endParaRPr baseline="41062" sz="3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178" y="4770627"/>
            <a:ext cx="4808855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(1) </a:t>
            </a:r>
            <a:r>
              <a:rPr dirty="0" sz="2800">
                <a:latin typeface="Calibri"/>
                <a:cs typeface="Calibri"/>
              </a:rPr>
              <a:t>Use </a:t>
            </a:r>
            <a:r>
              <a:rPr dirty="0" sz="2800" spc="-5">
                <a:latin typeface="Calibri"/>
                <a:cs typeface="Calibri"/>
              </a:rPr>
              <a:t>block </a:t>
            </a:r>
            <a:r>
              <a:rPr dirty="0" sz="2800" spc="-10">
                <a:latin typeface="Calibri"/>
                <a:cs typeface="Calibri"/>
              </a:rPr>
              <a:t>diagonal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matrices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(2) </a:t>
            </a:r>
            <a:r>
              <a:rPr dirty="0" sz="2800" spc="-5">
                <a:latin typeface="Calibri"/>
                <a:cs typeface="Calibri"/>
              </a:rPr>
              <a:t>Basis/Dictionary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learning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60935" y="1449324"/>
            <a:ext cx="1782445" cy="117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⋯</a:t>
            </a:r>
            <a:r>
              <a:rPr dirty="0" sz="3200" spc="-265">
                <a:latin typeface="Cambria Math"/>
                <a:cs typeface="Cambria Math"/>
              </a:rPr>
              <a:t> </a:t>
            </a:r>
            <a:r>
              <a:rPr dirty="0" sz="3200" spc="165">
                <a:latin typeface="Cambria Math"/>
                <a:cs typeface="Cambria Math"/>
              </a:rPr>
              <a:t>𝐖</a:t>
            </a:r>
            <a:r>
              <a:rPr dirty="0" baseline="-18115" sz="3450" spc="247">
                <a:latin typeface="Cambria Math"/>
                <a:cs typeface="Cambria Math"/>
              </a:rPr>
              <a:t>!</a:t>
            </a:r>
            <a:r>
              <a:rPr dirty="0" baseline="38647" sz="3450" spc="247">
                <a:latin typeface="Cambria Math"/>
                <a:cs typeface="Cambria Math"/>
              </a:rPr>
              <a:t>$</a:t>
            </a:r>
            <a:endParaRPr baseline="38647" sz="3450">
              <a:latin typeface="Cambria Math"/>
              <a:cs typeface="Cambria Math"/>
            </a:endParaRPr>
          </a:p>
          <a:p>
            <a:pPr marL="12700" marR="5080">
              <a:lnSpc>
                <a:spcPct val="105000"/>
              </a:lnSpc>
              <a:spcBef>
                <a:spcPts val="1190"/>
              </a:spcBef>
            </a:pP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𝑑</a:t>
            </a:r>
            <a:r>
              <a:rPr dirty="0" baseline="27777" sz="1800">
                <a:solidFill>
                  <a:srgbClr val="008000"/>
                </a:solidFill>
                <a:latin typeface="Cambria Math"/>
                <a:cs typeface="Cambria Math"/>
              </a:rPr>
              <a:t>(")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is the hidden  dimension in layer</a:t>
            </a:r>
            <a:r>
              <a:rPr dirty="0" sz="16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𝑙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64159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5944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D60093"/>
                </a:solidFill>
              </a:rPr>
              <a:t>Key </a:t>
            </a:r>
            <a:r>
              <a:rPr dirty="0" spc="-10">
                <a:solidFill>
                  <a:srgbClr val="D60093"/>
                </a:solidFill>
              </a:rPr>
              <a:t>insight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: </a:t>
            </a:r>
            <a:r>
              <a:rPr dirty="0" spc="-30" b="0">
                <a:solidFill>
                  <a:srgbClr val="D60093"/>
                </a:solidFill>
                <a:latin typeface="Calibri"/>
                <a:cs typeface="Calibri"/>
              </a:rPr>
              <a:t>make </a:t>
            </a:r>
            <a:r>
              <a:rPr dirty="0" b="0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pc="-10" b="0">
                <a:solidFill>
                  <a:srgbClr val="D60093"/>
                </a:solidFill>
                <a:latin typeface="Calibri"/>
                <a:cs typeface="Calibri"/>
              </a:rPr>
              <a:t>weights</a:t>
            </a:r>
            <a:r>
              <a:rPr dirty="0" spc="25" b="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00B0F0"/>
                </a:solidFill>
              </a:rPr>
              <a:t>sparse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!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 </a:t>
            </a:r>
            <a:r>
              <a:rPr dirty="0" spc="-5">
                <a:solidFill>
                  <a:srgbClr val="000000"/>
                </a:solidFill>
              </a:rPr>
              <a:t>block </a:t>
            </a:r>
            <a:r>
              <a:rPr dirty="0" spc="-10">
                <a:solidFill>
                  <a:srgbClr val="000000"/>
                </a:solidFill>
              </a:rPr>
              <a:t>diagonal matrices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pc="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130" b="0">
                <a:solidFill>
                  <a:srgbClr val="000000"/>
                </a:solidFill>
                <a:latin typeface="Cambria Math"/>
                <a:cs typeface="Cambria Math"/>
              </a:rPr>
              <a:t>𝐖</a:t>
            </a:r>
            <a:r>
              <a:rPr dirty="0" baseline="-15700" sz="3450" spc="195" b="0">
                <a:solidFill>
                  <a:srgbClr val="000000"/>
                </a:solidFill>
                <a:latin typeface="Cambria Math"/>
                <a:cs typeface="Cambria Math"/>
              </a:rPr>
              <a:t>!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8664" y="6250939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19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547039" y="5837735"/>
            <a:ext cx="578485" cy="223520"/>
          </a:xfrm>
          <a:custGeom>
            <a:avLst/>
            <a:gdLst/>
            <a:ahLst/>
            <a:cxnLst/>
            <a:rect l="l" t="t" r="r" b="b"/>
            <a:pathLst>
              <a:path w="578484" h="223520">
                <a:moveTo>
                  <a:pt x="506769" y="0"/>
                </a:moveTo>
                <a:lnTo>
                  <a:pt x="503588" y="9072"/>
                </a:lnTo>
                <a:lnTo>
                  <a:pt x="516526" y="14687"/>
                </a:lnTo>
                <a:lnTo>
                  <a:pt x="527653" y="22459"/>
                </a:lnTo>
                <a:lnTo>
                  <a:pt x="550245" y="58487"/>
                </a:lnTo>
                <a:lnTo>
                  <a:pt x="557668" y="110635"/>
                </a:lnTo>
                <a:lnTo>
                  <a:pt x="556839" y="130348"/>
                </a:lnTo>
                <a:lnTo>
                  <a:pt x="544413" y="178618"/>
                </a:lnTo>
                <a:lnTo>
                  <a:pt x="516676" y="208795"/>
                </a:lnTo>
                <a:lnTo>
                  <a:pt x="503941" y="214436"/>
                </a:lnTo>
                <a:lnTo>
                  <a:pt x="506769" y="223508"/>
                </a:lnTo>
                <a:lnTo>
                  <a:pt x="549472" y="198136"/>
                </a:lnTo>
                <a:lnTo>
                  <a:pt x="573456" y="151298"/>
                </a:lnTo>
                <a:lnTo>
                  <a:pt x="578051" y="111813"/>
                </a:lnTo>
                <a:lnTo>
                  <a:pt x="576899" y="91323"/>
                </a:lnTo>
                <a:lnTo>
                  <a:pt x="559612" y="39175"/>
                </a:lnTo>
                <a:lnTo>
                  <a:pt x="522973" y="5850"/>
                </a:lnTo>
                <a:lnTo>
                  <a:pt x="506769" y="0"/>
                </a:lnTo>
                <a:close/>
              </a:path>
              <a:path w="578484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7"/>
                </a:lnTo>
                <a:lnTo>
                  <a:pt x="18380" y="184450"/>
                </a:lnTo>
                <a:lnTo>
                  <a:pt x="55030" y="217665"/>
                </a:lnTo>
                <a:lnTo>
                  <a:pt x="71282" y="223508"/>
                </a:lnTo>
                <a:lnTo>
                  <a:pt x="74109" y="214436"/>
                </a:lnTo>
                <a:lnTo>
                  <a:pt x="61373" y="208795"/>
                </a:lnTo>
                <a:lnTo>
                  <a:pt x="50383" y="200945"/>
                </a:lnTo>
                <a:lnTo>
                  <a:pt x="27839" y="164339"/>
                </a:lnTo>
                <a:lnTo>
                  <a:pt x="20383" y="110635"/>
                </a:lnTo>
                <a:lnTo>
                  <a:pt x="21211" y="91566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85964" y="6250939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 h="0">
                <a:moveTo>
                  <a:pt x="0" y="0"/>
                </a:moveTo>
                <a:lnTo>
                  <a:pt x="508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05228" y="5837735"/>
            <a:ext cx="251460" cy="223520"/>
          </a:xfrm>
          <a:custGeom>
            <a:avLst/>
            <a:gdLst/>
            <a:ahLst/>
            <a:cxnLst/>
            <a:rect l="l" t="t" r="r" b="b"/>
            <a:pathLst>
              <a:path w="251459" h="223520">
                <a:moveTo>
                  <a:pt x="179744" y="0"/>
                </a:moveTo>
                <a:lnTo>
                  <a:pt x="176563" y="9072"/>
                </a:lnTo>
                <a:lnTo>
                  <a:pt x="189501" y="14687"/>
                </a:lnTo>
                <a:lnTo>
                  <a:pt x="200627" y="22459"/>
                </a:lnTo>
                <a:lnTo>
                  <a:pt x="223220" y="58487"/>
                </a:lnTo>
                <a:lnTo>
                  <a:pt x="230643" y="110635"/>
                </a:lnTo>
                <a:lnTo>
                  <a:pt x="229814" y="130348"/>
                </a:lnTo>
                <a:lnTo>
                  <a:pt x="217388" y="178618"/>
                </a:lnTo>
                <a:lnTo>
                  <a:pt x="189651" y="208795"/>
                </a:lnTo>
                <a:lnTo>
                  <a:pt x="176916" y="214436"/>
                </a:lnTo>
                <a:lnTo>
                  <a:pt x="179744" y="223508"/>
                </a:lnTo>
                <a:lnTo>
                  <a:pt x="222447" y="198136"/>
                </a:lnTo>
                <a:lnTo>
                  <a:pt x="246431" y="151298"/>
                </a:lnTo>
                <a:lnTo>
                  <a:pt x="251026" y="111813"/>
                </a:lnTo>
                <a:lnTo>
                  <a:pt x="249874" y="91323"/>
                </a:lnTo>
                <a:lnTo>
                  <a:pt x="232587" y="39175"/>
                </a:lnTo>
                <a:lnTo>
                  <a:pt x="195948" y="5850"/>
                </a:lnTo>
                <a:lnTo>
                  <a:pt x="179744" y="0"/>
                </a:lnTo>
                <a:close/>
              </a:path>
              <a:path w="251459" h="223520">
                <a:moveTo>
                  <a:pt x="71281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7"/>
                </a:lnTo>
                <a:lnTo>
                  <a:pt x="18379" y="184450"/>
                </a:lnTo>
                <a:lnTo>
                  <a:pt x="55029" y="217665"/>
                </a:lnTo>
                <a:lnTo>
                  <a:pt x="71281" y="223508"/>
                </a:lnTo>
                <a:lnTo>
                  <a:pt x="74109" y="214436"/>
                </a:lnTo>
                <a:lnTo>
                  <a:pt x="61373" y="208795"/>
                </a:lnTo>
                <a:lnTo>
                  <a:pt x="50382" y="200945"/>
                </a:lnTo>
                <a:lnTo>
                  <a:pt x="27838" y="164339"/>
                </a:lnTo>
                <a:lnTo>
                  <a:pt x="20382" y="110635"/>
                </a:lnTo>
                <a:lnTo>
                  <a:pt x="21210" y="91566"/>
                </a:lnTo>
                <a:lnTo>
                  <a:pt x="33637" y="44477"/>
                </a:lnTo>
                <a:lnTo>
                  <a:pt x="61572" y="14687"/>
                </a:lnTo>
                <a:lnTo>
                  <a:pt x="74462" y="9072"/>
                </a:lnTo>
                <a:lnTo>
                  <a:pt x="71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43073" y="3363467"/>
            <a:ext cx="1164590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 spc="-204">
                <a:latin typeface="Cambria Math"/>
                <a:cs typeface="Cambria Math"/>
              </a:rPr>
              <a:t>𝐖</a:t>
            </a:r>
            <a:r>
              <a:rPr dirty="0" baseline="-14880" sz="4200" spc="-307">
                <a:latin typeface="Cambria Math"/>
                <a:cs typeface="Cambria Math"/>
              </a:rPr>
              <a:t>4 </a:t>
            </a:r>
            <a:r>
              <a:rPr dirty="0" baseline="-14880" sz="4200" spc="-270">
                <a:latin typeface="Cambria Math"/>
                <a:cs typeface="Cambria Math"/>
              </a:rPr>
              <a:t> </a:t>
            </a:r>
            <a:r>
              <a:rPr dirty="0" sz="3800">
                <a:latin typeface="Cambria Math"/>
                <a:cs typeface="Cambria Math"/>
              </a:rPr>
              <a:t>=</a:t>
            </a:r>
            <a:endParaRPr sz="3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80679" y="2710947"/>
            <a:ext cx="2227580" cy="2175510"/>
          </a:xfrm>
          <a:custGeom>
            <a:avLst/>
            <a:gdLst/>
            <a:ahLst/>
            <a:cxnLst/>
            <a:rect l="l" t="t" r="r" b="b"/>
            <a:pathLst>
              <a:path w="2227579" h="2175510">
                <a:moveTo>
                  <a:pt x="0" y="362576"/>
                </a:moveTo>
                <a:lnTo>
                  <a:pt x="3309" y="313376"/>
                </a:lnTo>
                <a:lnTo>
                  <a:pt x="12951" y="266189"/>
                </a:lnTo>
                <a:lnTo>
                  <a:pt x="28493" y="221445"/>
                </a:lnTo>
                <a:lnTo>
                  <a:pt x="49502" y="179577"/>
                </a:lnTo>
                <a:lnTo>
                  <a:pt x="75547" y="141016"/>
                </a:lnTo>
                <a:lnTo>
                  <a:pt x="106196" y="106196"/>
                </a:lnTo>
                <a:lnTo>
                  <a:pt x="141016" y="75547"/>
                </a:lnTo>
                <a:lnTo>
                  <a:pt x="179577" y="49502"/>
                </a:lnTo>
                <a:lnTo>
                  <a:pt x="221445" y="28493"/>
                </a:lnTo>
                <a:lnTo>
                  <a:pt x="266189" y="12951"/>
                </a:lnTo>
                <a:lnTo>
                  <a:pt x="313376" y="3309"/>
                </a:lnTo>
                <a:lnTo>
                  <a:pt x="362576" y="0"/>
                </a:lnTo>
                <a:lnTo>
                  <a:pt x="1864974" y="0"/>
                </a:lnTo>
                <a:lnTo>
                  <a:pt x="1914173" y="3309"/>
                </a:lnTo>
                <a:lnTo>
                  <a:pt x="1961361" y="12951"/>
                </a:lnTo>
                <a:lnTo>
                  <a:pt x="2006104" y="28493"/>
                </a:lnTo>
                <a:lnTo>
                  <a:pt x="2047972" y="49502"/>
                </a:lnTo>
                <a:lnTo>
                  <a:pt x="2086533" y="75547"/>
                </a:lnTo>
                <a:lnTo>
                  <a:pt x="2121353" y="106196"/>
                </a:lnTo>
                <a:lnTo>
                  <a:pt x="2152002" y="141016"/>
                </a:lnTo>
                <a:lnTo>
                  <a:pt x="2178047" y="179577"/>
                </a:lnTo>
                <a:lnTo>
                  <a:pt x="2199056" y="221445"/>
                </a:lnTo>
                <a:lnTo>
                  <a:pt x="2214598" y="266189"/>
                </a:lnTo>
                <a:lnTo>
                  <a:pt x="2224240" y="313376"/>
                </a:lnTo>
                <a:lnTo>
                  <a:pt x="2227550" y="362576"/>
                </a:lnTo>
                <a:lnTo>
                  <a:pt x="2227550" y="1812846"/>
                </a:lnTo>
                <a:lnTo>
                  <a:pt x="2224240" y="1862045"/>
                </a:lnTo>
                <a:lnTo>
                  <a:pt x="2214598" y="1909233"/>
                </a:lnTo>
                <a:lnTo>
                  <a:pt x="2199056" y="1953976"/>
                </a:lnTo>
                <a:lnTo>
                  <a:pt x="2178047" y="1995844"/>
                </a:lnTo>
                <a:lnTo>
                  <a:pt x="2152002" y="2034405"/>
                </a:lnTo>
                <a:lnTo>
                  <a:pt x="2121353" y="2069225"/>
                </a:lnTo>
                <a:lnTo>
                  <a:pt x="2086533" y="2099874"/>
                </a:lnTo>
                <a:lnTo>
                  <a:pt x="2047972" y="2125919"/>
                </a:lnTo>
                <a:lnTo>
                  <a:pt x="2006104" y="2146928"/>
                </a:lnTo>
                <a:lnTo>
                  <a:pt x="1961361" y="2162470"/>
                </a:lnTo>
                <a:lnTo>
                  <a:pt x="1914173" y="2172112"/>
                </a:lnTo>
                <a:lnTo>
                  <a:pt x="1864974" y="2175422"/>
                </a:lnTo>
                <a:lnTo>
                  <a:pt x="362576" y="2175422"/>
                </a:lnTo>
                <a:lnTo>
                  <a:pt x="313376" y="2172112"/>
                </a:lnTo>
                <a:lnTo>
                  <a:pt x="266189" y="2162470"/>
                </a:lnTo>
                <a:lnTo>
                  <a:pt x="221445" y="2146928"/>
                </a:lnTo>
                <a:lnTo>
                  <a:pt x="179577" y="2125919"/>
                </a:lnTo>
                <a:lnTo>
                  <a:pt x="141016" y="2099874"/>
                </a:lnTo>
                <a:lnTo>
                  <a:pt x="106196" y="2069225"/>
                </a:lnTo>
                <a:lnTo>
                  <a:pt x="75547" y="2034405"/>
                </a:lnTo>
                <a:lnTo>
                  <a:pt x="49502" y="1995844"/>
                </a:lnTo>
                <a:lnTo>
                  <a:pt x="28493" y="1953976"/>
                </a:lnTo>
                <a:lnTo>
                  <a:pt x="12951" y="1909233"/>
                </a:lnTo>
                <a:lnTo>
                  <a:pt x="3309" y="1862045"/>
                </a:lnTo>
                <a:lnTo>
                  <a:pt x="0" y="1812846"/>
                </a:lnTo>
                <a:lnTo>
                  <a:pt x="0" y="36257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450653" y="2870055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1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6"/>
                </a:lnTo>
                <a:lnTo>
                  <a:pt x="95061" y="346621"/>
                </a:lnTo>
                <a:lnTo>
                  <a:pt x="140911" y="365372"/>
                </a:lnTo>
                <a:lnTo>
                  <a:pt x="191935" y="372017"/>
                </a:lnTo>
                <a:lnTo>
                  <a:pt x="242959" y="365372"/>
                </a:lnTo>
                <a:lnTo>
                  <a:pt x="288808" y="346621"/>
                </a:lnTo>
                <a:lnTo>
                  <a:pt x="327653" y="317536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50653" y="2870055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47503" y="2870053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2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6"/>
                </a:lnTo>
                <a:lnTo>
                  <a:pt x="95062" y="346621"/>
                </a:lnTo>
                <a:lnTo>
                  <a:pt x="140911" y="365372"/>
                </a:lnTo>
                <a:lnTo>
                  <a:pt x="191935" y="372017"/>
                </a:lnTo>
                <a:lnTo>
                  <a:pt x="242959" y="365372"/>
                </a:lnTo>
                <a:lnTo>
                  <a:pt x="288808" y="346621"/>
                </a:lnTo>
                <a:lnTo>
                  <a:pt x="327653" y="317536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47503" y="2870053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50653" y="3337452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1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6"/>
                </a:lnTo>
                <a:lnTo>
                  <a:pt x="95061" y="346621"/>
                </a:lnTo>
                <a:lnTo>
                  <a:pt x="140911" y="365372"/>
                </a:lnTo>
                <a:lnTo>
                  <a:pt x="191935" y="372017"/>
                </a:lnTo>
                <a:lnTo>
                  <a:pt x="242959" y="365372"/>
                </a:lnTo>
                <a:lnTo>
                  <a:pt x="288808" y="346621"/>
                </a:lnTo>
                <a:lnTo>
                  <a:pt x="327653" y="317536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50653" y="3337452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7503" y="3337452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2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6"/>
                </a:lnTo>
                <a:lnTo>
                  <a:pt x="95062" y="346621"/>
                </a:lnTo>
                <a:lnTo>
                  <a:pt x="140911" y="365372"/>
                </a:lnTo>
                <a:lnTo>
                  <a:pt x="191935" y="372017"/>
                </a:lnTo>
                <a:lnTo>
                  <a:pt x="242959" y="365372"/>
                </a:lnTo>
                <a:lnTo>
                  <a:pt x="288808" y="346621"/>
                </a:lnTo>
                <a:lnTo>
                  <a:pt x="327653" y="317536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47503" y="3337452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27541" y="3862016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1" y="25395"/>
                </a:lnTo>
                <a:lnTo>
                  <a:pt x="56216" y="54480"/>
                </a:lnTo>
                <a:lnTo>
                  <a:pt x="26204" y="92125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89"/>
                </a:lnTo>
                <a:lnTo>
                  <a:pt x="56216" y="317535"/>
                </a:lnTo>
                <a:lnTo>
                  <a:pt x="95061" y="346620"/>
                </a:lnTo>
                <a:lnTo>
                  <a:pt x="140911" y="365371"/>
                </a:lnTo>
                <a:lnTo>
                  <a:pt x="191935" y="372016"/>
                </a:lnTo>
                <a:lnTo>
                  <a:pt x="242959" y="365371"/>
                </a:lnTo>
                <a:lnTo>
                  <a:pt x="288808" y="346620"/>
                </a:lnTo>
                <a:lnTo>
                  <a:pt x="327653" y="317535"/>
                </a:lnTo>
                <a:lnTo>
                  <a:pt x="357665" y="279889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5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27541" y="3862016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24391" y="3862015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2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5"/>
                </a:lnTo>
                <a:lnTo>
                  <a:pt x="95062" y="346620"/>
                </a:lnTo>
                <a:lnTo>
                  <a:pt x="140911" y="365371"/>
                </a:lnTo>
                <a:lnTo>
                  <a:pt x="191935" y="372016"/>
                </a:lnTo>
                <a:lnTo>
                  <a:pt x="242959" y="365371"/>
                </a:lnTo>
                <a:lnTo>
                  <a:pt x="288808" y="346620"/>
                </a:lnTo>
                <a:lnTo>
                  <a:pt x="327653" y="317535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24391" y="3862015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27541" y="4329413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1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5"/>
                </a:lnTo>
                <a:lnTo>
                  <a:pt x="95061" y="346620"/>
                </a:lnTo>
                <a:lnTo>
                  <a:pt x="140911" y="365371"/>
                </a:lnTo>
                <a:lnTo>
                  <a:pt x="191935" y="372016"/>
                </a:lnTo>
                <a:lnTo>
                  <a:pt x="242959" y="365371"/>
                </a:lnTo>
                <a:lnTo>
                  <a:pt x="288808" y="346620"/>
                </a:lnTo>
                <a:lnTo>
                  <a:pt x="327653" y="317535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427541" y="4329413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924391" y="4329413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191935" y="0"/>
                </a:moveTo>
                <a:lnTo>
                  <a:pt x="140911" y="6644"/>
                </a:lnTo>
                <a:lnTo>
                  <a:pt x="95062" y="25395"/>
                </a:lnTo>
                <a:lnTo>
                  <a:pt x="56216" y="54480"/>
                </a:lnTo>
                <a:lnTo>
                  <a:pt x="26204" y="92126"/>
                </a:lnTo>
                <a:lnTo>
                  <a:pt x="6856" y="136559"/>
                </a:lnTo>
                <a:lnTo>
                  <a:pt x="0" y="186008"/>
                </a:lnTo>
                <a:lnTo>
                  <a:pt x="6856" y="235456"/>
                </a:lnTo>
                <a:lnTo>
                  <a:pt x="26204" y="279890"/>
                </a:lnTo>
                <a:lnTo>
                  <a:pt x="56216" y="317535"/>
                </a:lnTo>
                <a:lnTo>
                  <a:pt x="95062" y="346620"/>
                </a:lnTo>
                <a:lnTo>
                  <a:pt x="140911" y="365371"/>
                </a:lnTo>
                <a:lnTo>
                  <a:pt x="191935" y="372016"/>
                </a:lnTo>
                <a:lnTo>
                  <a:pt x="242959" y="365371"/>
                </a:lnTo>
                <a:lnTo>
                  <a:pt x="288808" y="346620"/>
                </a:lnTo>
                <a:lnTo>
                  <a:pt x="327653" y="317535"/>
                </a:lnTo>
                <a:lnTo>
                  <a:pt x="357665" y="279890"/>
                </a:lnTo>
                <a:lnTo>
                  <a:pt x="377014" y="235456"/>
                </a:lnTo>
                <a:lnTo>
                  <a:pt x="383870" y="186008"/>
                </a:lnTo>
                <a:lnTo>
                  <a:pt x="377014" y="136559"/>
                </a:lnTo>
                <a:lnTo>
                  <a:pt x="357665" y="92126"/>
                </a:lnTo>
                <a:lnTo>
                  <a:pt x="327653" y="54480"/>
                </a:lnTo>
                <a:lnTo>
                  <a:pt x="288808" y="25395"/>
                </a:lnTo>
                <a:lnTo>
                  <a:pt x="242959" y="6644"/>
                </a:lnTo>
                <a:lnTo>
                  <a:pt x="191935" y="0"/>
                </a:lnTo>
                <a:close/>
              </a:path>
            </a:pathLst>
          </a:custGeom>
          <a:solidFill>
            <a:srgbClr val="A6D4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24391" y="4329413"/>
            <a:ext cx="384175" cy="372110"/>
          </a:xfrm>
          <a:custGeom>
            <a:avLst/>
            <a:gdLst/>
            <a:ahLst/>
            <a:cxnLst/>
            <a:rect l="l" t="t" r="r" b="b"/>
            <a:pathLst>
              <a:path w="384175" h="372110">
                <a:moveTo>
                  <a:pt x="0" y="186008"/>
                </a:moveTo>
                <a:lnTo>
                  <a:pt x="6856" y="136560"/>
                </a:lnTo>
                <a:lnTo>
                  <a:pt x="26204" y="92126"/>
                </a:lnTo>
                <a:lnTo>
                  <a:pt x="56216" y="54480"/>
                </a:lnTo>
                <a:lnTo>
                  <a:pt x="95061" y="25395"/>
                </a:lnTo>
                <a:lnTo>
                  <a:pt x="140911" y="6644"/>
                </a:lnTo>
                <a:lnTo>
                  <a:pt x="191935" y="0"/>
                </a:lnTo>
                <a:lnTo>
                  <a:pt x="242958" y="6644"/>
                </a:lnTo>
                <a:lnTo>
                  <a:pt x="288808" y="25395"/>
                </a:lnTo>
                <a:lnTo>
                  <a:pt x="327653" y="54480"/>
                </a:lnTo>
                <a:lnTo>
                  <a:pt x="357665" y="92126"/>
                </a:lnTo>
                <a:lnTo>
                  <a:pt x="377013" y="136560"/>
                </a:lnTo>
                <a:lnTo>
                  <a:pt x="383870" y="186008"/>
                </a:lnTo>
                <a:lnTo>
                  <a:pt x="377013" y="235456"/>
                </a:lnTo>
                <a:lnTo>
                  <a:pt x="357665" y="279890"/>
                </a:lnTo>
                <a:lnTo>
                  <a:pt x="327653" y="317536"/>
                </a:lnTo>
                <a:lnTo>
                  <a:pt x="288808" y="346621"/>
                </a:lnTo>
                <a:lnTo>
                  <a:pt x="242958" y="365372"/>
                </a:lnTo>
                <a:lnTo>
                  <a:pt x="191935" y="372017"/>
                </a:lnTo>
                <a:lnTo>
                  <a:pt x="140911" y="365372"/>
                </a:lnTo>
                <a:lnTo>
                  <a:pt x="95061" y="346621"/>
                </a:lnTo>
                <a:lnTo>
                  <a:pt x="56216" y="317536"/>
                </a:lnTo>
                <a:lnTo>
                  <a:pt x="26204" y="279890"/>
                </a:lnTo>
                <a:lnTo>
                  <a:pt x="6856" y="235456"/>
                </a:lnTo>
                <a:lnTo>
                  <a:pt x="0" y="18600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18108" y="4362196"/>
            <a:ext cx="8423275" cy="227774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626237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Limitation: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only nearby  neurons/dimensions  can interact through</a:t>
            </a:r>
            <a:r>
              <a:rPr dirty="0" sz="1600" spc="-3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𝑊</a:t>
            </a:r>
            <a:endParaRPr sz="16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119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mbria Math"/>
                <a:cs typeface="Cambria Math"/>
              </a:rPr>
              <a:t>𝐵 </a:t>
            </a:r>
            <a:r>
              <a:rPr dirty="0" sz="3200" spc="-10">
                <a:latin typeface="Calibri"/>
                <a:cs typeface="Calibri"/>
              </a:rPr>
              <a:t>low-dimensional </a:t>
            </a:r>
            <a:r>
              <a:rPr dirty="0" sz="3200" spc="-5">
                <a:latin typeface="Calibri"/>
                <a:cs typeface="Calibri"/>
              </a:rPr>
              <a:t>matrices, then </a:t>
            </a:r>
            <a:r>
              <a:rPr dirty="0" sz="3200">
                <a:latin typeface="Calibri"/>
                <a:cs typeface="Calibri"/>
              </a:rPr>
              <a:t>#</a:t>
            </a:r>
            <a:r>
              <a:rPr dirty="0" sz="3200" spc="1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param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175"/>
              </a:lnSpc>
              <a:spcBef>
                <a:spcPts val="1655"/>
              </a:spcBef>
            </a:pPr>
            <a:r>
              <a:rPr dirty="0" sz="3200" spc="-10">
                <a:latin typeface="Calibri"/>
                <a:cs typeface="Calibri"/>
              </a:rPr>
              <a:t>reduces </a:t>
            </a:r>
            <a:r>
              <a:rPr dirty="0" sz="3200" spc="-15">
                <a:latin typeface="Calibri"/>
                <a:cs typeface="Calibri"/>
              </a:rPr>
              <a:t>from </a:t>
            </a:r>
            <a:r>
              <a:rPr dirty="0" sz="3200" spc="-40">
                <a:latin typeface="Cambria Math"/>
                <a:cs typeface="Cambria Math"/>
              </a:rPr>
              <a:t>𝑑</a:t>
            </a:r>
            <a:r>
              <a:rPr dirty="0" baseline="28985" sz="3450" spc="-60">
                <a:latin typeface="Cambria Math"/>
                <a:cs typeface="Cambria Math"/>
              </a:rPr>
              <a:t>(%'")</a:t>
            </a:r>
            <a:r>
              <a:rPr dirty="0" sz="3200" spc="-40">
                <a:latin typeface="Cambria Math"/>
                <a:cs typeface="Cambria Math"/>
              </a:rPr>
              <a:t>×𝑑</a:t>
            </a:r>
            <a:r>
              <a:rPr dirty="0" baseline="28985" sz="3450" spc="-60">
                <a:latin typeface="Cambria Math"/>
                <a:cs typeface="Cambria Math"/>
              </a:rPr>
              <a:t>(%)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35">
                <a:latin typeface="Cambria Math"/>
                <a:cs typeface="Cambria Math"/>
              </a:rPr>
              <a:t>𝐵× </a:t>
            </a:r>
            <a:r>
              <a:rPr dirty="0" baseline="44685" sz="3450" spc="-375">
                <a:latin typeface="Cambria Math"/>
                <a:cs typeface="Cambria Math"/>
              </a:rPr>
              <a:t>+    </a:t>
            </a:r>
            <a:r>
              <a:rPr dirty="0" baseline="78947" sz="2850" spc="359">
                <a:latin typeface="Cambria Math"/>
                <a:cs typeface="Cambria Math"/>
              </a:rPr>
              <a:t>&amp;'( </a:t>
            </a:r>
            <a:r>
              <a:rPr dirty="0" sz="3200">
                <a:latin typeface="Cambria Math"/>
                <a:cs typeface="Cambria Math"/>
              </a:rPr>
              <a:t>× </a:t>
            </a:r>
            <a:r>
              <a:rPr dirty="0" baseline="44685" sz="3450" spc="-375">
                <a:latin typeface="Cambria Math"/>
                <a:cs typeface="Cambria Math"/>
              </a:rPr>
              <a:t>+    </a:t>
            </a:r>
            <a:r>
              <a:rPr dirty="0" baseline="78947" sz="2850" spc="-877">
                <a:latin typeface="Cambria Math"/>
                <a:cs typeface="Cambria Math"/>
              </a:rPr>
              <a:t>&amp;</a:t>
            </a:r>
            <a:r>
              <a:rPr dirty="0" baseline="78947" sz="2850" spc="-240">
                <a:latin typeface="Cambria Math"/>
                <a:cs typeface="Cambria Math"/>
              </a:rPr>
              <a:t> </a:t>
            </a:r>
            <a:r>
              <a:rPr dirty="0" sz="320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algn="r" marR="1101725">
              <a:lnSpc>
                <a:spcPts val="2095"/>
              </a:lnSpc>
              <a:tabLst>
                <a:tab pos="1094105" algn="l"/>
              </a:tabLst>
            </a:pPr>
            <a:r>
              <a:rPr dirty="0" sz="2300" spc="1080">
                <a:latin typeface="Cambria Math"/>
                <a:cs typeface="Cambria Math"/>
              </a:rPr>
              <a:t>,</a:t>
            </a:r>
            <a:r>
              <a:rPr dirty="0" sz="2300" spc="1080">
                <a:latin typeface="Cambria Math"/>
                <a:cs typeface="Cambria Math"/>
              </a:rPr>
              <a:t>	</a:t>
            </a:r>
            <a:r>
              <a:rPr dirty="0" sz="2300" spc="1080">
                <a:latin typeface="Cambria Math"/>
                <a:cs typeface="Cambria Math"/>
              </a:rPr>
              <a:t>,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282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378700" cy="95821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000000"/>
                </a:solidFill>
              </a:rPr>
              <a:t>Key </a:t>
            </a:r>
            <a:r>
              <a:rPr dirty="0" spc="-10">
                <a:solidFill>
                  <a:srgbClr val="000000"/>
                </a:solidFill>
              </a:rPr>
              <a:t>insight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15">
                <a:solidFill>
                  <a:srgbClr val="C00000"/>
                </a:solidFill>
              </a:rPr>
              <a:t>Share </a:t>
            </a:r>
            <a:r>
              <a:rPr dirty="0" spc="-10">
                <a:solidFill>
                  <a:srgbClr val="C00000"/>
                </a:solidFill>
              </a:rPr>
              <a:t>weights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across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relations!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479548"/>
            <a:ext cx="8266430" cy="95821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Represent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matrix of each </a:t>
            </a:r>
            <a:r>
              <a:rPr dirty="0" sz="3200" spc="-15">
                <a:latin typeface="Calibri"/>
                <a:cs typeface="Calibri"/>
              </a:rPr>
              <a:t>relation </a:t>
            </a:r>
            <a:r>
              <a:rPr dirty="0" sz="3200">
                <a:latin typeface="Calibri"/>
                <a:cs typeface="Calibri"/>
              </a:rPr>
              <a:t>as a </a:t>
            </a:r>
            <a:r>
              <a:rPr dirty="0" sz="3200" spc="-5">
                <a:solidFill>
                  <a:srgbClr val="60B5CC"/>
                </a:solidFill>
                <a:latin typeface="Calibri"/>
                <a:cs typeface="Calibri"/>
              </a:rPr>
              <a:t>linear  combination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5">
                <a:solidFill>
                  <a:srgbClr val="6BB76D"/>
                </a:solidFill>
                <a:latin typeface="Calibri"/>
                <a:cs typeface="Calibri"/>
              </a:rPr>
              <a:t>basis</a:t>
            </a:r>
            <a:r>
              <a:rPr dirty="0" sz="3200" spc="-2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6BB76D"/>
                </a:solidFill>
                <a:latin typeface="Calibri"/>
                <a:cs typeface="Calibri"/>
              </a:rPr>
              <a:t>transformations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127" y="3590544"/>
            <a:ext cx="4241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90">
                <a:latin typeface="Cambria Math"/>
                <a:cs typeface="Cambria Math"/>
              </a:rPr>
              <a:t>-</a:t>
            </a:r>
            <a:r>
              <a:rPr dirty="0" sz="2300" spc="1200">
                <a:latin typeface="Cambria Math"/>
                <a:cs typeface="Cambria Math"/>
              </a:rPr>
              <a:t>.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147" y="3381755"/>
            <a:ext cx="77806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4189" algn="l"/>
              </a:tabLst>
            </a:pPr>
            <a:r>
              <a:rPr dirty="0" sz="3200" spc="130">
                <a:latin typeface="Cambria Math"/>
                <a:cs typeface="Cambria Math"/>
              </a:rPr>
              <a:t>𝐖</a:t>
            </a:r>
            <a:r>
              <a:rPr dirty="0" baseline="-15700" sz="3450" spc="195">
                <a:latin typeface="Cambria Math"/>
                <a:cs typeface="Cambria Math"/>
              </a:rPr>
              <a:t>!</a:t>
            </a:r>
            <a:r>
              <a:rPr dirty="0" baseline="-15700" sz="3450" spc="427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baseline="2604" sz="4800" spc="802">
                <a:latin typeface="Cambria Math"/>
                <a:cs typeface="Cambria Math"/>
              </a:rPr>
              <a:t>∑</a:t>
            </a:r>
            <a:r>
              <a:rPr dirty="0" baseline="30193" sz="3450" spc="802">
                <a:latin typeface="Cambria Math"/>
                <a:cs typeface="Cambria Math"/>
              </a:rPr>
              <a:t>,	</a:t>
            </a:r>
            <a:r>
              <a:rPr dirty="0" baseline="-18115" sz="3450" spc="637">
                <a:latin typeface="Cambria Math"/>
                <a:cs typeface="Cambria Math"/>
              </a:rPr>
              <a:t>"</a:t>
            </a:r>
            <a:r>
              <a:rPr dirty="0" baseline="-18115" sz="3450" spc="-172">
                <a:latin typeface="Cambria Math"/>
                <a:cs typeface="Cambria Math"/>
              </a:rPr>
              <a:t> </a:t>
            </a:r>
            <a:r>
              <a:rPr dirty="0" sz="3200" spc="390">
                <a:latin typeface="Cambria Math"/>
                <a:cs typeface="Cambria Math"/>
              </a:rPr>
              <a:t>𝑎</a:t>
            </a:r>
            <a:r>
              <a:rPr dirty="0" baseline="-15700" sz="3450" spc="585">
                <a:latin typeface="Cambria Math"/>
                <a:cs typeface="Cambria Math"/>
              </a:rPr>
              <a:t>!-</a:t>
            </a:r>
            <a:r>
              <a:rPr dirty="0" baseline="-15700" sz="3450" spc="232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⋅</a:t>
            </a:r>
            <a:r>
              <a:rPr dirty="0" sz="3200" spc="-5">
                <a:latin typeface="Cambria Math"/>
                <a:cs typeface="Cambria Math"/>
              </a:rPr>
              <a:t> </a:t>
            </a:r>
            <a:r>
              <a:rPr dirty="0" sz="3200" spc="155">
                <a:latin typeface="Cambria Math"/>
                <a:cs typeface="Cambria Math"/>
              </a:rPr>
              <a:t>𝐕</a:t>
            </a:r>
            <a:r>
              <a:rPr dirty="0" baseline="-15700" sz="3450" spc="232">
                <a:latin typeface="Cambria Math"/>
                <a:cs typeface="Cambria Math"/>
              </a:rPr>
              <a:t>-</a:t>
            </a:r>
            <a:r>
              <a:rPr dirty="0" sz="3200" spc="155">
                <a:latin typeface="Calibri"/>
                <a:cs typeface="Calibri"/>
              </a:rPr>
              <a:t>,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where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160">
                <a:latin typeface="Cambria Math"/>
                <a:cs typeface="Cambria Math"/>
              </a:rPr>
              <a:t>𝐕</a:t>
            </a:r>
            <a:r>
              <a:rPr dirty="0" baseline="-15700" sz="3450" spc="240">
                <a:latin typeface="Cambria Math"/>
                <a:cs typeface="Cambria Math"/>
              </a:rPr>
              <a:t>-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-10">
                <a:latin typeface="Calibri"/>
                <a:cs typeface="Calibri"/>
              </a:rPr>
              <a:t> shared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across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147" y="3756950"/>
            <a:ext cx="6317615" cy="151193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200">
                <a:latin typeface="Calibri"/>
                <a:cs typeface="Calibri"/>
              </a:rPr>
              <a:t>all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</a:t>
            </a:r>
            <a:endParaRPr sz="32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55">
                <a:latin typeface="Cambria Math"/>
                <a:cs typeface="Cambria Math"/>
              </a:rPr>
              <a:t>𝐕</a:t>
            </a:r>
            <a:r>
              <a:rPr dirty="0" baseline="-15277" sz="3000" spc="82">
                <a:latin typeface="Cambria Math"/>
                <a:cs typeface="Cambria Math"/>
              </a:rPr>
              <a:t>)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the basis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matrices</a:t>
            </a:r>
            <a:endParaRPr sz="28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190">
                <a:latin typeface="Cambria Math"/>
                <a:cs typeface="Cambria Math"/>
              </a:rPr>
              <a:t>𝑎</a:t>
            </a:r>
            <a:r>
              <a:rPr dirty="0" baseline="-16666" sz="3000" spc="284">
                <a:latin typeface="Cambria Math"/>
                <a:cs typeface="Cambria Math"/>
              </a:rPr>
              <a:t>*)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0">
                <a:latin typeface="Calibri"/>
                <a:cs typeface="Calibri"/>
              </a:rPr>
              <a:t>importance </a:t>
            </a:r>
            <a:r>
              <a:rPr dirty="0" sz="2800" spc="-15">
                <a:latin typeface="Calibri"/>
                <a:cs typeface="Calibri"/>
              </a:rPr>
              <a:t>weight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matrix </a:t>
            </a:r>
            <a:r>
              <a:rPr dirty="0" sz="2800" spc="-30">
                <a:latin typeface="Cambria Math"/>
                <a:cs typeface="Cambria Math"/>
              </a:rPr>
              <a:t>𝐕</a:t>
            </a:r>
            <a:r>
              <a:rPr dirty="0" baseline="-16666" sz="3000" spc="-44">
                <a:latin typeface="Cambria Math"/>
                <a:cs typeface="Cambria Math"/>
              </a:rPr>
              <a:t>)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33605" y="5628187"/>
            <a:ext cx="864235" cy="378460"/>
          </a:xfrm>
          <a:custGeom>
            <a:avLst/>
            <a:gdLst/>
            <a:ahLst/>
            <a:cxnLst/>
            <a:rect l="l" t="t" r="r" b="b"/>
            <a:pathLst>
              <a:path w="864234" h="378460">
                <a:moveTo>
                  <a:pt x="742370" y="0"/>
                </a:moveTo>
                <a:lnTo>
                  <a:pt x="737212" y="0"/>
                </a:lnTo>
                <a:lnTo>
                  <a:pt x="737212" y="15081"/>
                </a:lnTo>
                <a:lnTo>
                  <a:pt x="740187" y="15081"/>
                </a:lnTo>
                <a:lnTo>
                  <a:pt x="753793" y="16017"/>
                </a:lnTo>
                <a:lnTo>
                  <a:pt x="792352" y="38775"/>
                </a:lnTo>
                <a:lnTo>
                  <a:pt x="801505" y="79573"/>
                </a:lnTo>
                <a:lnTo>
                  <a:pt x="801257" y="86928"/>
                </a:lnTo>
                <a:lnTo>
                  <a:pt x="800513" y="95101"/>
                </a:lnTo>
                <a:lnTo>
                  <a:pt x="799273" y="104092"/>
                </a:lnTo>
                <a:lnTo>
                  <a:pt x="797537" y="113903"/>
                </a:lnTo>
                <a:lnTo>
                  <a:pt x="795800" y="123390"/>
                </a:lnTo>
                <a:lnTo>
                  <a:pt x="794560" y="131415"/>
                </a:lnTo>
                <a:lnTo>
                  <a:pt x="793816" y="137976"/>
                </a:lnTo>
                <a:lnTo>
                  <a:pt x="793568" y="143073"/>
                </a:lnTo>
                <a:lnTo>
                  <a:pt x="794188" y="151128"/>
                </a:lnTo>
                <a:lnTo>
                  <a:pt x="820493" y="183796"/>
                </a:lnTo>
                <a:lnTo>
                  <a:pt x="827104" y="186729"/>
                </a:lnTo>
                <a:lnTo>
                  <a:pt x="827104" y="190301"/>
                </a:lnTo>
                <a:lnTo>
                  <a:pt x="796048" y="218603"/>
                </a:lnTo>
                <a:lnTo>
                  <a:pt x="793568" y="233957"/>
                </a:lnTo>
                <a:lnTo>
                  <a:pt x="793816" y="239055"/>
                </a:lnTo>
                <a:lnTo>
                  <a:pt x="794560" y="245616"/>
                </a:lnTo>
                <a:lnTo>
                  <a:pt x="795800" y="253640"/>
                </a:lnTo>
                <a:lnTo>
                  <a:pt x="797537" y="263128"/>
                </a:lnTo>
                <a:lnTo>
                  <a:pt x="799273" y="272938"/>
                </a:lnTo>
                <a:lnTo>
                  <a:pt x="800513" y="281930"/>
                </a:lnTo>
                <a:lnTo>
                  <a:pt x="801257" y="290103"/>
                </a:lnTo>
                <a:lnTo>
                  <a:pt x="801505" y="297457"/>
                </a:lnTo>
                <a:lnTo>
                  <a:pt x="800488" y="314107"/>
                </a:lnTo>
                <a:lnTo>
                  <a:pt x="776316" y="354911"/>
                </a:lnTo>
                <a:lnTo>
                  <a:pt x="740187" y="363339"/>
                </a:lnTo>
                <a:lnTo>
                  <a:pt x="737212" y="363339"/>
                </a:lnTo>
                <a:lnTo>
                  <a:pt x="737212" y="378420"/>
                </a:lnTo>
                <a:lnTo>
                  <a:pt x="742370" y="378420"/>
                </a:lnTo>
                <a:lnTo>
                  <a:pt x="764217" y="376789"/>
                </a:lnTo>
                <a:lnTo>
                  <a:pt x="812121" y="357088"/>
                </a:lnTo>
                <a:lnTo>
                  <a:pt x="833794" y="313835"/>
                </a:lnTo>
                <a:lnTo>
                  <a:pt x="835239" y="293886"/>
                </a:lnTo>
                <a:lnTo>
                  <a:pt x="834948" y="285365"/>
                </a:lnTo>
                <a:lnTo>
                  <a:pt x="834073" y="276274"/>
                </a:lnTo>
                <a:lnTo>
                  <a:pt x="832616" y="266613"/>
                </a:lnTo>
                <a:lnTo>
                  <a:pt x="830576" y="256381"/>
                </a:lnTo>
                <a:lnTo>
                  <a:pt x="828535" y="246732"/>
                </a:lnTo>
                <a:lnTo>
                  <a:pt x="827078" y="238819"/>
                </a:lnTo>
                <a:lnTo>
                  <a:pt x="826204" y="232643"/>
                </a:lnTo>
                <a:lnTo>
                  <a:pt x="825912" y="228203"/>
                </a:lnTo>
                <a:lnTo>
                  <a:pt x="825912" y="219075"/>
                </a:lnTo>
                <a:lnTo>
                  <a:pt x="863814" y="196651"/>
                </a:lnTo>
                <a:lnTo>
                  <a:pt x="863814" y="180379"/>
                </a:lnTo>
                <a:lnTo>
                  <a:pt x="825912" y="157956"/>
                </a:lnTo>
                <a:lnTo>
                  <a:pt x="825912" y="148828"/>
                </a:lnTo>
                <a:lnTo>
                  <a:pt x="826204" y="144388"/>
                </a:lnTo>
                <a:lnTo>
                  <a:pt x="827121" y="137976"/>
                </a:lnTo>
                <a:lnTo>
                  <a:pt x="828535" y="130299"/>
                </a:lnTo>
                <a:lnTo>
                  <a:pt x="830576" y="120650"/>
                </a:lnTo>
                <a:lnTo>
                  <a:pt x="832616" y="110418"/>
                </a:lnTo>
                <a:lnTo>
                  <a:pt x="834073" y="100756"/>
                </a:lnTo>
                <a:lnTo>
                  <a:pt x="834948" y="91665"/>
                </a:lnTo>
                <a:lnTo>
                  <a:pt x="835239" y="83145"/>
                </a:lnTo>
                <a:lnTo>
                  <a:pt x="833794" y="63803"/>
                </a:lnTo>
                <a:lnTo>
                  <a:pt x="812121" y="21332"/>
                </a:lnTo>
                <a:lnTo>
                  <a:pt x="764217" y="1630"/>
                </a:lnTo>
                <a:lnTo>
                  <a:pt x="742370" y="0"/>
                </a:lnTo>
                <a:close/>
              </a:path>
              <a:path w="864234" h="378460">
                <a:moveTo>
                  <a:pt x="126603" y="0"/>
                </a:moveTo>
                <a:lnTo>
                  <a:pt x="121443" y="0"/>
                </a:lnTo>
                <a:lnTo>
                  <a:pt x="99597" y="1630"/>
                </a:lnTo>
                <a:lnTo>
                  <a:pt x="51692" y="21332"/>
                </a:lnTo>
                <a:lnTo>
                  <a:pt x="30019" y="63692"/>
                </a:lnTo>
                <a:lnTo>
                  <a:pt x="28575" y="82947"/>
                </a:lnTo>
                <a:lnTo>
                  <a:pt x="28866" y="91467"/>
                </a:lnTo>
                <a:lnTo>
                  <a:pt x="29741" y="100558"/>
                </a:lnTo>
                <a:lnTo>
                  <a:pt x="31198" y="110219"/>
                </a:lnTo>
                <a:lnTo>
                  <a:pt x="33238" y="120451"/>
                </a:lnTo>
                <a:lnTo>
                  <a:pt x="35278" y="130100"/>
                </a:lnTo>
                <a:lnTo>
                  <a:pt x="36736" y="138013"/>
                </a:lnTo>
                <a:lnTo>
                  <a:pt x="37610" y="144189"/>
                </a:lnTo>
                <a:lnTo>
                  <a:pt x="37901" y="148629"/>
                </a:lnTo>
                <a:lnTo>
                  <a:pt x="37901" y="157757"/>
                </a:lnTo>
                <a:lnTo>
                  <a:pt x="0" y="180181"/>
                </a:lnTo>
                <a:lnTo>
                  <a:pt x="0" y="196453"/>
                </a:lnTo>
                <a:lnTo>
                  <a:pt x="37901" y="218876"/>
                </a:lnTo>
                <a:lnTo>
                  <a:pt x="37901" y="228004"/>
                </a:lnTo>
                <a:lnTo>
                  <a:pt x="37610" y="232444"/>
                </a:lnTo>
                <a:lnTo>
                  <a:pt x="36692" y="238856"/>
                </a:lnTo>
                <a:lnTo>
                  <a:pt x="35278" y="246533"/>
                </a:lnTo>
                <a:lnTo>
                  <a:pt x="33238" y="256182"/>
                </a:lnTo>
                <a:lnTo>
                  <a:pt x="31198" y="266414"/>
                </a:lnTo>
                <a:lnTo>
                  <a:pt x="29741" y="276076"/>
                </a:lnTo>
                <a:lnTo>
                  <a:pt x="28866" y="285167"/>
                </a:lnTo>
                <a:lnTo>
                  <a:pt x="28575" y="293687"/>
                </a:lnTo>
                <a:lnTo>
                  <a:pt x="30019" y="313723"/>
                </a:lnTo>
                <a:lnTo>
                  <a:pt x="51692" y="357088"/>
                </a:lnTo>
                <a:lnTo>
                  <a:pt x="99597" y="376789"/>
                </a:lnTo>
                <a:lnTo>
                  <a:pt x="121443" y="378420"/>
                </a:lnTo>
                <a:lnTo>
                  <a:pt x="126603" y="378420"/>
                </a:lnTo>
                <a:lnTo>
                  <a:pt x="126603" y="363339"/>
                </a:lnTo>
                <a:lnTo>
                  <a:pt x="123626" y="363339"/>
                </a:lnTo>
                <a:lnTo>
                  <a:pt x="110021" y="362402"/>
                </a:lnTo>
                <a:lnTo>
                  <a:pt x="71462" y="339545"/>
                </a:lnTo>
                <a:lnTo>
                  <a:pt x="62310" y="297259"/>
                </a:lnTo>
                <a:lnTo>
                  <a:pt x="62558" y="289904"/>
                </a:lnTo>
                <a:lnTo>
                  <a:pt x="63302" y="281731"/>
                </a:lnTo>
                <a:lnTo>
                  <a:pt x="64542" y="272739"/>
                </a:lnTo>
                <a:lnTo>
                  <a:pt x="66278" y="262929"/>
                </a:lnTo>
                <a:lnTo>
                  <a:pt x="68014" y="253441"/>
                </a:lnTo>
                <a:lnTo>
                  <a:pt x="69255" y="245417"/>
                </a:lnTo>
                <a:lnTo>
                  <a:pt x="69999" y="238856"/>
                </a:lnTo>
                <a:lnTo>
                  <a:pt x="70247" y="233759"/>
                </a:lnTo>
                <a:lnTo>
                  <a:pt x="69627" y="225704"/>
                </a:lnTo>
                <a:lnTo>
                  <a:pt x="43321" y="193036"/>
                </a:lnTo>
                <a:lnTo>
                  <a:pt x="36710" y="190103"/>
                </a:lnTo>
                <a:lnTo>
                  <a:pt x="36710" y="186531"/>
                </a:lnTo>
                <a:lnTo>
                  <a:pt x="67767" y="158229"/>
                </a:lnTo>
                <a:lnTo>
                  <a:pt x="70247" y="142875"/>
                </a:lnTo>
                <a:lnTo>
                  <a:pt x="69999" y="137777"/>
                </a:lnTo>
                <a:lnTo>
                  <a:pt x="69255" y="131216"/>
                </a:lnTo>
                <a:lnTo>
                  <a:pt x="68014" y="123192"/>
                </a:lnTo>
                <a:lnTo>
                  <a:pt x="66278" y="113704"/>
                </a:lnTo>
                <a:lnTo>
                  <a:pt x="64542" y="103894"/>
                </a:lnTo>
                <a:lnTo>
                  <a:pt x="63302" y="94902"/>
                </a:lnTo>
                <a:lnTo>
                  <a:pt x="62558" y="86729"/>
                </a:lnTo>
                <a:lnTo>
                  <a:pt x="62310" y="79375"/>
                </a:lnTo>
                <a:lnTo>
                  <a:pt x="63327" y="63419"/>
                </a:lnTo>
                <a:lnTo>
                  <a:pt x="87498" y="23508"/>
                </a:lnTo>
                <a:lnTo>
                  <a:pt x="123626" y="15081"/>
                </a:lnTo>
                <a:lnTo>
                  <a:pt x="126603" y="15081"/>
                </a:lnTo>
                <a:lnTo>
                  <a:pt x="1266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203563" y="5724144"/>
            <a:ext cx="42418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90">
                <a:latin typeface="Cambria Math"/>
                <a:cs typeface="Cambria Math"/>
              </a:rPr>
              <a:t>-</a:t>
            </a:r>
            <a:r>
              <a:rPr dirty="0" sz="2300" spc="1200">
                <a:latin typeface="Cambria Math"/>
                <a:cs typeface="Cambria Math"/>
              </a:rPr>
              <a:t>.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618108" y="5515355"/>
            <a:ext cx="83026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6853555" algn="l"/>
                <a:tab pos="7597775" algn="l"/>
                <a:tab pos="7999730" algn="l"/>
              </a:tabLst>
            </a:pPr>
            <a:r>
              <a:rPr dirty="0" sz="3200" spc="-5">
                <a:latin typeface="Calibri"/>
                <a:cs typeface="Calibri"/>
              </a:rPr>
              <a:t>Now each </a:t>
            </a:r>
            <a:r>
              <a:rPr dirty="0" sz="3200" spc="-10">
                <a:latin typeface="Calibri"/>
                <a:cs typeface="Calibri"/>
              </a:rPr>
              <a:t>relation </a:t>
            </a:r>
            <a:r>
              <a:rPr dirty="0" sz="3200">
                <a:latin typeface="Calibri"/>
                <a:cs typeface="Calibri"/>
              </a:rPr>
              <a:t>only </a:t>
            </a:r>
            <a:r>
              <a:rPr dirty="0" sz="3200" spc="-5">
                <a:latin typeface="Calibri"/>
                <a:cs typeface="Calibri"/>
              </a:rPr>
              <a:t>needs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to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learn	</a:t>
            </a:r>
            <a:r>
              <a:rPr dirty="0" sz="3200" spc="390">
                <a:latin typeface="Cambria Math"/>
                <a:cs typeface="Cambria Math"/>
              </a:rPr>
              <a:t>𝑎</a:t>
            </a:r>
            <a:r>
              <a:rPr dirty="0" baseline="-15700" sz="3450" spc="585">
                <a:latin typeface="Cambria Math"/>
                <a:cs typeface="Cambria Math"/>
              </a:rPr>
              <a:t>!-	</a:t>
            </a:r>
            <a:r>
              <a:rPr dirty="0" baseline="30193" sz="3450" spc="1620">
                <a:latin typeface="Cambria Math"/>
                <a:cs typeface="Cambria Math"/>
              </a:rPr>
              <a:t>,	</a:t>
            </a:r>
            <a:r>
              <a:rPr dirty="0" baseline="-18115" sz="3450" spc="382">
                <a:latin typeface="Cambria Math"/>
                <a:cs typeface="Cambria Math"/>
              </a:rPr>
              <a:t>"</a:t>
            </a:r>
            <a:r>
              <a:rPr dirty="0" sz="3200" spc="254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8147" y="5945123"/>
            <a:ext cx="30226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which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>
                <a:latin typeface="Cambria Math"/>
                <a:cs typeface="Cambria Math"/>
              </a:rPr>
              <a:t>𝐵</a:t>
            </a:r>
            <a:r>
              <a:rPr dirty="0" sz="3200" spc="50">
                <a:latin typeface="Cambria Math"/>
                <a:cs typeface="Cambria Math"/>
              </a:rPr>
              <a:t> </a:t>
            </a:r>
            <a:r>
              <a:rPr dirty="0" sz="3200" spc="-15">
                <a:latin typeface="Calibri"/>
                <a:cs typeface="Calibri"/>
              </a:rPr>
              <a:t>scalars.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7985759" cy="50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0800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Goal</a:t>
            </a:r>
            <a:r>
              <a:rPr dirty="0" spc="-5" b="0">
                <a:solidFill>
                  <a:srgbClr val="0000FF"/>
                </a:solidFill>
                <a:latin typeface="Calibri"/>
                <a:cs typeface="Calibri"/>
              </a:rPr>
              <a:t>: </a:t>
            </a:r>
            <a:r>
              <a:rPr dirty="0" spc="-10">
                <a:solidFill>
                  <a:srgbClr val="000000"/>
                </a:solidFill>
              </a:rPr>
              <a:t>Predict </a:t>
            </a:r>
            <a:r>
              <a:rPr dirty="0" spc="-5">
                <a:solidFill>
                  <a:srgbClr val="000000"/>
                </a:solidFill>
              </a:rPr>
              <a:t>the label </a:t>
            </a:r>
            <a:r>
              <a:rPr dirty="0">
                <a:solidFill>
                  <a:srgbClr val="000000"/>
                </a:solidFill>
              </a:rPr>
              <a:t>of a </a:t>
            </a:r>
            <a:r>
              <a:rPr dirty="0" spc="-10">
                <a:solidFill>
                  <a:srgbClr val="000000"/>
                </a:solidFill>
              </a:rPr>
              <a:t>given</a:t>
            </a:r>
            <a:r>
              <a:rPr dirty="0" spc="-5">
                <a:solidFill>
                  <a:srgbClr val="000000"/>
                </a:solidFill>
              </a:rPr>
              <a:t> node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B050"/>
                </a:solidFill>
              </a:rPr>
              <a:t>RGCN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representation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final</a:t>
            </a:r>
            <a:r>
              <a:rPr dirty="0" spc="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layer: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2199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class of </a:t>
            </a:r>
            <a:r>
              <a:rPr dirty="0" sz="2800" spc="-5" b="1">
                <a:solidFill>
                  <a:srgbClr val="B48200"/>
                </a:solidFill>
                <a:latin typeface="Calibri"/>
                <a:cs typeface="Calibri"/>
              </a:rPr>
              <a:t>node </a:t>
            </a:r>
            <a:r>
              <a:rPr dirty="0" sz="2800">
                <a:solidFill>
                  <a:srgbClr val="B48200"/>
                </a:solidFill>
                <a:latin typeface="Cambria Math"/>
                <a:cs typeface="Cambria Math"/>
              </a:rPr>
              <a:t>𝑨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>
                <a:solidFill>
                  <a:srgbClr val="E66C7D"/>
                </a:solidFill>
                <a:latin typeface="Cambria Math"/>
                <a:cs typeface="Cambria Math"/>
              </a:rPr>
              <a:t>𝒌</a:t>
            </a:r>
            <a:r>
              <a:rPr dirty="0" sz="2800" spc="75">
                <a:solidFill>
                  <a:srgbClr val="E66C7D"/>
                </a:solidFill>
                <a:latin typeface="Cambria Math"/>
                <a:cs typeface="Cambria Math"/>
              </a:rPr>
              <a:t> </a:t>
            </a:r>
            <a:r>
              <a:rPr dirty="0" sz="2800" spc="-70" b="1">
                <a:solidFill>
                  <a:srgbClr val="E66C7D"/>
                </a:solidFill>
                <a:latin typeface="Calibri"/>
                <a:cs typeface="Calibri"/>
              </a:rPr>
              <a:t>classes</a:t>
            </a:r>
            <a:r>
              <a:rPr dirty="0" sz="2800" spc="-7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039363"/>
            <a:ext cx="740790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85">
                <a:latin typeface="Calibri"/>
                <a:cs typeface="Calibri"/>
              </a:rPr>
              <a:t>Take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5" b="1">
                <a:latin typeface="Calibri"/>
                <a:cs typeface="Calibri"/>
              </a:rPr>
              <a:t>final </a:t>
            </a:r>
            <a:r>
              <a:rPr dirty="0" sz="2800" spc="-20" b="1">
                <a:latin typeface="Calibri"/>
                <a:cs typeface="Calibri"/>
              </a:rPr>
              <a:t>layer </a:t>
            </a:r>
            <a:r>
              <a:rPr dirty="0" sz="2800" spc="-5" b="1">
                <a:latin typeface="Calibri"/>
                <a:cs typeface="Calibri"/>
              </a:rPr>
              <a:t>(prediction head)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180">
                <a:latin typeface="Cambria Math"/>
                <a:cs typeface="Cambria Math"/>
              </a:rPr>
              <a:t>𝐡</a:t>
            </a:r>
            <a:r>
              <a:rPr dirty="0" baseline="41666" sz="3000" spc="270">
                <a:latin typeface="Cambria Math"/>
                <a:cs typeface="Cambria Math"/>
              </a:rPr>
              <a:t>(,) 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335">
                <a:latin typeface="Cambria Math"/>
                <a:cs typeface="Cambria Math"/>
              </a:rPr>
              <a:t> </a:t>
            </a:r>
            <a:r>
              <a:rPr dirty="0" sz="2800" spc="185">
                <a:latin typeface="Cambria Math"/>
                <a:cs typeface="Cambria Math"/>
              </a:rPr>
              <a:t>ℝ</a:t>
            </a:r>
            <a:r>
              <a:rPr dirty="0" baseline="29166" sz="3000" spc="277">
                <a:latin typeface="Cambria Math"/>
                <a:cs typeface="Cambria Math"/>
              </a:rPr>
              <a:t>-</a:t>
            </a:r>
            <a:r>
              <a:rPr dirty="0" sz="2800" spc="185">
                <a:latin typeface="Calibri"/>
                <a:cs typeface="Calibri"/>
              </a:rPr>
              <a:t>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2632" y="3781044"/>
            <a:ext cx="1936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70">
                <a:latin typeface="Cambria Math"/>
                <a:cs typeface="Cambria Math"/>
              </a:rPr>
              <a:t>+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3" y="3247644"/>
            <a:ext cx="7436484" cy="77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489075">
              <a:lnSpc>
                <a:spcPct val="100000"/>
              </a:lnSpc>
              <a:spcBef>
                <a:spcPts val="100"/>
              </a:spcBef>
            </a:pPr>
            <a:r>
              <a:rPr dirty="0" sz="2000" spc="-170">
                <a:latin typeface="Cambria Math"/>
                <a:cs typeface="Cambria Math"/>
              </a:rPr>
              <a:t>+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2800" spc="-5">
                <a:latin typeface="Calibri"/>
                <a:cs typeface="Calibri"/>
              </a:rPr>
              <a:t>each </a:t>
            </a:r>
            <a:r>
              <a:rPr dirty="0" sz="2800" spc="-15">
                <a:latin typeface="Calibri"/>
                <a:cs typeface="Calibri"/>
              </a:rPr>
              <a:t>item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180">
                <a:latin typeface="Cambria Math"/>
                <a:cs typeface="Cambria Math"/>
              </a:rPr>
              <a:t>𝐡</a:t>
            </a:r>
            <a:r>
              <a:rPr dirty="0" baseline="41666" sz="3000" spc="270">
                <a:latin typeface="Cambria Math"/>
                <a:cs typeface="Cambria Math"/>
              </a:rPr>
              <a:t>(,) </a:t>
            </a:r>
            <a:r>
              <a:rPr dirty="0" sz="2800" spc="-15">
                <a:latin typeface="Calibri"/>
                <a:cs typeface="Calibri"/>
              </a:rPr>
              <a:t>represents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probability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of</a:t>
            </a:r>
            <a:r>
              <a:rPr dirty="0" sz="2800" spc="3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that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883" y="4014723"/>
            <a:ext cx="8108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6BB76D"/>
                </a:solidFill>
                <a:latin typeface="Calibri"/>
                <a:cs typeface="Calibri"/>
              </a:rPr>
              <a:t>c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l</a:t>
            </a:r>
            <a:r>
              <a:rPr dirty="0" sz="2800" spc="0" b="1">
                <a:solidFill>
                  <a:srgbClr val="6BB76D"/>
                </a:solidFill>
                <a:latin typeface="Calibri"/>
                <a:cs typeface="Calibri"/>
              </a:rPr>
              <a:t>a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ss</a:t>
            </a:r>
            <a:r>
              <a:rPr dirty="0" sz="280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1036" y="497717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7699" y="515854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08918" y="4443388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609027" y="4464811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75518" y="600874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080390" y="6031484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98796" y="582339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75319" y="600874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465903" y="6031484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07010" y="4759801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3" y="75079"/>
                </a:moveTo>
                <a:lnTo>
                  <a:pt x="26716" y="85217"/>
                </a:lnTo>
                <a:lnTo>
                  <a:pt x="150408" y="411186"/>
                </a:lnTo>
                <a:lnTo>
                  <a:pt x="158658" y="414898"/>
                </a:lnTo>
                <a:lnTo>
                  <a:pt x="173413" y="409299"/>
                </a:lnTo>
                <a:lnTo>
                  <a:pt x="177124" y="401049"/>
                </a:lnTo>
                <a:lnTo>
                  <a:pt x="53433" y="75079"/>
                </a:lnTo>
                <a:close/>
              </a:path>
              <a:path w="177164" h="415289">
                <a:moveTo>
                  <a:pt x="9662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1"/>
                </a:lnTo>
                <a:lnTo>
                  <a:pt x="22560" y="56231"/>
                </a:lnTo>
                <a:lnTo>
                  <a:pt x="37315" y="50632"/>
                </a:lnTo>
                <a:lnTo>
                  <a:pt x="64618" y="50632"/>
                </a:lnTo>
                <a:lnTo>
                  <a:pt x="9662" y="0"/>
                </a:lnTo>
                <a:close/>
              </a:path>
              <a:path w="177164" h="415289">
                <a:moveTo>
                  <a:pt x="37315" y="50632"/>
                </a:moveTo>
                <a:lnTo>
                  <a:pt x="22560" y="56231"/>
                </a:lnTo>
                <a:lnTo>
                  <a:pt x="18848" y="64481"/>
                </a:lnTo>
                <a:lnTo>
                  <a:pt x="26716" y="85217"/>
                </a:lnTo>
                <a:lnTo>
                  <a:pt x="53433" y="75079"/>
                </a:lnTo>
                <a:lnTo>
                  <a:pt x="45565" y="54344"/>
                </a:lnTo>
                <a:lnTo>
                  <a:pt x="37315" y="50632"/>
                </a:lnTo>
                <a:close/>
              </a:path>
              <a:path w="177164" h="415289">
                <a:moveTo>
                  <a:pt x="64618" y="50632"/>
                </a:moveTo>
                <a:lnTo>
                  <a:pt x="37315" y="50632"/>
                </a:lnTo>
                <a:lnTo>
                  <a:pt x="45565" y="54344"/>
                </a:lnTo>
                <a:lnTo>
                  <a:pt x="53433" y="75079"/>
                </a:lnTo>
                <a:lnTo>
                  <a:pt x="80149" y="64941"/>
                </a:lnTo>
                <a:lnTo>
                  <a:pt x="64618" y="5063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01592" y="4612418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4" h="550545">
                <a:moveTo>
                  <a:pt x="55678" y="472092"/>
                </a:moveTo>
                <a:lnTo>
                  <a:pt x="0" y="550104"/>
                </a:lnTo>
                <a:lnTo>
                  <a:pt x="95816" y="547838"/>
                </a:lnTo>
                <a:lnTo>
                  <a:pt x="87939" y="532974"/>
                </a:lnTo>
                <a:lnTo>
                  <a:pt x="62839" y="532974"/>
                </a:lnTo>
                <a:lnTo>
                  <a:pt x="54192" y="530317"/>
                </a:lnTo>
                <a:lnTo>
                  <a:pt x="46803" y="516373"/>
                </a:lnTo>
                <a:lnTo>
                  <a:pt x="49460" y="507725"/>
                </a:lnTo>
                <a:lnTo>
                  <a:pt x="69057" y="497340"/>
                </a:lnTo>
                <a:lnTo>
                  <a:pt x="55678" y="472092"/>
                </a:lnTo>
                <a:close/>
              </a:path>
              <a:path w="1024254" h="550545">
                <a:moveTo>
                  <a:pt x="69057" y="497340"/>
                </a:moveTo>
                <a:lnTo>
                  <a:pt x="49460" y="507725"/>
                </a:lnTo>
                <a:lnTo>
                  <a:pt x="46803" y="516373"/>
                </a:lnTo>
                <a:lnTo>
                  <a:pt x="54192" y="530317"/>
                </a:lnTo>
                <a:lnTo>
                  <a:pt x="62839" y="532974"/>
                </a:lnTo>
                <a:lnTo>
                  <a:pt x="82437" y="522589"/>
                </a:lnTo>
                <a:lnTo>
                  <a:pt x="69057" y="497340"/>
                </a:lnTo>
                <a:close/>
              </a:path>
              <a:path w="1024254" h="550545">
                <a:moveTo>
                  <a:pt x="82437" y="522589"/>
                </a:moveTo>
                <a:lnTo>
                  <a:pt x="62839" y="532974"/>
                </a:lnTo>
                <a:lnTo>
                  <a:pt x="87939" y="532974"/>
                </a:lnTo>
                <a:lnTo>
                  <a:pt x="82437" y="522589"/>
                </a:lnTo>
                <a:close/>
              </a:path>
              <a:path w="1024254" h="550545">
                <a:moveTo>
                  <a:pt x="1007609" y="0"/>
                </a:moveTo>
                <a:lnTo>
                  <a:pt x="69057" y="497340"/>
                </a:lnTo>
                <a:lnTo>
                  <a:pt x="82437" y="522589"/>
                </a:lnTo>
                <a:lnTo>
                  <a:pt x="1020988" y="25250"/>
                </a:lnTo>
                <a:lnTo>
                  <a:pt x="1023645" y="16602"/>
                </a:lnTo>
                <a:lnTo>
                  <a:pt x="1016256" y="2658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39682" y="5293584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6" y="54445"/>
                </a:moveTo>
                <a:lnTo>
                  <a:pt x="0" y="711531"/>
                </a:lnTo>
                <a:lnTo>
                  <a:pt x="514" y="720563"/>
                </a:lnTo>
                <a:lnTo>
                  <a:pt x="12288" y="731071"/>
                </a:lnTo>
                <a:lnTo>
                  <a:pt x="21319" y="730558"/>
                </a:lnTo>
                <a:lnTo>
                  <a:pt x="607736" y="73471"/>
                </a:lnTo>
                <a:lnTo>
                  <a:pt x="586416" y="54445"/>
                </a:lnTo>
                <a:close/>
              </a:path>
              <a:path w="654685" h="731520">
                <a:moveTo>
                  <a:pt x="644010" y="37384"/>
                </a:moveTo>
                <a:lnTo>
                  <a:pt x="610214" y="37384"/>
                </a:lnTo>
                <a:lnTo>
                  <a:pt x="621990" y="47892"/>
                </a:lnTo>
                <a:lnTo>
                  <a:pt x="622503" y="56925"/>
                </a:lnTo>
                <a:lnTo>
                  <a:pt x="607736" y="73471"/>
                </a:lnTo>
                <a:lnTo>
                  <a:pt x="629055" y="92497"/>
                </a:lnTo>
                <a:lnTo>
                  <a:pt x="644010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3" y="37898"/>
                </a:lnTo>
                <a:lnTo>
                  <a:pt x="586416" y="54445"/>
                </a:lnTo>
                <a:lnTo>
                  <a:pt x="607736" y="73471"/>
                </a:lnTo>
                <a:lnTo>
                  <a:pt x="622503" y="56925"/>
                </a:lnTo>
                <a:lnTo>
                  <a:pt x="621990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5" y="0"/>
                </a:moveTo>
                <a:lnTo>
                  <a:pt x="565096" y="35419"/>
                </a:lnTo>
                <a:lnTo>
                  <a:pt x="586416" y="54445"/>
                </a:lnTo>
                <a:lnTo>
                  <a:pt x="601183" y="37898"/>
                </a:lnTo>
                <a:lnTo>
                  <a:pt x="610214" y="37384"/>
                </a:lnTo>
                <a:lnTo>
                  <a:pt x="644010" y="37384"/>
                </a:lnTo>
                <a:lnTo>
                  <a:pt x="65415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48790" y="5253970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5"/>
                </a:moveTo>
                <a:lnTo>
                  <a:pt x="85127" y="57110"/>
                </a:lnTo>
                <a:lnTo>
                  <a:pt x="1346258" y="104494"/>
                </a:lnTo>
                <a:lnTo>
                  <a:pt x="1352890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0" y="28555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4" y="85665"/>
                </a:lnTo>
                <a:lnTo>
                  <a:pt x="85127" y="57110"/>
                </a:lnTo>
                <a:lnTo>
                  <a:pt x="62965" y="56277"/>
                </a:lnTo>
                <a:lnTo>
                  <a:pt x="56813" y="49644"/>
                </a:lnTo>
                <a:lnTo>
                  <a:pt x="57405" y="33874"/>
                </a:lnTo>
                <a:lnTo>
                  <a:pt x="64038" y="27722"/>
                </a:lnTo>
                <a:lnTo>
                  <a:pt x="86231" y="27722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2"/>
                </a:moveTo>
                <a:lnTo>
                  <a:pt x="57405" y="33874"/>
                </a:lnTo>
                <a:lnTo>
                  <a:pt x="56813" y="49644"/>
                </a:lnTo>
                <a:lnTo>
                  <a:pt x="62965" y="56277"/>
                </a:lnTo>
                <a:lnTo>
                  <a:pt x="85127" y="57110"/>
                </a:lnTo>
                <a:lnTo>
                  <a:pt x="86200" y="28555"/>
                </a:lnTo>
                <a:lnTo>
                  <a:pt x="64038" y="27722"/>
                </a:lnTo>
                <a:close/>
              </a:path>
              <a:path w="1353820" h="104775">
                <a:moveTo>
                  <a:pt x="86231" y="27722"/>
                </a:moveTo>
                <a:lnTo>
                  <a:pt x="64038" y="27722"/>
                </a:lnTo>
                <a:lnTo>
                  <a:pt x="86200" y="28555"/>
                </a:lnTo>
                <a:lnTo>
                  <a:pt x="86231" y="2772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67474" y="5474953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4" h="603885">
                <a:moveTo>
                  <a:pt x="503694" y="52400"/>
                </a:moveTo>
                <a:lnTo>
                  <a:pt x="0" y="583977"/>
                </a:lnTo>
                <a:lnTo>
                  <a:pt x="243" y="593021"/>
                </a:lnTo>
                <a:lnTo>
                  <a:pt x="11699" y="603875"/>
                </a:lnTo>
                <a:lnTo>
                  <a:pt x="20742" y="603632"/>
                </a:lnTo>
                <a:lnTo>
                  <a:pt x="524435" y="72053"/>
                </a:lnTo>
                <a:lnTo>
                  <a:pt x="503694" y="52400"/>
                </a:lnTo>
                <a:close/>
              </a:path>
              <a:path w="573404" h="603885">
                <a:moveTo>
                  <a:pt x="562077" y="36057"/>
                </a:moveTo>
                <a:lnTo>
                  <a:pt x="527991" y="36057"/>
                </a:lnTo>
                <a:lnTo>
                  <a:pt x="539446" y="46912"/>
                </a:lnTo>
                <a:lnTo>
                  <a:pt x="539690" y="55954"/>
                </a:lnTo>
                <a:lnTo>
                  <a:pt x="524435" y="72053"/>
                </a:lnTo>
                <a:lnTo>
                  <a:pt x="545177" y="91707"/>
                </a:lnTo>
                <a:lnTo>
                  <a:pt x="562077" y="36057"/>
                </a:lnTo>
                <a:close/>
              </a:path>
              <a:path w="573404" h="603885">
                <a:moveTo>
                  <a:pt x="527991" y="36057"/>
                </a:moveTo>
                <a:lnTo>
                  <a:pt x="518948" y="36301"/>
                </a:lnTo>
                <a:lnTo>
                  <a:pt x="503694" y="52400"/>
                </a:lnTo>
                <a:lnTo>
                  <a:pt x="524435" y="72053"/>
                </a:lnTo>
                <a:lnTo>
                  <a:pt x="539690" y="55954"/>
                </a:lnTo>
                <a:lnTo>
                  <a:pt x="539446" y="46912"/>
                </a:lnTo>
                <a:lnTo>
                  <a:pt x="527991" y="36057"/>
                </a:lnTo>
                <a:close/>
              </a:path>
              <a:path w="573404" h="603885">
                <a:moveTo>
                  <a:pt x="573027" y="0"/>
                </a:moveTo>
                <a:lnTo>
                  <a:pt x="482951" y="32745"/>
                </a:lnTo>
                <a:lnTo>
                  <a:pt x="503694" y="52400"/>
                </a:lnTo>
                <a:lnTo>
                  <a:pt x="518948" y="36301"/>
                </a:lnTo>
                <a:lnTo>
                  <a:pt x="527991" y="36057"/>
                </a:lnTo>
                <a:lnTo>
                  <a:pt x="562077" y="36057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67978" y="5529242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2" y="47060"/>
                </a:moveTo>
                <a:lnTo>
                  <a:pt x="53849" y="68212"/>
                </a:lnTo>
                <a:lnTo>
                  <a:pt x="379855" y="364320"/>
                </a:lnTo>
                <a:lnTo>
                  <a:pt x="388891" y="363885"/>
                </a:lnTo>
                <a:lnTo>
                  <a:pt x="399501" y="352203"/>
                </a:lnTo>
                <a:lnTo>
                  <a:pt x="399067" y="343167"/>
                </a:lnTo>
                <a:lnTo>
                  <a:pt x="73062" y="47060"/>
                </a:lnTo>
                <a:close/>
              </a:path>
              <a:path w="400050" h="364489">
                <a:moveTo>
                  <a:pt x="0" y="0"/>
                </a:moveTo>
                <a:lnTo>
                  <a:pt x="34637" y="89365"/>
                </a:lnTo>
                <a:lnTo>
                  <a:pt x="53849" y="68212"/>
                </a:lnTo>
                <a:lnTo>
                  <a:pt x="37433" y="53301"/>
                </a:lnTo>
                <a:lnTo>
                  <a:pt x="36998" y="44265"/>
                </a:lnTo>
                <a:lnTo>
                  <a:pt x="47609" y="32583"/>
                </a:lnTo>
                <a:lnTo>
                  <a:pt x="56645" y="32148"/>
                </a:lnTo>
                <a:lnTo>
                  <a:pt x="86606" y="32148"/>
                </a:lnTo>
                <a:lnTo>
                  <a:pt x="92274" y="25907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48"/>
                </a:moveTo>
                <a:lnTo>
                  <a:pt x="47609" y="32583"/>
                </a:lnTo>
                <a:lnTo>
                  <a:pt x="36998" y="44265"/>
                </a:lnTo>
                <a:lnTo>
                  <a:pt x="37433" y="53301"/>
                </a:lnTo>
                <a:lnTo>
                  <a:pt x="53849" y="68212"/>
                </a:lnTo>
                <a:lnTo>
                  <a:pt x="73062" y="47060"/>
                </a:lnTo>
                <a:lnTo>
                  <a:pt x="56645" y="32148"/>
                </a:lnTo>
                <a:close/>
              </a:path>
              <a:path w="400050" h="364489">
                <a:moveTo>
                  <a:pt x="86606" y="32148"/>
                </a:moveTo>
                <a:lnTo>
                  <a:pt x="56645" y="32148"/>
                </a:lnTo>
                <a:lnTo>
                  <a:pt x="73062" y="47060"/>
                </a:lnTo>
                <a:lnTo>
                  <a:pt x="86606" y="32148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36074" y="5993221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1"/>
                </a:lnTo>
                <a:lnTo>
                  <a:pt x="92282" y="226754"/>
                </a:lnTo>
                <a:lnTo>
                  <a:pt x="87687" y="202887"/>
                </a:lnTo>
                <a:lnTo>
                  <a:pt x="65102" y="202887"/>
                </a:lnTo>
                <a:lnTo>
                  <a:pt x="57611" y="197815"/>
                </a:lnTo>
                <a:lnTo>
                  <a:pt x="54627" y="182318"/>
                </a:lnTo>
                <a:lnTo>
                  <a:pt x="59700" y="174827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700" y="174827"/>
                </a:lnTo>
                <a:lnTo>
                  <a:pt x="54627" y="182318"/>
                </a:lnTo>
                <a:lnTo>
                  <a:pt x="57611" y="197815"/>
                </a:lnTo>
                <a:lnTo>
                  <a:pt x="65102" y="202887"/>
                </a:lnTo>
                <a:lnTo>
                  <a:pt x="86879" y="198694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2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4"/>
                </a:lnTo>
                <a:lnTo>
                  <a:pt x="973171" y="28059"/>
                </a:lnTo>
                <a:lnTo>
                  <a:pt x="978244" y="20568"/>
                </a:lnTo>
                <a:lnTo>
                  <a:pt x="975259" y="5071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551835" y="4531867"/>
            <a:ext cx="1270635" cy="7696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800" spc="-40">
                <a:latin typeface="Arial"/>
                <a:cs typeface="Arial"/>
              </a:rPr>
              <a:t>Target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  <a:p>
            <a:pPr algn="ctr" marL="269240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3698929" y="6458203"/>
            <a:ext cx="1233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6181" y="5336032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34766" y="5491988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48675" y="4351527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34631" y="5204967"/>
            <a:ext cx="1638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8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0582" y="5357876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58739" y="5366511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74690" y="5467603"/>
            <a:ext cx="174625" cy="6781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87808" y="4434811"/>
            <a:ext cx="389890" cy="1046480"/>
          </a:xfrm>
          <a:prstGeom prst="rect">
            <a:avLst/>
          </a:prstGeom>
        </p:spPr>
        <p:txBody>
          <a:bodyPr wrap="square" lIns="0" tIns="224790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770"/>
              </a:spcBef>
            </a:pPr>
            <a:r>
              <a:rPr dirty="0" sz="2500" spc="-28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457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21869" y="5378703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37820" y="5531611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76396" y="5997447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960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322" y="1333500"/>
            <a:ext cx="37744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B050"/>
                </a:solidFill>
              </a:rPr>
              <a:t>Link </a:t>
            </a:r>
            <a:r>
              <a:rPr dirty="0" spc="-10">
                <a:solidFill>
                  <a:srgbClr val="00B050"/>
                </a:solidFill>
              </a:rPr>
              <a:t>prediction</a:t>
            </a:r>
            <a:r>
              <a:rPr dirty="0" spc="-25">
                <a:solidFill>
                  <a:srgbClr val="00B050"/>
                </a:solidFill>
              </a:rPr>
              <a:t> </a:t>
            </a:r>
            <a:r>
              <a:rPr dirty="0" spc="-5">
                <a:solidFill>
                  <a:srgbClr val="00B050"/>
                </a:solidFill>
              </a:rPr>
              <a:t>split:</a:t>
            </a:r>
          </a:p>
        </p:txBody>
      </p:sp>
      <p:sp>
        <p:nvSpPr>
          <p:cNvPr id="4" name="object 4"/>
          <p:cNvSpPr/>
          <p:nvPr/>
        </p:nvSpPr>
        <p:spPr>
          <a:xfrm>
            <a:off x="475058" y="221244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4710" y="2907902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4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5062" y="206961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19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40046" y="2175070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5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98477" y="2009833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5567" y="1822704"/>
            <a:ext cx="356616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57942" y="184243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57942" y="184243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7408" y="2767583"/>
            <a:ext cx="356616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0453" y="278550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0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0453" y="278550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88008" y="2767583"/>
            <a:ext cx="356616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30608" y="278550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30608" y="278550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33600" y="2008632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76622" y="202782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76622" y="202782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9936" y="1965960"/>
            <a:ext cx="359664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4101" y="19834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4101" y="19834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56424" y="202742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8784" y="183845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783" y="19817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37016" y="2005802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04153" y="2727339"/>
            <a:ext cx="2019935" cy="66294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 marR="60960">
              <a:lnSpc>
                <a:spcPct val="100000"/>
              </a:lnSpc>
              <a:spcBef>
                <a:spcPts val="540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original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57010" y="213997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76662" y="2835431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467014" y="199714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19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21998" y="2102599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80429" y="1937362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797552" y="1752600"/>
            <a:ext cx="356615" cy="3535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39894" y="17699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839894" y="17699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79391" y="2694432"/>
            <a:ext cx="356615" cy="356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22404" y="271303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22404" y="271303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269991" y="2694432"/>
            <a:ext cx="356615" cy="356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12560" y="271303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12560" y="271303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15584" y="1938527"/>
            <a:ext cx="356615" cy="353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58574" y="19553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58574" y="19553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931920" y="1892807"/>
            <a:ext cx="359663" cy="3566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976052" y="19110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976052" y="19110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938376" y="19542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10735" y="17653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051735" y="1908555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118968" y="1933331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4088876" y="2607564"/>
            <a:ext cx="2047875" cy="111696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930"/>
              </a:spcBef>
              <a:tabLst>
                <a:tab pos="130429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35"/>
              </a:spcBef>
            </a:pPr>
            <a:r>
              <a:rPr dirty="0" sz="2000" spc="-5" b="1">
                <a:latin typeface="Calibri"/>
                <a:cs typeface="Calibri"/>
              </a:rPr>
              <a:t>Split </a:t>
            </a:r>
            <a:r>
              <a:rPr dirty="0" sz="2000" spc="-10" b="1">
                <a:latin typeface="Calibri"/>
                <a:cs typeface="Calibri"/>
              </a:rPr>
              <a:t>Graph </a:t>
            </a:r>
            <a:r>
              <a:rPr dirty="0" sz="2000" spc="-5" b="1">
                <a:latin typeface="Calibri"/>
                <a:cs typeface="Calibri"/>
              </a:rPr>
              <a:t>with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4  </a:t>
            </a:r>
            <a:r>
              <a:rPr dirty="0" sz="2000" spc="-10" b="1">
                <a:latin typeface="Calibri"/>
                <a:cs typeface="Calibri"/>
              </a:rPr>
              <a:t>categories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edges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835081" y="2521197"/>
            <a:ext cx="718820" cy="85725"/>
          </a:xfrm>
          <a:custGeom>
            <a:avLst/>
            <a:gdLst/>
            <a:ahLst/>
            <a:cxnLst/>
            <a:rect l="l" t="t" r="r" b="b"/>
            <a:pathLst>
              <a:path w="718820" h="85725">
                <a:moveTo>
                  <a:pt x="689926" y="28575"/>
                </a:moveTo>
                <a:lnTo>
                  <a:pt x="654954" y="28575"/>
                </a:lnTo>
                <a:lnTo>
                  <a:pt x="661351" y="34971"/>
                </a:lnTo>
                <a:lnTo>
                  <a:pt x="661349" y="50754"/>
                </a:lnTo>
                <a:lnTo>
                  <a:pt x="654954" y="57150"/>
                </a:lnTo>
                <a:lnTo>
                  <a:pt x="632776" y="57150"/>
                </a:lnTo>
                <a:lnTo>
                  <a:pt x="632776" y="85725"/>
                </a:lnTo>
                <a:lnTo>
                  <a:pt x="718501" y="42862"/>
                </a:lnTo>
                <a:lnTo>
                  <a:pt x="689926" y="28575"/>
                </a:lnTo>
                <a:close/>
              </a:path>
              <a:path w="718820" h="85725">
                <a:moveTo>
                  <a:pt x="632776" y="28575"/>
                </a:moveTo>
                <a:lnTo>
                  <a:pt x="14287" y="28576"/>
                </a:lnTo>
                <a:lnTo>
                  <a:pt x="6395" y="28576"/>
                </a:lnTo>
                <a:lnTo>
                  <a:pt x="0" y="34971"/>
                </a:lnTo>
                <a:lnTo>
                  <a:pt x="0" y="50754"/>
                </a:lnTo>
                <a:lnTo>
                  <a:pt x="6395" y="57151"/>
                </a:lnTo>
                <a:lnTo>
                  <a:pt x="632776" y="57150"/>
                </a:lnTo>
                <a:lnTo>
                  <a:pt x="632776" y="28575"/>
                </a:lnTo>
                <a:close/>
              </a:path>
              <a:path w="718820" h="85725">
                <a:moveTo>
                  <a:pt x="654954" y="28575"/>
                </a:moveTo>
                <a:lnTo>
                  <a:pt x="632776" y="28575"/>
                </a:lnTo>
                <a:lnTo>
                  <a:pt x="632776" y="57150"/>
                </a:lnTo>
                <a:lnTo>
                  <a:pt x="654954" y="57150"/>
                </a:lnTo>
                <a:lnTo>
                  <a:pt x="661349" y="50754"/>
                </a:lnTo>
                <a:lnTo>
                  <a:pt x="661351" y="34971"/>
                </a:lnTo>
                <a:lnTo>
                  <a:pt x="654954" y="28575"/>
                </a:lnTo>
                <a:close/>
              </a:path>
              <a:path w="718820" h="85725">
                <a:moveTo>
                  <a:pt x="632776" y="0"/>
                </a:moveTo>
                <a:lnTo>
                  <a:pt x="632776" y="28575"/>
                </a:lnTo>
                <a:lnTo>
                  <a:pt x="689926" y="28575"/>
                </a:lnTo>
                <a:lnTo>
                  <a:pt x="6327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911845" y="2141220"/>
            <a:ext cx="4946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Sp</a:t>
            </a:r>
            <a:r>
              <a:rPr dirty="0" sz="2000" spc="-5" b="1">
                <a:latin typeface="Calibri"/>
                <a:cs typeface="Calibri"/>
              </a:rPr>
              <a:t>li</a:t>
            </a:r>
            <a:r>
              <a:rPr dirty="0" sz="2000" b="1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528028" y="4669938"/>
            <a:ext cx="2700655" cy="1200785"/>
          </a:xfrm>
          <a:custGeom>
            <a:avLst/>
            <a:gdLst/>
            <a:ahLst/>
            <a:cxnLst/>
            <a:rect l="l" t="t" r="r" b="b"/>
            <a:pathLst>
              <a:path w="2700654" h="1200785">
                <a:moveTo>
                  <a:pt x="0" y="0"/>
                </a:moveTo>
                <a:lnTo>
                  <a:pt x="2700035" y="0"/>
                </a:lnTo>
                <a:lnTo>
                  <a:pt x="2700035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C9A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5606768" y="4690364"/>
            <a:ext cx="2517140" cy="11258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message edges  </a:t>
            </a:r>
            <a:r>
              <a:rPr dirty="0" sz="1800" spc="-25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supervision edges  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Validation</a:t>
            </a:r>
            <a:r>
              <a:rPr dirty="0" sz="1800" spc="-5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edges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50" b="1">
                <a:solidFill>
                  <a:srgbClr val="60B5CC"/>
                </a:solidFill>
                <a:latin typeface="Calibri"/>
                <a:cs typeface="Calibri"/>
              </a:rPr>
              <a:t>Test</a:t>
            </a:r>
            <a:r>
              <a:rPr dirty="0" sz="1800" spc="-9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edges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87000" y="3609686"/>
            <a:ext cx="3315335" cy="1200785"/>
          </a:xfrm>
          <a:custGeom>
            <a:avLst/>
            <a:gdLst/>
            <a:ahLst/>
            <a:cxnLst/>
            <a:rect l="l" t="t" r="r" b="b"/>
            <a:pathLst>
              <a:path w="3315335" h="1200785">
                <a:moveTo>
                  <a:pt x="0" y="0"/>
                </a:moveTo>
                <a:lnTo>
                  <a:pt x="3315267" y="0"/>
                </a:lnTo>
                <a:lnTo>
                  <a:pt x="3315267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C9A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365740" y="3629659"/>
            <a:ext cx="3115310" cy="11258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message edges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1800" spc="-5">
                <a:solidFill>
                  <a:srgbClr val="C00000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C00000"/>
                </a:solidFill>
                <a:latin typeface="Cambria Math"/>
                <a:cs typeface="Cambria Math"/>
              </a:rPr>
              <a:t>𝟏  </a:t>
            </a:r>
            <a:r>
              <a:rPr dirty="0" sz="1800" spc="-25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supervision edges </a:t>
            </a:r>
            <a:r>
              <a:rPr dirty="0" sz="1800" spc="-15" b="1">
                <a:solidFill>
                  <a:srgbClr val="E88651"/>
                </a:solidFill>
                <a:latin typeface="Calibri"/>
                <a:cs typeface="Calibri"/>
              </a:rPr>
              <a:t>for </a:t>
            </a:r>
            <a:r>
              <a:rPr dirty="0" sz="1800" spc="-5">
                <a:solidFill>
                  <a:srgbClr val="E88651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E88651"/>
                </a:solidFill>
                <a:latin typeface="Cambria Math"/>
                <a:cs typeface="Cambria Math"/>
              </a:rPr>
              <a:t>𝟏  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Validation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edges for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6BB76D"/>
                </a:solidFill>
                <a:latin typeface="Cambria Math"/>
                <a:cs typeface="Cambria Math"/>
              </a:rPr>
              <a:t>𝒓</a:t>
            </a:r>
            <a:r>
              <a:rPr dirty="0" baseline="-17094" sz="1950" spc="-7">
                <a:solidFill>
                  <a:srgbClr val="6BB76D"/>
                </a:solidFill>
                <a:latin typeface="Cambria Math"/>
                <a:cs typeface="Cambria Math"/>
              </a:rPr>
              <a:t>𝟏</a:t>
            </a:r>
            <a:endParaRPr baseline="-17094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50" b="1">
                <a:solidFill>
                  <a:srgbClr val="60B5CC"/>
                </a:solidFill>
                <a:latin typeface="Calibri"/>
                <a:cs typeface="Calibri"/>
              </a:rPr>
              <a:t>Test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edges </a:t>
            </a:r>
            <a:r>
              <a:rPr dirty="0" sz="1800" spc="-15" b="1">
                <a:solidFill>
                  <a:srgbClr val="60B5CC"/>
                </a:solidFill>
                <a:latin typeface="Calibri"/>
                <a:cs typeface="Calibri"/>
              </a:rPr>
              <a:t>for</a:t>
            </a:r>
            <a:r>
              <a:rPr dirty="0" sz="1800" spc="-2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60B5CC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60B5CC"/>
                </a:solidFill>
                <a:latin typeface="Cambria Math"/>
                <a:cs typeface="Cambria Math"/>
              </a:rPr>
              <a:t>𝟏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87000" y="5477371"/>
            <a:ext cx="3369945" cy="1200785"/>
          </a:xfrm>
          <a:custGeom>
            <a:avLst/>
            <a:gdLst/>
            <a:ahLst/>
            <a:cxnLst/>
            <a:rect l="l" t="t" r="r" b="b"/>
            <a:pathLst>
              <a:path w="3369945" h="1200784">
                <a:moveTo>
                  <a:pt x="0" y="0"/>
                </a:moveTo>
                <a:lnTo>
                  <a:pt x="3369769" y="0"/>
                </a:lnTo>
                <a:lnTo>
                  <a:pt x="3369769" y="1200329"/>
                </a:lnTo>
                <a:lnTo>
                  <a:pt x="0" y="120032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C9A9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365740" y="5498084"/>
            <a:ext cx="3123565" cy="11258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message edges </a:t>
            </a:r>
            <a:r>
              <a:rPr dirty="0" sz="1800" spc="-15" b="1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1800" spc="-5">
                <a:solidFill>
                  <a:srgbClr val="C00000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C00000"/>
                </a:solidFill>
                <a:latin typeface="Cambria Math"/>
                <a:cs typeface="Cambria Math"/>
              </a:rPr>
              <a:t>𝒏  </a:t>
            </a:r>
            <a:r>
              <a:rPr dirty="0" sz="1800" spc="-25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supervision edges </a:t>
            </a:r>
            <a:r>
              <a:rPr dirty="0" sz="1800" spc="-15" b="1">
                <a:solidFill>
                  <a:srgbClr val="E88651"/>
                </a:solidFill>
                <a:latin typeface="Calibri"/>
                <a:cs typeface="Calibri"/>
              </a:rPr>
              <a:t>for </a:t>
            </a:r>
            <a:r>
              <a:rPr dirty="0" sz="1800" spc="-5">
                <a:solidFill>
                  <a:srgbClr val="E88651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E88651"/>
                </a:solidFill>
                <a:latin typeface="Cambria Math"/>
                <a:cs typeface="Cambria Math"/>
              </a:rPr>
              <a:t>𝒏  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Validation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edges for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6BB76D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6BB76D"/>
                </a:solidFill>
                <a:latin typeface="Cambria Math"/>
                <a:cs typeface="Cambria Math"/>
              </a:rPr>
              <a:t>𝒏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50" b="1">
                <a:solidFill>
                  <a:srgbClr val="60B5CC"/>
                </a:solidFill>
                <a:latin typeface="Calibri"/>
                <a:cs typeface="Calibri"/>
              </a:rPr>
              <a:t>Test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edges </a:t>
            </a:r>
            <a:r>
              <a:rPr dirty="0" sz="1800" spc="-15" b="1">
                <a:solidFill>
                  <a:srgbClr val="60B5CC"/>
                </a:solidFill>
                <a:latin typeface="Calibri"/>
                <a:cs typeface="Calibri"/>
              </a:rPr>
              <a:t>for</a:t>
            </a:r>
            <a:r>
              <a:rPr dirty="0" sz="1800" spc="-2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60B5CC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-7">
                <a:solidFill>
                  <a:srgbClr val="60B5CC"/>
                </a:solidFill>
                <a:latin typeface="Cambria Math"/>
                <a:cs typeface="Cambria Math"/>
              </a:rPr>
              <a:t>𝒏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24897" y="4925059"/>
            <a:ext cx="381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…</a:t>
            </a:r>
            <a:r>
              <a:rPr dirty="0" sz="1800" spc="-5">
                <a:latin typeface="Arial"/>
                <a:cs typeface="Arial"/>
              </a:rPr>
              <a:t>.</a:t>
            </a:r>
            <a:r>
              <a:rPr dirty="0" sz="180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468709" y="1520444"/>
            <a:ext cx="2392045" cy="272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1280" marR="300990">
              <a:lnSpc>
                <a:spcPct val="100400"/>
              </a:lnSpc>
              <a:spcBef>
                <a:spcPts val="90"/>
              </a:spcBef>
            </a:pPr>
            <a:r>
              <a:rPr dirty="0" sz="1800" spc="-20" b="1">
                <a:solidFill>
                  <a:srgbClr val="FF0000"/>
                </a:solidFill>
                <a:latin typeface="Calibri"/>
                <a:cs typeface="Calibri"/>
              </a:rPr>
              <a:t>Every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edge </a:t>
            </a:r>
            <a:r>
              <a:rPr dirty="0" sz="1800" spc="-5" b="1">
                <a:solidFill>
                  <a:srgbClr val="FF0000"/>
                </a:solidFill>
                <a:latin typeface="Calibri"/>
                <a:cs typeface="Calibri"/>
              </a:rPr>
              <a:t>also has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a 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relation </a:t>
            </a:r>
            <a:r>
              <a:rPr dirty="0" sz="1800" spc="-5" b="1">
                <a:solidFill>
                  <a:srgbClr val="FF0000"/>
                </a:solidFill>
                <a:latin typeface="Calibri"/>
                <a:cs typeface="Calibri"/>
              </a:rPr>
              <a:t>type, this is 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independent </a:t>
            </a:r>
            <a:r>
              <a:rPr dirty="0" sz="1800" spc="-5" b="1">
                <a:solidFill>
                  <a:srgbClr val="FF0000"/>
                </a:solidFill>
                <a:latin typeface="Calibri"/>
                <a:cs typeface="Calibri"/>
              </a:rPr>
              <a:t>of the </a:t>
            </a:r>
            <a:r>
              <a:rPr dirty="0" sz="1800" b="1">
                <a:solidFill>
                  <a:srgbClr val="FF0000"/>
                </a:solidFill>
                <a:latin typeface="Calibri"/>
                <a:cs typeface="Calibri"/>
              </a:rPr>
              <a:t>4  </a:t>
            </a:r>
            <a:r>
              <a:rPr dirty="0" sz="1800" spc="-15" b="1">
                <a:solidFill>
                  <a:srgbClr val="FF0000"/>
                </a:solidFill>
                <a:latin typeface="Calibri"/>
                <a:cs typeface="Calibri"/>
              </a:rPr>
              <a:t>categories.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9700"/>
              </a:lnSpc>
              <a:spcBef>
                <a:spcPts val="1850"/>
              </a:spcBef>
            </a:pPr>
            <a:r>
              <a:rPr dirty="0" sz="1800" spc="-5" b="1">
                <a:solidFill>
                  <a:srgbClr val="B48200"/>
                </a:solidFill>
                <a:latin typeface="Calibri"/>
                <a:cs typeface="Calibri"/>
              </a:rPr>
              <a:t>In </a:t>
            </a:r>
            <a:r>
              <a:rPr dirty="0" sz="1800" b="1">
                <a:solidFill>
                  <a:srgbClr val="B48200"/>
                </a:solidFill>
                <a:latin typeface="Calibri"/>
                <a:cs typeface="Calibri"/>
              </a:rPr>
              <a:t>a </a:t>
            </a:r>
            <a:r>
              <a:rPr dirty="0" sz="1800" spc="-15" b="1">
                <a:solidFill>
                  <a:srgbClr val="B48200"/>
                </a:solidFill>
                <a:latin typeface="Calibri"/>
                <a:cs typeface="Calibri"/>
              </a:rPr>
              <a:t>heterogeneous  graph, </a:t>
            </a:r>
            <a:r>
              <a:rPr dirty="0" sz="1800" spc="-5" b="1">
                <a:solidFill>
                  <a:srgbClr val="B48200"/>
                </a:solidFill>
                <a:latin typeface="Calibri"/>
                <a:cs typeface="Calibri"/>
              </a:rPr>
              <a:t>the </a:t>
            </a:r>
            <a:r>
              <a:rPr dirty="0" sz="1800" spc="-10" b="1">
                <a:solidFill>
                  <a:srgbClr val="B48200"/>
                </a:solidFill>
                <a:latin typeface="Calibri"/>
                <a:cs typeface="Calibri"/>
              </a:rPr>
              <a:t>homogeneous  </a:t>
            </a:r>
            <a:r>
              <a:rPr dirty="0" sz="1800" spc="-15" b="1">
                <a:solidFill>
                  <a:srgbClr val="B48200"/>
                </a:solidFill>
                <a:latin typeface="Calibri"/>
                <a:cs typeface="Calibri"/>
              </a:rPr>
              <a:t>graphs </a:t>
            </a:r>
            <a:r>
              <a:rPr dirty="0" sz="1800" spc="-10" b="1">
                <a:solidFill>
                  <a:srgbClr val="B48200"/>
                </a:solidFill>
                <a:latin typeface="Calibri"/>
                <a:cs typeface="Calibri"/>
              </a:rPr>
              <a:t>formed by every  single </a:t>
            </a:r>
            <a:r>
              <a:rPr dirty="0" sz="1800" spc="-15" b="1">
                <a:solidFill>
                  <a:srgbClr val="B48200"/>
                </a:solidFill>
                <a:latin typeface="Calibri"/>
                <a:cs typeface="Calibri"/>
              </a:rPr>
              <a:t>relation </a:t>
            </a:r>
            <a:r>
              <a:rPr dirty="0" sz="1800" spc="-5" b="1">
                <a:solidFill>
                  <a:srgbClr val="B48200"/>
                </a:solidFill>
                <a:latin typeface="Calibri"/>
                <a:cs typeface="Calibri"/>
              </a:rPr>
              <a:t>also </a:t>
            </a:r>
            <a:r>
              <a:rPr dirty="0" sz="1800" spc="-15" b="1">
                <a:solidFill>
                  <a:srgbClr val="B48200"/>
                </a:solidFill>
                <a:latin typeface="Calibri"/>
                <a:cs typeface="Calibri"/>
              </a:rPr>
              <a:t>have  </a:t>
            </a:r>
            <a:r>
              <a:rPr dirty="0" sz="1800" spc="-5" b="1">
                <a:solidFill>
                  <a:srgbClr val="B48200"/>
                </a:solidFill>
                <a:latin typeface="Calibri"/>
                <a:cs typeface="Calibri"/>
              </a:rPr>
              <a:t>the </a:t>
            </a:r>
            <a:r>
              <a:rPr dirty="0" sz="1800" b="1">
                <a:solidFill>
                  <a:srgbClr val="B48200"/>
                </a:solidFill>
                <a:latin typeface="Calibri"/>
                <a:cs typeface="Calibri"/>
              </a:rPr>
              <a:t>4</a:t>
            </a:r>
            <a:r>
              <a:rPr dirty="0" sz="1800" spc="-75" b="1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B48200"/>
                </a:solidFill>
                <a:latin typeface="Calibri"/>
                <a:cs typeface="Calibri"/>
              </a:rPr>
              <a:t>splits.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406631" y="3766229"/>
            <a:ext cx="2256790" cy="1118235"/>
          </a:xfrm>
          <a:custGeom>
            <a:avLst/>
            <a:gdLst/>
            <a:ahLst/>
            <a:cxnLst/>
            <a:rect l="l" t="t" r="r" b="b"/>
            <a:pathLst>
              <a:path w="2256790" h="1118235">
                <a:moveTo>
                  <a:pt x="2183686" y="1092043"/>
                </a:moveTo>
                <a:lnTo>
                  <a:pt x="2171057" y="1117676"/>
                </a:lnTo>
                <a:lnTo>
                  <a:pt x="2256248" y="1117177"/>
                </a:lnTo>
                <a:lnTo>
                  <a:pt x="2243194" y="1099981"/>
                </a:lnTo>
                <a:lnTo>
                  <a:pt x="2199796" y="1099981"/>
                </a:lnTo>
                <a:lnTo>
                  <a:pt x="2183686" y="1092043"/>
                </a:lnTo>
                <a:close/>
              </a:path>
              <a:path w="2256790" h="1118235">
                <a:moveTo>
                  <a:pt x="2192105" y="1074955"/>
                </a:moveTo>
                <a:lnTo>
                  <a:pt x="2183686" y="1092043"/>
                </a:lnTo>
                <a:lnTo>
                  <a:pt x="2199796" y="1099981"/>
                </a:lnTo>
                <a:lnTo>
                  <a:pt x="2205507" y="1098040"/>
                </a:lnTo>
                <a:lnTo>
                  <a:pt x="2210156" y="1088603"/>
                </a:lnTo>
                <a:lnTo>
                  <a:pt x="2208216" y="1082893"/>
                </a:lnTo>
                <a:lnTo>
                  <a:pt x="2192105" y="1074955"/>
                </a:lnTo>
                <a:close/>
              </a:path>
              <a:path w="2256790" h="1118235">
                <a:moveTo>
                  <a:pt x="2204735" y="1049322"/>
                </a:moveTo>
                <a:lnTo>
                  <a:pt x="2192105" y="1074955"/>
                </a:lnTo>
                <a:lnTo>
                  <a:pt x="2208216" y="1082893"/>
                </a:lnTo>
                <a:lnTo>
                  <a:pt x="2210156" y="1088603"/>
                </a:lnTo>
                <a:lnTo>
                  <a:pt x="2205507" y="1098040"/>
                </a:lnTo>
                <a:lnTo>
                  <a:pt x="2199796" y="1099981"/>
                </a:lnTo>
                <a:lnTo>
                  <a:pt x="2243194" y="1099981"/>
                </a:lnTo>
                <a:lnTo>
                  <a:pt x="2204735" y="1049322"/>
                </a:lnTo>
                <a:close/>
              </a:path>
              <a:path w="2256790" h="1118235">
                <a:moveTo>
                  <a:pt x="10360" y="0"/>
                </a:moveTo>
                <a:lnTo>
                  <a:pt x="4650" y="1940"/>
                </a:lnTo>
                <a:lnTo>
                  <a:pt x="0" y="11377"/>
                </a:lnTo>
                <a:lnTo>
                  <a:pt x="1940" y="17089"/>
                </a:lnTo>
                <a:lnTo>
                  <a:pt x="2183686" y="1092043"/>
                </a:lnTo>
                <a:lnTo>
                  <a:pt x="2192105" y="1074955"/>
                </a:lnTo>
                <a:lnTo>
                  <a:pt x="1036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00574" y="4918496"/>
            <a:ext cx="2462530" cy="788670"/>
          </a:xfrm>
          <a:custGeom>
            <a:avLst/>
            <a:gdLst/>
            <a:ahLst/>
            <a:cxnLst/>
            <a:rect l="l" t="t" r="r" b="b"/>
            <a:pathLst>
              <a:path w="2462529" h="788670">
                <a:moveTo>
                  <a:pt x="2386723" y="27281"/>
                </a:moveTo>
                <a:lnTo>
                  <a:pt x="2802" y="769995"/>
                </a:lnTo>
                <a:lnTo>
                  <a:pt x="0" y="775335"/>
                </a:lnTo>
                <a:lnTo>
                  <a:pt x="3129" y="785379"/>
                </a:lnTo>
                <a:lnTo>
                  <a:pt x="8468" y="788182"/>
                </a:lnTo>
                <a:lnTo>
                  <a:pt x="2392389" y="45469"/>
                </a:lnTo>
                <a:lnTo>
                  <a:pt x="2386723" y="27281"/>
                </a:lnTo>
                <a:close/>
              </a:path>
              <a:path w="2462529" h="788670">
                <a:moveTo>
                  <a:pt x="2453746" y="21939"/>
                </a:moveTo>
                <a:lnTo>
                  <a:pt x="2403869" y="21939"/>
                </a:lnTo>
                <a:lnTo>
                  <a:pt x="2409210" y="24742"/>
                </a:lnTo>
                <a:lnTo>
                  <a:pt x="2412339" y="34787"/>
                </a:lnTo>
                <a:lnTo>
                  <a:pt x="2409536" y="40126"/>
                </a:lnTo>
                <a:lnTo>
                  <a:pt x="2392389" y="45469"/>
                </a:lnTo>
                <a:lnTo>
                  <a:pt x="2400889" y="72751"/>
                </a:lnTo>
                <a:lnTo>
                  <a:pt x="2453746" y="21939"/>
                </a:lnTo>
                <a:close/>
              </a:path>
              <a:path w="2462529" h="788670">
                <a:moveTo>
                  <a:pt x="2403869" y="21939"/>
                </a:moveTo>
                <a:lnTo>
                  <a:pt x="2386723" y="27281"/>
                </a:lnTo>
                <a:lnTo>
                  <a:pt x="2392389" y="45469"/>
                </a:lnTo>
                <a:lnTo>
                  <a:pt x="2409536" y="40126"/>
                </a:lnTo>
                <a:lnTo>
                  <a:pt x="2412339" y="34787"/>
                </a:lnTo>
                <a:lnTo>
                  <a:pt x="2409210" y="24742"/>
                </a:lnTo>
                <a:lnTo>
                  <a:pt x="2403869" y="21939"/>
                </a:lnTo>
                <a:close/>
              </a:path>
              <a:path w="2462529" h="788670">
                <a:moveTo>
                  <a:pt x="2378223" y="0"/>
                </a:moveTo>
                <a:lnTo>
                  <a:pt x="2386723" y="27281"/>
                </a:lnTo>
                <a:lnTo>
                  <a:pt x="2403869" y="21939"/>
                </a:lnTo>
                <a:lnTo>
                  <a:pt x="2453746" y="21939"/>
                </a:lnTo>
                <a:lnTo>
                  <a:pt x="2462306" y="13710"/>
                </a:lnTo>
                <a:lnTo>
                  <a:pt x="23782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99008" y="4031579"/>
            <a:ext cx="2133600" cy="1103630"/>
          </a:xfrm>
          <a:custGeom>
            <a:avLst/>
            <a:gdLst/>
            <a:ahLst/>
            <a:cxnLst/>
            <a:rect l="l" t="t" r="r" b="b"/>
            <a:pathLst>
              <a:path w="2133600" h="1103629">
                <a:moveTo>
                  <a:pt x="2061280" y="1076724"/>
                </a:moveTo>
                <a:lnTo>
                  <a:pt x="2048205" y="1102132"/>
                </a:lnTo>
                <a:lnTo>
                  <a:pt x="2133394" y="1103121"/>
                </a:lnTo>
                <a:lnTo>
                  <a:pt x="2120086" y="1084941"/>
                </a:lnTo>
                <a:lnTo>
                  <a:pt x="2077250" y="1084941"/>
                </a:lnTo>
                <a:lnTo>
                  <a:pt x="2061280" y="1076724"/>
                </a:lnTo>
                <a:close/>
              </a:path>
              <a:path w="2133600" h="1103629">
                <a:moveTo>
                  <a:pt x="2069997" y="1059785"/>
                </a:moveTo>
                <a:lnTo>
                  <a:pt x="2061280" y="1076724"/>
                </a:lnTo>
                <a:lnTo>
                  <a:pt x="2077250" y="1084941"/>
                </a:lnTo>
                <a:lnTo>
                  <a:pt x="2082994" y="1083101"/>
                </a:lnTo>
                <a:lnTo>
                  <a:pt x="2087807" y="1073746"/>
                </a:lnTo>
                <a:lnTo>
                  <a:pt x="2085967" y="1068003"/>
                </a:lnTo>
                <a:lnTo>
                  <a:pt x="2069997" y="1059785"/>
                </a:lnTo>
                <a:close/>
              </a:path>
              <a:path w="2133600" h="1103629">
                <a:moveTo>
                  <a:pt x="2083073" y="1034376"/>
                </a:moveTo>
                <a:lnTo>
                  <a:pt x="2069997" y="1059785"/>
                </a:lnTo>
                <a:lnTo>
                  <a:pt x="2085967" y="1068003"/>
                </a:lnTo>
                <a:lnTo>
                  <a:pt x="2087807" y="1073746"/>
                </a:lnTo>
                <a:lnTo>
                  <a:pt x="2082994" y="1083101"/>
                </a:lnTo>
                <a:lnTo>
                  <a:pt x="2077250" y="1084941"/>
                </a:lnTo>
                <a:lnTo>
                  <a:pt x="2120086" y="1084941"/>
                </a:lnTo>
                <a:lnTo>
                  <a:pt x="2083073" y="1034376"/>
                </a:lnTo>
                <a:close/>
              </a:path>
              <a:path w="2133600" h="1103629">
                <a:moveTo>
                  <a:pt x="10557" y="0"/>
                </a:moveTo>
                <a:lnTo>
                  <a:pt x="4814" y="1840"/>
                </a:lnTo>
                <a:lnTo>
                  <a:pt x="0" y="11196"/>
                </a:lnTo>
                <a:lnTo>
                  <a:pt x="1840" y="16939"/>
                </a:lnTo>
                <a:lnTo>
                  <a:pt x="2061280" y="1076724"/>
                </a:lnTo>
                <a:lnTo>
                  <a:pt x="2069997" y="1059785"/>
                </a:lnTo>
                <a:lnTo>
                  <a:pt x="1055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518555" y="5173084"/>
            <a:ext cx="2113915" cy="767715"/>
          </a:xfrm>
          <a:custGeom>
            <a:avLst/>
            <a:gdLst/>
            <a:ahLst/>
            <a:cxnLst/>
            <a:rect l="l" t="t" r="r" b="b"/>
            <a:pathLst>
              <a:path w="2113915" h="767714">
                <a:moveTo>
                  <a:pt x="2038850" y="26929"/>
                </a:moveTo>
                <a:lnTo>
                  <a:pt x="2593" y="749711"/>
                </a:lnTo>
                <a:lnTo>
                  <a:pt x="0" y="755156"/>
                </a:lnTo>
                <a:lnTo>
                  <a:pt x="3520" y="765072"/>
                </a:lnTo>
                <a:lnTo>
                  <a:pt x="8964" y="767664"/>
                </a:lnTo>
                <a:lnTo>
                  <a:pt x="2045222" y="44881"/>
                </a:lnTo>
                <a:lnTo>
                  <a:pt x="2038850" y="26929"/>
                </a:lnTo>
                <a:close/>
              </a:path>
              <a:path w="2113915" h="767714">
                <a:moveTo>
                  <a:pt x="2103743" y="20919"/>
                </a:moveTo>
                <a:lnTo>
                  <a:pt x="2055782" y="20919"/>
                </a:lnTo>
                <a:lnTo>
                  <a:pt x="2061226" y="23512"/>
                </a:lnTo>
                <a:lnTo>
                  <a:pt x="2064746" y="33427"/>
                </a:lnTo>
                <a:lnTo>
                  <a:pt x="2062153" y="38872"/>
                </a:lnTo>
                <a:lnTo>
                  <a:pt x="2045222" y="44881"/>
                </a:lnTo>
                <a:lnTo>
                  <a:pt x="2054781" y="71810"/>
                </a:lnTo>
                <a:lnTo>
                  <a:pt x="2103743" y="20919"/>
                </a:lnTo>
                <a:close/>
              </a:path>
              <a:path w="2113915" h="767714">
                <a:moveTo>
                  <a:pt x="2055782" y="20919"/>
                </a:moveTo>
                <a:lnTo>
                  <a:pt x="2038850" y="26929"/>
                </a:lnTo>
                <a:lnTo>
                  <a:pt x="2045222" y="44881"/>
                </a:lnTo>
                <a:lnTo>
                  <a:pt x="2062153" y="38872"/>
                </a:lnTo>
                <a:lnTo>
                  <a:pt x="2064746" y="33427"/>
                </a:lnTo>
                <a:lnTo>
                  <a:pt x="2061226" y="23512"/>
                </a:lnTo>
                <a:lnTo>
                  <a:pt x="2055782" y="20919"/>
                </a:lnTo>
                <a:close/>
              </a:path>
              <a:path w="2113915" h="767714">
                <a:moveTo>
                  <a:pt x="2029292" y="0"/>
                </a:moveTo>
                <a:lnTo>
                  <a:pt x="2038850" y="26929"/>
                </a:lnTo>
                <a:lnTo>
                  <a:pt x="2055782" y="20919"/>
                </a:lnTo>
                <a:lnTo>
                  <a:pt x="2103743" y="20919"/>
                </a:lnTo>
                <a:lnTo>
                  <a:pt x="2113847" y="10416"/>
                </a:lnTo>
                <a:lnTo>
                  <a:pt x="2029292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68544" y="4381325"/>
            <a:ext cx="2114550" cy="1020444"/>
          </a:xfrm>
          <a:custGeom>
            <a:avLst/>
            <a:gdLst/>
            <a:ahLst/>
            <a:cxnLst/>
            <a:rect l="l" t="t" r="r" b="b"/>
            <a:pathLst>
              <a:path w="2114550" h="1020445">
                <a:moveTo>
                  <a:pt x="2041152" y="994390"/>
                </a:moveTo>
                <a:lnTo>
                  <a:pt x="2028803" y="1020159"/>
                </a:lnTo>
                <a:lnTo>
                  <a:pt x="2113986" y="1018731"/>
                </a:lnTo>
                <a:lnTo>
                  <a:pt x="2101112" y="1002153"/>
                </a:lnTo>
                <a:lnTo>
                  <a:pt x="2057351" y="1002153"/>
                </a:lnTo>
                <a:lnTo>
                  <a:pt x="2041152" y="994390"/>
                </a:lnTo>
                <a:close/>
              </a:path>
              <a:path w="2114550" h="1020445">
                <a:moveTo>
                  <a:pt x="2049385" y="977211"/>
                </a:moveTo>
                <a:lnTo>
                  <a:pt x="2041152" y="994390"/>
                </a:lnTo>
                <a:lnTo>
                  <a:pt x="2057351" y="1002153"/>
                </a:lnTo>
                <a:lnTo>
                  <a:pt x="2063040" y="1000150"/>
                </a:lnTo>
                <a:lnTo>
                  <a:pt x="2067586" y="990662"/>
                </a:lnTo>
                <a:lnTo>
                  <a:pt x="2065583" y="984973"/>
                </a:lnTo>
                <a:lnTo>
                  <a:pt x="2049385" y="977211"/>
                </a:lnTo>
                <a:close/>
              </a:path>
              <a:path w="2114550" h="1020445">
                <a:moveTo>
                  <a:pt x="2061734" y="951442"/>
                </a:moveTo>
                <a:lnTo>
                  <a:pt x="2049385" y="977211"/>
                </a:lnTo>
                <a:lnTo>
                  <a:pt x="2065583" y="984973"/>
                </a:lnTo>
                <a:lnTo>
                  <a:pt x="2067586" y="990662"/>
                </a:lnTo>
                <a:lnTo>
                  <a:pt x="2063040" y="1000150"/>
                </a:lnTo>
                <a:lnTo>
                  <a:pt x="2057351" y="1002153"/>
                </a:lnTo>
                <a:lnTo>
                  <a:pt x="2101112" y="1002153"/>
                </a:lnTo>
                <a:lnTo>
                  <a:pt x="2061734" y="951442"/>
                </a:lnTo>
                <a:close/>
              </a:path>
              <a:path w="2114550" h="1020445">
                <a:moveTo>
                  <a:pt x="10234" y="0"/>
                </a:moveTo>
                <a:lnTo>
                  <a:pt x="4546" y="2002"/>
                </a:lnTo>
                <a:lnTo>
                  <a:pt x="0" y="11489"/>
                </a:lnTo>
                <a:lnTo>
                  <a:pt x="2002" y="17179"/>
                </a:lnTo>
                <a:lnTo>
                  <a:pt x="2041152" y="994390"/>
                </a:lnTo>
                <a:lnTo>
                  <a:pt x="2049385" y="977211"/>
                </a:lnTo>
                <a:lnTo>
                  <a:pt x="10234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9901" y="5439422"/>
            <a:ext cx="2152650" cy="808990"/>
          </a:xfrm>
          <a:custGeom>
            <a:avLst/>
            <a:gdLst/>
            <a:ahLst/>
            <a:cxnLst/>
            <a:rect l="l" t="t" r="r" b="b"/>
            <a:pathLst>
              <a:path w="2152650" h="808989">
                <a:moveTo>
                  <a:pt x="2077701" y="26816"/>
                </a:moveTo>
                <a:lnTo>
                  <a:pt x="2529" y="790614"/>
                </a:lnTo>
                <a:lnTo>
                  <a:pt x="0" y="796089"/>
                </a:lnTo>
                <a:lnTo>
                  <a:pt x="3634" y="805962"/>
                </a:lnTo>
                <a:lnTo>
                  <a:pt x="9109" y="808491"/>
                </a:lnTo>
                <a:lnTo>
                  <a:pt x="2084281" y="44694"/>
                </a:lnTo>
                <a:lnTo>
                  <a:pt x="2077701" y="26816"/>
                </a:lnTo>
                <a:close/>
              </a:path>
              <a:path w="2152650" h="808989">
                <a:moveTo>
                  <a:pt x="2141996" y="20610"/>
                </a:moveTo>
                <a:lnTo>
                  <a:pt x="2094561" y="20610"/>
                </a:lnTo>
                <a:lnTo>
                  <a:pt x="2100036" y="23140"/>
                </a:lnTo>
                <a:lnTo>
                  <a:pt x="2103669" y="33013"/>
                </a:lnTo>
                <a:lnTo>
                  <a:pt x="2101141" y="38488"/>
                </a:lnTo>
                <a:lnTo>
                  <a:pt x="2084281" y="44694"/>
                </a:lnTo>
                <a:lnTo>
                  <a:pt x="2094151" y="71511"/>
                </a:lnTo>
                <a:lnTo>
                  <a:pt x="2141996" y="20610"/>
                </a:lnTo>
                <a:close/>
              </a:path>
              <a:path w="2152650" h="808989">
                <a:moveTo>
                  <a:pt x="2094561" y="20610"/>
                </a:moveTo>
                <a:lnTo>
                  <a:pt x="2077701" y="26816"/>
                </a:lnTo>
                <a:lnTo>
                  <a:pt x="2084281" y="44694"/>
                </a:lnTo>
                <a:lnTo>
                  <a:pt x="2101141" y="38488"/>
                </a:lnTo>
                <a:lnTo>
                  <a:pt x="2103669" y="33013"/>
                </a:lnTo>
                <a:lnTo>
                  <a:pt x="2100036" y="23140"/>
                </a:lnTo>
                <a:lnTo>
                  <a:pt x="2094561" y="20610"/>
                </a:lnTo>
                <a:close/>
              </a:path>
              <a:path w="2152650" h="808989">
                <a:moveTo>
                  <a:pt x="2067831" y="0"/>
                </a:moveTo>
                <a:lnTo>
                  <a:pt x="2077701" y="26816"/>
                </a:lnTo>
                <a:lnTo>
                  <a:pt x="2094561" y="20610"/>
                </a:lnTo>
                <a:lnTo>
                  <a:pt x="2141996" y="20610"/>
                </a:lnTo>
                <a:lnTo>
                  <a:pt x="2152501" y="9434"/>
                </a:lnTo>
                <a:lnTo>
                  <a:pt x="2067831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99024" y="4686524"/>
            <a:ext cx="2145665" cy="1028065"/>
          </a:xfrm>
          <a:custGeom>
            <a:avLst/>
            <a:gdLst/>
            <a:ahLst/>
            <a:cxnLst/>
            <a:rect l="l" t="t" r="r" b="b"/>
            <a:pathLst>
              <a:path w="2145665" h="1028064">
                <a:moveTo>
                  <a:pt x="2072504" y="1001670"/>
                </a:moveTo>
                <a:lnTo>
                  <a:pt x="2060234" y="1027476"/>
                </a:lnTo>
                <a:lnTo>
                  <a:pt x="2145412" y="1025788"/>
                </a:lnTo>
                <a:lnTo>
                  <a:pt x="2132593" y="1009384"/>
                </a:lnTo>
                <a:lnTo>
                  <a:pt x="2088729" y="1009384"/>
                </a:lnTo>
                <a:lnTo>
                  <a:pt x="2072504" y="1001670"/>
                </a:lnTo>
                <a:close/>
              </a:path>
              <a:path w="2145665" h="1028064">
                <a:moveTo>
                  <a:pt x="2080684" y="984465"/>
                </a:moveTo>
                <a:lnTo>
                  <a:pt x="2072504" y="1001670"/>
                </a:lnTo>
                <a:lnTo>
                  <a:pt x="2088729" y="1009384"/>
                </a:lnTo>
                <a:lnTo>
                  <a:pt x="2094412" y="1007364"/>
                </a:lnTo>
                <a:lnTo>
                  <a:pt x="2098930" y="997863"/>
                </a:lnTo>
                <a:lnTo>
                  <a:pt x="2096909" y="992180"/>
                </a:lnTo>
                <a:lnTo>
                  <a:pt x="2080684" y="984465"/>
                </a:lnTo>
                <a:close/>
              </a:path>
              <a:path w="2145665" h="1028064">
                <a:moveTo>
                  <a:pt x="2092954" y="958659"/>
                </a:moveTo>
                <a:lnTo>
                  <a:pt x="2080684" y="984465"/>
                </a:lnTo>
                <a:lnTo>
                  <a:pt x="2096909" y="992180"/>
                </a:lnTo>
                <a:lnTo>
                  <a:pt x="2098930" y="997863"/>
                </a:lnTo>
                <a:lnTo>
                  <a:pt x="2094412" y="1007364"/>
                </a:lnTo>
                <a:lnTo>
                  <a:pt x="2088729" y="1009384"/>
                </a:lnTo>
                <a:lnTo>
                  <a:pt x="2132593" y="1009384"/>
                </a:lnTo>
                <a:lnTo>
                  <a:pt x="2092954" y="958659"/>
                </a:lnTo>
                <a:close/>
              </a:path>
              <a:path w="2145665" h="1028064">
                <a:moveTo>
                  <a:pt x="10200" y="0"/>
                </a:moveTo>
                <a:lnTo>
                  <a:pt x="4517" y="2020"/>
                </a:lnTo>
                <a:lnTo>
                  <a:pt x="0" y="11521"/>
                </a:lnTo>
                <a:lnTo>
                  <a:pt x="2020" y="17204"/>
                </a:lnTo>
                <a:lnTo>
                  <a:pt x="2072504" y="1001670"/>
                </a:lnTo>
                <a:lnTo>
                  <a:pt x="2080684" y="984465"/>
                </a:lnTo>
                <a:lnTo>
                  <a:pt x="10200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499106" y="5736642"/>
            <a:ext cx="2133600" cy="836294"/>
          </a:xfrm>
          <a:custGeom>
            <a:avLst/>
            <a:gdLst/>
            <a:ahLst/>
            <a:cxnLst/>
            <a:rect l="l" t="t" r="r" b="b"/>
            <a:pathLst>
              <a:path w="2133600" h="836295">
                <a:moveTo>
                  <a:pt x="2058762" y="26666"/>
                </a:moveTo>
                <a:lnTo>
                  <a:pt x="2447" y="818347"/>
                </a:lnTo>
                <a:lnTo>
                  <a:pt x="0" y="823859"/>
                </a:lnTo>
                <a:lnTo>
                  <a:pt x="3779" y="833678"/>
                </a:lnTo>
                <a:lnTo>
                  <a:pt x="9291" y="836125"/>
                </a:lnTo>
                <a:lnTo>
                  <a:pt x="2065606" y="44444"/>
                </a:lnTo>
                <a:lnTo>
                  <a:pt x="2058762" y="26666"/>
                </a:lnTo>
                <a:close/>
              </a:path>
              <a:path w="2133600" h="836295">
                <a:moveTo>
                  <a:pt x="2122314" y="20213"/>
                </a:moveTo>
                <a:lnTo>
                  <a:pt x="2075522" y="20213"/>
                </a:lnTo>
                <a:lnTo>
                  <a:pt x="2081034" y="22661"/>
                </a:lnTo>
                <a:lnTo>
                  <a:pt x="2084815" y="32479"/>
                </a:lnTo>
                <a:lnTo>
                  <a:pt x="2082368" y="37991"/>
                </a:lnTo>
                <a:lnTo>
                  <a:pt x="2065606" y="44444"/>
                </a:lnTo>
                <a:lnTo>
                  <a:pt x="2075873" y="71111"/>
                </a:lnTo>
                <a:lnTo>
                  <a:pt x="2122314" y="20213"/>
                </a:lnTo>
                <a:close/>
              </a:path>
              <a:path w="2133600" h="836295">
                <a:moveTo>
                  <a:pt x="2075522" y="20213"/>
                </a:moveTo>
                <a:lnTo>
                  <a:pt x="2058762" y="26666"/>
                </a:lnTo>
                <a:lnTo>
                  <a:pt x="2065606" y="44444"/>
                </a:lnTo>
                <a:lnTo>
                  <a:pt x="2082368" y="37991"/>
                </a:lnTo>
                <a:lnTo>
                  <a:pt x="2084815" y="32479"/>
                </a:lnTo>
                <a:lnTo>
                  <a:pt x="2081034" y="22661"/>
                </a:lnTo>
                <a:lnTo>
                  <a:pt x="2075522" y="20213"/>
                </a:lnTo>
                <a:close/>
              </a:path>
              <a:path w="2133600" h="836295">
                <a:moveTo>
                  <a:pt x="2048496" y="0"/>
                </a:moveTo>
                <a:lnTo>
                  <a:pt x="2058762" y="26666"/>
                </a:lnTo>
                <a:lnTo>
                  <a:pt x="2075522" y="20213"/>
                </a:lnTo>
                <a:lnTo>
                  <a:pt x="2122314" y="20213"/>
                </a:lnTo>
                <a:lnTo>
                  <a:pt x="2133296" y="8177"/>
                </a:lnTo>
                <a:lnTo>
                  <a:pt x="204849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3" name="object 7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3"/>
              </a:rPr>
              <a:t>http://cs224w.stanford.edu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42759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11485" y="1380909"/>
            <a:ext cx="1421130" cy="353060"/>
          </a:xfrm>
          <a:custGeom>
            <a:avLst/>
            <a:gdLst/>
            <a:ahLst/>
            <a:cxnLst/>
            <a:rect l="l" t="t" r="r" b="b"/>
            <a:pathLst>
              <a:path w="1421129" h="353060">
                <a:moveTo>
                  <a:pt x="1308232" y="0"/>
                </a:moveTo>
                <a:lnTo>
                  <a:pt x="1303209" y="14324"/>
                </a:lnTo>
                <a:lnTo>
                  <a:pt x="1323638" y="23190"/>
                </a:lnTo>
                <a:lnTo>
                  <a:pt x="1341206" y="35463"/>
                </a:lnTo>
                <a:lnTo>
                  <a:pt x="1367763" y="70228"/>
                </a:lnTo>
                <a:lnTo>
                  <a:pt x="1383390" y="117132"/>
                </a:lnTo>
                <a:lnTo>
                  <a:pt x="1388600" y="174687"/>
                </a:lnTo>
                <a:lnTo>
                  <a:pt x="1387292" y="205813"/>
                </a:lnTo>
                <a:lnTo>
                  <a:pt x="1376826" y="259483"/>
                </a:lnTo>
                <a:lnTo>
                  <a:pt x="1355828" y="301399"/>
                </a:lnTo>
                <a:lnTo>
                  <a:pt x="1323876" y="329677"/>
                </a:lnTo>
                <a:lnTo>
                  <a:pt x="1303768" y="338584"/>
                </a:lnTo>
                <a:lnTo>
                  <a:pt x="1308232" y="352908"/>
                </a:lnTo>
                <a:lnTo>
                  <a:pt x="1356369" y="330328"/>
                </a:lnTo>
                <a:lnTo>
                  <a:pt x="1391762" y="291237"/>
                </a:lnTo>
                <a:lnTo>
                  <a:pt x="1413528" y="238892"/>
                </a:lnTo>
                <a:lnTo>
                  <a:pt x="1420783" y="176547"/>
                </a:lnTo>
                <a:lnTo>
                  <a:pt x="1418963" y="144194"/>
                </a:lnTo>
                <a:lnTo>
                  <a:pt x="1404407" y="86849"/>
                </a:lnTo>
                <a:lnTo>
                  <a:pt x="1375536" y="40166"/>
                </a:lnTo>
                <a:lnTo>
                  <a:pt x="1333817" y="9238"/>
                </a:lnTo>
                <a:lnTo>
                  <a:pt x="1308232" y="0"/>
                </a:lnTo>
                <a:close/>
              </a:path>
              <a:path w="14211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273555"/>
            <a:ext cx="76987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1817370" algn="l"/>
                <a:tab pos="3232785" algn="l"/>
              </a:tabLst>
            </a:pPr>
            <a:r>
              <a:rPr dirty="0" sz="3000" spc="-5">
                <a:solidFill>
                  <a:srgbClr val="000000"/>
                </a:solidFill>
              </a:rPr>
              <a:t>Assume	</a:t>
            </a:r>
            <a:r>
              <a:rPr dirty="0" sz="3000" spc="-5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3000" spc="-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30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spc="2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151" sz="3300" spc="3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3000" spc="2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30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785700"/>
                </a:solidFill>
                <a:latin typeface="Cambria Math"/>
                <a:cs typeface="Cambria Math"/>
              </a:rPr>
              <a:t>𝑨	</a:t>
            </a:r>
            <a:r>
              <a:rPr dirty="0" sz="3000">
                <a:solidFill>
                  <a:srgbClr val="000000"/>
                </a:solidFill>
              </a:rPr>
              <a:t>is </a:t>
            </a:r>
            <a:r>
              <a:rPr dirty="0" sz="3000" spc="-35">
                <a:solidFill>
                  <a:srgbClr val="E88651"/>
                </a:solidFill>
              </a:rPr>
              <a:t>Training </a:t>
            </a:r>
            <a:r>
              <a:rPr dirty="0" sz="3000">
                <a:solidFill>
                  <a:srgbClr val="E88651"/>
                </a:solidFill>
              </a:rPr>
              <a:t>supervision </a:t>
            </a:r>
            <a:r>
              <a:rPr dirty="0" sz="3000" spc="-10">
                <a:solidFill>
                  <a:srgbClr val="E88651"/>
                </a:solidFill>
              </a:rPr>
              <a:t>edge,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97283" y="2104809"/>
            <a:ext cx="1421130" cy="353060"/>
          </a:xfrm>
          <a:custGeom>
            <a:avLst/>
            <a:gdLst/>
            <a:ahLst/>
            <a:cxnLst/>
            <a:rect l="l" t="t" r="r" b="b"/>
            <a:pathLst>
              <a:path w="1421129" h="353060">
                <a:moveTo>
                  <a:pt x="1308232" y="0"/>
                </a:moveTo>
                <a:lnTo>
                  <a:pt x="1303209" y="14324"/>
                </a:lnTo>
                <a:lnTo>
                  <a:pt x="1323638" y="23190"/>
                </a:lnTo>
                <a:lnTo>
                  <a:pt x="1341206" y="35463"/>
                </a:lnTo>
                <a:lnTo>
                  <a:pt x="1367763" y="70228"/>
                </a:lnTo>
                <a:lnTo>
                  <a:pt x="1383390" y="117132"/>
                </a:lnTo>
                <a:lnTo>
                  <a:pt x="1388598" y="174687"/>
                </a:lnTo>
                <a:lnTo>
                  <a:pt x="1387290" y="205813"/>
                </a:lnTo>
                <a:lnTo>
                  <a:pt x="1376826" y="259483"/>
                </a:lnTo>
                <a:lnTo>
                  <a:pt x="1355828" y="301399"/>
                </a:lnTo>
                <a:lnTo>
                  <a:pt x="1323876" y="329677"/>
                </a:lnTo>
                <a:lnTo>
                  <a:pt x="1303766" y="338584"/>
                </a:lnTo>
                <a:lnTo>
                  <a:pt x="1308232" y="352908"/>
                </a:lnTo>
                <a:lnTo>
                  <a:pt x="1356368" y="330328"/>
                </a:lnTo>
                <a:lnTo>
                  <a:pt x="1391762" y="291237"/>
                </a:lnTo>
                <a:lnTo>
                  <a:pt x="1413528" y="238892"/>
                </a:lnTo>
                <a:lnTo>
                  <a:pt x="1420783" y="176547"/>
                </a:lnTo>
                <a:lnTo>
                  <a:pt x="1418963" y="144194"/>
                </a:lnTo>
                <a:lnTo>
                  <a:pt x="1404406" y="86849"/>
                </a:lnTo>
                <a:lnTo>
                  <a:pt x="1375536" y="40166"/>
                </a:lnTo>
                <a:lnTo>
                  <a:pt x="1333817" y="9238"/>
                </a:lnTo>
                <a:lnTo>
                  <a:pt x="1308232" y="0"/>
                </a:lnTo>
                <a:close/>
              </a:path>
              <a:path w="1421129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5" y="338584"/>
                </a:lnTo>
                <a:lnTo>
                  <a:pt x="96906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0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1627123"/>
            <a:ext cx="7689215" cy="851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3250"/>
              </a:lnSpc>
              <a:spcBef>
                <a:spcPts val="100"/>
              </a:spcBef>
            </a:pPr>
            <a:r>
              <a:rPr dirty="0" sz="3000" spc="-5" b="1">
                <a:latin typeface="Calibri"/>
                <a:cs typeface="Calibri"/>
              </a:rPr>
              <a:t>all the other </a:t>
            </a:r>
            <a:r>
              <a:rPr dirty="0" sz="3000" spc="-10" b="1">
                <a:latin typeface="Calibri"/>
                <a:cs typeface="Calibri"/>
              </a:rPr>
              <a:t>edges </a:t>
            </a:r>
            <a:r>
              <a:rPr dirty="0" sz="3000" spc="-20" b="1">
                <a:latin typeface="Calibri"/>
                <a:cs typeface="Calibri"/>
              </a:rPr>
              <a:t>are </a:t>
            </a:r>
            <a:r>
              <a:rPr dirty="0" sz="3000" spc="-3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3000" spc="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edges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25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3503295" algn="l"/>
                <a:tab pos="4832985" algn="l"/>
              </a:tabLst>
            </a:pPr>
            <a:r>
              <a:rPr dirty="0" sz="3000" b="1">
                <a:latin typeface="Calibri"/>
                <a:cs typeface="Calibri"/>
              </a:rPr>
              <a:t>Use </a:t>
            </a:r>
            <a:r>
              <a:rPr dirty="0" sz="3000" spc="-10" b="1">
                <a:solidFill>
                  <a:srgbClr val="00B050"/>
                </a:solidFill>
                <a:latin typeface="Calibri"/>
                <a:cs typeface="Calibri"/>
              </a:rPr>
              <a:t>RGCN</a:t>
            </a:r>
            <a:r>
              <a:rPr dirty="0" sz="3000" spc="-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latin typeface="Calibri"/>
                <a:cs typeface="Calibri"/>
              </a:rPr>
              <a:t>to</a:t>
            </a:r>
            <a:r>
              <a:rPr dirty="0" sz="3000" b="1">
                <a:latin typeface="Calibri"/>
                <a:cs typeface="Calibri"/>
              </a:rPr>
              <a:t> </a:t>
            </a:r>
            <a:r>
              <a:rPr dirty="0" sz="3000" spc="-15" b="1">
                <a:latin typeface="Calibri"/>
                <a:cs typeface="Calibri"/>
              </a:rPr>
              <a:t>score	</a:t>
            </a:r>
            <a:r>
              <a:rPr dirty="0" sz="30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3000" spc="-5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 spc="25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151" sz="3300" spc="37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3000" spc="25">
                <a:latin typeface="Cambria Math"/>
                <a:cs typeface="Cambria Math"/>
              </a:rPr>
              <a:t>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solidFill>
                  <a:srgbClr val="785700"/>
                </a:solidFill>
                <a:latin typeface="Cambria Math"/>
                <a:cs typeface="Cambria Math"/>
              </a:rPr>
              <a:t>𝑨	</a:t>
            </a:r>
            <a:r>
              <a:rPr dirty="0" sz="3000" b="1">
                <a:latin typeface="Calibri"/>
                <a:cs typeface="Calibri"/>
              </a:rPr>
              <a:t>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46037" y="2538656"/>
            <a:ext cx="296545" cy="223520"/>
          </a:xfrm>
          <a:custGeom>
            <a:avLst/>
            <a:gdLst/>
            <a:ahLst/>
            <a:cxnLst/>
            <a:rect l="l" t="t" r="r" b="b"/>
            <a:pathLst>
              <a:path w="296545" h="223519">
                <a:moveTo>
                  <a:pt x="224702" y="0"/>
                </a:moveTo>
                <a:lnTo>
                  <a:pt x="221521" y="9072"/>
                </a:lnTo>
                <a:lnTo>
                  <a:pt x="234459" y="14687"/>
                </a:lnTo>
                <a:lnTo>
                  <a:pt x="245585" y="22460"/>
                </a:lnTo>
                <a:lnTo>
                  <a:pt x="268178" y="58487"/>
                </a:lnTo>
                <a:lnTo>
                  <a:pt x="275601" y="110636"/>
                </a:lnTo>
                <a:lnTo>
                  <a:pt x="274772" y="130349"/>
                </a:lnTo>
                <a:lnTo>
                  <a:pt x="262346" y="178619"/>
                </a:lnTo>
                <a:lnTo>
                  <a:pt x="234610" y="208796"/>
                </a:lnTo>
                <a:lnTo>
                  <a:pt x="221874" y="214436"/>
                </a:lnTo>
                <a:lnTo>
                  <a:pt x="224702" y="223508"/>
                </a:lnTo>
                <a:lnTo>
                  <a:pt x="267405" y="198137"/>
                </a:lnTo>
                <a:lnTo>
                  <a:pt x="291389" y="151299"/>
                </a:lnTo>
                <a:lnTo>
                  <a:pt x="295984" y="111813"/>
                </a:lnTo>
                <a:lnTo>
                  <a:pt x="294832" y="91323"/>
                </a:lnTo>
                <a:lnTo>
                  <a:pt x="277545" y="39175"/>
                </a:lnTo>
                <a:lnTo>
                  <a:pt x="240906" y="5850"/>
                </a:lnTo>
                <a:lnTo>
                  <a:pt x="224702" y="0"/>
                </a:lnTo>
                <a:close/>
              </a:path>
              <a:path w="296545" h="223519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79" y="184450"/>
                </a:lnTo>
                <a:lnTo>
                  <a:pt x="55030" y="217665"/>
                </a:lnTo>
                <a:lnTo>
                  <a:pt x="71282" y="223508"/>
                </a:lnTo>
                <a:lnTo>
                  <a:pt x="74109" y="214436"/>
                </a:lnTo>
                <a:lnTo>
                  <a:pt x="61373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12129" y="2733039"/>
            <a:ext cx="137668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3325" algn="l"/>
              </a:tabLst>
            </a:pPr>
            <a:r>
              <a:rPr dirty="0" baseline="1461" sz="2850" spc="637">
                <a:latin typeface="Cambria Math"/>
                <a:cs typeface="Cambria Math"/>
              </a:rPr>
              <a:t>)</a:t>
            </a:r>
            <a:r>
              <a:rPr dirty="0" baseline="1461" sz="2850" spc="637">
                <a:latin typeface="Cambria Math"/>
                <a:cs typeface="Cambria Math"/>
              </a:rPr>
              <a:t>	</a:t>
            </a:r>
            <a:r>
              <a:rPr dirty="0" sz="1900" spc="-165">
                <a:latin typeface="Cambria Math"/>
                <a:cs typeface="Cambria Math"/>
              </a:rPr>
              <a:t>+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563" y="2543556"/>
            <a:ext cx="703072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5094605" algn="l"/>
              </a:tabLst>
            </a:pPr>
            <a:r>
              <a:rPr dirty="0" sz="2600" spc="-75">
                <a:latin typeface="Calibri"/>
                <a:cs typeface="Calibri"/>
              </a:rPr>
              <a:t>Take </a:t>
            </a:r>
            <a:r>
              <a:rPr dirty="0" sz="2600" spc="-5">
                <a:latin typeface="Calibri"/>
                <a:cs typeface="Calibri"/>
              </a:rPr>
              <a:t>the final </a:t>
            </a:r>
            <a:r>
              <a:rPr dirty="0" sz="2600" spc="-20">
                <a:latin typeface="Calibri"/>
                <a:cs typeface="Calibri"/>
              </a:rPr>
              <a:t>layer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>
                <a:latin typeface="Cambria Math"/>
                <a:cs typeface="Cambria Math"/>
              </a:rPr>
              <a:t>𝐸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5">
                <a:latin typeface="Cambria Math"/>
                <a:cs typeface="Cambria Math"/>
              </a:rPr>
              <a:t>𝐴</a:t>
            </a:r>
            <a:r>
              <a:rPr dirty="0" sz="2600" spc="5">
                <a:latin typeface="Calibri"/>
                <a:cs typeface="Calibri"/>
              </a:rPr>
              <a:t>:</a:t>
            </a:r>
            <a:r>
              <a:rPr dirty="0" sz="2600" spc="225">
                <a:latin typeface="Calibri"/>
                <a:cs typeface="Calibri"/>
              </a:rPr>
              <a:t> </a:t>
            </a:r>
            <a:r>
              <a:rPr dirty="0" sz="2600">
                <a:latin typeface="Cambria Math"/>
                <a:cs typeface="Cambria Math"/>
              </a:rPr>
              <a:t>𝐡</a:t>
            </a:r>
            <a:r>
              <a:rPr dirty="0" sz="2600" spc="210">
                <a:latin typeface="Cambria Math"/>
                <a:cs typeface="Cambria Math"/>
              </a:rPr>
              <a:t> </a:t>
            </a:r>
            <a:r>
              <a:rPr dirty="0" baseline="38011" sz="2850" spc="337">
                <a:latin typeface="Cambria Math"/>
                <a:cs typeface="Cambria Math"/>
              </a:rPr>
              <a:t>*	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spc="55">
                <a:latin typeface="Cambria Math"/>
                <a:cs typeface="Cambria Math"/>
              </a:rPr>
              <a:t>𝐡</a:t>
            </a:r>
            <a:r>
              <a:rPr dirty="0" baseline="40935" sz="2850" spc="82">
                <a:latin typeface="Cambria Math"/>
                <a:cs typeface="Cambria Math"/>
              </a:rPr>
              <a:t>(*) </a:t>
            </a:r>
            <a:r>
              <a:rPr dirty="0" sz="2600">
                <a:latin typeface="Cambria Math"/>
                <a:cs typeface="Cambria Math"/>
              </a:rPr>
              <a:t>∈</a:t>
            </a:r>
            <a:r>
              <a:rPr dirty="0" sz="2600" spc="204">
                <a:latin typeface="Cambria Math"/>
                <a:cs typeface="Cambria Math"/>
              </a:rPr>
              <a:t> </a:t>
            </a:r>
            <a:r>
              <a:rPr dirty="0" sz="2600" spc="405">
                <a:latin typeface="Cambria Math"/>
                <a:cs typeface="Cambria Math"/>
              </a:rPr>
              <a:t>ℝ</a:t>
            </a:r>
            <a:r>
              <a:rPr dirty="0" baseline="27777" sz="2850" spc="607">
                <a:latin typeface="Cambria Math"/>
                <a:cs typeface="Cambria Math"/>
              </a:rPr>
              <a:t>,</a:t>
            </a:r>
            <a:endParaRPr baseline="27777" sz="28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6563" y="2961132"/>
            <a:ext cx="67544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Relation-specific </a:t>
            </a:r>
            <a:r>
              <a:rPr dirty="0" sz="2600" spc="-15">
                <a:latin typeface="Calibri"/>
                <a:cs typeface="Calibri"/>
              </a:rPr>
              <a:t>score </a:t>
            </a:r>
            <a:r>
              <a:rPr dirty="0" sz="2600" spc="-5">
                <a:latin typeface="Calibri"/>
                <a:cs typeface="Calibri"/>
              </a:rPr>
              <a:t>function </a:t>
            </a:r>
            <a:r>
              <a:rPr dirty="0" sz="2600" spc="-15">
                <a:solidFill>
                  <a:srgbClr val="0000FF"/>
                </a:solidFill>
                <a:latin typeface="Cambria Math"/>
                <a:cs typeface="Cambria Math"/>
              </a:rPr>
              <a:t>𝑓</a:t>
            </a:r>
            <a:r>
              <a:rPr dirty="0" baseline="-16081" sz="2850" spc="-22">
                <a:solidFill>
                  <a:srgbClr val="0000FF"/>
                </a:solidFill>
                <a:latin typeface="Cambria Math"/>
                <a:cs typeface="Cambria Math"/>
              </a:rPr>
              <a:t>-</a:t>
            </a:r>
            <a:r>
              <a:rPr dirty="0" sz="2600" spc="-15">
                <a:latin typeface="Cambria Math"/>
                <a:cs typeface="Cambria Math"/>
              </a:rPr>
              <a:t>: </a:t>
            </a:r>
            <a:r>
              <a:rPr dirty="0" sz="2600" spc="350">
                <a:latin typeface="Cambria Math"/>
                <a:cs typeface="Cambria Math"/>
              </a:rPr>
              <a:t>ℝ</a:t>
            </a:r>
            <a:r>
              <a:rPr dirty="0" baseline="27777" sz="2850" spc="525">
                <a:latin typeface="Cambria Math"/>
                <a:cs typeface="Cambria Math"/>
              </a:rPr>
              <a:t>,</a:t>
            </a:r>
            <a:r>
              <a:rPr dirty="0" sz="2600" spc="350">
                <a:latin typeface="Cambria Math"/>
                <a:cs typeface="Cambria Math"/>
              </a:rPr>
              <a:t>×ℝ</a:t>
            </a:r>
            <a:r>
              <a:rPr dirty="0" baseline="27777" sz="2850" spc="525">
                <a:latin typeface="Cambria Math"/>
                <a:cs typeface="Cambria Math"/>
              </a:rPr>
              <a:t>, </a:t>
            </a:r>
            <a:r>
              <a:rPr dirty="0" sz="2600">
                <a:latin typeface="Cambria Math"/>
                <a:cs typeface="Cambria Math"/>
              </a:rPr>
              <a:t>→</a:t>
            </a:r>
            <a:r>
              <a:rPr dirty="0" sz="2600" spc="-50">
                <a:latin typeface="Cambria Math"/>
                <a:cs typeface="Cambria Math"/>
              </a:rPr>
              <a:t> </a:t>
            </a:r>
            <a:r>
              <a:rPr dirty="0" sz="2600" spc="-135">
                <a:latin typeface="Cambria Math"/>
                <a:cs typeface="Cambria Math"/>
              </a:rPr>
              <a:t>ℝ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7713" y="3392932"/>
            <a:ext cx="201739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200" spc="-5">
                <a:latin typeface="Calibri"/>
                <a:cs typeface="Calibri"/>
              </a:rPr>
              <a:t>One </a:t>
            </a:r>
            <a:r>
              <a:rPr dirty="0" sz="2200" spc="-15">
                <a:latin typeface="Calibri"/>
                <a:cs typeface="Calibri"/>
              </a:rPr>
              <a:t>example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434">
                <a:solidFill>
                  <a:srgbClr val="0000FF"/>
                </a:solidFill>
                <a:latin typeface="Cambria Math"/>
                <a:cs typeface="Cambria Math"/>
              </a:rPr>
              <a:t>𝑓</a:t>
            </a:r>
            <a:r>
              <a:rPr dirty="0" baseline="-15625" sz="2400" spc="-652">
                <a:solidFill>
                  <a:srgbClr val="0000FF"/>
                </a:solidFill>
                <a:latin typeface="Cambria Math"/>
                <a:cs typeface="Cambria Math"/>
              </a:rPr>
              <a:t>#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9833" y="3607816"/>
            <a:ext cx="1238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225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97168" y="3476275"/>
            <a:ext cx="913765" cy="259079"/>
          </a:xfrm>
          <a:custGeom>
            <a:avLst/>
            <a:gdLst/>
            <a:ahLst/>
            <a:cxnLst/>
            <a:rect l="l" t="t" r="r" b="b"/>
            <a:pathLst>
              <a:path w="913764" h="259079">
                <a:moveTo>
                  <a:pt x="831209" y="0"/>
                </a:moveTo>
                <a:lnTo>
                  <a:pt x="827526" y="10505"/>
                </a:lnTo>
                <a:lnTo>
                  <a:pt x="842507" y="17006"/>
                </a:lnTo>
                <a:lnTo>
                  <a:pt x="855391" y="26006"/>
                </a:lnTo>
                <a:lnTo>
                  <a:pt x="881551" y="67723"/>
                </a:lnTo>
                <a:lnTo>
                  <a:pt x="889190" y="106024"/>
                </a:lnTo>
                <a:lnTo>
                  <a:pt x="890145" y="128103"/>
                </a:lnTo>
                <a:lnTo>
                  <a:pt x="889186" y="150929"/>
                </a:lnTo>
                <a:lnTo>
                  <a:pt x="881512" y="190288"/>
                </a:lnTo>
                <a:lnTo>
                  <a:pt x="855408" y="232674"/>
                </a:lnTo>
                <a:lnTo>
                  <a:pt x="827935" y="248295"/>
                </a:lnTo>
                <a:lnTo>
                  <a:pt x="831209" y="258800"/>
                </a:lnTo>
                <a:lnTo>
                  <a:pt x="866510" y="242241"/>
                </a:lnTo>
                <a:lnTo>
                  <a:pt x="892465" y="213574"/>
                </a:lnTo>
                <a:lnTo>
                  <a:pt x="908426" y="175187"/>
                </a:lnTo>
                <a:lnTo>
                  <a:pt x="913747" y="129468"/>
                </a:lnTo>
                <a:lnTo>
                  <a:pt x="912412" y="105743"/>
                </a:lnTo>
                <a:lnTo>
                  <a:pt x="901738" y="63690"/>
                </a:lnTo>
                <a:lnTo>
                  <a:pt x="880566" y="29455"/>
                </a:lnTo>
                <a:lnTo>
                  <a:pt x="849973" y="6774"/>
                </a:lnTo>
                <a:lnTo>
                  <a:pt x="831209" y="0"/>
                </a:lnTo>
                <a:close/>
              </a:path>
              <a:path w="913764" h="259079">
                <a:moveTo>
                  <a:pt x="82537" y="0"/>
                </a:moveTo>
                <a:lnTo>
                  <a:pt x="47322" y="16593"/>
                </a:lnTo>
                <a:lnTo>
                  <a:pt x="21349" y="45361"/>
                </a:lnTo>
                <a:lnTo>
                  <a:pt x="5337" y="83817"/>
                </a:lnTo>
                <a:lnTo>
                  <a:pt x="0" y="129468"/>
                </a:lnTo>
                <a:lnTo>
                  <a:pt x="1330" y="153244"/>
                </a:lnTo>
                <a:lnTo>
                  <a:pt x="11971" y="195297"/>
                </a:lnTo>
                <a:lnTo>
                  <a:pt x="33091" y="229421"/>
                </a:lnTo>
                <a:lnTo>
                  <a:pt x="82537" y="258800"/>
                </a:lnTo>
                <a:lnTo>
                  <a:pt x="85811" y="248295"/>
                </a:lnTo>
                <a:lnTo>
                  <a:pt x="71064" y="241763"/>
                </a:lnTo>
                <a:lnTo>
                  <a:pt x="58338" y="232674"/>
                </a:lnTo>
                <a:lnTo>
                  <a:pt x="32234" y="190288"/>
                </a:lnTo>
                <a:lnTo>
                  <a:pt x="24560" y="150929"/>
                </a:lnTo>
                <a:lnTo>
                  <a:pt x="23601" y="128103"/>
                </a:lnTo>
                <a:lnTo>
                  <a:pt x="24560" y="106024"/>
                </a:lnTo>
                <a:lnTo>
                  <a:pt x="32234" y="67723"/>
                </a:lnTo>
                <a:lnTo>
                  <a:pt x="58441" y="26006"/>
                </a:lnTo>
                <a:lnTo>
                  <a:pt x="86220" y="10505"/>
                </a:lnTo>
                <a:lnTo>
                  <a:pt x="82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57369" y="3533140"/>
            <a:ext cx="15557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685">
                <a:latin typeface="Cambria Math"/>
                <a:cs typeface="Cambria Math"/>
              </a:rPr>
              <a:t>.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5863" y="3392932"/>
            <a:ext cx="280606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6625" algn="l"/>
              </a:tabLst>
            </a:pPr>
            <a:r>
              <a:rPr dirty="0" sz="2200" spc="260">
                <a:latin typeface="Cambria Math"/>
                <a:cs typeface="Cambria Math"/>
              </a:rPr>
              <a:t>𝐡</a:t>
            </a:r>
            <a:r>
              <a:rPr dirty="0" baseline="-17361" sz="2400" spc="390">
                <a:latin typeface="Cambria Math"/>
                <a:cs typeface="Cambria Math"/>
              </a:rPr>
              <a:t>.</a:t>
            </a:r>
            <a:r>
              <a:rPr dirty="0" sz="2200" spc="260">
                <a:latin typeface="Cambria Math"/>
                <a:cs typeface="Cambria Math"/>
              </a:rPr>
              <a:t>,</a:t>
            </a:r>
            <a:r>
              <a:rPr dirty="0" sz="2200" spc="-120">
                <a:latin typeface="Cambria Math"/>
                <a:cs typeface="Cambria Math"/>
              </a:rPr>
              <a:t> </a:t>
            </a:r>
            <a:r>
              <a:rPr dirty="0" sz="2200" spc="80">
                <a:latin typeface="Cambria Math"/>
                <a:cs typeface="Cambria Math"/>
              </a:rPr>
              <a:t>𝐡</a:t>
            </a:r>
            <a:r>
              <a:rPr dirty="0" baseline="-17361" sz="2400" spc="120">
                <a:latin typeface="Cambria Math"/>
                <a:cs typeface="Cambria Math"/>
              </a:rPr>
              <a:t>/	</a:t>
            </a:r>
            <a:r>
              <a:rPr dirty="0" sz="2200">
                <a:latin typeface="Cambria Math"/>
                <a:cs typeface="Cambria Math"/>
              </a:rPr>
              <a:t>= </a:t>
            </a:r>
            <a:r>
              <a:rPr dirty="0" sz="2200" spc="-30">
                <a:latin typeface="Cambria Math"/>
                <a:cs typeface="Cambria Math"/>
              </a:rPr>
              <a:t>𝐡</a:t>
            </a:r>
            <a:r>
              <a:rPr dirty="0" baseline="29513" sz="2400" spc="-44">
                <a:latin typeface="Cambria Math"/>
                <a:cs typeface="Cambria Math"/>
              </a:rPr>
              <a:t>0</a:t>
            </a:r>
            <a:r>
              <a:rPr dirty="0" sz="2200" spc="-30">
                <a:solidFill>
                  <a:srgbClr val="0000FF"/>
                </a:solidFill>
                <a:latin typeface="Cambria Math"/>
                <a:cs typeface="Cambria Math"/>
              </a:rPr>
              <a:t>𝐖</a:t>
            </a:r>
            <a:r>
              <a:rPr dirty="0" baseline="-15625" sz="2400" spc="-44">
                <a:solidFill>
                  <a:srgbClr val="0000FF"/>
                </a:solidFill>
                <a:latin typeface="Cambria Math"/>
                <a:cs typeface="Cambria Math"/>
              </a:rPr>
              <a:t>#  </a:t>
            </a:r>
            <a:r>
              <a:rPr dirty="0" sz="2200" spc="75">
                <a:latin typeface="Cambria Math"/>
                <a:cs typeface="Cambria Math"/>
              </a:rPr>
              <a:t>𝐡</a:t>
            </a:r>
            <a:r>
              <a:rPr dirty="0" baseline="-17361" sz="2400" spc="112">
                <a:latin typeface="Cambria Math"/>
                <a:cs typeface="Cambria Math"/>
              </a:rPr>
              <a:t>/</a:t>
            </a:r>
            <a:r>
              <a:rPr dirty="0" sz="2200" spc="75">
                <a:latin typeface="Calibri"/>
                <a:cs typeface="Calibri"/>
              </a:rPr>
              <a:t>,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75">
                <a:latin typeface="Cambria Math"/>
                <a:cs typeface="Cambria Math"/>
              </a:rPr>
              <a:t>𝐖</a:t>
            </a:r>
            <a:r>
              <a:rPr dirty="0" baseline="-15625" sz="2400" spc="-262">
                <a:latin typeface="Cambria Math"/>
                <a:cs typeface="Cambria Math"/>
              </a:rPr>
              <a:t>#</a:t>
            </a:r>
            <a:endParaRPr baseline="-15625"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2064" y="3607816"/>
            <a:ext cx="101854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780" algn="l"/>
              </a:tabLst>
            </a:pPr>
            <a:r>
              <a:rPr dirty="0" sz="1300" spc="225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r>
              <a:rPr dirty="0" sz="1300" spc="225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dirty="0" sz="1300" spc="225">
                <a:latin typeface="Cambria Math"/>
                <a:cs typeface="Cambria Math"/>
              </a:rPr>
              <a:t>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34201" y="3292347"/>
            <a:ext cx="8985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202" sz="3300">
                <a:latin typeface="Cambria Math"/>
                <a:cs typeface="Cambria Math"/>
              </a:rPr>
              <a:t>∈</a:t>
            </a:r>
            <a:r>
              <a:rPr dirty="0" baseline="-20202" sz="3300" spc="75">
                <a:latin typeface="Cambria Math"/>
                <a:cs typeface="Cambria Math"/>
              </a:rPr>
              <a:t> </a:t>
            </a:r>
            <a:r>
              <a:rPr dirty="0" baseline="-20202" sz="3300" spc="112">
                <a:latin typeface="Cambria Math"/>
                <a:cs typeface="Cambria Math"/>
              </a:rPr>
              <a:t>ℝ</a:t>
            </a:r>
            <a:r>
              <a:rPr dirty="0" sz="1600" spc="75">
                <a:latin typeface="Cambria Math"/>
                <a:cs typeface="Cambria Math"/>
              </a:rPr>
              <a:t>1×1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80418" y="471114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575765" y="4733035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27082" y="489251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5"/>
                </a:lnTo>
                <a:lnTo>
                  <a:pt x="0" y="185348"/>
                </a:lnTo>
                <a:lnTo>
                  <a:pt x="6439" y="234622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3" y="364078"/>
                </a:lnTo>
                <a:lnTo>
                  <a:pt x="271268" y="345393"/>
                </a:lnTo>
                <a:lnTo>
                  <a:pt x="307754" y="316411"/>
                </a:lnTo>
                <a:lnTo>
                  <a:pt x="335943" y="278899"/>
                </a:lnTo>
                <a:lnTo>
                  <a:pt x="354117" y="234622"/>
                </a:lnTo>
                <a:lnTo>
                  <a:pt x="360556" y="185348"/>
                </a:lnTo>
                <a:lnTo>
                  <a:pt x="354117" y="136075"/>
                </a:lnTo>
                <a:lnTo>
                  <a:pt x="335943" y="91799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48302" y="417736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948411" y="4199635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14902" y="574271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419774" y="5766308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638180" y="555736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900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900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14702" y="5742716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805286" y="5766308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46394" y="4493774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2" y="75080"/>
                </a:moveTo>
                <a:lnTo>
                  <a:pt x="26716" y="85217"/>
                </a:lnTo>
                <a:lnTo>
                  <a:pt x="150407" y="411187"/>
                </a:lnTo>
                <a:lnTo>
                  <a:pt x="158657" y="414898"/>
                </a:lnTo>
                <a:lnTo>
                  <a:pt x="173412" y="409300"/>
                </a:lnTo>
                <a:lnTo>
                  <a:pt x="177124" y="401049"/>
                </a:lnTo>
                <a:lnTo>
                  <a:pt x="53432" y="75080"/>
                </a:lnTo>
                <a:close/>
              </a:path>
              <a:path w="177164" h="415289">
                <a:moveTo>
                  <a:pt x="9660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2"/>
                </a:lnTo>
                <a:lnTo>
                  <a:pt x="22559" y="56231"/>
                </a:lnTo>
                <a:lnTo>
                  <a:pt x="37313" y="50633"/>
                </a:lnTo>
                <a:lnTo>
                  <a:pt x="64617" y="50633"/>
                </a:lnTo>
                <a:lnTo>
                  <a:pt x="9660" y="0"/>
                </a:lnTo>
                <a:close/>
              </a:path>
              <a:path w="177164" h="415289">
                <a:moveTo>
                  <a:pt x="37313" y="50633"/>
                </a:moveTo>
                <a:lnTo>
                  <a:pt x="22559" y="56231"/>
                </a:lnTo>
                <a:lnTo>
                  <a:pt x="18848" y="64482"/>
                </a:lnTo>
                <a:lnTo>
                  <a:pt x="26716" y="85217"/>
                </a:lnTo>
                <a:lnTo>
                  <a:pt x="53432" y="75080"/>
                </a:lnTo>
                <a:lnTo>
                  <a:pt x="45563" y="54344"/>
                </a:lnTo>
                <a:lnTo>
                  <a:pt x="37313" y="50633"/>
                </a:lnTo>
                <a:close/>
              </a:path>
              <a:path w="177164" h="415289">
                <a:moveTo>
                  <a:pt x="64617" y="50633"/>
                </a:moveTo>
                <a:lnTo>
                  <a:pt x="37313" y="50633"/>
                </a:lnTo>
                <a:lnTo>
                  <a:pt x="45563" y="54344"/>
                </a:lnTo>
                <a:lnTo>
                  <a:pt x="53432" y="75080"/>
                </a:lnTo>
                <a:lnTo>
                  <a:pt x="80148" y="64942"/>
                </a:lnTo>
                <a:lnTo>
                  <a:pt x="64617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40975" y="4346393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4" h="550545">
                <a:moveTo>
                  <a:pt x="55678" y="472090"/>
                </a:moveTo>
                <a:lnTo>
                  <a:pt x="0" y="550103"/>
                </a:lnTo>
                <a:lnTo>
                  <a:pt x="95816" y="547838"/>
                </a:lnTo>
                <a:lnTo>
                  <a:pt x="87940" y="532974"/>
                </a:lnTo>
                <a:lnTo>
                  <a:pt x="62839" y="532974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4" h="550545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4"/>
                </a:lnTo>
                <a:lnTo>
                  <a:pt x="82437" y="522589"/>
                </a:lnTo>
                <a:lnTo>
                  <a:pt x="69057" y="497339"/>
                </a:lnTo>
                <a:close/>
              </a:path>
              <a:path w="1024254" h="550545">
                <a:moveTo>
                  <a:pt x="82437" y="522589"/>
                </a:moveTo>
                <a:lnTo>
                  <a:pt x="62839" y="532974"/>
                </a:lnTo>
                <a:lnTo>
                  <a:pt x="87940" y="532974"/>
                </a:lnTo>
                <a:lnTo>
                  <a:pt x="82437" y="522589"/>
                </a:lnTo>
                <a:close/>
              </a:path>
              <a:path w="1024254" h="550545">
                <a:moveTo>
                  <a:pt x="1007609" y="0"/>
                </a:moveTo>
                <a:lnTo>
                  <a:pt x="69057" y="497339"/>
                </a:lnTo>
                <a:lnTo>
                  <a:pt x="82437" y="522589"/>
                </a:lnTo>
                <a:lnTo>
                  <a:pt x="1020988" y="25248"/>
                </a:lnTo>
                <a:lnTo>
                  <a:pt x="1023645" y="16602"/>
                </a:lnTo>
                <a:lnTo>
                  <a:pt x="1016256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79065" y="5027559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8" y="731071"/>
                </a:lnTo>
                <a:lnTo>
                  <a:pt x="21319" y="730558"/>
                </a:lnTo>
                <a:lnTo>
                  <a:pt x="607734" y="73470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10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1" y="56923"/>
                </a:lnTo>
                <a:lnTo>
                  <a:pt x="607734" y="73470"/>
                </a:lnTo>
                <a:lnTo>
                  <a:pt x="629055" y="92497"/>
                </a:lnTo>
                <a:lnTo>
                  <a:pt x="644010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0"/>
                </a:lnTo>
                <a:lnTo>
                  <a:pt x="622501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5" y="0"/>
                </a:moveTo>
                <a:lnTo>
                  <a:pt x="565096" y="35419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10" y="37384"/>
                </a:lnTo>
                <a:lnTo>
                  <a:pt x="65415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788172" y="4987945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1" y="28554"/>
                </a:moveTo>
                <a:lnTo>
                  <a:pt x="85128" y="57110"/>
                </a:lnTo>
                <a:lnTo>
                  <a:pt x="1346259" y="104494"/>
                </a:lnTo>
                <a:lnTo>
                  <a:pt x="1352891" y="98342"/>
                </a:lnTo>
                <a:lnTo>
                  <a:pt x="1353484" y="82571"/>
                </a:lnTo>
                <a:lnTo>
                  <a:pt x="1347331" y="75939"/>
                </a:lnTo>
                <a:lnTo>
                  <a:pt x="86201" y="28554"/>
                </a:lnTo>
                <a:close/>
              </a:path>
              <a:path w="1353820" h="104775">
                <a:moveTo>
                  <a:pt x="87274" y="0"/>
                </a:moveTo>
                <a:lnTo>
                  <a:pt x="0" y="39613"/>
                </a:lnTo>
                <a:lnTo>
                  <a:pt x="84056" y="85664"/>
                </a:lnTo>
                <a:lnTo>
                  <a:pt x="85128" y="57110"/>
                </a:lnTo>
                <a:lnTo>
                  <a:pt x="62966" y="56277"/>
                </a:lnTo>
                <a:lnTo>
                  <a:pt x="56814" y="49644"/>
                </a:lnTo>
                <a:lnTo>
                  <a:pt x="57406" y="33874"/>
                </a:lnTo>
                <a:lnTo>
                  <a:pt x="64039" y="27721"/>
                </a:lnTo>
                <a:lnTo>
                  <a:pt x="86232" y="27721"/>
                </a:lnTo>
                <a:lnTo>
                  <a:pt x="87274" y="0"/>
                </a:lnTo>
                <a:close/>
              </a:path>
              <a:path w="1353820" h="104775">
                <a:moveTo>
                  <a:pt x="64039" y="27721"/>
                </a:moveTo>
                <a:lnTo>
                  <a:pt x="57406" y="33874"/>
                </a:lnTo>
                <a:lnTo>
                  <a:pt x="56814" y="49644"/>
                </a:lnTo>
                <a:lnTo>
                  <a:pt x="62966" y="56277"/>
                </a:lnTo>
                <a:lnTo>
                  <a:pt x="85128" y="57110"/>
                </a:lnTo>
                <a:lnTo>
                  <a:pt x="86201" y="28554"/>
                </a:lnTo>
                <a:lnTo>
                  <a:pt x="64039" y="27721"/>
                </a:lnTo>
                <a:close/>
              </a:path>
              <a:path w="1353820" h="104775">
                <a:moveTo>
                  <a:pt x="86232" y="27721"/>
                </a:moveTo>
                <a:lnTo>
                  <a:pt x="64039" y="27721"/>
                </a:lnTo>
                <a:lnTo>
                  <a:pt x="86201" y="28554"/>
                </a:lnTo>
                <a:lnTo>
                  <a:pt x="86232" y="27721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06857" y="5208927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4" h="603885">
                <a:moveTo>
                  <a:pt x="503692" y="52399"/>
                </a:moveTo>
                <a:lnTo>
                  <a:pt x="0" y="583977"/>
                </a:lnTo>
                <a:lnTo>
                  <a:pt x="242" y="593020"/>
                </a:lnTo>
                <a:lnTo>
                  <a:pt x="11699" y="603875"/>
                </a:lnTo>
                <a:lnTo>
                  <a:pt x="20741" y="603632"/>
                </a:lnTo>
                <a:lnTo>
                  <a:pt x="524435" y="72054"/>
                </a:lnTo>
                <a:lnTo>
                  <a:pt x="503692" y="52399"/>
                </a:lnTo>
                <a:close/>
              </a:path>
              <a:path w="573404" h="603885">
                <a:moveTo>
                  <a:pt x="562077" y="36057"/>
                </a:moveTo>
                <a:lnTo>
                  <a:pt x="527991" y="36057"/>
                </a:lnTo>
                <a:lnTo>
                  <a:pt x="539446" y="46912"/>
                </a:lnTo>
                <a:lnTo>
                  <a:pt x="539690" y="55954"/>
                </a:lnTo>
                <a:lnTo>
                  <a:pt x="524435" y="72054"/>
                </a:lnTo>
                <a:lnTo>
                  <a:pt x="545177" y="91707"/>
                </a:lnTo>
                <a:lnTo>
                  <a:pt x="562077" y="36057"/>
                </a:lnTo>
                <a:close/>
              </a:path>
              <a:path w="573404" h="603885">
                <a:moveTo>
                  <a:pt x="527991" y="36057"/>
                </a:moveTo>
                <a:lnTo>
                  <a:pt x="518947" y="36300"/>
                </a:lnTo>
                <a:lnTo>
                  <a:pt x="503692" y="52399"/>
                </a:lnTo>
                <a:lnTo>
                  <a:pt x="524435" y="72054"/>
                </a:lnTo>
                <a:lnTo>
                  <a:pt x="539690" y="55954"/>
                </a:lnTo>
                <a:lnTo>
                  <a:pt x="539446" y="46912"/>
                </a:lnTo>
                <a:lnTo>
                  <a:pt x="527991" y="36057"/>
                </a:lnTo>
                <a:close/>
              </a:path>
              <a:path w="573404" h="603885">
                <a:moveTo>
                  <a:pt x="573026" y="0"/>
                </a:moveTo>
                <a:lnTo>
                  <a:pt x="482950" y="32745"/>
                </a:lnTo>
                <a:lnTo>
                  <a:pt x="503692" y="52399"/>
                </a:lnTo>
                <a:lnTo>
                  <a:pt x="518947" y="36300"/>
                </a:lnTo>
                <a:lnTo>
                  <a:pt x="527991" y="36057"/>
                </a:lnTo>
                <a:lnTo>
                  <a:pt x="562077" y="36057"/>
                </a:lnTo>
                <a:lnTo>
                  <a:pt x="57302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307360" y="5263215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1" y="68213"/>
                </a:lnTo>
                <a:lnTo>
                  <a:pt x="379855" y="364320"/>
                </a:lnTo>
                <a:lnTo>
                  <a:pt x="388891" y="363886"/>
                </a:lnTo>
                <a:lnTo>
                  <a:pt x="399502" y="352204"/>
                </a:lnTo>
                <a:lnTo>
                  <a:pt x="399068" y="343168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9" y="89366"/>
                </a:lnTo>
                <a:lnTo>
                  <a:pt x="53851" y="68213"/>
                </a:lnTo>
                <a:lnTo>
                  <a:pt x="37434" y="53301"/>
                </a:lnTo>
                <a:lnTo>
                  <a:pt x="37000" y="44265"/>
                </a:lnTo>
                <a:lnTo>
                  <a:pt x="47609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09" y="32584"/>
                </a:lnTo>
                <a:lnTo>
                  <a:pt x="37000" y="44265"/>
                </a:lnTo>
                <a:lnTo>
                  <a:pt x="37434" y="53301"/>
                </a:lnTo>
                <a:lnTo>
                  <a:pt x="53851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675458" y="5727195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1"/>
                </a:lnTo>
                <a:lnTo>
                  <a:pt x="92282" y="226754"/>
                </a:lnTo>
                <a:lnTo>
                  <a:pt x="87687" y="202887"/>
                </a:lnTo>
                <a:lnTo>
                  <a:pt x="65101" y="202887"/>
                </a:lnTo>
                <a:lnTo>
                  <a:pt x="57611" y="197815"/>
                </a:lnTo>
                <a:lnTo>
                  <a:pt x="54627" y="182318"/>
                </a:lnTo>
                <a:lnTo>
                  <a:pt x="59700" y="174827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700" y="174827"/>
                </a:lnTo>
                <a:lnTo>
                  <a:pt x="54627" y="182318"/>
                </a:lnTo>
                <a:lnTo>
                  <a:pt x="57611" y="197815"/>
                </a:lnTo>
                <a:lnTo>
                  <a:pt x="65101" y="202887"/>
                </a:lnTo>
                <a:lnTo>
                  <a:pt x="86879" y="198694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1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4"/>
                </a:lnTo>
                <a:lnTo>
                  <a:pt x="973171" y="28059"/>
                </a:lnTo>
                <a:lnTo>
                  <a:pt x="978244" y="20568"/>
                </a:lnTo>
                <a:lnTo>
                  <a:pt x="975259" y="5071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038312" y="6193028"/>
            <a:ext cx="1233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5563" y="507085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74148" y="5223764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88057" y="4086351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74014" y="4939791"/>
            <a:ext cx="1638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8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89965" y="5092700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98121" y="510133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14072" y="5202428"/>
            <a:ext cx="174625" cy="6781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227191" y="4162354"/>
            <a:ext cx="389890" cy="105346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805"/>
              </a:spcBef>
            </a:pPr>
            <a:r>
              <a:rPr dirty="0" sz="2500" spc="-28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16975" sz="2700" spc="-457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16975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61251" y="5113527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77202" y="5266435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5779" y="5732271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660697" y="5081846"/>
            <a:ext cx="723265" cy="730885"/>
          </a:xfrm>
          <a:custGeom>
            <a:avLst/>
            <a:gdLst/>
            <a:ahLst/>
            <a:cxnLst/>
            <a:rect l="l" t="t" r="r" b="b"/>
            <a:pathLst>
              <a:path w="723264" h="730885">
                <a:moveTo>
                  <a:pt x="662393" y="658808"/>
                </a:moveTo>
                <a:lnTo>
                  <a:pt x="651170" y="669903"/>
                </a:lnTo>
                <a:lnTo>
                  <a:pt x="651118" y="678949"/>
                </a:lnTo>
                <a:lnTo>
                  <a:pt x="702393" y="730814"/>
                </a:lnTo>
                <a:lnTo>
                  <a:pt x="711440" y="730866"/>
                </a:lnTo>
                <a:lnTo>
                  <a:pt x="722663" y="719771"/>
                </a:lnTo>
                <a:lnTo>
                  <a:pt x="722713" y="710725"/>
                </a:lnTo>
                <a:lnTo>
                  <a:pt x="671440" y="658859"/>
                </a:lnTo>
                <a:lnTo>
                  <a:pt x="662393" y="658808"/>
                </a:lnTo>
                <a:close/>
              </a:path>
              <a:path w="723264" h="730885">
                <a:moveTo>
                  <a:pt x="582035" y="577523"/>
                </a:moveTo>
                <a:lnTo>
                  <a:pt x="570812" y="588619"/>
                </a:lnTo>
                <a:lnTo>
                  <a:pt x="570762" y="597665"/>
                </a:lnTo>
                <a:lnTo>
                  <a:pt x="622035" y="649530"/>
                </a:lnTo>
                <a:lnTo>
                  <a:pt x="631082" y="649582"/>
                </a:lnTo>
                <a:lnTo>
                  <a:pt x="642305" y="638487"/>
                </a:lnTo>
                <a:lnTo>
                  <a:pt x="642357" y="629440"/>
                </a:lnTo>
                <a:lnTo>
                  <a:pt x="591082" y="577575"/>
                </a:lnTo>
                <a:lnTo>
                  <a:pt x="582035" y="577523"/>
                </a:lnTo>
                <a:close/>
              </a:path>
              <a:path w="723264" h="730885">
                <a:moveTo>
                  <a:pt x="501679" y="496239"/>
                </a:moveTo>
                <a:lnTo>
                  <a:pt x="490456" y="507334"/>
                </a:lnTo>
                <a:lnTo>
                  <a:pt x="490404" y="516381"/>
                </a:lnTo>
                <a:lnTo>
                  <a:pt x="541677" y="568246"/>
                </a:lnTo>
                <a:lnTo>
                  <a:pt x="550724" y="568298"/>
                </a:lnTo>
                <a:lnTo>
                  <a:pt x="561947" y="557202"/>
                </a:lnTo>
                <a:lnTo>
                  <a:pt x="561999" y="548156"/>
                </a:lnTo>
                <a:lnTo>
                  <a:pt x="510725" y="496291"/>
                </a:lnTo>
                <a:lnTo>
                  <a:pt x="501679" y="496239"/>
                </a:lnTo>
                <a:close/>
              </a:path>
              <a:path w="723264" h="730885">
                <a:moveTo>
                  <a:pt x="421321" y="414955"/>
                </a:moveTo>
                <a:lnTo>
                  <a:pt x="410098" y="426050"/>
                </a:lnTo>
                <a:lnTo>
                  <a:pt x="410046" y="435096"/>
                </a:lnTo>
                <a:lnTo>
                  <a:pt x="461319" y="486962"/>
                </a:lnTo>
                <a:lnTo>
                  <a:pt x="470366" y="487013"/>
                </a:lnTo>
                <a:lnTo>
                  <a:pt x="481589" y="475918"/>
                </a:lnTo>
                <a:lnTo>
                  <a:pt x="481641" y="466872"/>
                </a:lnTo>
                <a:lnTo>
                  <a:pt x="430367" y="415008"/>
                </a:lnTo>
                <a:lnTo>
                  <a:pt x="421321" y="414955"/>
                </a:lnTo>
                <a:close/>
              </a:path>
              <a:path w="723264" h="730885">
                <a:moveTo>
                  <a:pt x="340963" y="333670"/>
                </a:moveTo>
                <a:lnTo>
                  <a:pt x="329740" y="344766"/>
                </a:lnTo>
                <a:lnTo>
                  <a:pt x="329688" y="353813"/>
                </a:lnTo>
                <a:lnTo>
                  <a:pt x="380961" y="405677"/>
                </a:lnTo>
                <a:lnTo>
                  <a:pt x="390008" y="405729"/>
                </a:lnTo>
                <a:lnTo>
                  <a:pt x="401231" y="394634"/>
                </a:lnTo>
                <a:lnTo>
                  <a:pt x="401283" y="385588"/>
                </a:lnTo>
                <a:lnTo>
                  <a:pt x="350009" y="333722"/>
                </a:lnTo>
                <a:lnTo>
                  <a:pt x="340963" y="333670"/>
                </a:lnTo>
                <a:close/>
              </a:path>
              <a:path w="723264" h="730885">
                <a:moveTo>
                  <a:pt x="260605" y="252387"/>
                </a:moveTo>
                <a:lnTo>
                  <a:pt x="249382" y="263481"/>
                </a:lnTo>
                <a:lnTo>
                  <a:pt x="249330" y="272528"/>
                </a:lnTo>
                <a:lnTo>
                  <a:pt x="300605" y="324393"/>
                </a:lnTo>
                <a:lnTo>
                  <a:pt x="309651" y="324445"/>
                </a:lnTo>
                <a:lnTo>
                  <a:pt x="320874" y="313350"/>
                </a:lnTo>
                <a:lnTo>
                  <a:pt x="320925" y="304304"/>
                </a:lnTo>
                <a:lnTo>
                  <a:pt x="269651" y="252439"/>
                </a:lnTo>
                <a:lnTo>
                  <a:pt x="260605" y="252387"/>
                </a:lnTo>
                <a:close/>
              </a:path>
              <a:path w="723264" h="730885">
                <a:moveTo>
                  <a:pt x="180247" y="171103"/>
                </a:moveTo>
                <a:lnTo>
                  <a:pt x="169024" y="182198"/>
                </a:lnTo>
                <a:lnTo>
                  <a:pt x="168973" y="191244"/>
                </a:lnTo>
                <a:lnTo>
                  <a:pt x="220247" y="243109"/>
                </a:lnTo>
                <a:lnTo>
                  <a:pt x="229293" y="243161"/>
                </a:lnTo>
                <a:lnTo>
                  <a:pt x="240516" y="232065"/>
                </a:lnTo>
                <a:lnTo>
                  <a:pt x="240568" y="223019"/>
                </a:lnTo>
                <a:lnTo>
                  <a:pt x="189293" y="171155"/>
                </a:lnTo>
                <a:lnTo>
                  <a:pt x="180247" y="171103"/>
                </a:lnTo>
                <a:close/>
              </a:path>
              <a:path w="723264" h="730885">
                <a:moveTo>
                  <a:pt x="99890" y="89818"/>
                </a:moveTo>
                <a:lnTo>
                  <a:pt x="88667" y="100914"/>
                </a:lnTo>
                <a:lnTo>
                  <a:pt x="88615" y="109960"/>
                </a:lnTo>
                <a:lnTo>
                  <a:pt x="139889" y="161824"/>
                </a:lnTo>
                <a:lnTo>
                  <a:pt x="148935" y="161876"/>
                </a:lnTo>
                <a:lnTo>
                  <a:pt x="160158" y="150782"/>
                </a:lnTo>
                <a:lnTo>
                  <a:pt x="160210" y="141735"/>
                </a:lnTo>
                <a:lnTo>
                  <a:pt x="108936" y="89870"/>
                </a:lnTo>
                <a:lnTo>
                  <a:pt x="99890" y="89818"/>
                </a:lnTo>
                <a:close/>
              </a:path>
              <a:path w="723264" h="730885">
                <a:moveTo>
                  <a:pt x="0" y="0"/>
                </a:moveTo>
                <a:lnTo>
                  <a:pt x="29786" y="91097"/>
                </a:lnTo>
                <a:lnTo>
                  <a:pt x="50106" y="71008"/>
                </a:lnTo>
                <a:lnTo>
                  <a:pt x="34514" y="55236"/>
                </a:lnTo>
                <a:lnTo>
                  <a:pt x="34566" y="46189"/>
                </a:lnTo>
                <a:lnTo>
                  <a:pt x="45789" y="35095"/>
                </a:lnTo>
                <a:lnTo>
                  <a:pt x="86434" y="35095"/>
                </a:lnTo>
                <a:lnTo>
                  <a:pt x="90749" y="30829"/>
                </a:lnTo>
                <a:lnTo>
                  <a:pt x="0" y="0"/>
                </a:lnTo>
                <a:close/>
              </a:path>
              <a:path w="723264" h="730885">
                <a:moveTo>
                  <a:pt x="70428" y="50918"/>
                </a:moveTo>
                <a:lnTo>
                  <a:pt x="50106" y="71008"/>
                </a:lnTo>
                <a:lnTo>
                  <a:pt x="59531" y="80540"/>
                </a:lnTo>
                <a:lnTo>
                  <a:pt x="68577" y="80592"/>
                </a:lnTo>
                <a:lnTo>
                  <a:pt x="79800" y="69498"/>
                </a:lnTo>
                <a:lnTo>
                  <a:pt x="79852" y="60451"/>
                </a:lnTo>
                <a:lnTo>
                  <a:pt x="70428" y="50918"/>
                </a:lnTo>
                <a:close/>
              </a:path>
              <a:path w="723264" h="730885">
                <a:moveTo>
                  <a:pt x="45789" y="35095"/>
                </a:moveTo>
                <a:lnTo>
                  <a:pt x="34566" y="46189"/>
                </a:lnTo>
                <a:lnTo>
                  <a:pt x="34514" y="55236"/>
                </a:lnTo>
                <a:lnTo>
                  <a:pt x="50106" y="71008"/>
                </a:lnTo>
                <a:lnTo>
                  <a:pt x="70428" y="50918"/>
                </a:lnTo>
                <a:lnTo>
                  <a:pt x="54836" y="35145"/>
                </a:lnTo>
                <a:lnTo>
                  <a:pt x="45789" y="35095"/>
                </a:lnTo>
                <a:close/>
              </a:path>
              <a:path w="723264" h="730885">
                <a:moveTo>
                  <a:pt x="86434" y="35095"/>
                </a:moveTo>
                <a:lnTo>
                  <a:pt x="45789" y="35095"/>
                </a:lnTo>
                <a:lnTo>
                  <a:pt x="54836" y="35145"/>
                </a:lnTo>
                <a:lnTo>
                  <a:pt x="70428" y="50918"/>
                </a:lnTo>
                <a:lnTo>
                  <a:pt x="86434" y="3509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711969" y="5339079"/>
            <a:ext cx="1962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49" name="object 49"/>
          <p:cNvSpPr txBox="1"/>
          <p:nvPr/>
        </p:nvSpPr>
        <p:spPr>
          <a:xfrm>
            <a:off x="3881832" y="5495035"/>
            <a:ext cx="16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45808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180086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65">
                <a:solidFill>
                  <a:srgbClr val="00B050"/>
                </a:solidFill>
              </a:rPr>
              <a:t>T</a:t>
            </a:r>
            <a:r>
              <a:rPr dirty="0" spc="-70">
                <a:solidFill>
                  <a:srgbClr val="00B050"/>
                </a:solidFill>
              </a:rPr>
              <a:t>r</a:t>
            </a:r>
            <a:r>
              <a:rPr dirty="0" spc="-10">
                <a:solidFill>
                  <a:srgbClr val="00B050"/>
                </a:solidFill>
              </a:rPr>
              <a:t>a</a:t>
            </a:r>
            <a:r>
              <a:rPr dirty="0">
                <a:solidFill>
                  <a:srgbClr val="00B050"/>
                </a:solidFill>
              </a:rPr>
              <a:t>i</a:t>
            </a:r>
            <a:r>
              <a:rPr dirty="0" spc="-10">
                <a:solidFill>
                  <a:srgbClr val="00B050"/>
                </a:solidFill>
              </a:rPr>
              <a:t>n</a:t>
            </a:r>
            <a:r>
              <a:rPr dirty="0">
                <a:solidFill>
                  <a:srgbClr val="00B050"/>
                </a:solidFill>
              </a:rPr>
              <a:t>i</a:t>
            </a:r>
            <a:r>
              <a:rPr dirty="0" spc="-10">
                <a:solidFill>
                  <a:srgbClr val="00B050"/>
                </a:solidFill>
              </a:rPr>
              <a:t>n</a:t>
            </a:r>
            <a:r>
              <a:rPr dirty="0" spc="-5">
                <a:solidFill>
                  <a:srgbClr val="00B050"/>
                </a:solidFill>
              </a:rPr>
              <a:t>g</a:t>
            </a:r>
            <a:r>
              <a:rPr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885151" y="4843360"/>
            <a:ext cx="852805" cy="212090"/>
          </a:xfrm>
          <a:custGeom>
            <a:avLst/>
            <a:gdLst/>
            <a:ahLst/>
            <a:cxnLst/>
            <a:rect l="l" t="t" r="r" b="b"/>
            <a:pathLst>
              <a:path w="852805" h="212089">
                <a:moveTo>
                  <a:pt x="785230" y="0"/>
                </a:moveTo>
                <a:lnTo>
                  <a:pt x="782217" y="8595"/>
                </a:lnTo>
                <a:lnTo>
                  <a:pt x="794474" y="13914"/>
                </a:lnTo>
                <a:lnTo>
                  <a:pt x="805016" y="21277"/>
                </a:lnTo>
                <a:lnTo>
                  <a:pt x="826419" y="55409"/>
                </a:lnTo>
                <a:lnTo>
                  <a:pt x="833451" y="104811"/>
                </a:lnTo>
                <a:lnTo>
                  <a:pt x="832666" y="123487"/>
                </a:lnTo>
                <a:lnTo>
                  <a:pt x="820893" y="169217"/>
                </a:lnTo>
                <a:lnTo>
                  <a:pt x="794618" y="197806"/>
                </a:lnTo>
                <a:lnTo>
                  <a:pt x="782552" y="203150"/>
                </a:lnTo>
                <a:lnTo>
                  <a:pt x="785230" y="211745"/>
                </a:lnTo>
                <a:lnTo>
                  <a:pt x="825687" y="187708"/>
                </a:lnTo>
                <a:lnTo>
                  <a:pt x="848408" y="143335"/>
                </a:lnTo>
                <a:lnTo>
                  <a:pt x="852761" y="105928"/>
                </a:lnTo>
                <a:lnTo>
                  <a:pt x="851670" y="86516"/>
                </a:lnTo>
                <a:lnTo>
                  <a:pt x="835293" y="37114"/>
                </a:lnTo>
                <a:lnTo>
                  <a:pt x="800582" y="5542"/>
                </a:lnTo>
                <a:lnTo>
                  <a:pt x="785230" y="0"/>
                </a:lnTo>
                <a:close/>
              </a:path>
              <a:path w="852805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3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7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62712" y="2349512"/>
            <a:ext cx="1136015" cy="282575"/>
          </a:xfrm>
          <a:custGeom>
            <a:avLst/>
            <a:gdLst/>
            <a:ahLst/>
            <a:cxnLst/>
            <a:rect l="l" t="t" r="r" b="b"/>
            <a:pathLst>
              <a:path w="1136015" h="282575">
                <a:moveTo>
                  <a:pt x="1045937" y="0"/>
                </a:moveTo>
                <a:lnTo>
                  <a:pt x="1041919" y="11460"/>
                </a:lnTo>
                <a:lnTo>
                  <a:pt x="1058262" y="18552"/>
                </a:lnTo>
                <a:lnTo>
                  <a:pt x="1072317" y="28370"/>
                </a:lnTo>
                <a:lnTo>
                  <a:pt x="1100855" y="73878"/>
                </a:lnTo>
                <a:lnTo>
                  <a:pt x="1109189" y="115662"/>
                </a:lnTo>
                <a:lnTo>
                  <a:pt x="1110231" y="139749"/>
                </a:lnTo>
                <a:lnTo>
                  <a:pt x="1109185" y="164650"/>
                </a:lnTo>
                <a:lnTo>
                  <a:pt x="1100813" y="207587"/>
                </a:lnTo>
                <a:lnTo>
                  <a:pt x="1072335" y="253826"/>
                </a:lnTo>
                <a:lnTo>
                  <a:pt x="1042366" y="270866"/>
                </a:lnTo>
                <a:lnTo>
                  <a:pt x="1045937" y="282327"/>
                </a:lnTo>
                <a:lnTo>
                  <a:pt x="1084447" y="264263"/>
                </a:lnTo>
                <a:lnTo>
                  <a:pt x="1112761" y="232990"/>
                </a:lnTo>
                <a:lnTo>
                  <a:pt x="1130174" y="191113"/>
                </a:lnTo>
                <a:lnTo>
                  <a:pt x="1135979" y="141237"/>
                </a:lnTo>
                <a:lnTo>
                  <a:pt x="1134523" y="115355"/>
                </a:lnTo>
                <a:lnTo>
                  <a:pt x="1122877" y="69479"/>
                </a:lnTo>
                <a:lnTo>
                  <a:pt x="1099781" y="32133"/>
                </a:lnTo>
                <a:lnTo>
                  <a:pt x="1066406" y="7390"/>
                </a:lnTo>
                <a:lnTo>
                  <a:pt x="1045937" y="0"/>
                </a:lnTo>
                <a:close/>
              </a:path>
              <a:path w="113601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33819" y="3454412"/>
            <a:ext cx="1136015" cy="282575"/>
          </a:xfrm>
          <a:custGeom>
            <a:avLst/>
            <a:gdLst/>
            <a:ahLst/>
            <a:cxnLst/>
            <a:rect l="l" t="t" r="r" b="b"/>
            <a:pathLst>
              <a:path w="1136015" h="282575">
                <a:moveTo>
                  <a:pt x="1045937" y="0"/>
                </a:moveTo>
                <a:lnTo>
                  <a:pt x="1041919" y="11460"/>
                </a:lnTo>
                <a:lnTo>
                  <a:pt x="1058262" y="18552"/>
                </a:lnTo>
                <a:lnTo>
                  <a:pt x="1072317" y="28370"/>
                </a:lnTo>
                <a:lnTo>
                  <a:pt x="1100855" y="73878"/>
                </a:lnTo>
                <a:lnTo>
                  <a:pt x="1109189" y="115662"/>
                </a:lnTo>
                <a:lnTo>
                  <a:pt x="1110231" y="139749"/>
                </a:lnTo>
                <a:lnTo>
                  <a:pt x="1109185" y="164650"/>
                </a:lnTo>
                <a:lnTo>
                  <a:pt x="1100813" y="207587"/>
                </a:lnTo>
                <a:lnTo>
                  <a:pt x="1072335" y="253826"/>
                </a:lnTo>
                <a:lnTo>
                  <a:pt x="1042366" y="270866"/>
                </a:lnTo>
                <a:lnTo>
                  <a:pt x="1045937" y="282327"/>
                </a:lnTo>
                <a:lnTo>
                  <a:pt x="1084447" y="264263"/>
                </a:lnTo>
                <a:lnTo>
                  <a:pt x="1112761" y="232990"/>
                </a:lnTo>
                <a:lnTo>
                  <a:pt x="1130174" y="191113"/>
                </a:lnTo>
                <a:lnTo>
                  <a:pt x="1135978" y="141237"/>
                </a:lnTo>
                <a:lnTo>
                  <a:pt x="1134522" y="115355"/>
                </a:lnTo>
                <a:lnTo>
                  <a:pt x="1122877" y="69479"/>
                </a:lnTo>
                <a:lnTo>
                  <a:pt x="1099781" y="32133"/>
                </a:lnTo>
                <a:lnTo>
                  <a:pt x="1066406" y="7390"/>
                </a:lnTo>
                <a:lnTo>
                  <a:pt x="1045937" y="0"/>
                </a:lnTo>
                <a:close/>
              </a:path>
              <a:path w="1136015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1" y="270866"/>
                </a:lnTo>
                <a:lnTo>
                  <a:pt x="77524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36744" y="3822712"/>
            <a:ext cx="1155065" cy="282575"/>
          </a:xfrm>
          <a:custGeom>
            <a:avLst/>
            <a:gdLst/>
            <a:ahLst/>
            <a:cxnLst/>
            <a:rect l="l" t="t" r="r" b="b"/>
            <a:pathLst>
              <a:path w="1155064" h="282575">
                <a:moveTo>
                  <a:pt x="1064987" y="0"/>
                </a:moveTo>
                <a:lnTo>
                  <a:pt x="1060969" y="11459"/>
                </a:lnTo>
                <a:lnTo>
                  <a:pt x="1077312" y="18552"/>
                </a:lnTo>
                <a:lnTo>
                  <a:pt x="1091367" y="28370"/>
                </a:lnTo>
                <a:lnTo>
                  <a:pt x="1119905" y="73878"/>
                </a:lnTo>
                <a:lnTo>
                  <a:pt x="1128239" y="115662"/>
                </a:lnTo>
                <a:lnTo>
                  <a:pt x="1129281" y="139749"/>
                </a:lnTo>
                <a:lnTo>
                  <a:pt x="1128235" y="164650"/>
                </a:lnTo>
                <a:lnTo>
                  <a:pt x="1119864" y="207587"/>
                </a:lnTo>
                <a:lnTo>
                  <a:pt x="1091386" y="253826"/>
                </a:lnTo>
                <a:lnTo>
                  <a:pt x="1061416" y="270866"/>
                </a:lnTo>
                <a:lnTo>
                  <a:pt x="1064987" y="282327"/>
                </a:lnTo>
                <a:lnTo>
                  <a:pt x="1103497" y="264263"/>
                </a:lnTo>
                <a:lnTo>
                  <a:pt x="1131811" y="232990"/>
                </a:lnTo>
                <a:lnTo>
                  <a:pt x="1149224" y="191113"/>
                </a:lnTo>
                <a:lnTo>
                  <a:pt x="1155029" y="141237"/>
                </a:lnTo>
                <a:lnTo>
                  <a:pt x="1153573" y="115355"/>
                </a:lnTo>
                <a:lnTo>
                  <a:pt x="1141927" y="69479"/>
                </a:lnTo>
                <a:lnTo>
                  <a:pt x="1118831" y="32133"/>
                </a:lnTo>
                <a:lnTo>
                  <a:pt x="1085456" y="7390"/>
                </a:lnTo>
                <a:lnTo>
                  <a:pt x="1064987" y="0"/>
                </a:lnTo>
                <a:close/>
              </a:path>
              <a:path w="115506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92977" y="3822712"/>
            <a:ext cx="1163320" cy="282575"/>
          </a:xfrm>
          <a:custGeom>
            <a:avLst/>
            <a:gdLst/>
            <a:ahLst/>
            <a:cxnLst/>
            <a:rect l="l" t="t" r="r" b="b"/>
            <a:pathLst>
              <a:path w="1163320" h="282575">
                <a:moveTo>
                  <a:pt x="1072925" y="0"/>
                </a:moveTo>
                <a:lnTo>
                  <a:pt x="1068906" y="11459"/>
                </a:lnTo>
                <a:lnTo>
                  <a:pt x="1085249" y="18552"/>
                </a:lnTo>
                <a:lnTo>
                  <a:pt x="1099304" y="28370"/>
                </a:lnTo>
                <a:lnTo>
                  <a:pt x="1127842" y="73878"/>
                </a:lnTo>
                <a:lnTo>
                  <a:pt x="1136177" y="115662"/>
                </a:lnTo>
                <a:lnTo>
                  <a:pt x="1137218" y="139749"/>
                </a:lnTo>
                <a:lnTo>
                  <a:pt x="1136172" y="164650"/>
                </a:lnTo>
                <a:lnTo>
                  <a:pt x="1127801" y="207587"/>
                </a:lnTo>
                <a:lnTo>
                  <a:pt x="1099324" y="253826"/>
                </a:lnTo>
                <a:lnTo>
                  <a:pt x="1069353" y="270866"/>
                </a:lnTo>
                <a:lnTo>
                  <a:pt x="1072925" y="282327"/>
                </a:lnTo>
                <a:lnTo>
                  <a:pt x="1111434" y="264263"/>
                </a:lnTo>
                <a:lnTo>
                  <a:pt x="1139748" y="232990"/>
                </a:lnTo>
                <a:lnTo>
                  <a:pt x="1157162" y="191113"/>
                </a:lnTo>
                <a:lnTo>
                  <a:pt x="1162966" y="141237"/>
                </a:lnTo>
                <a:lnTo>
                  <a:pt x="1161511" y="115355"/>
                </a:lnTo>
                <a:lnTo>
                  <a:pt x="1149864" y="69479"/>
                </a:lnTo>
                <a:lnTo>
                  <a:pt x="1126768" y="32133"/>
                </a:lnTo>
                <a:lnTo>
                  <a:pt x="1093393" y="7390"/>
                </a:lnTo>
                <a:lnTo>
                  <a:pt x="1072925" y="0"/>
                </a:lnTo>
                <a:close/>
              </a:path>
              <a:path w="1163320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60033" y="1892300"/>
            <a:ext cx="5422265" cy="22326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69900" marR="1063625" indent="-457200">
              <a:lnSpc>
                <a:spcPct val="100800"/>
              </a:lnSpc>
              <a:spcBef>
                <a:spcPts val="75"/>
              </a:spcBef>
              <a:buAutoNum type="arabicPeriod"/>
              <a:tabLst>
                <a:tab pos="469265" algn="l"/>
                <a:tab pos="469900" algn="l"/>
                <a:tab pos="2802255" algn="l"/>
              </a:tabLst>
            </a:pPr>
            <a:r>
              <a:rPr dirty="0" sz="2400" spc="-5" b="1">
                <a:latin typeface="Calibri"/>
                <a:cs typeface="Calibri"/>
              </a:rPr>
              <a:t>Use </a:t>
            </a:r>
            <a:r>
              <a:rPr dirty="0" sz="2400" spc="-10" b="1">
                <a:latin typeface="Calibri"/>
                <a:cs typeface="Calibri"/>
              </a:rPr>
              <a:t>RGCN to </a:t>
            </a:r>
            <a:r>
              <a:rPr dirty="0" sz="2400" spc="-15" b="1">
                <a:latin typeface="Calibri"/>
                <a:cs typeface="Calibri"/>
              </a:rPr>
              <a:t>score </a:t>
            </a:r>
            <a:r>
              <a:rPr dirty="0" sz="2400" b="1"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training 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supervision</a:t>
            </a:r>
            <a:r>
              <a:rPr dirty="0" sz="240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	</a:t>
            </a:r>
            <a:r>
              <a:rPr dirty="0" sz="240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400" spc="10">
                <a:latin typeface="Cambria Math"/>
                <a:cs typeface="Cambria Math"/>
              </a:rPr>
              <a:t>,</a:t>
            </a:r>
            <a:r>
              <a:rPr dirty="0" sz="2400" spc="-3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785700"/>
                </a:solidFill>
                <a:latin typeface="Cambria Math"/>
                <a:cs typeface="Cambria Math"/>
              </a:rPr>
              <a:t>𝑨</a:t>
            </a:r>
            <a:endParaRPr sz="2400">
              <a:latin typeface="Cambria Math"/>
              <a:cs typeface="Cambria Math"/>
            </a:endParaRPr>
          </a:p>
          <a:p>
            <a:pPr marL="469900" marR="5080" indent="-4572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15" b="1">
                <a:latin typeface="Calibri"/>
                <a:cs typeface="Calibri"/>
              </a:rPr>
              <a:t>Create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negative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edge </a:t>
            </a:r>
            <a:r>
              <a:rPr dirty="0" sz="2400" spc="-10" b="1">
                <a:latin typeface="Calibri"/>
                <a:cs typeface="Calibri"/>
              </a:rPr>
              <a:t>by </a:t>
            </a:r>
            <a:r>
              <a:rPr dirty="0" sz="2400" spc="-5" b="1">
                <a:latin typeface="Calibri"/>
                <a:cs typeface="Calibri"/>
              </a:rPr>
              <a:t>perturbing the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 supervision</a:t>
            </a:r>
            <a:r>
              <a:rPr dirty="0" sz="2400" spc="-5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edge:</a:t>
            </a:r>
            <a:endParaRPr sz="2400">
              <a:latin typeface="Calibri"/>
              <a:cs typeface="Calibri"/>
            </a:endParaRPr>
          </a:p>
          <a:p>
            <a:pPr lvl="1" marL="8128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165" algn="l"/>
                <a:tab pos="812800" algn="l"/>
                <a:tab pos="3273425" algn="l"/>
              </a:tabLst>
            </a:pPr>
            <a:r>
              <a:rPr dirty="0" sz="2400" spc="-10" b="1">
                <a:latin typeface="Calibri"/>
                <a:cs typeface="Calibri"/>
              </a:rPr>
              <a:t>Corrupt </a:t>
            </a:r>
            <a:r>
              <a:rPr dirty="0" sz="2400" spc="-5" b="1">
                <a:latin typeface="Calibri"/>
                <a:cs typeface="Calibri"/>
              </a:rPr>
              <a:t>the</a:t>
            </a:r>
            <a:r>
              <a:rPr dirty="0" sz="2400" spc="25" b="1"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B48200"/>
                </a:solidFill>
                <a:latin typeface="Calibri"/>
                <a:cs typeface="Calibri"/>
              </a:rPr>
              <a:t>tail</a:t>
            </a:r>
            <a:r>
              <a:rPr dirty="0" sz="2400" b="1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of	</a:t>
            </a:r>
            <a:r>
              <a:rPr dirty="0" sz="240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400" spc="10">
                <a:latin typeface="Cambria Math"/>
                <a:cs typeface="Cambria Math"/>
              </a:rPr>
              <a:t>,</a:t>
            </a:r>
            <a:r>
              <a:rPr dirty="0" sz="2400" spc="-3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785700"/>
                </a:solidFill>
                <a:latin typeface="Cambria Math"/>
                <a:cs typeface="Cambria Math"/>
              </a:rPr>
              <a:t>𝑨</a:t>
            </a:r>
            <a:endParaRPr sz="2400">
              <a:latin typeface="Cambria Math"/>
              <a:cs typeface="Cambria Math"/>
            </a:endParaRPr>
          </a:p>
          <a:p>
            <a:pPr marL="537845">
              <a:lnSpc>
                <a:spcPct val="100000"/>
              </a:lnSpc>
              <a:spcBef>
                <a:spcPts val="20"/>
              </a:spcBef>
              <a:tabLst>
                <a:tab pos="1276350" algn="l"/>
                <a:tab pos="2632075" algn="l"/>
              </a:tabLst>
            </a:pPr>
            <a:r>
              <a:rPr dirty="0" sz="2400" b="1">
                <a:latin typeface="Calibri"/>
                <a:cs typeface="Calibri"/>
              </a:rPr>
              <a:t>e.g.,	</a:t>
            </a:r>
            <a:r>
              <a:rPr dirty="0" sz="240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400" spc="10">
                <a:latin typeface="Cambria Math"/>
                <a:cs typeface="Cambria Math"/>
              </a:rPr>
              <a:t>,</a:t>
            </a:r>
            <a:r>
              <a:rPr dirty="0" sz="2400" spc="-2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𝑩</a:t>
            </a:r>
            <a:r>
              <a:rPr dirty="0" sz="2400" spc="459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b="1">
                <a:solidFill>
                  <a:srgbClr val="0070C0"/>
                </a:solidFill>
                <a:latin typeface="Calibri"/>
                <a:cs typeface="Calibri"/>
              </a:rPr>
              <a:t>,	</a:t>
            </a:r>
            <a:r>
              <a:rPr dirty="0" sz="240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400" spc="10">
                <a:latin typeface="Cambria Math"/>
                <a:cs typeface="Cambria Math"/>
              </a:rPr>
              <a:t>,</a:t>
            </a:r>
            <a:r>
              <a:rPr dirty="0" sz="2400" spc="-3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70C0"/>
                </a:solidFill>
                <a:latin typeface="Cambria Math"/>
                <a:cs typeface="Cambria Math"/>
              </a:rPr>
              <a:t>𝑫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96701" y="4443476"/>
            <a:ext cx="3832860" cy="85788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60"/>
              </a:spcBef>
            </a:pP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Note </a:t>
            </a:r>
            <a:r>
              <a:rPr dirty="0" sz="1800" spc="-5" b="1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negative edges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should </a:t>
            </a:r>
            <a:r>
              <a:rPr dirty="0" sz="1800" spc="-15" b="1">
                <a:solidFill>
                  <a:srgbClr val="FF0000"/>
                </a:solidFill>
                <a:latin typeface="Calibri"/>
                <a:cs typeface="Calibri"/>
              </a:rPr>
              <a:t>NOT 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belong to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 message edges</a:t>
            </a:r>
            <a:r>
              <a:rPr dirty="0" sz="18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or 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supervision</a:t>
            </a:r>
            <a:r>
              <a:rPr dirty="0" sz="1800" spc="-3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edges!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86312" y="5339222"/>
            <a:ext cx="845185" cy="212090"/>
          </a:xfrm>
          <a:custGeom>
            <a:avLst/>
            <a:gdLst/>
            <a:ahLst/>
            <a:cxnLst/>
            <a:rect l="l" t="t" r="r" b="b"/>
            <a:pathLst>
              <a:path w="845185" h="212089">
                <a:moveTo>
                  <a:pt x="777294" y="0"/>
                </a:moveTo>
                <a:lnTo>
                  <a:pt x="774280" y="8594"/>
                </a:lnTo>
                <a:lnTo>
                  <a:pt x="786537" y="13913"/>
                </a:lnTo>
                <a:lnTo>
                  <a:pt x="797078" y="21277"/>
                </a:lnTo>
                <a:lnTo>
                  <a:pt x="818482" y="55409"/>
                </a:lnTo>
                <a:lnTo>
                  <a:pt x="825513" y="104811"/>
                </a:lnTo>
                <a:lnTo>
                  <a:pt x="824729" y="123487"/>
                </a:lnTo>
                <a:lnTo>
                  <a:pt x="812957" y="169217"/>
                </a:lnTo>
                <a:lnTo>
                  <a:pt x="786680" y="197806"/>
                </a:lnTo>
                <a:lnTo>
                  <a:pt x="774614" y="203150"/>
                </a:lnTo>
                <a:lnTo>
                  <a:pt x="777294" y="211744"/>
                </a:lnTo>
                <a:lnTo>
                  <a:pt x="817749" y="187708"/>
                </a:lnTo>
                <a:lnTo>
                  <a:pt x="840471" y="143335"/>
                </a:lnTo>
                <a:lnTo>
                  <a:pt x="844824" y="105928"/>
                </a:lnTo>
                <a:lnTo>
                  <a:pt x="843732" y="86516"/>
                </a:lnTo>
                <a:lnTo>
                  <a:pt x="827356" y="37113"/>
                </a:lnTo>
                <a:lnTo>
                  <a:pt x="792645" y="5542"/>
                </a:lnTo>
                <a:lnTo>
                  <a:pt x="777294" y="0"/>
                </a:lnTo>
                <a:close/>
              </a:path>
              <a:path w="845185" h="212089">
                <a:moveTo>
                  <a:pt x="67530" y="0"/>
                </a:moveTo>
                <a:lnTo>
                  <a:pt x="27148" y="24099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4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7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96701" y="5269484"/>
            <a:ext cx="1273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3880" algn="l"/>
              </a:tabLst>
            </a:pPr>
            <a:r>
              <a:rPr dirty="0" sz="1800" spc="-5" b="1">
                <a:latin typeface="Calibri"/>
                <a:cs typeface="Calibri"/>
              </a:rPr>
              <a:t>e.g.,	</a:t>
            </a:r>
            <a:r>
              <a:rPr dirty="0" sz="18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800" spc="-5">
                <a:latin typeface="Cambria Math"/>
                <a:cs typeface="Cambria Math"/>
              </a:rPr>
              <a:t>, </a:t>
            </a:r>
            <a:r>
              <a:rPr dirty="0" sz="18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800" spc="10">
                <a:latin typeface="Cambria Math"/>
                <a:cs typeface="Cambria Math"/>
              </a:rPr>
              <a:t>,</a:t>
            </a:r>
            <a:r>
              <a:rPr dirty="0" sz="1800" spc="-27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2F6231"/>
                </a:solidFill>
                <a:latin typeface="Cambria Math"/>
                <a:cs typeface="Cambria Math"/>
              </a:rPr>
              <a:t>𝑪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2020" y="5269484"/>
            <a:ext cx="2540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is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dirty="0" sz="1800" b="1">
                <a:latin typeface="Arial"/>
                <a:cs typeface="Arial"/>
              </a:rPr>
              <a:t>a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negative</a:t>
            </a:r>
            <a:r>
              <a:rPr dirty="0" sz="1800" spc="-7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edge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6843" y="256504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72189" y="2587244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23506" y="274641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5"/>
                </a:lnTo>
                <a:lnTo>
                  <a:pt x="0" y="185348"/>
                </a:lnTo>
                <a:lnTo>
                  <a:pt x="6439" y="234622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3" y="364078"/>
                </a:lnTo>
                <a:lnTo>
                  <a:pt x="180279" y="370699"/>
                </a:lnTo>
                <a:lnTo>
                  <a:pt x="228203" y="364078"/>
                </a:lnTo>
                <a:lnTo>
                  <a:pt x="271268" y="345393"/>
                </a:lnTo>
                <a:lnTo>
                  <a:pt x="307754" y="316411"/>
                </a:lnTo>
                <a:lnTo>
                  <a:pt x="335943" y="278899"/>
                </a:lnTo>
                <a:lnTo>
                  <a:pt x="354117" y="234622"/>
                </a:lnTo>
                <a:lnTo>
                  <a:pt x="360556" y="185348"/>
                </a:lnTo>
                <a:lnTo>
                  <a:pt x="354117" y="136075"/>
                </a:lnTo>
                <a:lnTo>
                  <a:pt x="335943" y="91799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44726" y="2031257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1" y="316412"/>
                </a:lnTo>
                <a:lnTo>
                  <a:pt x="89287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44835" y="2053844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11326" y="359661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34604" y="341126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1125" y="3596610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42818" y="2347668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3" y="75080"/>
                </a:moveTo>
                <a:lnTo>
                  <a:pt x="26716" y="85217"/>
                </a:lnTo>
                <a:lnTo>
                  <a:pt x="150408" y="411187"/>
                </a:lnTo>
                <a:lnTo>
                  <a:pt x="158658" y="414898"/>
                </a:lnTo>
                <a:lnTo>
                  <a:pt x="173413" y="409299"/>
                </a:lnTo>
                <a:lnTo>
                  <a:pt x="177124" y="401049"/>
                </a:lnTo>
                <a:lnTo>
                  <a:pt x="53433" y="75080"/>
                </a:lnTo>
                <a:close/>
              </a:path>
              <a:path w="177164" h="415289">
                <a:moveTo>
                  <a:pt x="9662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1"/>
                </a:lnTo>
                <a:lnTo>
                  <a:pt x="22559" y="56231"/>
                </a:lnTo>
                <a:lnTo>
                  <a:pt x="37315" y="50633"/>
                </a:lnTo>
                <a:lnTo>
                  <a:pt x="64618" y="50633"/>
                </a:lnTo>
                <a:lnTo>
                  <a:pt x="9662" y="0"/>
                </a:lnTo>
                <a:close/>
              </a:path>
              <a:path w="177164" h="415289">
                <a:moveTo>
                  <a:pt x="37315" y="50633"/>
                </a:moveTo>
                <a:lnTo>
                  <a:pt x="22559" y="56231"/>
                </a:lnTo>
                <a:lnTo>
                  <a:pt x="18848" y="64481"/>
                </a:lnTo>
                <a:lnTo>
                  <a:pt x="26716" y="85217"/>
                </a:lnTo>
                <a:lnTo>
                  <a:pt x="53433" y="75080"/>
                </a:lnTo>
                <a:lnTo>
                  <a:pt x="45565" y="54344"/>
                </a:lnTo>
                <a:lnTo>
                  <a:pt x="37315" y="50633"/>
                </a:lnTo>
                <a:close/>
              </a:path>
              <a:path w="177164" h="415289">
                <a:moveTo>
                  <a:pt x="64618" y="50633"/>
                </a:moveTo>
                <a:lnTo>
                  <a:pt x="37315" y="50633"/>
                </a:lnTo>
                <a:lnTo>
                  <a:pt x="45565" y="54344"/>
                </a:lnTo>
                <a:lnTo>
                  <a:pt x="53433" y="75080"/>
                </a:lnTo>
                <a:lnTo>
                  <a:pt x="80149" y="64942"/>
                </a:lnTo>
                <a:lnTo>
                  <a:pt x="64618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37398" y="2200287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4">
                <a:moveTo>
                  <a:pt x="55678" y="472090"/>
                </a:moveTo>
                <a:lnTo>
                  <a:pt x="0" y="550103"/>
                </a:lnTo>
                <a:lnTo>
                  <a:pt x="95816" y="547838"/>
                </a:lnTo>
                <a:lnTo>
                  <a:pt x="87939" y="532973"/>
                </a:lnTo>
                <a:lnTo>
                  <a:pt x="62839" y="532973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5" h="550544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3"/>
                </a:lnTo>
                <a:lnTo>
                  <a:pt x="82436" y="522588"/>
                </a:lnTo>
                <a:lnTo>
                  <a:pt x="69057" y="497339"/>
                </a:lnTo>
                <a:close/>
              </a:path>
              <a:path w="1024255" h="550544">
                <a:moveTo>
                  <a:pt x="82436" y="522588"/>
                </a:moveTo>
                <a:lnTo>
                  <a:pt x="62839" y="532973"/>
                </a:lnTo>
                <a:lnTo>
                  <a:pt x="87939" y="532973"/>
                </a:lnTo>
                <a:lnTo>
                  <a:pt x="82436" y="522588"/>
                </a:lnTo>
                <a:close/>
              </a:path>
              <a:path w="1024255" h="550544">
                <a:moveTo>
                  <a:pt x="1007609" y="0"/>
                </a:moveTo>
                <a:lnTo>
                  <a:pt x="69057" y="497339"/>
                </a:lnTo>
                <a:lnTo>
                  <a:pt x="82436" y="522588"/>
                </a:lnTo>
                <a:lnTo>
                  <a:pt x="1020988" y="25248"/>
                </a:lnTo>
                <a:lnTo>
                  <a:pt x="1023646" y="16601"/>
                </a:lnTo>
                <a:lnTo>
                  <a:pt x="1016256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5490" y="2881453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4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7"/>
                </a:lnTo>
                <a:lnTo>
                  <a:pt x="607734" y="73471"/>
                </a:lnTo>
                <a:lnTo>
                  <a:pt x="586415" y="54444"/>
                </a:lnTo>
                <a:close/>
              </a:path>
              <a:path w="654685" h="731520">
                <a:moveTo>
                  <a:pt x="644010" y="37383"/>
                </a:moveTo>
                <a:lnTo>
                  <a:pt x="610214" y="37383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10" y="37383"/>
                </a:lnTo>
                <a:close/>
              </a:path>
              <a:path w="654685" h="731520">
                <a:moveTo>
                  <a:pt x="610214" y="37383"/>
                </a:moveTo>
                <a:lnTo>
                  <a:pt x="601182" y="37898"/>
                </a:lnTo>
                <a:lnTo>
                  <a:pt x="586415" y="54444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3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7"/>
                </a:lnTo>
                <a:lnTo>
                  <a:pt x="586415" y="54444"/>
                </a:lnTo>
                <a:lnTo>
                  <a:pt x="601182" y="37898"/>
                </a:lnTo>
                <a:lnTo>
                  <a:pt x="610214" y="37383"/>
                </a:lnTo>
                <a:lnTo>
                  <a:pt x="644010" y="37383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84596" y="2841839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4"/>
                </a:moveTo>
                <a:lnTo>
                  <a:pt x="85128" y="57108"/>
                </a:lnTo>
                <a:lnTo>
                  <a:pt x="1346259" y="104494"/>
                </a:lnTo>
                <a:lnTo>
                  <a:pt x="1352890" y="98342"/>
                </a:lnTo>
                <a:lnTo>
                  <a:pt x="1353484" y="82571"/>
                </a:lnTo>
                <a:lnTo>
                  <a:pt x="1347332" y="75939"/>
                </a:lnTo>
                <a:lnTo>
                  <a:pt x="86200" y="28554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5" y="85664"/>
                </a:lnTo>
                <a:lnTo>
                  <a:pt x="85128" y="57108"/>
                </a:lnTo>
                <a:lnTo>
                  <a:pt x="62965" y="56276"/>
                </a:lnTo>
                <a:lnTo>
                  <a:pt x="56813" y="49644"/>
                </a:lnTo>
                <a:lnTo>
                  <a:pt x="57406" y="33873"/>
                </a:lnTo>
                <a:lnTo>
                  <a:pt x="64038" y="27721"/>
                </a:lnTo>
                <a:lnTo>
                  <a:pt x="86232" y="27721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1"/>
                </a:moveTo>
                <a:lnTo>
                  <a:pt x="57406" y="33873"/>
                </a:lnTo>
                <a:lnTo>
                  <a:pt x="56813" y="49644"/>
                </a:lnTo>
                <a:lnTo>
                  <a:pt x="62965" y="56276"/>
                </a:lnTo>
                <a:lnTo>
                  <a:pt x="85128" y="57108"/>
                </a:lnTo>
                <a:lnTo>
                  <a:pt x="86200" y="28554"/>
                </a:lnTo>
                <a:lnTo>
                  <a:pt x="64038" y="27721"/>
                </a:lnTo>
                <a:close/>
              </a:path>
              <a:path w="1353820" h="104775">
                <a:moveTo>
                  <a:pt x="86232" y="27721"/>
                </a:moveTo>
                <a:lnTo>
                  <a:pt x="64038" y="27721"/>
                </a:lnTo>
                <a:lnTo>
                  <a:pt x="86200" y="28554"/>
                </a:lnTo>
                <a:lnTo>
                  <a:pt x="86232" y="27721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03281" y="3062822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3" y="52399"/>
                </a:moveTo>
                <a:lnTo>
                  <a:pt x="0" y="583977"/>
                </a:lnTo>
                <a:lnTo>
                  <a:pt x="243" y="593020"/>
                </a:lnTo>
                <a:lnTo>
                  <a:pt x="11699" y="603874"/>
                </a:lnTo>
                <a:lnTo>
                  <a:pt x="20741" y="603632"/>
                </a:lnTo>
                <a:lnTo>
                  <a:pt x="524435" y="72053"/>
                </a:lnTo>
                <a:lnTo>
                  <a:pt x="503693" y="52399"/>
                </a:lnTo>
                <a:close/>
              </a:path>
              <a:path w="573405" h="603885">
                <a:moveTo>
                  <a:pt x="562078" y="36056"/>
                </a:moveTo>
                <a:lnTo>
                  <a:pt x="527991" y="36056"/>
                </a:lnTo>
                <a:lnTo>
                  <a:pt x="539446" y="46911"/>
                </a:lnTo>
                <a:lnTo>
                  <a:pt x="539690" y="55954"/>
                </a:lnTo>
                <a:lnTo>
                  <a:pt x="524435" y="72053"/>
                </a:lnTo>
                <a:lnTo>
                  <a:pt x="545177" y="91707"/>
                </a:lnTo>
                <a:lnTo>
                  <a:pt x="562078" y="36056"/>
                </a:lnTo>
                <a:close/>
              </a:path>
              <a:path w="573405" h="603885">
                <a:moveTo>
                  <a:pt x="527991" y="36056"/>
                </a:moveTo>
                <a:lnTo>
                  <a:pt x="518947" y="36300"/>
                </a:lnTo>
                <a:lnTo>
                  <a:pt x="503693" y="52399"/>
                </a:lnTo>
                <a:lnTo>
                  <a:pt x="524435" y="72053"/>
                </a:lnTo>
                <a:lnTo>
                  <a:pt x="539690" y="55954"/>
                </a:lnTo>
                <a:lnTo>
                  <a:pt x="539446" y="46911"/>
                </a:lnTo>
                <a:lnTo>
                  <a:pt x="527991" y="36056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3" y="52399"/>
                </a:lnTo>
                <a:lnTo>
                  <a:pt x="518947" y="36300"/>
                </a:lnTo>
                <a:lnTo>
                  <a:pt x="527991" y="36056"/>
                </a:lnTo>
                <a:lnTo>
                  <a:pt x="562078" y="36056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03784" y="3117109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1" y="68213"/>
                </a:lnTo>
                <a:lnTo>
                  <a:pt x="379856" y="364321"/>
                </a:lnTo>
                <a:lnTo>
                  <a:pt x="388891" y="363886"/>
                </a:lnTo>
                <a:lnTo>
                  <a:pt x="399502" y="352204"/>
                </a:lnTo>
                <a:lnTo>
                  <a:pt x="399068" y="343167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9" y="89366"/>
                </a:lnTo>
                <a:lnTo>
                  <a:pt x="53851" y="68213"/>
                </a:lnTo>
                <a:lnTo>
                  <a:pt x="37434" y="53301"/>
                </a:lnTo>
                <a:lnTo>
                  <a:pt x="37000" y="44265"/>
                </a:lnTo>
                <a:lnTo>
                  <a:pt x="47611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11" y="32584"/>
                </a:lnTo>
                <a:lnTo>
                  <a:pt x="37000" y="44265"/>
                </a:lnTo>
                <a:lnTo>
                  <a:pt x="37434" y="53301"/>
                </a:lnTo>
                <a:lnTo>
                  <a:pt x="53851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71881" y="3581088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2"/>
                </a:lnTo>
                <a:lnTo>
                  <a:pt x="92282" y="226754"/>
                </a:lnTo>
                <a:lnTo>
                  <a:pt x="87687" y="202887"/>
                </a:lnTo>
                <a:lnTo>
                  <a:pt x="65102" y="202887"/>
                </a:lnTo>
                <a:lnTo>
                  <a:pt x="57611" y="197816"/>
                </a:lnTo>
                <a:lnTo>
                  <a:pt x="54627" y="182318"/>
                </a:lnTo>
                <a:lnTo>
                  <a:pt x="59700" y="174828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700" y="174828"/>
                </a:lnTo>
                <a:lnTo>
                  <a:pt x="54627" y="182318"/>
                </a:lnTo>
                <a:lnTo>
                  <a:pt x="57611" y="197816"/>
                </a:lnTo>
                <a:lnTo>
                  <a:pt x="65102" y="202887"/>
                </a:lnTo>
                <a:lnTo>
                  <a:pt x="86879" y="198694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2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4"/>
                </a:lnTo>
                <a:lnTo>
                  <a:pt x="973171" y="28060"/>
                </a:lnTo>
                <a:lnTo>
                  <a:pt x="978244" y="20568"/>
                </a:lnTo>
                <a:lnTo>
                  <a:pt x="975259" y="5072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5759" y="4047235"/>
            <a:ext cx="2819400" cy="2677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159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12700" marR="614045">
              <a:lnSpc>
                <a:spcPts val="2090"/>
              </a:lnSpc>
              <a:spcBef>
                <a:spcPts val="1590"/>
              </a:spcBef>
            </a:pP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supervision  edges: </a:t>
            </a:r>
            <a:r>
              <a:rPr dirty="0" sz="18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800" spc="-5">
                <a:latin typeface="Cambria Math"/>
                <a:cs typeface="Cambria Math"/>
              </a:rPr>
              <a:t>, </a:t>
            </a:r>
            <a:r>
              <a:rPr dirty="0" sz="18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800" spc="10">
                <a:latin typeface="Cambria Math"/>
                <a:cs typeface="Cambria Math"/>
              </a:rPr>
              <a:t>,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785700"/>
                </a:solidFill>
                <a:latin typeface="Cambria Math"/>
                <a:cs typeface="Cambria Math"/>
              </a:rPr>
              <a:t>𝑨</a:t>
            </a:r>
            <a:endParaRPr sz="1800">
              <a:latin typeface="Cambria Math"/>
              <a:cs typeface="Cambria Math"/>
            </a:endParaRPr>
          </a:p>
          <a:p>
            <a:pPr marL="12700" marR="5080">
              <a:lnSpc>
                <a:spcPct val="99400"/>
              </a:lnSpc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 message edges:  </a:t>
            </a:r>
            <a:r>
              <a:rPr dirty="0" sz="1800" spc="-5" b="1">
                <a:latin typeface="Arial"/>
                <a:cs typeface="Arial"/>
              </a:rPr>
              <a:t>all </a:t>
            </a: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rest existing edges  (solid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lines)</a:t>
            </a:r>
            <a:endParaRPr sz="1800">
              <a:latin typeface="Arial"/>
              <a:cs typeface="Arial"/>
            </a:endParaRPr>
          </a:p>
          <a:p>
            <a:pPr marL="12700" marR="106045">
              <a:lnSpc>
                <a:spcPct val="99400"/>
              </a:lnSpc>
              <a:spcBef>
                <a:spcPts val="60"/>
              </a:spcBef>
            </a:pPr>
            <a:r>
              <a:rPr dirty="0" sz="1800" spc="-5">
                <a:latin typeface="Arial"/>
                <a:cs typeface="Arial"/>
              </a:rPr>
              <a:t>(1) </a:t>
            </a: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  edges </a:t>
            </a:r>
            <a:r>
              <a:rPr dirty="0" sz="1800" spc="-5">
                <a:latin typeface="Arial"/>
                <a:cs typeface="Arial"/>
              </a:rPr>
              <a:t>to predict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</a:t>
            </a:r>
            <a:r>
              <a:rPr dirty="0" sz="1800" spc="-7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1987" y="2925063"/>
            <a:ext cx="266700" cy="99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marL="52069">
              <a:lnSpc>
                <a:spcPct val="100000"/>
              </a:lnSpc>
              <a:spcBef>
                <a:spcPts val="2475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4482" y="1940559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70438" y="2793999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94547" y="2819371"/>
            <a:ext cx="290830" cy="91503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500" spc="-5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7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marL="161925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23615" y="2016562"/>
            <a:ext cx="389890" cy="1053465"/>
          </a:xfrm>
          <a:prstGeom prst="rect">
            <a:avLst/>
          </a:prstGeom>
        </p:spPr>
        <p:txBody>
          <a:bodyPr wrap="square" lIns="0" tIns="22923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1805"/>
              </a:spcBef>
            </a:pPr>
            <a:r>
              <a:rPr dirty="0" sz="2500" spc="-28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16975" sz="2700" spc="-457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16975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86389" y="2858007"/>
            <a:ext cx="545465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r>
              <a:rPr dirty="0" sz="1800" spc="300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baseline="-18888" sz="3750" spc="-442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41666" sz="2700" spc="-442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41666" sz="27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30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12203" y="3586479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7121" y="2935740"/>
            <a:ext cx="723265" cy="730885"/>
          </a:xfrm>
          <a:custGeom>
            <a:avLst/>
            <a:gdLst/>
            <a:ahLst/>
            <a:cxnLst/>
            <a:rect l="l" t="t" r="r" b="b"/>
            <a:pathLst>
              <a:path w="723264" h="730885">
                <a:moveTo>
                  <a:pt x="662395" y="658807"/>
                </a:moveTo>
                <a:lnTo>
                  <a:pt x="651172" y="669903"/>
                </a:lnTo>
                <a:lnTo>
                  <a:pt x="651120" y="678949"/>
                </a:lnTo>
                <a:lnTo>
                  <a:pt x="702394" y="730813"/>
                </a:lnTo>
                <a:lnTo>
                  <a:pt x="711440" y="730865"/>
                </a:lnTo>
                <a:lnTo>
                  <a:pt x="722663" y="719771"/>
                </a:lnTo>
                <a:lnTo>
                  <a:pt x="722715" y="710725"/>
                </a:lnTo>
                <a:lnTo>
                  <a:pt x="671441" y="658859"/>
                </a:lnTo>
                <a:lnTo>
                  <a:pt x="662395" y="658807"/>
                </a:lnTo>
                <a:close/>
              </a:path>
              <a:path w="723264" h="730885">
                <a:moveTo>
                  <a:pt x="582037" y="577523"/>
                </a:moveTo>
                <a:lnTo>
                  <a:pt x="570814" y="588618"/>
                </a:lnTo>
                <a:lnTo>
                  <a:pt x="570762" y="597664"/>
                </a:lnTo>
                <a:lnTo>
                  <a:pt x="622036" y="649530"/>
                </a:lnTo>
                <a:lnTo>
                  <a:pt x="631082" y="649582"/>
                </a:lnTo>
                <a:lnTo>
                  <a:pt x="642305" y="638487"/>
                </a:lnTo>
                <a:lnTo>
                  <a:pt x="642357" y="629441"/>
                </a:lnTo>
                <a:lnTo>
                  <a:pt x="591083" y="577575"/>
                </a:lnTo>
                <a:lnTo>
                  <a:pt x="582037" y="577523"/>
                </a:lnTo>
                <a:close/>
              </a:path>
              <a:path w="723264" h="730885">
                <a:moveTo>
                  <a:pt x="501679" y="496239"/>
                </a:moveTo>
                <a:lnTo>
                  <a:pt x="490456" y="507334"/>
                </a:lnTo>
                <a:lnTo>
                  <a:pt x="490404" y="516380"/>
                </a:lnTo>
                <a:lnTo>
                  <a:pt x="541678" y="568246"/>
                </a:lnTo>
                <a:lnTo>
                  <a:pt x="550724" y="568298"/>
                </a:lnTo>
                <a:lnTo>
                  <a:pt x="561947" y="557202"/>
                </a:lnTo>
                <a:lnTo>
                  <a:pt x="561999" y="548156"/>
                </a:lnTo>
                <a:lnTo>
                  <a:pt x="510725" y="496291"/>
                </a:lnTo>
                <a:lnTo>
                  <a:pt x="501679" y="496239"/>
                </a:lnTo>
                <a:close/>
              </a:path>
              <a:path w="723264" h="730885">
                <a:moveTo>
                  <a:pt x="421321" y="414954"/>
                </a:moveTo>
                <a:lnTo>
                  <a:pt x="410098" y="426050"/>
                </a:lnTo>
                <a:lnTo>
                  <a:pt x="410046" y="435096"/>
                </a:lnTo>
                <a:lnTo>
                  <a:pt x="461320" y="486961"/>
                </a:lnTo>
                <a:lnTo>
                  <a:pt x="470366" y="487013"/>
                </a:lnTo>
                <a:lnTo>
                  <a:pt x="481589" y="475918"/>
                </a:lnTo>
                <a:lnTo>
                  <a:pt x="481641" y="466872"/>
                </a:lnTo>
                <a:lnTo>
                  <a:pt x="430367" y="415006"/>
                </a:lnTo>
                <a:lnTo>
                  <a:pt x="421321" y="414954"/>
                </a:lnTo>
                <a:close/>
              </a:path>
              <a:path w="723264" h="730885">
                <a:moveTo>
                  <a:pt x="340963" y="333670"/>
                </a:moveTo>
                <a:lnTo>
                  <a:pt x="329740" y="344765"/>
                </a:lnTo>
                <a:lnTo>
                  <a:pt x="329688" y="353811"/>
                </a:lnTo>
                <a:lnTo>
                  <a:pt x="380963" y="405677"/>
                </a:lnTo>
                <a:lnTo>
                  <a:pt x="390009" y="405729"/>
                </a:lnTo>
                <a:lnTo>
                  <a:pt x="401232" y="394634"/>
                </a:lnTo>
                <a:lnTo>
                  <a:pt x="401283" y="385588"/>
                </a:lnTo>
                <a:lnTo>
                  <a:pt x="350009" y="333722"/>
                </a:lnTo>
                <a:lnTo>
                  <a:pt x="340963" y="333670"/>
                </a:lnTo>
                <a:close/>
              </a:path>
              <a:path w="723264" h="730885">
                <a:moveTo>
                  <a:pt x="260605" y="252387"/>
                </a:moveTo>
                <a:lnTo>
                  <a:pt x="249382" y="263481"/>
                </a:lnTo>
                <a:lnTo>
                  <a:pt x="249331" y="272528"/>
                </a:lnTo>
                <a:lnTo>
                  <a:pt x="300605" y="324393"/>
                </a:lnTo>
                <a:lnTo>
                  <a:pt x="309651" y="324445"/>
                </a:lnTo>
                <a:lnTo>
                  <a:pt x="320874" y="313349"/>
                </a:lnTo>
                <a:lnTo>
                  <a:pt x="320926" y="304303"/>
                </a:lnTo>
                <a:lnTo>
                  <a:pt x="269651" y="252439"/>
                </a:lnTo>
                <a:lnTo>
                  <a:pt x="260605" y="252387"/>
                </a:lnTo>
                <a:close/>
              </a:path>
              <a:path w="723264" h="730885">
                <a:moveTo>
                  <a:pt x="180248" y="171103"/>
                </a:moveTo>
                <a:lnTo>
                  <a:pt x="169025" y="182198"/>
                </a:lnTo>
                <a:lnTo>
                  <a:pt x="168973" y="191244"/>
                </a:lnTo>
                <a:lnTo>
                  <a:pt x="220247" y="243109"/>
                </a:lnTo>
                <a:lnTo>
                  <a:pt x="229293" y="243160"/>
                </a:lnTo>
                <a:lnTo>
                  <a:pt x="240516" y="232065"/>
                </a:lnTo>
                <a:lnTo>
                  <a:pt x="240568" y="223019"/>
                </a:lnTo>
                <a:lnTo>
                  <a:pt x="189294" y="171154"/>
                </a:lnTo>
                <a:lnTo>
                  <a:pt x="180248" y="171103"/>
                </a:lnTo>
                <a:close/>
              </a:path>
              <a:path w="723264" h="730885">
                <a:moveTo>
                  <a:pt x="99890" y="89818"/>
                </a:moveTo>
                <a:lnTo>
                  <a:pt x="88667" y="100912"/>
                </a:lnTo>
                <a:lnTo>
                  <a:pt x="88615" y="109959"/>
                </a:lnTo>
                <a:lnTo>
                  <a:pt x="139889" y="161824"/>
                </a:lnTo>
                <a:lnTo>
                  <a:pt x="148935" y="161876"/>
                </a:lnTo>
                <a:lnTo>
                  <a:pt x="160158" y="150782"/>
                </a:lnTo>
                <a:lnTo>
                  <a:pt x="160210" y="141735"/>
                </a:lnTo>
                <a:lnTo>
                  <a:pt x="108936" y="89870"/>
                </a:lnTo>
                <a:lnTo>
                  <a:pt x="99890" y="89818"/>
                </a:lnTo>
                <a:close/>
              </a:path>
              <a:path w="723264" h="730885">
                <a:moveTo>
                  <a:pt x="0" y="0"/>
                </a:moveTo>
                <a:lnTo>
                  <a:pt x="29786" y="91097"/>
                </a:lnTo>
                <a:lnTo>
                  <a:pt x="50107" y="71007"/>
                </a:lnTo>
                <a:lnTo>
                  <a:pt x="34515" y="55236"/>
                </a:lnTo>
                <a:lnTo>
                  <a:pt x="34566" y="46189"/>
                </a:lnTo>
                <a:lnTo>
                  <a:pt x="45790" y="35093"/>
                </a:lnTo>
                <a:lnTo>
                  <a:pt x="86435" y="35093"/>
                </a:lnTo>
                <a:lnTo>
                  <a:pt x="90749" y="30829"/>
                </a:lnTo>
                <a:lnTo>
                  <a:pt x="0" y="0"/>
                </a:lnTo>
                <a:close/>
              </a:path>
              <a:path w="723264" h="730885">
                <a:moveTo>
                  <a:pt x="70428" y="50918"/>
                </a:moveTo>
                <a:lnTo>
                  <a:pt x="50107" y="71007"/>
                </a:lnTo>
                <a:lnTo>
                  <a:pt x="59531" y="80540"/>
                </a:lnTo>
                <a:lnTo>
                  <a:pt x="68578" y="80592"/>
                </a:lnTo>
                <a:lnTo>
                  <a:pt x="79801" y="69496"/>
                </a:lnTo>
                <a:lnTo>
                  <a:pt x="79852" y="60450"/>
                </a:lnTo>
                <a:lnTo>
                  <a:pt x="70428" y="50918"/>
                </a:lnTo>
                <a:close/>
              </a:path>
              <a:path w="723264" h="730885">
                <a:moveTo>
                  <a:pt x="45790" y="35093"/>
                </a:moveTo>
                <a:lnTo>
                  <a:pt x="34566" y="46189"/>
                </a:lnTo>
                <a:lnTo>
                  <a:pt x="34515" y="55236"/>
                </a:lnTo>
                <a:lnTo>
                  <a:pt x="50107" y="71007"/>
                </a:lnTo>
                <a:lnTo>
                  <a:pt x="70428" y="50918"/>
                </a:lnTo>
                <a:lnTo>
                  <a:pt x="54836" y="35145"/>
                </a:lnTo>
                <a:lnTo>
                  <a:pt x="45790" y="35093"/>
                </a:lnTo>
                <a:close/>
              </a:path>
              <a:path w="723264" h="730885">
                <a:moveTo>
                  <a:pt x="86435" y="35093"/>
                </a:moveTo>
                <a:lnTo>
                  <a:pt x="45790" y="35093"/>
                </a:lnTo>
                <a:lnTo>
                  <a:pt x="54836" y="35145"/>
                </a:lnTo>
                <a:lnTo>
                  <a:pt x="70428" y="50918"/>
                </a:lnTo>
                <a:lnTo>
                  <a:pt x="86435" y="35093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108394" y="3193287"/>
            <a:ext cx="1962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78257" y="3346196"/>
            <a:ext cx="16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39711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180086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65">
                <a:solidFill>
                  <a:srgbClr val="00B050"/>
                </a:solidFill>
              </a:rPr>
              <a:t>T</a:t>
            </a:r>
            <a:r>
              <a:rPr dirty="0" spc="-70">
                <a:solidFill>
                  <a:srgbClr val="00B050"/>
                </a:solidFill>
              </a:rPr>
              <a:t>r</a:t>
            </a:r>
            <a:r>
              <a:rPr dirty="0" spc="-10">
                <a:solidFill>
                  <a:srgbClr val="00B050"/>
                </a:solidFill>
              </a:rPr>
              <a:t>a</a:t>
            </a:r>
            <a:r>
              <a:rPr dirty="0">
                <a:solidFill>
                  <a:srgbClr val="00B050"/>
                </a:solidFill>
              </a:rPr>
              <a:t>i</a:t>
            </a:r>
            <a:r>
              <a:rPr dirty="0" spc="-10">
                <a:solidFill>
                  <a:srgbClr val="00B050"/>
                </a:solidFill>
              </a:rPr>
              <a:t>n</a:t>
            </a:r>
            <a:r>
              <a:rPr dirty="0">
                <a:solidFill>
                  <a:srgbClr val="00B050"/>
                </a:solidFill>
              </a:rPr>
              <a:t>i</a:t>
            </a:r>
            <a:r>
              <a:rPr dirty="0" spc="-10">
                <a:solidFill>
                  <a:srgbClr val="00B050"/>
                </a:solidFill>
              </a:rPr>
              <a:t>n</a:t>
            </a:r>
            <a:r>
              <a:rPr dirty="0" spc="-5">
                <a:solidFill>
                  <a:srgbClr val="00B050"/>
                </a:solidFill>
              </a:rPr>
              <a:t>g</a:t>
            </a:r>
            <a:r>
              <a:rPr dirty="0">
                <a:solidFill>
                  <a:srgbClr val="00B050"/>
                </a:solidFill>
              </a:rPr>
              <a:t>:</a:t>
            </a:r>
          </a:p>
        </p:txBody>
      </p:sp>
      <p:sp>
        <p:nvSpPr>
          <p:cNvPr id="4" name="object 4"/>
          <p:cNvSpPr/>
          <p:nvPr/>
        </p:nvSpPr>
        <p:spPr>
          <a:xfrm>
            <a:off x="6162712" y="2349512"/>
            <a:ext cx="1136015" cy="282575"/>
          </a:xfrm>
          <a:custGeom>
            <a:avLst/>
            <a:gdLst/>
            <a:ahLst/>
            <a:cxnLst/>
            <a:rect l="l" t="t" r="r" b="b"/>
            <a:pathLst>
              <a:path w="1136015" h="282575">
                <a:moveTo>
                  <a:pt x="1045937" y="0"/>
                </a:moveTo>
                <a:lnTo>
                  <a:pt x="1041919" y="11460"/>
                </a:lnTo>
                <a:lnTo>
                  <a:pt x="1058262" y="18552"/>
                </a:lnTo>
                <a:lnTo>
                  <a:pt x="1072317" y="28370"/>
                </a:lnTo>
                <a:lnTo>
                  <a:pt x="1100855" y="73878"/>
                </a:lnTo>
                <a:lnTo>
                  <a:pt x="1109189" y="115662"/>
                </a:lnTo>
                <a:lnTo>
                  <a:pt x="1110231" y="139749"/>
                </a:lnTo>
                <a:lnTo>
                  <a:pt x="1109185" y="164650"/>
                </a:lnTo>
                <a:lnTo>
                  <a:pt x="1100813" y="207587"/>
                </a:lnTo>
                <a:lnTo>
                  <a:pt x="1072335" y="253826"/>
                </a:lnTo>
                <a:lnTo>
                  <a:pt x="1042366" y="270866"/>
                </a:lnTo>
                <a:lnTo>
                  <a:pt x="1045937" y="282327"/>
                </a:lnTo>
                <a:lnTo>
                  <a:pt x="1084447" y="264263"/>
                </a:lnTo>
                <a:lnTo>
                  <a:pt x="1112761" y="232990"/>
                </a:lnTo>
                <a:lnTo>
                  <a:pt x="1130174" y="191113"/>
                </a:lnTo>
                <a:lnTo>
                  <a:pt x="1135979" y="141237"/>
                </a:lnTo>
                <a:lnTo>
                  <a:pt x="1134523" y="115355"/>
                </a:lnTo>
                <a:lnTo>
                  <a:pt x="1122877" y="69479"/>
                </a:lnTo>
                <a:lnTo>
                  <a:pt x="1099781" y="32133"/>
                </a:lnTo>
                <a:lnTo>
                  <a:pt x="1066406" y="7390"/>
                </a:lnTo>
                <a:lnTo>
                  <a:pt x="1045937" y="0"/>
                </a:lnTo>
                <a:close/>
              </a:path>
              <a:path w="113601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62712" y="3086112"/>
            <a:ext cx="1155065" cy="282575"/>
          </a:xfrm>
          <a:custGeom>
            <a:avLst/>
            <a:gdLst/>
            <a:ahLst/>
            <a:cxnLst/>
            <a:rect l="l" t="t" r="r" b="b"/>
            <a:pathLst>
              <a:path w="1155065" h="282575">
                <a:moveTo>
                  <a:pt x="1064987" y="0"/>
                </a:moveTo>
                <a:lnTo>
                  <a:pt x="1060969" y="11460"/>
                </a:lnTo>
                <a:lnTo>
                  <a:pt x="1077312" y="18552"/>
                </a:lnTo>
                <a:lnTo>
                  <a:pt x="1091367" y="28370"/>
                </a:lnTo>
                <a:lnTo>
                  <a:pt x="1119905" y="73878"/>
                </a:lnTo>
                <a:lnTo>
                  <a:pt x="1128239" y="115662"/>
                </a:lnTo>
                <a:lnTo>
                  <a:pt x="1129281" y="139749"/>
                </a:lnTo>
                <a:lnTo>
                  <a:pt x="1128235" y="164650"/>
                </a:lnTo>
                <a:lnTo>
                  <a:pt x="1119863" y="207587"/>
                </a:lnTo>
                <a:lnTo>
                  <a:pt x="1091385" y="253826"/>
                </a:lnTo>
                <a:lnTo>
                  <a:pt x="1061416" y="270866"/>
                </a:lnTo>
                <a:lnTo>
                  <a:pt x="1064987" y="282327"/>
                </a:lnTo>
                <a:lnTo>
                  <a:pt x="1103497" y="264263"/>
                </a:lnTo>
                <a:lnTo>
                  <a:pt x="1131811" y="232990"/>
                </a:lnTo>
                <a:lnTo>
                  <a:pt x="1149224" y="191113"/>
                </a:lnTo>
                <a:lnTo>
                  <a:pt x="1155029" y="141237"/>
                </a:lnTo>
                <a:lnTo>
                  <a:pt x="1153573" y="115355"/>
                </a:lnTo>
                <a:lnTo>
                  <a:pt x="1141927" y="69479"/>
                </a:lnTo>
                <a:lnTo>
                  <a:pt x="1118831" y="32133"/>
                </a:lnTo>
                <a:lnTo>
                  <a:pt x="1085456" y="7390"/>
                </a:lnTo>
                <a:lnTo>
                  <a:pt x="1064987" y="0"/>
                </a:lnTo>
                <a:close/>
              </a:path>
              <a:path w="1155065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60033" y="1892300"/>
            <a:ext cx="5452745" cy="31438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69900" marR="1094105" indent="-457200">
              <a:lnSpc>
                <a:spcPct val="100800"/>
              </a:lnSpc>
              <a:spcBef>
                <a:spcPts val="75"/>
              </a:spcBef>
              <a:buAutoNum type="arabicPeriod"/>
              <a:tabLst>
                <a:tab pos="469265" algn="l"/>
                <a:tab pos="469900" algn="l"/>
                <a:tab pos="2802255" algn="l"/>
              </a:tabLst>
            </a:pPr>
            <a:r>
              <a:rPr dirty="0" sz="2400" spc="-5" b="1">
                <a:latin typeface="Calibri"/>
                <a:cs typeface="Calibri"/>
              </a:rPr>
              <a:t>Use </a:t>
            </a:r>
            <a:r>
              <a:rPr dirty="0" sz="2400" spc="-10" b="1">
                <a:latin typeface="Calibri"/>
                <a:cs typeface="Calibri"/>
              </a:rPr>
              <a:t>RGCN to </a:t>
            </a:r>
            <a:r>
              <a:rPr dirty="0" sz="2400" spc="-15" b="1">
                <a:latin typeface="Calibri"/>
                <a:cs typeface="Calibri"/>
              </a:rPr>
              <a:t>score </a:t>
            </a:r>
            <a:r>
              <a:rPr dirty="0" sz="2400" b="1"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training 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supervision</a:t>
            </a:r>
            <a:r>
              <a:rPr dirty="0" sz="240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	</a:t>
            </a:r>
            <a:r>
              <a:rPr dirty="0" sz="240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400" spc="10">
                <a:latin typeface="Cambria Math"/>
                <a:cs typeface="Cambria Math"/>
              </a:rPr>
              <a:t>,</a:t>
            </a:r>
            <a:r>
              <a:rPr dirty="0" sz="2400" spc="-3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785700"/>
                </a:solidFill>
                <a:latin typeface="Cambria Math"/>
                <a:cs typeface="Cambria Math"/>
              </a:rPr>
              <a:t>𝑨</a:t>
            </a:r>
            <a:endParaRPr sz="2400">
              <a:latin typeface="Cambria Math"/>
              <a:cs typeface="Cambria Math"/>
            </a:endParaRPr>
          </a:p>
          <a:p>
            <a:pPr marL="469900" marR="34925" indent="-4572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69265" algn="l"/>
                <a:tab pos="469900" algn="l"/>
                <a:tab pos="2802255" algn="l"/>
              </a:tabLst>
            </a:pPr>
            <a:r>
              <a:rPr dirty="0" sz="2400" spc="-15" b="1">
                <a:latin typeface="Calibri"/>
                <a:cs typeface="Calibri"/>
              </a:rPr>
              <a:t>Create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negative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edge </a:t>
            </a:r>
            <a:r>
              <a:rPr dirty="0" sz="2400" spc="-10" b="1">
                <a:latin typeface="Calibri"/>
                <a:cs typeface="Calibri"/>
              </a:rPr>
              <a:t>by </a:t>
            </a:r>
            <a:r>
              <a:rPr dirty="0" sz="2400" spc="-5" b="1">
                <a:latin typeface="Calibri"/>
                <a:cs typeface="Calibri"/>
              </a:rPr>
              <a:t>perturbing the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 supervision</a:t>
            </a:r>
            <a:r>
              <a:rPr dirty="0" sz="240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	</a:t>
            </a:r>
            <a:r>
              <a:rPr dirty="0" sz="240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400">
                <a:latin typeface="Cambria Math"/>
                <a:cs typeface="Cambria Math"/>
              </a:rPr>
              <a:t>, </a:t>
            </a:r>
            <a:r>
              <a:rPr dirty="0" sz="24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400" spc="10">
                <a:latin typeface="Cambria Math"/>
                <a:cs typeface="Cambria Math"/>
              </a:rPr>
              <a:t>,</a:t>
            </a:r>
            <a:r>
              <a:rPr dirty="0" sz="2400" spc="-3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𝑩</a:t>
            </a:r>
            <a:endParaRPr sz="2400">
              <a:latin typeface="Cambria Math"/>
              <a:cs typeface="Cambria Math"/>
            </a:endParaRPr>
          </a:p>
          <a:p>
            <a:pPr marL="469900" indent="-457200">
              <a:lnSpc>
                <a:spcPts val="2845"/>
              </a:lnSpc>
              <a:spcBef>
                <a:spcPts val="2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Calibri"/>
                <a:cs typeface="Calibri"/>
              </a:rPr>
              <a:t>Use </a:t>
            </a:r>
            <a:r>
              <a:rPr dirty="0" sz="2400" spc="-10" b="1">
                <a:latin typeface="Calibri"/>
                <a:cs typeface="Calibri"/>
              </a:rPr>
              <a:t>GNN </a:t>
            </a:r>
            <a:r>
              <a:rPr dirty="0" sz="2400" spc="-5" b="1">
                <a:latin typeface="Calibri"/>
                <a:cs typeface="Calibri"/>
              </a:rPr>
              <a:t>model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15" b="1">
                <a:latin typeface="Calibri"/>
                <a:cs typeface="Calibri"/>
              </a:rPr>
              <a:t>score </a:t>
            </a:r>
            <a:r>
              <a:rPr dirty="0" sz="2400" spc="-15" b="1">
                <a:solidFill>
                  <a:srgbClr val="0070C0"/>
                </a:solidFill>
                <a:latin typeface="Calibri"/>
                <a:cs typeface="Calibri"/>
              </a:rPr>
              <a:t>negative</a:t>
            </a:r>
            <a:r>
              <a:rPr dirty="0" sz="240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70C0"/>
                </a:solidFill>
                <a:latin typeface="Calibri"/>
                <a:cs typeface="Calibri"/>
              </a:rPr>
              <a:t>edge</a:t>
            </a:r>
            <a:endParaRPr sz="2400">
              <a:latin typeface="Calibri"/>
              <a:cs typeface="Calibri"/>
            </a:endParaRPr>
          </a:p>
          <a:p>
            <a:pPr marL="469900" marR="106680" indent="-457200">
              <a:lnSpc>
                <a:spcPts val="2900"/>
              </a:lnSpc>
              <a:spcBef>
                <a:spcPts val="4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spc="-10" b="1">
                <a:latin typeface="Calibri"/>
                <a:cs typeface="Calibri"/>
              </a:rPr>
              <a:t>Optimize </a:t>
            </a:r>
            <a:r>
              <a:rPr dirty="0" sz="2400" b="1">
                <a:latin typeface="Calibri"/>
                <a:cs typeface="Calibri"/>
              </a:rPr>
              <a:t>a </a:t>
            </a:r>
            <a:r>
              <a:rPr dirty="0" sz="2400" spc="-15" b="1">
                <a:latin typeface="Calibri"/>
                <a:cs typeface="Calibri"/>
              </a:rPr>
              <a:t>standard </a:t>
            </a:r>
            <a:r>
              <a:rPr dirty="0" sz="2400" spc="-10" b="1">
                <a:latin typeface="Calibri"/>
                <a:cs typeface="Calibri"/>
              </a:rPr>
              <a:t>cross </a:t>
            </a:r>
            <a:r>
              <a:rPr dirty="0" sz="2400" spc="-15" b="1">
                <a:latin typeface="Calibri"/>
                <a:cs typeface="Calibri"/>
              </a:rPr>
              <a:t>entropy </a:t>
            </a:r>
            <a:r>
              <a:rPr dirty="0" sz="2400" spc="-5" b="1">
                <a:latin typeface="Calibri"/>
                <a:cs typeface="Calibri"/>
              </a:rPr>
              <a:t>loss  </a:t>
            </a:r>
            <a:r>
              <a:rPr dirty="0" sz="2400" b="1">
                <a:latin typeface="Calibri"/>
                <a:cs typeface="Calibri"/>
              </a:rPr>
              <a:t>(as </a:t>
            </a:r>
            <a:r>
              <a:rPr dirty="0" sz="2400" spc="-5" b="1">
                <a:latin typeface="Calibri"/>
                <a:cs typeface="Calibri"/>
              </a:rPr>
              <a:t>discussed in </a:t>
            </a:r>
            <a:r>
              <a:rPr dirty="0" sz="2400" spc="-10" b="1">
                <a:latin typeface="Calibri"/>
                <a:cs typeface="Calibri"/>
              </a:rPr>
              <a:t>Lecture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6)</a:t>
            </a:r>
            <a:endParaRPr sz="2400">
              <a:latin typeface="Calibri"/>
              <a:cs typeface="Calibri"/>
            </a:endParaRPr>
          </a:p>
          <a:p>
            <a:pPr lvl="1" marL="927100" indent="-457200">
              <a:lnSpc>
                <a:spcPts val="2085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Maximize </a:t>
            </a:r>
            <a:r>
              <a:rPr dirty="0" sz="1800" spc="-5" b="1">
                <a:latin typeface="Calibri"/>
                <a:cs typeface="Calibri"/>
              </a:rPr>
              <a:t>the </a:t>
            </a:r>
            <a:r>
              <a:rPr dirty="0" sz="1800" spc="-15" b="1">
                <a:latin typeface="Calibri"/>
                <a:cs typeface="Calibri"/>
              </a:rPr>
              <a:t>score </a:t>
            </a:r>
            <a:r>
              <a:rPr dirty="0" sz="1800" spc="-5" b="1">
                <a:latin typeface="Calibri"/>
                <a:cs typeface="Calibri"/>
              </a:rPr>
              <a:t>of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8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edge</a:t>
            </a:r>
            <a:endParaRPr sz="1800">
              <a:latin typeface="Calibri"/>
              <a:cs typeface="Calibri"/>
            </a:endParaRPr>
          </a:p>
          <a:p>
            <a:pPr lvl="1" marL="927100" indent="-45720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926465" algn="l"/>
                <a:tab pos="927100" algn="l"/>
              </a:tabLst>
            </a:pPr>
            <a:r>
              <a:rPr dirty="0" sz="1800" spc="-10" b="1">
                <a:solidFill>
                  <a:srgbClr val="FF0000"/>
                </a:solidFill>
                <a:latin typeface="Calibri"/>
                <a:cs typeface="Calibri"/>
              </a:rPr>
              <a:t>Minimize </a:t>
            </a:r>
            <a:r>
              <a:rPr dirty="0" sz="1800" spc="-5" b="1">
                <a:latin typeface="Calibri"/>
                <a:cs typeface="Calibri"/>
              </a:rPr>
              <a:t>the </a:t>
            </a:r>
            <a:r>
              <a:rPr dirty="0" sz="1800" spc="-15" b="1">
                <a:latin typeface="Calibri"/>
                <a:cs typeface="Calibri"/>
              </a:rPr>
              <a:t>score </a:t>
            </a:r>
            <a:r>
              <a:rPr dirty="0" sz="1800" spc="-5" b="1">
                <a:latin typeface="Calibri"/>
                <a:cs typeface="Calibri"/>
              </a:rPr>
              <a:t>of </a:t>
            </a:r>
            <a:r>
              <a:rPr dirty="0" sz="1800" spc="-15" b="1">
                <a:solidFill>
                  <a:srgbClr val="0070C0"/>
                </a:solidFill>
                <a:latin typeface="Calibri"/>
                <a:cs typeface="Calibri"/>
              </a:rPr>
              <a:t>negative</a:t>
            </a:r>
            <a:r>
              <a:rPr dirty="0" sz="1800" spc="-10" b="1">
                <a:solidFill>
                  <a:srgbClr val="0070C0"/>
                </a:solidFill>
                <a:latin typeface="Calibri"/>
                <a:cs typeface="Calibri"/>
              </a:rPr>
              <a:t> edge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6843" y="278117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2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72189" y="2803651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23506" y="2962541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23615" y="2986532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44726" y="2247389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7" y="25305"/>
                </a:lnTo>
                <a:lnTo>
                  <a:pt x="52801" y="54287"/>
                </a:lnTo>
                <a:lnTo>
                  <a:pt x="24613" y="91799"/>
                </a:lnTo>
                <a:lnTo>
                  <a:pt x="6439" y="136075"/>
                </a:lnTo>
                <a:lnTo>
                  <a:pt x="0" y="185348"/>
                </a:lnTo>
                <a:lnTo>
                  <a:pt x="6439" y="234622"/>
                </a:lnTo>
                <a:lnTo>
                  <a:pt x="24613" y="278899"/>
                </a:lnTo>
                <a:lnTo>
                  <a:pt x="52801" y="316411"/>
                </a:lnTo>
                <a:lnTo>
                  <a:pt x="89287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2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2"/>
                </a:lnTo>
                <a:lnTo>
                  <a:pt x="360555" y="185348"/>
                </a:lnTo>
                <a:lnTo>
                  <a:pt x="354115" y="136075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44835" y="2270251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11326" y="38127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2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16197" y="3836923"/>
            <a:ext cx="151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34604" y="3627392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1125" y="38127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3" y="364078"/>
                </a:lnTo>
                <a:lnTo>
                  <a:pt x="180278" y="370699"/>
                </a:lnTo>
                <a:lnTo>
                  <a:pt x="228203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01710" y="3836923"/>
            <a:ext cx="179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42818" y="2563801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3" y="75080"/>
                </a:moveTo>
                <a:lnTo>
                  <a:pt x="26716" y="85217"/>
                </a:lnTo>
                <a:lnTo>
                  <a:pt x="150408" y="411186"/>
                </a:lnTo>
                <a:lnTo>
                  <a:pt x="158658" y="414898"/>
                </a:lnTo>
                <a:lnTo>
                  <a:pt x="173413" y="409299"/>
                </a:lnTo>
                <a:lnTo>
                  <a:pt x="177124" y="401049"/>
                </a:lnTo>
                <a:lnTo>
                  <a:pt x="53433" y="75080"/>
                </a:lnTo>
                <a:close/>
              </a:path>
              <a:path w="177164" h="415289">
                <a:moveTo>
                  <a:pt x="9662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1"/>
                </a:lnTo>
                <a:lnTo>
                  <a:pt x="22559" y="56231"/>
                </a:lnTo>
                <a:lnTo>
                  <a:pt x="37315" y="50632"/>
                </a:lnTo>
                <a:lnTo>
                  <a:pt x="64617" y="50632"/>
                </a:lnTo>
                <a:lnTo>
                  <a:pt x="9662" y="0"/>
                </a:lnTo>
                <a:close/>
              </a:path>
              <a:path w="177164" h="415289">
                <a:moveTo>
                  <a:pt x="37315" y="50632"/>
                </a:moveTo>
                <a:lnTo>
                  <a:pt x="22559" y="56231"/>
                </a:lnTo>
                <a:lnTo>
                  <a:pt x="18848" y="64481"/>
                </a:lnTo>
                <a:lnTo>
                  <a:pt x="26716" y="85217"/>
                </a:lnTo>
                <a:lnTo>
                  <a:pt x="53433" y="75080"/>
                </a:lnTo>
                <a:lnTo>
                  <a:pt x="45565" y="54344"/>
                </a:lnTo>
                <a:lnTo>
                  <a:pt x="37315" y="50632"/>
                </a:lnTo>
                <a:close/>
              </a:path>
              <a:path w="177164" h="415289">
                <a:moveTo>
                  <a:pt x="64617" y="50632"/>
                </a:moveTo>
                <a:lnTo>
                  <a:pt x="37315" y="50632"/>
                </a:lnTo>
                <a:lnTo>
                  <a:pt x="45565" y="54344"/>
                </a:lnTo>
                <a:lnTo>
                  <a:pt x="53433" y="75080"/>
                </a:lnTo>
                <a:lnTo>
                  <a:pt x="80149" y="64942"/>
                </a:lnTo>
                <a:lnTo>
                  <a:pt x="64617" y="5063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37398" y="2416420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4">
                <a:moveTo>
                  <a:pt x="55678" y="472090"/>
                </a:moveTo>
                <a:lnTo>
                  <a:pt x="0" y="550103"/>
                </a:lnTo>
                <a:lnTo>
                  <a:pt x="95816" y="547837"/>
                </a:lnTo>
                <a:lnTo>
                  <a:pt x="87940" y="532973"/>
                </a:lnTo>
                <a:lnTo>
                  <a:pt x="62839" y="532973"/>
                </a:lnTo>
                <a:lnTo>
                  <a:pt x="54192" y="530316"/>
                </a:lnTo>
                <a:lnTo>
                  <a:pt x="46803" y="516371"/>
                </a:lnTo>
                <a:lnTo>
                  <a:pt x="49460" y="507724"/>
                </a:lnTo>
                <a:lnTo>
                  <a:pt x="69057" y="497339"/>
                </a:lnTo>
                <a:lnTo>
                  <a:pt x="55678" y="472090"/>
                </a:lnTo>
                <a:close/>
              </a:path>
              <a:path w="1024255" h="550544">
                <a:moveTo>
                  <a:pt x="69057" y="497339"/>
                </a:moveTo>
                <a:lnTo>
                  <a:pt x="49460" y="507724"/>
                </a:lnTo>
                <a:lnTo>
                  <a:pt x="46803" y="516371"/>
                </a:lnTo>
                <a:lnTo>
                  <a:pt x="54192" y="530316"/>
                </a:lnTo>
                <a:lnTo>
                  <a:pt x="62839" y="532973"/>
                </a:lnTo>
                <a:lnTo>
                  <a:pt x="82437" y="522588"/>
                </a:lnTo>
                <a:lnTo>
                  <a:pt x="69057" y="497339"/>
                </a:lnTo>
                <a:close/>
              </a:path>
              <a:path w="1024255" h="550544">
                <a:moveTo>
                  <a:pt x="82437" y="522588"/>
                </a:moveTo>
                <a:lnTo>
                  <a:pt x="62839" y="532973"/>
                </a:lnTo>
                <a:lnTo>
                  <a:pt x="87940" y="532973"/>
                </a:lnTo>
                <a:lnTo>
                  <a:pt x="82437" y="522588"/>
                </a:lnTo>
                <a:close/>
              </a:path>
              <a:path w="1024255" h="550544">
                <a:moveTo>
                  <a:pt x="1007609" y="0"/>
                </a:moveTo>
                <a:lnTo>
                  <a:pt x="69057" y="497339"/>
                </a:lnTo>
                <a:lnTo>
                  <a:pt x="82437" y="522588"/>
                </a:lnTo>
                <a:lnTo>
                  <a:pt x="1020988" y="25248"/>
                </a:lnTo>
                <a:lnTo>
                  <a:pt x="1023646" y="16601"/>
                </a:lnTo>
                <a:lnTo>
                  <a:pt x="1016256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5490" y="3097584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5"/>
                </a:moveTo>
                <a:lnTo>
                  <a:pt x="0" y="711532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8"/>
                </a:lnTo>
                <a:lnTo>
                  <a:pt x="607735" y="73471"/>
                </a:lnTo>
                <a:lnTo>
                  <a:pt x="586415" y="54445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5"/>
                </a:lnTo>
                <a:lnTo>
                  <a:pt x="607735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5"/>
                </a:lnTo>
                <a:lnTo>
                  <a:pt x="607735" y="73471"/>
                </a:lnTo>
                <a:lnTo>
                  <a:pt x="622502" y="56925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9"/>
                </a:lnTo>
                <a:lnTo>
                  <a:pt x="586415" y="54445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84596" y="3057970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5"/>
                </a:moveTo>
                <a:lnTo>
                  <a:pt x="85128" y="57110"/>
                </a:lnTo>
                <a:lnTo>
                  <a:pt x="1346259" y="104494"/>
                </a:lnTo>
                <a:lnTo>
                  <a:pt x="1352890" y="98342"/>
                </a:lnTo>
                <a:lnTo>
                  <a:pt x="1353484" y="82572"/>
                </a:lnTo>
                <a:lnTo>
                  <a:pt x="1347332" y="75939"/>
                </a:lnTo>
                <a:lnTo>
                  <a:pt x="86200" y="28555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5" y="85665"/>
                </a:lnTo>
                <a:lnTo>
                  <a:pt x="85128" y="57110"/>
                </a:lnTo>
                <a:lnTo>
                  <a:pt x="62965" y="56277"/>
                </a:lnTo>
                <a:lnTo>
                  <a:pt x="56813" y="49645"/>
                </a:lnTo>
                <a:lnTo>
                  <a:pt x="57406" y="33874"/>
                </a:lnTo>
                <a:lnTo>
                  <a:pt x="64038" y="27722"/>
                </a:lnTo>
                <a:lnTo>
                  <a:pt x="86232" y="27722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2"/>
                </a:moveTo>
                <a:lnTo>
                  <a:pt x="57406" y="33874"/>
                </a:lnTo>
                <a:lnTo>
                  <a:pt x="56813" y="49645"/>
                </a:lnTo>
                <a:lnTo>
                  <a:pt x="62965" y="56277"/>
                </a:lnTo>
                <a:lnTo>
                  <a:pt x="85128" y="57110"/>
                </a:lnTo>
                <a:lnTo>
                  <a:pt x="86200" y="28555"/>
                </a:lnTo>
                <a:lnTo>
                  <a:pt x="64038" y="27722"/>
                </a:lnTo>
                <a:close/>
              </a:path>
              <a:path w="1353820" h="104775">
                <a:moveTo>
                  <a:pt x="86232" y="27722"/>
                </a:moveTo>
                <a:lnTo>
                  <a:pt x="64038" y="27722"/>
                </a:lnTo>
                <a:lnTo>
                  <a:pt x="86200" y="28555"/>
                </a:lnTo>
                <a:lnTo>
                  <a:pt x="86232" y="2772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03281" y="3278953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3" y="52399"/>
                </a:moveTo>
                <a:lnTo>
                  <a:pt x="0" y="583977"/>
                </a:lnTo>
                <a:lnTo>
                  <a:pt x="243" y="593021"/>
                </a:lnTo>
                <a:lnTo>
                  <a:pt x="11699" y="603876"/>
                </a:lnTo>
                <a:lnTo>
                  <a:pt x="20741" y="603632"/>
                </a:lnTo>
                <a:lnTo>
                  <a:pt x="524436" y="72054"/>
                </a:lnTo>
                <a:lnTo>
                  <a:pt x="503693" y="52399"/>
                </a:lnTo>
                <a:close/>
              </a:path>
              <a:path w="573405" h="603885">
                <a:moveTo>
                  <a:pt x="562077" y="36057"/>
                </a:moveTo>
                <a:lnTo>
                  <a:pt x="527991" y="36057"/>
                </a:lnTo>
                <a:lnTo>
                  <a:pt x="539446" y="46912"/>
                </a:lnTo>
                <a:lnTo>
                  <a:pt x="539690" y="55956"/>
                </a:lnTo>
                <a:lnTo>
                  <a:pt x="524436" y="72054"/>
                </a:lnTo>
                <a:lnTo>
                  <a:pt x="545177" y="91709"/>
                </a:lnTo>
                <a:lnTo>
                  <a:pt x="562077" y="36057"/>
                </a:lnTo>
                <a:close/>
              </a:path>
              <a:path w="573405" h="603885">
                <a:moveTo>
                  <a:pt x="527991" y="36057"/>
                </a:moveTo>
                <a:lnTo>
                  <a:pt x="518947" y="36301"/>
                </a:lnTo>
                <a:lnTo>
                  <a:pt x="503693" y="52399"/>
                </a:lnTo>
                <a:lnTo>
                  <a:pt x="524436" y="72054"/>
                </a:lnTo>
                <a:lnTo>
                  <a:pt x="539690" y="55956"/>
                </a:lnTo>
                <a:lnTo>
                  <a:pt x="539446" y="46912"/>
                </a:lnTo>
                <a:lnTo>
                  <a:pt x="527991" y="36057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3" y="52399"/>
                </a:lnTo>
                <a:lnTo>
                  <a:pt x="518947" y="36301"/>
                </a:lnTo>
                <a:lnTo>
                  <a:pt x="527991" y="36057"/>
                </a:lnTo>
                <a:lnTo>
                  <a:pt x="562077" y="36057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03784" y="3333241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1" y="68213"/>
                </a:lnTo>
                <a:lnTo>
                  <a:pt x="379856" y="364321"/>
                </a:lnTo>
                <a:lnTo>
                  <a:pt x="388891" y="363886"/>
                </a:lnTo>
                <a:lnTo>
                  <a:pt x="399502" y="352204"/>
                </a:lnTo>
                <a:lnTo>
                  <a:pt x="399068" y="343167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9" y="89364"/>
                </a:lnTo>
                <a:lnTo>
                  <a:pt x="53851" y="68213"/>
                </a:lnTo>
                <a:lnTo>
                  <a:pt x="37434" y="53301"/>
                </a:lnTo>
                <a:lnTo>
                  <a:pt x="37000" y="44265"/>
                </a:lnTo>
                <a:lnTo>
                  <a:pt x="47611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11" y="32584"/>
                </a:lnTo>
                <a:lnTo>
                  <a:pt x="37000" y="44265"/>
                </a:lnTo>
                <a:lnTo>
                  <a:pt x="37434" y="53301"/>
                </a:lnTo>
                <a:lnTo>
                  <a:pt x="53851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71881" y="3797221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2"/>
                </a:lnTo>
                <a:lnTo>
                  <a:pt x="92282" y="226754"/>
                </a:lnTo>
                <a:lnTo>
                  <a:pt x="87687" y="202887"/>
                </a:lnTo>
                <a:lnTo>
                  <a:pt x="65102" y="202887"/>
                </a:lnTo>
                <a:lnTo>
                  <a:pt x="57611" y="197815"/>
                </a:lnTo>
                <a:lnTo>
                  <a:pt x="54627" y="182318"/>
                </a:lnTo>
                <a:lnTo>
                  <a:pt x="59700" y="174828"/>
                </a:lnTo>
                <a:lnTo>
                  <a:pt x="81477" y="170635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5"/>
                </a:moveTo>
                <a:lnTo>
                  <a:pt x="59700" y="174828"/>
                </a:lnTo>
                <a:lnTo>
                  <a:pt x="54627" y="182318"/>
                </a:lnTo>
                <a:lnTo>
                  <a:pt x="57611" y="197815"/>
                </a:lnTo>
                <a:lnTo>
                  <a:pt x="65102" y="202887"/>
                </a:lnTo>
                <a:lnTo>
                  <a:pt x="86879" y="198694"/>
                </a:lnTo>
                <a:lnTo>
                  <a:pt x="81477" y="170635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2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5"/>
                </a:lnTo>
                <a:lnTo>
                  <a:pt x="86879" y="198694"/>
                </a:lnTo>
                <a:lnTo>
                  <a:pt x="973171" y="28059"/>
                </a:lnTo>
                <a:lnTo>
                  <a:pt x="978244" y="20568"/>
                </a:lnTo>
                <a:lnTo>
                  <a:pt x="975259" y="5072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434736" y="4260596"/>
            <a:ext cx="1233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1987" y="3141471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0572" y="3294379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4482" y="2153919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6975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70438" y="3007359"/>
            <a:ext cx="1638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8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86389" y="3163316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94547" y="3171951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10497" y="3273044"/>
            <a:ext cx="174625" cy="67818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  <a:p>
            <a:pPr marL="46355">
              <a:lnSpc>
                <a:spcPct val="100000"/>
              </a:lnSpc>
              <a:spcBef>
                <a:spcPts val="405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739594" y="244957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55545" y="2602483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57676" y="318109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73627" y="333705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12203" y="3799839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20788" y="3955796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5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057121" y="3151873"/>
            <a:ext cx="723265" cy="730885"/>
          </a:xfrm>
          <a:custGeom>
            <a:avLst/>
            <a:gdLst/>
            <a:ahLst/>
            <a:cxnLst/>
            <a:rect l="l" t="t" r="r" b="b"/>
            <a:pathLst>
              <a:path w="723264" h="730885">
                <a:moveTo>
                  <a:pt x="662395" y="658807"/>
                </a:moveTo>
                <a:lnTo>
                  <a:pt x="651172" y="669902"/>
                </a:lnTo>
                <a:lnTo>
                  <a:pt x="651120" y="678948"/>
                </a:lnTo>
                <a:lnTo>
                  <a:pt x="702394" y="730813"/>
                </a:lnTo>
                <a:lnTo>
                  <a:pt x="711440" y="730865"/>
                </a:lnTo>
                <a:lnTo>
                  <a:pt x="722663" y="719769"/>
                </a:lnTo>
                <a:lnTo>
                  <a:pt x="722715" y="710723"/>
                </a:lnTo>
                <a:lnTo>
                  <a:pt x="671441" y="658859"/>
                </a:lnTo>
                <a:lnTo>
                  <a:pt x="662395" y="658807"/>
                </a:lnTo>
                <a:close/>
              </a:path>
              <a:path w="723264" h="730885">
                <a:moveTo>
                  <a:pt x="582037" y="577523"/>
                </a:moveTo>
                <a:lnTo>
                  <a:pt x="570814" y="588618"/>
                </a:lnTo>
                <a:lnTo>
                  <a:pt x="570762" y="597664"/>
                </a:lnTo>
                <a:lnTo>
                  <a:pt x="622036" y="649530"/>
                </a:lnTo>
                <a:lnTo>
                  <a:pt x="631082" y="649580"/>
                </a:lnTo>
                <a:lnTo>
                  <a:pt x="642305" y="638486"/>
                </a:lnTo>
                <a:lnTo>
                  <a:pt x="642357" y="629439"/>
                </a:lnTo>
                <a:lnTo>
                  <a:pt x="591083" y="577574"/>
                </a:lnTo>
                <a:lnTo>
                  <a:pt x="582037" y="577523"/>
                </a:lnTo>
                <a:close/>
              </a:path>
              <a:path w="723264" h="730885">
                <a:moveTo>
                  <a:pt x="501679" y="496238"/>
                </a:moveTo>
                <a:lnTo>
                  <a:pt x="490456" y="507334"/>
                </a:lnTo>
                <a:lnTo>
                  <a:pt x="490404" y="516380"/>
                </a:lnTo>
                <a:lnTo>
                  <a:pt x="541678" y="568244"/>
                </a:lnTo>
                <a:lnTo>
                  <a:pt x="550724" y="568297"/>
                </a:lnTo>
                <a:lnTo>
                  <a:pt x="561947" y="557202"/>
                </a:lnTo>
                <a:lnTo>
                  <a:pt x="561999" y="548156"/>
                </a:lnTo>
                <a:lnTo>
                  <a:pt x="510725" y="496290"/>
                </a:lnTo>
                <a:lnTo>
                  <a:pt x="501679" y="496238"/>
                </a:lnTo>
                <a:close/>
              </a:path>
              <a:path w="723264" h="730885">
                <a:moveTo>
                  <a:pt x="421321" y="414954"/>
                </a:moveTo>
                <a:lnTo>
                  <a:pt x="410098" y="426049"/>
                </a:lnTo>
                <a:lnTo>
                  <a:pt x="410046" y="435095"/>
                </a:lnTo>
                <a:lnTo>
                  <a:pt x="461320" y="486961"/>
                </a:lnTo>
                <a:lnTo>
                  <a:pt x="470366" y="487013"/>
                </a:lnTo>
                <a:lnTo>
                  <a:pt x="481589" y="475918"/>
                </a:lnTo>
                <a:lnTo>
                  <a:pt x="481641" y="466872"/>
                </a:lnTo>
                <a:lnTo>
                  <a:pt x="430367" y="415006"/>
                </a:lnTo>
                <a:lnTo>
                  <a:pt x="421321" y="414954"/>
                </a:lnTo>
                <a:close/>
              </a:path>
              <a:path w="723264" h="730885">
                <a:moveTo>
                  <a:pt x="340963" y="333670"/>
                </a:moveTo>
                <a:lnTo>
                  <a:pt x="329740" y="344765"/>
                </a:lnTo>
                <a:lnTo>
                  <a:pt x="329688" y="353811"/>
                </a:lnTo>
                <a:lnTo>
                  <a:pt x="380963" y="405677"/>
                </a:lnTo>
                <a:lnTo>
                  <a:pt x="390009" y="405729"/>
                </a:lnTo>
                <a:lnTo>
                  <a:pt x="401232" y="394633"/>
                </a:lnTo>
                <a:lnTo>
                  <a:pt x="401283" y="385587"/>
                </a:lnTo>
                <a:lnTo>
                  <a:pt x="350009" y="333722"/>
                </a:lnTo>
                <a:lnTo>
                  <a:pt x="340963" y="333670"/>
                </a:lnTo>
                <a:close/>
              </a:path>
              <a:path w="723264" h="730885">
                <a:moveTo>
                  <a:pt x="260605" y="252385"/>
                </a:moveTo>
                <a:lnTo>
                  <a:pt x="249382" y="263481"/>
                </a:lnTo>
                <a:lnTo>
                  <a:pt x="249331" y="272528"/>
                </a:lnTo>
                <a:lnTo>
                  <a:pt x="300605" y="324392"/>
                </a:lnTo>
                <a:lnTo>
                  <a:pt x="309651" y="324444"/>
                </a:lnTo>
                <a:lnTo>
                  <a:pt x="320874" y="313349"/>
                </a:lnTo>
                <a:lnTo>
                  <a:pt x="320926" y="304303"/>
                </a:lnTo>
                <a:lnTo>
                  <a:pt x="269651" y="252437"/>
                </a:lnTo>
                <a:lnTo>
                  <a:pt x="260605" y="252385"/>
                </a:lnTo>
                <a:close/>
              </a:path>
              <a:path w="723264" h="730885">
                <a:moveTo>
                  <a:pt x="180248" y="171102"/>
                </a:moveTo>
                <a:lnTo>
                  <a:pt x="169025" y="182196"/>
                </a:lnTo>
                <a:lnTo>
                  <a:pt x="168973" y="191242"/>
                </a:lnTo>
                <a:lnTo>
                  <a:pt x="220247" y="243108"/>
                </a:lnTo>
                <a:lnTo>
                  <a:pt x="229293" y="243160"/>
                </a:lnTo>
                <a:lnTo>
                  <a:pt x="240516" y="232065"/>
                </a:lnTo>
                <a:lnTo>
                  <a:pt x="240568" y="223019"/>
                </a:lnTo>
                <a:lnTo>
                  <a:pt x="189294" y="171154"/>
                </a:lnTo>
                <a:lnTo>
                  <a:pt x="180248" y="171102"/>
                </a:lnTo>
                <a:close/>
              </a:path>
              <a:path w="723264" h="730885">
                <a:moveTo>
                  <a:pt x="99890" y="89818"/>
                </a:moveTo>
                <a:lnTo>
                  <a:pt x="88667" y="100912"/>
                </a:lnTo>
                <a:lnTo>
                  <a:pt x="88615" y="109959"/>
                </a:lnTo>
                <a:lnTo>
                  <a:pt x="139889" y="161824"/>
                </a:lnTo>
                <a:lnTo>
                  <a:pt x="148935" y="161876"/>
                </a:lnTo>
                <a:lnTo>
                  <a:pt x="160158" y="150780"/>
                </a:lnTo>
                <a:lnTo>
                  <a:pt x="160210" y="141734"/>
                </a:lnTo>
                <a:lnTo>
                  <a:pt x="108936" y="89870"/>
                </a:lnTo>
                <a:lnTo>
                  <a:pt x="99890" y="89818"/>
                </a:lnTo>
                <a:close/>
              </a:path>
              <a:path w="723264" h="730885">
                <a:moveTo>
                  <a:pt x="0" y="0"/>
                </a:moveTo>
                <a:lnTo>
                  <a:pt x="29786" y="91097"/>
                </a:lnTo>
                <a:lnTo>
                  <a:pt x="50107" y="71007"/>
                </a:lnTo>
                <a:lnTo>
                  <a:pt x="34515" y="55234"/>
                </a:lnTo>
                <a:lnTo>
                  <a:pt x="34566" y="46188"/>
                </a:lnTo>
                <a:lnTo>
                  <a:pt x="45790" y="35093"/>
                </a:lnTo>
                <a:lnTo>
                  <a:pt x="86434" y="35093"/>
                </a:lnTo>
                <a:lnTo>
                  <a:pt x="90749" y="30827"/>
                </a:lnTo>
                <a:lnTo>
                  <a:pt x="0" y="0"/>
                </a:lnTo>
                <a:close/>
              </a:path>
              <a:path w="723264" h="730885">
                <a:moveTo>
                  <a:pt x="70428" y="50917"/>
                </a:moveTo>
                <a:lnTo>
                  <a:pt x="50107" y="71007"/>
                </a:lnTo>
                <a:lnTo>
                  <a:pt x="59531" y="80540"/>
                </a:lnTo>
                <a:lnTo>
                  <a:pt x="68578" y="80591"/>
                </a:lnTo>
                <a:lnTo>
                  <a:pt x="79801" y="69496"/>
                </a:lnTo>
                <a:lnTo>
                  <a:pt x="79852" y="60450"/>
                </a:lnTo>
                <a:lnTo>
                  <a:pt x="70428" y="50917"/>
                </a:lnTo>
                <a:close/>
              </a:path>
              <a:path w="723264" h="730885">
                <a:moveTo>
                  <a:pt x="45790" y="35093"/>
                </a:moveTo>
                <a:lnTo>
                  <a:pt x="34566" y="46188"/>
                </a:lnTo>
                <a:lnTo>
                  <a:pt x="34515" y="55234"/>
                </a:lnTo>
                <a:lnTo>
                  <a:pt x="50107" y="71007"/>
                </a:lnTo>
                <a:lnTo>
                  <a:pt x="70428" y="50917"/>
                </a:lnTo>
                <a:lnTo>
                  <a:pt x="54836" y="35145"/>
                </a:lnTo>
                <a:lnTo>
                  <a:pt x="45790" y="35093"/>
                </a:lnTo>
                <a:close/>
              </a:path>
              <a:path w="723264" h="730885">
                <a:moveTo>
                  <a:pt x="86434" y="35093"/>
                </a:moveTo>
                <a:lnTo>
                  <a:pt x="45790" y="35093"/>
                </a:lnTo>
                <a:lnTo>
                  <a:pt x="54836" y="35145"/>
                </a:lnTo>
                <a:lnTo>
                  <a:pt x="70428" y="50917"/>
                </a:lnTo>
                <a:lnTo>
                  <a:pt x="86434" y="35093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08394" y="3409695"/>
            <a:ext cx="1962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78257" y="3562603"/>
            <a:ext cx="16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655935" y="5224279"/>
            <a:ext cx="1862455" cy="586740"/>
          </a:xfrm>
          <a:custGeom>
            <a:avLst/>
            <a:gdLst/>
            <a:ahLst/>
            <a:cxnLst/>
            <a:rect l="l" t="t" r="r" b="b"/>
            <a:pathLst>
              <a:path w="1862454" h="586739">
                <a:moveTo>
                  <a:pt x="1735499" y="0"/>
                </a:moveTo>
                <a:lnTo>
                  <a:pt x="1729943" y="13891"/>
                </a:lnTo>
                <a:lnTo>
                  <a:pt x="1751804" y="31661"/>
                </a:lnTo>
                <a:lnTo>
                  <a:pt x="1771202" y="54759"/>
                </a:lnTo>
                <a:lnTo>
                  <a:pt x="1802608" y="116941"/>
                </a:lnTo>
                <a:lnTo>
                  <a:pt x="1814193" y="155287"/>
                </a:lnTo>
                <a:lnTo>
                  <a:pt x="1822468" y="197485"/>
                </a:lnTo>
                <a:lnTo>
                  <a:pt x="1827433" y="243536"/>
                </a:lnTo>
                <a:lnTo>
                  <a:pt x="1829088" y="293439"/>
                </a:lnTo>
                <a:lnTo>
                  <a:pt x="1827444" y="342555"/>
                </a:lnTo>
                <a:lnTo>
                  <a:pt x="1822512" y="388156"/>
                </a:lnTo>
                <a:lnTo>
                  <a:pt x="1814291" y="430240"/>
                </a:lnTo>
                <a:lnTo>
                  <a:pt x="1802782" y="468808"/>
                </a:lnTo>
                <a:lnTo>
                  <a:pt x="1771419" y="531576"/>
                </a:lnTo>
                <a:lnTo>
                  <a:pt x="1729943" y="572641"/>
                </a:lnTo>
                <a:lnTo>
                  <a:pt x="1735499" y="586531"/>
                </a:lnTo>
                <a:lnTo>
                  <a:pt x="1787698" y="544772"/>
                </a:lnTo>
                <a:lnTo>
                  <a:pt x="1827959" y="477837"/>
                </a:lnTo>
                <a:lnTo>
                  <a:pt x="1842962" y="436469"/>
                </a:lnTo>
                <a:lnTo>
                  <a:pt x="1853678" y="391889"/>
                </a:lnTo>
                <a:lnTo>
                  <a:pt x="1860108" y="344096"/>
                </a:lnTo>
                <a:lnTo>
                  <a:pt x="1862251" y="293091"/>
                </a:lnTo>
                <a:lnTo>
                  <a:pt x="1860108" y="241826"/>
                </a:lnTo>
                <a:lnTo>
                  <a:pt x="1853678" y="193947"/>
                </a:lnTo>
                <a:lnTo>
                  <a:pt x="1842962" y="149454"/>
                </a:lnTo>
                <a:lnTo>
                  <a:pt x="1827959" y="108347"/>
                </a:lnTo>
                <a:lnTo>
                  <a:pt x="1809320" y="72014"/>
                </a:lnTo>
                <a:lnTo>
                  <a:pt x="1763090" y="17840"/>
                </a:lnTo>
                <a:lnTo>
                  <a:pt x="1735499" y="0"/>
                </a:lnTo>
                <a:close/>
              </a:path>
              <a:path w="1862454" h="586739">
                <a:moveTo>
                  <a:pt x="126577" y="0"/>
                </a:moveTo>
                <a:lnTo>
                  <a:pt x="74509" y="41845"/>
                </a:lnTo>
                <a:lnTo>
                  <a:pt x="34291" y="108347"/>
                </a:lnTo>
                <a:lnTo>
                  <a:pt x="19288" y="149454"/>
                </a:lnTo>
                <a:lnTo>
                  <a:pt x="8572" y="193947"/>
                </a:lnTo>
                <a:lnTo>
                  <a:pt x="2143" y="241826"/>
                </a:lnTo>
                <a:lnTo>
                  <a:pt x="0" y="293091"/>
                </a:lnTo>
                <a:lnTo>
                  <a:pt x="2143" y="344096"/>
                </a:lnTo>
                <a:lnTo>
                  <a:pt x="8572" y="391889"/>
                </a:lnTo>
                <a:lnTo>
                  <a:pt x="19288" y="436469"/>
                </a:lnTo>
                <a:lnTo>
                  <a:pt x="34291" y="477837"/>
                </a:lnTo>
                <a:lnTo>
                  <a:pt x="52919" y="514452"/>
                </a:lnTo>
                <a:lnTo>
                  <a:pt x="99062" y="568799"/>
                </a:lnTo>
                <a:lnTo>
                  <a:pt x="126577" y="586531"/>
                </a:lnTo>
                <a:lnTo>
                  <a:pt x="132307" y="572641"/>
                </a:lnTo>
                <a:lnTo>
                  <a:pt x="110234" y="554822"/>
                </a:lnTo>
                <a:lnTo>
                  <a:pt x="90722" y="531576"/>
                </a:lnTo>
                <a:lnTo>
                  <a:pt x="59381" y="468808"/>
                </a:lnTo>
                <a:lnTo>
                  <a:pt x="47910" y="430240"/>
                </a:lnTo>
                <a:lnTo>
                  <a:pt x="39717" y="388156"/>
                </a:lnTo>
                <a:lnTo>
                  <a:pt x="34802" y="342555"/>
                </a:lnTo>
                <a:lnTo>
                  <a:pt x="33163" y="293439"/>
                </a:lnTo>
                <a:lnTo>
                  <a:pt x="34818" y="243536"/>
                </a:lnTo>
                <a:lnTo>
                  <a:pt x="39783" y="197485"/>
                </a:lnTo>
                <a:lnTo>
                  <a:pt x="48057" y="155287"/>
                </a:lnTo>
                <a:lnTo>
                  <a:pt x="59641" y="116941"/>
                </a:lnTo>
                <a:lnTo>
                  <a:pt x="91047" y="54759"/>
                </a:lnTo>
                <a:lnTo>
                  <a:pt x="132307" y="13891"/>
                </a:lnTo>
                <a:lnTo>
                  <a:pt x="1265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44328" y="5252211"/>
            <a:ext cx="23355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5164" algn="l"/>
              </a:tabLst>
            </a:pPr>
            <a:r>
              <a:rPr dirty="0" sz="2800">
                <a:latin typeface="Cambria Math"/>
                <a:cs typeface="Cambria Math"/>
              </a:rPr>
              <a:t>ℓ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l</a:t>
            </a:r>
            <a:r>
              <a:rPr dirty="0" sz="2800" spc="-5">
                <a:latin typeface="Cambria Math"/>
                <a:cs typeface="Cambria Math"/>
              </a:rPr>
              <a:t>o</a:t>
            </a:r>
            <a:r>
              <a:rPr dirty="0" sz="2800">
                <a:latin typeface="Cambria Math"/>
                <a:cs typeface="Cambria Math"/>
              </a:rPr>
              <a:t>g</a:t>
            </a:r>
            <a:r>
              <a:rPr dirty="0" sz="2800" spc="-1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𝜎	</a:t>
            </a:r>
            <a:r>
              <a:rPr dirty="0" sz="2800" spc="-550">
                <a:solidFill>
                  <a:srgbClr val="E88651"/>
                </a:solidFill>
                <a:latin typeface="Cambria Math"/>
                <a:cs typeface="Cambria Math"/>
              </a:rPr>
              <a:t>𝑓</a:t>
            </a:r>
            <a:r>
              <a:rPr dirty="0" baseline="-15277" sz="3000" spc="37">
                <a:solidFill>
                  <a:srgbClr val="E88651"/>
                </a:solidFill>
                <a:latin typeface="Cambria Math"/>
                <a:cs typeface="Cambria Math"/>
              </a:rPr>
              <a:t>*</a:t>
            </a:r>
            <a:r>
              <a:rPr dirty="0" baseline="-32679" sz="2550" spc="787">
                <a:solidFill>
                  <a:srgbClr val="E88651"/>
                </a:solidFill>
                <a:latin typeface="Cambria Math"/>
                <a:cs typeface="Cambria Math"/>
              </a:rPr>
              <a:t>!</a:t>
            </a:r>
            <a:endParaRPr baseline="-32679" sz="255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222033" y="5352837"/>
            <a:ext cx="1121410" cy="329565"/>
          </a:xfrm>
          <a:custGeom>
            <a:avLst/>
            <a:gdLst/>
            <a:ahLst/>
            <a:cxnLst/>
            <a:rect l="l" t="t" r="r" b="b"/>
            <a:pathLst>
              <a:path w="1121410" h="329564">
                <a:moveTo>
                  <a:pt x="1016099" y="0"/>
                </a:moveTo>
                <a:lnTo>
                  <a:pt x="1011410" y="13369"/>
                </a:lnTo>
                <a:lnTo>
                  <a:pt x="1030477" y="21643"/>
                </a:lnTo>
                <a:lnTo>
                  <a:pt x="1046874" y="33098"/>
                </a:lnTo>
                <a:lnTo>
                  <a:pt x="1071661" y="65545"/>
                </a:lnTo>
                <a:lnTo>
                  <a:pt x="1086246" y="109323"/>
                </a:lnTo>
                <a:lnTo>
                  <a:pt x="1091107" y="163041"/>
                </a:lnTo>
                <a:lnTo>
                  <a:pt x="1089886" y="192092"/>
                </a:lnTo>
                <a:lnTo>
                  <a:pt x="1080119" y="242184"/>
                </a:lnTo>
                <a:lnTo>
                  <a:pt x="1060521" y="281306"/>
                </a:lnTo>
                <a:lnTo>
                  <a:pt x="1030699" y="307698"/>
                </a:lnTo>
                <a:lnTo>
                  <a:pt x="1011930" y="316011"/>
                </a:lnTo>
                <a:lnTo>
                  <a:pt x="1016099" y="329380"/>
                </a:lnTo>
                <a:lnTo>
                  <a:pt x="1061025" y="308306"/>
                </a:lnTo>
                <a:lnTo>
                  <a:pt x="1094059" y="271821"/>
                </a:lnTo>
                <a:lnTo>
                  <a:pt x="1114374" y="222965"/>
                </a:lnTo>
                <a:lnTo>
                  <a:pt x="1121145" y="164777"/>
                </a:lnTo>
                <a:lnTo>
                  <a:pt x="1119447" y="134581"/>
                </a:lnTo>
                <a:lnTo>
                  <a:pt x="1105861" y="81058"/>
                </a:lnTo>
                <a:lnTo>
                  <a:pt x="1078915" y="37488"/>
                </a:lnTo>
                <a:lnTo>
                  <a:pt x="1039978" y="8621"/>
                </a:lnTo>
                <a:lnTo>
                  <a:pt x="1016099" y="0"/>
                </a:lnTo>
                <a:close/>
              </a:path>
              <a:path w="1121410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7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50" y="296130"/>
                </a:lnTo>
                <a:lnTo>
                  <a:pt x="49573" y="263226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39"/>
                </a:lnTo>
                <a:lnTo>
                  <a:pt x="41027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6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325653" y="5252211"/>
            <a:ext cx="89344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330">
                <a:solidFill>
                  <a:srgbClr val="E88651"/>
                </a:solidFill>
                <a:latin typeface="Cambria Math"/>
                <a:cs typeface="Cambria Math"/>
              </a:rPr>
              <a:t>ℎ</a:t>
            </a:r>
            <a:r>
              <a:rPr dirty="0" baseline="-15277" sz="3000" spc="494">
                <a:solidFill>
                  <a:srgbClr val="E88651"/>
                </a:solidFill>
                <a:latin typeface="Cambria Math"/>
                <a:cs typeface="Cambria Math"/>
              </a:rPr>
              <a:t>.</a:t>
            </a:r>
            <a:r>
              <a:rPr dirty="0" sz="2800" spc="330">
                <a:solidFill>
                  <a:srgbClr val="E88651"/>
                </a:solidFill>
                <a:latin typeface="Cambria Math"/>
                <a:cs typeface="Cambria Math"/>
              </a:rPr>
              <a:t>,</a:t>
            </a:r>
            <a:r>
              <a:rPr dirty="0" sz="2800" spc="-229">
                <a:solidFill>
                  <a:srgbClr val="E88651"/>
                </a:solidFill>
                <a:latin typeface="Cambria Math"/>
                <a:cs typeface="Cambria Math"/>
              </a:rPr>
              <a:t> </a:t>
            </a:r>
            <a:r>
              <a:rPr dirty="0" sz="2800" spc="-160">
                <a:solidFill>
                  <a:srgbClr val="E88651"/>
                </a:solidFill>
                <a:latin typeface="Cambria Math"/>
                <a:cs typeface="Cambria Math"/>
              </a:rPr>
              <a:t>ℎ</a:t>
            </a:r>
            <a:r>
              <a:rPr dirty="0" baseline="-15277" sz="3000" spc="-240">
                <a:solidFill>
                  <a:srgbClr val="E88651"/>
                </a:solidFill>
                <a:latin typeface="Cambria Math"/>
                <a:cs typeface="Cambria Math"/>
              </a:rPr>
              <a:t>+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449293" y="5302745"/>
            <a:ext cx="2006600" cy="429895"/>
          </a:xfrm>
          <a:custGeom>
            <a:avLst/>
            <a:gdLst/>
            <a:ahLst/>
            <a:cxnLst/>
            <a:rect l="l" t="t" r="r" b="b"/>
            <a:pathLst>
              <a:path w="2006600" h="429895">
                <a:moveTo>
                  <a:pt x="1893564" y="0"/>
                </a:moveTo>
                <a:lnTo>
                  <a:pt x="1889224" y="14237"/>
                </a:lnTo>
                <a:lnTo>
                  <a:pt x="1908957" y="24471"/>
                </a:lnTo>
                <a:lnTo>
                  <a:pt x="1926141" y="39370"/>
                </a:lnTo>
                <a:lnTo>
                  <a:pt x="1952859" y="83169"/>
                </a:lnTo>
                <a:lnTo>
                  <a:pt x="1969072" y="142682"/>
                </a:lnTo>
                <a:lnTo>
                  <a:pt x="1974476" y="214956"/>
                </a:lnTo>
                <a:lnTo>
                  <a:pt x="1973125" y="252607"/>
                </a:lnTo>
                <a:lnTo>
                  <a:pt x="1962317" y="318371"/>
                </a:lnTo>
                <a:lnTo>
                  <a:pt x="1940775" y="370678"/>
                </a:lnTo>
                <a:lnTo>
                  <a:pt x="1908957" y="405101"/>
                </a:lnTo>
                <a:lnTo>
                  <a:pt x="1889224" y="415329"/>
                </a:lnTo>
                <a:lnTo>
                  <a:pt x="1893564" y="429567"/>
                </a:lnTo>
                <a:lnTo>
                  <a:pt x="1941530" y="403999"/>
                </a:lnTo>
                <a:lnTo>
                  <a:pt x="1977081" y="355773"/>
                </a:lnTo>
                <a:lnTo>
                  <a:pt x="1999089" y="290747"/>
                </a:lnTo>
                <a:lnTo>
                  <a:pt x="2006426" y="214783"/>
                </a:lnTo>
                <a:lnTo>
                  <a:pt x="2004591" y="175433"/>
                </a:lnTo>
                <a:lnTo>
                  <a:pt x="1989919" y="104938"/>
                </a:lnTo>
                <a:lnTo>
                  <a:pt x="1960857" y="46847"/>
                </a:lnTo>
                <a:lnTo>
                  <a:pt x="1919099" y="9951"/>
                </a:lnTo>
                <a:lnTo>
                  <a:pt x="1893564" y="0"/>
                </a:lnTo>
                <a:close/>
              </a:path>
              <a:path w="2006600" h="429895">
                <a:moveTo>
                  <a:pt x="112861" y="0"/>
                </a:moveTo>
                <a:lnTo>
                  <a:pt x="64895" y="25567"/>
                </a:lnTo>
                <a:lnTo>
                  <a:pt x="29344" y="73793"/>
                </a:lnTo>
                <a:lnTo>
                  <a:pt x="7336" y="138818"/>
                </a:lnTo>
                <a:lnTo>
                  <a:pt x="0" y="214783"/>
                </a:lnTo>
                <a:lnTo>
                  <a:pt x="1834" y="254132"/>
                </a:lnTo>
                <a:lnTo>
                  <a:pt x="16506" y="324627"/>
                </a:lnTo>
                <a:lnTo>
                  <a:pt x="45568" y="382718"/>
                </a:lnTo>
                <a:lnTo>
                  <a:pt x="87326" y="419615"/>
                </a:lnTo>
                <a:lnTo>
                  <a:pt x="112861" y="429567"/>
                </a:lnTo>
                <a:lnTo>
                  <a:pt x="117201" y="415329"/>
                </a:lnTo>
                <a:lnTo>
                  <a:pt x="97467" y="405101"/>
                </a:lnTo>
                <a:lnTo>
                  <a:pt x="80283" y="390217"/>
                </a:lnTo>
                <a:lnTo>
                  <a:pt x="53566" y="346483"/>
                </a:lnTo>
                <a:lnTo>
                  <a:pt x="37352" y="287079"/>
                </a:lnTo>
                <a:lnTo>
                  <a:pt x="31954" y="214783"/>
                </a:lnTo>
                <a:lnTo>
                  <a:pt x="33299" y="177224"/>
                </a:lnTo>
                <a:lnTo>
                  <a:pt x="44108" y="111330"/>
                </a:lnTo>
                <a:lnTo>
                  <a:pt x="65649" y="58936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615021" y="5252211"/>
            <a:ext cx="37249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2150" algn="l"/>
              </a:tabLst>
            </a:pP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sz="2800" spc="-5">
                <a:latin typeface="Cambria Math"/>
                <a:cs typeface="Cambria Math"/>
              </a:rPr>
              <a:t>log(1</a:t>
            </a:r>
            <a:r>
              <a:rPr dirty="0" sz="2800" spc="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𝜎	</a:t>
            </a:r>
            <a:r>
              <a:rPr dirty="0" sz="2800" spc="155">
                <a:solidFill>
                  <a:srgbClr val="0070C0"/>
                </a:solidFill>
                <a:latin typeface="Cambria Math"/>
                <a:cs typeface="Cambria Math"/>
              </a:rPr>
              <a:t>𝑓</a:t>
            </a:r>
            <a:r>
              <a:rPr dirty="0" baseline="-15277" sz="3000" spc="232">
                <a:solidFill>
                  <a:srgbClr val="0070C0"/>
                </a:solidFill>
                <a:latin typeface="Cambria Math"/>
                <a:cs typeface="Cambria Math"/>
              </a:rPr>
              <a:t>*</a:t>
            </a:r>
            <a:r>
              <a:rPr dirty="0" baseline="-32679" sz="2550" spc="232">
                <a:solidFill>
                  <a:srgbClr val="0070C0"/>
                </a:solidFill>
                <a:latin typeface="Cambria Math"/>
                <a:cs typeface="Cambria Math"/>
              </a:rPr>
              <a:t>!</a:t>
            </a:r>
            <a:r>
              <a:rPr dirty="0" sz="2800" spc="155">
                <a:solidFill>
                  <a:srgbClr val="0070C0"/>
                </a:solidFill>
                <a:latin typeface="Cambria Math"/>
                <a:cs typeface="Cambria Math"/>
              </a:rPr>
              <a:t>(ℎ</a:t>
            </a:r>
            <a:r>
              <a:rPr dirty="0" baseline="-15277" sz="3000" spc="232">
                <a:solidFill>
                  <a:srgbClr val="0070C0"/>
                </a:solidFill>
                <a:latin typeface="Cambria Math"/>
                <a:cs typeface="Cambria Math"/>
              </a:rPr>
              <a:t>.</a:t>
            </a:r>
            <a:r>
              <a:rPr dirty="0" sz="2800" spc="155">
                <a:solidFill>
                  <a:srgbClr val="0070C0"/>
                </a:solidFill>
                <a:latin typeface="Cambria Math"/>
                <a:cs typeface="Cambria Math"/>
              </a:rPr>
              <a:t>,</a:t>
            </a:r>
            <a:r>
              <a:rPr dirty="0" sz="2800" spc="-22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800" spc="125">
                <a:solidFill>
                  <a:srgbClr val="0070C0"/>
                </a:solidFill>
                <a:latin typeface="Cambria Math"/>
                <a:cs typeface="Cambria Math"/>
              </a:rPr>
              <a:t>ℎ</a:t>
            </a:r>
            <a:r>
              <a:rPr dirty="0" baseline="-15277" sz="3000" spc="187">
                <a:solidFill>
                  <a:srgbClr val="0070C0"/>
                </a:solidFill>
                <a:latin typeface="Cambria Math"/>
                <a:cs typeface="Cambria Math"/>
              </a:rPr>
              <a:t>/</a:t>
            </a:r>
            <a:r>
              <a:rPr dirty="0" sz="2800" spc="125">
                <a:solidFill>
                  <a:srgbClr val="0070C0"/>
                </a:solidFill>
                <a:latin typeface="Cambria Math"/>
                <a:cs typeface="Cambria Math"/>
              </a:rPr>
              <a:t>)</a:t>
            </a:r>
            <a:r>
              <a:rPr dirty="0" sz="2800" spc="12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552480" y="5750889"/>
            <a:ext cx="2260600" cy="664210"/>
          </a:xfrm>
          <a:custGeom>
            <a:avLst/>
            <a:gdLst/>
            <a:ahLst/>
            <a:cxnLst/>
            <a:rect l="l" t="t" r="r" b="b"/>
            <a:pathLst>
              <a:path w="2260600" h="664210">
                <a:moveTo>
                  <a:pt x="86396" y="27511"/>
                </a:moveTo>
                <a:lnTo>
                  <a:pt x="78673" y="55023"/>
                </a:lnTo>
                <a:lnTo>
                  <a:pt x="2248171" y="664013"/>
                </a:lnTo>
                <a:lnTo>
                  <a:pt x="2256058" y="659583"/>
                </a:lnTo>
                <a:lnTo>
                  <a:pt x="2260324" y="644389"/>
                </a:lnTo>
                <a:lnTo>
                  <a:pt x="2255894" y="636502"/>
                </a:lnTo>
                <a:lnTo>
                  <a:pt x="86396" y="27511"/>
                </a:lnTo>
                <a:close/>
              </a:path>
              <a:path w="2260600" h="664210">
                <a:moveTo>
                  <a:pt x="94118" y="0"/>
                </a:moveTo>
                <a:lnTo>
                  <a:pt x="0" y="18099"/>
                </a:lnTo>
                <a:lnTo>
                  <a:pt x="70951" y="82535"/>
                </a:lnTo>
                <a:lnTo>
                  <a:pt x="78673" y="55023"/>
                </a:lnTo>
                <a:lnTo>
                  <a:pt x="57323" y="49030"/>
                </a:lnTo>
                <a:lnTo>
                  <a:pt x="52892" y="41142"/>
                </a:lnTo>
                <a:lnTo>
                  <a:pt x="57158" y="25948"/>
                </a:lnTo>
                <a:lnTo>
                  <a:pt x="65046" y="21518"/>
                </a:lnTo>
                <a:lnTo>
                  <a:pt x="88078" y="21518"/>
                </a:lnTo>
                <a:lnTo>
                  <a:pt x="94118" y="0"/>
                </a:lnTo>
                <a:close/>
              </a:path>
              <a:path w="2260600" h="664210">
                <a:moveTo>
                  <a:pt x="65046" y="21518"/>
                </a:moveTo>
                <a:lnTo>
                  <a:pt x="57158" y="25948"/>
                </a:lnTo>
                <a:lnTo>
                  <a:pt x="52892" y="41142"/>
                </a:lnTo>
                <a:lnTo>
                  <a:pt x="57323" y="49030"/>
                </a:lnTo>
                <a:lnTo>
                  <a:pt x="78673" y="55023"/>
                </a:lnTo>
                <a:lnTo>
                  <a:pt x="86396" y="27511"/>
                </a:lnTo>
                <a:lnTo>
                  <a:pt x="65046" y="21518"/>
                </a:lnTo>
                <a:close/>
              </a:path>
              <a:path w="2260600" h="664210">
                <a:moveTo>
                  <a:pt x="88078" y="21518"/>
                </a:moveTo>
                <a:lnTo>
                  <a:pt x="65046" y="21518"/>
                </a:lnTo>
                <a:lnTo>
                  <a:pt x="86396" y="27511"/>
                </a:lnTo>
                <a:lnTo>
                  <a:pt x="88078" y="21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80643" y="5725473"/>
            <a:ext cx="1488440" cy="690245"/>
          </a:xfrm>
          <a:custGeom>
            <a:avLst/>
            <a:gdLst/>
            <a:ahLst/>
            <a:cxnLst/>
            <a:rect l="l" t="t" r="r" b="b"/>
            <a:pathLst>
              <a:path w="1488439" h="690245">
                <a:moveTo>
                  <a:pt x="1403871" y="26005"/>
                </a:moveTo>
                <a:lnTo>
                  <a:pt x="3171" y="663808"/>
                </a:lnTo>
                <a:lnTo>
                  <a:pt x="0" y="672281"/>
                </a:lnTo>
                <a:lnTo>
                  <a:pt x="6539" y="686643"/>
                </a:lnTo>
                <a:lnTo>
                  <a:pt x="15012" y="689814"/>
                </a:lnTo>
                <a:lnTo>
                  <a:pt x="1415712" y="52011"/>
                </a:lnTo>
                <a:lnTo>
                  <a:pt x="1403871" y="26005"/>
                </a:lnTo>
                <a:close/>
              </a:path>
              <a:path w="1488439" h="690245">
                <a:moveTo>
                  <a:pt x="1477032" y="16815"/>
                </a:moveTo>
                <a:lnTo>
                  <a:pt x="1424054" y="16815"/>
                </a:lnTo>
                <a:lnTo>
                  <a:pt x="1432526" y="19986"/>
                </a:lnTo>
                <a:lnTo>
                  <a:pt x="1439067" y="34348"/>
                </a:lnTo>
                <a:lnTo>
                  <a:pt x="1435896" y="42821"/>
                </a:lnTo>
                <a:lnTo>
                  <a:pt x="1415712" y="52011"/>
                </a:lnTo>
                <a:lnTo>
                  <a:pt x="1427554" y="78017"/>
                </a:lnTo>
                <a:lnTo>
                  <a:pt x="1477032" y="16815"/>
                </a:lnTo>
                <a:close/>
              </a:path>
              <a:path w="1488439" h="690245">
                <a:moveTo>
                  <a:pt x="1424054" y="16815"/>
                </a:moveTo>
                <a:lnTo>
                  <a:pt x="1403871" y="26005"/>
                </a:lnTo>
                <a:lnTo>
                  <a:pt x="1415712" y="52011"/>
                </a:lnTo>
                <a:lnTo>
                  <a:pt x="1435896" y="42821"/>
                </a:lnTo>
                <a:lnTo>
                  <a:pt x="1439067" y="34348"/>
                </a:lnTo>
                <a:lnTo>
                  <a:pt x="1432526" y="19986"/>
                </a:lnTo>
                <a:lnTo>
                  <a:pt x="1424054" y="16815"/>
                </a:lnTo>
                <a:close/>
              </a:path>
              <a:path w="1488439" h="690245">
                <a:moveTo>
                  <a:pt x="1392029" y="0"/>
                </a:moveTo>
                <a:lnTo>
                  <a:pt x="1403871" y="26005"/>
                </a:lnTo>
                <a:lnTo>
                  <a:pt x="1424054" y="16815"/>
                </a:lnTo>
                <a:lnTo>
                  <a:pt x="1477032" y="16815"/>
                </a:lnTo>
                <a:lnTo>
                  <a:pt x="1487810" y="3483"/>
                </a:lnTo>
                <a:lnTo>
                  <a:pt x="13920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3941238" y="6430771"/>
            <a:ext cx="1715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Sigmoid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64096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22244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B050"/>
                </a:solidFill>
              </a:rPr>
              <a:t>Evaluation: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0787" y="1817115"/>
            <a:ext cx="80486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 b="1">
                <a:latin typeface="Calibri"/>
                <a:cs typeface="Calibri"/>
              </a:rPr>
              <a:t>Validation </a:t>
            </a:r>
            <a:r>
              <a:rPr dirty="0" sz="2800" spc="-5" b="1">
                <a:latin typeface="Calibri"/>
                <a:cs typeface="Calibri"/>
              </a:rPr>
              <a:t>time </a:t>
            </a:r>
            <a:r>
              <a:rPr dirty="0" sz="2800" b="1">
                <a:latin typeface="Calibri"/>
                <a:cs typeface="Calibri"/>
              </a:rPr>
              <a:t>as an </a:t>
            </a:r>
            <a:r>
              <a:rPr dirty="0" sz="2800" spc="-15" b="1">
                <a:latin typeface="Calibri"/>
                <a:cs typeface="Calibri"/>
              </a:rPr>
              <a:t>example, </a:t>
            </a:r>
            <a:r>
              <a:rPr dirty="0" sz="2800" spc="-5" b="1">
                <a:latin typeface="Calibri"/>
                <a:cs typeface="Calibri"/>
              </a:rPr>
              <a:t>same </a:t>
            </a:r>
            <a:r>
              <a:rPr dirty="0" sz="2800" spc="-15" b="1">
                <a:latin typeface="Calibri"/>
                <a:cs typeface="Calibri"/>
              </a:rPr>
              <a:t>at </a:t>
            </a: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spc="-20" b="1">
                <a:latin typeface="Calibri"/>
                <a:cs typeface="Calibri"/>
              </a:rPr>
              <a:t>test</a:t>
            </a:r>
            <a:r>
              <a:rPr dirty="0" sz="2800" spc="110" b="1">
                <a:latin typeface="Calibri"/>
                <a:cs typeface="Calibri"/>
              </a:rPr>
              <a:t> </a:t>
            </a:r>
            <a:r>
              <a:rPr dirty="0" sz="2800" spc="-125" b="1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66246" y="3154640"/>
            <a:ext cx="971550" cy="235585"/>
          </a:xfrm>
          <a:custGeom>
            <a:avLst/>
            <a:gdLst/>
            <a:ahLst/>
            <a:cxnLst/>
            <a:rect l="l" t="t" r="r" b="b"/>
            <a:pathLst>
              <a:path w="971550" h="235585">
                <a:moveTo>
                  <a:pt x="896010" y="0"/>
                </a:moveTo>
                <a:lnTo>
                  <a:pt x="892661" y="9550"/>
                </a:lnTo>
                <a:lnTo>
                  <a:pt x="906280" y="15460"/>
                </a:lnTo>
                <a:lnTo>
                  <a:pt x="917992" y="23642"/>
                </a:lnTo>
                <a:lnTo>
                  <a:pt x="941774" y="61565"/>
                </a:lnTo>
                <a:lnTo>
                  <a:pt x="949587" y="116457"/>
                </a:lnTo>
                <a:lnTo>
                  <a:pt x="948715" y="137208"/>
                </a:lnTo>
                <a:lnTo>
                  <a:pt x="935635" y="188019"/>
                </a:lnTo>
                <a:lnTo>
                  <a:pt x="906439" y="219784"/>
                </a:lnTo>
                <a:lnTo>
                  <a:pt x="893033" y="225722"/>
                </a:lnTo>
                <a:lnTo>
                  <a:pt x="896010" y="235272"/>
                </a:lnTo>
                <a:lnTo>
                  <a:pt x="940960" y="208564"/>
                </a:lnTo>
                <a:lnTo>
                  <a:pt x="966207" y="159261"/>
                </a:lnTo>
                <a:lnTo>
                  <a:pt x="971044" y="117698"/>
                </a:lnTo>
                <a:lnTo>
                  <a:pt x="969831" y="96129"/>
                </a:lnTo>
                <a:lnTo>
                  <a:pt x="960126" y="57899"/>
                </a:lnTo>
                <a:lnTo>
                  <a:pt x="928023" y="15084"/>
                </a:lnTo>
                <a:lnTo>
                  <a:pt x="913067" y="6158"/>
                </a:lnTo>
                <a:lnTo>
                  <a:pt x="896010" y="0"/>
                </a:lnTo>
                <a:close/>
              </a:path>
              <a:path w="97155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90097" y="3459440"/>
            <a:ext cx="971550" cy="235585"/>
          </a:xfrm>
          <a:custGeom>
            <a:avLst/>
            <a:gdLst/>
            <a:ahLst/>
            <a:cxnLst/>
            <a:rect l="l" t="t" r="r" b="b"/>
            <a:pathLst>
              <a:path w="971550" h="235585">
                <a:moveTo>
                  <a:pt x="896010" y="0"/>
                </a:moveTo>
                <a:lnTo>
                  <a:pt x="892661" y="9550"/>
                </a:lnTo>
                <a:lnTo>
                  <a:pt x="906281" y="15460"/>
                </a:lnTo>
                <a:lnTo>
                  <a:pt x="917993" y="23642"/>
                </a:lnTo>
                <a:lnTo>
                  <a:pt x="941774" y="61565"/>
                </a:lnTo>
                <a:lnTo>
                  <a:pt x="949587" y="116457"/>
                </a:lnTo>
                <a:lnTo>
                  <a:pt x="948715" y="137208"/>
                </a:lnTo>
                <a:lnTo>
                  <a:pt x="935635" y="188019"/>
                </a:lnTo>
                <a:lnTo>
                  <a:pt x="906439" y="219784"/>
                </a:lnTo>
                <a:lnTo>
                  <a:pt x="893033" y="225722"/>
                </a:lnTo>
                <a:lnTo>
                  <a:pt x="896010" y="235272"/>
                </a:lnTo>
                <a:lnTo>
                  <a:pt x="940961" y="208564"/>
                </a:lnTo>
                <a:lnTo>
                  <a:pt x="966207" y="159261"/>
                </a:lnTo>
                <a:lnTo>
                  <a:pt x="971044" y="117698"/>
                </a:lnTo>
                <a:lnTo>
                  <a:pt x="969831" y="96129"/>
                </a:lnTo>
                <a:lnTo>
                  <a:pt x="960126" y="57899"/>
                </a:lnTo>
                <a:lnTo>
                  <a:pt x="928023" y="15084"/>
                </a:lnTo>
                <a:lnTo>
                  <a:pt x="913067" y="6158"/>
                </a:lnTo>
                <a:lnTo>
                  <a:pt x="896010" y="0"/>
                </a:lnTo>
                <a:close/>
              </a:path>
              <a:path w="97155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32987" y="3764240"/>
            <a:ext cx="933450" cy="235585"/>
          </a:xfrm>
          <a:custGeom>
            <a:avLst/>
            <a:gdLst/>
            <a:ahLst/>
            <a:cxnLst/>
            <a:rect l="l" t="t" r="r" b="b"/>
            <a:pathLst>
              <a:path w="933450" h="235585">
                <a:moveTo>
                  <a:pt x="857910" y="0"/>
                </a:moveTo>
                <a:lnTo>
                  <a:pt x="854561" y="9550"/>
                </a:lnTo>
                <a:lnTo>
                  <a:pt x="868181" y="15460"/>
                </a:lnTo>
                <a:lnTo>
                  <a:pt x="879893" y="23642"/>
                </a:lnTo>
                <a:lnTo>
                  <a:pt x="903674" y="61565"/>
                </a:lnTo>
                <a:lnTo>
                  <a:pt x="911487" y="116457"/>
                </a:lnTo>
                <a:lnTo>
                  <a:pt x="910615" y="137208"/>
                </a:lnTo>
                <a:lnTo>
                  <a:pt x="897535" y="188019"/>
                </a:lnTo>
                <a:lnTo>
                  <a:pt x="868339" y="219784"/>
                </a:lnTo>
                <a:lnTo>
                  <a:pt x="854933" y="225722"/>
                </a:lnTo>
                <a:lnTo>
                  <a:pt x="857910" y="235272"/>
                </a:lnTo>
                <a:lnTo>
                  <a:pt x="902861" y="208564"/>
                </a:lnTo>
                <a:lnTo>
                  <a:pt x="928107" y="159261"/>
                </a:lnTo>
                <a:lnTo>
                  <a:pt x="932944" y="117698"/>
                </a:lnTo>
                <a:lnTo>
                  <a:pt x="931731" y="96129"/>
                </a:lnTo>
                <a:lnTo>
                  <a:pt x="922026" y="57899"/>
                </a:lnTo>
                <a:lnTo>
                  <a:pt x="889923" y="15084"/>
                </a:lnTo>
                <a:lnTo>
                  <a:pt x="874967" y="6158"/>
                </a:lnTo>
                <a:lnTo>
                  <a:pt x="857910" y="0"/>
                </a:lnTo>
                <a:close/>
              </a:path>
              <a:path w="933450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93524" y="3764240"/>
            <a:ext cx="933450" cy="235585"/>
          </a:xfrm>
          <a:custGeom>
            <a:avLst/>
            <a:gdLst/>
            <a:ahLst/>
            <a:cxnLst/>
            <a:rect l="l" t="t" r="r" b="b"/>
            <a:pathLst>
              <a:path w="933450" h="235585">
                <a:moveTo>
                  <a:pt x="857910" y="0"/>
                </a:moveTo>
                <a:lnTo>
                  <a:pt x="854561" y="9550"/>
                </a:lnTo>
                <a:lnTo>
                  <a:pt x="868180" y="15460"/>
                </a:lnTo>
                <a:lnTo>
                  <a:pt x="879892" y="23642"/>
                </a:lnTo>
                <a:lnTo>
                  <a:pt x="903674" y="61565"/>
                </a:lnTo>
                <a:lnTo>
                  <a:pt x="911487" y="116457"/>
                </a:lnTo>
                <a:lnTo>
                  <a:pt x="910615" y="137208"/>
                </a:lnTo>
                <a:lnTo>
                  <a:pt x="897535" y="188019"/>
                </a:lnTo>
                <a:lnTo>
                  <a:pt x="868339" y="219784"/>
                </a:lnTo>
                <a:lnTo>
                  <a:pt x="854933" y="225722"/>
                </a:lnTo>
                <a:lnTo>
                  <a:pt x="857910" y="235272"/>
                </a:lnTo>
                <a:lnTo>
                  <a:pt x="902860" y="208564"/>
                </a:lnTo>
                <a:lnTo>
                  <a:pt x="928107" y="159261"/>
                </a:lnTo>
                <a:lnTo>
                  <a:pt x="932944" y="117698"/>
                </a:lnTo>
                <a:lnTo>
                  <a:pt x="931731" y="96129"/>
                </a:lnTo>
                <a:lnTo>
                  <a:pt x="922025" y="57899"/>
                </a:lnTo>
                <a:lnTo>
                  <a:pt x="889923" y="15084"/>
                </a:lnTo>
                <a:lnTo>
                  <a:pt x="874967" y="6158"/>
                </a:lnTo>
                <a:lnTo>
                  <a:pt x="857910" y="0"/>
                </a:lnTo>
                <a:close/>
              </a:path>
              <a:path w="93345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70628" y="4373840"/>
            <a:ext cx="965200" cy="235585"/>
          </a:xfrm>
          <a:custGeom>
            <a:avLst/>
            <a:gdLst/>
            <a:ahLst/>
            <a:cxnLst/>
            <a:rect l="l" t="t" r="r" b="b"/>
            <a:pathLst>
              <a:path w="965200" h="235585">
                <a:moveTo>
                  <a:pt x="889660" y="0"/>
                </a:moveTo>
                <a:lnTo>
                  <a:pt x="886311" y="9549"/>
                </a:lnTo>
                <a:lnTo>
                  <a:pt x="899931" y="15460"/>
                </a:lnTo>
                <a:lnTo>
                  <a:pt x="911643" y="23641"/>
                </a:lnTo>
                <a:lnTo>
                  <a:pt x="935424" y="61565"/>
                </a:lnTo>
                <a:lnTo>
                  <a:pt x="943237" y="116457"/>
                </a:lnTo>
                <a:lnTo>
                  <a:pt x="942365" y="137208"/>
                </a:lnTo>
                <a:lnTo>
                  <a:pt x="929285" y="188019"/>
                </a:lnTo>
                <a:lnTo>
                  <a:pt x="900089" y="219784"/>
                </a:lnTo>
                <a:lnTo>
                  <a:pt x="886683" y="225722"/>
                </a:lnTo>
                <a:lnTo>
                  <a:pt x="889660" y="235272"/>
                </a:lnTo>
                <a:lnTo>
                  <a:pt x="934610" y="208564"/>
                </a:lnTo>
                <a:lnTo>
                  <a:pt x="959857" y="159261"/>
                </a:lnTo>
                <a:lnTo>
                  <a:pt x="964694" y="117698"/>
                </a:lnTo>
                <a:lnTo>
                  <a:pt x="963481" y="96129"/>
                </a:lnTo>
                <a:lnTo>
                  <a:pt x="953776" y="57899"/>
                </a:lnTo>
                <a:lnTo>
                  <a:pt x="921673" y="15084"/>
                </a:lnTo>
                <a:lnTo>
                  <a:pt x="906717" y="6158"/>
                </a:lnTo>
                <a:lnTo>
                  <a:pt x="889660" y="0"/>
                </a:lnTo>
                <a:close/>
              </a:path>
              <a:path w="965200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18490">
              <a:lnSpc>
                <a:spcPct val="100000"/>
              </a:lnSpc>
              <a:spcBef>
                <a:spcPts val="100"/>
              </a:spcBef>
              <a:tabLst>
                <a:tab pos="2456180" algn="l"/>
                <a:tab pos="3132455" algn="l"/>
                <a:tab pos="3422015" algn="l"/>
              </a:tabLst>
            </a:pPr>
            <a:r>
              <a:rPr dirty="0" spc="-20"/>
              <a:t>Evaluate </a:t>
            </a:r>
            <a:r>
              <a:rPr dirty="0" spc="-5"/>
              <a:t>how the model can predict the  </a:t>
            </a:r>
            <a:r>
              <a:rPr dirty="0" spc="-10"/>
              <a:t>validation </a:t>
            </a:r>
            <a:r>
              <a:rPr dirty="0" spc="-5"/>
              <a:t>edges with the </a:t>
            </a:r>
            <a:r>
              <a:rPr dirty="0" spc="-10"/>
              <a:t>relation </a:t>
            </a:r>
            <a:r>
              <a:rPr dirty="0" spc="-5"/>
              <a:t>types.  </a:t>
            </a:r>
            <a:r>
              <a:rPr dirty="0" spc="-20">
                <a:solidFill>
                  <a:srgbClr val="008000"/>
                </a:solidFill>
              </a:rPr>
              <a:t>Let’s </a:t>
            </a:r>
            <a:r>
              <a:rPr dirty="0" spc="-5">
                <a:solidFill>
                  <a:srgbClr val="008000"/>
                </a:solidFill>
              </a:rPr>
              <a:t>predict</a:t>
            </a:r>
            <a:r>
              <a:rPr dirty="0" spc="30">
                <a:solidFill>
                  <a:srgbClr val="008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validation</a:t>
            </a:r>
            <a:r>
              <a:rPr dirty="0" spc="0">
                <a:solidFill>
                  <a:srgbClr val="008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edge	</a:t>
            </a:r>
            <a:r>
              <a:rPr dirty="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pc="-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70C0"/>
                </a:solidFill>
                <a:latin typeface="Cambria Math"/>
                <a:cs typeface="Cambria Math"/>
              </a:rPr>
              <a:t>𝑫  </a:t>
            </a:r>
            <a:r>
              <a:rPr dirty="0" sz="2000" spc="-5">
                <a:solidFill>
                  <a:srgbClr val="0070C0"/>
                </a:solidFill>
              </a:rPr>
              <a:t>Intuition</a:t>
            </a:r>
            <a:r>
              <a:rPr dirty="0" sz="2000" spc="-5">
                <a:solidFill>
                  <a:srgbClr val="000000"/>
                </a:solidFill>
              </a:rPr>
              <a:t>: the</a:t>
            </a:r>
            <a:r>
              <a:rPr dirty="0" sz="2000" spc="0">
                <a:solidFill>
                  <a:srgbClr val="000000"/>
                </a:solidFill>
              </a:rPr>
              <a:t> </a:t>
            </a:r>
            <a:r>
              <a:rPr dirty="0" sz="2000" spc="-10">
                <a:solidFill>
                  <a:srgbClr val="000000"/>
                </a:solidFill>
              </a:rPr>
              <a:t>score</a:t>
            </a:r>
            <a:r>
              <a:rPr dirty="0" sz="2000">
                <a:solidFill>
                  <a:srgbClr val="000000"/>
                </a:solidFill>
              </a:rPr>
              <a:t> of	</a:t>
            </a:r>
            <a:r>
              <a:rPr dirty="0" sz="200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70C0"/>
                </a:solidFill>
                <a:latin typeface="Cambria Math"/>
                <a:cs typeface="Cambria Math"/>
              </a:rPr>
              <a:t>𝑫	</a:t>
            </a:r>
            <a:r>
              <a:rPr dirty="0" sz="2000" spc="-5">
                <a:solidFill>
                  <a:srgbClr val="000000"/>
                </a:solidFill>
              </a:rPr>
              <a:t>should</a:t>
            </a:r>
            <a:r>
              <a:rPr dirty="0" sz="2000" spc="-85">
                <a:solidFill>
                  <a:srgbClr val="000000"/>
                </a:solidFill>
              </a:rPr>
              <a:t> </a:t>
            </a:r>
            <a:r>
              <a:rPr dirty="0" sz="2000">
                <a:solidFill>
                  <a:srgbClr val="000000"/>
                </a:solidFill>
              </a:rPr>
              <a:t>be</a:t>
            </a:r>
            <a:endParaRPr sz="2000">
              <a:latin typeface="Cambria Math"/>
              <a:cs typeface="Cambria Math"/>
            </a:endParaRPr>
          </a:p>
          <a:p>
            <a:pPr marL="12700" marR="5080">
              <a:lnSpc>
                <a:spcPct val="100000"/>
              </a:lnSpc>
              <a:tabLst>
                <a:tab pos="1698625" algn="l"/>
                <a:tab pos="2626360" algn="l"/>
                <a:tab pos="3459479" algn="l"/>
                <a:tab pos="4387215" algn="l"/>
              </a:tabLst>
            </a:pPr>
            <a:r>
              <a:rPr dirty="0" spc="-5">
                <a:solidFill>
                  <a:srgbClr val="000000"/>
                </a:solidFill>
              </a:rPr>
              <a:t>higher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than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all	</a:t>
            </a:r>
            <a:r>
              <a:rPr dirty="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𝒗	</a:t>
            </a:r>
            <a:r>
              <a:rPr dirty="0" sz="2000" spc="-10">
                <a:solidFill>
                  <a:srgbClr val="000000"/>
                </a:solidFill>
              </a:rPr>
              <a:t>where	</a:t>
            </a:r>
            <a:r>
              <a:rPr dirty="0" sz="200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𝒗	</a:t>
            </a:r>
            <a:r>
              <a:rPr dirty="0" sz="2000" spc="-5">
                <a:solidFill>
                  <a:srgbClr val="000000"/>
                </a:solidFill>
              </a:rPr>
              <a:t>is</a:t>
            </a:r>
            <a:r>
              <a:rPr dirty="0" sz="2000" spc="-90">
                <a:solidFill>
                  <a:srgbClr val="000000"/>
                </a:solidFill>
              </a:rPr>
              <a:t> </a:t>
            </a:r>
            <a:r>
              <a:rPr dirty="0" sz="2000" spc="-20">
                <a:solidFill>
                  <a:srgbClr val="FF0000"/>
                </a:solidFill>
              </a:rPr>
              <a:t>NOT </a:t>
            </a:r>
            <a:r>
              <a:rPr dirty="0" sz="2000">
                <a:solidFill>
                  <a:srgbClr val="FF0000"/>
                </a:solidFill>
              </a:rPr>
              <a:t> </a:t>
            </a:r>
            <a:r>
              <a:rPr dirty="0" sz="2000" spc="-5">
                <a:solidFill>
                  <a:srgbClr val="000000"/>
                </a:solidFill>
              </a:rPr>
              <a:t>in the </a:t>
            </a:r>
            <a:r>
              <a:rPr dirty="0" sz="2000" spc="-10"/>
              <a:t>training </a:t>
            </a:r>
            <a:r>
              <a:rPr dirty="0" sz="2000" spc="-5"/>
              <a:t>message edges </a:t>
            </a:r>
            <a:r>
              <a:rPr dirty="0" sz="2000">
                <a:solidFill>
                  <a:srgbClr val="000000"/>
                </a:solidFill>
              </a:rPr>
              <a:t>and </a:t>
            </a:r>
            <a:r>
              <a:rPr dirty="0" sz="2000" spc="-10">
                <a:solidFill>
                  <a:srgbClr val="E88651"/>
                </a:solidFill>
              </a:rPr>
              <a:t>training  </a:t>
            </a:r>
            <a:r>
              <a:rPr dirty="0" sz="2000" spc="-5">
                <a:solidFill>
                  <a:srgbClr val="E88651"/>
                </a:solidFill>
              </a:rPr>
              <a:t>supervision</a:t>
            </a:r>
            <a:r>
              <a:rPr dirty="0" sz="2000" spc="25">
                <a:solidFill>
                  <a:srgbClr val="E88651"/>
                </a:solidFill>
              </a:rPr>
              <a:t> </a:t>
            </a:r>
            <a:r>
              <a:rPr dirty="0" sz="2000" spc="-5">
                <a:solidFill>
                  <a:srgbClr val="E88651"/>
                </a:solidFill>
              </a:rPr>
              <a:t>edges</a:t>
            </a:r>
            <a:r>
              <a:rPr dirty="0" sz="2000" spc="-5">
                <a:solidFill>
                  <a:srgbClr val="000000"/>
                </a:solidFill>
              </a:rPr>
              <a:t>,</a:t>
            </a:r>
            <a:r>
              <a:rPr dirty="0" sz="2000" spc="25">
                <a:solidFill>
                  <a:srgbClr val="000000"/>
                </a:solidFill>
              </a:rPr>
              <a:t> </a:t>
            </a:r>
            <a:r>
              <a:rPr dirty="0" sz="2000" spc="0">
                <a:solidFill>
                  <a:srgbClr val="000000"/>
                </a:solidFill>
              </a:rPr>
              <a:t>e.g.,	</a:t>
            </a:r>
            <a:r>
              <a:rPr dirty="0" sz="200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, </a:t>
            </a:r>
            <a:r>
              <a:rPr dirty="0" sz="200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30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latin typeface="Cambria Math"/>
                <a:cs typeface="Cambria Math"/>
              </a:rPr>
              <a:t>𝑩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67707" y="4824756"/>
            <a:ext cx="873760" cy="212090"/>
          </a:xfrm>
          <a:custGeom>
            <a:avLst/>
            <a:gdLst/>
            <a:ahLst/>
            <a:cxnLst/>
            <a:rect l="l" t="t" r="r" b="b"/>
            <a:pathLst>
              <a:path w="873760" h="212089">
                <a:moveTo>
                  <a:pt x="805869" y="0"/>
                </a:moveTo>
                <a:lnTo>
                  <a:pt x="802855" y="8594"/>
                </a:lnTo>
                <a:lnTo>
                  <a:pt x="815112" y="13913"/>
                </a:lnTo>
                <a:lnTo>
                  <a:pt x="825653" y="21277"/>
                </a:lnTo>
                <a:lnTo>
                  <a:pt x="847057" y="55408"/>
                </a:lnTo>
                <a:lnTo>
                  <a:pt x="854090" y="104811"/>
                </a:lnTo>
                <a:lnTo>
                  <a:pt x="853305" y="123487"/>
                </a:lnTo>
                <a:lnTo>
                  <a:pt x="841532" y="169217"/>
                </a:lnTo>
                <a:lnTo>
                  <a:pt x="815255" y="197805"/>
                </a:lnTo>
                <a:lnTo>
                  <a:pt x="803189" y="203149"/>
                </a:lnTo>
                <a:lnTo>
                  <a:pt x="805869" y="211744"/>
                </a:lnTo>
                <a:lnTo>
                  <a:pt x="846325" y="187707"/>
                </a:lnTo>
                <a:lnTo>
                  <a:pt x="869047" y="143334"/>
                </a:lnTo>
                <a:lnTo>
                  <a:pt x="873400" y="105928"/>
                </a:lnTo>
                <a:lnTo>
                  <a:pt x="872308" y="86516"/>
                </a:lnTo>
                <a:lnTo>
                  <a:pt x="855931" y="37113"/>
                </a:lnTo>
                <a:lnTo>
                  <a:pt x="821220" y="5542"/>
                </a:lnTo>
                <a:lnTo>
                  <a:pt x="805869" y="0"/>
                </a:lnTo>
                <a:close/>
              </a:path>
              <a:path w="873760" h="212089">
                <a:moveTo>
                  <a:pt x="67530" y="0"/>
                </a:moveTo>
                <a:lnTo>
                  <a:pt x="27148" y="24098"/>
                </a:lnTo>
                <a:lnTo>
                  <a:pt x="4367" y="68576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1"/>
                </a:lnTo>
                <a:lnTo>
                  <a:pt x="52134" y="206208"/>
                </a:lnTo>
                <a:lnTo>
                  <a:pt x="67530" y="211744"/>
                </a:lnTo>
                <a:lnTo>
                  <a:pt x="70209" y="203149"/>
                </a:lnTo>
                <a:lnTo>
                  <a:pt x="58144" y="197805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6"/>
                </a:lnTo>
                <a:lnTo>
                  <a:pt x="31868" y="42136"/>
                </a:lnTo>
                <a:lnTo>
                  <a:pt x="58332" y="13913"/>
                </a:lnTo>
                <a:lnTo>
                  <a:pt x="70544" y="8594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4515" y="4754371"/>
            <a:ext cx="510540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2037714" algn="l"/>
              </a:tabLst>
            </a:pP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</a:t>
            </a:r>
            <a:r>
              <a:rPr dirty="0" sz="1800" spc="0" b="1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edges:	</a:t>
            </a:r>
            <a:r>
              <a:rPr dirty="0" sz="18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800" spc="-5">
                <a:latin typeface="Cambria Math"/>
                <a:cs typeface="Cambria Math"/>
              </a:rPr>
              <a:t>, </a:t>
            </a:r>
            <a:r>
              <a:rPr dirty="0" sz="18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957" sz="195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800" spc="10">
                <a:latin typeface="Cambria Math"/>
                <a:cs typeface="Cambria Math"/>
              </a:rPr>
              <a:t>,</a:t>
            </a:r>
            <a:r>
              <a:rPr dirty="0" sz="1800" spc="-27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70C0"/>
                </a:solidFill>
                <a:latin typeface="Cambria Math"/>
                <a:cs typeface="Cambria Math"/>
              </a:rPr>
              <a:t>𝑫</a:t>
            </a:r>
            <a:endParaRPr sz="1800">
              <a:latin typeface="Cambria Math"/>
              <a:cs typeface="Cambria Math"/>
            </a:endParaRPr>
          </a:p>
          <a:p>
            <a:pPr marL="12700" marR="5080">
              <a:lnSpc>
                <a:spcPts val="2180"/>
              </a:lnSpc>
              <a:spcBef>
                <a:spcPts val="3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 message 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supervision  edges: </a:t>
            </a:r>
            <a:r>
              <a:rPr dirty="0" sz="1800" spc="-5" b="1">
                <a:latin typeface="Arial"/>
                <a:cs typeface="Arial"/>
              </a:rPr>
              <a:t>all existing edges (solid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lines)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35"/>
              </a:lnSpc>
            </a:pPr>
            <a:r>
              <a:rPr dirty="0" sz="1800" spc="-5" b="1">
                <a:latin typeface="Arial"/>
                <a:cs typeface="Arial"/>
              </a:rPr>
              <a:t>(2) At validation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 marR="220345">
              <a:lnSpc>
                <a:spcPts val="2210"/>
              </a:lnSpc>
              <a:spcBef>
                <a:spcPts val="55"/>
              </a:spcBef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 message 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 </a:t>
            </a:r>
            <a:r>
              <a:rPr dirty="0" sz="1800" spc="-5">
                <a:latin typeface="Arial"/>
                <a:cs typeface="Arial"/>
              </a:rPr>
              <a:t>to predict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 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5599" y="293367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60945" y="2956051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12263" y="31150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2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612372" y="3138932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33481" y="2399889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333590" y="2422651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00081" y="39652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23359" y="377989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9881" y="39652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31574" y="2716301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2" y="75080"/>
                </a:moveTo>
                <a:lnTo>
                  <a:pt x="26716" y="85217"/>
                </a:lnTo>
                <a:lnTo>
                  <a:pt x="150407" y="411187"/>
                </a:lnTo>
                <a:lnTo>
                  <a:pt x="158657" y="414898"/>
                </a:lnTo>
                <a:lnTo>
                  <a:pt x="173412" y="409300"/>
                </a:lnTo>
                <a:lnTo>
                  <a:pt x="177123" y="401050"/>
                </a:lnTo>
                <a:lnTo>
                  <a:pt x="53432" y="75080"/>
                </a:lnTo>
                <a:close/>
              </a:path>
              <a:path w="177164" h="415289">
                <a:moveTo>
                  <a:pt x="9660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2"/>
                </a:lnTo>
                <a:lnTo>
                  <a:pt x="22559" y="56233"/>
                </a:lnTo>
                <a:lnTo>
                  <a:pt x="37313" y="50633"/>
                </a:lnTo>
                <a:lnTo>
                  <a:pt x="64617" y="50633"/>
                </a:lnTo>
                <a:lnTo>
                  <a:pt x="9660" y="0"/>
                </a:lnTo>
                <a:close/>
              </a:path>
              <a:path w="177164" h="415289">
                <a:moveTo>
                  <a:pt x="37313" y="50633"/>
                </a:moveTo>
                <a:lnTo>
                  <a:pt x="22559" y="56233"/>
                </a:lnTo>
                <a:lnTo>
                  <a:pt x="18848" y="64482"/>
                </a:lnTo>
                <a:lnTo>
                  <a:pt x="26716" y="85217"/>
                </a:lnTo>
                <a:lnTo>
                  <a:pt x="53432" y="75080"/>
                </a:lnTo>
                <a:lnTo>
                  <a:pt x="45563" y="54344"/>
                </a:lnTo>
                <a:lnTo>
                  <a:pt x="37313" y="50633"/>
                </a:lnTo>
                <a:close/>
              </a:path>
              <a:path w="177164" h="415289">
                <a:moveTo>
                  <a:pt x="64617" y="50633"/>
                </a:moveTo>
                <a:lnTo>
                  <a:pt x="37313" y="50633"/>
                </a:lnTo>
                <a:lnTo>
                  <a:pt x="45563" y="54344"/>
                </a:lnTo>
                <a:lnTo>
                  <a:pt x="53432" y="75080"/>
                </a:lnTo>
                <a:lnTo>
                  <a:pt x="80148" y="64942"/>
                </a:lnTo>
                <a:lnTo>
                  <a:pt x="64617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226155" y="2568920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4">
                <a:moveTo>
                  <a:pt x="55677" y="472090"/>
                </a:moveTo>
                <a:lnTo>
                  <a:pt x="0" y="550103"/>
                </a:lnTo>
                <a:lnTo>
                  <a:pt x="95817" y="547838"/>
                </a:lnTo>
                <a:lnTo>
                  <a:pt x="87940" y="532974"/>
                </a:lnTo>
                <a:lnTo>
                  <a:pt x="62840" y="532974"/>
                </a:lnTo>
                <a:lnTo>
                  <a:pt x="54192" y="530316"/>
                </a:lnTo>
                <a:lnTo>
                  <a:pt x="46802" y="516371"/>
                </a:lnTo>
                <a:lnTo>
                  <a:pt x="49460" y="507724"/>
                </a:lnTo>
                <a:lnTo>
                  <a:pt x="69057" y="497340"/>
                </a:lnTo>
                <a:lnTo>
                  <a:pt x="55677" y="472090"/>
                </a:lnTo>
                <a:close/>
              </a:path>
              <a:path w="1024255" h="550544">
                <a:moveTo>
                  <a:pt x="69057" y="497340"/>
                </a:moveTo>
                <a:lnTo>
                  <a:pt x="49460" y="507724"/>
                </a:lnTo>
                <a:lnTo>
                  <a:pt x="46802" y="516371"/>
                </a:lnTo>
                <a:lnTo>
                  <a:pt x="54192" y="530316"/>
                </a:lnTo>
                <a:lnTo>
                  <a:pt x="62840" y="532974"/>
                </a:lnTo>
                <a:lnTo>
                  <a:pt x="82437" y="522589"/>
                </a:lnTo>
                <a:lnTo>
                  <a:pt x="69057" y="497340"/>
                </a:lnTo>
                <a:close/>
              </a:path>
              <a:path w="1024255" h="550544">
                <a:moveTo>
                  <a:pt x="82437" y="522589"/>
                </a:moveTo>
                <a:lnTo>
                  <a:pt x="62840" y="532974"/>
                </a:lnTo>
                <a:lnTo>
                  <a:pt x="87940" y="532974"/>
                </a:lnTo>
                <a:lnTo>
                  <a:pt x="82437" y="522589"/>
                </a:lnTo>
                <a:close/>
              </a:path>
              <a:path w="1024255" h="550544">
                <a:moveTo>
                  <a:pt x="1007609" y="0"/>
                </a:moveTo>
                <a:lnTo>
                  <a:pt x="69057" y="497340"/>
                </a:lnTo>
                <a:lnTo>
                  <a:pt x="82437" y="522589"/>
                </a:lnTo>
                <a:lnTo>
                  <a:pt x="1020989" y="25248"/>
                </a:lnTo>
                <a:lnTo>
                  <a:pt x="1023646" y="16601"/>
                </a:lnTo>
                <a:lnTo>
                  <a:pt x="1016257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4246" y="3250086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5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8"/>
                </a:lnTo>
                <a:lnTo>
                  <a:pt x="607734" y="73471"/>
                </a:lnTo>
                <a:lnTo>
                  <a:pt x="586415" y="54445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5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9"/>
                </a:lnTo>
                <a:lnTo>
                  <a:pt x="586415" y="54445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73352" y="3210472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5"/>
                </a:moveTo>
                <a:lnTo>
                  <a:pt x="85128" y="57110"/>
                </a:lnTo>
                <a:lnTo>
                  <a:pt x="1346258" y="104494"/>
                </a:lnTo>
                <a:lnTo>
                  <a:pt x="1352891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0" y="28555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5" y="85664"/>
                </a:lnTo>
                <a:lnTo>
                  <a:pt x="85128" y="57110"/>
                </a:lnTo>
                <a:lnTo>
                  <a:pt x="62965" y="56277"/>
                </a:lnTo>
                <a:lnTo>
                  <a:pt x="56813" y="49644"/>
                </a:lnTo>
                <a:lnTo>
                  <a:pt x="57406" y="33874"/>
                </a:lnTo>
                <a:lnTo>
                  <a:pt x="64038" y="27722"/>
                </a:lnTo>
                <a:lnTo>
                  <a:pt x="86232" y="27722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2"/>
                </a:moveTo>
                <a:lnTo>
                  <a:pt x="57406" y="33874"/>
                </a:lnTo>
                <a:lnTo>
                  <a:pt x="56813" y="49644"/>
                </a:lnTo>
                <a:lnTo>
                  <a:pt x="62965" y="56277"/>
                </a:lnTo>
                <a:lnTo>
                  <a:pt x="85128" y="57110"/>
                </a:lnTo>
                <a:lnTo>
                  <a:pt x="86200" y="28555"/>
                </a:lnTo>
                <a:lnTo>
                  <a:pt x="64038" y="27722"/>
                </a:lnTo>
                <a:close/>
              </a:path>
              <a:path w="1353820" h="104775">
                <a:moveTo>
                  <a:pt x="86232" y="27722"/>
                </a:moveTo>
                <a:lnTo>
                  <a:pt x="64038" y="27722"/>
                </a:lnTo>
                <a:lnTo>
                  <a:pt x="86200" y="28555"/>
                </a:lnTo>
                <a:lnTo>
                  <a:pt x="86232" y="2772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992036" y="3431454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4" y="52399"/>
                </a:moveTo>
                <a:lnTo>
                  <a:pt x="0" y="583977"/>
                </a:lnTo>
                <a:lnTo>
                  <a:pt x="243" y="593021"/>
                </a:lnTo>
                <a:lnTo>
                  <a:pt x="11699" y="603876"/>
                </a:lnTo>
                <a:lnTo>
                  <a:pt x="20742" y="603632"/>
                </a:lnTo>
                <a:lnTo>
                  <a:pt x="524436" y="72053"/>
                </a:lnTo>
                <a:lnTo>
                  <a:pt x="503694" y="52399"/>
                </a:lnTo>
                <a:close/>
              </a:path>
              <a:path w="573405" h="603885">
                <a:moveTo>
                  <a:pt x="562078" y="36057"/>
                </a:moveTo>
                <a:lnTo>
                  <a:pt x="527991" y="36057"/>
                </a:lnTo>
                <a:lnTo>
                  <a:pt x="539447" y="46912"/>
                </a:lnTo>
                <a:lnTo>
                  <a:pt x="539690" y="55954"/>
                </a:lnTo>
                <a:lnTo>
                  <a:pt x="524436" y="72053"/>
                </a:lnTo>
                <a:lnTo>
                  <a:pt x="545179" y="91707"/>
                </a:lnTo>
                <a:lnTo>
                  <a:pt x="562078" y="36057"/>
                </a:lnTo>
                <a:close/>
              </a:path>
              <a:path w="573405" h="603885">
                <a:moveTo>
                  <a:pt x="527991" y="36057"/>
                </a:moveTo>
                <a:lnTo>
                  <a:pt x="518948" y="36300"/>
                </a:lnTo>
                <a:lnTo>
                  <a:pt x="503694" y="52399"/>
                </a:lnTo>
                <a:lnTo>
                  <a:pt x="524436" y="72053"/>
                </a:lnTo>
                <a:lnTo>
                  <a:pt x="539690" y="55954"/>
                </a:lnTo>
                <a:lnTo>
                  <a:pt x="539447" y="46912"/>
                </a:lnTo>
                <a:lnTo>
                  <a:pt x="527991" y="36057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4" y="52399"/>
                </a:lnTo>
                <a:lnTo>
                  <a:pt x="518948" y="36300"/>
                </a:lnTo>
                <a:lnTo>
                  <a:pt x="527991" y="36057"/>
                </a:lnTo>
                <a:lnTo>
                  <a:pt x="562078" y="36057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692540" y="3485742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0" y="68213"/>
                </a:lnTo>
                <a:lnTo>
                  <a:pt x="379855" y="364321"/>
                </a:lnTo>
                <a:lnTo>
                  <a:pt x="388891" y="363886"/>
                </a:lnTo>
                <a:lnTo>
                  <a:pt x="399502" y="352205"/>
                </a:lnTo>
                <a:lnTo>
                  <a:pt x="399068" y="343169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7" y="89366"/>
                </a:lnTo>
                <a:lnTo>
                  <a:pt x="53850" y="68213"/>
                </a:lnTo>
                <a:lnTo>
                  <a:pt x="37433" y="53301"/>
                </a:lnTo>
                <a:lnTo>
                  <a:pt x="36998" y="44265"/>
                </a:lnTo>
                <a:lnTo>
                  <a:pt x="47609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09" y="32584"/>
                </a:lnTo>
                <a:lnTo>
                  <a:pt x="36998" y="44265"/>
                </a:lnTo>
                <a:lnTo>
                  <a:pt x="37433" y="53301"/>
                </a:lnTo>
                <a:lnTo>
                  <a:pt x="53850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60638" y="3949722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0"/>
                </a:lnTo>
                <a:lnTo>
                  <a:pt x="92282" y="226753"/>
                </a:lnTo>
                <a:lnTo>
                  <a:pt x="87687" y="202887"/>
                </a:lnTo>
                <a:lnTo>
                  <a:pt x="65101" y="202887"/>
                </a:lnTo>
                <a:lnTo>
                  <a:pt x="57611" y="197815"/>
                </a:lnTo>
                <a:lnTo>
                  <a:pt x="54627" y="182318"/>
                </a:lnTo>
                <a:lnTo>
                  <a:pt x="59698" y="174826"/>
                </a:lnTo>
                <a:lnTo>
                  <a:pt x="81477" y="170633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3"/>
                </a:moveTo>
                <a:lnTo>
                  <a:pt x="59698" y="174826"/>
                </a:lnTo>
                <a:lnTo>
                  <a:pt x="54627" y="182318"/>
                </a:lnTo>
                <a:lnTo>
                  <a:pt x="57611" y="197815"/>
                </a:lnTo>
                <a:lnTo>
                  <a:pt x="65101" y="202887"/>
                </a:lnTo>
                <a:lnTo>
                  <a:pt x="86879" y="198694"/>
                </a:lnTo>
                <a:lnTo>
                  <a:pt x="81477" y="170633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1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3"/>
                </a:lnTo>
                <a:lnTo>
                  <a:pt x="86879" y="198694"/>
                </a:lnTo>
                <a:lnTo>
                  <a:pt x="973170" y="28059"/>
                </a:lnTo>
                <a:lnTo>
                  <a:pt x="978242" y="20568"/>
                </a:lnTo>
                <a:lnTo>
                  <a:pt x="975259" y="5071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423493" y="4412996"/>
            <a:ext cx="1233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0744" y="3293871"/>
            <a:ext cx="266700" cy="99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marL="52069">
              <a:lnSpc>
                <a:spcPct val="100000"/>
              </a:lnSpc>
              <a:spcBef>
                <a:spcPts val="2475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73237" y="2309367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59194" y="3159759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83302" y="3188179"/>
            <a:ext cx="290830" cy="91503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500" spc="-5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7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marL="161925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28349" y="260197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44300" y="275793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75145" y="3226815"/>
            <a:ext cx="545465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r>
              <a:rPr dirty="0" sz="1800" spc="300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baseline="-18888" sz="3750" spc="-442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41666" sz="2700" spc="-442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41666" sz="27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3005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00958" y="3955288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45877" y="3304373"/>
            <a:ext cx="723265" cy="730885"/>
          </a:xfrm>
          <a:custGeom>
            <a:avLst/>
            <a:gdLst/>
            <a:ahLst/>
            <a:cxnLst/>
            <a:rect l="l" t="t" r="r" b="b"/>
            <a:pathLst>
              <a:path w="723264" h="730885">
                <a:moveTo>
                  <a:pt x="70429" y="50918"/>
                </a:moveTo>
                <a:lnTo>
                  <a:pt x="50107" y="71008"/>
                </a:lnTo>
                <a:lnTo>
                  <a:pt x="702393" y="730815"/>
                </a:lnTo>
                <a:lnTo>
                  <a:pt x="711439" y="730865"/>
                </a:lnTo>
                <a:lnTo>
                  <a:pt x="722662" y="719771"/>
                </a:lnTo>
                <a:lnTo>
                  <a:pt x="722714" y="710725"/>
                </a:lnTo>
                <a:lnTo>
                  <a:pt x="70429" y="50918"/>
                </a:lnTo>
                <a:close/>
              </a:path>
              <a:path w="723264" h="730885">
                <a:moveTo>
                  <a:pt x="0" y="0"/>
                </a:moveTo>
                <a:lnTo>
                  <a:pt x="29786" y="91098"/>
                </a:lnTo>
                <a:lnTo>
                  <a:pt x="50107" y="71008"/>
                </a:lnTo>
                <a:lnTo>
                  <a:pt x="34515" y="55236"/>
                </a:lnTo>
                <a:lnTo>
                  <a:pt x="34567" y="46189"/>
                </a:lnTo>
                <a:lnTo>
                  <a:pt x="45790" y="35095"/>
                </a:lnTo>
                <a:lnTo>
                  <a:pt x="86434" y="35095"/>
                </a:lnTo>
                <a:lnTo>
                  <a:pt x="90749" y="30829"/>
                </a:lnTo>
                <a:lnTo>
                  <a:pt x="0" y="0"/>
                </a:lnTo>
                <a:close/>
              </a:path>
              <a:path w="723264" h="730885">
                <a:moveTo>
                  <a:pt x="45790" y="35095"/>
                </a:moveTo>
                <a:lnTo>
                  <a:pt x="34567" y="46189"/>
                </a:lnTo>
                <a:lnTo>
                  <a:pt x="34515" y="55236"/>
                </a:lnTo>
                <a:lnTo>
                  <a:pt x="50107" y="71008"/>
                </a:lnTo>
                <a:lnTo>
                  <a:pt x="70429" y="50918"/>
                </a:lnTo>
                <a:lnTo>
                  <a:pt x="54836" y="35145"/>
                </a:lnTo>
                <a:lnTo>
                  <a:pt x="45790" y="35095"/>
                </a:lnTo>
                <a:close/>
              </a:path>
              <a:path w="723264" h="730885">
                <a:moveTo>
                  <a:pt x="86434" y="35095"/>
                </a:moveTo>
                <a:lnTo>
                  <a:pt x="45790" y="35095"/>
                </a:lnTo>
                <a:lnTo>
                  <a:pt x="54836" y="35145"/>
                </a:lnTo>
                <a:lnTo>
                  <a:pt x="70429" y="50918"/>
                </a:lnTo>
                <a:lnTo>
                  <a:pt x="86434" y="3509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043686" y="3473703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59637" y="3629659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60438" y="4107732"/>
            <a:ext cx="1254125" cy="85725"/>
          </a:xfrm>
          <a:custGeom>
            <a:avLst/>
            <a:gdLst/>
            <a:ahLst/>
            <a:cxnLst/>
            <a:rect l="l" t="t" r="r" b="b"/>
            <a:pathLst>
              <a:path w="1254125" h="85725">
                <a:moveTo>
                  <a:pt x="1247534" y="28573"/>
                </a:moveTo>
                <a:lnTo>
                  <a:pt x="1146028" y="28573"/>
                </a:lnTo>
                <a:lnTo>
                  <a:pt x="1139631" y="34970"/>
                </a:lnTo>
                <a:lnTo>
                  <a:pt x="1139631" y="50751"/>
                </a:lnTo>
                <a:lnTo>
                  <a:pt x="1146028" y="57148"/>
                </a:lnTo>
                <a:lnTo>
                  <a:pt x="1247534" y="57148"/>
                </a:lnTo>
                <a:lnTo>
                  <a:pt x="1253931" y="50751"/>
                </a:lnTo>
                <a:lnTo>
                  <a:pt x="1253931" y="34970"/>
                </a:lnTo>
                <a:lnTo>
                  <a:pt x="1247534" y="28573"/>
                </a:lnTo>
                <a:close/>
              </a:path>
              <a:path w="1254125" h="85725">
                <a:moveTo>
                  <a:pt x="1047509" y="28573"/>
                </a:moveTo>
                <a:lnTo>
                  <a:pt x="946003" y="28573"/>
                </a:lnTo>
                <a:lnTo>
                  <a:pt x="939606" y="34970"/>
                </a:lnTo>
                <a:lnTo>
                  <a:pt x="939606" y="50753"/>
                </a:lnTo>
                <a:lnTo>
                  <a:pt x="946003" y="57148"/>
                </a:lnTo>
                <a:lnTo>
                  <a:pt x="1047510" y="57148"/>
                </a:lnTo>
                <a:lnTo>
                  <a:pt x="1053904" y="50753"/>
                </a:lnTo>
                <a:lnTo>
                  <a:pt x="1053906" y="34970"/>
                </a:lnTo>
                <a:lnTo>
                  <a:pt x="1047509" y="28573"/>
                </a:lnTo>
                <a:close/>
              </a:path>
              <a:path w="1254125" h="85725">
                <a:moveTo>
                  <a:pt x="847484" y="28573"/>
                </a:moveTo>
                <a:lnTo>
                  <a:pt x="745978" y="28573"/>
                </a:lnTo>
                <a:lnTo>
                  <a:pt x="739581" y="34970"/>
                </a:lnTo>
                <a:lnTo>
                  <a:pt x="739581" y="50753"/>
                </a:lnTo>
                <a:lnTo>
                  <a:pt x="745978" y="57148"/>
                </a:lnTo>
                <a:lnTo>
                  <a:pt x="847485" y="57148"/>
                </a:lnTo>
                <a:lnTo>
                  <a:pt x="853881" y="50753"/>
                </a:lnTo>
                <a:lnTo>
                  <a:pt x="853881" y="34970"/>
                </a:lnTo>
                <a:lnTo>
                  <a:pt x="847484" y="28573"/>
                </a:lnTo>
                <a:close/>
              </a:path>
              <a:path w="1254125" h="85725">
                <a:moveTo>
                  <a:pt x="647459" y="28573"/>
                </a:moveTo>
                <a:lnTo>
                  <a:pt x="553843" y="28575"/>
                </a:lnTo>
                <a:lnTo>
                  <a:pt x="545953" y="28575"/>
                </a:lnTo>
                <a:lnTo>
                  <a:pt x="539556" y="34970"/>
                </a:lnTo>
                <a:lnTo>
                  <a:pt x="539556" y="50753"/>
                </a:lnTo>
                <a:lnTo>
                  <a:pt x="545953" y="57150"/>
                </a:lnTo>
                <a:lnTo>
                  <a:pt x="647459" y="57148"/>
                </a:lnTo>
                <a:lnTo>
                  <a:pt x="653856" y="50753"/>
                </a:lnTo>
                <a:lnTo>
                  <a:pt x="653856" y="34970"/>
                </a:lnTo>
                <a:lnTo>
                  <a:pt x="647459" y="28573"/>
                </a:lnTo>
                <a:close/>
              </a:path>
              <a:path w="1254125" h="85725">
                <a:moveTo>
                  <a:pt x="447434" y="28575"/>
                </a:moveTo>
                <a:lnTo>
                  <a:pt x="345928" y="28575"/>
                </a:lnTo>
                <a:lnTo>
                  <a:pt x="339531" y="34970"/>
                </a:lnTo>
                <a:lnTo>
                  <a:pt x="339531" y="50753"/>
                </a:lnTo>
                <a:lnTo>
                  <a:pt x="345928" y="57150"/>
                </a:lnTo>
                <a:lnTo>
                  <a:pt x="447434" y="57150"/>
                </a:lnTo>
                <a:lnTo>
                  <a:pt x="453831" y="50753"/>
                </a:lnTo>
                <a:lnTo>
                  <a:pt x="453831" y="34970"/>
                </a:lnTo>
                <a:lnTo>
                  <a:pt x="447434" y="28575"/>
                </a:lnTo>
                <a:close/>
              </a:path>
              <a:path w="1254125" h="85725">
                <a:moveTo>
                  <a:pt x="247409" y="28575"/>
                </a:moveTo>
                <a:lnTo>
                  <a:pt x="145903" y="28575"/>
                </a:lnTo>
                <a:lnTo>
                  <a:pt x="139506" y="34971"/>
                </a:lnTo>
                <a:lnTo>
                  <a:pt x="139506" y="50753"/>
                </a:lnTo>
                <a:lnTo>
                  <a:pt x="145903" y="57150"/>
                </a:lnTo>
                <a:lnTo>
                  <a:pt x="247409" y="57150"/>
                </a:lnTo>
                <a:lnTo>
                  <a:pt x="253806" y="50753"/>
                </a:lnTo>
                <a:lnTo>
                  <a:pt x="253806" y="34971"/>
                </a:lnTo>
                <a:lnTo>
                  <a:pt x="247409" y="28575"/>
                </a:lnTo>
                <a:close/>
              </a:path>
              <a:path w="12541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728798" y="4107688"/>
            <a:ext cx="5410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15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22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500" spc="15" b="1">
                <a:solidFill>
                  <a:srgbClr val="F0AD00"/>
                </a:solidFill>
                <a:latin typeface="Arial"/>
                <a:cs typeface="Arial"/>
              </a:rPr>
              <a:t>?</a:t>
            </a:r>
            <a:endParaRPr sz="25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839711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22244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B050"/>
                </a:solidFill>
              </a:rPr>
              <a:t>Evaluation: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0787" y="1817115"/>
            <a:ext cx="80486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 b="1">
                <a:latin typeface="Calibri"/>
                <a:cs typeface="Calibri"/>
              </a:rPr>
              <a:t>Validation </a:t>
            </a:r>
            <a:r>
              <a:rPr dirty="0" sz="2800" spc="-5" b="1">
                <a:latin typeface="Calibri"/>
                <a:cs typeface="Calibri"/>
              </a:rPr>
              <a:t>time </a:t>
            </a:r>
            <a:r>
              <a:rPr dirty="0" sz="2800" b="1">
                <a:latin typeface="Calibri"/>
                <a:cs typeface="Calibri"/>
              </a:rPr>
              <a:t>as an </a:t>
            </a:r>
            <a:r>
              <a:rPr dirty="0" sz="2800" spc="-15" b="1">
                <a:latin typeface="Calibri"/>
                <a:cs typeface="Calibri"/>
              </a:rPr>
              <a:t>example, </a:t>
            </a:r>
            <a:r>
              <a:rPr dirty="0" sz="2800" spc="-5" b="1">
                <a:latin typeface="Calibri"/>
                <a:cs typeface="Calibri"/>
              </a:rPr>
              <a:t>same </a:t>
            </a:r>
            <a:r>
              <a:rPr dirty="0" sz="2800" spc="-15" b="1">
                <a:latin typeface="Calibri"/>
                <a:cs typeface="Calibri"/>
              </a:rPr>
              <a:t>at </a:t>
            </a: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spc="-20" b="1">
                <a:latin typeface="Calibri"/>
                <a:cs typeface="Calibri"/>
              </a:rPr>
              <a:t>test</a:t>
            </a:r>
            <a:r>
              <a:rPr dirty="0" sz="2800" spc="110" b="1">
                <a:latin typeface="Calibri"/>
                <a:cs typeface="Calibri"/>
              </a:rPr>
              <a:t> </a:t>
            </a:r>
            <a:r>
              <a:rPr dirty="0" sz="2800" spc="-125" b="1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66246" y="3154640"/>
            <a:ext cx="971550" cy="235585"/>
          </a:xfrm>
          <a:custGeom>
            <a:avLst/>
            <a:gdLst/>
            <a:ahLst/>
            <a:cxnLst/>
            <a:rect l="l" t="t" r="r" b="b"/>
            <a:pathLst>
              <a:path w="971550" h="235585">
                <a:moveTo>
                  <a:pt x="896010" y="0"/>
                </a:moveTo>
                <a:lnTo>
                  <a:pt x="892661" y="9550"/>
                </a:lnTo>
                <a:lnTo>
                  <a:pt x="906280" y="15460"/>
                </a:lnTo>
                <a:lnTo>
                  <a:pt x="917992" y="23642"/>
                </a:lnTo>
                <a:lnTo>
                  <a:pt x="941774" y="61565"/>
                </a:lnTo>
                <a:lnTo>
                  <a:pt x="949587" y="116457"/>
                </a:lnTo>
                <a:lnTo>
                  <a:pt x="948715" y="137208"/>
                </a:lnTo>
                <a:lnTo>
                  <a:pt x="935635" y="188019"/>
                </a:lnTo>
                <a:lnTo>
                  <a:pt x="906439" y="219784"/>
                </a:lnTo>
                <a:lnTo>
                  <a:pt x="893033" y="225722"/>
                </a:lnTo>
                <a:lnTo>
                  <a:pt x="896010" y="235272"/>
                </a:lnTo>
                <a:lnTo>
                  <a:pt x="940960" y="208564"/>
                </a:lnTo>
                <a:lnTo>
                  <a:pt x="966207" y="159261"/>
                </a:lnTo>
                <a:lnTo>
                  <a:pt x="971044" y="117698"/>
                </a:lnTo>
                <a:lnTo>
                  <a:pt x="969831" y="96129"/>
                </a:lnTo>
                <a:lnTo>
                  <a:pt x="960126" y="57899"/>
                </a:lnTo>
                <a:lnTo>
                  <a:pt x="928023" y="15084"/>
                </a:lnTo>
                <a:lnTo>
                  <a:pt x="913067" y="6158"/>
                </a:lnTo>
                <a:lnTo>
                  <a:pt x="896010" y="0"/>
                </a:lnTo>
                <a:close/>
              </a:path>
              <a:path w="97155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90097" y="3459440"/>
            <a:ext cx="971550" cy="235585"/>
          </a:xfrm>
          <a:custGeom>
            <a:avLst/>
            <a:gdLst/>
            <a:ahLst/>
            <a:cxnLst/>
            <a:rect l="l" t="t" r="r" b="b"/>
            <a:pathLst>
              <a:path w="971550" h="235585">
                <a:moveTo>
                  <a:pt x="896010" y="0"/>
                </a:moveTo>
                <a:lnTo>
                  <a:pt x="892661" y="9550"/>
                </a:lnTo>
                <a:lnTo>
                  <a:pt x="906281" y="15460"/>
                </a:lnTo>
                <a:lnTo>
                  <a:pt x="917993" y="23642"/>
                </a:lnTo>
                <a:lnTo>
                  <a:pt x="941774" y="61565"/>
                </a:lnTo>
                <a:lnTo>
                  <a:pt x="949587" y="116457"/>
                </a:lnTo>
                <a:lnTo>
                  <a:pt x="948715" y="137208"/>
                </a:lnTo>
                <a:lnTo>
                  <a:pt x="935635" y="188019"/>
                </a:lnTo>
                <a:lnTo>
                  <a:pt x="906439" y="219784"/>
                </a:lnTo>
                <a:lnTo>
                  <a:pt x="893033" y="225722"/>
                </a:lnTo>
                <a:lnTo>
                  <a:pt x="896010" y="235272"/>
                </a:lnTo>
                <a:lnTo>
                  <a:pt x="940961" y="208564"/>
                </a:lnTo>
                <a:lnTo>
                  <a:pt x="966207" y="159261"/>
                </a:lnTo>
                <a:lnTo>
                  <a:pt x="971044" y="117698"/>
                </a:lnTo>
                <a:lnTo>
                  <a:pt x="969831" y="96129"/>
                </a:lnTo>
                <a:lnTo>
                  <a:pt x="960126" y="57899"/>
                </a:lnTo>
                <a:lnTo>
                  <a:pt x="928023" y="15084"/>
                </a:lnTo>
                <a:lnTo>
                  <a:pt x="913067" y="6158"/>
                </a:lnTo>
                <a:lnTo>
                  <a:pt x="896010" y="0"/>
                </a:lnTo>
                <a:close/>
              </a:path>
              <a:path w="97155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32987" y="3764240"/>
            <a:ext cx="933450" cy="235585"/>
          </a:xfrm>
          <a:custGeom>
            <a:avLst/>
            <a:gdLst/>
            <a:ahLst/>
            <a:cxnLst/>
            <a:rect l="l" t="t" r="r" b="b"/>
            <a:pathLst>
              <a:path w="933450" h="235585">
                <a:moveTo>
                  <a:pt x="857910" y="0"/>
                </a:moveTo>
                <a:lnTo>
                  <a:pt x="854561" y="9550"/>
                </a:lnTo>
                <a:lnTo>
                  <a:pt x="868181" y="15460"/>
                </a:lnTo>
                <a:lnTo>
                  <a:pt x="879893" y="23642"/>
                </a:lnTo>
                <a:lnTo>
                  <a:pt x="903674" y="61565"/>
                </a:lnTo>
                <a:lnTo>
                  <a:pt x="911487" y="116457"/>
                </a:lnTo>
                <a:lnTo>
                  <a:pt x="910615" y="137208"/>
                </a:lnTo>
                <a:lnTo>
                  <a:pt x="897535" y="188019"/>
                </a:lnTo>
                <a:lnTo>
                  <a:pt x="868339" y="219784"/>
                </a:lnTo>
                <a:lnTo>
                  <a:pt x="854933" y="225722"/>
                </a:lnTo>
                <a:lnTo>
                  <a:pt x="857910" y="235272"/>
                </a:lnTo>
                <a:lnTo>
                  <a:pt x="902861" y="208564"/>
                </a:lnTo>
                <a:lnTo>
                  <a:pt x="928107" y="159261"/>
                </a:lnTo>
                <a:lnTo>
                  <a:pt x="932944" y="117698"/>
                </a:lnTo>
                <a:lnTo>
                  <a:pt x="931731" y="96129"/>
                </a:lnTo>
                <a:lnTo>
                  <a:pt x="922026" y="57899"/>
                </a:lnTo>
                <a:lnTo>
                  <a:pt x="889923" y="15084"/>
                </a:lnTo>
                <a:lnTo>
                  <a:pt x="874967" y="6158"/>
                </a:lnTo>
                <a:lnTo>
                  <a:pt x="857910" y="0"/>
                </a:lnTo>
                <a:close/>
              </a:path>
              <a:path w="933450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93524" y="3764240"/>
            <a:ext cx="933450" cy="235585"/>
          </a:xfrm>
          <a:custGeom>
            <a:avLst/>
            <a:gdLst/>
            <a:ahLst/>
            <a:cxnLst/>
            <a:rect l="l" t="t" r="r" b="b"/>
            <a:pathLst>
              <a:path w="933450" h="235585">
                <a:moveTo>
                  <a:pt x="857910" y="0"/>
                </a:moveTo>
                <a:lnTo>
                  <a:pt x="854561" y="9550"/>
                </a:lnTo>
                <a:lnTo>
                  <a:pt x="868180" y="15460"/>
                </a:lnTo>
                <a:lnTo>
                  <a:pt x="879892" y="23642"/>
                </a:lnTo>
                <a:lnTo>
                  <a:pt x="903674" y="61565"/>
                </a:lnTo>
                <a:lnTo>
                  <a:pt x="911487" y="116457"/>
                </a:lnTo>
                <a:lnTo>
                  <a:pt x="910615" y="137208"/>
                </a:lnTo>
                <a:lnTo>
                  <a:pt x="897535" y="188019"/>
                </a:lnTo>
                <a:lnTo>
                  <a:pt x="868339" y="219784"/>
                </a:lnTo>
                <a:lnTo>
                  <a:pt x="854933" y="225722"/>
                </a:lnTo>
                <a:lnTo>
                  <a:pt x="857910" y="235272"/>
                </a:lnTo>
                <a:lnTo>
                  <a:pt x="902860" y="208564"/>
                </a:lnTo>
                <a:lnTo>
                  <a:pt x="928107" y="159261"/>
                </a:lnTo>
                <a:lnTo>
                  <a:pt x="932944" y="117698"/>
                </a:lnTo>
                <a:lnTo>
                  <a:pt x="931731" y="96129"/>
                </a:lnTo>
                <a:lnTo>
                  <a:pt x="922025" y="57899"/>
                </a:lnTo>
                <a:lnTo>
                  <a:pt x="889923" y="15084"/>
                </a:lnTo>
                <a:lnTo>
                  <a:pt x="874967" y="6158"/>
                </a:lnTo>
                <a:lnTo>
                  <a:pt x="857910" y="0"/>
                </a:lnTo>
                <a:close/>
              </a:path>
              <a:path w="93345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70628" y="4373840"/>
            <a:ext cx="965200" cy="235585"/>
          </a:xfrm>
          <a:custGeom>
            <a:avLst/>
            <a:gdLst/>
            <a:ahLst/>
            <a:cxnLst/>
            <a:rect l="l" t="t" r="r" b="b"/>
            <a:pathLst>
              <a:path w="965200" h="235585">
                <a:moveTo>
                  <a:pt x="889660" y="0"/>
                </a:moveTo>
                <a:lnTo>
                  <a:pt x="886311" y="9549"/>
                </a:lnTo>
                <a:lnTo>
                  <a:pt x="899931" y="15460"/>
                </a:lnTo>
                <a:lnTo>
                  <a:pt x="911643" y="23641"/>
                </a:lnTo>
                <a:lnTo>
                  <a:pt x="935424" y="61565"/>
                </a:lnTo>
                <a:lnTo>
                  <a:pt x="943237" y="116457"/>
                </a:lnTo>
                <a:lnTo>
                  <a:pt x="942365" y="137208"/>
                </a:lnTo>
                <a:lnTo>
                  <a:pt x="929285" y="188019"/>
                </a:lnTo>
                <a:lnTo>
                  <a:pt x="900089" y="219784"/>
                </a:lnTo>
                <a:lnTo>
                  <a:pt x="886683" y="225722"/>
                </a:lnTo>
                <a:lnTo>
                  <a:pt x="889660" y="235272"/>
                </a:lnTo>
                <a:lnTo>
                  <a:pt x="934610" y="208564"/>
                </a:lnTo>
                <a:lnTo>
                  <a:pt x="959857" y="159261"/>
                </a:lnTo>
                <a:lnTo>
                  <a:pt x="964694" y="117698"/>
                </a:lnTo>
                <a:lnTo>
                  <a:pt x="963481" y="96129"/>
                </a:lnTo>
                <a:lnTo>
                  <a:pt x="953776" y="57899"/>
                </a:lnTo>
                <a:lnTo>
                  <a:pt x="921673" y="15084"/>
                </a:lnTo>
                <a:lnTo>
                  <a:pt x="906717" y="6158"/>
                </a:lnTo>
                <a:lnTo>
                  <a:pt x="889660" y="0"/>
                </a:lnTo>
                <a:close/>
              </a:path>
              <a:path w="965200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18490">
              <a:lnSpc>
                <a:spcPct val="100000"/>
              </a:lnSpc>
              <a:spcBef>
                <a:spcPts val="100"/>
              </a:spcBef>
              <a:tabLst>
                <a:tab pos="2456180" algn="l"/>
                <a:tab pos="3132455" algn="l"/>
                <a:tab pos="3422015" algn="l"/>
              </a:tabLst>
            </a:pPr>
            <a:r>
              <a:rPr dirty="0" spc="-20"/>
              <a:t>Evaluate </a:t>
            </a:r>
            <a:r>
              <a:rPr dirty="0" spc="-5"/>
              <a:t>how the model can predict the  </a:t>
            </a:r>
            <a:r>
              <a:rPr dirty="0" spc="-10"/>
              <a:t>validation </a:t>
            </a:r>
            <a:r>
              <a:rPr dirty="0" spc="-5"/>
              <a:t>edges with the </a:t>
            </a:r>
            <a:r>
              <a:rPr dirty="0" spc="-10"/>
              <a:t>relation </a:t>
            </a:r>
            <a:r>
              <a:rPr dirty="0" spc="-5"/>
              <a:t>types.  </a:t>
            </a:r>
            <a:r>
              <a:rPr dirty="0" spc="-20">
                <a:solidFill>
                  <a:srgbClr val="008000"/>
                </a:solidFill>
              </a:rPr>
              <a:t>Let’s </a:t>
            </a:r>
            <a:r>
              <a:rPr dirty="0" spc="-5">
                <a:solidFill>
                  <a:srgbClr val="008000"/>
                </a:solidFill>
              </a:rPr>
              <a:t>predict</a:t>
            </a:r>
            <a:r>
              <a:rPr dirty="0" spc="30">
                <a:solidFill>
                  <a:srgbClr val="008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validation</a:t>
            </a:r>
            <a:r>
              <a:rPr dirty="0" spc="0">
                <a:solidFill>
                  <a:srgbClr val="008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edge	</a:t>
            </a:r>
            <a:r>
              <a:rPr dirty="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pc="-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70C0"/>
                </a:solidFill>
                <a:latin typeface="Cambria Math"/>
                <a:cs typeface="Cambria Math"/>
              </a:rPr>
              <a:t>𝑫  </a:t>
            </a:r>
            <a:r>
              <a:rPr dirty="0" sz="2000" spc="-5">
                <a:solidFill>
                  <a:srgbClr val="0070C0"/>
                </a:solidFill>
              </a:rPr>
              <a:t>Intuition</a:t>
            </a:r>
            <a:r>
              <a:rPr dirty="0" sz="2000" spc="-5">
                <a:solidFill>
                  <a:srgbClr val="000000"/>
                </a:solidFill>
              </a:rPr>
              <a:t>: the</a:t>
            </a:r>
            <a:r>
              <a:rPr dirty="0" sz="2000" spc="0">
                <a:solidFill>
                  <a:srgbClr val="000000"/>
                </a:solidFill>
              </a:rPr>
              <a:t> </a:t>
            </a:r>
            <a:r>
              <a:rPr dirty="0" sz="2000" spc="-10">
                <a:solidFill>
                  <a:srgbClr val="000000"/>
                </a:solidFill>
              </a:rPr>
              <a:t>score</a:t>
            </a:r>
            <a:r>
              <a:rPr dirty="0" sz="2000">
                <a:solidFill>
                  <a:srgbClr val="000000"/>
                </a:solidFill>
              </a:rPr>
              <a:t> of	</a:t>
            </a:r>
            <a:r>
              <a:rPr dirty="0" sz="200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70C0"/>
                </a:solidFill>
                <a:latin typeface="Cambria Math"/>
                <a:cs typeface="Cambria Math"/>
              </a:rPr>
              <a:t>𝑫	</a:t>
            </a:r>
            <a:r>
              <a:rPr dirty="0" sz="2000" spc="-5">
                <a:solidFill>
                  <a:srgbClr val="000000"/>
                </a:solidFill>
              </a:rPr>
              <a:t>should</a:t>
            </a:r>
            <a:r>
              <a:rPr dirty="0" sz="2000" spc="-85">
                <a:solidFill>
                  <a:srgbClr val="000000"/>
                </a:solidFill>
              </a:rPr>
              <a:t> </a:t>
            </a:r>
            <a:r>
              <a:rPr dirty="0" sz="2000">
                <a:solidFill>
                  <a:srgbClr val="000000"/>
                </a:solidFill>
              </a:rPr>
              <a:t>be</a:t>
            </a:r>
            <a:endParaRPr sz="2000">
              <a:latin typeface="Cambria Math"/>
              <a:cs typeface="Cambria Math"/>
            </a:endParaRPr>
          </a:p>
          <a:p>
            <a:pPr marL="12700" marR="5080">
              <a:lnSpc>
                <a:spcPct val="100000"/>
              </a:lnSpc>
              <a:tabLst>
                <a:tab pos="1698625" algn="l"/>
                <a:tab pos="2626360" algn="l"/>
                <a:tab pos="3459479" algn="l"/>
                <a:tab pos="4387215" algn="l"/>
              </a:tabLst>
            </a:pPr>
            <a:r>
              <a:rPr dirty="0" spc="-5">
                <a:solidFill>
                  <a:srgbClr val="000000"/>
                </a:solidFill>
              </a:rPr>
              <a:t>higher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than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all	</a:t>
            </a:r>
            <a:r>
              <a:rPr dirty="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𝒗	</a:t>
            </a:r>
            <a:r>
              <a:rPr dirty="0" sz="2000" spc="-10">
                <a:solidFill>
                  <a:srgbClr val="000000"/>
                </a:solidFill>
              </a:rPr>
              <a:t>where	</a:t>
            </a:r>
            <a:r>
              <a:rPr dirty="0" sz="200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𝒗	</a:t>
            </a:r>
            <a:r>
              <a:rPr dirty="0" sz="2000" spc="-5">
                <a:solidFill>
                  <a:srgbClr val="000000"/>
                </a:solidFill>
              </a:rPr>
              <a:t>is</a:t>
            </a:r>
            <a:r>
              <a:rPr dirty="0" sz="2000" spc="-90">
                <a:solidFill>
                  <a:srgbClr val="000000"/>
                </a:solidFill>
              </a:rPr>
              <a:t> </a:t>
            </a:r>
            <a:r>
              <a:rPr dirty="0" sz="2000" spc="-20">
                <a:solidFill>
                  <a:srgbClr val="FF0000"/>
                </a:solidFill>
              </a:rPr>
              <a:t>NOT </a:t>
            </a:r>
            <a:r>
              <a:rPr dirty="0" sz="2000">
                <a:solidFill>
                  <a:srgbClr val="FF0000"/>
                </a:solidFill>
              </a:rPr>
              <a:t> </a:t>
            </a:r>
            <a:r>
              <a:rPr dirty="0" sz="2000" spc="-5">
                <a:solidFill>
                  <a:srgbClr val="000000"/>
                </a:solidFill>
              </a:rPr>
              <a:t>in the </a:t>
            </a:r>
            <a:r>
              <a:rPr dirty="0" sz="2000" spc="-10"/>
              <a:t>training </a:t>
            </a:r>
            <a:r>
              <a:rPr dirty="0" sz="2000" spc="-5"/>
              <a:t>message edges </a:t>
            </a:r>
            <a:r>
              <a:rPr dirty="0" sz="2000">
                <a:solidFill>
                  <a:srgbClr val="000000"/>
                </a:solidFill>
              </a:rPr>
              <a:t>and </a:t>
            </a:r>
            <a:r>
              <a:rPr dirty="0" sz="2000" spc="-10">
                <a:solidFill>
                  <a:srgbClr val="E88651"/>
                </a:solidFill>
              </a:rPr>
              <a:t>training  </a:t>
            </a:r>
            <a:r>
              <a:rPr dirty="0" sz="2000" spc="-5">
                <a:solidFill>
                  <a:srgbClr val="E88651"/>
                </a:solidFill>
              </a:rPr>
              <a:t>supervision</a:t>
            </a:r>
            <a:r>
              <a:rPr dirty="0" sz="2000" spc="25">
                <a:solidFill>
                  <a:srgbClr val="E88651"/>
                </a:solidFill>
              </a:rPr>
              <a:t> </a:t>
            </a:r>
            <a:r>
              <a:rPr dirty="0" sz="2000" spc="-5">
                <a:solidFill>
                  <a:srgbClr val="E88651"/>
                </a:solidFill>
              </a:rPr>
              <a:t>edges</a:t>
            </a:r>
            <a:r>
              <a:rPr dirty="0" sz="2000" spc="-5">
                <a:solidFill>
                  <a:srgbClr val="000000"/>
                </a:solidFill>
              </a:rPr>
              <a:t>,</a:t>
            </a:r>
            <a:r>
              <a:rPr dirty="0" sz="2000" spc="25">
                <a:solidFill>
                  <a:srgbClr val="000000"/>
                </a:solidFill>
              </a:rPr>
              <a:t> </a:t>
            </a:r>
            <a:r>
              <a:rPr dirty="0" sz="2000" spc="0">
                <a:solidFill>
                  <a:srgbClr val="000000"/>
                </a:solidFill>
              </a:rPr>
              <a:t>e.g.,	</a:t>
            </a:r>
            <a:r>
              <a:rPr dirty="0" sz="2000" b="0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2000" b="0">
                <a:solidFill>
                  <a:srgbClr val="000000"/>
                </a:solidFill>
                <a:latin typeface="Cambria Math"/>
                <a:cs typeface="Cambria Math"/>
              </a:rPr>
              <a:t>, </a:t>
            </a:r>
            <a:r>
              <a:rPr dirty="0" sz="2000" spc="5" b="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4814" sz="2250" spc="7" b="0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000" spc="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r>
              <a:rPr dirty="0" sz="2000" spc="-30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000" b="0">
                <a:latin typeface="Cambria Math"/>
                <a:cs typeface="Cambria Math"/>
              </a:rPr>
              <a:t>𝑩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5599" y="293367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8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8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8" y="0"/>
                </a:lnTo>
                <a:close/>
              </a:path>
            </a:pathLst>
          </a:custGeom>
          <a:solidFill>
            <a:srgbClr val="B482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60945" y="2956051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12263" y="31150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799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1"/>
                </a:lnTo>
                <a:lnTo>
                  <a:pt x="89288" y="345393"/>
                </a:lnTo>
                <a:lnTo>
                  <a:pt x="132352" y="364078"/>
                </a:lnTo>
                <a:lnTo>
                  <a:pt x="180277" y="370699"/>
                </a:lnTo>
                <a:lnTo>
                  <a:pt x="228202" y="364078"/>
                </a:lnTo>
                <a:lnTo>
                  <a:pt x="271267" y="345393"/>
                </a:lnTo>
                <a:lnTo>
                  <a:pt x="307753" y="316411"/>
                </a:lnTo>
                <a:lnTo>
                  <a:pt x="335942" y="278899"/>
                </a:lnTo>
                <a:lnTo>
                  <a:pt x="354115" y="234623"/>
                </a:lnTo>
                <a:lnTo>
                  <a:pt x="360555" y="185350"/>
                </a:lnTo>
                <a:lnTo>
                  <a:pt x="354115" y="136076"/>
                </a:lnTo>
                <a:lnTo>
                  <a:pt x="335942" y="91799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2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612372" y="3138932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33481" y="2399889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33590" y="2422651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00081" y="39652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23359" y="377989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79" h="370839">
                <a:moveTo>
                  <a:pt x="180279" y="0"/>
                </a:moveTo>
                <a:lnTo>
                  <a:pt x="132353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3" y="364079"/>
                </a:lnTo>
                <a:lnTo>
                  <a:pt x="180279" y="370700"/>
                </a:lnTo>
                <a:lnTo>
                  <a:pt x="228203" y="364079"/>
                </a:lnTo>
                <a:lnTo>
                  <a:pt x="271268" y="345394"/>
                </a:lnTo>
                <a:lnTo>
                  <a:pt x="307754" y="316412"/>
                </a:lnTo>
                <a:lnTo>
                  <a:pt x="335943" y="278899"/>
                </a:lnTo>
                <a:lnTo>
                  <a:pt x="354117" y="234623"/>
                </a:lnTo>
                <a:lnTo>
                  <a:pt x="360556" y="185350"/>
                </a:lnTo>
                <a:lnTo>
                  <a:pt x="354117" y="136076"/>
                </a:lnTo>
                <a:lnTo>
                  <a:pt x="335943" y="91800"/>
                </a:lnTo>
                <a:lnTo>
                  <a:pt x="307754" y="54287"/>
                </a:lnTo>
                <a:lnTo>
                  <a:pt x="271268" y="25305"/>
                </a:lnTo>
                <a:lnTo>
                  <a:pt x="228203" y="6620"/>
                </a:lnTo>
                <a:lnTo>
                  <a:pt x="180279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9881" y="3965243"/>
            <a:ext cx="360680" cy="370840"/>
          </a:xfrm>
          <a:custGeom>
            <a:avLst/>
            <a:gdLst/>
            <a:ahLst/>
            <a:cxnLst/>
            <a:rect l="l" t="t" r="r" b="b"/>
            <a:pathLst>
              <a:path w="360680" h="370839">
                <a:moveTo>
                  <a:pt x="180277" y="0"/>
                </a:moveTo>
                <a:lnTo>
                  <a:pt x="132352" y="6620"/>
                </a:lnTo>
                <a:lnTo>
                  <a:pt x="89288" y="25305"/>
                </a:lnTo>
                <a:lnTo>
                  <a:pt x="52802" y="54287"/>
                </a:lnTo>
                <a:lnTo>
                  <a:pt x="24613" y="91800"/>
                </a:lnTo>
                <a:lnTo>
                  <a:pt x="6439" y="136076"/>
                </a:lnTo>
                <a:lnTo>
                  <a:pt x="0" y="185350"/>
                </a:lnTo>
                <a:lnTo>
                  <a:pt x="6439" y="234623"/>
                </a:lnTo>
                <a:lnTo>
                  <a:pt x="24613" y="278899"/>
                </a:lnTo>
                <a:lnTo>
                  <a:pt x="52802" y="316412"/>
                </a:lnTo>
                <a:lnTo>
                  <a:pt x="89288" y="345394"/>
                </a:lnTo>
                <a:lnTo>
                  <a:pt x="132352" y="364079"/>
                </a:lnTo>
                <a:lnTo>
                  <a:pt x="180277" y="370700"/>
                </a:lnTo>
                <a:lnTo>
                  <a:pt x="228203" y="364079"/>
                </a:lnTo>
                <a:lnTo>
                  <a:pt x="271267" y="345394"/>
                </a:lnTo>
                <a:lnTo>
                  <a:pt x="307753" y="316412"/>
                </a:lnTo>
                <a:lnTo>
                  <a:pt x="335942" y="278899"/>
                </a:lnTo>
                <a:lnTo>
                  <a:pt x="354116" y="234623"/>
                </a:lnTo>
                <a:lnTo>
                  <a:pt x="360555" y="185350"/>
                </a:lnTo>
                <a:lnTo>
                  <a:pt x="354116" y="136076"/>
                </a:lnTo>
                <a:lnTo>
                  <a:pt x="335942" y="91800"/>
                </a:lnTo>
                <a:lnTo>
                  <a:pt x="307753" y="54287"/>
                </a:lnTo>
                <a:lnTo>
                  <a:pt x="271267" y="25305"/>
                </a:lnTo>
                <a:lnTo>
                  <a:pt x="228203" y="6620"/>
                </a:lnTo>
                <a:lnTo>
                  <a:pt x="180277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31574" y="2716301"/>
            <a:ext cx="177165" cy="415290"/>
          </a:xfrm>
          <a:custGeom>
            <a:avLst/>
            <a:gdLst/>
            <a:ahLst/>
            <a:cxnLst/>
            <a:rect l="l" t="t" r="r" b="b"/>
            <a:pathLst>
              <a:path w="177164" h="415289">
                <a:moveTo>
                  <a:pt x="53432" y="75080"/>
                </a:moveTo>
                <a:lnTo>
                  <a:pt x="26716" y="85217"/>
                </a:lnTo>
                <a:lnTo>
                  <a:pt x="150407" y="411187"/>
                </a:lnTo>
                <a:lnTo>
                  <a:pt x="158657" y="414898"/>
                </a:lnTo>
                <a:lnTo>
                  <a:pt x="173412" y="409300"/>
                </a:lnTo>
                <a:lnTo>
                  <a:pt x="177123" y="401050"/>
                </a:lnTo>
                <a:lnTo>
                  <a:pt x="53432" y="75080"/>
                </a:lnTo>
                <a:close/>
              </a:path>
              <a:path w="177164" h="415289">
                <a:moveTo>
                  <a:pt x="9660" y="0"/>
                </a:moveTo>
                <a:lnTo>
                  <a:pt x="0" y="95355"/>
                </a:lnTo>
                <a:lnTo>
                  <a:pt x="26716" y="85217"/>
                </a:lnTo>
                <a:lnTo>
                  <a:pt x="18848" y="64482"/>
                </a:lnTo>
                <a:lnTo>
                  <a:pt x="22559" y="56233"/>
                </a:lnTo>
                <a:lnTo>
                  <a:pt x="37313" y="50633"/>
                </a:lnTo>
                <a:lnTo>
                  <a:pt x="64617" y="50633"/>
                </a:lnTo>
                <a:lnTo>
                  <a:pt x="9660" y="0"/>
                </a:lnTo>
                <a:close/>
              </a:path>
              <a:path w="177164" h="415289">
                <a:moveTo>
                  <a:pt x="37313" y="50633"/>
                </a:moveTo>
                <a:lnTo>
                  <a:pt x="22559" y="56233"/>
                </a:lnTo>
                <a:lnTo>
                  <a:pt x="18848" y="64482"/>
                </a:lnTo>
                <a:lnTo>
                  <a:pt x="26716" y="85217"/>
                </a:lnTo>
                <a:lnTo>
                  <a:pt x="53432" y="75080"/>
                </a:lnTo>
                <a:lnTo>
                  <a:pt x="45563" y="54344"/>
                </a:lnTo>
                <a:lnTo>
                  <a:pt x="37313" y="50633"/>
                </a:lnTo>
                <a:close/>
              </a:path>
              <a:path w="177164" h="415289">
                <a:moveTo>
                  <a:pt x="64617" y="50633"/>
                </a:moveTo>
                <a:lnTo>
                  <a:pt x="37313" y="50633"/>
                </a:lnTo>
                <a:lnTo>
                  <a:pt x="45563" y="54344"/>
                </a:lnTo>
                <a:lnTo>
                  <a:pt x="53432" y="75080"/>
                </a:lnTo>
                <a:lnTo>
                  <a:pt x="80148" y="64942"/>
                </a:lnTo>
                <a:lnTo>
                  <a:pt x="64617" y="50633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226155" y="2568920"/>
            <a:ext cx="1024255" cy="550545"/>
          </a:xfrm>
          <a:custGeom>
            <a:avLst/>
            <a:gdLst/>
            <a:ahLst/>
            <a:cxnLst/>
            <a:rect l="l" t="t" r="r" b="b"/>
            <a:pathLst>
              <a:path w="1024255" h="550544">
                <a:moveTo>
                  <a:pt x="55677" y="472090"/>
                </a:moveTo>
                <a:lnTo>
                  <a:pt x="0" y="550103"/>
                </a:lnTo>
                <a:lnTo>
                  <a:pt x="95817" y="547838"/>
                </a:lnTo>
                <a:lnTo>
                  <a:pt x="87940" y="532974"/>
                </a:lnTo>
                <a:lnTo>
                  <a:pt x="62840" y="532974"/>
                </a:lnTo>
                <a:lnTo>
                  <a:pt x="54192" y="530316"/>
                </a:lnTo>
                <a:lnTo>
                  <a:pt x="46802" y="516371"/>
                </a:lnTo>
                <a:lnTo>
                  <a:pt x="49460" y="507724"/>
                </a:lnTo>
                <a:lnTo>
                  <a:pt x="69057" y="497340"/>
                </a:lnTo>
                <a:lnTo>
                  <a:pt x="55677" y="472090"/>
                </a:lnTo>
                <a:close/>
              </a:path>
              <a:path w="1024255" h="550544">
                <a:moveTo>
                  <a:pt x="69057" y="497340"/>
                </a:moveTo>
                <a:lnTo>
                  <a:pt x="49460" y="507724"/>
                </a:lnTo>
                <a:lnTo>
                  <a:pt x="46802" y="516371"/>
                </a:lnTo>
                <a:lnTo>
                  <a:pt x="54192" y="530316"/>
                </a:lnTo>
                <a:lnTo>
                  <a:pt x="62840" y="532974"/>
                </a:lnTo>
                <a:lnTo>
                  <a:pt x="82437" y="522589"/>
                </a:lnTo>
                <a:lnTo>
                  <a:pt x="69057" y="497340"/>
                </a:lnTo>
                <a:close/>
              </a:path>
              <a:path w="1024255" h="550544">
                <a:moveTo>
                  <a:pt x="82437" y="522589"/>
                </a:moveTo>
                <a:lnTo>
                  <a:pt x="62840" y="532974"/>
                </a:lnTo>
                <a:lnTo>
                  <a:pt x="87940" y="532974"/>
                </a:lnTo>
                <a:lnTo>
                  <a:pt x="82437" y="522589"/>
                </a:lnTo>
                <a:close/>
              </a:path>
              <a:path w="1024255" h="550544">
                <a:moveTo>
                  <a:pt x="1007609" y="0"/>
                </a:moveTo>
                <a:lnTo>
                  <a:pt x="69057" y="497340"/>
                </a:lnTo>
                <a:lnTo>
                  <a:pt x="82437" y="522589"/>
                </a:lnTo>
                <a:lnTo>
                  <a:pt x="1020989" y="25248"/>
                </a:lnTo>
                <a:lnTo>
                  <a:pt x="1023646" y="16601"/>
                </a:lnTo>
                <a:lnTo>
                  <a:pt x="1016257" y="2656"/>
                </a:lnTo>
                <a:lnTo>
                  <a:pt x="100760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4246" y="3250086"/>
            <a:ext cx="654685" cy="731520"/>
          </a:xfrm>
          <a:custGeom>
            <a:avLst/>
            <a:gdLst/>
            <a:ahLst/>
            <a:cxnLst/>
            <a:rect l="l" t="t" r="r" b="b"/>
            <a:pathLst>
              <a:path w="654685" h="731520">
                <a:moveTo>
                  <a:pt x="586415" y="54445"/>
                </a:moveTo>
                <a:lnTo>
                  <a:pt x="0" y="711531"/>
                </a:lnTo>
                <a:lnTo>
                  <a:pt x="513" y="720563"/>
                </a:lnTo>
                <a:lnTo>
                  <a:pt x="12287" y="731071"/>
                </a:lnTo>
                <a:lnTo>
                  <a:pt x="21319" y="730558"/>
                </a:lnTo>
                <a:lnTo>
                  <a:pt x="607734" y="73471"/>
                </a:lnTo>
                <a:lnTo>
                  <a:pt x="586415" y="54445"/>
                </a:lnTo>
                <a:close/>
              </a:path>
              <a:path w="654685" h="731520">
                <a:moveTo>
                  <a:pt x="644009" y="37384"/>
                </a:moveTo>
                <a:lnTo>
                  <a:pt x="610214" y="37384"/>
                </a:lnTo>
                <a:lnTo>
                  <a:pt x="621988" y="47892"/>
                </a:lnTo>
                <a:lnTo>
                  <a:pt x="622502" y="56923"/>
                </a:lnTo>
                <a:lnTo>
                  <a:pt x="607734" y="73471"/>
                </a:lnTo>
                <a:lnTo>
                  <a:pt x="629054" y="92497"/>
                </a:lnTo>
                <a:lnTo>
                  <a:pt x="644009" y="37384"/>
                </a:lnTo>
                <a:close/>
              </a:path>
              <a:path w="654685" h="731520">
                <a:moveTo>
                  <a:pt x="610214" y="37384"/>
                </a:moveTo>
                <a:lnTo>
                  <a:pt x="601182" y="37898"/>
                </a:lnTo>
                <a:lnTo>
                  <a:pt x="586415" y="54445"/>
                </a:lnTo>
                <a:lnTo>
                  <a:pt x="607734" y="73471"/>
                </a:lnTo>
                <a:lnTo>
                  <a:pt x="622502" y="56923"/>
                </a:lnTo>
                <a:lnTo>
                  <a:pt x="621988" y="47892"/>
                </a:lnTo>
                <a:lnTo>
                  <a:pt x="610214" y="37384"/>
                </a:lnTo>
                <a:close/>
              </a:path>
              <a:path w="654685" h="731520">
                <a:moveTo>
                  <a:pt x="654154" y="0"/>
                </a:moveTo>
                <a:lnTo>
                  <a:pt x="565095" y="35419"/>
                </a:lnTo>
                <a:lnTo>
                  <a:pt x="586415" y="54445"/>
                </a:lnTo>
                <a:lnTo>
                  <a:pt x="601182" y="37898"/>
                </a:lnTo>
                <a:lnTo>
                  <a:pt x="610214" y="37384"/>
                </a:lnTo>
                <a:lnTo>
                  <a:pt x="644009" y="37384"/>
                </a:lnTo>
                <a:lnTo>
                  <a:pt x="65415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73352" y="3210472"/>
            <a:ext cx="1353820" cy="104775"/>
          </a:xfrm>
          <a:custGeom>
            <a:avLst/>
            <a:gdLst/>
            <a:ahLst/>
            <a:cxnLst/>
            <a:rect l="l" t="t" r="r" b="b"/>
            <a:pathLst>
              <a:path w="1353820" h="104775">
                <a:moveTo>
                  <a:pt x="86200" y="28555"/>
                </a:moveTo>
                <a:lnTo>
                  <a:pt x="85128" y="57110"/>
                </a:lnTo>
                <a:lnTo>
                  <a:pt x="1346258" y="104494"/>
                </a:lnTo>
                <a:lnTo>
                  <a:pt x="1352891" y="98342"/>
                </a:lnTo>
                <a:lnTo>
                  <a:pt x="1353483" y="82571"/>
                </a:lnTo>
                <a:lnTo>
                  <a:pt x="1347331" y="75939"/>
                </a:lnTo>
                <a:lnTo>
                  <a:pt x="86200" y="28555"/>
                </a:lnTo>
                <a:close/>
              </a:path>
              <a:path w="1353820" h="104775">
                <a:moveTo>
                  <a:pt x="87273" y="0"/>
                </a:moveTo>
                <a:lnTo>
                  <a:pt x="0" y="39613"/>
                </a:lnTo>
                <a:lnTo>
                  <a:pt x="84055" y="85664"/>
                </a:lnTo>
                <a:lnTo>
                  <a:pt x="85128" y="57110"/>
                </a:lnTo>
                <a:lnTo>
                  <a:pt x="62965" y="56277"/>
                </a:lnTo>
                <a:lnTo>
                  <a:pt x="56813" y="49644"/>
                </a:lnTo>
                <a:lnTo>
                  <a:pt x="57406" y="33874"/>
                </a:lnTo>
                <a:lnTo>
                  <a:pt x="64038" y="27722"/>
                </a:lnTo>
                <a:lnTo>
                  <a:pt x="86232" y="27722"/>
                </a:lnTo>
                <a:lnTo>
                  <a:pt x="87273" y="0"/>
                </a:lnTo>
                <a:close/>
              </a:path>
              <a:path w="1353820" h="104775">
                <a:moveTo>
                  <a:pt x="64038" y="27722"/>
                </a:moveTo>
                <a:lnTo>
                  <a:pt x="57406" y="33874"/>
                </a:lnTo>
                <a:lnTo>
                  <a:pt x="56813" y="49644"/>
                </a:lnTo>
                <a:lnTo>
                  <a:pt x="62965" y="56277"/>
                </a:lnTo>
                <a:lnTo>
                  <a:pt x="85128" y="57110"/>
                </a:lnTo>
                <a:lnTo>
                  <a:pt x="86200" y="28555"/>
                </a:lnTo>
                <a:lnTo>
                  <a:pt x="64038" y="27722"/>
                </a:lnTo>
                <a:close/>
              </a:path>
              <a:path w="1353820" h="104775">
                <a:moveTo>
                  <a:pt x="86232" y="27722"/>
                </a:moveTo>
                <a:lnTo>
                  <a:pt x="64038" y="27722"/>
                </a:lnTo>
                <a:lnTo>
                  <a:pt x="86200" y="28555"/>
                </a:lnTo>
                <a:lnTo>
                  <a:pt x="86232" y="27722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92036" y="3431454"/>
            <a:ext cx="573405" cy="603885"/>
          </a:xfrm>
          <a:custGeom>
            <a:avLst/>
            <a:gdLst/>
            <a:ahLst/>
            <a:cxnLst/>
            <a:rect l="l" t="t" r="r" b="b"/>
            <a:pathLst>
              <a:path w="573405" h="603885">
                <a:moveTo>
                  <a:pt x="503694" y="52399"/>
                </a:moveTo>
                <a:lnTo>
                  <a:pt x="0" y="583977"/>
                </a:lnTo>
                <a:lnTo>
                  <a:pt x="243" y="593021"/>
                </a:lnTo>
                <a:lnTo>
                  <a:pt x="11699" y="603876"/>
                </a:lnTo>
                <a:lnTo>
                  <a:pt x="20742" y="603632"/>
                </a:lnTo>
                <a:lnTo>
                  <a:pt x="524436" y="72053"/>
                </a:lnTo>
                <a:lnTo>
                  <a:pt x="503694" y="52399"/>
                </a:lnTo>
                <a:close/>
              </a:path>
              <a:path w="573405" h="603885">
                <a:moveTo>
                  <a:pt x="562078" y="36057"/>
                </a:moveTo>
                <a:lnTo>
                  <a:pt x="527991" y="36057"/>
                </a:lnTo>
                <a:lnTo>
                  <a:pt x="539447" y="46912"/>
                </a:lnTo>
                <a:lnTo>
                  <a:pt x="539690" y="55954"/>
                </a:lnTo>
                <a:lnTo>
                  <a:pt x="524436" y="72053"/>
                </a:lnTo>
                <a:lnTo>
                  <a:pt x="545179" y="91707"/>
                </a:lnTo>
                <a:lnTo>
                  <a:pt x="562078" y="36057"/>
                </a:lnTo>
                <a:close/>
              </a:path>
              <a:path w="573405" h="603885">
                <a:moveTo>
                  <a:pt x="527991" y="36057"/>
                </a:moveTo>
                <a:lnTo>
                  <a:pt x="518948" y="36300"/>
                </a:lnTo>
                <a:lnTo>
                  <a:pt x="503694" y="52399"/>
                </a:lnTo>
                <a:lnTo>
                  <a:pt x="524436" y="72053"/>
                </a:lnTo>
                <a:lnTo>
                  <a:pt x="539690" y="55954"/>
                </a:lnTo>
                <a:lnTo>
                  <a:pt x="539447" y="46912"/>
                </a:lnTo>
                <a:lnTo>
                  <a:pt x="527991" y="36057"/>
                </a:lnTo>
                <a:close/>
              </a:path>
              <a:path w="573405" h="603885">
                <a:moveTo>
                  <a:pt x="573027" y="0"/>
                </a:moveTo>
                <a:lnTo>
                  <a:pt x="482951" y="32745"/>
                </a:lnTo>
                <a:lnTo>
                  <a:pt x="503694" y="52399"/>
                </a:lnTo>
                <a:lnTo>
                  <a:pt x="518948" y="36300"/>
                </a:lnTo>
                <a:lnTo>
                  <a:pt x="527991" y="36057"/>
                </a:lnTo>
                <a:lnTo>
                  <a:pt x="562078" y="36057"/>
                </a:lnTo>
                <a:lnTo>
                  <a:pt x="57302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92540" y="3485742"/>
            <a:ext cx="400050" cy="364490"/>
          </a:xfrm>
          <a:custGeom>
            <a:avLst/>
            <a:gdLst/>
            <a:ahLst/>
            <a:cxnLst/>
            <a:rect l="l" t="t" r="r" b="b"/>
            <a:pathLst>
              <a:path w="400050" h="364489">
                <a:moveTo>
                  <a:pt x="73063" y="47061"/>
                </a:moveTo>
                <a:lnTo>
                  <a:pt x="53850" y="68213"/>
                </a:lnTo>
                <a:lnTo>
                  <a:pt x="379855" y="364321"/>
                </a:lnTo>
                <a:lnTo>
                  <a:pt x="388891" y="363886"/>
                </a:lnTo>
                <a:lnTo>
                  <a:pt x="399502" y="352205"/>
                </a:lnTo>
                <a:lnTo>
                  <a:pt x="399068" y="343169"/>
                </a:lnTo>
                <a:lnTo>
                  <a:pt x="73063" y="47061"/>
                </a:lnTo>
                <a:close/>
              </a:path>
              <a:path w="400050" h="364489">
                <a:moveTo>
                  <a:pt x="0" y="0"/>
                </a:moveTo>
                <a:lnTo>
                  <a:pt x="34637" y="89366"/>
                </a:lnTo>
                <a:lnTo>
                  <a:pt x="53850" y="68213"/>
                </a:lnTo>
                <a:lnTo>
                  <a:pt x="37433" y="53301"/>
                </a:lnTo>
                <a:lnTo>
                  <a:pt x="36998" y="44265"/>
                </a:lnTo>
                <a:lnTo>
                  <a:pt x="47609" y="32584"/>
                </a:lnTo>
                <a:lnTo>
                  <a:pt x="56645" y="32150"/>
                </a:lnTo>
                <a:lnTo>
                  <a:pt x="86607" y="32150"/>
                </a:lnTo>
                <a:lnTo>
                  <a:pt x="92275" y="25909"/>
                </a:lnTo>
                <a:lnTo>
                  <a:pt x="0" y="0"/>
                </a:lnTo>
                <a:close/>
              </a:path>
              <a:path w="400050" h="364489">
                <a:moveTo>
                  <a:pt x="56645" y="32150"/>
                </a:moveTo>
                <a:lnTo>
                  <a:pt x="47609" y="32584"/>
                </a:lnTo>
                <a:lnTo>
                  <a:pt x="36998" y="44265"/>
                </a:lnTo>
                <a:lnTo>
                  <a:pt x="37433" y="53301"/>
                </a:lnTo>
                <a:lnTo>
                  <a:pt x="53850" y="68213"/>
                </a:lnTo>
                <a:lnTo>
                  <a:pt x="73063" y="47061"/>
                </a:lnTo>
                <a:lnTo>
                  <a:pt x="56645" y="32150"/>
                </a:lnTo>
                <a:close/>
              </a:path>
              <a:path w="400050" h="364489">
                <a:moveTo>
                  <a:pt x="86607" y="32150"/>
                </a:moveTo>
                <a:lnTo>
                  <a:pt x="56645" y="32150"/>
                </a:lnTo>
                <a:lnTo>
                  <a:pt x="73063" y="47061"/>
                </a:lnTo>
                <a:lnTo>
                  <a:pt x="86607" y="3215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60638" y="3949722"/>
            <a:ext cx="978535" cy="227329"/>
          </a:xfrm>
          <a:custGeom>
            <a:avLst/>
            <a:gdLst/>
            <a:ahLst/>
            <a:cxnLst/>
            <a:rect l="l" t="t" r="r" b="b"/>
            <a:pathLst>
              <a:path w="978535" h="227329">
                <a:moveTo>
                  <a:pt x="76075" y="142575"/>
                </a:moveTo>
                <a:lnTo>
                  <a:pt x="0" y="200870"/>
                </a:lnTo>
                <a:lnTo>
                  <a:pt x="92282" y="226753"/>
                </a:lnTo>
                <a:lnTo>
                  <a:pt x="87687" y="202887"/>
                </a:lnTo>
                <a:lnTo>
                  <a:pt x="65101" y="202887"/>
                </a:lnTo>
                <a:lnTo>
                  <a:pt x="57611" y="197815"/>
                </a:lnTo>
                <a:lnTo>
                  <a:pt x="54627" y="182318"/>
                </a:lnTo>
                <a:lnTo>
                  <a:pt x="59698" y="174826"/>
                </a:lnTo>
                <a:lnTo>
                  <a:pt x="81477" y="170633"/>
                </a:lnTo>
                <a:lnTo>
                  <a:pt x="76075" y="142575"/>
                </a:lnTo>
                <a:close/>
              </a:path>
              <a:path w="978535" h="227329">
                <a:moveTo>
                  <a:pt x="81477" y="170633"/>
                </a:moveTo>
                <a:lnTo>
                  <a:pt x="59698" y="174826"/>
                </a:lnTo>
                <a:lnTo>
                  <a:pt x="54627" y="182318"/>
                </a:lnTo>
                <a:lnTo>
                  <a:pt x="57611" y="197815"/>
                </a:lnTo>
                <a:lnTo>
                  <a:pt x="65101" y="202887"/>
                </a:lnTo>
                <a:lnTo>
                  <a:pt x="86879" y="198694"/>
                </a:lnTo>
                <a:lnTo>
                  <a:pt x="81477" y="170633"/>
                </a:lnTo>
                <a:close/>
              </a:path>
              <a:path w="978535" h="227329">
                <a:moveTo>
                  <a:pt x="86879" y="198694"/>
                </a:moveTo>
                <a:lnTo>
                  <a:pt x="65101" y="202887"/>
                </a:lnTo>
                <a:lnTo>
                  <a:pt x="87687" y="202887"/>
                </a:lnTo>
                <a:lnTo>
                  <a:pt x="86879" y="198694"/>
                </a:lnTo>
                <a:close/>
              </a:path>
              <a:path w="978535" h="227329">
                <a:moveTo>
                  <a:pt x="967769" y="0"/>
                </a:moveTo>
                <a:lnTo>
                  <a:pt x="81477" y="170633"/>
                </a:lnTo>
                <a:lnTo>
                  <a:pt x="86879" y="198694"/>
                </a:lnTo>
                <a:lnTo>
                  <a:pt x="973170" y="28059"/>
                </a:lnTo>
                <a:lnTo>
                  <a:pt x="978242" y="20568"/>
                </a:lnTo>
                <a:lnTo>
                  <a:pt x="975259" y="5071"/>
                </a:lnTo>
                <a:lnTo>
                  <a:pt x="967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423493" y="4412996"/>
            <a:ext cx="1233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Input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0744" y="3293871"/>
            <a:ext cx="266700" cy="99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marL="52069">
              <a:lnSpc>
                <a:spcPct val="100000"/>
              </a:lnSpc>
              <a:spcBef>
                <a:spcPts val="2475"/>
              </a:spcBef>
            </a:pPr>
            <a:r>
              <a:rPr dirty="0" sz="1800">
                <a:latin typeface="Corbel"/>
                <a:cs typeface="Corbel"/>
              </a:rPr>
              <a:t>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73237" y="2309367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59194" y="3159759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83302" y="3188179"/>
            <a:ext cx="290830" cy="915035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2500" spc="-5">
                <a:solidFill>
                  <a:srgbClr val="C64847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-7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marL="161925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28349" y="2601975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44300" y="2757932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75145" y="3226815"/>
            <a:ext cx="545465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C64847"/>
                </a:solidFill>
                <a:latin typeface="Cambria Math"/>
                <a:cs typeface="Cambria Math"/>
              </a:rPr>
              <a:t>*</a:t>
            </a:r>
            <a:r>
              <a:rPr dirty="0" sz="1800" spc="300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baseline="-18888" sz="3750" spc="-442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r>
              <a:rPr dirty="0" baseline="-41666" sz="2700" spc="-442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baseline="-41666" sz="2700">
              <a:latin typeface="Cambria Math"/>
              <a:cs typeface="Cambria Math"/>
            </a:endParaRPr>
          </a:p>
          <a:p>
            <a:pPr marL="41910">
              <a:lnSpc>
                <a:spcPct val="100000"/>
              </a:lnSpc>
              <a:spcBef>
                <a:spcPts val="3005"/>
              </a:spcBef>
            </a:pPr>
            <a:r>
              <a:rPr dirty="0" sz="1800"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00958" y="3955288"/>
            <a:ext cx="2667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335">
                <a:solidFill>
                  <a:srgbClr val="60B5CC"/>
                </a:solidFill>
                <a:latin typeface="Cambria Math"/>
                <a:cs typeface="Cambria Math"/>
              </a:rPr>
              <a:t>𝑟</a:t>
            </a:r>
            <a:r>
              <a:rPr dirty="0" baseline="-15432" sz="2700" spc="427">
                <a:solidFill>
                  <a:srgbClr val="60B5CC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45877" y="3304373"/>
            <a:ext cx="723265" cy="730885"/>
          </a:xfrm>
          <a:custGeom>
            <a:avLst/>
            <a:gdLst/>
            <a:ahLst/>
            <a:cxnLst/>
            <a:rect l="l" t="t" r="r" b="b"/>
            <a:pathLst>
              <a:path w="723264" h="730885">
                <a:moveTo>
                  <a:pt x="70429" y="50918"/>
                </a:moveTo>
                <a:lnTo>
                  <a:pt x="50107" y="71008"/>
                </a:lnTo>
                <a:lnTo>
                  <a:pt x="702393" y="730815"/>
                </a:lnTo>
                <a:lnTo>
                  <a:pt x="711439" y="730865"/>
                </a:lnTo>
                <a:lnTo>
                  <a:pt x="722662" y="719771"/>
                </a:lnTo>
                <a:lnTo>
                  <a:pt x="722714" y="710725"/>
                </a:lnTo>
                <a:lnTo>
                  <a:pt x="70429" y="50918"/>
                </a:lnTo>
                <a:close/>
              </a:path>
              <a:path w="723264" h="730885">
                <a:moveTo>
                  <a:pt x="0" y="0"/>
                </a:moveTo>
                <a:lnTo>
                  <a:pt x="29786" y="91098"/>
                </a:lnTo>
                <a:lnTo>
                  <a:pt x="50107" y="71008"/>
                </a:lnTo>
                <a:lnTo>
                  <a:pt x="34515" y="55236"/>
                </a:lnTo>
                <a:lnTo>
                  <a:pt x="34567" y="46189"/>
                </a:lnTo>
                <a:lnTo>
                  <a:pt x="45790" y="35095"/>
                </a:lnTo>
                <a:lnTo>
                  <a:pt x="86434" y="35095"/>
                </a:lnTo>
                <a:lnTo>
                  <a:pt x="90749" y="30829"/>
                </a:lnTo>
                <a:lnTo>
                  <a:pt x="0" y="0"/>
                </a:lnTo>
                <a:close/>
              </a:path>
              <a:path w="723264" h="730885">
                <a:moveTo>
                  <a:pt x="45790" y="35095"/>
                </a:moveTo>
                <a:lnTo>
                  <a:pt x="34567" y="46189"/>
                </a:lnTo>
                <a:lnTo>
                  <a:pt x="34515" y="55236"/>
                </a:lnTo>
                <a:lnTo>
                  <a:pt x="50107" y="71008"/>
                </a:lnTo>
                <a:lnTo>
                  <a:pt x="70429" y="50918"/>
                </a:lnTo>
                <a:lnTo>
                  <a:pt x="54836" y="35145"/>
                </a:lnTo>
                <a:lnTo>
                  <a:pt x="45790" y="35095"/>
                </a:lnTo>
                <a:close/>
              </a:path>
              <a:path w="723264" h="730885">
                <a:moveTo>
                  <a:pt x="86434" y="35095"/>
                </a:moveTo>
                <a:lnTo>
                  <a:pt x="45790" y="35095"/>
                </a:lnTo>
                <a:lnTo>
                  <a:pt x="54836" y="35145"/>
                </a:lnTo>
                <a:lnTo>
                  <a:pt x="70429" y="50918"/>
                </a:lnTo>
                <a:lnTo>
                  <a:pt x="86434" y="3509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043686" y="3473703"/>
            <a:ext cx="176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0AD00"/>
                </a:solidFill>
                <a:latin typeface="Cambria Math"/>
                <a:cs typeface="Cambria Math"/>
              </a:rPr>
              <a:t>𝑟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59637" y="3629659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5">
                <a:solidFill>
                  <a:srgbClr val="F0AD00"/>
                </a:solidFill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60438" y="4107732"/>
            <a:ext cx="1254125" cy="85725"/>
          </a:xfrm>
          <a:custGeom>
            <a:avLst/>
            <a:gdLst/>
            <a:ahLst/>
            <a:cxnLst/>
            <a:rect l="l" t="t" r="r" b="b"/>
            <a:pathLst>
              <a:path w="1254125" h="85725">
                <a:moveTo>
                  <a:pt x="1247534" y="28573"/>
                </a:moveTo>
                <a:lnTo>
                  <a:pt x="1146028" y="28573"/>
                </a:lnTo>
                <a:lnTo>
                  <a:pt x="1139631" y="34970"/>
                </a:lnTo>
                <a:lnTo>
                  <a:pt x="1139631" y="50751"/>
                </a:lnTo>
                <a:lnTo>
                  <a:pt x="1146028" y="57148"/>
                </a:lnTo>
                <a:lnTo>
                  <a:pt x="1247534" y="57148"/>
                </a:lnTo>
                <a:lnTo>
                  <a:pt x="1253931" y="50751"/>
                </a:lnTo>
                <a:lnTo>
                  <a:pt x="1253931" y="34970"/>
                </a:lnTo>
                <a:lnTo>
                  <a:pt x="1247534" y="28573"/>
                </a:lnTo>
                <a:close/>
              </a:path>
              <a:path w="1254125" h="85725">
                <a:moveTo>
                  <a:pt x="1047509" y="28573"/>
                </a:moveTo>
                <a:lnTo>
                  <a:pt x="946003" y="28573"/>
                </a:lnTo>
                <a:lnTo>
                  <a:pt x="939606" y="34970"/>
                </a:lnTo>
                <a:lnTo>
                  <a:pt x="939606" y="50753"/>
                </a:lnTo>
                <a:lnTo>
                  <a:pt x="946003" y="57148"/>
                </a:lnTo>
                <a:lnTo>
                  <a:pt x="1047510" y="57148"/>
                </a:lnTo>
                <a:lnTo>
                  <a:pt x="1053904" y="50753"/>
                </a:lnTo>
                <a:lnTo>
                  <a:pt x="1053906" y="34970"/>
                </a:lnTo>
                <a:lnTo>
                  <a:pt x="1047509" y="28573"/>
                </a:lnTo>
                <a:close/>
              </a:path>
              <a:path w="1254125" h="85725">
                <a:moveTo>
                  <a:pt x="847484" y="28573"/>
                </a:moveTo>
                <a:lnTo>
                  <a:pt x="745978" y="28573"/>
                </a:lnTo>
                <a:lnTo>
                  <a:pt x="739581" y="34970"/>
                </a:lnTo>
                <a:lnTo>
                  <a:pt x="739581" y="50753"/>
                </a:lnTo>
                <a:lnTo>
                  <a:pt x="745978" y="57148"/>
                </a:lnTo>
                <a:lnTo>
                  <a:pt x="847485" y="57148"/>
                </a:lnTo>
                <a:lnTo>
                  <a:pt x="853881" y="50753"/>
                </a:lnTo>
                <a:lnTo>
                  <a:pt x="853881" y="34970"/>
                </a:lnTo>
                <a:lnTo>
                  <a:pt x="847484" y="28573"/>
                </a:lnTo>
                <a:close/>
              </a:path>
              <a:path w="1254125" h="85725">
                <a:moveTo>
                  <a:pt x="647459" y="28573"/>
                </a:moveTo>
                <a:lnTo>
                  <a:pt x="553843" y="28575"/>
                </a:lnTo>
                <a:lnTo>
                  <a:pt x="545953" y="28575"/>
                </a:lnTo>
                <a:lnTo>
                  <a:pt x="539556" y="34970"/>
                </a:lnTo>
                <a:lnTo>
                  <a:pt x="539556" y="50753"/>
                </a:lnTo>
                <a:lnTo>
                  <a:pt x="545953" y="57150"/>
                </a:lnTo>
                <a:lnTo>
                  <a:pt x="647459" y="57148"/>
                </a:lnTo>
                <a:lnTo>
                  <a:pt x="653856" y="50753"/>
                </a:lnTo>
                <a:lnTo>
                  <a:pt x="653856" y="34970"/>
                </a:lnTo>
                <a:lnTo>
                  <a:pt x="647459" y="28573"/>
                </a:lnTo>
                <a:close/>
              </a:path>
              <a:path w="1254125" h="85725">
                <a:moveTo>
                  <a:pt x="447434" y="28575"/>
                </a:moveTo>
                <a:lnTo>
                  <a:pt x="345928" y="28575"/>
                </a:lnTo>
                <a:lnTo>
                  <a:pt x="339531" y="34970"/>
                </a:lnTo>
                <a:lnTo>
                  <a:pt x="339531" y="50753"/>
                </a:lnTo>
                <a:lnTo>
                  <a:pt x="345928" y="57150"/>
                </a:lnTo>
                <a:lnTo>
                  <a:pt x="447434" y="57150"/>
                </a:lnTo>
                <a:lnTo>
                  <a:pt x="453831" y="50753"/>
                </a:lnTo>
                <a:lnTo>
                  <a:pt x="453831" y="34970"/>
                </a:lnTo>
                <a:lnTo>
                  <a:pt x="447434" y="28575"/>
                </a:lnTo>
                <a:close/>
              </a:path>
              <a:path w="1254125" h="85725">
                <a:moveTo>
                  <a:pt x="247409" y="28575"/>
                </a:moveTo>
                <a:lnTo>
                  <a:pt x="145903" y="28575"/>
                </a:lnTo>
                <a:lnTo>
                  <a:pt x="139506" y="34971"/>
                </a:lnTo>
                <a:lnTo>
                  <a:pt x="139506" y="50753"/>
                </a:lnTo>
                <a:lnTo>
                  <a:pt x="145903" y="57150"/>
                </a:lnTo>
                <a:lnTo>
                  <a:pt x="247409" y="57150"/>
                </a:lnTo>
                <a:lnTo>
                  <a:pt x="253806" y="50753"/>
                </a:lnTo>
                <a:lnTo>
                  <a:pt x="253806" y="34971"/>
                </a:lnTo>
                <a:lnTo>
                  <a:pt x="247409" y="28575"/>
                </a:lnTo>
                <a:close/>
              </a:path>
              <a:path w="12541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01460" y="4831577"/>
            <a:ext cx="824230" cy="200025"/>
          </a:xfrm>
          <a:custGeom>
            <a:avLst/>
            <a:gdLst/>
            <a:ahLst/>
            <a:cxnLst/>
            <a:rect l="l" t="t" r="r" b="b"/>
            <a:pathLst>
              <a:path w="824229" h="200025">
                <a:moveTo>
                  <a:pt x="760100" y="0"/>
                </a:moveTo>
                <a:lnTo>
                  <a:pt x="757254" y="8117"/>
                </a:lnTo>
                <a:lnTo>
                  <a:pt x="768830" y="13141"/>
                </a:lnTo>
                <a:lnTo>
                  <a:pt x="778786" y="20096"/>
                </a:lnTo>
                <a:lnTo>
                  <a:pt x="802690" y="66375"/>
                </a:lnTo>
                <a:lnTo>
                  <a:pt x="805642" y="98990"/>
                </a:lnTo>
                <a:lnTo>
                  <a:pt x="804900" y="116627"/>
                </a:lnTo>
                <a:lnTo>
                  <a:pt x="793781" y="159816"/>
                </a:lnTo>
                <a:lnTo>
                  <a:pt x="757570" y="191865"/>
                </a:lnTo>
                <a:lnTo>
                  <a:pt x="760100" y="199981"/>
                </a:lnTo>
                <a:lnTo>
                  <a:pt x="798308" y="177280"/>
                </a:lnTo>
                <a:lnTo>
                  <a:pt x="819768" y="135372"/>
                </a:lnTo>
                <a:lnTo>
                  <a:pt x="823879" y="100044"/>
                </a:lnTo>
                <a:lnTo>
                  <a:pt x="822848" y="81710"/>
                </a:lnTo>
                <a:lnTo>
                  <a:pt x="807380" y="35051"/>
                </a:lnTo>
                <a:lnTo>
                  <a:pt x="774598" y="5234"/>
                </a:lnTo>
                <a:lnTo>
                  <a:pt x="760100" y="0"/>
                </a:lnTo>
                <a:close/>
              </a:path>
              <a:path w="824229" h="200025">
                <a:moveTo>
                  <a:pt x="63779" y="0"/>
                </a:moveTo>
                <a:lnTo>
                  <a:pt x="25640" y="22760"/>
                </a:lnTo>
                <a:lnTo>
                  <a:pt x="4124" y="64767"/>
                </a:lnTo>
                <a:lnTo>
                  <a:pt x="0" y="100044"/>
                </a:lnTo>
                <a:lnTo>
                  <a:pt x="1027" y="118416"/>
                </a:lnTo>
                <a:lnTo>
                  <a:pt x="16445" y="165035"/>
                </a:lnTo>
                <a:lnTo>
                  <a:pt x="49238" y="194753"/>
                </a:lnTo>
                <a:lnTo>
                  <a:pt x="63779" y="199981"/>
                </a:lnTo>
                <a:lnTo>
                  <a:pt x="66309" y="191865"/>
                </a:lnTo>
                <a:lnTo>
                  <a:pt x="54914" y="186817"/>
                </a:lnTo>
                <a:lnTo>
                  <a:pt x="45080" y="179793"/>
                </a:lnTo>
                <a:lnTo>
                  <a:pt x="24908" y="147041"/>
                </a:lnTo>
                <a:lnTo>
                  <a:pt x="18238" y="98990"/>
                </a:lnTo>
                <a:lnTo>
                  <a:pt x="18979" y="81928"/>
                </a:lnTo>
                <a:lnTo>
                  <a:pt x="30097" y="39796"/>
                </a:lnTo>
                <a:lnTo>
                  <a:pt x="66625" y="8117"/>
                </a:lnTo>
                <a:lnTo>
                  <a:pt x="63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28798" y="4107688"/>
            <a:ext cx="4661535" cy="1196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15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5432" sz="2700" spc="22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2500" spc="15" b="1">
                <a:solidFill>
                  <a:srgbClr val="F0AD00"/>
                </a:solidFill>
                <a:latin typeface="Arial"/>
                <a:cs typeface="Arial"/>
              </a:rPr>
              <a:t>?</a:t>
            </a:r>
            <a:endParaRPr sz="2500">
              <a:latin typeface="Arial"/>
              <a:cs typeface="Arial"/>
            </a:endParaRPr>
          </a:p>
          <a:p>
            <a:pPr marL="685165" indent="-457200">
              <a:lnSpc>
                <a:spcPts val="2030"/>
              </a:lnSpc>
              <a:spcBef>
                <a:spcPts val="2165"/>
              </a:spcBef>
              <a:buAutoNum type="arabicPeriod"/>
              <a:tabLst>
                <a:tab pos="685165" algn="l"/>
                <a:tab pos="685800" algn="l"/>
                <a:tab pos="2743200" algn="l"/>
              </a:tabLst>
            </a:pPr>
            <a:r>
              <a:rPr dirty="0" sz="1700" spc="-10" b="1">
                <a:latin typeface="Calibri"/>
                <a:cs typeface="Calibri"/>
              </a:rPr>
              <a:t>Calculate </a:t>
            </a:r>
            <a:r>
              <a:rPr dirty="0" sz="1700" spc="-5" b="1">
                <a:latin typeface="Calibri"/>
                <a:cs typeface="Calibri"/>
              </a:rPr>
              <a:t>the</a:t>
            </a:r>
            <a:r>
              <a:rPr dirty="0" sz="1700" spc="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score</a:t>
            </a:r>
            <a:r>
              <a:rPr dirty="0" sz="1700" b="1">
                <a:latin typeface="Calibri"/>
                <a:cs typeface="Calibri"/>
              </a:rPr>
              <a:t> </a:t>
            </a:r>
            <a:r>
              <a:rPr dirty="0" sz="1700" spc="-5" b="1">
                <a:latin typeface="Calibri"/>
                <a:cs typeface="Calibri"/>
              </a:rPr>
              <a:t>of	</a:t>
            </a:r>
            <a:r>
              <a:rPr dirty="0" sz="17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700" spc="-5">
                <a:latin typeface="Cambria Math"/>
                <a:cs typeface="Cambria Math"/>
              </a:rPr>
              <a:t>, </a:t>
            </a:r>
            <a:r>
              <a:rPr dirty="0" sz="17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6203" sz="18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700" spc="10">
                <a:latin typeface="Cambria Math"/>
                <a:cs typeface="Cambria Math"/>
              </a:rPr>
              <a:t>,</a:t>
            </a:r>
            <a:r>
              <a:rPr dirty="0" sz="1700" spc="-254">
                <a:latin typeface="Cambria Math"/>
                <a:cs typeface="Cambria Math"/>
              </a:rPr>
              <a:t> </a:t>
            </a:r>
            <a:r>
              <a:rPr dirty="0" sz="1700">
                <a:solidFill>
                  <a:srgbClr val="0070C0"/>
                </a:solidFill>
                <a:latin typeface="Cambria Math"/>
                <a:cs typeface="Cambria Math"/>
              </a:rPr>
              <a:t>𝑫</a:t>
            </a:r>
            <a:endParaRPr sz="1700">
              <a:latin typeface="Cambria Math"/>
              <a:cs typeface="Cambria Math"/>
            </a:endParaRPr>
          </a:p>
          <a:p>
            <a:pPr marL="685165" indent="-457200">
              <a:lnSpc>
                <a:spcPts val="2030"/>
              </a:lnSpc>
              <a:buAutoNum type="arabicPeriod"/>
              <a:tabLst>
                <a:tab pos="685165" algn="l"/>
                <a:tab pos="685800" algn="l"/>
              </a:tabLst>
            </a:pPr>
            <a:r>
              <a:rPr dirty="0" sz="1700" spc="-10" b="1">
                <a:latin typeface="Calibri"/>
                <a:cs typeface="Calibri"/>
              </a:rPr>
              <a:t>Calculate </a:t>
            </a:r>
            <a:r>
              <a:rPr dirty="0" sz="1700" spc="-5" b="1">
                <a:latin typeface="Calibri"/>
                <a:cs typeface="Calibri"/>
              </a:rPr>
              <a:t>the </a:t>
            </a:r>
            <a:r>
              <a:rPr dirty="0" sz="1700" spc="-10" b="1">
                <a:latin typeface="Calibri"/>
                <a:cs typeface="Calibri"/>
              </a:rPr>
              <a:t>score </a:t>
            </a:r>
            <a:r>
              <a:rPr dirty="0" sz="1700" spc="-5" b="1">
                <a:latin typeface="Calibri"/>
                <a:cs typeface="Calibri"/>
              </a:rPr>
              <a:t>of all the </a:t>
            </a:r>
            <a:r>
              <a:rPr dirty="0" sz="1700" spc="-15" b="1">
                <a:latin typeface="Calibri"/>
                <a:cs typeface="Calibri"/>
              </a:rPr>
              <a:t>negative</a:t>
            </a:r>
            <a:r>
              <a:rPr dirty="0" sz="1700" spc="-4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edges: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436627" y="5085029"/>
            <a:ext cx="2019935" cy="201295"/>
          </a:xfrm>
          <a:custGeom>
            <a:avLst/>
            <a:gdLst/>
            <a:ahLst/>
            <a:cxnLst/>
            <a:rect l="l" t="t" r="r" b="b"/>
            <a:pathLst>
              <a:path w="2019934" h="201295">
                <a:moveTo>
                  <a:pt x="945960" y="2405"/>
                </a:moveTo>
                <a:lnTo>
                  <a:pt x="929726" y="2405"/>
                </a:lnTo>
                <a:lnTo>
                  <a:pt x="929726" y="198592"/>
                </a:lnTo>
                <a:lnTo>
                  <a:pt x="945960" y="198592"/>
                </a:lnTo>
                <a:lnTo>
                  <a:pt x="945960" y="2405"/>
                </a:lnTo>
                <a:close/>
              </a:path>
              <a:path w="2019934" h="201295">
                <a:moveTo>
                  <a:pt x="67257" y="0"/>
                </a:moveTo>
                <a:lnTo>
                  <a:pt x="64517" y="0"/>
                </a:lnTo>
                <a:lnTo>
                  <a:pt x="52911" y="866"/>
                </a:lnTo>
                <a:lnTo>
                  <a:pt x="18251" y="24971"/>
                </a:lnTo>
                <a:lnTo>
                  <a:pt x="15181" y="44065"/>
                </a:lnTo>
                <a:lnTo>
                  <a:pt x="15181" y="49898"/>
                </a:lnTo>
                <a:lnTo>
                  <a:pt x="16007" y="56540"/>
                </a:lnTo>
                <a:lnTo>
                  <a:pt x="19310" y="71440"/>
                </a:lnTo>
                <a:lnTo>
                  <a:pt x="20135" y="76429"/>
                </a:lnTo>
                <a:lnTo>
                  <a:pt x="20135" y="83808"/>
                </a:lnTo>
                <a:lnTo>
                  <a:pt x="18467" y="87762"/>
                </a:lnTo>
                <a:lnTo>
                  <a:pt x="11789" y="93877"/>
                </a:lnTo>
                <a:lnTo>
                  <a:pt x="6747" y="95510"/>
                </a:lnTo>
                <a:lnTo>
                  <a:pt x="0" y="95721"/>
                </a:lnTo>
                <a:lnTo>
                  <a:pt x="0" y="104366"/>
                </a:lnTo>
                <a:lnTo>
                  <a:pt x="6747" y="104576"/>
                </a:lnTo>
                <a:lnTo>
                  <a:pt x="11789" y="106210"/>
                </a:lnTo>
                <a:lnTo>
                  <a:pt x="18467" y="112325"/>
                </a:lnTo>
                <a:lnTo>
                  <a:pt x="20135" y="116278"/>
                </a:lnTo>
                <a:lnTo>
                  <a:pt x="20135" y="123657"/>
                </a:lnTo>
                <a:lnTo>
                  <a:pt x="19310" y="128647"/>
                </a:lnTo>
                <a:lnTo>
                  <a:pt x="16007" y="143546"/>
                </a:lnTo>
                <a:lnTo>
                  <a:pt x="15181" y="150188"/>
                </a:lnTo>
                <a:lnTo>
                  <a:pt x="15181" y="156022"/>
                </a:lnTo>
                <a:lnTo>
                  <a:pt x="15949" y="166666"/>
                </a:lnTo>
                <a:lnTo>
                  <a:pt x="42867" y="197992"/>
                </a:lnTo>
                <a:lnTo>
                  <a:pt x="64517" y="201035"/>
                </a:lnTo>
                <a:lnTo>
                  <a:pt x="67257" y="201035"/>
                </a:lnTo>
                <a:lnTo>
                  <a:pt x="67257" y="193023"/>
                </a:lnTo>
                <a:lnTo>
                  <a:pt x="55486" y="193023"/>
                </a:lnTo>
                <a:lnTo>
                  <a:pt x="47509" y="190370"/>
                </a:lnTo>
                <a:lnTo>
                  <a:pt x="33102" y="157919"/>
                </a:lnTo>
                <a:lnTo>
                  <a:pt x="33102" y="152999"/>
                </a:lnTo>
                <a:lnTo>
                  <a:pt x="33804" y="146919"/>
                </a:lnTo>
                <a:lnTo>
                  <a:pt x="36616" y="132443"/>
                </a:lnTo>
                <a:lnTo>
                  <a:pt x="37318" y="127276"/>
                </a:lnTo>
                <a:lnTo>
                  <a:pt x="37318" y="118210"/>
                </a:lnTo>
                <a:lnTo>
                  <a:pt x="35562" y="113309"/>
                </a:lnTo>
                <a:lnTo>
                  <a:pt x="28534" y="105648"/>
                </a:lnTo>
                <a:lnTo>
                  <a:pt x="24352" y="102819"/>
                </a:lnTo>
                <a:lnTo>
                  <a:pt x="19503" y="100992"/>
                </a:lnTo>
                <a:lnTo>
                  <a:pt x="19503" y="99094"/>
                </a:lnTo>
                <a:lnTo>
                  <a:pt x="24352" y="97268"/>
                </a:lnTo>
                <a:lnTo>
                  <a:pt x="28534" y="94438"/>
                </a:lnTo>
                <a:lnTo>
                  <a:pt x="35562" y="86777"/>
                </a:lnTo>
                <a:lnTo>
                  <a:pt x="37318" y="81875"/>
                </a:lnTo>
                <a:lnTo>
                  <a:pt x="37318" y="72810"/>
                </a:lnTo>
                <a:lnTo>
                  <a:pt x="36616" y="67644"/>
                </a:lnTo>
                <a:lnTo>
                  <a:pt x="33804" y="53167"/>
                </a:lnTo>
                <a:lnTo>
                  <a:pt x="33102" y="47087"/>
                </a:lnTo>
                <a:lnTo>
                  <a:pt x="33102" y="42167"/>
                </a:lnTo>
                <a:lnTo>
                  <a:pt x="33642" y="33691"/>
                </a:lnTo>
                <a:lnTo>
                  <a:pt x="55486" y="8012"/>
                </a:lnTo>
                <a:lnTo>
                  <a:pt x="67257" y="8012"/>
                </a:lnTo>
                <a:lnTo>
                  <a:pt x="67257" y="0"/>
                </a:lnTo>
                <a:close/>
              </a:path>
              <a:path w="2019934" h="201295">
                <a:moveTo>
                  <a:pt x="1955105" y="0"/>
                </a:moveTo>
                <a:lnTo>
                  <a:pt x="1952364" y="0"/>
                </a:lnTo>
                <a:lnTo>
                  <a:pt x="1952364" y="8012"/>
                </a:lnTo>
                <a:lnTo>
                  <a:pt x="1964136" y="8012"/>
                </a:lnTo>
                <a:lnTo>
                  <a:pt x="1972113" y="10665"/>
                </a:lnTo>
                <a:lnTo>
                  <a:pt x="1986521" y="42273"/>
                </a:lnTo>
                <a:lnTo>
                  <a:pt x="1986521" y="47193"/>
                </a:lnTo>
                <a:lnTo>
                  <a:pt x="1985817" y="53272"/>
                </a:lnTo>
                <a:lnTo>
                  <a:pt x="1983007" y="67749"/>
                </a:lnTo>
                <a:lnTo>
                  <a:pt x="1982303" y="72915"/>
                </a:lnTo>
                <a:lnTo>
                  <a:pt x="1982303" y="81981"/>
                </a:lnTo>
                <a:lnTo>
                  <a:pt x="1984061" y="86883"/>
                </a:lnTo>
                <a:lnTo>
                  <a:pt x="1991089" y="94543"/>
                </a:lnTo>
                <a:lnTo>
                  <a:pt x="1995270" y="97373"/>
                </a:lnTo>
                <a:lnTo>
                  <a:pt x="2000120" y="99199"/>
                </a:lnTo>
                <a:lnTo>
                  <a:pt x="2000120" y="101098"/>
                </a:lnTo>
                <a:lnTo>
                  <a:pt x="1995270" y="102924"/>
                </a:lnTo>
                <a:lnTo>
                  <a:pt x="1991089" y="105754"/>
                </a:lnTo>
                <a:lnTo>
                  <a:pt x="1984061" y="113414"/>
                </a:lnTo>
                <a:lnTo>
                  <a:pt x="1982303" y="118315"/>
                </a:lnTo>
                <a:lnTo>
                  <a:pt x="1982303" y="127382"/>
                </a:lnTo>
                <a:lnTo>
                  <a:pt x="1983007" y="132548"/>
                </a:lnTo>
                <a:lnTo>
                  <a:pt x="1985817" y="147025"/>
                </a:lnTo>
                <a:lnTo>
                  <a:pt x="1986521" y="153104"/>
                </a:lnTo>
                <a:lnTo>
                  <a:pt x="1986521" y="158024"/>
                </a:lnTo>
                <a:lnTo>
                  <a:pt x="1985980" y="166869"/>
                </a:lnTo>
                <a:lnTo>
                  <a:pt x="1964136" y="193023"/>
                </a:lnTo>
                <a:lnTo>
                  <a:pt x="1952364" y="193023"/>
                </a:lnTo>
                <a:lnTo>
                  <a:pt x="1952364" y="201035"/>
                </a:lnTo>
                <a:lnTo>
                  <a:pt x="1955105" y="201035"/>
                </a:lnTo>
                <a:lnTo>
                  <a:pt x="1966711" y="200169"/>
                </a:lnTo>
                <a:lnTo>
                  <a:pt x="2001371" y="175853"/>
                </a:lnTo>
                <a:lnTo>
                  <a:pt x="2004442" y="156127"/>
                </a:lnTo>
                <a:lnTo>
                  <a:pt x="2004442" y="150294"/>
                </a:lnTo>
                <a:lnTo>
                  <a:pt x="2003616" y="143652"/>
                </a:lnTo>
                <a:lnTo>
                  <a:pt x="2000313" y="128752"/>
                </a:lnTo>
                <a:lnTo>
                  <a:pt x="1999488" y="123762"/>
                </a:lnTo>
                <a:lnTo>
                  <a:pt x="1999488" y="116384"/>
                </a:lnTo>
                <a:lnTo>
                  <a:pt x="2001156" y="112430"/>
                </a:lnTo>
                <a:lnTo>
                  <a:pt x="2007833" y="106315"/>
                </a:lnTo>
                <a:lnTo>
                  <a:pt x="2012875" y="104682"/>
                </a:lnTo>
                <a:lnTo>
                  <a:pt x="2019622" y="104471"/>
                </a:lnTo>
                <a:lnTo>
                  <a:pt x="2019622" y="95826"/>
                </a:lnTo>
                <a:lnTo>
                  <a:pt x="2012875" y="95615"/>
                </a:lnTo>
                <a:lnTo>
                  <a:pt x="2007833" y="93982"/>
                </a:lnTo>
                <a:lnTo>
                  <a:pt x="2001156" y="87867"/>
                </a:lnTo>
                <a:lnTo>
                  <a:pt x="1999488" y="83913"/>
                </a:lnTo>
                <a:lnTo>
                  <a:pt x="1999488" y="76535"/>
                </a:lnTo>
                <a:lnTo>
                  <a:pt x="2000313" y="71545"/>
                </a:lnTo>
                <a:lnTo>
                  <a:pt x="2003616" y="56645"/>
                </a:lnTo>
                <a:lnTo>
                  <a:pt x="2004442" y="50003"/>
                </a:lnTo>
                <a:lnTo>
                  <a:pt x="2004442" y="44170"/>
                </a:lnTo>
                <a:lnTo>
                  <a:pt x="2003674" y="33895"/>
                </a:lnTo>
                <a:lnTo>
                  <a:pt x="1976756" y="3043"/>
                </a:lnTo>
                <a:lnTo>
                  <a:pt x="1966711" y="866"/>
                </a:lnTo>
                <a:lnTo>
                  <a:pt x="19551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29217" y="5085577"/>
            <a:ext cx="792480" cy="200025"/>
          </a:xfrm>
          <a:custGeom>
            <a:avLst/>
            <a:gdLst/>
            <a:ahLst/>
            <a:cxnLst/>
            <a:rect l="l" t="t" r="r" b="b"/>
            <a:pathLst>
              <a:path w="792479" h="200025">
                <a:moveTo>
                  <a:pt x="728350" y="0"/>
                </a:moveTo>
                <a:lnTo>
                  <a:pt x="725504" y="8117"/>
                </a:lnTo>
                <a:lnTo>
                  <a:pt x="737080" y="13141"/>
                </a:lnTo>
                <a:lnTo>
                  <a:pt x="747036" y="20095"/>
                </a:lnTo>
                <a:lnTo>
                  <a:pt x="770939" y="66375"/>
                </a:lnTo>
                <a:lnTo>
                  <a:pt x="773891" y="98988"/>
                </a:lnTo>
                <a:lnTo>
                  <a:pt x="773149" y="116627"/>
                </a:lnTo>
                <a:lnTo>
                  <a:pt x="762031" y="159816"/>
                </a:lnTo>
                <a:lnTo>
                  <a:pt x="725820" y="191863"/>
                </a:lnTo>
                <a:lnTo>
                  <a:pt x="728350" y="199981"/>
                </a:lnTo>
                <a:lnTo>
                  <a:pt x="766558" y="177280"/>
                </a:lnTo>
                <a:lnTo>
                  <a:pt x="788017" y="135372"/>
                </a:lnTo>
                <a:lnTo>
                  <a:pt x="792129" y="100044"/>
                </a:lnTo>
                <a:lnTo>
                  <a:pt x="791098" y="81710"/>
                </a:lnTo>
                <a:lnTo>
                  <a:pt x="775630" y="35051"/>
                </a:lnTo>
                <a:lnTo>
                  <a:pt x="742848" y="5234"/>
                </a:lnTo>
                <a:lnTo>
                  <a:pt x="728350" y="0"/>
                </a:lnTo>
                <a:close/>
              </a:path>
              <a:path w="792479" h="200025">
                <a:moveTo>
                  <a:pt x="63779" y="0"/>
                </a:moveTo>
                <a:lnTo>
                  <a:pt x="25640" y="22760"/>
                </a:lnTo>
                <a:lnTo>
                  <a:pt x="4124" y="64767"/>
                </a:lnTo>
                <a:lnTo>
                  <a:pt x="0" y="100044"/>
                </a:lnTo>
                <a:lnTo>
                  <a:pt x="1027" y="118416"/>
                </a:lnTo>
                <a:lnTo>
                  <a:pt x="16445" y="165035"/>
                </a:lnTo>
                <a:lnTo>
                  <a:pt x="49237" y="194753"/>
                </a:lnTo>
                <a:lnTo>
                  <a:pt x="63779" y="199981"/>
                </a:lnTo>
                <a:lnTo>
                  <a:pt x="66309" y="191863"/>
                </a:lnTo>
                <a:lnTo>
                  <a:pt x="54914" y="186817"/>
                </a:lnTo>
                <a:lnTo>
                  <a:pt x="45080" y="179793"/>
                </a:lnTo>
                <a:lnTo>
                  <a:pt x="24908" y="147041"/>
                </a:lnTo>
                <a:lnTo>
                  <a:pt x="18237" y="98988"/>
                </a:lnTo>
                <a:lnTo>
                  <a:pt x="18978" y="81927"/>
                </a:lnTo>
                <a:lnTo>
                  <a:pt x="30097" y="39796"/>
                </a:lnTo>
                <a:lnTo>
                  <a:pt x="66625" y="8117"/>
                </a:lnTo>
                <a:lnTo>
                  <a:pt x="63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587141" y="5020055"/>
            <a:ext cx="6762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700" spc="-5">
                <a:latin typeface="Cambria Math"/>
                <a:cs typeface="Cambria Math"/>
              </a:rPr>
              <a:t>, </a:t>
            </a:r>
            <a:r>
              <a:rPr dirty="0" sz="17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6203" sz="18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700" spc="10">
                <a:latin typeface="Cambria Math"/>
                <a:cs typeface="Cambria Math"/>
              </a:rPr>
              <a:t>,</a:t>
            </a:r>
            <a:r>
              <a:rPr dirty="0" sz="1700" spc="-254">
                <a:latin typeface="Cambria Math"/>
                <a:cs typeface="Cambria Math"/>
              </a:rPr>
              <a:t> </a:t>
            </a:r>
            <a:r>
              <a:rPr dirty="0" sz="1700">
                <a:latin typeface="Cambria Math"/>
                <a:cs typeface="Cambria Math"/>
              </a:rPr>
              <a:t>𝒗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803655" y="5085029"/>
            <a:ext cx="569595" cy="201295"/>
          </a:xfrm>
          <a:custGeom>
            <a:avLst/>
            <a:gdLst/>
            <a:ahLst/>
            <a:cxnLst/>
            <a:rect l="l" t="t" r="r" b="b"/>
            <a:pathLst>
              <a:path w="569595" h="201295">
                <a:moveTo>
                  <a:pt x="504447" y="0"/>
                </a:moveTo>
                <a:lnTo>
                  <a:pt x="501707" y="0"/>
                </a:lnTo>
                <a:lnTo>
                  <a:pt x="501707" y="8012"/>
                </a:lnTo>
                <a:lnTo>
                  <a:pt x="513478" y="8012"/>
                </a:lnTo>
                <a:lnTo>
                  <a:pt x="521455" y="10665"/>
                </a:lnTo>
                <a:lnTo>
                  <a:pt x="535863" y="42273"/>
                </a:lnTo>
                <a:lnTo>
                  <a:pt x="535863" y="47193"/>
                </a:lnTo>
                <a:lnTo>
                  <a:pt x="535160" y="53272"/>
                </a:lnTo>
                <a:lnTo>
                  <a:pt x="532349" y="67749"/>
                </a:lnTo>
                <a:lnTo>
                  <a:pt x="531646" y="72915"/>
                </a:lnTo>
                <a:lnTo>
                  <a:pt x="531646" y="81981"/>
                </a:lnTo>
                <a:lnTo>
                  <a:pt x="533403" y="86883"/>
                </a:lnTo>
                <a:lnTo>
                  <a:pt x="540430" y="94543"/>
                </a:lnTo>
                <a:lnTo>
                  <a:pt x="544612" y="97373"/>
                </a:lnTo>
                <a:lnTo>
                  <a:pt x="549462" y="99199"/>
                </a:lnTo>
                <a:lnTo>
                  <a:pt x="549462" y="101098"/>
                </a:lnTo>
                <a:lnTo>
                  <a:pt x="544612" y="102924"/>
                </a:lnTo>
                <a:lnTo>
                  <a:pt x="540430" y="105754"/>
                </a:lnTo>
                <a:lnTo>
                  <a:pt x="533403" y="113414"/>
                </a:lnTo>
                <a:lnTo>
                  <a:pt x="531646" y="118315"/>
                </a:lnTo>
                <a:lnTo>
                  <a:pt x="531646" y="127382"/>
                </a:lnTo>
                <a:lnTo>
                  <a:pt x="532349" y="132548"/>
                </a:lnTo>
                <a:lnTo>
                  <a:pt x="535160" y="147025"/>
                </a:lnTo>
                <a:lnTo>
                  <a:pt x="535863" y="153104"/>
                </a:lnTo>
                <a:lnTo>
                  <a:pt x="535863" y="158024"/>
                </a:lnTo>
                <a:lnTo>
                  <a:pt x="535323" y="166869"/>
                </a:lnTo>
                <a:lnTo>
                  <a:pt x="513478" y="193023"/>
                </a:lnTo>
                <a:lnTo>
                  <a:pt x="501707" y="193023"/>
                </a:lnTo>
                <a:lnTo>
                  <a:pt x="501707" y="201035"/>
                </a:lnTo>
                <a:lnTo>
                  <a:pt x="504447" y="201035"/>
                </a:lnTo>
                <a:lnTo>
                  <a:pt x="516054" y="200169"/>
                </a:lnTo>
                <a:lnTo>
                  <a:pt x="550714" y="175853"/>
                </a:lnTo>
                <a:lnTo>
                  <a:pt x="553784" y="156127"/>
                </a:lnTo>
                <a:lnTo>
                  <a:pt x="553784" y="150294"/>
                </a:lnTo>
                <a:lnTo>
                  <a:pt x="552959" y="143652"/>
                </a:lnTo>
                <a:lnTo>
                  <a:pt x="549655" y="128752"/>
                </a:lnTo>
                <a:lnTo>
                  <a:pt x="548830" y="123762"/>
                </a:lnTo>
                <a:lnTo>
                  <a:pt x="548830" y="116384"/>
                </a:lnTo>
                <a:lnTo>
                  <a:pt x="550499" y="112430"/>
                </a:lnTo>
                <a:lnTo>
                  <a:pt x="557175" y="106315"/>
                </a:lnTo>
                <a:lnTo>
                  <a:pt x="562218" y="104682"/>
                </a:lnTo>
                <a:lnTo>
                  <a:pt x="568965" y="104471"/>
                </a:lnTo>
                <a:lnTo>
                  <a:pt x="568965" y="95826"/>
                </a:lnTo>
                <a:lnTo>
                  <a:pt x="562218" y="95615"/>
                </a:lnTo>
                <a:lnTo>
                  <a:pt x="557175" y="93982"/>
                </a:lnTo>
                <a:lnTo>
                  <a:pt x="550499" y="87867"/>
                </a:lnTo>
                <a:lnTo>
                  <a:pt x="548830" y="83913"/>
                </a:lnTo>
                <a:lnTo>
                  <a:pt x="548830" y="76535"/>
                </a:lnTo>
                <a:lnTo>
                  <a:pt x="549655" y="71545"/>
                </a:lnTo>
                <a:lnTo>
                  <a:pt x="552959" y="56645"/>
                </a:lnTo>
                <a:lnTo>
                  <a:pt x="553784" y="50003"/>
                </a:lnTo>
                <a:lnTo>
                  <a:pt x="553784" y="44170"/>
                </a:lnTo>
                <a:lnTo>
                  <a:pt x="553017" y="33895"/>
                </a:lnTo>
                <a:lnTo>
                  <a:pt x="526098" y="3043"/>
                </a:lnTo>
                <a:lnTo>
                  <a:pt x="516054" y="866"/>
                </a:lnTo>
                <a:lnTo>
                  <a:pt x="504447" y="0"/>
                </a:lnTo>
                <a:close/>
              </a:path>
              <a:path w="569595" h="201295">
                <a:moveTo>
                  <a:pt x="67257" y="0"/>
                </a:moveTo>
                <a:lnTo>
                  <a:pt x="64517" y="0"/>
                </a:lnTo>
                <a:lnTo>
                  <a:pt x="52911" y="866"/>
                </a:lnTo>
                <a:lnTo>
                  <a:pt x="18251" y="24971"/>
                </a:lnTo>
                <a:lnTo>
                  <a:pt x="15180" y="44065"/>
                </a:lnTo>
                <a:lnTo>
                  <a:pt x="15180" y="49898"/>
                </a:lnTo>
                <a:lnTo>
                  <a:pt x="16007" y="56540"/>
                </a:lnTo>
                <a:lnTo>
                  <a:pt x="19310" y="71440"/>
                </a:lnTo>
                <a:lnTo>
                  <a:pt x="20135" y="76429"/>
                </a:lnTo>
                <a:lnTo>
                  <a:pt x="20135" y="83808"/>
                </a:lnTo>
                <a:lnTo>
                  <a:pt x="18467" y="87762"/>
                </a:lnTo>
                <a:lnTo>
                  <a:pt x="11789" y="93877"/>
                </a:lnTo>
                <a:lnTo>
                  <a:pt x="6747" y="95510"/>
                </a:lnTo>
                <a:lnTo>
                  <a:pt x="0" y="95721"/>
                </a:lnTo>
                <a:lnTo>
                  <a:pt x="0" y="104366"/>
                </a:lnTo>
                <a:lnTo>
                  <a:pt x="6747" y="104576"/>
                </a:lnTo>
                <a:lnTo>
                  <a:pt x="11789" y="106210"/>
                </a:lnTo>
                <a:lnTo>
                  <a:pt x="18467" y="112325"/>
                </a:lnTo>
                <a:lnTo>
                  <a:pt x="20135" y="116278"/>
                </a:lnTo>
                <a:lnTo>
                  <a:pt x="20135" y="123657"/>
                </a:lnTo>
                <a:lnTo>
                  <a:pt x="19310" y="128647"/>
                </a:lnTo>
                <a:lnTo>
                  <a:pt x="16007" y="143546"/>
                </a:lnTo>
                <a:lnTo>
                  <a:pt x="15180" y="150188"/>
                </a:lnTo>
                <a:lnTo>
                  <a:pt x="15180" y="156022"/>
                </a:lnTo>
                <a:lnTo>
                  <a:pt x="15948" y="166666"/>
                </a:lnTo>
                <a:lnTo>
                  <a:pt x="42867" y="197992"/>
                </a:lnTo>
                <a:lnTo>
                  <a:pt x="64517" y="201035"/>
                </a:lnTo>
                <a:lnTo>
                  <a:pt x="67257" y="201035"/>
                </a:lnTo>
                <a:lnTo>
                  <a:pt x="67257" y="193023"/>
                </a:lnTo>
                <a:lnTo>
                  <a:pt x="55486" y="193023"/>
                </a:lnTo>
                <a:lnTo>
                  <a:pt x="47509" y="190370"/>
                </a:lnTo>
                <a:lnTo>
                  <a:pt x="33102" y="157919"/>
                </a:lnTo>
                <a:lnTo>
                  <a:pt x="33102" y="152999"/>
                </a:lnTo>
                <a:lnTo>
                  <a:pt x="33804" y="146919"/>
                </a:lnTo>
                <a:lnTo>
                  <a:pt x="36616" y="132443"/>
                </a:lnTo>
                <a:lnTo>
                  <a:pt x="37318" y="127276"/>
                </a:lnTo>
                <a:lnTo>
                  <a:pt x="37318" y="118210"/>
                </a:lnTo>
                <a:lnTo>
                  <a:pt x="35562" y="113309"/>
                </a:lnTo>
                <a:lnTo>
                  <a:pt x="28534" y="105648"/>
                </a:lnTo>
                <a:lnTo>
                  <a:pt x="24352" y="102819"/>
                </a:lnTo>
                <a:lnTo>
                  <a:pt x="19503" y="100992"/>
                </a:lnTo>
                <a:lnTo>
                  <a:pt x="19503" y="99094"/>
                </a:lnTo>
                <a:lnTo>
                  <a:pt x="24352" y="97268"/>
                </a:lnTo>
                <a:lnTo>
                  <a:pt x="28534" y="94438"/>
                </a:lnTo>
                <a:lnTo>
                  <a:pt x="35562" y="86777"/>
                </a:lnTo>
                <a:lnTo>
                  <a:pt x="37318" y="81875"/>
                </a:lnTo>
                <a:lnTo>
                  <a:pt x="37318" y="72810"/>
                </a:lnTo>
                <a:lnTo>
                  <a:pt x="36616" y="67644"/>
                </a:lnTo>
                <a:lnTo>
                  <a:pt x="33804" y="53167"/>
                </a:lnTo>
                <a:lnTo>
                  <a:pt x="33102" y="47087"/>
                </a:lnTo>
                <a:lnTo>
                  <a:pt x="33102" y="42167"/>
                </a:lnTo>
                <a:lnTo>
                  <a:pt x="33642" y="33691"/>
                </a:lnTo>
                <a:lnTo>
                  <a:pt x="55486" y="8012"/>
                </a:lnTo>
                <a:lnTo>
                  <a:pt x="67257" y="8012"/>
                </a:lnTo>
                <a:lnTo>
                  <a:pt x="672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6395940" y="5020055"/>
            <a:ext cx="868044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dirty="0" sz="1700">
                <a:latin typeface="Cambria Math"/>
                <a:cs typeface="Cambria Math"/>
              </a:rPr>
              <a:t>𝒗</a:t>
            </a:r>
            <a:r>
              <a:rPr dirty="0" sz="1700" spc="100">
                <a:latin typeface="Cambria Math"/>
                <a:cs typeface="Cambria Math"/>
              </a:rPr>
              <a:t> </a:t>
            </a:r>
            <a:r>
              <a:rPr dirty="0" sz="1700">
                <a:latin typeface="Cambria Math"/>
                <a:cs typeface="Cambria Math"/>
              </a:rPr>
              <a:t>∈	</a:t>
            </a:r>
            <a:r>
              <a:rPr dirty="0" sz="1700" spc="-5">
                <a:solidFill>
                  <a:srgbClr val="C00000"/>
                </a:solidFill>
                <a:latin typeface="Cambria Math"/>
                <a:cs typeface="Cambria Math"/>
              </a:rPr>
              <a:t>𝑩</a:t>
            </a:r>
            <a:r>
              <a:rPr dirty="0" sz="1700" spc="-5">
                <a:latin typeface="Cambria Math"/>
                <a:cs typeface="Cambria Math"/>
              </a:rPr>
              <a:t>,</a:t>
            </a:r>
            <a:r>
              <a:rPr dirty="0" sz="1700" spc="-185">
                <a:latin typeface="Cambria Math"/>
                <a:cs typeface="Cambria Math"/>
              </a:rPr>
              <a:t> </a:t>
            </a:r>
            <a:r>
              <a:rPr dirty="0" sz="1700">
                <a:solidFill>
                  <a:srgbClr val="FF0066"/>
                </a:solidFill>
                <a:latin typeface="Cambria Math"/>
                <a:cs typeface="Cambria Math"/>
              </a:rPr>
              <a:t>𝑭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091696" y="5085577"/>
            <a:ext cx="805180" cy="200025"/>
          </a:xfrm>
          <a:custGeom>
            <a:avLst/>
            <a:gdLst/>
            <a:ahLst/>
            <a:cxnLst/>
            <a:rect l="l" t="t" r="r" b="b"/>
            <a:pathLst>
              <a:path w="805179" h="200025">
                <a:moveTo>
                  <a:pt x="741050" y="0"/>
                </a:moveTo>
                <a:lnTo>
                  <a:pt x="738204" y="8117"/>
                </a:lnTo>
                <a:lnTo>
                  <a:pt x="749780" y="13141"/>
                </a:lnTo>
                <a:lnTo>
                  <a:pt x="759735" y="20095"/>
                </a:lnTo>
                <a:lnTo>
                  <a:pt x="783639" y="66375"/>
                </a:lnTo>
                <a:lnTo>
                  <a:pt x="786591" y="98988"/>
                </a:lnTo>
                <a:lnTo>
                  <a:pt x="785849" y="116627"/>
                </a:lnTo>
                <a:lnTo>
                  <a:pt x="774731" y="159816"/>
                </a:lnTo>
                <a:lnTo>
                  <a:pt x="738520" y="191863"/>
                </a:lnTo>
                <a:lnTo>
                  <a:pt x="741050" y="199981"/>
                </a:lnTo>
                <a:lnTo>
                  <a:pt x="779258" y="177280"/>
                </a:lnTo>
                <a:lnTo>
                  <a:pt x="800717" y="135372"/>
                </a:lnTo>
                <a:lnTo>
                  <a:pt x="804829" y="100044"/>
                </a:lnTo>
                <a:lnTo>
                  <a:pt x="803798" y="81710"/>
                </a:lnTo>
                <a:lnTo>
                  <a:pt x="788330" y="35051"/>
                </a:lnTo>
                <a:lnTo>
                  <a:pt x="755548" y="5234"/>
                </a:lnTo>
                <a:lnTo>
                  <a:pt x="741050" y="0"/>
                </a:lnTo>
                <a:close/>
              </a:path>
              <a:path w="805179" h="200025">
                <a:moveTo>
                  <a:pt x="63779" y="0"/>
                </a:moveTo>
                <a:lnTo>
                  <a:pt x="25639" y="22760"/>
                </a:lnTo>
                <a:lnTo>
                  <a:pt x="4124" y="64767"/>
                </a:lnTo>
                <a:lnTo>
                  <a:pt x="0" y="100044"/>
                </a:lnTo>
                <a:lnTo>
                  <a:pt x="1027" y="118416"/>
                </a:lnTo>
                <a:lnTo>
                  <a:pt x="16445" y="165035"/>
                </a:lnTo>
                <a:lnTo>
                  <a:pt x="49238" y="194753"/>
                </a:lnTo>
                <a:lnTo>
                  <a:pt x="63779" y="199981"/>
                </a:lnTo>
                <a:lnTo>
                  <a:pt x="66309" y="191863"/>
                </a:lnTo>
                <a:lnTo>
                  <a:pt x="54914" y="186817"/>
                </a:lnTo>
                <a:lnTo>
                  <a:pt x="45080" y="179793"/>
                </a:lnTo>
                <a:lnTo>
                  <a:pt x="24908" y="147041"/>
                </a:lnTo>
                <a:lnTo>
                  <a:pt x="18237" y="98988"/>
                </a:lnTo>
                <a:lnTo>
                  <a:pt x="18978" y="81927"/>
                </a:lnTo>
                <a:lnTo>
                  <a:pt x="30097" y="39796"/>
                </a:lnTo>
                <a:lnTo>
                  <a:pt x="66625" y="8117"/>
                </a:lnTo>
                <a:lnTo>
                  <a:pt x="63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453596" y="5020055"/>
            <a:ext cx="15303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dirty="0" sz="1700" b="1">
                <a:latin typeface="Calibri"/>
                <a:cs typeface="Calibri"/>
              </a:rPr>
              <a:t>, </a:t>
            </a:r>
            <a:r>
              <a:rPr dirty="0" sz="1700" spc="-5" b="1">
                <a:latin typeface="Calibri"/>
                <a:cs typeface="Calibri"/>
              </a:rPr>
              <a:t>since	</a:t>
            </a:r>
            <a:r>
              <a:rPr dirty="0" sz="17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700" spc="-5">
                <a:latin typeface="Cambria Math"/>
                <a:cs typeface="Cambria Math"/>
              </a:rPr>
              <a:t>, </a:t>
            </a:r>
            <a:r>
              <a:rPr dirty="0" sz="17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6203" sz="18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700" spc="10">
                <a:latin typeface="Cambria Math"/>
                <a:cs typeface="Cambria Math"/>
              </a:rPr>
              <a:t>, </a:t>
            </a:r>
            <a:r>
              <a:rPr dirty="0" sz="1700">
                <a:solidFill>
                  <a:srgbClr val="785700"/>
                </a:solidFill>
                <a:latin typeface="Cambria Math"/>
                <a:cs typeface="Cambria Math"/>
              </a:rPr>
              <a:t>𝑨</a:t>
            </a:r>
            <a:r>
              <a:rPr dirty="0" sz="1700" spc="50">
                <a:solidFill>
                  <a:srgbClr val="785700"/>
                </a:solidFill>
                <a:latin typeface="Cambria Math"/>
                <a:cs typeface="Cambria Math"/>
              </a:rPr>
              <a:t> </a:t>
            </a:r>
            <a:r>
              <a:rPr dirty="0" sz="1700" b="1">
                <a:latin typeface="Calibri"/>
                <a:cs typeface="Calibri"/>
              </a:rPr>
              <a:t>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433214" y="5352277"/>
            <a:ext cx="796925" cy="200025"/>
          </a:xfrm>
          <a:custGeom>
            <a:avLst/>
            <a:gdLst/>
            <a:ahLst/>
            <a:cxnLst/>
            <a:rect l="l" t="t" r="r" b="b"/>
            <a:pathLst>
              <a:path w="796925" h="200025">
                <a:moveTo>
                  <a:pt x="733112" y="0"/>
                </a:moveTo>
                <a:lnTo>
                  <a:pt x="730266" y="8117"/>
                </a:lnTo>
                <a:lnTo>
                  <a:pt x="741843" y="13141"/>
                </a:lnTo>
                <a:lnTo>
                  <a:pt x="751798" y="20095"/>
                </a:lnTo>
                <a:lnTo>
                  <a:pt x="775702" y="66375"/>
                </a:lnTo>
                <a:lnTo>
                  <a:pt x="778654" y="98988"/>
                </a:lnTo>
                <a:lnTo>
                  <a:pt x="777913" y="116627"/>
                </a:lnTo>
                <a:lnTo>
                  <a:pt x="766794" y="159816"/>
                </a:lnTo>
                <a:lnTo>
                  <a:pt x="730582" y="191863"/>
                </a:lnTo>
                <a:lnTo>
                  <a:pt x="733112" y="199981"/>
                </a:lnTo>
                <a:lnTo>
                  <a:pt x="771321" y="177280"/>
                </a:lnTo>
                <a:lnTo>
                  <a:pt x="792780" y="135372"/>
                </a:lnTo>
                <a:lnTo>
                  <a:pt x="796891" y="100042"/>
                </a:lnTo>
                <a:lnTo>
                  <a:pt x="795860" y="81709"/>
                </a:lnTo>
                <a:lnTo>
                  <a:pt x="780393" y="35051"/>
                </a:lnTo>
                <a:lnTo>
                  <a:pt x="747611" y="5234"/>
                </a:lnTo>
                <a:lnTo>
                  <a:pt x="733112" y="0"/>
                </a:lnTo>
                <a:close/>
              </a:path>
              <a:path w="796925" h="200025">
                <a:moveTo>
                  <a:pt x="63779" y="0"/>
                </a:moveTo>
                <a:lnTo>
                  <a:pt x="25640" y="22760"/>
                </a:lnTo>
                <a:lnTo>
                  <a:pt x="4124" y="64767"/>
                </a:lnTo>
                <a:lnTo>
                  <a:pt x="0" y="100042"/>
                </a:lnTo>
                <a:lnTo>
                  <a:pt x="1027" y="118416"/>
                </a:lnTo>
                <a:lnTo>
                  <a:pt x="16446" y="165035"/>
                </a:lnTo>
                <a:lnTo>
                  <a:pt x="49238" y="194753"/>
                </a:lnTo>
                <a:lnTo>
                  <a:pt x="63779" y="199981"/>
                </a:lnTo>
                <a:lnTo>
                  <a:pt x="66309" y="191863"/>
                </a:lnTo>
                <a:lnTo>
                  <a:pt x="54914" y="186817"/>
                </a:lnTo>
                <a:lnTo>
                  <a:pt x="45080" y="179793"/>
                </a:lnTo>
                <a:lnTo>
                  <a:pt x="24909" y="147041"/>
                </a:lnTo>
                <a:lnTo>
                  <a:pt x="18238" y="98988"/>
                </a:lnTo>
                <a:lnTo>
                  <a:pt x="18979" y="81927"/>
                </a:lnTo>
                <a:lnTo>
                  <a:pt x="30097" y="39796"/>
                </a:lnTo>
                <a:lnTo>
                  <a:pt x="66625" y="8117"/>
                </a:lnTo>
                <a:lnTo>
                  <a:pt x="63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491137" y="5285232"/>
            <a:ext cx="63747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7085" algn="l"/>
              </a:tabLst>
            </a:pPr>
            <a:r>
              <a:rPr dirty="0" sz="17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700" spc="-5">
                <a:latin typeface="Cambria Math"/>
                <a:cs typeface="Cambria Math"/>
              </a:rPr>
              <a:t>,</a:t>
            </a:r>
            <a:r>
              <a:rPr dirty="0" sz="1700" spc="-90">
                <a:latin typeface="Cambria Math"/>
                <a:cs typeface="Cambria Math"/>
              </a:rPr>
              <a:t> </a:t>
            </a:r>
            <a:r>
              <a:rPr dirty="0" sz="17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6203" sz="18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700" spc="10">
                <a:latin typeface="Cambria Math"/>
                <a:cs typeface="Cambria Math"/>
              </a:rPr>
              <a:t>,</a:t>
            </a:r>
            <a:r>
              <a:rPr dirty="0" sz="1700" spc="-90">
                <a:latin typeface="Cambria Math"/>
                <a:cs typeface="Cambria Math"/>
              </a:rPr>
              <a:t> </a:t>
            </a:r>
            <a:r>
              <a:rPr dirty="0" sz="1700">
                <a:solidFill>
                  <a:srgbClr val="2F6231"/>
                </a:solidFill>
                <a:latin typeface="Cambria Math"/>
                <a:cs typeface="Cambria Math"/>
              </a:rPr>
              <a:t>𝑪	</a:t>
            </a:r>
            <a:r>
              <a:rPr dirty="0" sz="1700" spc="-5" b="1">
                <a:latin typeface="Calibri"/>
                <a:cs typeface="Calibri"/>
              </a:rPr>
              <a:t>belong </a:t>
            </a:r>
            <a:r>
              <a:rPr dirty="0" sz="1700" spc="-10" b="1">
                <a:latin typeface="Calibri"/>
                <a:cs typeface="Calibri"/>
              </a:rPr>
              <a:t>to </a:t>
            </a:r>
            <a:r>
              <a:rPr dirty="0" sz="1700" spc="-1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1700" spc="-10" b="1">
                <a:solidFill>
                  <a:srgbClr val="C00000"/>
                </a:solidFill>
                <a:latin typeface="Calibri"/>
                <a:cs typeface="Calibri"/>
              </a:rPr>
              <a:t>message edges </a:t>
            </a:r>
            <a:r>
              <a:rPr dirty="0" sz="1700" b="1">
                <a:solidFill>
                  <a:srgbClr val="C00000"/>
                </a:solidFill>
                <a:latin typeface="Calibri"/>
                <a:cs typeface="Calibri"/>
              </a:rPr>
              <a:t>&amp; </a:t>
            </a:r>
            <a:r>
              <a:rPr dirty="0" sz="1700" spc="-15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700" spc="-5" b="1">
                <a:solidFill>
                  <a:srgbClr val="E88651"/>
                </a:solidFill>
                <a:latin typeface="Calibri"/>
                <a:cs typeface="Calibri"/>
              </a:rPr>
              <a:t>supervision</a:t>
            </a:r>
            <a:r>
              <a:rPr dirty="0" sz="1700" spc="55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E88651"/>
                </a:solidFill>
                <a:latin typeface="Calibri"/>
                <a:cs typeface="Calibri"/>
              </a:rPr>
              <a:t>edges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703592" y="5606277"/>
            <a:ext cx="824230" cy="200025"/>
          </a:xfrm>
          <a:custGeom>
            <a:avLst/>
            <a:gdLst/>
            <a:ahLst/>
            <a:cxnLst/>
            <a:rect l="l" t="t" r="r" b="b"/>
            <a:pathLst>
              <a:path w="824229" h="200025">
                <a:moveTo>
                  <a:pt x="760100" y="0"/>
                </a:moveTo>
                <a:lnTo>
                  <a:pt x="757254" y="8117"/>
                </a:lnTo>
                <a:lnTo>
                  <a:pt x="768830" y="13141"/>
                </a:lnTo>
                <a:lnTo>
                  <a:pt x="778786" y="20095"/>
                </a:lnTo>
                <a:lnTo>
                  <a:pt x="802690" y="66374"/>
                </a:lnTo>
                <a:lnTo>
                  <a:pt x="805642" y="98989"/>
                </a:lnTo>
                <a:lnTo>
                  <a:pt x="804900" y="116627"/>
                </a:lnTo>
                <a:lnTo>
                  <a:pt x="793781" y="159816"/>
                </a:lnTo>
                <a:lnTo>
                  <a:pt x="757570" y="191864"/>
                </a:lnTo>
                <a:lnTo>
                  <a:pt x="760100" y="199981"/>
                </a:lnTo>
                <a:lnTo>
                  <a:pt x="798308" y="177280"/>
                </a:lnTo>
                <a:lnTo>
                  <a:pt x="819767" y="135372"/>
                </a:lnTo>
                <a:lnTo>
                  <a:pt x="823879" y="100043"/>
                </a:lnTo>
                <a:lnTo>
                  <a:pt x="822848" y="81710"/>
                </a:lnTo>
                <a:lnTo>
                  <a:pt x="807380" y="35052"/>
                </a:lnTo>
                <a:lnTo>
                  <a:pt x="774598" y="5234"/>
                </a:lnTo>
                <a:lnTo>
                  <a:pt x="760100" y="0"/>
                </a:lnTo>
                <a:close/>
              </a:path>
              <a:path w="824229" h="200025">
                <a:moveTo>
                  <a:pt x="63779" y="0"/>
                </a:moveTo>
                <a:lnTo>
                  <a:pt x="25640" y="22760"/>
                </a:lnTo>
                <a:lnTo>
                  <a:pt x="4124" y="64767"/>
                </a:lnTo>
                <a:lnTo>
                  <a:pt x="0" y="100043"/>
                </a:lnTo>
                <a:lnTo>
                  <a:pt x="1027" y="118416"/>
                </a:lnTo>
                <a:lnTo>
                  <a:pt x="16445" y="165034"/>
                </a:lnTo>
                <a:lnTo>
                  <a:pt x="49238" y="194753"/>
                </a:lnTo>
                <a:lnTo>
                  <a:pt x="63779" y="199981"/>
                </a:lnTo>
                <a:lnTo>
                  <a:pt x="66309" y="191864"/>
                </a:lnTo>
                <a:lnTo>
                  <a:pt x="54914" y="186817"/>
                </a:lnTo>
                <a:lnTo>
                  <a:pt x="45080" y="179793"/>
                </a:lnTo>
                <a:lnTo>
                  <a:pt x="24908" y="147040"/>
                </a:lnTo>
                <a:lnTo>
                  <a:pt x="18237" y="98989"/>
                </a:lnTo>
                <a:lnTo>
                  <a:pt x="18978" y="81927"/>
                </a:lnTo>
                <a:lnTo>
                  <a:pt x="30097" y="39795"/>
                </a:lnTo>
                <a:lnTo>
                  <a:pt x="66625" y="8117"/>
                </a:lnTo>
                <a:lnTo>
                  <a:pt x="63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41462" y="6323329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017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79729" y="6134100"/>
            <a:ext cx="0" cy="185420"/>
          </a:xfrm>
          <a:custGeom>
            <a:avLst/>
            <a:gdLst/>
            <a:ahLst/>
            <a:cxnLst/>
            <a:rect l="l" t="t" r="r" b="b"/>
            <a:pathLst>
              <a:path w="0" h="185420">
                <a:moveTo>
                  <a:pt x="0" y="0"/>
                </a:moveTo>
                <a:lnTo>
                  <a:pt x="0" y="185419"/>
                </a:lnTo>
              </a:path>
            </a:pathLst>
          </a:custGeom>
          <a:ln w="175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41462" y="613029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017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55912" y="6323329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016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864662" y="6134100"/>
            <a:ext cx="0" cy="185420"/>
          </a:xfrm>
          <a:custGeom>
            <a:avLst/>
            <a:gdLst/>
            <a:ahLst/>
            <a:cxnLst/>
            <a:rect l="l" t="t" r="r" b="b"/>
            <a:pathLst>
              <a:path w="0" h="185420">
                <a:moveTo>
                  <a:pt x="0" y="0"/>
                </a:moveTo>
                <a:lnTo>
                  <a:pt x="0" y="185419"/>
                </a:lnTo>
              </a:path>
            </a:pathLst>
          </a:custGeom>
          <a:ln w="17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855912" y="6130290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 h="0">
                <a:moveTo>
                  <a:pt x="0" y="0"/>
                </a:moveTo>
                <a:lnTo>
                  <a:pt x="47016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395438" y="654893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944338" y="5538215"/>
            <a:ext cx="4253230" cy="9855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700" spc="-10" b="1">
                <a:latin typeface="Calibri"/>
                <a:cs typeface="Calibri"/>
              </a:rPr>
              <a:t>Obtain </a:t>
            </a:r>
            <a:r>
              <a:rPr dirty="0" sz="1700" spc="-5" b="1">
                <a:latin typeface="Calibri"/>
                <a:cs typeface="Calibri"/>
              </a:rPr>
              <a:t>the </a:t>
            </a:r>
            <a:r>
              <a:rPr dirty="0" sz="1700" spc="-15" b="1">
                <a:latin typeface="Calibri"/>
                <a:cs typeface="Calibri"/>
              </a:rPr>
              <a:t>ranking </a:t>
            </a:r>
            <a:r>
              <a:rPr dirty="0" sz="1700">
                <a:latin typeface="Cambria Math"/>
                <a:cs typeface="Cambria Math"/>
              </a:rPr>
              <a:t>𝑹𝑲 </a:t>
            </a:r>
            <a:r>
              <a:rPr dirty="0" sz="1700" spc="-5" b="1">
                <a:latin typeface="Calibri"/>
                <a:cs typeface="Calibri"/>
              </a:rPr>
              <a:t>of  </a:t>
            </a:r>
            <a:r>
              <a:rPr dirty="0" sz="1700" spc="-5">
                <a:solidFill>
                  <a:srgbClr val="7030A0"/>
                </a:solidFill>
                <a:latin typeface="Cambria Math"/>
                <a:cs typeface="Cambria Math"/>
              </a:rPr>
              <a:t>𝑬</a:t>
            </a:r>
            <a:r>
              <a:rPr dirty="0" sz="1700" spc="-5">
                <a:latin typeface="Cambria Math"/>
                <a:cs typeface="Cambria Math"/>
              </a:rPr>
              <a:t>, </a:t>
            </a:r>
            <a:r>
              <a:rPr dirty="0" sz="1700" spc="10">
                <a:solidFill>
                  <a:srgbClr val="F0AD00"/>
                </a:solidFill>
                <a:latin typeface="Cambria Math"/>
                <a:cs typeface="Cambria Math"/>
              </a:rPr>
              <a:t>𝒓</a:t>
            </a:r>
            <a:r>
              <a:rPr dirty="0" baseline="-16203" sz="1800" spc="15">
                <a:solidFill>
                  <a:srgbClr val="F0AD00"/>
                </a:solidFill>
                <a:latin typeface="Cambria Math"/>
                <a:cs typeface="Cambria Math"/>
              </a:rPr>
              <a:t>𝟑</a:t>
            </a:r>
            <a:r>
              <a:rPr dirty="0" sz="1700" spc="10">
                <a:latin typeface="Cambria Math"/>
                <a:cs typeface="Cambria Math"/>
              </a:rPr>
              <a:t>, </a:t>
            </a:r>
            <a:r>
              <a:rPr dirty="0" sz="1700">
                <a:solidFill>
                  <a:srgbClr val="0070C0"/>
                </a:solidFill>
                <a:latin typeface="Cambria Math"/>
                <a:cs typeface="Cambria Math"/>
              </a:rPr>
              <a:t>𝑫</a:t>
            </a:r>
            <a:r>
              <a:rPr dirty="0" sz="1700" spc="90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1700" b="1"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  <a:p>
            <a:pPr marL="469900" indent="-457200">
              <a:lnSpc>
                <a:spcPts val="2014"/>
              </a:lnSpc>
              <a:spcBef>
                <a:spcPts val="70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700" spc="-10" b="1">
                <a:latin typeface="Calibri"/>
                <a:cs typeface="Calibri"/>
              </a:rPr>
              <a:t>Calculate</a:t>
            </a:r>
            <a:r>
              <a:rPr dirty="0" sz="1700" spc="-6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metrics</a:t>
            </a:r>
            <a:endParaRPr sz="1700">
              <a:latin typeface="Calibri"/>
              <a:cs typeface="Calibri"/>
            </a:endParaRPr>
          </a:p>
          <a:p>
            <a:pPr lvl="1" marL="927100" indent="-457200">
              <a:lnSpc>
                <a:spcPts val="2000"/>
              </a:lnSpc>
              <a:buAutoNum type="arabicPeriod"/>
              <a:tabLst>
                <a:tab pos="926465" algn="l"/>
                <a:tab pos="927100" algn="l"/>
              </a:tabLst>
            </a:pPr>
            <a:r>
              <a:rPr dirty="0" sz="1700" spc="-5" b="1">
                <a:latin typeface="Calibri"/>
                <a:cs typeface="Calibri"/>
              </a:rPr>
              <a:t>Hits@</a:t>
            </a:r>
            <a:r>
              <a:rPr dirty="0" sz="1700" spc="-5">
                <a:latin typeface="Cambria Math"/>
                <a:cs typeface="Cambria Math"/>
              </a:rPr>
              <a:t>𝒌</a:t>
            </a:r>
            <a:r>
              <a:rPr dirty="0" sz="1700" spc="-5" b="1">
                <a:latin typeface="Calibri"/>
                <a:cs typeface="Calibri"/>
              </a:rPr>
              <a:t>: </a:t>
            </a:r>
            <a:r>
              <a:rPr dirty="0" sz="1700">
                <a:latin typeface="Cambria Math"/>
                <a:cs typeface="Cambria Math"/>
              </a:rPr>
              <a:t>𝟏   𝑹𝑲 ≤ 𝒌  . </a:t>
            </a:r>
            <a:r>
              <a:rPr dirty="0" sz="1700" spc="-10" b="1">
                <a:latin typeface="Calibri"/>
                <a:cs typeface="Calibri"/>
              </a:rPr>
              <a:t>Higher </a:t>
            </a:r>
            <a:r>
              <a:rPr dirty="0" sz="1700" spc="-5" b="1">
                <a:latin typeface="Calibri"/>
                <a:cs typeface="Calibri"/>
              </a:rPr>
              <a:t>is</a:t>
            </a:r>
            <a:r>
              <a:rPr dirty="0" sz="1700" spc="-175" b="1">
                <a:latin typeface="Calibri"/>
                <a:cs typeface="Calibri"/>
              </a:rPr>
              <a:t> </a:t>
            </a:r>
            <a:r>
              <a:rPr dirty="0" sz="1700" spc="-15" b="1">
                <a:latin typeface="Calibri"/>
                <a:cs typeface="Calibri"/>
              </a:rPr>
              <a:t>better</a:t>
            </a:r>
            <a:endParaRPr sz="1700">
              <a:latin typeface="Calibri"/>
              <a:cs typeface="Calibri"/>
            </a:endParaRPr>
          </a:p>
          <a:p>
            <a:pPr algn="ctr" marL="888365">
              <a:lnSpc>
                <a:spcPts val="1425"/>
              </a:lnSpc>
            </a:pPr>
            <a:r>
              <a:rPr dirty="0" sz="1200">
                <a:latin typeface="Cambria Math"/>
                <a:cs typeface="Cambria Math"/>
              </a:rPr>
              <a:t>𝟏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60" name="object 60"/>
          <p:cNvSpPr txBox="1"/>
          <p:nvPr/>
        </p:nvSpPr>
        <p:spPr>
          <a:xfrm>
            <a:off x="3388326" y="6549643"/>
            <a:ext cx="2552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latin typeface="Cambria Math"/>
                <a:cs typeface="Cambria Math"/>
              </a:rPr>
              <a:t>𝑹𝑲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401538" y="6376415"/>
            <a:ext cx="37503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2265045" algn="l"/>
              </a:tabLst>
            </a:pPr>
            <a:r>
              <a:rPr dirty="0" sz="1700" b="1">
                <a:latin typeface="Calibri"/>
                <a:cs typeface="Calibri"/>
              </a:rPr>
              <a:t>2.	</a:t>
            </a:r>
            <a:r>
              <a:rPr dirty="0" sz="1700" spc="-10" b="1">
                <a:latin typeface="Calibri"/>
                <a:cs typeface="Calibri"/>
              </a:rPr>
              <a:t>Reciprocal</a:t>
            </a:r>
            <a:r>
              <a:rPr dirty="0" sz="1700" b="1">
                <a:latin typeface="Calibri"/>
                <a:cs typeface="Calibri"/>
              </a:rPr>
              <a:t> </a:t>
            </a:r>
            <a:r>
              <a:rPr dirty="0" sz="1700" spc="-5" b="1">
                <a:latin typeface="Calibri"/>
                <a:cs typeface="Calibri"/>
              </a:rPr>
              <a:t>Rank:	</a:t>
            </a:r>
            <a:r>
              <a:rPr dirty="0" sz="1700">
                <a:latin typeface="Cambria Math"/>
                <a:cs typeface="Cambria Math"/>
              </a:rPr>
              <a:t>. </a:t>
            </a:r>
            <a:r>
              <a:rPr dirty="0" sz="1700" spc="-10" b="1">
                <a:latin typeface="Calibri"/>
                <a:cs typeface="Calibri"/>
              </a:rPr>
              <a:t>Higher </a:t>
            </a:r>
            <a:r>
              <a:rPr dirty="0" sz="1700" spc="-5" b="1">
                <a:latin typeface="Calibri"/>
                <a:cs typeface="Calibri"/>
              </a:rPr>
              <a:t>is</a:t>
            </a:r>
            <a:r>
              <a:rPr dirty="0" sz="1700" spc="-55" b="1">
                <a:latin typeface="Calibri"/>
                <a:cs typeface="Calibri"/>
              </a:rPr>
              <a:t> </a:t>
            </a:r>
            <a:r>
              <a:rPr dirty="0" sz="1700" spc="-15" b="1">
                <a:latin typeface="Calibri"/>
                <a:cs typeface="Calibri"/>
              </a:rPr>
              <a:t>better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457200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63396"/>
            <a:ext cx="7489190" cy="3930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B050"/>
                </a:solidFill>
                <a:latin typeface="Calibri"/>
                <a:cs typeface="Calibri"/>
              </a:rPr>
              <a:t>Relational </a:t>
            </a:r>
            <a:r>
              <a:rPr dirty="0" sz="3200" b="1">
                <a:solidFill>
                  <a:srgbClr val="00B050"/>
                </a:solidFill>
                <a:latin typeface="Calibri"/>
                <a:cs typeface="Calibri"/>
              </a:rPr>
              <a:t>GCN</a:t>
            </a:r>
            <a:r>
              <a:rPr dirty="0" sz="3200">
                <a:latin typeface="Calibri"/>
                <a:cs typeface="Calibri"/>
              </a:rPr>
              <a:t>, a </a:t>
            </a:r>
            <a:r>
              <a:rPr dirty="0" sz="3200" spc="-15">
                <a:latin typeface="Calibri"/>
                <a:cs typeface="Calibri"/>
              </a:rPr>
              <a:t>graph neural network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for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15" b="1">
                <a:latin typeface="Calibri"/>
                <a:cs typeface="Calibri"/>
              </a:rPr>
              <a:t>heterogeneous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50">
              <a:latin typeface="Times New Roman"/>
              <a:cs typeface="Times New Roman"/>
            </a:endParaRPr>
          </a:p>
          <a:p>
            <a:pPr marL="332740" marR="163830" indent="-320040">
              <a:lnSpc>
                <a:spcPct val="1018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perform </a:t>
            </a:r>
            <a:r>
              <a:rPr dirty="0" sz="3200" spc="-5">
                <a:latin typeface="Calibri"/>
                <a:cs typeface="Calibri"/>
              </a:rPr>
              <a:t>entity </a:t>
            </a:r>
            <a:r>
              <a:rPr dirty="0" sz="3200" spc="-10">
                <a:latin typeface="Calibri"/>
                <a:cs typeface="Calibri"/>
              </a:rPr>
              <a:t>classification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10">
                <a:latin typeface="Calibri"/>
                <a:cs typeface="Calibri"/>
              </a:rPr>
              <a:t>well </a:t>
            </a:r>
            <a:r>
              <a:rPr dirty="0" sz="3200">
                <a:latin typeface="Calibri"/>
                <a:cs typeface="Calibri"/>
              </a:rPr>
              <a:t>as  link </a:t>
            </a:r>
            <a:r>
              <a:rPr dirty="0" sz="3200" spc="-10">
                <a:latin typeface="Calibri"/>
                <a:cs typeface="Calibri"/>
              </a:rPr>
              <a:t>prediction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tasks.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D00"/>
              </a:buClr>
              <a:buFont typeface="Arial"/>
              <a:buChar char="▪"/>
            </a:pPr>
            <a:endParaRPr sz="3150">
              <a:latin typeface="Times New Roman"/>
              <a:cs typeface="Times New Roman"/>
            </a:endParaRPr>
          </a:p>
          <a:p>
            <a:pPr marL="332740" marR="601980" indent="-320040">
              <a:lnSpc>
                <a:spcPct val="101899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Ideas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easily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15">
                <a:latin typeface="Calibri"/>
                <a:cs typeface="Calibri"/>
              </a:rPr>
              <a:t>extended into </a:t>
            </a:r>
            <a:r>
              <a:rPr dirty="0" sz="3200" spc="-10">
                <a:latin typeface="Calibri"/>
                <a:cs typeface="Calibri"/>
              </a:rPr>
              <a:t>RGNN  </a:t>
            </a:r>
            <a:r>
              <a:rPr dirty="0" sz="3200" spc="-15">
                <a:latin typeface="Calibri"/>
                <a:cs typeface="Calibri"/>
              </a:rPr>
              <a:t>(RGraphSAGE, </a:t>
            </a:r>
            <a:r>
              <a:rPr dirty="0" sz="3200" spc="-125">
                <a:latin typeface="Calibri"/>
                <a:cs typeface="Calibri"/>
              </a:rPr>
              <a:t>RGAT,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etc.)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4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8327" y="2831592"/>
            <a:ext cx="8610600" cy="2051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76376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821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>
                <a:solidFill>
                  <a:srgbClr val="000000"/>
                </a:solidFill>
              </a:rPr>
              <a:t>Knowledge </a:t>
            </a:r>
            <a:r>
              <a:rPr dirty="0">
                <a:solidFill>
                  <a:srgbClr val="000000"/>
                </a:solidFill>
              </a:rPr>
              <a:t>in </a:t>
            </a:r>
            <a:r>
              <a:rPr dirty="0" spc="-20">
                <a:solidFill>
                  <a:srgbClr val="000000"/>
                </a:solidFill>
              </a:rPr>
              <a:t>graph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5">
                <a:solidFill>
                  <a:srgbClr val="000000"/>
                </a:solidFill>
              </a:rPr>
              <a:t>form: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6540500" cy="434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Capture entities, </a:t>
            </a:r>
            <a:r>
              <a:rPr dirty="0" sz="2800" spc="-5">
                <a:latin typeface="Calibri"/>
                <a:cs typeface="Calibri"/>
              </a:rPr>
              <a:t>types, and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relationships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815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 spc="-20">
                <a:latin typeface="Calibri"/>
                <a:cs typeface="Calibri"/>
              </a:rPr>
              <a:t>are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entities</a:t>
            </a:r>
            <a:endParaRPr sz="3200">
              <a:latin typeface="Calibri"/>
              <a:cs typeface="Calibri"/>
            </a:endParaRPr>
          </a:p>
          <a:p>
            <a:pPr marL="12700" marR="2388870">
              <a:lnSpc>
                <a:spcPts val="382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Nodes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5">
                <a:latin typeface="Calibri"/>
                <a:cs typeface="Calibri"/>
              </a:rPr>
              <a:t>labeled with  their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types</a:t>
            </a:r>
            <a:endParaRPr sz="3200">
              <a:latin typeface="Calibri"/>
              <a:cs typeface="Calibri"/>
            </a:endParaRPr>
          </a:p>
          <a:p>
            <a:pPr marL="12700" marR="1870075">
              <a:lnSpc>
                <a:spcPts val="3820"/>
              </a:lnSpc>
              <a:spcBef>
                <a:spcPts val="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Edges </a:t>
            </a:r>
            <a:r>
              <a:rPr dirty="0" sz="3200" spc="-10">
                <a:latin typeface="Calibri"/>
                <a:cs typeface="Calibri"/>
              </a:rPr>
              <a:t>between two </a:t>
            </a:r>
            <a:r>
              <a:rPr dirty="0" sz="3200" spc="-5">
                <a:latin typeface="Calibri"/>
                <a:cs typeface="Calibri"/>
              </a:rPr>
              <a:t>nodes  </a:t>
            </a:r>
            <a:r>
              <a:rPr dirty="0" sz="3200" spc="-15">
                <a:latin typeface="Calibri"/>
                <a:cs typeface="Calibri"/>
              </a:rPr>
              <a:t>capture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relationships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740"/>
              </a:lnSpc>
            </a:pPr>
            <a:r>
              <a:rPr dirty="0" sz="3200" spc="-10">
                <a:latin typeface="Calibri"/>
                <a:cs typeface="Calibri"/>
              </a:rPr>
              <a:t>between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entities</a:t>
            </a:r>
            <a:endParaRPr sz="3200">
              <a:latin typeface="Calibri"/>
              <a:cs typeface="Calibri"/>
            </a:endParaRPr>
          </a:p>
          <a:p>
            <a:pPr marL="12700" marR="2613660">
              <a:lnSpc>
                <a:spcPts val="3820"/>
              </a:lnSpc>
              <a:spcBef>
                <a:spcPts val="1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5" b="1">
                <a:latin typeface="Calibri"/>
                <a:cs typeface="Calibri"/>
              </a:rPr>
              <a:t>KG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5" b="1">
                <a:latin typeface="Calibri"/>
                <a:cs typeface="Calibri"/>
              </a:rPr>
              <a:t>an </a:t>
            </a:r>
            <a:r>
              <a:rPr dirty="0" sz="3200" spc="-20" b="1">
                <a:latin typeface="Calibri"/>
                <a:cs typeface="Calibri"/>
              </a:rPr>
              <a:t>example </a:t>
            </a:r>
            <a:r>
              <a:rPr dirty="0" sz="3200" b="1">
                <a:latin typeface="Calibri"/>
                <a:cs typeface="Calibri"/>
              </a:rPr>
              <a:t>of a  </a:t>
            </a:r>
            <a:r>
              <a:rPr dirty="0" sz="3200" spc="-15" b="1">
                <a:latin typeface="Calibri"/>
                <a:cs typeface="Calibri"/>
              </a:rPr>
              <a:t>heterogeneous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97749" y="2438400"/>
            <a:ext cx="3466387" cy="3746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81686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813675" cy="19735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15938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Node types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50">
                <a:latin typeface="Calibri"/>
                <a:cs typeface="Calibri"/>
              </a:rPr>
              <a:t>paper, </a:t>
            </a:r>
            <a:r>
              <a:rPr dirty="0" sz="3200" spc="-5">
                <a:latin typeface="Calibri"/>
                <a:cs typeface="Calibri"/>
              </a:rPr>
              <a:t>title, </a:t>
            </a:r>
            <a:r>
              <a:rPr dirty="0" sz="3200" spc="-45">
                <a:latin typeface="Calibri"/>
                <a:cs typeface="Calibri"/>
              </a:rPr>
              <a:t>author, </a:t>
            </a:r>
            <a:r>
              <a:rPr dirty="0" sz="3200" spc="-20">
                <a:latin typeface="Calibri"/>
                <a:cs typeface="Calibri"/>
              </a:rPr>
              <a:t>conference,  </a:t>
            </a:r>
            <a:r>
              <a:rPr dirty="0" sz="3200" spc="-15">
                <a:latin typeface="Calibri"/>
                <a:cs typeface="Calibri"/>
              </a:rPr>
              <a:t>year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Relation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types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10">
                <a:latin typeface="Calibri"/>
                <a:cs typeface="Calibri"/>
              </a:rPr>
              <a:t>pubWhere, </a:t>
            </a:r>
            <a:r>
              <a:rPr dirty="0" sz="3200" spc="-65">
                <a:latin typeface="Calibri"/>
                <a:cs typeface="Calibri"/>
              </a:rPr>
              <a:t>pubYear, </a:t>
            </a:r>
            <a:r>
              <a:rPr dirty="0" sz="3200" spc="-5">
                <a:latin typeface="Calibri"/>
                <a:cs typeface="Calibri"/>
              </a:rPr>
              <a:t>hasTitle,  </a:t>
            </a:r>
            <a:r>
              <a:rPr dirty="0" sz="3200" spc="-30">
                <a:latin typeface="Calibri"/>
                <a:cs typeface="Calibri"/>
              </a:rPr>
              <a:t>hasAuthor,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cite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97496" y="3429000"/>
            <a:ext cx="5349006" cy="26566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9552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7109" y="1348740"/>
            <a:ext cx="8093075" cy="19735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84518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Node types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0">
                <a:latin typeface="Calibri"/>
                <a:cs typeface="Calibri"/>
              </a:rPr>
              <a:t>drug, </a:t>
            </a:r>
            <a:r>
              <a:rPr dirty="0" sz="3200" spc="-5">
                <a:latin typeface="Calibri"/>
                <a:cs typeface="Calibri"/>
              </a:rPr>
              <a:t>disease, </a:t>
            </a:r>
            <a:r>
              <a:rPr dirty="0" sz="3200" spc="-15">
                <a:latin typeface="Calibri"/>
                <a:cs typeface="Calibri"/>
              </a:rPr>
              <a:t>adverse event,  protein,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pathways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Relation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types</a:t>
            </a:r>
            <a:r>
              <a:rPr dirty="0" sz="3200" spc="-5">
                <a:latin typeface="Calibri"/>
                <a:cs typeface="Calibri"/>
              </a:rPr>
              <a:t>: has_func, </a:t>
            </a:r>
            <a:r>
              <a:rPr dirty="0" sz="3200" spc="-10">
                <a:latin typeface="Calibri"/>
                <a:cs typeface="Calibri"/>
              </a:rPr>
              <a:t>causes, </a:t>
            </a:r>
            <a:r>
              <a:rPr dirty="0" sz="3200" spc="-5">
                <a:latin typeface="Calibri"/>
                <a:cs typeface="Calibri"/>
              </a:rPr>
              <a:t>assoc, </a:t>
            </a:r>
            <a:r>
              <a:rPr dirty="0" sz="3200" spc="-15">
                <a:latin typeface="Calibri"/>
                <a:cs typeface="Calibri"/>
              </a:rPr>
              <a:t>treats,  </a:t>
            </a:r>
            <a:r>
              <a:rPr dirty="0" sz="3200" spc="-5">
                <a:latin typeface="Calibri"/>
                <a:cs typeface="Calibri"/>
              </a:rPr>
              <a:t>is_a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765" y="3429000"/>
            <a:ext cx="6350409" cy="2887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2694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5218430" cy="441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0" b="1">
                <a:latin typeface="Calibri"/>
                <a:cs typeface="Calibri"/>
              </a:rPr>
              <a:t>Examples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10" b="1">
                <a:latin typeface="Calibri"/>
                <a:cs typeface="Calibri"/>
              </a:rPr>
              <a:t>knowledge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Google </a:t>
            </a:r>
            <a:r>
              <a:rPr dirty="0" sz="3200" spc="-15">
                <a:latin typeface="Calibri"/>
                <a:cs typeface="Calibri"/>
              </a:rPr>
              <a:t>Knowledge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Amazon Product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Facebook Graph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API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IBM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Watson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Microsoft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Satori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Project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Hanover/Literome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LinkedIn </a:t>
            </a:r>
            <a:r>
              <a:rPr dirty="0" sz="3200" spc="-15">
                <a:latin typeface="Calibri"/>
                <a:cs typeface="Calibri"/>
              </a:rPr>
              <a:t>Knowledge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>
                <a:latin typeface="Calibri"/>
                <a:cs typeface="Calibri"/>
              </a:rPr>
              <a:t>Yandex </a:t>
            </a:r>
            <a:r>
              <a:rPr dirty="0" sz="3200" spc="-5">
                <a:latin typeface="Calibri"/>
                <a:cs typeface="Calibri"/>
              </a:rPr>
              <a:t>Object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Answer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26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" y="344424"/>
            <a:ext cx="843381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6893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B050"/>
                </a:solidFill>
              </a:rPr>
              <a:t>Serving</a:t>
            </a:r>
            <a:r>
              <a:rPr dirty="0" spc="-55">
                <a:solidFill>
                  <a:srgbClr val="00B050"/>
                </a:solidFill>
              </a:rPr>
              <a:t> </a:t>
            </a:r>
            <a:r>
              <a:rPr dirty="0" spc="-15">
                <a:solidFill>
                  <a:srgbClr val="00B050"/>
                </a:solidFill>
              </a:rPr>
              <a:t>information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56904" y="6208776"/>
            <a:ext cx="10775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5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Bing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8809" y="2371379"/>
            <a:ext cx="6461861" cy="3262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" y="341375"/>
            <a:ext cx="843381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06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Question answering </a:t>
            </a:r>
            <a:r>
              <a:rPr dirty="0" spc="-5">
                <a:solidFill>
                  <a:srgbClr val="D60093"/>
                </a:solidFill>
              </a:rPr>
              <a:t>and </a:t>
            </a:r>
            <a:r>
              <a:rPr dirty="0" spc="-20">
                <a:solidFill>
                  <a:srgbClr val="D60093"/>
                </a:solidFill>
              </a:rPr>
              <a:t>conversation</a:t>
            </a:r>
            <a:r>
              <a:rPr dirty="0" spc="30">
                <a:solidFill>
                  <a:srgbClr val="D60093"/>
                </a:solidFill>
              </a:rPr>
              <a:t> </a:t>
            </a:r>
            <a:r>
              <a:rPr dirty="0" spc="-15">
                <a:solidFill>
                  <a:srgbClr val="D60093"/>
                </a:solidFill>
              </a:rPr>
              <a:t>agents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2181225"/>
            <a:ext cx="9144000" cy="3486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56904" y="6208776"/>
            <a:ext cx="12954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4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168BBA"/>
                </a:solidFill>
                <a:latin typeface="Corbel"/>
                <a:cs typeface="Corbel"/>
              </a:rPr>
              <a:t>Medium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568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0843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Publicly </a:t>
            </a:r>
            <a:r>
              <a:rPr dirty="0" spc="-15">
                <a:solidFill>
                  <a:srgbClr val="000000"/>
                </a:solidFill>
              </a:rPr>
              <a:t>available</a:t>
            </a:r>
            <a:r>
              <a:rPr dirty="0" spc="-70">
                <a:solidFill>
                  <a:srgbClr val="000000"/>
                </a:solidFill>
              </a:rPr>
              <a:t> </a:t>
            </a:r>
            <a:r>
              <a:rPr dirty="0" spc="-35">
                <a:solidFill>
                  <a:srgbClr val="000000"/>
                </a:solidFill>
              </a:rPr>
              <a:t>KGs: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324090" cy="2329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FreeBase, </a:t>
            </a:r>
            <a:r>
              <a:rPr dirty="0" sz="2800" spc="-15">
                <a:latin typeface="Calibri"/>
                <a:cs typeface="Calibri"/>
              </a:rPr>
              <a:t>Wikidata, </a:t>
            </a:r>
            <a:r>
              <a:rPr dirty="0" sz="2800" spc="-5">
                <a:latin typeface="Calibri"/>
                <a:cs typeface="Calibri"/>
              </a:rPr>
              <a:t>Dbpedia, </a:t>
            </a:r>
            <a:r>
              <a:rPr dirty="0" sz="2800" spc="-65">
                <a:latin typeface="Calibri"/>
                <a:cs typeface="Calibri"/>
              </a:rPr>
              <a:t>YAGO, </a:t>
            </a:r>
            <a:r>
              <a:rPr dirty="0" sz="2800">
                <a:latin typeface="Calibri"/>
                <a:cs typeface="Calibri"/>
              </a:rPr>
              <a:t>NELL,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8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Common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characteristics: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Massive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millions of nodes and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Incomplete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5">
                <a:latin typeface="Calibri"/>
                <a:cs typeface="Calibri"/>
              </a:rPr>
              <a:t>true </a:t>
            </a:r>
            <a:r>
              <a:rPr dirty="0" sz="2800" spc="-10">
                <a:latin typeface="Calibri"/>
                <a:cs typeface="Calibri"/>
              </a:rPr>
              <a:t>edges 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missing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4740087"/>
            <a:ext cx="3733800" cy="1600200"/>
          </a:xfrm>
          <a:custGeom>
            <a:avLst/>
            <a:gdLst/>
            <a:ahLst/>
            <a:cxnLst/>
            <a:rect l="l" t="t" r="r" b="b"/>
            <a:pathLst>
              <a:path w="3733800" h="1600200">
                <a:moveTo>
                  <a:pt x="3467097" y="0"/>
                </a:moveTo>
                <a:lnTo>
                  <a:pt x="266702" y="0"/>
                </a:lnTo>
                <a:lnTo>
                  <a:pt x="218762" y="4296"/>
                </a:lnTo>
                <a:lnTo>
                  <a:pt x="173641" y="16685"/>
                </a:lnTo>
                <a:lnTo>
                  <a:pt x="132092" y="36412"/>
                </a:lnTo>
                <a:lnTo>
                  <a:pt x="94869" y="62725"/>
                </a:lnTo>
                <a:lnTo>
                  <a:pt x="62725" y="94869"/>
                </a:lnTo>
                <a:lnTo>
                  <a:pt x="36412" y="132092"/>
                </a:lnTo>
                <a:lnTo>
                  <a:pt x="16685" y="173641"/>
                </a:lnTo>
                <a:lnTo>
                  <a:pt x="4296" y="218763"/>
                </a:lnTo>
                <a:lnTo>
                  <a:pt x="0" y="266703"/>
                </a:lnTo>
                <a:lnTo>
                  <a:pt x="0" y="1333497"/>
                </a:lnTo>
                <a:lnTo>
                  <a:pt x="4296" y="1381437"/>
                </a:lnTo>
                <a:lnTo>
                  <a:pt x="16685" y="1426558"/>
                </a:lnTo>
                <a:lnTo>
                  <a:pt x="36412" y="1468107"/>
                </a:lnTo>
                <a:lnTo>
                  <a:pt x="62725" y="1505330"/>
                </a:lnTo>
                <a:lnTo>
                  <a:pt x="94869" y="1537475"/>
                </a:lnTo>
                <a:lnTo>
                  <a:pt x="132092" y="1563787"/>
                </a:lnTo>
                <a:lnTo>
                  <a:pt x="173641" y="1583515"/>
                </a:lnTo>
                <a:lnTo>
                  <a:pt x="218762" y="1595903"/>
                </a:lnTo>
                <a:lnTo>
                  <a:pt x="266702" y="1600200"/>
                </a:lnTo>
                <a:lnTo>
                  <a:pt x="3467097" y="1600200"/>
                </a:lnTo>
                <a:lnTo>
                  <a:pt x="3515037" y="1595903"/>
                </a:lnTo>
                <a:lnTo>
                  <a:pt x="3560158" y="1583515"/>
                </a:lnTo>
                <a:lnTo>
                  <a:pt x="3601707" y="1563787"/>
                </a:lnTo>
                <a:lnTo>
                  <a:pt x="3638930" y="1537475"/>
                </a:lnTo>
                <a:lnTo>
                  <a:pt x="3671074" y="1505330"/>
                </a:lnTo>
                <a:lnTo>
                  <a:pt x="3697387" y="1468107"/>
                </a:lnTo>
                <a:lnTo>
                  <a:pt x="3717114" y="1426558"/>
                </a:lnTo>
                <a:lnTo>
                  <a:pt x="3729503" y="1381437"/>
                </a:lnTo>
                <a:lnTo>
                  <a:pt x="3733800" y="1333497"/>
                </a:lnTo>
                <a:lnTo>
                  <a:pt x="3733800" y="266703"/>
                </a:lnTo>
                <a:lnTo>
                  <a:pt x="3729503" y="218763"/>
                </a:lnTo>
                <a:lnTo>
                  <a:pt x="3717114" y="173641"/>
                </a:lnTo>
                <a:lnTo>
                  <a:pt x="3697387" y="132092"/>
                </a:lnTo>
                <a:lnTo>
                  <a:pt x="3671074" y="94869"/>
                </a:lnTo>
                <a:lnTo>
                  <a:pt x="3638930" y="62725"/>
                </a:lnTo>
                <a:lnTo>
                  <a:pt x="3601707" y="36412"/>
                </a:lnTo>
                <a:lnTo>
                  <a:pt x="3560158" y="16685"/>
                </a:lnTo>
                <a:lnTo>
                  <a:pt x="3515037" y="4296"/>
                </a:lnTo>
                <a:lnTo>
                  <a:pt x="34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2472" y="4769611"/>
            <a:ext cx="2662555" cy="1497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Given </a:t>
            </a:r>
            <a:r>
              <a:rPr dirty="0" sz="2400" b="1">
                <a:solidFill>
                  <a:srgbClr val="FFFFFF"/>
                </a:solidFill>
                <a:latin typeface="Corbel"/>
                <a:cs typeface="Corbel"/>
              </a:rPr>
              <a:t>a </a:t>
            </a: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massive</a:t>
            </a:r>
            <a:r>
              <a:rPr dirty="0" sz="2400" spc="-6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45" b="1">
                <a:solidFill>
                  <a:srgbClr val="FFFFFF"/>
                </a:solidFill>
                <a:latin typeface="Corbel"/>
                <a:cs typeface="Corbel"/>
              </a:rPr>
              <a:t>KG,  </a:t>
            </a: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enumerating all the  possible facts </a:t>
            </a:r>
            <a:r>
              <a:rPr dirty="0" sz="2400" b="1">
                <a:solidFill>
                  <a:srgbClr val="FFFFFF"/>
                </a:solidFill>
                <a:latin typeface="Corbel"/>
                <a:cs typeface="Corbel"/>
              </a:rPr>
              <a:t>is  </a:t>
            </a: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intractable!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7483" y="4740085"/>
            <a:ext cx="3734435" cy="1600200"/>
          </a:xfrm>
          <a:custGeom>
            <a:avLst/>
            <a:gdLst/>
            <a:ahLst/>
            <a:cxnLst/>
            <a:rect l="l" t="t" r="r" b="b"/>
            <a:pathLst>
              <a:path w="3734434" h="1600200">
                <a:moveTo>
                  <a:pt x="3467097" y="0"/>
                </a:moveTo>
                <a:lnTo>
                  <a:pt x="266703" y="0"/>
                </a:lnTo>
                <a:lnTo>
                  <a:pt x="218763" y="4296"/>
                </a:lnTo>
                <a:lnTo>
                  <a:pt x="173642" y="16685"/>
                </a:lnTo>
                <a:lnTo>
                  <a:pt x="132093" y="36413"/>
                </a:lnTo>
                <a:lnTo>
                  <a:pt x="94870" y="62725"/>
                </a:lnTo>
                <a:lnTo>
                  <a:pt x="62725" y="94870"/>
                </a:lnTo>
                <a:lnTo>
                  <a:pt x="36413" y="132093"/>
                </a:lnTo>
                <a:lnTo>
                  <a:pt x="16685" y="173642"/>
                </a:lnTo>
                <a:lnTo>
                  <a:pt x="4296" y="218763"/>
                </a:lnTo>
                <a:lnTo>
                  <a:pt x="0" y="266703"/>
                </a:lnTo>
                <a:lnTo>
                  <a:pt x="0" y="1333497"/>
                </a:lnTo>
                <a:lnTo>
                  <a:pt x="4296" y="1381438"/>
                </a:lnTo>
                <a:lnTo>
                  <a:pt x="16685" y="1426559"/>
                </a:lnTo>
                <a:lnTo>
                  <a:pt x="36413" y="1468108"/>
                </a:lnTo>
                <a:lnTo>
                  <a:pt x="62725" y="1505331"/>
                </a:lnTo>
                <a:lnTo>
                  <a:pt x="94870" y="1537475"/>
                </a:lnTo>
                <a:lnTo>
                  <a:pt x="132093" y="1563788"/>
                </a:lnTo>
                <a:lnTo>
                  <a:pt x="173642" y="1583515"/>
                </a:lnTo>
                <a:lnTo>
                  <a:pt x="218763" y="1595904"/>
                </a:lnTo>
                <a:lnTo>
                  <a:pt x="266703" y="1600201"/>
                </a:lnTo>
                <a:lnTo>
                  <a:pt x="3467097" y="1600201"/>
                </a:lnTo>
                <a:lnTo>
                  <a:pt x="3515037" y="1595904"/>
                </a:lnTo>
                <a:lnTo>
                  <a:pt x="3560158" y="1583515"/>
                </a:lnTo>
                <a:lnTo>
                  <a:pt x="3601707" y="1563788"/>
                </a:lnTo>
                <a:lnTo>
                  <a:pt x="3638931" y="1537475"/>
                </a:lnTo>
                <a:lnTo>
                  <a:pt x="3671075" y="1505331"/>
                </a:lnTo>
                <a:lnTo>
                  <a:pt x="3697388" y="1468108"/>
                </a:lnTo>
                <a:lnTo>
                  <a:pt x="3717115" y="1426559"/>
                </a:lnTo>
                <a:lnTo>
                  <a:pt x="3729504" y="1381438"/>
                </a:lnTo>
                <a:lnTo>
                  <a:pt x="3733801" y="1333497"/>
                </a:lnTo>
                <a:lnTo>
                  <a:pt x="3733801" y="266703"/>
                </a:lnTo>
                <a:lnTo>
                  <a:pt x="3729504" y="218763"/>
                </a:lnTo>
                <a:lnTo>
                  <a:pt x="3717115" y="173642"/>
                </a:lnTo>
                <a:lnTo>
                  <a:pt x="3697388" y="132093"/>
                </a:lnTo>
                <a:lnTo>
                  <a:pt x="3671075" y="94870"/>
                </a:lnTo>
                <a:lnTo>
                  <a:pt x="3638931" y="62725"/>
                </a:lnTo>
                <a:lnTo>
                  <a:pt x="3601707" y="36413"/>
                </a:lnTo>
                <a:lnTo>
                  <a:pt x="3560158" y="16685"/>
                </a:lnTo>
                <a:lnTo>
                  <a:pt x="3515037" y="4296"/>
                </a:lnTo>
                <a:lnTo>
                  <a:pt x="346709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21008" y="5135371"/>
            <a:ext cx="320802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74650" marR="5080" indent="-36195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Can </a:t>
            </a:r>
            <a:r>
              <a:rPr dirty="0" sz="2400" b="1">
                <a:solidFill>
                  <a:srgbClr val="FFFFFF"/>
                </a:solidFill>
                <a:latin typeface="Corbel"/>
                <a:cs typeface="Corbel"/>
              </a:rPr>
              <a:t>we </a:t>
            </a: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predict plausible  BUT missing</a:t>
            </a:r>
            <a:r>
              <a:rPr dirty="0" sz="2400" spc="-1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links?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07541" y="5387785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0" y="76200"/>
                </a:moveTo>
                <a:lnTo>
                  <a:pt x="381000" y="76200"/>
                </a:lnTo>
                <a:lnTo>
                  <a:pt x="381000" y="0"/>
                </a:lnTo>
                <a:lnTo>
                  <a:pt x="533400" y="152400"/>
                </a:lnTo>
                <a:lnTo>
                  <a:pt x="381000" y="304800"/>
                </a:lnTo>
                <a:lnTo>
                  <a:pt x="381000" y="228600"/>
                </a:lnTo>
                <a:lnTo>
                  <a:pt x="0" y="228600"/>
                </a:lnTo>
                <a:lnTo>
                  <a:pt x="0" y="762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6207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186626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0">
                <a:solidFill>
                  <a:srgbClr val="000000"/>
                </a:solidFill>
              </a:rPr>
              <a:t>F</a:t>
            </a:r>
            <a:r>
              <a:rPr dirty="0" spc="-40">
                <a:solidFill>
                  <a:srgbClr val="000000"/>
                </a:solidFill>
              </a:rPr>
              <a:t>r</a:t>
            </a:r>
            <a:r>
              <a:rPr dirty="0">
                <a:solidFill>
                  <a:srgbClr val="000000"/>
                </a:solidFill>
              </a:rPr>
              <a:t>ee</a:t>
            </a:r>
            <a:r>
              <a:rPr dirty="0" spc="-10">
                <a:solidFill>
                  <a:srgbClr val="000000"/>
                </a:solidFill>
              </a:rPr>
              <a:t>ba</a:t>
            </a:r>
            <a:r>
              <a:rPr dirty="0" spc="-5">
                <a:solidFill>
                  <a:srgbClr val="000000"/>
                </a:solidFill>
              </a:rPr>
              <a:t>s</a:t>
            </a:r>
            <a:r>
              <a:rPr dirty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3493770" cy="157416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~50 </a:t>
            </a:r>
            <a:r>
              <a:rPr dirty="0" sz="2800" spc="-5">
                <a:latin typeface="Calibri"/>
                <a:cs typeface="Calibri"/>
              </a:rPr>
              <a:t>million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entities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~38K </a:t>
            </a:r>
            <a:r>
              <a:rPr dirty="0" sz="2800" spc="-10" b="1">
                <a:latin typeface="Calibri"/>
                <a:cs typeface="Calibri"/>
              </a:rPr>
              <a:t>relation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~3 </a:t>
            </a:r>
            <a:r>
              <a:rPr dirty="0" sz="2800" spc="-5">
                <a:latin typeface="Calibri"/>
                <a:cs typeface="Calibri"/>
              </a:rPr>
              <a:t>billion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45" b="1">
                <a:latin typeface="Calibri"/>
                <a:cs typeface="Calibri"/>
              </a:rPr>
              <a:t>facts/triples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791349"/>
            <a:ext cx="6386830" cy="155384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Datasets: </a:t>
            </a:r>
            <a:r>
              <a:rPr dirty="0" sz="3200" spc="-15">
                <a:latin typeface="Calibri"/>
                <a:cs typeface="Calibri"/>
              </a:rPr>
              <a:t>FB15k/FB15k-237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1400"/>
              </a:lnSpc>
              <a:spcBef>
                <a:spcPts val="6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 b="1">
                <a:solidFill>
                  <a:srgbClr val="00B050"/>
                </a:solidFill>
                <a:latin typeface="Calibri"/>
                <a:cs typeface="Calibri"/>
              </a:rPr>
              <a:t>complete </a:t>
            </a:r>
            <a:r>
              <a:rPr dirty="0" sz="2800" spc="-10">
                <a:latin typeface="Calibri"/>
                <a:cs typeface="Calibri"/>
              </a:rPr>
              <a:t>subset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Freebase,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310">
                <a:latin typeface="Calibri"/>
                <a:cs typeface="Calibri"/>
              </a:rPr>
              <a:t>by  </a:t>
            </a:r>
            <a:r>
              <a:rPr dirty="0" sz="2800" spc="-15">
                <a:latin typeface="Calibri"/>
                <a:cs typeface="Calibri"/>
              </a:rPr>
              <a:t>researchers to </a:t>
            </a:r>
            <a:r>
              <a:rPr dirty="0" sz="2800" spc="-5">
                <a:latin typeface="Calibri"/>
                <a:cs typeface="Calibri"/>
              </a:rPr>
              <a:t>learn </a:t>
            </a:r>
            <a:r>
              <a:rPr dirty="0" sz="2800" spc="-60">
                <a:latin typeface="Calibri"/>
                <a:cs typeface="Calibri"/>
              </a:rPr>
              <a:t>KG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6030" y="1219200"/>
            <a:ext cx="3735569" cy="649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184140" y="2088388"/>
            <a:ext cx="3735704" cy="1022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ct val="98600"/>
              </a:lnSpc>
              <a:spcBef>
                <a:spcPts val="135"/>
              </a:spcBef>
            </a:pPr>
            <a:r>
              <a:rPr dirty="0" sz="2200" spc="-5">
                <a:solidFill>
                  <a:srgbClr val="FF0000"/>
                </a:solidFill>
                <a:latin typeface="Calibri"/>
                <a:cs typeface="Calibri"/>
              </a:rPr>
              <a:t>93.8%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10">
                <a:latin typeface="Calibri"/>
                <a:cs typeface="Calibri"/>
              </a:rPr>
              <a:t>persons </a:t>
            </a:r>
            <a:r>
              <a:rPr dirty="0" sz="2200" spc="-15">
                <a:latin typeface="Calibri"/>
                <a:cs typeface="Calibri"/>
              </a:rPr>
              <a:t>from </a:t>
            </a:r>
            <a:r>
              <a:rPr dirty="0" sz="2200" spc="-10">
                <a:latin typeface="Calibri"/>
                <a:cs typeface="Calibri"/>
              </a:rPr>
              <a:t>Freebase  </a:t>
            </a:r>
            <a:r>
              <a:rPr dirty="0" sz="2200" spc="-25">
                <a:latin typeface="Calibri"/>
                <a:cs typeface="Calibri"/>
              </a:rPr>
              <a:t>have </a:t>
            </a:r>
            <a:r>
              <a:rPr dirty="0" sz="2200" spc="-5">
                <a:latin typeface="Calibri"/>
                <a:cs typeface="Calibri"/>
              </a:rPr>
              <a:t>no place </a:t>
            </a:r>
            <a:r>
              <a:rPr dirty="0" sz="2200">
                <a:latin typeface="Calibri"/>
                <a:cs typeface="Calibri"/>
              </a:rPr>
              <a:t>of </a:t>
            </a:r>
            <a:r>
              <a:rPr dirty="0" sz="2200" spc="-5">
                <a:latin typeface="Calibri"/>
                <a:cs typeface="Calibri"/>
              </a:rPr>
              <a:t>birth and </a:t>
            </a:r>
            <a:r>
              <a:rPr dirty="0" sz="2200" spc="-5">
                <a:solidFill>
                  <a:srgbClr val="FF0000"/>
                </a:solidFill>
                <a:latin typeface="Calibri"/>
                <a:cs typeface="Calibri"/>
              </a:rPr>
              <a:t>78.5% 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have </a:t>
            </a:r>
            <a:r>
              <a:rPr dirty="0" sz="2200" spc="-5">
                <a:latin typeface="Calibri"/>
                <a:cs typeface="Calibri"/>
              </a:rPr>
              <a:t>no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nationality!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567" y="6192011"/>
            <a:ext cx="8506460" cy="40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Font typeface="Calibri"/>
              <a:buAutoNum type="arabicPlain"/>
              <a:tabLst>
                <a:tab pos="149225" algn="l"/>
              </a:tabLst>
            </a:pPr>
            <a:r>
              <a:rPr dirty="0" sz="800" spc="-5">
                <a:latin typeface="Corbel"/>
                <a:cs typeface="Corbel"/>
              </a:rPr>
              <a:t>Paulheim,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Heiko.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"Knowledge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graph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refinement: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>
                <a:latin typeface="Corbel"/>
                <a:cs typeface="Corbel"/>
              </a:rPr>
              <a:t>A</a:t>
            </a:r>
            <a:r>
              <a:rPr dirty="0" sz="800" spc="1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survey</a:t>
            </a:r>
            <a:r>
              <a:rPr dirty="0" sz="800" spc="1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of</a:t>
            </a:r>
            <a:r>
              <a:rPr dirty="0" sz="800" spc="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approaches</a:t>
            </a:r>
            <a:r>
              <a:rPr dirty="0" sz="800" spc="1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and</a:t>
            </a:r>
            <a:r>
              <a:rPr dirty="0" sz="800" spc="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evaluation</a:t>
            </a:r>
            <a:r>
              <a:rPr dirty="0" sz="800" spc="1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methods." </a:t>
            </a:r>
            <a:r>
              <a:rPr dirty="0" sz="800" spc="-5" i="1">
                <a:latin typeface="Corbel"/>
                <a:cs typeface="Corbel"/>
              </a:rPr>
              <a:t>Semantic</a:t>
            </a:r>
            <a:r>
              <a:rPr dirty="0" sz="800" spc="10" i="1">
                <a:latin typeface="Corbel"/>
                <a:cs typeface="Corbel"/>
              </a:rPr>
              <a:t> </a:t>
            </a:r>
            <a:r>
              <a:rPr dirty="0" sz="800" spc="-5" i="1">
                <a:latin typeface="Corbel"/>
                <a:cs typeface="Corbel"/>
              </a:rPr>
              <a:t>web</a:t>
            </a:r>
            <a:r>
              <a:rPr dirty="0" sz="800" spc="0" i="1">
                <a:latin typeface="Corbel"/>
                <a:cs typeface="Corbel"/>
              </a:rPr>
              <a:t> </a:t>
            </a:r>
            <a:r>
              <a:rPr dirty="0" sz="800">
                <a:latin typeface="Corbel"/>
                <a:cs typeface="Corbel"/>
              </a:rPr>
              <a:t>8.3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(2017):</a:t>
            </a:r>
            <a:r>
              <a:rPr dirty="0" sz="800" spc="5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489-508.</a:t>
            </a:r>
            <a:endParaRPr sz="800">
              <a:latin typeface="Corbel"/>
              <a:cs typeface="Corbel"/>
            </a:endParaRPr>
          </a:p>
          <a:p>
            <a:pPr marL="12700" marR="5080">
              <a:lnSpc>
                <a:spcPct val="102499"/>
              </a:lnSpc>
              <a:spcBef>
                <a:spcPts val="20"/>
              </a:spcBef>
              <a:buFont typeface="Calibri"/>
              <a:buAutoNum type="arabicPlain"/>
              <a:tabLst>
                <a:tab pos="149225" algn="l"/>
              </a:tabLst>
            </a:pPr>
            <a:r>
              <a:rPr dirty="0" sz="800">
                <a:latin typeface="Corbel"/>
                <a:cs typeface="Corbel"/>
              </a:rPr>
              <a:t>Min, </a:t>
            </a:r>
            <a:r>
              <a:rPr dirty="0" sz="800" spc="-5">
                <a:latin typeface="Corbel"/>
                <a:cs typeface="Corbel"/>
              </a:rPr>
              <a:t>Bonan, </a:t>
            </a:r>
            <a:r>
              <a:rPr dirty="0" sz="800">
                <a:latin typeface="Corbel"/>
                <a:cs typeface="Corbel"/>
              </a:rPr>
              <a:t>et </a:t>
            </a:r>
            <a:r>
              <a:rPr dirty="0" sz="800" spc="-5">
                <a:latin typeface="Corbel"/>
                <a:cs typeface="Corbel"/>
              </a:rPr>
              <a:t>al. "Distant supervision for relation extraction with an incomplete knowledge base." </a:t>
            </a:r>
            <a:r>
              <a:rPr dirty="0" sz="800" spc="-5" i="1">
                <a:latin typeface="Corbel"/>
                <a:cs typeface="Corbel"/>
              </a:rPr>
              <a:t>Proceedings of the 2013 Conference of the North American Chapter of the Association for Computational  </a:t>
            </a:r>
            <a:r>
              <a:rPr dirty="0" sz="800" spc="-5" i="1">
                <a:latin typeface="Corbel"/>
                <a:cs typeface="Corbel"/>
              </a:rPr>
              <a:t>Linguistics: Human Language Technologies</a:t>
            </a:r>
            <a:r>
              <a:rPr dirty="0" sz="800" spc="-5">
                <a:latin typeface="Corbel"/>
                <a:cs typeface="Corbel"/>
              </a:rPr>
              <a:t>.</a:t>
            </a:r>
            <a:r>
              <a:rPr dirty="0" sz="800" spc="50">
                <a:latin typeface="Corbel"/>
                <a:cs typeface="Corbel"/>
              </a:rPr>
              <a:t> </a:t>
            </a:r>
            <a:r>
              <a:rPr dirty="0" sz="800" spc="-5">
                <a:latin typeface="Corbel"/>
                <a:cs typeface="Corbel"/>
              </a:rPr>
              <a:t>2013.</a:t>
            </a:r>
            <a:endParaRPr sz="8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91000" y="2514600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0" y="152400"/>
                </a:moveTo>
                <a:lnTo>
                  <a:pt x="152400" y="0"/>
                </a:lnTo>
                <a:lnTo>
                  <a:pt x="152400" y="76200"/>
                </a:lnTo>
                <a:lnTo>
                  <a:pt x="914400" y="76200"/>
                </a:lnTo>
                <a:lnTo>
                  <a:pt x="914400" y="228600"/>
                </a:lnTo>
                <a:lnTo>
                  <a:pt x="152400" y="228600"/>
                </a:lnTo>
                <a:lnTo>
                  <a:pt x="152400" y="304800"/>
                </a:lnTo>
                <a:lnTo>
                  <a:pt x="0" y="152400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22408" y="5372100"/>
            <a:ext cx="4337759" cy="761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5566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5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31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4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6511" y="2831592"/>
            <a:ext cx="8857488" cy="20452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85546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2166" y="1348740"/>
            <a:ext cx="83146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00"/>
                </a:solidFill>
              </a:rPr>
              <a:t>Given </a:t>
            </a:r>
            <a:r>
              <a:rPr dirty="0" spc="-5">
                <a:solidFill>
                  <a:srgbClr val="000000"/>
                </a:solidFill>
              </a:rPr>
              <a:t>an enormous </a:t>
            </a:r>
            <a:r>
              <a:rPr dirty="0" spc="-45">
                <a:solidFill>
                  <a:srgbClr val="000000"/>
                </a:solidFill>
              </a:rPr>
              <a:t>KG, </a:t>
            </a:r>
            <a:r>
              <a:rPr dirty="0" spc="-15">
                <a:solidFill>
                  <a:srgbClr val="000000"/>
                </a:solidFill>
              </a:rPr>
              <a:t>can we complete </a:t>
            </a:r>
            <a:r>
              <a:rPr dirty="0" spc="-5">
                <a:solidFill>
                  <a:srgbClr val="000000"/>
                </a:solidFill>
              </a:rPr>
              <a:t>the</a:t>
            </a:r>
            <a:r>
              <a:rPr dirty="0" spc="60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KG?</a:t>
            </a:r>
          </a:p>
        </p:txBody>
      </p:sp>
      <p:sp>
        <p:nvSpPr>
          <p:cNvPr id="4" name="object 4"/>
          <p:cNvSpPr/>
          <p:nvPr/>
        </p:nvSpPr>
        <p:spPr>
          <a:xfrm>
            <a:off x="4841895" y="3832979"/>
            <a:ext cx="352425" cy="347980"/>
          </a:xfrm>
          <a:custGeom>
            <a:avLst/>
            <a:gdLst/>
            <a:ahLst/>
            <a:cxnLst/>
            <a:rect l="l" t="t" r="r" b="b"/>
            <a:pathLst>
              <a:path w="352425" h="347979">
                <a:moveTo>
                  <a:pt x="37800" y="236520"/>
                </a:moveTo>
                <a:lnTo>
                  <a:pt x="0" y="347396"/>
                </a:lnTo>
                <a:lnTo>
                  <a:pt x="111380" y="311110"/>
                </a:lnTo>
                <a:lnTo>
                  <a:pt x="103913" y="303541"/>
                </a:lnTo>
                <a:lnTo>
                  <a:pt x="62039" y="303541"/>
                </a:lnTo>
                <a:lnTo>
                  <a:pt x="55477" y="302217"/>
                </a:lnTo>
                <a:lnTo>
                  <a:pt x="49726" y="298342"/>
                </a:lnTo>
                <a:lnTo>
                  <a:pt x="45930" y="292539"/>
                </a:lnTo>
                <a:lnTo>
                  <a:pt x="44696" y="285960"/>
                </a:lnTo>
                <a:lnTo>
                  <a:pt x="46019" y="279397"/>
                </a:lnTo>
                <a:lnTo>
                  <a:pt x="49895" y="273647"/>
                </a:lnTo>
                <a:lnTo>
                  <a:pt x="62327" y="261384"/>
                </a:lnTo>
                <a:lnTo>
                  <a:pt x="37800" y="236520"/>
                </a:lnTo>
                <a:close/>
              </a:path>
              <a:path w="352425" h="347979">
                <a:moveTo>
                  <a:pt x="62327" y="261384"/>
                </a:moveTo>
                <a:lnTo>
                  <a:pt x="49895" y="273647"/>
                </a:lnTo>
                <a:lnTo>
                  <a:pt x="46019" y="279397"/>
                </a:lnTo>
                <a:lnTo>
                  <a:pt x="44696" y="285960"/>
                </a:lnTo>
                <a:lnTo>
                  <a:pt x="45930" y="292539"/>
                </a:lnTo>
                <a:lnTo>
                  <a:pt x="49726" y="298342"/>
                </a:lnTo>
                <a:lnTo>
                  <a:pt x="55477" y="302217"/>
                </a:lnTo>
                <a:lnTo>
                  <a:pt x="62039" y="303541"/>
                </a:lnTo>
                <a:lnTo>
                  <a:pt x="68619" y="302307"/>
                </a:lnTo>
                <a:lnTo>
                  <a:pt x="74422" y="298511"/>
                </a:lnTo>
                <a:lnTo>
                  <a:pt x="86853" y="286247"/>
                </a:lnTo>
                <a:lnTo>
                  <a:pt x="62327" y="261384"/>
                </a:lnTo>
                <a:close/>
              </a:path>
              <a:path w="352425" h="347979">
                <a:moveTo>
                  <a:pt x="86853" y="286247"/>
                </a:moveTo>
                <a:lnTo>
                  <a:pt x="74422" y="298511"/>
                </a:lnTo>
                <a:lnTo>
                  <a:pt x="68619" y="302307"/>
                </a:lnTo>
                <a:lnTo>
                  <a:pt x="62039" y="303541"/>
                </a:lnTo>
                <a:lnTo>
                  <a:pt x="103913" y="303541"/>
                </a:lnTo>
                <a:lnTo>
                  <a:pt x="86853" y="286247"/>
                </a:lnTo>
                <a:close/>
              </a:path>
              <a:path w="352425" h="347979">
                <a:moveTo>
                  <a:pt x="334583" y="0"/>
                </a:moveTo>
                <a:lnTo>
                  <a:pt x="328004" y="1233"/>
                </a:lnTo>
                <a:lnTo>
                  <a:pt x="322201" y="5029"/>
                </a:lnTo>
                <a:lnTo>
                  <a:pt x="62327" y="261384"/>
                </a:lnTo>
                <a:lnTo>
                  <a:pt x="86853" y="286247"/>
                </a:lnTo>
                <a:lnTo>
                  <a:pt x="346727" y="29893"/>
                </a:lnTo>
                <a:lnTo>
                  <a:pt x="350603" y="24143"/>
                </a:lnTo>
                <a:lnTo>
                  <a:pt x="351926" y="17580"/>
                </a:lnTo>
                <a:lnTo>
                  <a:pt x="350693" y="11001"/>
                </a:lnTo>
                <a:lnTo>
                  <a:pt x="346896" y="5198"/>
                </a:lnTo>
                <a:lnTo>
                  <a:pt x="341146" y="1323"/>
                </a:lnTo>
                <a:lnTo>
                  <a:pt x="334583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16776" y="3175507"/>
            <a:ext cx="1553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D60093"/>
                </a:solidFill>
                <a:latin typeface="Calibri"/>
                <a:cs typeface="Calibri"/>
              </a:rPr>
              <a:t>missing</a:t>
            </a:r>
            <a:r>
              <a:rPr dirty="0" sz="1800" spc="-4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D60093"/>
                </a:solidFill>
                <a:latin typeface="Calibri"/>
                <a:cs typeface="Calibri"/>
              </a:rPr>
              <a:t>relation: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5124" y="3443732"/>
            <a:ext cx="556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D60093"/>
                </a:solidFill>
                <a:latin typeface="Calibri"/>
                <a:cs typeface="Calibri"/>
              </a:rPr>
              <a:t>g</a:t>
            </a:r>
            <a:r>
              <a:rPr dirty="0" sz="1800">
                <a:solidFill>
                  <a:srgbClr val="D60093"/>
                </a:solidFill>
                <a:latin typeface="Calibri"/>
                <a:cs typeface="Calibri"/>
              </a:rPr>
              <a:t>en</a:t>
            </a:r>
            <a:r>
              <a:rPr dirty="0" sz="1800" spc="-30">
                <a:solidFill>
                  <a:srgbClr val="D60093"/>
                </a:solidFill>
                <a:latin typeface="Calibri"/>
                <a:cs typeface="Calibri"/>
              </a:rPr>
              <a:t>r</a:t>
            </a:r>
            <a:r>
              <a:rPr dirty="0" sz="1800">
                <a:solidFill>
                  <a:srgbClr val="D60093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54915" y="4336229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1"/>
                </a:lnTo>
                <a:lnTo>
                  <a:pt x="136791" y="273697"/>
                </a:lnTo>
                <a:lnTo>
                  <a:pt x="180028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54915" y="4336229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36409" y="309316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136791" y="0"/>
                </a:moveTo>
                <a:lnTo>
                  <a:pt x="93555" y="6976"/>
                </a:lnTo>
                <a:lnTo>
                  <a:pt x="56004" y="26404"/>
                </a:lnTo>
                <a:lnTo>
                  <a:pt x="26393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4"/>
                </a:lnTo>
                <a:lnTo>
                  <a:pt x="26393" y="217670"/>
                </a:lnTo>
                <a:lnTo>
                  <a:pt x="56004" y="247294"/>
                </a:lnTo>
                <a:lnTo>
                  <a:pt x="93555" y="266722"/>
                </a:lnTo>
                <a:lnTo>
                  <a:pt x="136791" y="273698"/>
                </a:lnTo>
                <a:lnTo>
                  <a:pt x="180028" y="266722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4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36409" y="309316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33365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136790" y="0"/>
                </a:moveTo>
                <a:lnTo>
                  <a:pt x="93554" y="6976"/>
                </a:lnTo>
                <a:lnTo>
                  <a:pt x="56003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1"/>
                </a:lnTo>
                <a:lnTo>
                  <a:pt x="136790" y="273698"/>
                </a:lnTo>
                <a:lnTo>
                  <a:pt x="180027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7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33365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66709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0" y="0"/>
                </a:moveTo>
                <a:lnTo>
                  <a:pt x="93554" y="6976"/>
                </a:lnTo>
                <a:lnTo>
                  <a:pt x="56003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1"/>
                </a:lnTo>
                <a:lnTo>
                  <a:pt x="136790" y="273698"/>
                </a:lnTo>
                <a:lnTo>
                  <a:pt x="180027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7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066709" y="541026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09574" y="635421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136790" y="0"/>
                </a:moveTo>
                <a:lnTo>
                  <a:pt x="93554" y="6976"/>
                </a:lnTo>
                <a:lnTo>
                  <a:pt x="56003" y="26403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1"/>
                </a:lnTo>
                <a:lnTo>
                  <a:pt x="136790" y="273697"/>
                </a:lnTo>
                <a:lnTo>
                  <a:pt x="180027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3"/>
                </a:lnTo>
                <a:lnTo>
                  <a:pt x="180027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09574" y="6354212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4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20950" y="487064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4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2"/>
                </a:lnTo>
                <a:lnTo>
                  <a:pt x="136791" y="273698"/>
                </a:lnTo>
                <a:lnTo>
                  <a:pt x="180028" y="266722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4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4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20950" y="487064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98212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3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1"/>
                </a:lnTo>
                <a:lnTo>
                  <a:pt x="136791" y="273697"/>
                </a:lnTo>
                <a:lnTo>
                  <a:pt x="180028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3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8212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38609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1" y="0"/>
                </a:moveTo>
                <a:lnTo>
                  <a:pt x="93554" y="6976"/>
                </a:lnTo>
                <a:lnTo>
                  <a:pt x="56004" y="26403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3"/>
                </a:lnTo>
                <a:lnTo>
                  <a:pt x="26392" y="217670"/>
                </a:lnTo>
                <a:lnTo>
                  <a:pt x="56004" y="247294"/>
                </a:lnTo>
                <a:lnTo>
                  <a:pt x="93554" y="266721"/>
                </a:lnTo>
                <a:lnTo>
                  <a:pt x="136791" y="273697"/>
                </a:lnTo>
                <a:lnTo>
                  <a:pt x="180028" y="266721"/>
                </a:lnTo>
                <a:lnTo>
                  <a:pt x="217578" y="247294"/>
                </a:lnTo>
                <a:lnTo>
                  <a:pt x="247189" y="217670"/>
                </a:lnTo>
                <a:lnTo>
                  <a:pt x="266608" y="180103"/>
                </a:lnTo>
                <a:lnTo>
                  <a:pt x="273582" y="136848"/>
                </a:lnTo>
                <a:lnTo>
                  <a:pt x="266608" y="93594"/>
                </a:lnTo>
                <a:lnTo>
                  <a:pt x="247189" y="56027"/>
                </a:lnTo>
                <a:lnTo>
                  <a:pt x="217578" y="26403"/>
                </a:lnTo>
                <a:lnTo>
                  <a:pt x="180028" y="6976"/>
                </a:lnTo>
                <a:lnTo>
                  <a:pt x="13679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438609" y="6204923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35004" y="344539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136790" y="0"/>
                </a:moveTo>
                <a:lnTo>
                  <a:pt x="93554" y="6976"/>
                </a:lnTo>
                <a:lnTo>
                  <a:pt x="56003" y="26404"/>
                </a:lnTo>
                <a:lnTo>
                  <a:pt x="26392" y="56027"/>
                </a:lnTo>
                <a:lnTo>
                  <a:pt x="6973" y="93594"/>
                </a:lnTo>
                <a:lnTo>
                  <a:pt x="0" y="136848"/>
                </a:lnTo>
                <a:lnTo>
                  <a:pt x="6973" y="180104"/>
                </a:lnTo>
                <a:lnTo>
                  <a:pt x="26392" y="217670"/>
                </a:lnTo>
                <a:lnTo>
                  <a:pt x="56003" y="247294"/>
                </a:lnTo>
                <a:lnTo>
                  <a:pt x="93554" y="266722"/>
                </a:lnTo>
                <a:lnTo>
                  <a:pt x="136790" y="273698"/>
                </a:lnTo>
                <a:lnTo>
                  <a:pt x="180026" y="266722"/>
                </a:lnTo>
                <a:lnTo>
                  <a:pt x="217577" y="247294"/>
                </a:lnTo>
                <a:lnTo>
                  <a:pt x="247188" y="217670"/>
                </a:lnTo>
                <a:lnTo>
                  <a:pt x="266607" y="180104"/>
                </a:lnTo>
                <a:lnTo>
                  <a:pt x="273580" y="136848"/>
                </a:lnTo>
                <a:lnTo>
                  <a:pt x="266607" y="93594"/>
                </a:lnTo>
                <a:lnTo>
                  <a:pt x="247188" y="56027"/>
                </a:lnTo>
                <a:lnTo>
                  <a:pt x="217577" y="26404"/>
                </a:lnTo>
                <a:lnTo>
                  <a:pt x="180026" y="6976"/>
                </a:lnTo>
                <a:lnTo>
                  <a:pt x="13679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535004" y="3445394"/>
            <a:ext cx="273685" cy="274320"/>
          </a:xfrm>
          <a:custGeom>
            <a:avLst/>
            <a:gdLst/>
            <a:ahLst/>
            <a:cxnLst/>
            <a:rect l="l" t="t" r="r" b="b"/>
            <a:pathLst>
              <a:path w="273685" h="274320">
                <a:moveTo>
                  <a:pt x="0" y="136849"/>
                </a:moveTo>
                <a:lnTo>
                  <a:pt x="6973" y="93594"/>
                </a:lnTo>
                <a:lnTo>
                  <a:pt x="26392" y="56027"/>
                </a:lnTo>
                <a:lnTo>
                  <a:pt x="56004" y="26403"/>
                </a:lnTo>
                <a:lnTo>
                  <a:pt x="93554" y="6976"/>
                </a:lnTo>
                <a:lnTo>
                  <a:pt x="136791" y="0"/>
                </a:lnTo>
                <a:lnTo>
                  <a:pt x="180027" y="6976"/>
                </a:lnTo>
                <a:lnTo>
                  <a:pt x="217577" y="26403"/>
                </a:lnTo>
                <a:lnTo>
                  <a:pt x="247189" y="56027"/>
                </a:lnTo>
                <a:lnTo>
                  <a:pt x="266608" y="93594"/>
                </a:lnTo>
                <a:lnTo>
                  <a:pt x="273582" y="136849"/>
                </a:lnTo>
                <a:lnTo>
                  <a:pt x="266608" y="180103"/>
                </a:lnTo>
                <a:lnTo>
                  <a:pt x="247189" y="217670"/>
                </a:lnTo>
                <a:lnTo>
                  <a:pt x="217577" y="247294"/>
                </a:lnTo>
                <a:lnTo>
                  <a:pt x="180027" y="266721"/>
                </a:lnTo>
                <a:lnTo>
                  <a:pt x="136791" y="273698"/>
                </a:lnTo>
                <a:lnTo>
                  <a:pt x="93554" y="266721"/>
                </a:lnTo>
                <a:lnTo>
                  <a:pt x="56004" y="247294"/>
                </a:lnTo>
                <a:lnTo>
                  <a:pt x="26392" y="217670"/>
                </a:lnTo>
                <a:lnTo>
                  <a:pt x="6973" y="180103"/>
                </a:lnTo>
                <a:lnTo>
                  <a:pt x="0" y="136849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90179" y="3310483"/>
            <a:ext cx="502920" cy="1026160"/>
          </a:xfrm>
          <a:custGeom>
            <a:avLst/>
            <a:gdLst/>
            <a:ahLst/>
            <a:cxnLst/>
            <a:rect l="l" t="t" r="r" b="b"/>
            <a:pathLst>
              <a:path w="502920" h="1026160">
                <a:moveTo>
                  <a:pt x="0" y="929914"/>
                </a:moveTo>
                <a:lnTo>
                  <a:pt x="1527" y="1025745"/>
                </a:lnTo>
                <a:lnTo>
                  <a:pt x="63574" y="977645"/>
                </a:lnTo>
                <a:lnTo>
                  <a:pt x="33380" y="977645"/>
                </a:lnTo>
                <a:lnTo>
                  <a:pt x="19154" y="970814"/>
                </a:lnTo>
                <a:lnTo>
                  <a:pt x="16156" y="962278"/>
                </a:lnTo>
                <a:lnTo>
                  <a:pt x="25758" y="942284"/>
                </a:lnTo>
                <a:lnTo>
                  <a:pt x="0" y="929914"/>
                </a:lnTo>
                <a:close/>
              </a:path>
              <a:path w="502920" h="1026160">
                <a:moveTo>
                  <a:pt x="25758" y="942284"/>
                </a:moveTo>
                <a:lnTo>
                  <a:pt x="16156" y="962278"/>
                </a:lnTo>
                <a:lnTo>
                  <a:pt x="19154" y="970814"/>
                </a:lnTo>
                <a:lnTo>
                  <a:pt x="33380" y="977645"/>
                </a:lnTo>
                <a:lnTo>
                  <a:pt x="41915" y="974648"/>
                </a:lnTo>
                <a:lnTo>
                  <a:pt x="51516" y="954654"/>
                </a:lnTo>
                <a:lnTo>
                  <a:pt x="25758" y="942284"/>
                </a:lnTo>
                <a:close/>
              </a:path>
              <a:path w="502920" h="1026160">
                <a:moveTo>
                  <a:pt x="51516" y="954654"/>
                </a:moveTo>
                <a:lnTo>
                  <a:pt x="41915" y="974648"/>
                </a:lnTo>
                <a:lnTo>
                  <a:pt x="33380" y="977645"/>
                </a:lnTo>
                <a:lnTo>
                  <a:pt x="63574" y="977645"/>
                </a:lnTo>
                <a:lnTo>
                  <a:pt x="77275" y="967024"/>
                </a:lnTo>
                <a:lnTo>
                  <a:pt x="51516" y="954654"/>
                </a:lnTo>
                <a:close/>
              </a:path>
              <a:path w="502920" h="1026160">
                <a:moveTo>
                  <a:pt x="485367" y="0"/>
                </a:moveTo>
                <a:lnTo>
                  <a:pt x="476831" y="2997"/>
                </a:lnTo>
                <a:lnTo>
                  <a:pt x="25758" y="942284"/>
                </a:lnTo>
                <a:lnTo>
                  <a:pt x="51516" y="954654"/>
                </a:lnTo>
                <a:lnTo>
                  <a:pt x="502591" y="15366"/>
                </a:lnTo>
                <a:lnTo>
                  <a:pt x="499593" y="6831"/>
                </a:lnTo>
                <a:lnTo>
                  <a:pt x="48536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72127" y="5627679"/>
            <a:ext cx="450850" cy="617855"/>
          </a:xfrm>
          <a:custGeom>
            <a:avLst/>
            <a:gdLst/>
            <a:ahLst/>
            <a:cxnLst/>
            <a:rect l="l" t="t" r="r" b="b"/>
            <a:pathLst>
              <a:path w="450850" h="617854">
                <a:moveTo>
                  <a:pt x="15495" y="522743"/>
                </a:moveTo>
                <a:lnTo>
                  <a:pt x="0" y="617326"/>
                </a:lnTo>
                <a:lnTo>
                  <a:pt x="79858" y="575637"/>
                </a:lnTo>
                <a:lnTo>
                  <a:pt x="39880" y="575637"/>
                </a:lnTo>
                <a:lnTo>
                  <a:pt x="27091" y="566390"/>
                </a:lnTo>
                <a:lnTo>
                  <a:pt x="25656" y="557459"/>
                </a:lnTo>
                <a:lnTo>
                  <a:pt x="38651" y="539487"/>
                </a:lnTo>
                <a:lnTo>
                  <a:pt x="15495" y="522743"/>
                </a:lnTo>
                <a:close/>
              </a:path>
              <a:path w="450850" h="617854">
                <a:moveTo>
                  <a:pt x="38651" y="539487"/>
                </a:moveTo>
                <a:lnTo>
                  <a:pt x="25656" y="557459"/>
                </a:lnTo>
                <a:lnTo>
                  <a:pt x="27091" y="566390"/>
                </a:lnTo>
                <a:lnTo>
                  <a:pt x="39880" y="575637"/>
                </a:lnTo>
                <a:lnTo>
                  <a:pt x="48812" y="574202"/>
                </a:lnTo>
                <a:lnTo>
                  <a:pt x="61807" y="556230"/>
                </a:lnTo>
                <a:lnTo>
                  <a:pt x="38651" y="539487"/>
                </a:lnTo>
                <a:close/>
              </a:path>
              <a:path w="450850" h="617854">
                <a:moveTo>
                  <a:pt x="61807" y="556230"/>
                </a:moveTo>
                <a:lnTo>
                  <a:pt x="48812" y="574202"/>
                </a:lnTo>
                <a:lnTo>
                  <a:pt x="39880" y="575637"/>
                </a:lnTo>
                <a:lnTo>
                  <a:pt x="79858" y="575637"/>
                </a:lnTo>
                <a:lnTo>
                  <a:pt x="84963" y="572973"/>
                </a:lnTo>
                <a:lnTo>
                  <a:pt x="61807" y="556230"/>
                </a:lnTo>
                <a:close/>
              </a:path>
              <a:path w="450850" h="617854">
                <a:moveTo>
                  <a:pt x="436624" y="0"/>
                </a:moveTo>
                <a:lnTo>
                  <a:pt x="427692" y="1435"/>
                </a:lnTo>
                <a:lnTo>
                  <a:pt x="38651" y="539487"/>
                </a:lnTo>
                <a:lnTo>
                  <a:pt x="61807" y="556230"/>
                </a:lnTo>
                <a:lnTo>
                  <a:pt x="450848" y="18178"/>
                </a:lnTo>
                <a:lnTo>
                  <a:pt x="449413" y="9246"/>
                </a:lnTo>
                <a:lnTo>
                  <a:pt x="43662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86975" y="5770513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5" h="307975">
                <a:moveTo>
                  <a:pt x="0" y="0"/>
                </a:moveTo>
                <a:lnTo>
                  <a:pt x="641522" y="0"/>
                </a:lnTo>
                <a:lnTo>
                  <a:pt x="641522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665715" y="5804915"/>
            <a:ext cx="478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26208" y="3659037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4" h="307975">
                <a:moveTo>
                  <a:pt x="0" y="0"/>
                </a:moveTo>
                <a:lnTo>
                  <a:pt x="641521" y="0"/>
                </a:lnTo>
                <a:lnTo>
                  <a:pt x="641521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04948" y="3692652"/>
            <a:ext cx="478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28497" y="4473078"/>
            <a:ext cx="1621155" cy="1090930"/>
          </a:xfrm>
          <a:custGeom>
            <a:avLst/>
            <a:gdLst/>
            <a:ahLst/>
            <a:cxnLst/>
            <a:rect l="l" t="t" r="r" b="b"/>
            <a:pathLst>
              <a:path w="1621154" h="1090929">
                <a:moveTo>
                  <a:pt x="79189" y="35805"/>
                </a:moveTo>
                <a:lnTo>
                  <a:pt x="63297" y="59552"/>
                </a:lnTo>
                <a:lnTo>
                  <a:pt x="1603479" y="1090297"/>
                </a:lnTo>
                <a:lnTo>
                  <a:pt x="1612352" y="1088539"/>
                </a:lnTo>
                <a:lnTo>
                  <a:pt x="1621129" y="1075424"/>
                </a:lnTo>
                <a:lnTo>
                  <a:pt x="1619371" y="1066549"/>
                </a:lnTo>
                <a:lnTo>
                  <a:pt x="79189" y="35805"/>
                </a:lnTo>
                <a:close/>
              </a:path>
              <a:path w="1621154" h="1090929">
                <a:moveTo>
                  <a:pt x="0" y="0"/>
                </a:moveTo>
                <a:lnTo>
                  <a:pt x="47404" y="83300"/>
                </a:lnTo>
                <a:lnTo>
                  <a:pt x="63297" y="59552"/>
                </a:lnTo>
                <a:lnTo>
                  <a:pt x="44861" y="47214"/>
                </a:lnTo>
                <a:lnTo>
                  <a:pt x="43103" y="38341"/>
                </a:lnTo>
                <a:lnTo>
                  <a:pt x="51880" y="25226"/>
                </a:lnTo>
                <a:lnTo>
                  <a:pt x="60754" y="23468"/>
                </a:lnTo>
                <a:lnTo>
                  <a:pt x="87445" y="23468"/>
                </a:lnTo>
                <a:lnTo>
                  <a:pt x="95082" y="12057"/>
                </a:lnTo>
                <a:lnTo>
                  <a:pt x="0" y="0"/>
                </a:lnTo>
                <a:close/>
              </a:path>
              <a:path w="1621154" h="1090929">
                <a:moveTo>
                  <a:pt x="60754" y="23468"/>
                </a:moveTo>
                <a:lnTo>
                  <a:pt x="51880" y="25226"/>
                </a:lnTo>
                <a:lnTo>
                  <a:pt x="43103" y="38341"/>
                </a:lnTo>
                <a:lnTo>
                  <a:pt x="44861" y="47214"/>
                </a:lnTo>
                <a:lnTo>
                  <a:pt x="63297" y="59552"/>
                </a:lnTo>
                <a:lnTo>
                  <a:pt x="79189" y="35805"/>
                </a:lnTo>
                <a:lnTo>
                  <a:pt x="60754" y="23468"/>
                </a:lnTo>
                <a:close/>
              </a:path>
              <a:path w="1621154" h="1090929">
                <a:moveTo>
                  <a:pt x="87445" y="23468"/>
                </a:moveTo>
                <a:lnTo>
                  <a:pt x="60754" y="23468"/>
                </a:lnTo>
                <a:lnTo>
                  <a:pt x="79189" y="35805"/>
                </a:lnTo>
                <a:lnTo>
                  <a:pt x="87445" y="23468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34116" y="4824017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4" h="307975">
                <a:moveTo>
                  <a:pt x="0" y="0"/>
                </a:moveTo>
                <a:lnTo>
                  <a:pt x="641521" y="0"/>
                </a:lnTo>
                <a:lnTo>
                  <a:pt x="641521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634116" y="4856988"/>
            <a:ext cx="6419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78403" y="4462287"/>
            <a:ext cx="1477010" cy="561340"/>
          </a:xfrm>
          <a:custGeom>
            <a:avLst/>
            <a:gdLst/>
            <a:ahLst/>
            <a:cxnLst/>
            <a:rect l="l" t="t" r="r" b="b"/>
            <a:pathLst>
              <a:path w="1477010" h="561339">
                <a:moveTo>
                  <a:pt x="1391098" y="26833"/>
                </a:moveTo>
                <a:lnTo>
                  <a:pt x="3808" y="534501"/>
                </a:lnTo>
                <a:lnTo>
                  <a:pt x="0" y="542706"/>
                </a:lnTo>
                <a:lnTo>
                  <a:pt x="5424" y="557527"/>
                </a:lnTo>
                <a:lnTo>
                  <a:pt x="13629" y="561336"/>
                </a:lnTo>
                <a:lnTo>
                  <a:pt x="1400918" y="53668"/>
                </a:lnTo>
                <a:lnTo>
                  <a:pt x="1391098" y="26833"/>
                </a:lnTo>
                <a:close/>
              </a:path>
              <a:path w="1477010" h="561339">
                <a:moveTo>
                  <a:pt x="1468567" y="19211"/>
                </a:moveTo>
                <a:lnTo>
                  <a:pt x="1411928" y="19211"/>
                </a:lnTo>
                <a:lnTo>
                  <a:pt x="1420134" y="23020"/>
                </a:lnTo>
                <a:lnTo>
                  <a:pt x="1425557" y="37840"/>
                </a:lnTo>
                <a:lnTo>
                  <a:pt x="1421748" y="46046"/>
                </a:lnTo>
                <a:lnTo>
                  <a:pt x="1400918" y="53668"/>
                </a:lnTo>
                <a:lnTo>
                  <a:pt x="1410738" y="80504"/>
                </a:lnTo>
                <a:lnTo>
                  <a:pt x="1468567" y="19211"/>
                </a:lnTo>
                <a:close/>
              </a:path>
              <a:path w="1477010" h="561339">
                <a:moveTo>
                  <a:pt x="1411928" y="19211"/>
                </a:moveTo>
                <a:lnTo>
                  <a:pt x="1391098" y="26833"/>
                </a:lnTo>
                <a:lnTo>
                  <a:pt x="1400918" y="53668"/>
                </a:lnTo>
                <a:lnTo>
                  <a:pt x="1421748" y="46046"/>
                </a:lnTo>
                <a:lnTo>
                  <a:pt x="1425557" y="37840"/>
                </a:lnTo>
                <a:lnTo>
                  <a:pt x="1420134" y="23020"/>
                </a:lnTo>
                <a:lnTo>
                  <a:pt x="1411928" y="19211"/>
                </a:lnTo>
                <a:close/>
              </a:path>
              <a:path w="1477010" h="561339">
                <a:moveTo>
                  <a:pt x="1381278" y="0"/>
                </a:moveTo>
                <a:lnTo>
                  <a:pt x="1391098" y="26833"/>
                </a:lnTo>
                <a:lnTo>
                  <a:pt x="1411928" y="19211"/>
                </a:lnTo>
                <a:lnTo>
                  <a:pt x="1468567" y="19211"/>
                </a:lnTo>
                <a:lnTo>
                  <a:pt x="1476512" y="10791"/>
                </a:lnTo>
                <a:lnTo>
                  <a:pt x="138127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35092" y="4699694"/>
            <a:ext cx="641985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50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55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760548" y="3679011"/>
            <a:ext cx="516890" cy="1248410"/>
          </a:xfrm>
          <a:custGeom>
            <a:avLst/>
            <a:gdLst/>
            <a:ahLst/>
            <a:cxnLst/>
            <a:rect l="l" t="t" r="r" b="b"/>
            <a:pathLst>
              <a:path w="516889" h="1248410">
                <a:moveTo>
                  <a:pt x="53065" y="74293"/>
                </a:moveTo>
                <a:lnTo>
                  <a:pt x="26532" y="84902"/>
                </a:lnTo>
                <a:lnTo>
                  <a:pt x="490129" y="1244347"/>
                </a:lnTo>
                <a:lnTo>
                  <a:pt x="498444" y="1247912"/>
                </a:lnTo>
                <a:lnTo>
                  <a:pt x="513097" y="1242052"/>
                </a:lnTo>
                <a:lnTo>
                  <a:pt x="516662" y="1233737"/>
                </a:lnTo>
                <a:lnTo>
                  <a:pt x="53065" y="74293"/>
                </a:lnTo>
                <a:close/>
              </a:path>
              <a:path w="516889" h="1248410">
                <a:moveTo>
                  <a:pt x="7971" y="0"/>
                </a:moveTo>
                <a:lnTo>
                  <a:pt x="0" y="95511"/>
                </a:lnTo>
                <a:lnTo>
                  <a:pt x="26532" y="84902"/>
                </a:lnTo>
                <a:lnTo>
                  <a:pt x="18298" y="64308"/>
                </a:lnTo>
                <a:lnTo>
                  <a:pt x="21863" y="55994"/>
                </a:lnTo>
                <a:lnTo>
                  <a:pt x="36516" y="50135"/>
                </a:lnTo>
                <a:lnTo>
                  <a:pt x="64359" y="50135"/>
                </a:lnTo>
                <a:lnTo>
                  <a:pt x="7971" y="0"/>
                </a:lnTo>
                <a:close/>
              </a:path>
              <a:path w="516889" h="1248410">
                <a:moveTo>
                  <a:pt x="36516" y="50135"/>
                </a:moveTo>
                <a:lnTo>
                  <a:pt x="21863" y="55994"/>
                </a:lnTo>
                <a:lnTo>
                  <a:pt x="18298" y="64308"/>
                </a:lnTo>
                <a:lnTo>
                  <a:pt x="26532" y="84902"/>
                </a:lnTo>
                <a:lnTo>
                  <a:pt x="53065" y="74293"/>
                </a:lnTo>
                <a:lnTo>
                  <a:pt x="44830" y="53699"/>
                </a:lnTo>
                <a:lnTo>
                  <a:pt x="36516" y="50135"/>
                </a:lnTo>
                <a:close/>
              </a:path>
              <a:path w="516889" h="1248410">
                <a:moveTo>
                  <a:pt x="64359" y="50135"/>
                </a:moveTo>
                <a:lnTo>
                  <a:pt x="36516" y="50135"/>
                </a:lnTo>
                <a:lnTo>
                  <a:pt x="44830" y="53699"/>
                </a:lnTo>
                <a:lnTo>
                  <a:pt x="53065" y="74293"/>
                </a:lnTo>
                <a:lnTo>
                  <a:pt x="79597" y="63684"/>
                </a:lnTo>
                <a:lnTo>
                  <a:pt x="64359" y="50135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41652" y="4140979"/>
            <a:ext cx="641985" cy="307975"/>
          </a:xfrm>
          <a:custGeom>
            <a:avLst/>
            <a:gdLst/>
            <a:ahLst/>
            <a:cxnLst/>
            <a:rect l="l" t="t" r="r" b="b"/>
            <a:pathLst>
              <a:path w="641985" h="307975">
                <a:moveTo>
                  <a:pt x="0" y="0"/>
                </a:moveTo>
                <a:lnTo>
                  <a:pt x="641521" y="0"/>
                </a:lnTo>
                <a:lnTo>
                  <a:pt x="641521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820392" y="4174235"/>
            <a:ext cx="478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genre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35004" y="5087989"/>
            <a:ext cx="742315" cy="1116965"/>
          </a:xfrm>
          <a:custGeom>
            <a:avLst/>
            <a:gdLst/>
            <a:ahLst/>
            <a:cxnLst/>
            <a:rect l="l" t="t" r="r" b="b"/>
            <a:pathLst>
              <a:path w="742314" h="1116964">
                <a:moveTo>
                  <a:pt x="11421" y="1021773"/>
                </a:moveTo>
                <a:lnTo>
                  <a:pt x="0" y="1116934"/>
                </a:lnTo>
                <a:lnTo>
                  <a:pt x="75027" y="1073572"/>
                </a:lnTo>
                <a:lnTo>
                  <a:pt x="38054" y="1073572"/>
                </a:lnTo>
                <a:lnTo>
                  <a:pt x="24880" y="1064882"/>
                </a:lnTo>
                <a:lnTo>
                  <a:pt x="23063" y="1056020"/>
                </a:lnTo>
                <a:lnTo>
                  <a:pt x="35274" y="1037507"/>
                </a:lnTo>
                <a:lnTo>
                  <a:pt x="11421" y="1021773"/>
                </a:lnTo>
                <a:close/>
              </a:path>
              <a:path w="742314" h="1116964">
                <a:moveTo>
                  <a:pt x="35274" y="1037507"/>
                </a:moveTo>
                <a:lnTo>
                  <a:pt x="23063" y="1056020"/>
                </a:lnTo>
                <a:lnTo>
                  <a:pt x="24880" y="1064882"/>
                </a:lnTo>
                <a:lnTo>
                  <a:pt x="38054" y="1073572"/>
                </a:lnTo>
                <a:lnTo>
                  <a:pt x="46916" y="1071754"/>
                </a:lnTo>
                <a:lnTo>
                  <a:pt x="59127" y="1053241"/>
                </a:lnTo>
                <a:lnTo>
                  <a:pt x="35274" y="1037507"/>
                </a:lnTo>
                <a:close/>
              </a:path>
              <a:path w="742314" h="1116964">
                <a:moveTo>
                  <a:pt x="59127" y="1053241"/>
                </a:moveTo>
                <a:lnTo>
                  <a:pt x="46916" y="1071754"/>
                </a:lnTo>
                <a:lnTo>
                  <a:pt x="38054" y="1073572"/>
                </a:lnTo>
                <a:lnTo>
                  <a:pt x="75027" y="1073572"/>
                </a:lnTo>
                <a:lnTo>
                  <a:pt x="82980" y="1068975"/>
                </a:lnTo>
                <a:lnTo>
                  <a:pt x="59127" y="1053241"/>
                </a:lnTo>
                <a:close/>
              </a:path>
              <a:path w="742314" h="1116964">
                <a:moveTo>
                  <a:pt x="727290" y="0"/>
                </a:moveTo>
                <a:lnTo>
                  <a:pt x="718430" y="1817"/>
                </a:lnTo>
                <a:lnTo>
                  <a:pt x="35274" y="1037507"/>
                </a:lnTo>
                <a:lnTo>
                  <a:pt x="59127" y="1053241"/>
                </a:lnTo>
                <a:lnTo>
                  <a:pt x="742283" y="17551"/>
                </a:lnTo>
                <a:lnTo>
                  <a:pt x="740464" y="8689"/>
                </a:lnTo>
                <a:lnTo>
                  <a:pt x="727290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38729" y="5549419"/>
            <a:ext cx="911225" cy="307975"/>
          </a:xfrm>
          <a:custGeom>
            <a:avLst/>
            <a:gdLst/>
            <a:ahLst/>
            <a:cxnLst/>
            <a:rect l="l" t="t" r="r" b="b"/>
            <a:pathLst>
              <a:path w="911225" h="307975">
                <a:moveTo>
                  <a:pt x="0" y="0"/>
                </a:moveTo>
                <a:lnTo>
                  <a:pt x="910827" y="0"/>
                </a:lnTo>
                <a:lnTo>
                  <a:pt x="910827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517469" y="5582411"/>
            <a:ext cx="7454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Inf</a:t>
            </a:r>
            <a:r>
              <a:rPr dirty="0" sz="1400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uen</a:t>
            </a:r>
            <a:r>
              <a:rPr dirty="0" sz="1400"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438600" y="5088393"/>
            <a:ext cx="1628139" cy="477520"/>
          </a:xfrm>
          <a:custGeom>
            <a:avLst/>
            <a:gdLst/>
            <a:ahLst/>
            <a:cxnLst/>
            <a:rect l="l" t="t" r="r" b="b"/>
            <a:pathLst>
              <a:path w="1628139" h="477520">
                <a:moveTo>
                  <a:pt x="1541661" y="449790"/>
                </a:moveTo>
                <a:lnTo>
                  <a:pt x="1534092" y="477346"/>
                </a:lnTo>
                <a:lnTo>
                  <a:pt x="1628109" y="458720"/>
                </a:lnTo>
                <a:lnTo>
                  <a:pt x="1624708" y="455665"/>
                </a:lnTo>
                <a:lnTo>
                  <a:pt x="1563049" y="455665"/>
                </a:lnTo>
                <a:lnTo>
                  <a:pt x="1541661" y="449790"/>
                </a:lnTo>
                <a:close/>
              </a:path>
              <a:path w="1628139" h="477520">
                <a:moveTo>
                  <a:pt x="1549230" y="422237"/>
                </a:moveTo>
                <a:lnTo>
                  <a:pt x="1541661" y="449790"/>
                </a:lnTo>
                <a:lnTo>
                  <a:pt x="1563049" y="455665"/>
                </a:lnTo>
                <a:lnTo>
                  <a:pt x="1570911" y="451192"/>
                </a:lnTo>
                <a:lnTo>
                  <a:pt x="1575092" y="435974"/>
                </a:lnTo>
                <a:lnTo>
                  <a:pt x="1570617" y="428111"/>
                </a:lnTo>
                <a:lnTo>
                  <a:pt x="1549230" y="422237"/>
                </a:lnTo>
                <a:close/>
              </a:path>
              <a:path w="1628139" h="477520">
                <a:moveTo>
                  <a:pt x="1556799" y="394682"/>
                </a:moveTo>
                <a:lnTo>
                  <a:pt x="1549230" y="422237"/>
                </a:lnTo>
                <a:lnTo>
                  <a:pt x="1570617" y="428111"/>
                </a:lnTo>
                <a:lnTo>
                  <a:pt x="1575092" y="435974"/>
                </a:lnTo>
                <a:lnTo>
                  <a:pt x="1570911" y="451192"/>
                </a:lnTo>
                <a:lnTo>
                  <a:pt x="1563049" y="455665"/>
                </a:lnTo>
                <a:lnTo>
                  <a:pt x="1624708" y="455665"/>
                </a:lnTo>
                <a:lnTo>
                  <a:pt x="1556799" y="394682"/>
                </a:lnTo>
                <a:close/>
              </a:path>
              <a:path w="1628139" h="477520">
                <a:moveTo>
                  <a:pt x="12042" y="0"/>
                </a:moveTo>
                <a:lnTo>
                  <a:pt x="4179" y="4474"/>
                </a:lnTo>
                <a:lnTo>
                  <a:pt x="0" y="19692"/>
                </a:lnTo>
                <a:lnTo>
                  <a:pt x="4474" y="27555"/>
                </a:lnTo>
                <a:lnTo>
                  <a:pt x="1541661" y="449790"/>
                </a:lnTo>
                <a:lnTo>
                  <a:pt x="1549230" y="422237"/>
                </a:lnTo>
                <a:lnTo>
                  <a:pt x="1204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783280" y="5182510"/>
            <a:ext cx="911225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65"/>
              </a:spcBef>
            </a:pPr>
            <a:r>
              <a:rPr dirty="0" sz="1400" spc="-5">
                <a:latin typeface="Arial"/>
                <a:cs typeface="Arial"/>
              </a:rPr>
              <a:t>Influence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284259" y="5627913"/>
            <a:ext cx="665480" cy="766445"/>
          </a:xfrm>
          <a:custGeom>
            <a:avLst/>
            <a:gdLst/>
            <a:ahLst/>
            <a:cxnLst/>
            <a:rect l="l" t="t" r="r" b="b"/>
            <a:pathLst>
              <a:path w="665479" h="766445">
                <a:moveTo>
                  <a:pt x="598479" y="710908"/>
                </a:moveTo>
                <a:lnTo>
                  <a:pt x="576872" y="729608"/>
                </a:lnTo>
                <a:lnTo>
                  <a:pt x="665379" y="766381"/>
                </a:lnTo>
                <a:lnTo>
                  <a:pt x="655675" y="728330"/>
                </a:lnTo>
                <a:lnTo>
                  <a:pt x="622015" y="728330"/>
                </a:lnTo>
                <a:lnTo>
                  <a:pt x="612993" y="727679"/>
                </a:lnTo>
                <a:lnTo>
                  <a:pt x="598479" y="710908"/>
                </a:lnTo>
                <a:close/>
              </a:path>
              <a:path w="665479" h="766445">
                <a:moveTo>
                  <a:pt x="620086" y="692210"/>
                </a:moveTo>
                <a:lnTo>
                  <a:pt x="598479" y="710908"/>
                </a:lnTo>
                <a:lnTo>
                  <a:pt x="612993" y="727679"/>
                </a:lnTo>
                <a:lnTo>
                  <a:pt x="622015" y="728330"/>
                </a:lnTo>
                <a:lnTo>
                  <a:pt x="633949" y="718003"/>
                </a:lnTo>
                <a:lnTo>
                  <a:pt x="634599" y="708980"/>
                </a:lnTo>
                <a:lnTo>
                  <a:pt x="620086" y="692210"/>
                </a:lnTo>
                <a:close/>
              </a:path>
              <a:path w="665479" h="766445">
                <a:moveTo>
                  <a:pt x="641694" y="673510"/>
                </a:moveTo>
                <a:lnTo>
                  <a:pt x="620086" y="692210"/>
                </a:lnTo>
                <a:lnTo>
                  <a:pt x="634599" y="708980"/>
                </a:lnTo>
                <a:lnTo>
                  <a:pt x="633949" y="718003"/>
                </a:lnTo>
                <a:lnTo>
                  <a:pt x="622015" y="728330"/>
                </a:lnTo>
                <a:lnTo>
                  <a:pt x="655675" y="728330"/>
                </a:lnTo>
                <a:lnTo>
                  <a:pt x="641694" y="673510"/>
                </a:lnTo>
                <a:close/>
              </a:path>
              <a:path w="665479" h="766445">
                <a:moveTo>
                  <a:pt x="12584" y="0"/>
                </a:moveTo>
                <a:lnTo>
                  <a:pt x="651" y="10327"/>
                </a:lnTo>
                <a:lnTo>
                  <a:pt x="0" y="19350"/>
                </a:lnTo>
                <a:lnTo>
                  <a:pt x="598479" y="710908"/>
                </a:lnTo>
                <a:lnTo>
                  <a:pt x="620086" y="692210"/>
                </a:lnTo>
                <a:lnTo>
                  <a:pt x="21607" y="651"/>
                </a:lnTo>
                <a:lnTo>
                  <a:pt x="12584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26004" y="5504252"/>
            <a:ext cx="1507490" cy="85725"/>
          </a:xfrm>
          <a:custGeom>
            <a:avLst/>
            <a:gdLst/>
            <a:ahLst/>
            <a:cxnLst/>
            <a:rect l="l" t="t" r="r" b="b"/>
            <a:pathLst>
              <a:path w="1507490" h="85725">
                <a:moveTo>
                  <a:pt x="1421635" y="57149"/>
                </a:moveTo>
                <a:lnTo>
                  <a:pt x="1421635" y="85724"/>
                </a:lnTo>
                <a:lnTo>
                  <a:pt x="1478785" y="57149"/>
                </a:lnTo>
                <a:lnTo>
                  <a:pt x="1421635" y="57149"/>
                </a:lnTo>
                <a:close/>
              </a:path>
              <a:path w="1507490" h="85725">
                <a:moveTo>
                  <a:pt x="1421635" y="28574"/>
                </a:moveTo>
                <a:lnTo>
                  <a:pt x="1421635" y="57149"/>
                </a:lnTo>
                <a:lnTo>
                  <a:pt x="1443814" y="57148"/>
                </a:lnTo>
                <a:lnTo>
                  <a:pt x="1450210" y="50753"/>
                </a:lnTo>
                <a:lnTo>
                  <a:pt x="1450209" y="34970"/>
                </a:lnTo>
                <a:lnTo>
                  <a:pt x="1443813" y="28574"/>
                </a:lnTo>
                <a:lnTo>
                  <a:pt x="1421635" y="28574"/>
                </a:lnTo>
                <a:close/>
              </a:path>
              <a:path w="1507490" h="85725">
                <a:moveTo>
                  <a:pt x="1421635" y="0"/>
                </a:moveTo>
                <a:lnTo>
                  <a:pt x="1421635" y="28574"/>
                </a:lnTo>
                <a:lnTo>
                  <a:pt x="1435922" y="28574"/>
                </a:lnTo>
                <a:lnTo>
                  <a:pt x="1443813" y="28574"/>
                </a:lnTo>
                <a:lnTo>
                  <a:pt x="1450209" y="34970"/>
                </a:lnTo>
                <a:lnTo>
                  <a:pt x="1450210" y="50753"/>
                </a:lnTo>
                <a:lnTo>
                  <a:pt x="1443813" y="57149"/>
                </a:lnTo>
                <a:lnTo>
                  <a:pt x="1478787" y="57148"/>
                </a:lnTo>
                <a:lnTo>
                  <a:pt x="1507360" y="42862"/>
                </a:lnTo>
                <a:lnTo>
                  <a:pt x="1421635" y="0"/>
                </a:lnTo>
                <a:close/>
              </a:path>
              <a:path w="1507490" h="85725">
                <a:moveTo>
                  <a:pt x="14287" y="28573"/>
                </a:moveTo>
                <a:lnTo>
                  <a:pt x="6394" y="28574"/>
                </a:lnTo>
                <a:lnTo>
                  <a:pt x="0" y="34970"/>
                </a:lnTo>
                <a:lnTo>
                  <a:pt x="1" y="50753"/>
                </a:lnTo>
                <a:lnTo>
                  <a:pt x="6395" y="57148"/>
                </a:lnTo>
                <a:lnTo>
                  <a:pt x="1421635" y="57149"/>
                </a:lnTo>
                <a:lnTo>
                  <a:pt x="1421635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552135" y="5393225"/>
            <a:ext cx="911225" cy="307975"/>
          </a:xfrm>
          <a:custGeom>
            <a:avLst/>
            <a:gdLst/>
            <a:ahLst/>
            <a:cxnLst/>
            <a:rect l="l" t="t" r="r" b="b"/>
            <a:pathLst>
              <a:path w="911225" h="307975">
                <a:moveTo>
                  <a:pt x="0" y="0"/>
                </a:moveTo>
                <a:lnTo>
                  <a:pt x="910827" y="0"/>
                </a:lnTo>
                <a:lnTo>
                  <a:pt x="910827" y="307776"/>
                </a:lnTo>
                <a:lnTo>
                  <a:pt x="0" y="3077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630875" y="5426964"/>
            <a:ext cx="7454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Inf</a:t>
            </a:r>
            <a:r>
              <a:rPr dirty="0" sz="1400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uen</a:t>
            </a:r>
            <a:r>
              <a:rPr dirty="0" sz="1400"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328188" y="5865197"/>
            <a:ext cx="911225" cy="307975"/>
          </a:xfrm>
          <a:custGeom>
            <a:avLst/>
            <a:gdLst/>
            <a:ahLst/>
            <a:cxnLst/>
            <a:rect l="l" t="t" r="r" b="b"/>
            <a:pathLst>
              <a:path w="911225" h="307975">
                <a:moveTo>
                  <a:pt x="0" y="0"/>
                </a:moveTo>
                <a:lnTo>
                  <a:pt x="910826" y="0"/>
                </a:lnTo>
                <a:lnTo>
                  <a:pt x="910826" y="307777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406929" y="5899403"/>
            <a:ext cx="7454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Inf</a:t>
            </a:r>
            <a:r>
              <a:rPr dirty="0" sz="1400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uen</a:t>
            </a:r>
            <a:r>
              <a:rPr dirty="0" sz="1400">
                <a:latin typeface="Arial"/>
                <a:cs typeface="Arial"/>
              </a:rPr>
              <a:t>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769927" y="3326779"/>
            <a:ext cx="1216660" cy="2099945"/>
          </a:xfrm>
          <a:custGeom>
            <a:avLst/>
            <a:gdLst/>
            <a:ahLst/>
            <a:cxnLst/>
            <a:rect l="l" t="t" r="r" b="b"/>
            <a:pathLst>
              <a:path w="1216659" h="2099945">
                <a:moveTo>
                  <a:pt x="55170" y="67149"/>
                </a:moveTo>
                <a:lnTo>
                  <a:pt x="30410" y="81412"/>
                </a:lnTo>
                <a:lnTo>
                  <a:pt x="1191788" y="2097455"/>
                </a:lnTo>
                <a:lnTo>
                  <a:pt x="1200523" y="2099805"/>
                </a:lnTo>
                <a:lnTo>
                  <a:pt x="1214198" y="2091927"/>
                </a:lnTo>
                <a:lnTo>
                  <a:pt x="1216548" y="2083191"/>
                </a:lnTo>
                <a:lnTo>
                  <a:pt x="55170" y="67149"/>
                </a:lnTo>
                <a:close/>
              </a:path>
              <a:path w="1216659" h="2099945">
                <a:moveTo>
                  <a:pt x="0" y="0"/>
                </a:moveTo>
                <a:lnTo>
                  <a:pt x="5650" y="95676"/>
                </a:lnTo>
                <a:lnTo>
                  <a:pt x="30410" y="81412"/>
                </a:lnTo>
                <a:lnTo>
                  <a:pt x="19342" y="62198"/>
                </a:lnTo>
                <a:lnTo>
                  <a:pt x="21691" y="53461"/>
                </a:lnTo>
                <a:lnTo>
                  <a:pt x="35366" y="45585"/>
                </a:lnTo>
                <a:lnTo>
                  <a:pt x="68898" y="45585"/>
                </a:lnTo>
                <a:lnTo>
                  <a:pt x="0" y="0"/>
                </a:lnTo>
                <a:close/>
              </a:path>
              <a:path w="1216659" h="2099945">
                <a:moveTo>
                  <a:pt x="35366" y="45585"/>
                </a:moveTo>
                <a:lnTo>
                  <a:pt x="21691" y="53461"/>
                </a:lnTo>
                <a:lnTo>
                  <a:pt x="19342" y="62198"/>
                </a:lnTo>
                <a:lnTo>
                  <a:pt x="30410" y="81412"/>
                </a:lnTo>
                <a:lnTo>
                  <a:pt x="55170" y="67149"/>
                </a:lnTo>
                <a:lnTo>
                  <a:pt x="44102" y="47934"/>
                </a:lnTo>
                <a:lnTo>
                  <a:pt x="35366" y="45585"/>
                </a:lnTo>
                <a:close/>
              </a:path>
              <a:path w="1216659" h="2099945">
                <a:moveTo>
                  <a:pt x="68898" y="45585"/>
                </a:moveTo>
                <a:lnTo>
                  <a:pt x="35366" y="45585"/>
                </a:lnTo>
                <a:lnTo>
                  <a:pt x="44102" y="47934"/>
                </a:lnTo>
                <a:lnTo>
                  <a:pt x="55170" y="67149"/>
                </a:lnTo>
                <a:lnTo>
                  <a:pt x="79931" y="52885"/>
                </a:lnTo>
                <a:lnTo>
                  <a:pt x="68898" y="45585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990933" y="4271733"/>
            <a:ext cx="911225" cy="30797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65"/>
              </a:spcBef>
            </a:pPr>
            <a:r>
              <a:rPr dirty="0" sz="1400" spc="-5">
                <a:latin typeface="Arial"/>
                <a:cs typeface="Arial"/>
              </a:rPr>
              <a:t>Influence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60620" y="1825921"/>
            <a:ext cx="7870190" cy="133477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-5">
                <a:latin typeface="Calibri"/>
                <a:cs typeface="Calibri"/>
              </a:rPr>
              <a:t>(</a:t>
            </a:r>
            <a:r>
              <a:rPr dirty="0" sz="2800" spc="-5" b="1">
                <a:solidFill>
                  <a:srgbClr val="3792AA"/>
                </a:solidFill>
                <a:latin typeface="Calibri"/>
                <a:cs typeface="Calibri"/>
              </a:rPr>
              <a:t>head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0" b="1">
                <a:solidFill>
                  <a:srgbClr val="B48200"/>
                </a:solidFill>
                <a:latin typeface="Calibri"/>
                <a:cs typeface="Calibri"/>
              </a:rPr>
              <a:t>relation</a:t>
            </a:r>
            <a:r>
              <a:rPr dirty="0" sz="2800" spc="-10">
                <a:latin typeface="Calibri"/>
                <a:cs typeface="Calibri"/>
              </a:rPr>
              <a:t>),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predict </a:t>
            </a:r>
            <a:r>
              <a:rPr dirty="0" sz="2800" spc="-5">
                <a:latin typeface="Calibri"/>
                <a:cs typeface="Calibri"/>
              </a:rPr>
              <a:t>missing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90" b="1">
                <a:solidFill>
                  <a:srgbClr val="2F6231"/>
                </a:solidFill>
                <a:latin typeface="Calibri"/>
                <a:cs typeface="Calibri"/>
              </a:rPr>
              <a:t>tails</a:t>
            </a:r>
            <a:r>
              <a:rPr dirty="0" sz="2800" spc="-9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(Note </a:t>
            </a:r>
            <a:r>
              <a:rPr dirty="0" sz="2400" spc="-5">
                <a:latin typeface="Calibri"/>
                <a:cs typeface="Calibri"/>
              </a:rPr>
              <a:t>this is </a:t>
            </a:r>
            <a:r>
              <a:rPr dirty="0" sz="2400" spc="-10">
                <a:latin typeface="Calibri"/>
                <a:cs typeface="Calibri"/>
              </a:rPr>
              <a:t>slightly </a:t>
            </a:r>
            <a:r>
              <a:rPr dirty="0" sz="2400" spc="-20">
                <a:latin typeface="Calibri"/>
                <a:cs typeface="Calibri"/>
              </a:rPr>
              <a:t>different </a:t>
            </a:r>
            <a:r>
              <a:rPr dirty="0" sz="2400" spc="-15">
                <a:latin typeface="Calibri"/>
                <a:cs typeface="Calibri"/>
              </a:rPr>
              <a:t>from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task)</a:t>
            </a:r>
            <a:endParaRPr sz="2400">
              <a:latin typeface="Calibri"/>
              <a:cs typeface="Calibri"/>
            </a:endParaRPr>
          </a:p>
          <a:p>
            <a:pPr algn="r" marR="776605">
              <a:lnSpc>
                <a:spcPct val="100000"/>
              </a:lnSpc>
              <a:spcBef>
                <a:spcPts val="994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J.R.R</a:t>
            </a:r>
            <a:r>
              <a:rPr dirty="0" sz="1400" spc="-114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3792AA"/>
                </a:solidFill>
                <a:latin typeface="Arial"/>
                <a:cs typeface="Arial"/>
              </a:rPr>
              <a:t>Tolkien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23266" y="5692140"/>
            <a:ext cx="8750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C.S.</a:t>
            </a:r>
            <a:r>
              <a:rPr dirty="0" sz="1400" spc="-7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Lewis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35928" y="5149596"/>
            <a:ext cx="1013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J.K.</a:t>
            </a:r>
            <a:r>
              <a:rPr dirty="0" sz="1400" spc="-6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Rowling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60135" y="6390132"/>
            <a:ext cx="12877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Lloyd</a:t>
            </a:r>
            <a:r>
              <a:rPr dirty="0" sz="1400" spc="-150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Alexander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002211" y="4863084"/>
            <a:ext cx="10915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Stephen</a:t>
            </a:r>
            <a:r>
              <a:rPr dirty="0" sz="1400" spc="-8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King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079474" y="6505956"/>
            <a:ext cx="7467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Alan</a:t>
            </a:r>
            <a:r>
              <a:rPr dirty="0" sz="1400" spc="-85">
                <a:solidFill>
                  <a:srgbClr val="3792AA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3792AA"/>
                </a:solidFill>
                <a:latin typeface="Arial"/>
                <a:cs typeface="Arial"/>
              </a:rPr>
              <a:t>Poe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10461" y="3247644"/>
            <a:ext cx="12293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Science</a:t>
            </a:r>
            <a:r>
              <a:rPr dirty="0" sz="1400" spc="-65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Fiction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810902" y="4597908"/>
            <a:ext cx="6559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00B050"/>
                </a:solidFill>
                <a:latin typeface="Arial"/>
                <a:cs typeface="Arial"/>
              </a:rPr>
              <a:t>F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anta</a:t>
            </a:r>
            <a:r>
              <a:rPr dirty="0" sz="1400">
                <a:solidFill>
                  <a:srgbClr val="00B050"/>
                </a:solidFill>
                <a:latin typeface="Arial"/>
                <a:cs typeface="Arial"/>
              </a:rPr>
              <a:t>sy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37485" y="6463284"/>
            <a:ext cx="1043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60">
                <a:solidFill>
                  <a:srgbClr val="00B050"/>
                </a:solidFill>
                <a:latin typeface="Arial"/>
                <a:cs typeface="Arial"/>
              </a:rPr>
              <a:t>T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rag</a:t>
            </a:r>
            <a:r>
              <a:rPr dirty="0" sz="1400">
                <a:solidFill>
                  <a:srgbClr val="00B050"/>
                </a:solidFill>
                <a:latin typeface="Arial"/>
                <a:cs typeface="Arial"/>
              </a:rPr>
              <a:t>ic</a:t>
            </a:r>
            <a:r>
              <a:rPr dirty="0" sz="1400" spc="-5">
                <a:solidFill>
                  <a:srgbClr val="00B050"/>
                </a:solidFill>
                <a:latin typeface="Arial"/>
                <a:cs typeface="Arial"/>
              </a:rPr>
              <a:t>omed</a:t>
            </a:r>
            <a:r>
              <a:rPr dirty="0" sz="1400">
                <a:solidFill>
                  <a:srgbClr val="00B050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808586" y="3582244"/>
            <a:ext cx="2314575" cy="1884680"/>
          </a:xfrm>
          <a:custGeom>
            <a:avLst/>
            <a:gdLst/>
            <a:ahLst/>
            <a:cxnLst/>
            <a:rect l="l" t="t" r="r" b="b"/>
            <a:pathLst>
              <a:path w="2314575" h="1884679">
                <a:moveTo>
                  <a:pt x="2256730" y="1815990"/>
                </a:moveTo>
                <a:lnTo>
                  <a:pt x="2247732" y="1816919"/>
                </a:lnTo>
                <a:lnTo>
                  <a:pt x="2237776" y="1829165"/>
                </a:lnTo>
                <a:lnTo>
                  <a:pt x="2238706" y="1838163"/>
                </a:lnTo>
                <a:lnTo>
                  <a:pt x="2295300" y="1884166"/>
                </a:lnTo>
                <a:lnTo>
                  <a:pt x="2304298" y="1883237"/>
                </a:lnTo>
                <a:lnTo>
                  <a:pt x="2314252" y="1870991"/>
                </a:lnTo>
                <a:lnTo>
                  <a:pt x="2313324" y="1861992"/>
                </a:lnTo>
                <a:lnTo>
                  <a:pt x="2256730" y="1815990"/>
                </a:lnTo>
                <a:close/>
              </a:path>
              <a:path w="2314575" h="1884679">
                <a:moveTo>
                  <a:pt x="2168036" y="1743894"/>
                </a:moveTo>
                <a:lnTo>
                  <a:pt x="2159038" y="1744823"/>
                </a:lnTo>
                <a:lnTo>
                  <a:pt x="2149082" y="1757069"/>
                </a:lnTo>
                <a:lnTo>
                  <a:pt x="2150012" y="1766068"/>
                </a:lnTo>
                <a:lnTo>
                  <a:pt x="2206605" y="1812070"/>
                </a:lnTo>
                <a:lnTo>
                  <a:pt x="2215603" y="1811141"/>
                </a:lnTo>
                <a:lnTo>
                  <a:pt x="2225558" y="1798895"/>
                </a:lnTo>
                <a:lnTo>
                  <a:pt x="2224629" y="1789897"/>
                </a:lnTo>
                <a:lnTo>
                  <a:pt x="2168036" y="1743894"/>
                </a:lnTo>
                <a:close/>
              </a:path>
              <a:path w="2314575" h="1884679">
                <a:moveTo>
                  <a:pt x="2079341" y="1671798"/>
                </a:moveTo>
                <a:lnTo>
                  <a:pt x="2070343" y="1672727"/>
                </a:lnTo>
                <a:lnTo>
                  <a:pt x="2060388" y="1684973"/>
                </a:lnTo>
                <a:lnTo>
                  <a:pt x="2061317" y="1693971"/>
                </a:lnTo>
                <a:lnTo>
                  <a:pt x="2117911" y="1739974"/>
                </a:lnTo>
                <a:lnTo>
                  <a:pt x="2126909" y="1739045"/>
                </a:lnTo>
                <a:lnTo>
                  <a:pt x="2136863" y="1726799"/>
                </a:lnTo>
                <a:lnTo>
                  <a:pt x="2135935" y="1717800"/>
                </a:lnTo>
                <a:lnTo>
                  <a:pt x="2079341" y="1671798"/>
                </a:lnTo>
                <a:close/>
              </a:path>
              <a:path w="2314575" h="1884679">
                <a:moveTo>
                  <a:pt x="1990647" y="1599703"/>
                </a:moveTo>
                <a:lnTo>
                  <a:pt x="1981649" y="1600631"/>
                </a:lnTo>
                <a:lnTo>
                  <a:pt x="1971695" y="1612878"/>
                </a:lnTo>
                <a:lnTo>
                  <a:pt x="1972623" y="1621876"/>
                </a:lnTo>
                <a:lnTo>
                  <a:pt x="2029217" y="1667878"/>
                </a:lnTo>
                <a:lnTo>
                  <a:pt x="2038215" y="1666949"/>
                </a:lnTo>
                <a:lnTo>
                  <a:pt x="2048169" y="1654703"/>
                </a:lnTo>
                <a:lnTo>
                  <a:pt x="2047241" y="1645705"/>
                </a:lnTo>
                <a:lnTo>
                  <a:pt x="1990647" y="1599703"/>
                </a:lnTo>
                <a:close/>
              </a:path>
              <a:path w="2314575" h="1884679">
                <a:moveTo>
                  <a:pt x="1901953" y="1527606"/>
                </a:moveTo>
                <a:lnTo>
                  <a:pt x="1892955" y="1528536"/>
                </a:lnTo>
                <a:lnTo>
                  <a:pt x="1883001" y="1540781"/>
                </a:lnTo>
                <a:lnTo>
                  <a:pt x="1883929" y="1549780"/>
                </a:lnTo>
                <a:lnTo>
                  <a:pt x="1940523" y="1595782"/>
                </a:lnTo>
                <a:lnTo>
                  <a:pt x="1949521" y="1594853"/>
                </a:lnTo>
                <a:lnTo>
                  <a:pt x="1959475" y="1582607"/>
                </a:lnTo>
                <a:lnTo>
                  <a:pt x="1958547" y="1573608"/>
                </a:lnTo>
                <a:lnTo>
                  <a:pt x="1901953" y="1527606"/>
                </a:lnTo>
                <a:close/>
              </a:path>
              <a:path w="2314575" h="1884679">
                <a:moveTo>
                  <a:pt x="1813259" y="1455511"/>
                </a:moveTo>
                <a:lnTo>
                  <a:pt x="1804261" y="1456439"/>
                </a:lnTo>
                <a:lnTo>
                  <a:pt x="1794306" y="1468686"/>
                </a:lnTo>
                <a:lnTo>
                  <a:pt x="1795235" y="1477684"/>
                </a:lnTo>
                <a:lnTo>
                  <a:pt x="1851828" y="1523687"/>
                </a:lnTo>
                <a:lnTo>
                  <a:pt x="1860826" y="1522757"/>
                </a:lnTo>
                <a:lnTo>
                  <a:pt x="1870781" y="1510511"/>
                </a:lnTo>
                <a:lnTo>
                  <a:pt x="1869852" y="1501513"/>
                </a:lnTo>
                <a:lnTo>
                  <a:pt x="1813259" y="1455511"/>
                </a:lnTo>
                <a:close/>
              </a:path>
              <a:path w="2314575" h="1884679">
                <a:moveTo>
                  <a:pt x="1724564" y="1383414"/>
                </a:moveTo>
                <a:lnTo>
                  <a:pt x="1715566" y="1384344"/>
                </a:lnTo>
                <a:lnTo>
                  <a:pt x="1705612" y="1396589"/>
                </a:lnTo>
                <a:lnTo>
                  <a:pt x="1706540" y="1405589"/>
                </a:lnTo>
                <a:lnTo>
                  <a:pt x="1763134" y="1451590"/>
                </a:lnTo>
                <a:lnTo>
                  <a:pt x="1772132" y="1450662"/>
                </a:lnTo>
                <a:lnTo>
                  <a:pt x="1782086" y="1438415"/>
                </a:lnTo>
                <a:lnTo>
                  <a:pt x="1781158" y="1429418"/>
                </a:lnTo>
                <a:lnTo>
                  <a:pt x="1724564" y="1383414"/>
                </a:lnTo>
                <a:close/>
              </a:path>
              <a:path w="2314575" h="1884679">
                <a:moveTo>
                  <a:pt x="1635870" y="1311319"/>
                </a:moveTo>
                <a:lnTo>
                  <a:pt x="1626872" y="1312247"/>
                </a:lnTo>
                <a:lnTo>
                  <a:pt x="1616918" y="1324494"/>
                </a:lnTo>
                <a:lnTo>
                  <a:pt x="1617846" y="1333492"/>
                </a:lnTo>
                <a:lnTo>
                  <a:pt x="1674440" y="1379495"/>
                </a:lnTo>
                <a:lnTo>
                  <a:pt x="1683438" y="1378565"/>
                </a:lnTo>
                <a:lnTo>
                  <a:pt x="1693392" y="1366320"/>
                </a:lnTo>
                <a:lnTo>
                  <a:pt x="1692464" y="1357321"/>
                </a:lnTo>
                <a:lnTo>
                  <a:pt x="1635870" y="1311319"/>
                </a:lnTo>
                <a:close/>
              </a:path>
              <a:path w="2314575" h="1884679">
                <a:moveTo>
                  <a:pt x="1547176" y="1239224"/>
                </a:moveTo>
                <a:lnTo>
                  <a:pt x="1538178" y="1240152"/>
                </a:lnTo>
                <a:lnTo>
                  <a:pt x="1528224" y="1252399"/>
                </a:lnTo>
                <a:lnTo>
                  <a:pt x="1529152" y="1261397"/>
                </a:lnTo>
                <a:lnTo>
                  <a:pt x="1585746" y="1307398"/>
                </a:lnTo>
                <a:lnTo>
                  <a:pt x="1594744" y="1306470"/>
                </a:lnTo>
                <a:lnTo>
                  <a:pt x="1604698" y="1294223"/>
                </a:lnTo>
                <a:lnTo>
                  <a:pt x="1603769" y="1285226"/>
                </a:lnTo>
                <a:lnTo>
                  <a:pt x="1547176" y="1239224"/>
                </a:lnTo>
                <a:close/>
              </a:path>
              <a:path w="2314575" h="1884679">
                <a:moveTo>
                  <a:pt x="1458481" y="1167127"/>
                </a:moveTo>
                <a:lnTo>
                  <a:pt x="1449484" y="1168057"/>
                </a:lnTo>
                <a:lnTo>
                  <a:pt x="1439529" y="1180302"/>
                </a:lnTo>
                <a:lnTo>
                  <a:pt x="1440458" y="1189301"/>
                </a:lnTo>
                <a:lnTo>
                  <a:pt x="1497051" y="1235303"/>
                </a:lnTo>
                <a:lnTo>
                  <a:pt x="1506049" y="1234373"/>
                </a:lnTo>
                <a:lnTo>
                  <a:pt x="1516004" y="1222128"/>
                </a:lnTo>
                <a:lnTo>
                  <a:pt x="1515075" y="1213129"/>
                </a:lnTo>
                <a:lnTo>
                  <a:pt x="1458481" y="1167127"/>
                </a:lnTo>
                <a:close/>
              </a:path>
              <a:path w="2314575" h="1884679">
                <a:moveTo>
                  <a:pt x="1369787" y="1095032"/>
                </a:moveTo>
                <a:lnTo>
                  <a:pt x="1360789" y="1095960"/>
                </a:lnTo>
                <a:lnTo>
                  <a:pt x="1350835" y="1108207"/>
                </a:lnTo>
                <a:lnTo>
                  <a:pt x="1351763" y="1117205"/>
                </a:lnTo>
                <a:lnTo>
                  <a:pt x="1408357" y="1163206"/>
                </a:lnTo>
                <a:lnTo>
                  <a:pt x="1417355" y="1162278"/>
                </a:lnTo>
                <a:lnTo>
                  <a:pt x="1427309" y="1150031"/>
                </a:lnTo>
                <a:lnTo>
                  <a:pt x="1426381" y="1141034"/>
                </a:lnTo>
                <a:lnTo>
                  <a:pt x="1369787" y="1095032"/>
                </a:lnTo>
                <a:close/>
              </a:path>
              <a:path w="2314575" h="1884679">
                <a:moveTo>
                  <a:pt x="1281093" y="1022935"/>
                </a:moveTo>
                <a:lnTo>
                  <a:pt x="1272095" y="1023865"/>
                </a:lnTo>
                <a:lnTo>
                  <a:pt x="1262141" y="1036110"/>
                </a:lnTo>
                <a:lnTo>
                  <a:pt x="1263069" y="1045109"/>
                </a:lnTo>
                <a:lnTo>
                  <a:pt x="1319663" y="1091111"/>
                </a:lnTo>
                <a:lnTo>
                  <a:pt x="1328661" y="1090183"/>
                </a:lnTo>
                <a:lnTo>
                  <a:pt x="1338615" y="1077936"/>
                </a:lnTo>
                <a:lnTo>
                  <a:pt x="1337687" y="1068938"/>
                </a:lnTo>
                <a:lnTo>
                  <a:pt x="1281093" y="1022935"/>
                </a:lnTo>
                <a:close/>
              </a:path>
              <a:path w="2314575" h="1884679">
                <a:moveTo>
                  <a:pt x="1192399" y="950840"/>
                </a:moveTo>
                <a:lnTo>
                  <a:pt x="1183401" y="951768"/>
                </a:lnTo>
                <a:lnTo>
                  <a:pt x="1173446" y="964015"/>
                </a:lnTo>
                <a:lnTo>
                  <a:pt x="1174375" y="973013"/>
                </a:lnTo>
                <a:lnTo>
                  <a:pt x="1230969" y="1019016"/>
                </a:lnTo>
                <a:lnTo>
                  <a:pt x="1239967" y="1018086"/>
                </a:lnTo>
                <a:lnTo>
                  <a:pt x="1249921" y="1005841"/>
                </a:lnTo>
                <a:lnTo>
                  <a:pt x="1248992" y="996842"/>
                </a:lnTo>
                <a:lnTo>
                  <a:pt x="1192399" y="950840"/>
                </a:lnTo>
                <a:close/>
              </a:path>
              <a:path w="2314575" h="1884679">
                <a:moveTo>
                  <a:pt x="1103704" y="878743"/>
                </a:moveTo>
                <a:lnTo>
                  <a:pt x="1094706" y="879673"/>
                </a:lnTo>
                <a:lnTo>
                  <a:pt x="1084752" y="891919"/>
                </a:lnTo>
                <a:lnTo>
                  <a:pt x="1085681" y="900917"/>
                </a:lnTo>
                <a:lnTo>
                  <a:pt x="1142274" y="946919"/>
                </a:lnTo>
                <a:lnTo>
                  <a:pt x="1151272" y="945991"/>
                </a:lnTo>
                <a:lnTo>
                  <a:pt x="1161227" y="933744"/>
                </a:lnTo>
                <a:lnTo>
                  <a:pt x="1160298" y="924746"/>
                </a:lnTo>
                <a:lnTo>
                  <a:pt x="1103704" y="878743"/>
                </a:lnTo>
                <a:close/>
              </a:path>
              <a:path w="2314575" h="1884679">
                <a:moveTo>
                  <a:pt x="1015010" y="806648"/>
                </a:moveTo>
                <a:lnTo>
                  <a:pt x="1006012" y="807576"/>
                </a:lnTo>
                <a:lnTo>
                  <a:pt x="996058" y="819823"/>
                </a:lnTo>
                <a:lnTo>
                  <a:pt x="996986" y="828822"/>
                </a:lnTo>
                <a:lnTo>
                  <a:pt x="1053580" y="874824"/>
                </a:lnTo>
                <a:lnTo>
                  <a:pt x="1062578" y="873894"/>
                </a:lnTo>
                <a:lnTo>
                  <a:pt x="1072532" y="861649"/>
                </a:lnTo>
                <a:lnTo>
                  <a:pt x="1071604" y="852650"/>
                </a:lnTo>
                <a:lnTo>
                  <a:pt x="1015010" y="806648"/>
                </a:lnTo>
                <a:close/>
              </a:path>
              <a:path w="2314575" h="1884679">
                <a:moveTo>
                  <a:pt x="926316" y="734552"/>
                </a:moveTo>
                <a:lnTo>
                  <a:pt x="917318" y="735481"/>
                </a:lnTo>
                <a:lnTo>
                  <a:pt x="907364" y="747727"/>
                </a:lnTo>
                <a:lnTo>
                  <a:pt x="908292" y="756725"/>
                </a:lnTo>
                <a:lnTo>
                  <a:pt x="964886" y="802727"/>
                </a:lnTo>
                <a:lnTo>
                  <a:pt x="973884" y="801799"/>
                </a:lnTo>
                <a:lnTo>
                  <a:pt x="983838" y="789552"/>
                </a:lnTo>
                <a:lnTo>
                  <a:pt x="982910" y="780554"/>
                </a:lnTo>
                <a:lnTo>
                  <a:pt x="926316" y="734552"/>
                </a:lnTo>
                <a:close/>
              </a:path>
              <a:path w="2314575" h="1884679">
                <a:moveTo>
                  <a:pt x="837622" y="662456"/>
                </a:moveTo>
                <a:lnTo>
                  <a:pt x="828624" y="663385"/>
                </a:lnTo>
                <a:lnTo>
                  <a:pt x="818669" y="675631"/>
                </a:lnTo>
                <a:lnTo>
                  <a:pt x="819598" y="684630"/>
                </a:lnTo>
                <a:lnTo>
                  <a:pt x="876192" y="730632"/>
                </a:lnTo>
                <a:lnTo>
                  <a:pt x="885190" y="729702"/>
                </a:lnTo>
                <a:lnTo>
                  <a:pt x="895144" y="717457"/>
                </a:lnTo>
                <a:lnTo>
                  <a:pt x="894215" y="708458"/>
                </a:lnTo>
                <a:lnTo>
                  <a:pt x="837622" y="662456"/>
                </a:lnTo>
                <a:close/>
              </a:path>
              <a:path w="2314575" h="1884679">
                <a:moveTo>
                  <a:pt x="748927" y="590360"/>
                </a:moveTo>
                <a:lnTo>
                  <a:pt x="739929" y="591289"/>
                </a:lnTo>
                <a:lnTo>
                  <a:pt x="729975" y="603535"/>
                </a:lnTo>
                <a:lnTo>
                  <a:pt x="730904" y="612533"/>
                </a:lnTo>
                <a:lnTo>
                  <a:pt x="787497" y="658535"/>
                </a:lnTo>
                <a:lnTo>
                  <a:pt x="796495" y="657607"/>
                </a:lnTo>
                <a:lnTo>
                  <a:pt x="806450" y="645360"/>
                </a:lnTo>
                <a:lnTo>
                  <a:pt x="805521" y="636362"/>
                </a:lnTo>
                <a:lnTo>
                  <a:pt x="748927" y="590360"/>
                </a:lnTo>
                <a:close/>
              </a:path>
              <a:path w="2314575" h="1884679">
                <a:moveTo>
                  <a:pt x="660233" y="518264"/>
                </a:moveTo>
                <a:lnTo>
                  <a:pt x="651235" y="519193"/>
                </a:lnTo>
                <a:lnTo>
                  <a:pt x="641281" y="531439"/>
                </a:lnTo>
                <a:lnTo>
                  <a:pt x="642209" y="540438"/>
                </a:lnTo>
                <a:lnTo>
                  <a:pt x="698803" y="586440"/>
                </a:lnTo>
                <a:lnTo>
                  <a:pt x="707801" y="585510"/>
                </a:lnTo>
                <a:lnTo>
                  <a:pt x="717755" y="573265"/>
                </a:lnTo>
                <a:lnTo>
                  <a:pt x="716827" y="564266"/>
                </a:lnTo>
                <a:lnTo>
                  <a:pt x="660233" y="518264"/>
                </a:lnTo>
                <a:close/>
              </a:path>
              <a:path w="2314575" h="1884679">
                <a:moveTo>
                  <a:pt x="571539" y="446168"/>
                </a:moveTo>
                <a:lnTo>
                  <a:pt x="562541" y="447097"/>
                </a:lnTo>
                <a:lnTo>
                  <a:pt x="552587" y="459343"/>
                </a:lnTo>
                <a:lnTo>
                  <a:pt x="553515" y="468341"/>
                </a:lnTo>
                <a:lnTo>
                  <a:pt x="610109" y="514343"/>
                </a:lnTo>
                <a:lnTo>
                  <a:pt x="619107" y="513415"/>
                </a:lnTo>
                <a:lnTo>
                  <a:pt x="629061" y="501168"/>
                </a:lnTo>
                <a:lnTo>
                  <a:pt x="628133" y="492170"/>
                </a:lnTo>
                <a:lnTo>
                  <a:pt x="571539" y="446168"/>
                </a:lnTo>
                <a:close/>
              </a:path>
              <a:path w="2314575" h="1884679">
                <a:moveTo>
                  <a:pt x="482845" y="374072"/>
                </a:moveTo>
                <a:lnTo>
                  <a:pt x="473847" y="375001"/>
                </a:lnTo>
                <a:lnTo>
                  <a:pt x="463892" y="387247"/>
                </a:lnTo>
                <a:lnTo>
                  <a:pt x="464821" y="396246"/>
                </a:lnTo>
                <a:lnTo>
                  <a:pt x="521415" y="442248"/>
                </a:lnTo>
                <a:lnTo>
                  <a:pt x="530412" y="441319"/>
                </a:lnTo>
                <a:lnTo>
                  <a:pt x="540367" y="429073"/>
                </a:lnTo>
                <a:lnTo>
                  <a:pt x="539438" y="420075"/>
                </a:lnTo>
                <a:lnTo>
                  <a:pt x="482845" y="374072"/>
                </a:lnTo>
                <a:close/>
              </a:path>
              <a:path w="2314575" h="1884679">
                <a:moveTo>
                  <a:pt x="394150" y="301976"/>
                </a:moveTo>
                <a:lnTo>
                  <a:pt x="385152" y="302905"/>
                </a:lnTo>
                <a:lnTo>
                  <a:pt x="375198" y="315151"/>
                </a:lnTo>
                <a:lnTo>
                  <a:pt x="376127" y="324149"/>
                </a:lnTo>
                <a:lnTo>
                  <a:pt x="432720" y="370152"/>
                </a:lnTo>
                <a:lnTo>
                  <a:pt x="441718" y="369223"/>
                </a:lnTo>
                <a:lnTo>
                  <a:pt x="451672" y="356977"/>
                </a:lnTo>
                <a:lnTo>
                  <a:pt x="450744" y="347978"/>
                </a:lnTo>
                <a:lnTo>
                  <a:pt x="394150" y="301976"/>
                </a:lnTo>
                <a:close/>
              </a:path>
              <a:path w="2314575" h="1884679">
                <a:moveTo>
                  <a:pt x="305456" y="229880"/>
                </a:moveTo>
                <a:lnTo>
                  <a:pt x="296458" y="230809"/>
                </a:lnTo>
                <a:lnTo>
                  <a:pt x="286504" y="243056"/>
                </a:lnTo>
                <a:lnTo>
                  <a:pt x="287432" y="252054"/>
                </a:lnTo>
                <a:lnTo>
                  <a:pt x="344026" y="298056"/>
                </a:lnTo>
                <a:lnTo>
                  <a:pt x="353024" y="297127"/>
                </a:lnTo>
                <a:lnTo>
                  <a:pt x="362978" y="284881"/>
                </a:lnTo>
                <a:lnTo>
                  <a:pt x="362050" y="275883"/>
                </a:lnTo>
                <a:lnTo>
                  <a:pt x="305456" y="229880"/>
                </a:lnTo>
                <a:close/>
              </a:path>
              <a:path w="2314575" h="1884679">
                <a:moveTo>
                  <a:pt x="216762" y="157784"/>
                </a:moveTo>
                <a:lnTo>
                  <a:pt x="207764" y="158714"/>
                </a:lnTo>
                <a:lnTo>
                  <a:pt x="197810" y="170959"/>
                </a:lnTo>
                <a:lnTo>
                  <a:pt x="198738" y="179958"/>
                </a:lnTo>
                <a:lnTo>
                  <a:pt x="255332" y="225960"/>
                </a:lnTo>
                <a:lnTo>
                  <a:pt x="264330" y="225031"/>
                </a:lnTo>
                <a:lnTo>
                  <a:pt x="274284" y="212785"/>
                </a:lnTo>
                <a:lnTo>
                  <a:pt x="273356" y="203786"/>
                </a:lnTo>
                <a:lnTo>
                  <a:pt x="216762" y="157784"/>
                </a:lnTo>
                <a:close/>
              </a:path>
              <a:path w="2314575" h="1884679">
                <a:moveTo>
                  <a:pt x="128068" y="85689"/>
                </a:moveTo>
                <a:lnTo>
                  <a:pt x="119070" y="86617"/>
                </a:lnTo>
                <a:lnTo>
                  <a:pt x="109115" y="98864"/>
                </a:lnTo>
                <a:lnTo>
                  <a:pt x="110044" y="107862"/>
                </a:lnTo>
                <a:lnTo>
                  <a:pt x="166637" y="153864"/>
                </a:lnTo>
                <a:lnTo>
                  <a:pt x="175635" y="152935"/>
                </a:lnTo>
                <a:lnTo>
                  <a:pt x="185590" y="140689"/>
                </a:lnTo>
                <a:lnTo>
                  <a:pt x="184661" y="131691"/>
                </a:lnTo>
                <a:lnTo>
                  <a:pt x="128068" y="85689"/>
                </a:lnTo>
                <a:close/>
              </a:path>
              <a:path w="2314575" h="1884679">
                <a:moveTo>
                  <a:pt x="0" y="0"/>
                </a:moveTo>
                <a:lnTo>
                  <a:pt x="39484" y="87331"/>
                </a:lnTo>
                <a:lnTo>
                  <a:pt x="57508" y="65158"/>
                </a:lnTo>
                <a:lnTo>
                  <a:pt x="40300" y="51170"/>
                </a:lnTo>
                <a:lnTo>
                  <a:pt x="39372" y="42172"/>
                </a:lnTo>
                <a:lnTo>
                  <a:pt x="49326" y="29926"/>
                </a:lnTo>
                <a:lnTo>
                  <a:pt x="58324" y="28997"/>
                </a:lnTo>
                <a:lnTo>
                  <a:pt x="86901" y="28997"/>
                </a:lnTo>
                <a:lnTo>
                  <a:pt x="93555" y="20811"/>
                </a:lnTo>
                <a:lnTo>
                  <a:pt x="0" y="0"/>
                </a:lnTo>
                <a:close/>
              </a:path>
              <a:path w="2314575" h="1884679">
                <a:moveTo>
                  <a:pt x="75532" y="42984"/>
                </a:moveTo>
                <a:lnTo>
                  <a:pt x="57508" y="65158"/>
                </a:lnTo>
                <a:lnTo>
                  <a:pt x="77943" y="81768"/>
                </a:lnTo>
                <a:lnTo>
                  <a:pt x="86941" y="80840"/>
                </a:lnTo>
                <a:lnTo>
                  <a:pt x="96895" y="68593"/>
                </a:lnTo>
                <a:lnTo>
                  <a:pt x="95967" y="59594"/>
                </a:lnTo>
                <a:lnTo>
                  <a:pt x="75532" y="42984"/>
                </a:lnTo>
                <a:close/>
              </a:path>
              <a:path w="2314575" h="1884679">
                <a:moveTo>
                  <a:pt x="58324" y="28997"/>
                </a:moveTo>
                <a:lnTo>
                  <a:pt x="49326" y="29926"/>
                </a:lnTo>
                <a:lnTo>
                  <a:pt x="39372" y="42172"/>
                </a:lnTo>
                <a:lnTo>
                  <a:pt x="40300" y="51170"/>
                </a:lnTo>
                <a:lnTo>
                  <a:pt x="57508" y="65158"/>
                </a:lnTo>
                <a:lnTo>
                  <a:pt x="75532" y="42984"/>
                </a:lnTo>
                <a:lnTo>
                  <a:pt x="58324" y="28997"/>
                </a:lnTo>
                <a:close/>
              </a:path>
              <a:path w="2314575" h="1884679">
                <a:moveTo>
                  <a:pt x="86901" y="28997"/>
                </a:moveTo>
                <a:lnTo>
                  <a:pt x="58324" y="28997"/>
                </a:lnTo>
                <a:lnTo>
                  <a:pt x="75532" y="42984"/>
                </a:lnTo>
                <a:lnTo>
                  <a:pt x="86901" y="28997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68801" y="3657091"/>
            <a:ext cx="26803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latin typeface="Arial"/>
                <a:cs typeface="Arial"/>
              </a:rPr>
              <a:t>Example task</a:t>
            </a:r>
            <a:r>
              <a:rPr dirty="0" sz="1800" spc="-5">
                <a:latin typeface="Arial"/>
                <a:cs typeface="Arial"/>
              </a:rPr>
              <a:t>: predict the  </a:t>
            </a:r>
            <a:r>
              <a:rPr dirty="0" sz="1800">
                <a:latin typeface="Arial"/>
                <a:cs typeface="Arial"/>
              </a:rPr>
              <a:t>tail </a:t>
            </a:r>
            <a:r>
              <a:rPr dirty="0" sz="1800" spc="-5">
                <a:latin typeface="Arial"/>
                <a:cs typeface="Arial"/>
              </a:rPr>
              <a:t>“</a:t>
            </a:r>
            <a:r>
              <a:rPr dirty="0" sz="1800" spc="-5">
                <a:solidFill>
                  <a:srgbClr val="00B050"/>
                </a:solidFill>
                <a:latin typeface="Arial"/>
                <a:cs typeface="Arial"/>
              </a:rPr>
              <a:t>Science Fiction</a:t>
            </a:r>
            <a:r>
              <a:rPr dirty="0" sz="1800" spc="-5">
                <a:latin typeface="Arial"/>
                <a:cs typeface="Arial"/>
              </a:rPr>
              <a:t>” for  (“</a:t>
            </a:r>
            <a:r>
              <a:rPr dirty="0" sz="1800" spc="-5">
                <a:solidFill>
                  <a:srgbClr val="0070C0"/>
                </a:solidFill>
                <a:latin typeface="Arial"/>
                <a:cs typeface="Arial"/>
              </a:rPr>
              <a:t>J.K. Rowling</a:t>
            </a:r>
            <a:r>
              <a:rPr dirty="0" sz="1800" spc="-5">
                <a:latin typeface="Arial"/>
                <a:cs typeface="Arial"/>
              </a:rPr>
              <a:t>”,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“genre”)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35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354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4476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Simplest encoding approach: </a:t>
            </a:r>
            <a:r>
              <a:rPr dirty="0" spc="-10">
                <a:solidFill>
                  <a:srgbClr val="C00000"/>
                </a:solidFill>
              </a:rPr>
              <a:t>encoder </a:t>
            </a:r>
            <a:r>
              <a:rPr dirty="0">
                <a:solidFill>
                  <a:srgbClr val="C00000"/>
                </a:solidFill>
              </a:rPr>
              <a:t>is </a:t>
            </a:r>
            <a:r>
              <a:rPr dirty="0" spc="-15">
                <a:solidFill>
                  <a:srgbClr val="C00000"/>
                </a:solidFill>
              </a:rPr>
              <a:t>just  </a:t>
            </a:r>
            <a:r>
              <a:rPr dirty="0" spc="-5">
                <a:solidFill>
                  <a:srgbClr val="C00000"/>
                </a:solidFill>
              </a:rPr>
              <a:t>an</a:t>
            </a:r>
            <a:r>
              <a:rPr dirty="0" spc="-25">
                <a:solidFill>
                  <a:srgbClr val="C00000"/>
                </a:solidFill>
              </a:rPr>
              <a:t> </a:t>
            </a:r>
            <a:r>
              <a:rPr dirty="0" spc="-10">
                <a:solidFill>
                  <a:srgbClr val="C00000"/>
                </a:solidFill>
              </a:rPr>
              <a:t>embedding-lookup</a:t>
            </a:r>
          </a:p>
        </p:txBody>
      </p:sp>
      <p:sp>
        <p:nvSpPr>
          <p:cNvPr id="4" name="object 4"/>
          <p:cNvSpPr/>
          <p:nvPr/>
        </p:nvSpPr>
        <p:spPr>
          <a:xfrm>
            <a:off x="2146546" y="3368724"/>
            <a:ext cx="4266565" cy="2095500"/>
          </a:xfrm>
          <a:custGeom>
            <a:avLst/>
            <a:gdLst/>
            <a:ahLst/>
            <a:cxnLst/>
            <a:rect l="l" t="t" r="r" b="b"/>
            <a:pathLst>
              <a:path w="4266565" h="2095500">
                <a:moveTo>
                  <a:pt x="4241939" y="0"/>
                </a:moveTo>
                <a:lnTo>
                  <a:pt x="23999" y="0"/>
                </a:lnTo>
                <a:lnTo>
                  <a:pt x="14657" y="1886"/>
                </a:lnTo>
                <a:lnTo>
                  <a:pt x="7028" y="7029"/>
                </a:lnTo>
                <a:lnTo>
                  <a:pt x="1885" y="14658"/>
                </a:lnTo>
                <a:lnTo>
                  <a:pt x="0" y="24000"/>
                </a:lnTo>
                <a:lnTo>
                  <a:pt x="0" y="2070877"/>
                </a:lnTo>
                <a:lnTo>
                  <a:pt x="1885" y="2080219"/>
                </a:lnTo>
                <a:lnTo>
                  <a:pt x="7028" y="2087848"/>
                </a:lnTo>
                <a:lnTo>
                  <a:pt x="14657" y="2092991"/>
                </a:lnTo>
                <a:lnTo>
                  <a:pt x="23999" y="2094877"/>
                </a:lnTo>
                <a:lnTo>
                  <a:pt x="4241939" y="2094877"/>
                </a:lnTo>
                <a:lnTo>
                  <a:pt x="4251281" y="2092991"/>
                </a:lnTo>
                <a:lnTo>
                  <a:pt x="4258909" y="2087848"/>
                </a:lnTo>
                <a:lnTo>
                  <a:pt x="4264052" y="2080219"/>
                </a:lnTo>
                <a:lnTo>
                  <a:pt x="4265938" y="2070877"/>
                </a:lnTo>
                <a:lnTo>
                  <a:pt x="4265938" y="2066077"/>
                </a:lnTo>
                <a:lnTo>
                  <a:pt x="28799" y="2066077"/>
                </a:lnTo>
                <a:lnTo>
                  <a:pt x="28799" y="28799"/>
                </a:lnTo>
                <a:lnTo>
                  <a:pt x="4265938" y="28799"/>
                </a:lnTo>
                <a:lnTo>
                  <a:pt x="4265938" y="24000"/>
                </a:lnTo>
                <a:lnTo>
                  <a:pt x="4264052" y="14658"/>
                </a:lnTo>
                <a:lnTo>
                  <a:pt x="4258909" y="7029"/>
                </a:lnTo>
                <a:lnTo>
                  <a:pt x="4251281" y="1886"/>
                </a:lnTo>
                <a:lnTo>
                  <a:pt x="4241939" y="0"/>
                </a:lnTo>
                <a:close/>
              </a:path>
              <a:path w="4266565" h="2095500">
                <a:moveTo>
                  <a:pt x="4265938" y="28799"/>
                </a:moveTo>
                <a:lnTo>
                  <a:pt x="4237139" y="28799"/>
                </a:lnTo>
                <a:lnTo>
                  <a:pt x="4237139" y="2066077"/>
                </a:lnTo>
                <a:lnTo>
                  <a:pt x="4265938" y="2066077"/>
                </a:lnTo>
                <a:lnTo>
                  <a:pt x="4265938" y="28799"/>
                </a:lnTo>
                <a:close/>
              </a:path>
              <a:path w="4266565" h="2095500">
                <a:moveTo>
                  <a:pt x="4227539" y="38400"/>
                </a:moveTo>
                <a:lnTo>
                  <a:pt x="38399" y="38400"/>
                </a:lnTo>
                <a:lnTo>
                  <a:pt x="38399" y="2056477"/>
                </a:lnTo>
                <a:lnTo>
                  <a:pt x="4227539" y="2056477"/>
                </a:lnTo>
                <a:lnTo>
                  <a:pt x="4227539" y="2046876"/>
                </a:lnTo>
                <a:lnTo>
                  <a:pt x="47999" y="2046876"/>
                </a:lnTo>
                <a:lnTo>
                  <a:pt x="47999" y="48000"/>
                </a:lnTo>
                <a:lnTo>
                  <a:pt x="4227539" y="48000"/>
                </a:lnTo>
                <a:lnTo>
                  <a:pt x="4227539" y="38400"/>
                </a:lnTo>
                <a:close/>
              </a:path>
              <a:path w="4266565" h="2095500">
                <a:moveTo>
                  <a:pt x="4227539" y="48000"/>
                </a:moveTo>
                <a:lnTo>
                  <a:pt x="4217939" y="48000"/>
                </a:lnTo>
                <a:lnTo>
                  <a:pt x="4217939" y="2046876"/>
                </a:lnTo>
                <a:lnTo>
                  <a:pt x="4227539" y="2046876"/>
                </a:lnTo>
                <a:lnTo>
                  <a:pt x="4227539" y="4800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75652" y="3983833"/>
            <a:ext cx="1092835" cy="754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750" spc="75" b="1" i="1">
                <a:solidFill>
                  <a:srgbClr val="231F20"/>
                </a:solidFill>
                <a:latin typeface="Georgia"/>
                <a:cs typeface="Georgia"/>
              </a:rPr>
              <a:t>Z</a:t>
            </a:r>
            <a:r>
              <a:rPr dirty="0" sz="4750" spc="25" b="1" i="1">
                <a:solidFill>
                  <a:srgbClr val="231F20"/>
                </a:solidFill>
                <a:latin typeface="Georgia"/>
                <a:cs typeface="Georgia"/>
              </a:rPr>
              <a:t> </a:t>
            </a:r>
            <a:r>
              <a:rPr dirty="0" sz="4750" spc="-65">
                <a:solidFill>
                  <a:srgbClr val="231F20"/>
                </a:solidFill>
                <a:latin typeface="Lucida Sans Unicode"/>
                <a:cs typeface="Lucida Sans Unicode"/>
              </a:rPr>
              <a:t>=</a:t>
            </a:r>
            <a:endParaRPr sz="47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38407" y="3384636"/>
            <a:ext cx="267970" cy="2078989"/>
          </a:xfrm>
          <a:custGeom>
            <a:avLst/>
            <a:gdLst/>
            <a:ahLst/>
            <a:cxnLst/>
            <a:rect l="l" t="t" r="r" b="b"/>
            <a:pathLst>
              <a:path w="267970" h="2078989">
                <a:moveTo>
                  <a:pt x="28775" y="2017908"/>
                </a:moveTo>
                <a:lnTo>
                  <a:pt x="120" y="2020796"/>
                </a:lnTo>
                <a:lnTo>
                  <a:pt x="1024" y="2029766"/>
                </a:lnTo>
                <a:lnTo>
                  <a:pt x="1344" y="2031342"/>
                </a:lnTo>
                <a:lnTo>
                  <a:pt x="11766" y="2054153"/>
                </a:lnTo>
                <a:lnTo>
                  <a:pt x="34243" y="2036142"/>
                </a:lnTo>
                <a:lnTo>
                  <a:pt x="31318" y="2030752"/>
                </a:lnTo>
                <a:lnTo>
                  <a:pt x="29470" y="2024799"/>
                </a:lnTo>
                <a:lnTo>
                  <a:pt x="28824" y="2018389"/>
                </a:lnTo>
                <a:lnTo>
                  <a:pt x="28775" y="2017908"/>
                </a:lnTo>
                <a:close/>
              </a:path>
              <a:path w="267970" h="2078989">
                <a:moveTo>
                  <a:pt x="28799" y="1970389"/>
                </a:moveTo>
                <a:lnTo>
                  <a:pt x="0" y="1970389"/>
                </a:lnTo>
                <a:lnTo>
                  <a:pt x="0" y="2018389"/>
                </a:lnTo>
                <a:lnTo>
                  <a:pt x="23999" y="2018389"/>
                </a:lnTo>
                <a:lnTo>
                  <a:pt x="28775" y="2017908"/>
                </a:lnTo>
                <a:lnTo>
                  <a:pt x="28799" y="1970389"/>
                </a:lnTo>
                <a:close/>
              </a:path>
              <a:path w="267970" h="2078989">
                <a:moveTo>
                  <a:pt x="28799" y="2018147"/>
                </a:moveTo>
                <a:lnTo>
                  <a:pt x="28799" y="2018389"/>
                </a:lnTo>
                <a:lnTo>
                  <a:pt x="28799" y="2018147"/>
                </a:lnTo>
                <a:close/>
              </a:path>
              <a:path w="267970" h="2078989">
                <a:moveTo>
                  <a:pt x="28799" y="2017908"/>
                </a:moveTo>
                <a:lnTo>
                  <a:pt x="28799" y="2018147"/>
                </a:lnTo>
                <a:lnTo>
                  <a:pt x="28799" y="2017908"/>
                </a:lnTo>
                <a:close/>
              </a:path>
              <a:path w="267970" h="2078989">
                <a:moveTo>
                  <a:pt x="47878" y="2015981"/>
                </a:moveTo>
                <a:lnTo>
                  <a:pt x="38399" y="2016938"/>
                </a:lnTo>
                <a:lnTo>
                  <a:pt x="38472" y="2018389"/>
                </a:lnTo>
                <a:lnTo>
                  <a:pt x="38924" y="2022875"/>
                </a:lnTo>
                <a:lnTo>
                  <a:pt x="40206" y="2027003"/>
                </a:lnTo>
                <a:lnTo>
                  <a:pt x="42237" y="2030746"/>
                </a:lnTo>
                <a:lnTo>
                  <a:pt x="50232" y="2025351"/>
                </a:lnTo>
                <a:lnTo>
                  <a:pt x="49094" y="2023254"/>
                </a:lnTo>
                <a:lnTo>
                  <a:pt x="48379" y="2020951"/>
                </a:lnTo>
                <a:lnTo>
                  <a:pt x="48121" y="2018389"/>
                </a:lnTo>
                <a:lnTo>
                  <a:pt x="47878" y="2015981"/>
                </a:lnTo>
                <a:close/>
              </a:path>
              <a:path w="267970" h="2078989">
                <a:moveTo>
                  <a:pt x="38399" y="2017664"/>
                </a:moveTo>
                <a:lnTo>
                  <a:pt x="38399" y="2018389"/>
                </a:lnTo>
                <a:lnTo>
                  <a:pt x="38399" y="2017664"/>
                </a:lnTo>
                <a:close/>
              </a:path>
              <a:path w="267970" h="2078989">
                <a:moveTo>
                  <a:pt x="47999" y="2017179"/>
                </a:moveTo>
                <a:lnTo>
                  <a:pt x="47999" y="2018389"/>
                </a:lnTo>
                <a:lnTo>
                  <a:pt x="47999" y="2017179"/>
                </a:lnTo>
                <a:close/>
              </a:path>
              <a:path w="267970" h="2078989">
                <a:moveTo>
                  <a:pt x="47999" y="2015981"/>
                </a:moveTo>
                <a:lnTo>
                  <a:pt x="47999" y="2017179"/>
                </a:lnTo>
                <a:lnTo>
                  <a:pt x="47999" y="2015981"/>
                </a:lnTo>
                <a:close/>
              </a:path>
              <a:path w="267970" h="2078989">
                <a:moveTo>
                  <a:pt x="47999" y="1970389"/>
                </a:moveTo>
                <a:lnTo>
                  <a:pt x="38399" y="1970389"/>
                </a:lnTo>
                <a:lnTo>
                  <a:pt x="38399" y="2016938"/>
                </a:lnTo>
                <a:lnTo>
                  <a:pt x="47878" y="2015981"/>
                </a:lnTo>
                <a:lnTo>
                  <a:pt x="47999" y="1970389"/>
                </a:lnTo>
                <a:close/>
              </a:path>
              <a:path w="267970" h="2078989">
                <a:moveTo>
                  <a:pt x="28799" y="1874389"/>
                </a:moveTo>
                <a:lnTo>
                  <a:pt x="0" y="1874389"/>
                </a:lnTo>
                <a:lnTo>
                  <a:pt x="0" y="1922388"/>
                </a:lnTo>
                <a:lnTo>
                  <a:pt x="28799" y="1922388"/>
                </a:lnTo>
                <a:lnTo>
                  <a:pt x="28799" y="1874389"/>
                </a:lnTo>
                <a:close/>
              </a:path>
              <a:path w="267970" h="2078989">
                <a:moveTo>
                  <a:pt x="47999" y="1874389"/>
                </a:moveTo>
                <a:lnTo>
                  <a:pt x="38399" y="1874389"/>
                </a:lnTo>
                <a:lnTo>
                  <a:pt x="38399" y="1922388"/>
                </a:lnTo>
                <a:lnTo>
                  <a:pt x="47999" y="1922388"/>
                </a:lnTo>
                <a:lnTo>
                  <a:pt x="47999" y="1874389"/>
                </a:lnTo>
                <a:close/>
              </a:path>
              <a:path w="267970" h="2078989">
                <a:moveTo>
                  <a:pt x="28799" y="1778389"/>
                </a:moveTo>
                <a:lnTo>
                  <a:pt x="0" y="1778389"/>
                </a:lnTo>
                <a:lnTo>
                  <a:pt x="0" y="1826389"/>
                </a:lnTo>
                <a:lnTo>
                  <a:pt x="28799" y="1826389"/>
                </a:lnTo>
                <a:lnTo>
                  <a:pt x="28799" y="1778389"/>
                </a:lnTo>
                <a:close/>
              </a:path>
              <a:path w="267970" h="2078989">
                <a:moveTo>
                  <a:pt x="47999" y="1778389"/>
                </a:moveTo>
                <a:lnTo>
                  <a:pt x="38399" y="1778389"/>
                </a:lnTo>
                <a:lnTo>
                  <a:pt x="38399" y="1826389"/>
                </a:lnTo>
                <a:lnTo>
                  <a:pt x="47999" y="1826389"/>
                </a:lnTo>
                <a:lnTo>
                  <a:pt x="47999" y="1778389"/>
                </a:lnTo>
                <a:close/>
              </a:path>
              <a:path w="267970" h="2078989">
                <a:moveTo>
                  <a:pt x="28799" y="1682389"/>
                </a:moveTo>
                <a:lnTo>
                  <a:pt x="0" y="1682389"/>
                </a:lnTo>
                <a:lnTo>
                  <a:pt x="0" y="1730388"/>
                </a:lnTo>
                <a:lnTo>
                  <a:pt x="28799" y="1730388"/>
                </a:lnTo>
                <a:lnTo>
                  <a:pt x="28799" y="1682389"/>
                </a:lnTo>
                <a:close/>
              </a:path>
              <a:path w="267970" h="2078989">
                <a:moveTo>
                  <a:pt x="47999" y="1682389"/>
                </a:moveTo>
                <a:lnTo>
                  <a:pt x="38399" y="1682389"/>
                </a:lnTo>
                <a:lnTo>
                  <a:pt x="38399" y="1730388"/>
                </a:lnTo>
                <a:lnTo>
                  <a:pt x="47999" y="1730388"/>
                </a:lnTo>
                <a:lnTo>
                  <a:pt x="47999" y="1682389"/>
                </a:lnTo>
                <a:close/>
              </a:path>
              <a:path w="267970" h="2078989">
                <a:moveTo>
                  <a:pt x="28799" y="1586388"/>
                </a:moveTo>
                <a:lnTo>
                  <a:pt x="0" y="1586388"/>
                </a:lnTo>
                <a:lnTo>
                  <a:pt x="0" y="1634389"/>
                </a:lnTo>
                <a:lnTo>
                  <a:pt x="28799" y="1634389"/>
                </a:lnTo>
                <a:lnTo>
                  <a:pt x="28799" y="1586388"/>
                </a:lnTo>
                <a:close/>
              </a:path>
              <a:path w="267970" h="2078989">
                <a:moveTo>
                  <a:pt x="47999" y="1586388"/>
                </a:moveTo>
                <a:lnTo>
                  <a:pt x="38399" y="1586388"/>
                </a:lnTo>
                <a:lnTo>
                  <a:pt x="38399" y="1634389"/>
                </a:lnTo>
                <a:lnTo>
                  <a:pt x="47999" y="1634389"/>
                </a:lnTo>
                <a:lnTo>
                  <a:pt x="47999" y="1586388"/>
                </a:lnTo>
                <a:close/>
              </a:path>
              <a:path w="267970" h="2078989">
                <a:moveTo>
                  <a:pt x="28799" y="1490389"/>
                </a:moveTo>
                <a:lnTo>
                  <a:pt x="0" y="1490389"/>
                </a:lnTo>
                <a:lnTo>
                  <a:pt x="0" y="1538389"/>
                </a:lnTo>
                <a:lnTo>
                  <a:pt x="28799" y="1538389"/>
                </a:lnTo>
                <a:lnTo>
                  <a:pt x="28799" y="1490389"/>
                </a:lnTo>
                <a:close/>
              </a:path>
              <a:path w="267970" h="2078989">
                <a:moveTo>
                  <a:pt x="47999" y="1490389"/>
                </a:moveTo>
                <a:lnTo>
                  <a:pt x="38399" y="1490389"/>
                </a:lnTo>
                <a:lnTo>
                  <a:pt x="38399" y="1538389"/>
                </a:lnTo>
                <a:lnTo>
                  <a:pt x="47999" y="1538389"/>
                </a:lnTo>
                <a:lnTo>
                  <a:pt x="47999" y="1490389"/>
                </a:lnTo>
                <a:close/>
              </a:path>
              <a:path w="267970" h="2078989">
                <a:moveTo>
                  <a:pt x="28799" y="1394388"/>
                </a:moveTo>
                <a:lnTo>
                  <a:pt x="0" y="1394388"/>
                </a:lnTo>
                <a:lnTo>
                  <a:pt x="0" y="1442389"/>
                </a:lnTo>
                <a:lnTo>
                  <a:pt x="28799" y="1442389"/>
                </a:lnTo>
                <a:lnTo>
                  <a:pt x="28799" y="1394388"/>
                </a:lnTo>
                <a:close/>
              </a:path>
              <a:path w="267970" h="2078989">
                <a:moveTo>
                  <a:pt x="47999" y="1394388"/>
                </a:moveTo>
                <a:lnTo>
                  <a:pt x="38399" y="1394388"/>
                </a:lnTo>
                <a:lnTo>
                  <a:pt x="38399" y="1442389"/>
                </a:lnTo>
                <a:lnTo>
                  <a:pt x="47999" y="1442389"/>
                </a:lnTo>
                <a:lnTo>
                  <a:pt x="47999" y="1394388"/>
                </a:lnTo>
                <a:close/>
              </a:path>
              <a:path w="267970" h="2078989">
                <a:moveTo>
                  <a:pt x="28799" y="1298389"/>
                </a:moveTo>
                <a:lnTo>
                  <a:pt x="0" y="1298389"/>
                </a:lnTo>
                <a:lnTo>
                  <a:pt x="0" y="1346389"/>
                </a:lnTo>
                <a:lnTo>
                  <a:pt x="28799" y="1346389"/>
                </a:lnTo>
                <a:lnTo>
                  <a:pt x="28799" y="1298389"/>
                </a:lnTo>
                <a:close/>
              </a:path>
              <a:path w="267970" h="2078989">
                <a:moveTo>
                  <a:pt x="47999" y="1298389"/>
                </a:moveTo>
                <a:lnTo>
                  <a:pt x="38399" y="1298389"/>
                </a:lnTo>
                <a:lnTo>
                  <a:pt x="38399" y="1346389"/>
                </a:lnTo>
                <a:lnTo>
                  <a:pt x="47999" y="1346389"/>
                </a:lnTo>
                <a:lnTo>
                  <a:pt x="47999" y="1298389"/>
                </a:lnTo>
                <a:close/>
              </a:path>
              <a:path w="267970" h="2078989">
                <a:moveTo>
                  <a:pt x="28799" y="1202389"/>
                </a:moveTo>
                <a:lnTo>
                  <a:pt x="0" y="1202389"/>
                </a:lnTo>
                <a:lnTo>
                  <a:pt x="0" y="1250389"/>
                </a:lnTo>
                <a:lnTo>
                  <a:pt x="28799" y="1250389"/>
                </a:lnTo>
                <a:lnTo>
                  <a:pt x="28799" y="1202389"/>
                </a:lnTo>
                <a:close/>
              </a:path>
              <a:path w="267970" h="2078989">
                <a:moveTo>
                  <a:pt x="47999" y="1202389"/>
                </a:moveTo>
                <a:lnTo>
                  <a:pt x="38399" y="1202389"/>
                </a:lnTo>
                <a:lnTo>
                  <a:pt x="38399" y="1250389"/>
                </a:lnTo>
                <a:lnTo>
                  <a:pt x="47999" y="1250389"/>
                </a:lnTo>
                <a:lnTo>
                  <a:pt x="47999" y="1202389"/>
                </a:lnTo>
                <a:close/>
              </a:path>
              <a:path w="267970" h="2078989">
                <a:moveTo>
                  <a:pt x="28799" y="1106389"/>
                </a:moveTo>
                <a:lnTo>
                  <a:pt x="0" y="1106389"/>
                </a:lnTo>
                <a:lnTo>
                  <a:pt x="0" y="1154389"/>
                </a:lnTo>
                <a:lnTo>
                  <a:pt x="28799" y="1154389"/>
                </a:lnTo>
                <a:lnTo>
                  <a:pt x="28799" y="1106389"/>
                </a:lnTo>
                <a:close/>
              </a:path>
              <a:path w="267970" h="2078989">
                <a:moveTo>
                  <a:pt x="47999" y="1106389"/>
                </a:moveTo>
                <a:lnTo>
                  <a:pt x="38399" y="1106389"/>
                </a:lnTo>
                <a:lnTo>
                  <a:pt x="38399" y="1154389"/>
                </a:lnTo>
                <a:lnTo>
                  <a:pt x="47999" y="1154389"/>
                </a:lnTo>
                <a:lnTo>
                  <a:pt x="47999" y="1106389"/>
                </a:lnTo>
                <a:close/>
              </a:path>
              <a:path w="267970" h="2078989">
                <a:moveTo>
                  <a:pt x="28799" y="1010389"/>
                </a:moveTo>
                <a:lnTo>
                  <a:pt x="0" y="1010389"/>
                </a:lnTo>
                <a:lnTo>
                  <a:pt x="0" y="1058388"/>
                </a:lnTo>
                <a:lnTo>
                  <a:pt x="28799" y="1058388"/>
                </a:lnTo>
                <a:lnTo>
                  <a:pt x="28799" y="1010389"/>
                </a:lnTo>
                <a:close/>
              </a:path>
              <a:path w="267970" h="2078989">
                <a:moveTo>
                  <a:pt x="47999" y="1010389"/>
                </a:moveTo>
                <a:lnTo>
                  <a:pt x="38399" y="1010389"/>
                </a:lnTo>
                <a:lnTo>
                  <a:pt x="38399" y="1058388"/>
                </a:lnTo>
                <a:lnTo>
                  <a:pt x="47999" y="1058388"/>
                </a:lnTo>
                <a:lnTo>
                  <a:pt x="47999" y="1010389"/>
                </a:lnTo>
                <a:close/>
              </a:path>
              <a:path w="267970" h="2078989">
                <a:moveTo>
                  <a:pt x="28799" y="914389"/>
                </a:moveTo>
                <a:lnTo>
                  <a:pt x="0" y="914389"/>
                </a:lnTo>
                <a:lnTo>
                  <a:pt x="0" y="962389"/>
                </a:lnTo>
                <a:lnTo>
                  <a:pt x="28799" y="962389"/>
                </a:lnTo>
                <a:lnTo>
                  <a:pt x="28799" y="914389"/>
                </a:lnTo>
                <a:close/>
              </a:path>
              <a:path w="267970" h="2078989">
                <a:moveTo>
                  <a:pt x="47999" y="914389"/>
                </a:moveTo>
                <a:lnTo>
                  <a:pt x="38399" y="914389"/>
                </a:lnTo>
                <a:lnTo>
                  <a:pt x="38399" y="962389"/>
                </a:lnTo>
                <a:lnTo>
                  <a:pt x="47999" y="962389"/>
                </a:lnTo>
                <a:lnTo>
                  <a:pt x="47999" y="914389"/>
                </a:lnTo>
                <a:close/>
              </a:path>
              <a:path w="267970" h="2078989">
                <a:moveTo>
                  <a:pt x="28799" y="818389"/>
                </a:moveTo>
                <a:lnTo>
                  <a:pt x="0" y="818389"/>
                </a:lnTo>
                <a:lnTo>
                  <a:pt x="0" y="866388"/>
                </a:lnTo>
                <a:lnTo>
                  <a:pt x="28799" y="866388"/>
                </a:lnTo>
                <a:lnTo>
                  <a:pt x="28799" y="818389"/>
                </a:lnTo>
                <a:close/>
              </a:path>
              <a:path w="267970" h="2078989">
                <a:moveTo>
                  <a:pt x="47999" y="818389"/>
                </a:moveTo>
                <a:lnTo>
                  <a:pt x="38399" y="818389"/>
                </a:lnTo>
                <a:lnTo>
                  <a:pt x="38399" y="866388"/>
                </a:lnTo>
                <a:lnTo>
                  <a:pt x="47999" y="866388"/>
                </a:lnTo>
                <a:lnTo>
                  <a:pt x="47999" y="818389"/>
                </a:lnTo>
                <a:close/>
              </a:path>
              <a:path w="267970" h="2078989">
                <a:moveTo>
                  <a:pt x="28799" y="722389"/>
                </a:moveTo>
                <a:lnTo>
                  <a:pt x="0" y="722389"/>
                </a:lnTo>
                <a:lnTo>
                  <a:pt x="0" y="770389"/>
                </a:lnTo>
                <a:lnTo>
                  <a:pt x="28799" y="770389"/>
                </a:lnTo>
                <a:lnTo>
                  <a:pt x="28799" y="722389"/>
                </a:lnTo>
                <a:close/>
              </a:path>
              <a:path w="267970" h="2078989">
                <a:moveTo>
                  <a:pt x="47999" y="722389"/>
                </a:moveTo>
                <a:lnTo>
                  <a:pt x="38399" y="722389"/>
                </a:lnTo>
                <a:lnTo>
                  <a:pt x="38399" y="770389"/>
                </a:lnTo>
                <a:lnTo>
                  <a:pt x="47999" y="770389"/>
                </a:lnTo>
                <a:lnTo>
                  <a:pt x="47999" y="722389"/>
                </a:lnTo>
                <a:close/>
              </a:path>
              <a:path w="267970" h="2078989">
                <a:moveTo>
                  <a:pt x="28799" y="626389"/>
                </a:moveTo>
                <a:lnTo>
                  <a:pt x="0" y="626389"/>
                </a:lnTo>
                <a:lnTo>
                  <a:pt x="0" y="674389"/>
                </a:lnTo>
                <a:lnTo>
                  <a:pt x="28799" y="674389"/>
                </a:lnTo>
                <a:lnTo>
                  <a:pt x="28799" y="626389"/>
                </a:lnTo>
                <a:close/>
              </a:path>
              <a:path w="267970" h="2078989">
                <a:moveTo>
                  <a:pt x="47999" y="626389"/>
                </a:moveTo>
                <a:lnTo>
                  <a:pt x="38399" y="626389"/>
                </a:lnTo>
                <a:lnTo>
                  <a:pt x="38399" y="674389"/>
                </a:lnTo>
                <a:lnTo>
                  <a:pt x="47999" y="674389"/>
                </a:lnTo>
                <a:lnTo>
                  <a:pt x="47999" y="626389"/>
                </a:lnTo>
                <a:close/>
              </a:path>
              <a:path w="267970" h="2078989">
                <a:moveTo>
                  <a:pt x="28799" y="530388"/>
                </a:moveTo>
                <a:lnTo>
                  <a:pt x="0" y="530388"/>
                </a:lnTo>
                <a:lnTo>
                  <a:pt x="0" y="578389"/>
                </a:lnTo>
                <a:lnTo>
                  <a:pt x="28799" y="578389"/>
                </a:lnTo>
                <a:lnTo>
                  <a:pt x="28799" y="530388"/>
                </a:lnTo>
                <a:close/>
              </a:path>
              <a:path w="267970" h="2078989">
                <a:moveTo>
                  <a:pt x="47999" y="530388"/>
                </a:moveTo>
                <a:lnTo>
                  <a:pt x="38399" y="530388"/>
                </a:lnTo>
                <a:lnTo>
                  <a:pt x="38399" y="578389"/>
                </a:lnTo>
                <a:lnTo>
                  <a:pt x="47999" y="578389"/>
                </a:lnTo>
                <a:lnTo>
                  <a:pt x="47999" y="530388"/>
                </a:lnTo>
                <a:close/>
              </a:path>
              <a:path w="267970" h="2078989">
                <a:moveTo>
                  <a:pt x="28799" y="434389"/>
                </a:moveTo>
                <a:lnTo>
                  <a:pt x="0" y="434389"/>
                </a:lnTo>
                <a:lnTo>
                  <a:pt x="0" y="482389"/>
                </a:lnTo>
                <a:lnTo>
                  <a:pt x="28799" y="482389"/>
                </a:lnTo>
                <a:lnTo>
                  <a:pt x="28799" y="434389"/>
                </a:lnTo>
                <a:close/>
              </a:path>
              <a:path w="267970" h="2078989">
                <a:moveTo>
                  <a:pt x="47999" y="434389"/>
                </a:moveTo>
                <a:lnTo>
                  <a:pt x="38399" y="434389"/>
                </a:lnTo>
                <a:lnTo>
                  <a:pt x="38399" y="482389"/>
                </a:lnTo>
                <a:lnTo>
                  <a:pt x="47999" y="482389"/>
                </a:lnTo>
                <a:lnTo>
                  <a:pt x="47999" y="434389"/>
                </a:lnTo>
                <a:close/>
              </a:path>
              <a:path w="267970" h="2078989">
                <a:moveTo>
                  <a:pt x="28799" y="338388"/>
                </a:moveTo>
                <a:lnTo>
                  <a:pt x="0" y="338388"/>
                </a:lnTo>
                <a:lnTo>
                  <a:pt x="0" y="386389"/>
                </a:lnTo>
                <a:lnTo>
                  <a:pt x="28799" y="386389"/>
                </a:lnTo>
                <a:lnTo>
                  <a:pt x="28799" y="338388"/>
                </a:lnTo>
                <a:close/>
              </a:path>
              <a:path w="267970" h="2078989">
                <a:moveTo>
                  <a:pt x="47999" y="338388"/>
                </a:moveTo>
                <a:lnTo>
                  <a:pt x="38399" y="338388"/>
                </a:lnTo>
                <a:lnTo>
                  <a:pt x="38399" y="386389"/>
                </a:lnTo>
                <a:lnTo>
                  <a:pt x="47999" y="386389"/>
                </a:lnTo>
                <a:lnTo>
                  <a:pt x="47999" y="338388"/>
                </a:lnTo>
                <a:close/>
              </a:path>
              <a:path w="267970" h="2078989">
                <a:moveTo>
                  <a:pt x="28799" y="242389"/>
                </a:moveTo>
                <a:lnTo>
                  <a:pt x="0" y="242389"/>
                </a:lnTo>
                <a:lnTo>
                  <a:pt x="0" y="290389"/>
                </a:lnTo>
                <a:lnTo>
                  <a:pt x="28799" y="290389"/>
                </a:lnTo>
                <a:lnTo>
                  <a:pt x="28799" y="242389"/>
                </a:lnTo>
                <a:close/>
              </a:path>
              <a:path w="267970" h="2078989">
                <a:moveTo>
                  <a:pt x="47999" y="242389"/>
                </a:moveTo>
                <a:lnTo>
                  <a:pt x="38399" y="242389"/>
                </a:lnTo>
                <a:lnTo>
                  <a:pt x="38399" y="290389"/>
                </a:lnTo>
                <a:lnTo>
                  <a:pt x="47999" y="290389"/>
                </a:lnTo>
                <a:lnTo>
                  <a:pt x="47999" y="242389"/>
                </a:lnTo>
                <a:close/>
              </a:path>
              <a:path w="267970" h="2078989">
                <a:moveTo>
                  <a:pt x="28799" y="146389"/>
                </a:moveTo>
                <a:lnTo>
                  <a:pt x="0" y="146389"/>
                </a:lnTo>
                <a:lnTo>
                  <a:pt x="0" y="194390"/>
                </a:lnTo>
                <a:lnTo>
                  <a:pt x="28799" y="194390"/>
                </a:lnTo>
                <a:lnTo>
                  <a:pt x="28799" y="146389"/>
                </a:lnTo>
                <a:close/>
              </a:path>
              <a:path w="267970" h="2078989">
                <a:moveTo>
                  <a:pt x="47999" y="146389"/>
                </a:moveTo>
                <a:lnTo>
                  <a:pt x="38399" y="146389"/>
                </a:lnTo>
                <a:lnTo>
                  <a:pt x="38399" y="194390"/>
                </a:lnTo>
                <a:lnTo>
                  <a:pt x="47999" y="194390"/>
                </a:lnTo>
                <a:lnTo>
                  <a:pt x="47999" y="146389"/>
                </a:lnTo>
                <a:close/>
              </a:path>
              <a:path w="267970" h="2078989">
                <a:moveTo>
                  <a:pt x="2645" y="43436"/>
                </a:moveTo>
                <a:lnTo>
                  <a:pt x="1344" y="47623"/>
                </a:lnTo>
                <a:lnTo>
                  <a:pt x="1024" y="49199"/>
                </a:lnTo>
                <a:lnTo>
                  <a:pt x="759" y="51974"/>
                </a:lnTo>
                <a:lnTo>
                  <a:pt x="0" y="60576"/>
                </a:lnTo>
                <a:lnTo>
                  <a:pt x="0" y="98389"/>
                </a:lnTo>
                <a:lnTo>
                  <a:pt x="28799" y="98389"/>
                </a:lnTo>
                <a:lnTo>
                  <a:pt x="28799" y="60576"/>
                </a:lnTo>
                <a:lnTo>
                  <a:pt x="29470" y="54166"/>
                </a:lnTo>
                <a:lnTo>
                  <a:pt x="30151" y="51974"/>
                </a:lnTo>
                <a:lnTo>
                  <a:pt x="2645" y="43436"/>
                </a:lnTo>
                <a:close/>
              </a:path>
              <a:path w="267970" h="2078989">
                <a:moveTo>
                  <a:pt x="39319" y="54820"/>
                </a:moveTo>
                <a:lnTo>
                  <a:pt x="38924" y="56090"/>
                </a:lnTo>
                <a:lnTo>
                  <a:pt x="38399" y="60576"/>
                </a:lnTo>
                <a:lnTo>
                  <a:pt x="38399" y="98389"/>
                </a:lnTo>
                <a:lnTo>
                  <a:pt x="47999" y="98389"/>
                </a:lnTo>
                <a:lnTo>
                  <a:pt x="47999" y="60576"/>
                </a:lnTo>
                <a:lnTo>
                  <a:pt x="48379" y="58013"/>
                </a:lnTo>
                <a:lnTo>
                  <a:pt x="48487" y="57666"/>
                </a:lnTo>
                <a:lnTo>
                  <a:pt x="39319" y="54820"/>
                </a:lnTo>
                <a:close/>
              </a:path>
              <a:path w="267970" h="2078989">
                <a:moveTo>
                  <a:pt x="109392" y="0"/>
                </a:moveTo>
                <a:lnTo>
                  <a:pt x="61393" y="0"/>
                </a:lnTo>
                <a:lnTo>
                  <a:pt x="61393" y="28799"/>
                </a:lnTo>
                <a:lnTo>
                  <a:pt x="109392" y="28799"/>
                </a:lnTo>
                <a:lnTo>
                  <a:pt x="109392" y="0"/>
                </a:lnTo>
                <a:close/>
              </a:path>
              <a:path w="267970" h="2078989">
                <a:moveTo>
                  <a:pt x="109392" y="38399"/>
                </a:moveTo>
                <a:lnTo>
                  <a:pt x="61393" y="38399"/>
                </a:lnTo>
                <a:lnTo>
                  <a:pt x="61393" y="47999"/>
                </a:lnTo>
                <a:lnTo>
                  <a:pt x="109392" y="47999"/>
                </a:lnTo>
                <a:lnTo>
                  <a:pt x="109392" y="38399"/>
                </a:lnTo>
                <a:close/>
              </a:path>
              <a:path w="267970" h="2078989">
                <a:moveTo>
                  <a:pt x="205393" y="0"/>
                </a:moveTo>
                <a:lnTo>
                  <a:pt x="157393" y="0"/>
                </a:lnTo>
                <a:lnTo>
                  <a:pt x="157393" y="28799"/>
                </a:lnTo>
                <a:lnTo>
                  <a:pt x="205393" y="28799"/>
                </a:lnTo>
                <a:lnTo>
                  <a:pt x="205393" y="0"/>
                </a:lnTo>
                <a:close/>
              </a:path>
              <a:path w="267970" h="2078989">
                <a:moveTo>
                  <a:pt x="205393" y="38399"/>
                </a:moveTo>
                <a:lnTo>
                  <a:pt x="157393" y="38399"/>
                </a:lnTo>
                <a:lnTo>
                  <a:pt x="157393" y="47999"/>
                </a:lnTo>
                <a:lnTo>
                  <a:pt x="205393" y="47999"/>
                </a:lnTo>
                <a:lnTo>
                  <a:pt x="205393" y="38399"/>
                </a:lnTo>
                <a:close/>
              </a:path>
              <a:path w="267970" h="2078989">
                <a:moveTo>
                  <a:pt x="264612" y="42797"/>
                </a:moveTo>
                <a:lnTo>
                  <a:pt x="237106" y="51335"/>
                </a:lnTo>
                <a:lnTo>
                  <a:pt x="237985" y="54166"/>
                </a:lnTo>
                <a:lnTo>
                  <a:pt x="238679" y="61057"/>
                </a:lnTo>
                <a:lnTo>
                  <a:pt x="238655" y="97720"/>
                </a:lnTo>
                <a:lnTo>
                  <a:pt x="267455" y="97720"/>
                </a:lnTo>
                <a:lnTo>
                  <a:pt x="267335" y="58168"/>
                </a:lnTo>
                <a:lnTo>
                  <a:pt x="266430" y="49199"/>
                </a:lnTo>
                <a:lnTo>
                  <a:pt x="266109" y="47622"/>
                </a:lnTo>
                <a:lnTo>
                  <a:pt x="264612" y="42797"/>
                </a:lnTo>
                <a:close/>
              </a:path>
              <a:path w="267970" h="2078989">
                <a:moveTo>
                  <a:pt x="227938" y="54182"/>
                </a:moveTo>
                <a:lnTo>
                  <a:pt x="218768" y="57028"/>
                </a:lnTo>
                <a:lnTo>
                  <a:pt x="219076" y="58013"/>
                </a:lnTo>
                <a:lnTo>
                  <a:pt x="219479" y="62020"/>
                </a:lnTo>
                <a:lnTo>
                  <a:pt x="219455" y="97720"/>
                </a:lnTo>
                <a:lnTo>
                  <a:pt x="229055" y="97720"/>
                </a:lnTo>
                <a:lnTo>
                  <a:pt x="229128" y="62020"/>
                </a:lnTo>
                <a:lnTo>
                  <a:pt x="228530" y="56090"/>
                </a:lnTo>
                <a:lnTo>
                  <a:pt x="227938" y="54182"/>
                </a:lnTo>
                <a:close/>
              </a:path>
              <a:path w="267970" h="2078989">
                <a:moveTo>
                  <a:pt x="267455" y="145719"/>
                </a:moveTo>
                <a:lnTo>
                  <a:pt x="238655" y="145719"/>
                </a:lnTo>
                <a:lnTo>
                  <a:pt x="238655" y="193720"/>
                </a:lnTo>
                <a:lnTo>
                  <a:pt x="267455" y="193720"/>
                </a:lnTo>
                <a:lnTo>
                  <a:pt x="267455" y="145719"/>
                </a:lnTo>
                <a:close/>
              </a:path>
              <a:path w="267970" h="2078989">
                <a:moveTo>
                  <a:pt x="229055" y="145719"/>
                </a:moveTo>
                <a:lnTo>
                  <a:pt x="219455" y="145719"/>
                </a:lnTo>
                <a:lnTo>
                  <a:pt x="219455" y="193720"/>
                </a:lnTo>
                <a:lnTo>
                  <a:pt x="229055" y="193720"/>
                </a:lnTo>
                <a:lnTo>
                  <a:pt x="229055" y="145719"/>
                </a:lnTo>
                <a:close/>
              </a:path>
              <a:path w="267970" h="2078989">
                <a:moveTo>
                  <a:pt x="267455" y="241720"/>
                </a:moveTo>
                <a:lnTo>
                  <a:pt x="238655" y="241720"/>
                </a:lnTo>
                <a:lnTo>
                  <a:pt x="238655" y="289720"/>
                </a:lnTo>
                <a:lnTo>
                  <a:pt x="267455" y="289720"/>
                </a:lnTo>
                <a:lnTo>
                  <a:pt x="267455" y="241720"/>
                </a:lnTo>
                <a:close/>
              </a:path>
              <a:path w="267970" h="2078989">
                <a:moveTo>
                  <a:pt x="229055" y="241720"/>
                </a:moveTo>
                <a:lnTo>
                  <a:pt x="219455" y="241720"/>
                </a:lnTo>
                <a:lnTo>
                  <a:pt x="219455" y="289720"/>
                </a:lnTo>
                <a:lnTo>
                  <a:pt x="229055" y="289720"/>
                </a:lnTo>
                <a:lnTo>
                  <a:pt x="229055" y="241720"/>
                </a:lnTo>
                <a:close/>
              </a:path>
              <a:path w="267970" h="2078989">
                <a:moveTo>
                  <a:pt x="267455" y="337719"/>
                </a:moveTo>
                <a:lnTo>
                  <a:pt x="238655" y="337719"/>
                </a:lnTo>
                <a:lnTo>
                  <a:pt x="238655" y="385720"/>
                </a:lnTo>
                <a:lnTo>
                  <a:pt x="267455" y="385720"/>
                </a:lnTo>
                <a:lnTo>
                  <a:pt x="267455" y="337719"/>
                </a:lnTo>
                <a:close/>
              </a:path>
              <a:path w="267970" h="2078989">
                <a:moveTo>
                  <a:pt x="229055" y="337719"/>
                </a:moveTo>
                <a:lnTo>
                  <a:pt x="219455" y="337719"/>
                </a:lnTo>
                <a:lnTo>
                  <a:pt x="219455" y="385720"/>
                </a:lnTo>
                <a:lnTo>
                  <a:pt x="229055" y="385720"/>
                </a:lnTo>
                <a:lnTo>
                  <a:pt x="229055" y="337719"/>
                </a:lnTo>
                <a:close/>
              </a:path>
              <a:path w="267970" h="2078989">
                <a:moveTo>
                  <a:pt x="267455" y="433720"/>
                </a:moveTo>
                <a:lnTo>
                  <a:pt x="238655" y="433720"/>
                </a:lnTo>
                <a:lnTo>
                  <a:pt x="238655" y="481719"/>
                </a:lnTo>
                <a:lnTo>
                  <a:pt x="267455" y="481719"/>
                </a:lnTo>
                <a:lnTo>
                  <a:pt x="267455" y="433720"/>
                </a:lnTo>
                <a:close/>
              </a:path>
              <a:path w="267970" h="2078989">
                <a:moveTo>
                  <a:pt x="229055" y="433720"/>
                </a:moveTo>
                <a:lnTo>
                  <a:pt x="219455" y="433720"/>
                </a:lnTo>
                <a:lnTo>
                  <a:pt x="219455" y="481719"/>
                </a:lnTo>
                <a:lnTo>
                  <a:pt x="229055" y="481719"/>
                </a:lnTo>
                <a:lnTo>
                  <a:pt x="229055" y="433720"/>
                </a:lnTo>
                <a:close/>
              </a:path>
              <a:path w="267970" h="2078989">
                <a:moveTo>
                  <a:pt x="267455" y="529719"/>
                </a:moveTo>
                <a:lnTo>
                  <a:pt x="238655" y="529719"/>
                </a:lnTo>
                <a:lnTo>
                  <a:pt x="238655" y="577720"/>
                </a:lnTo>
                <a:lnTo>
                  <a:pt x="267455" y="577720"/>
                </a:lnTo>
                <a:lnTo>
                  <a:pt x="267455" y="529719"/>
                </a:lnTo>
                <a:close/>
              </a:path>
              <a:path w="267970" h="2078989">
                <a:moveTo>
                  <a:pt x="229055" y="529719"/>
                </a:moveTo>
                <a:lnTo>
                  <a:pt x="219455" y="529719"/>
                </a:lnTo>
                <a:lnTo>
                  <a:pt x="219455" y="577720"/>
                </a:lnTo>
                <a:lnTo>
                  <a:pt x="229055" y="577720"/>
                </a:lnTo>
                <a:lnTo>
                  <a:pt x="229055" y="529719"/>
                </a:lnTo>
                <a:close/>
              </a:path>
              <a:path w="267970" h="2078989">
                <a:moveTo>
                  <a:pt x="267455" y="625720"/>
                </a:moveTo>
                <a:lnTo>
                  <a:pt x="238655" y="625720"/>
                </a:lnTo>
                <a:lnTo>
                  <a:pt x="238655" y="673719"/>
                </a:lnTo>
                <a:lnTo>
                  <a:pt x="267455" y="673719"/>
                </a:lnTo>
                <a:lnTo>
                  <a:pt x="267455" y="625720"/>
                </a:lnTo>
                <a:close/>
              </a:path>
              <a:path w="267970" h="2078989">
                <a:moveTo>
                  <a:pt x="229055" y="625720"/>
                </a:moveTo>
                <a:lnTo>
                  <a:pt x="219455" y="625720"/>
                </a:lnTo>
                <a:lnTo>
                  <a:pt x="219455" y="673719"/>
                </a:lnTo>
                <a:lnTo>
                  <a:pt x="229055" y="673719"/>
                </a:lnTo>
                <a:lnTo>
                  <a:pt x="229055" y="625720"/>
                </a:lnTo>
                <a:close/>
              </a:path>
              <a:path w="267970" h="2078989">
                <a:moveTo>
                  <a:pt x="267455" y="721720"/>
                </a:moveTo>
                <a:lnTo>
                  <a:pt x="238655" y="721720"/>
                </a:lnTo>
                <a:lnTo>
                  <a:pt x="238655" y="769720"/>
                </a:lnTo>
                <a:lnTo>
                  <a:pt x="267455" y="769720"/>
                </a:lnTo>
                <a:lnTo>
                  <a:pt x="267455" y="721720"/>
                </a:lnTo>
                <a:close/>
              </a:path>
              <a:path w="267970" h="2078989">
                <a:moveTo>
                  <a:pt x="229055" y="721720"/>
                </a:moveTo>
                <a:lnTo>
                  <a:pt x="219455" y="721720"/>
                </a:lnTo>
                <a:lnTo>
                  <a:pt x="219455" y="769720"/>
                </a:lnTo>
                <a:lnTo>
                  <a:pt x="229055" y="769720"/>
                </a:lnTo>
                <a:lnTo>
                  <a:pt x="229055" y="721720"/>
                </a:lnTo>
                <a:close/>
              </a:path>
              <a:path w="267970" h="2078989">
                <a:moveTo>
                  <a:pt x="267455" y="817719"/>
                </a:moveTo>
                <a:lnTo>
                  <a:pt x="238655" y="817719"/>
                </a:lnTo>
                <a:lnTo>
                  <a:pt x="238655" y="865719"/>
                </a:lnTo>
                <a:lnTo>
                  <a:pt x="267455" y="865719"/>
                </a:lnTo>
                <a:lnTo>
                  <a:pt x="267455" y="817719"/>
                </a:lnTo>
                <a:close/>
              </a:path>
              <a:path w="267970" h="2078989">
                <a:moveTo>
                  <a:pt x="229055" y="817719"/>
                </a:moveTo>
                <a:lnTo>
                  <a:pt x="219455" y="817719"/>
                </a:lnTo>
                <a:lnTo>
                  <a:pt x="219455" y="865719"/>
                </a:lnTo>
                <a:lnTo>
                  <a:pt x="229055" y="865719"/>
                </a:lnTo>
                <a:lnTo>
                  <a:pt x="229055" y="817719"/>
                </a:lnTo>
                <a:close/>
              </a:path>
              <a:path w="267970" h="2078989">
                <a:moveTo>
                  <a:pt x="267455" y="913720"/>
                </a:moveTo>
                <a:lnTo>
                  <a:pt x="238655" y="913720"/>
                </a:lnTo>
                <a:lnTo>
                  <a:pt x="238655" y="961720"/>
                </a:lnTo>
                <a:lnTo>
                  <a:pt x="267455" y="961720"/>
                </a:lnTo>
                <a:lnTo>
                  <a:pt x="267455" y="913720"/>
                </a:lnTo>
                <a:close/>
              </a:path>
              <a:path w="267970" h="2078989">
                <a:moveTo>
                  <a:pt x="229055" y="913720"/>
                </a:moveTo>
                <a:lnTo>
                  <a:pt x="219455" y="913720"/>
                </a:lnTo>
                <a:lnTo>
                  <a:pt x="219455" y="961720"/>
                </a:lnTo>
                <a:lnTo>
                  <a:pt x="229055" y="961720"/>
                </a:lnTo>
                <a:lnTo>
                  <a:pt x="229055" y="913720"/>
                </a:lnTo>
                <a:close/>
              </a:path>
              <a:path w="267970" h="2078989">
                <a:moveTo>
                  <a:pt x="267455" y="1009719"/>
                </a:moveTo>
                <a:lnTo>
                  <a:pt x="238655" y="1009719"/>
                </a:lnTo>
                <a:lnTo>
                  <a:pt x="238655" y="1057719"/>
                </a:lnTo>
                <a:lnTo>
                  <a:pt x="267455" y="1057719"/>
                </a:lnTo>
                <a:lnTo>
                  <a:pt x="267455" y="1009719"/>
                </a:lnTo>
                <a:close/>
              </a:path>
              <a:path w="267970" h="2078989">
                <a:moveTo>
                  <a:pt x="229055" y="1009719"/>
                </a:moveTo>
                <a:lnTo>
                  <a:pt x="219455" y="1009719"/>
                </a:lnTo>
                <a:lnTo>
                  <a:pt x="219455" y="1057719"/>
                </a:lnTo>
                <a:lnTo>
                  <a:pt x="229055" y="1057719"/>
                </a:lnTo>
                <a:lnTo>
                  <a:pt x="229055" y="1009719"/>
                </a:lnTo>
                <a:close/>
              </a:path>
              <a:path w="267970" h="2078989">
                <a:moveTo>
                  <a:pt x="267455" y="1105720"/>
                </a:moveTo>
                <a:lnTo>
                  <a:pt x="238655" y="1105720"/>
                </a:lnTo>
                <a:lnTo>
                  <a:pt x="238655" y="1153720"/>
                </a:lnTo>
                <a:lnTo>
                  <a:pt x="267455" y="1153720"/>
                </a:lnTo>
                <a:lnTo>
                  <a:pt x="267455" y="1105720"/>
                </a:lnTo>
                <a:close/>
              </a:path>
              <a:path w="267970" h="2078989">
                <a:moveTo>
                  <a:pt x="229055" y="1105720"/>
                </a:moveTo>
                <a:lnTo>
                  <a:pt x="219455" y="1105720"/>
                </a:lnTo>
                <a:lnTo>
                  <a:pt x="219455" y="1153720"/>
                </a:lnTo>
                <a:lnTo>
                  <a:pt x="229055" y="1153720"/>
                </a:lnTo>
                <a:lnTo>
                  <a:pt x="229055" y="1105720"/>
                </a:lnTo>
                <a:close/>
              </a:path>
              <a:path w="267970" h="2078989">
                <a:moveTo>
                  <a:pt x="267455" y="1201719"/>
                </a:moveTo>
                <a:lnTo>
                  <a:pt x="238655" y="1201719"/>
                </a:lnTo>
                <a:lnTo>
                  <a:pt x="238655" y="1249720"/>
                </a:lnTo>
                <a:lnTo>
                  <a:pt x="267455" y="1249720"/>
                </a:lnTo>
                <a:lnTo>
                  <a:pt x="267455" y="1201719"/>
                </a:lnTo>
                <a:close/>
              </a:path>
              <a:path w="267970" h="2078989">
                <a:moveTo>
                  <a:pt x="229055" y="1201719"/>
                </a:moveTo>
                <a:lnTo>
                  <a:pt x="219455" y="1201719"/>
                </a:lnTo>
                <a:lnTo>
                  <a:pt x="219455" y="1249720"/>
                </a:lnTo>
                <a:lnTo>
                  <a:pt x="229055" y="1249720"/>
                </a:lnTo>
                <a:lnTo>
                  <a:pt x="229055" y="1201719"/>
                </a:lnTo>
                <a:close/>
              </a:path>
              <a:path w="267970" h="2078989">
                <a:moveTo>
                  <a:pt x="267455" y="1297720"/>
                </a:moveTo>
                <a:lnTo>
                  <a:pt x="238655" y="1297720"/>
                </a:lnTo>
                <a:lnTo>
                  <a:pt x="238655" y="1345719"/>
                </a:lnTo>
                <a:lnTo>
                  <a:pt x="267455" y="1345719"/>
                </a:lnTo>
                <a:lnTo>
                  <a:pt x="267455" y="1297720"/>
                </a:lnTo>
                <a:close/>
              </a:path>
              <a:path w="267970" h="2078989">
                <a:moveTo>
                  <a:pt x="229055" y="1297720"/>
                </a:moveTo>
                <a:lnTo>
                  <a:pt x="219455" y="1297720"/>
                </a:lnTo>
                <a:lnTo>
                  <a:pt x="219455" y="1345719"/>
                </a:lnTo>
                <a:lnTo>
                  <a:pt x="229055" y="1345719"/>
                </a:lnTo>
                <a:lnTo>
                  <a:pt x="229055" y="1297720"/>
                </a:lnTo>
                <a:close/>
              </a:path>
              <a:path w="267970" h="2078989">
                <a:moveTo>
                  <a:pt x="267455" y="1393719"/>
                </a:moveTo>
                <a:lnTo>
                  <a:pt x="238655" y="1393719"/>
                </a:lnTo>
                <a:lnTo>
                  <a:pt x="238655" y="1441720"/>
                </a:lnTo>
                <a:lnTo>
                  <a:pt x="267455" y="1441720"/>
                </a:lnTo>
                <a:lnTo>
                  <a:pt x="267455" y="1393719"/>
                </a:lnTo>
                <a:close/>
              </a:path>
              <a:path w="267970" h="2078989">
                <a:moveTo>
                  <a:pt x="229055" y="1393719"/>
                </a:moveTo>
                <a:lnTo>
                  <a:pt x="219455" y="1393719"/>
                </a:lnTo>
                <a:lnTo>
                  <a:pt x="219455" y="1441720"/>
                </a:lnTo>
                <a:lnTo>
                  <a:pt x="229055" y="1441720"/>
                </a:lnTo>
                <a:lnTo>
                  <a:pt x="229055" y="1393719"/>
                </a:lnTo>
                <a:close/>
              </a:path>
              <a:path w="267970" h="2078989">
                <a:moveTo>
                  <a:pt x="267455" y="1489720"/>
                </a:moveTo>
                <a:lnTo>
                  <a:pt x="238655" y="1489720"/>
                </a:lnTo>
                <a:lnTo>
                  <a:pt x="238655" y="1537719"/>
                </a:lnTo>
                <a:lnTo>
                  <a:pt x="267455" y="1537719"/>
                </a:lnTo>
                <a:lnTo>
                  <a:pt x="267455" y="1489720"/>
                </a:lnTo>
                <a:close/>
              </a:path>
              <a:path w="267970" h="2078989">
                <a:moveTo>
                  <a:pt x="229055" y="1489720"/>
                </a:moveTo>
                <a:lnTo>
                  <a:pt x="219455" y="1489720"/>
                </a:lnTo>
                <a:lnTo>
                  <a:pt x="219455" y="1537719"/>
                </a:lnTo>
                <a:lnTo>
                  <a:pt x="229055" y="1537719"/>
                </a:lnTo>
                <a:lnTo>
                  <a:pt x="229055" y="1489720"/>
                </a:lnTo>
                <a:close/>
              </a:path>
              <a:path w="267970" h="2078989">
                <a:moveTo>
                  <a:pt x="267455" y="1585720"/>
                </a:moveTo>
                <a:lnTo>
                  <a:pt x="238655" y="1585720"/>
                </a:lnTo>
                <a:lnTo>
                  <a:pt x="238655" y="1633720"/>
                </a:lnTo>
                <a:lnTo>
                  <a:pt x="267455" y="1633720"/>
                </a:lnTo>
                <a:lnTo>
                  <a:pt x="267455" y="1585720"/>
                </a:lnTo>
                <a:close/>
              </a:path>
              <a:path w="267970" h="2078989">
                <a:moveTo>
                  <a:pt x="229055" y="1585720"/>
                </a:moveTo>
                <a:lnTo>
                  <a:pt x="219455" y="1585720"/>
                </a:lnTo>
                <a:lnTo>
                  <a:pt x="219455" y="1633720"/>
                </a:lnTo>
                <a:lnTo>
                  <a:pt x="229055" y="1633720"/>
                </a:lnTo>
                <a:lnTo>
                  <a:pt x="229055" y="1585720"/>
                </a:lnTo>
                <a:close/>
              </a:path>
              <a:path w="267970" h="2078989">
                <a:moveTo>
                  <a:pt x="267455" y="1681720"/>
                </a:moveTo>
                <a:lnTo>
                  <a:pt x="238655" y="1681720"/>
                </a:lnTo>
                <a:lnTo>
                  <a:pt x="238655" y="1729719"/>
                </a:lnTo>
                <a:lnTo>
                  <a:pt x="267455" y="1729719"/>
                </a:lnTo>
                <a:lnTo>
                  <a:pt x="267455" y="1681720"/>
                </a:lnTo>
                <a:close/>
              </a:path>
              <a:path w="267970" h="2078989">
                <a:moveTo>
                  <a:pt x="229055" y="1681720"/>
                </a:moveTo>
                <a:lnTo>
                  <a:pt x="219455" y="1681720"/>
                </a:lnTo>
                <a:lnTo>
                  <a:pt x="219455" y="1729719"/>
                </a:lnTo>
                <a:lnTo>
                  <a:pt x="229055" y="1729719"/>
                </a:lnTo>
                <a:lnTo>
                  <a:pt x="229055" y="1681720"/>
                </a:lnTo>
                <a:close/>
              </a:path>
              <a:path w="267970" h="2078989">
                <a:moveTo>
                  <a:pt x="267455" y="1777720"/>
                </a:moveTo>
                <a:lnTo>
                  <a:pt x="238655" y="1777720"/>
                </a:lnTo>
                <a:lnTo>
                  <a:pt x="238655" y="1825720"/>
                </a:lnTo>
                <a:lnTo>
                  <a:pt x="267455" y="1825720"/>
                </a:lnTo>
                <a:lnTo>
                  <a:pt x="267455" y="1777720"/>
                </a:lnTo>
                <a:close/>
              </a:path>
              <a:path w="267970" h="2078989">
                <a:moveTo>
                  <a:pt x="229055" y="1777720"/>
                </a:moveTo>
                <a:lnTo>
                  <a:pt x="219455" y="1777720"/>
                </a:lnTo>
                <a:lnTo>
                  <a:pt x="219455" y="1825720"/>
                </a:lnTo>
                <a:lnTo>
                  <a:pt x="229055" y="1825720"/>
                </a:lnTo>
                <a:lnTo>
                  <a:pt x="229055" y="1777720"/>
                </a:lnTo>
                <a:close/>
              </a:path>
              <a:path w="267970" h="2078989">
                <a:moveTo>
                  <a:pt x="267455" y="1873719"/>
                </a:moveTo>
                <a:lnTo>
                  <a:pt x="238655" y="1873719"/>
                </a:lnTo>
                <a:lnTo>
                  <a:pt x="238655" y="1921719"/>
                </a:lnTo>
                <a:lnTo>
                  <a:pt x="267455" y="1921719"/>
                </a:lnTo>
                <a:lnTo>
                  <a:pt x="267455" y="1873719"/>
                </a:lnTo>
                <a:close/>
              </a:path>
              <a:path w="267970" h="2078989">
                <a:moveTo>
                  <a:pt x="229055" y="1873719"/>
                </a:moveTo>
                <a:lnTo>
                  <a:pt x="219455" y="1873719"/>
                </a:lnTo>
                <a:lnTo>
                  <a:pt x="219455" y="1921719"/>
                </a:lnTo>
                <a:lnTo>
                  <a:pt x="229055" y="1921719"/>
                </a:lnTo>
                <a:lnTo>
                  <a:pt x="229055" y="1873719"/>
                </a:lnTo>
                <a:close/>
              </a:path>
              <a:path w="267970" h="2078989">
                <a:moveTo>
                  <a:pt x="267455" y="1969720"/>
                </a:moveTo>
                <a:lnTo>
                  <a:pt x="238655" y="1969720"/>
                </a:lnTo>
                <a:lnTo>
                  <a:pt x="238655" y="2017720"/>
                </a:lnTo>
                <a:lnTo>
                  <a:pt x="267455" y="2017720"/>
                </a:lnTo>
                <a:lnTo>
                  <a:pt x="267455" y="1969720"/>
                </a:lnTo>
                <a:close/>
              </a:path>
              <a:path w="267970" h="2078989">
                <a:moveTo>
                  <a:pt x="229055" y="1969720"/>
                </a:moveTo>
                <a:lnTo>
                  <a:pt x="219455" y="1969720"/>
                </a:lnTo>
                <a:lnTo>
                  <a:pt x="219455" y="2017720"/>
                </a:lnTo>
                <a:lnTo>
                  <a:pt x="229055" y="2017720"/>
                </a:lnTo>
                <a:lnTo>
                  <a:pt x="229055" y="1969720"/>
                </a:lnTo>
                <a:close/>
              </a:path>
              <a:path w="267970" h="2078989">
                <a:moveTo>
                  <a:pt x="168918" y="2050166"/>
                </a:moveTo>
                <a:lnTo>
                  <a:pt x="168918" y="2078965"/>
                </a:lnTo>
                <a:lnTo>
                  <a:pt x="209285" y="2078845"/>
                </a:lnTo>
                <a:lnTo>
                  <a:pt x="218254" y="2077940"/>
                </a:lnTo>
                <a:lnTo>
                  <a:pt x="219831" y="2077619"/>
                </a:lnTo>
                <a:lnTo>
                  <a:pt x="223878" y="2076364"/>
                </a:lnTo>
                <a:lnTo>
                  <a:pt x="215753" y="2050190"/>
                </a:lnTo>
                <a:lnTo>
                  <a:pt x="168918" y="2050166"/>
                </a:lnTo>
                <a:close/>
              </a:path>
              <a:path w="267970" h="2078989">
                <a:moveTo>
                  <a:pt x="215339" y="2048859"/>
                </a:moveTo>
                <a:lnTo>
                  <a:pt x="213287" y="2049495"/>
                </a:lnTo>
                <a:lnTo>
                  <a:pt x="206396" y="2050190"/>
                </a:lnTo>
                <a:lnTo>
                  <a:pt x="215753" y="2050190"/>
                </a:lnTo>
                <a:lnTo>
                  <a:pt x="215339" y="2048859"/>
                </a:lnTo>
                <a:close/>
              </a:path>
              <a:path w="267970" h="2078989">
                <a:moveTo>
                  <a:pt x="168918" y="2030966"/>
                </a:moveTo>
                <a:lnTo>
                  <a:pt x="168918" y="2040566"/>
                </a:lnTo>
                <a:lnTo>
                  <a:pt x="205433" y="2040638"/>
                </a:lnTo>
                <a:lnTo>
                  <a:pt x="211364" y="2040041"/>
                </a:lnTo>
                <a:lnTo>
                  <a:pt x="212493" y="2039691"/>
                </a:lnTo>
                <a:lnTo>
                  <a:pt x="209823" y="2031086"/>
                </a:lnTo>
                <a:lnTo>
                  <a:pt x="204471" y="2031086"/>
                </a:lnTo>
                <a:lnTo>
                  <a:pt x="168918" y="2030966"/>
                </a:lnTo>
                <a:close/>
              </a:path>
              <a:path w="267970" h="2078989">
                <a:moveTo>
                  <a:pt x="209647" y="2030521"/>
                </a:moveTo>
                <a:lnTo>
                  <a:pt x="209440" y="2030586"/>
                </a:lnTo>
                <a:lnTo>
                  <a:pt x="204471" y="2031086"/>
                </a:lnTo>
                <a:lnTo>
                  <a:pt x="209823" y="2031086"/>
                </a:lnTo>
                <a:lnTo>
                  <a:pt x="209647" y="2030521"/>
                </a:lnTo>
                <a:close/>
              </a:path>
              <a:path w="267970" h="2078989">
                <a:moveTo>
                  <a:pt x="120917" y="2050166"/>
                </a:moveTo>
                <a:lnTo>
                  <a:pt x="72918" y="2050166"/>
                </a:lnTo>
                <a:lnTo>
                  <a:pt x="72918" y="2078965"/>
                </a:lnTo>
                <a:lnTo>
                  <a:pt x="120917" y="2078965"/>
                </a:lnTo>
                <a:lnTo>
                  <a:pt x="120917" y="2050166"/>
                </a:lnTo>
                <a:close/>
              </a:path>
              <a:path w="267970" h="2078989">
                <a:moveTo>
                  <a:pt x="120917" y="2030966"/>
                </a:moveTo>
                <a:lnTo>
                  <a:pt x="72918" y="2030966"/>
                </a:lnTo>
                <a:lnTo>
                  <a:pt x="72918" y="2040566"/>
                </a:lnTo>
                <a:lnTo>
                  <a:pt x="120917" y="2040566"/>
                </a:lnTo>
                <a:lnTo>
                  <a:pt x="120917" y="2030966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98982" y="34361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98982" y="36393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98982" y="3842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98982" y="40457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98982" y="42489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98982" y="44521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98982" y="46553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98982" y="4858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98982" y="50617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0"/>
                </a:lnTo>
                <a:lnTo>
                  <a:pt x="6227" y="48400"/>
                </a:lnTo>
                <a:lnTo>
                  <a:pt x="0" y="79247"/>
                </a:lnTo>
                <a:lnTo>
                  <a:pt x="6227" y="110094"/>
                </a:lnTo>
                <a:lnTo>
                  <a:pt x="23211" y="135284"/>
                </a:lnTo>
                <a:lnTo>
                  <a:pt x="48401" y="152268"/>
                </a:lnTo>
                <a:lnTo>
                  <a:pt x="79248" y="158495"/>
                </a:lnTo>
                <a:lnTo>
                  <a:pt x="110095" y="152268"/>
                </a:lnTo>
                <a:lnTo>
                  <a:pt x="135285" y="135284"/>
                </a:lnTo>
                <a:lnTo>
                  <a:pt x="152268" y="110094"/>
                </a:lnTo>
                <a:lnTo>
                  <a:pt x="158495" y="79247"/>
                </a:lnTo>
                <a:lnTo>
                  <a:pt x="152268" y="48400"/>
                </a:lnTo>
                <a:lnTo>
                  <a:pt x="135285" y="23210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98982" y="526494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248" y="0"/>
                </a:moveTo>
                <a:lnTo>
                  <a:pt x="48401" y="6227"/>
                </a:lnTo>
                <a:lnTo>
                  <a:pt x="23211" y="23211"/>
                </a:lnTo>
                <a:lnTo>
                  <a:pt x="6227" y="48401"/>
                </a:lnTo>
                <a:lnTo>
                  <a:pt x="0" y="79248"/>
                </a:lnTo>
                <a:lnTo>
                  <a:pt x="6227" y="110095"/>
                </a:lnTo>
                <a:lnTo>
                  <a:pt x="23211" y="135285"/>
                </a:lnTo>
                <a:lnTo>
                  <a:pt x="48401" y="152268"/>
                </a:lnTo>
                <a:lnTo>
                  <a:pt x="79248" y="158496"/>
                </a:lnTo>
                <a:lnTo>
                  <a:pt x="110095" y="152268"/>
                </a:lnTo>
                <a:lnTo>
                  <a:pt x="135285" y="135285"/>
                </a:lnTo>
                <a:lnTo>
                  <a:pt x="152268" y="110095"/>
                </a:lnTo>
                <a:lnTo>
                  <a:pt x="158495" y="79248"/>
                </a:lnTo>
                <a:lnTo>
                  <a:pt x="152268" y="48401"/>
                </a:lnTo>
                <a:lnTo>
                  <a:pt x="135285" y="23211"/>
                </a:lnTo>
                <a:lnTo>
                  <a:pt x="110095" y="6227"/>
                </a:lnTo>
                <a:lnTo>
                  <a:pt x="79248" y="0"/>
                </a:lnTo>
                <a:close/>
              </a:path>
            </a:pathLst>
          </a:custGeom>
          <a:solidFill>
            <a:srgbClr val="E66C7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18206" y="5497328"/>
            <a:ext cx="4270375" cy="440690"/>
          </a:xfrm>
          <a:custGeom>
            <a:avLst/>
            <a:gdLst/>
            <a:ahLst/>
            <a:cxnLst/>
            <a:rect l="l" t="t" r="r" b="b"/>
            <a:pathLst>
              <a:path w="4270375" h="440689">
                <a:moveTo>
                  <a:pt x="4270279" y="0"/>
                </a:moveTo>
                <a:lnTo>
                  <a:pt x="4268408" y="69579"/>
                </a:lnTo>
                <a:lnTo>
                  <a:pt x="4263200" y="130007"/>
                </a:lnTo>
                <a:lnTo>
                  <a:pt x="4255258" y="177660"/>
                </a:lnTo>
                <a:lnTo>
                  <a:pt x="4233591" y="220133"/>
                </a:lnTo>
                <a:lnTo>
                  <a:pt x="2171827" y="220133"/>
                </a:lnTo>
                <a:lnTo>
                  <a:pt x="2160230" y="231356"/>
                </a:lnTo>
                <a:lnTo>
                  <a:pt x="2150160" y="262606"/>
                </a:lnTo>
                <a:lnTo>
                  <a:pt x="2142218" y="310259"/>
                </a:lnTo>
                <a:lnTo>
                  <a:pt x="2137010" y="370687"/>
                </a:lnTo>
                <a:lnTo>
                  <a:pt x="2135140" y="440267"/>
                </a:lnTo>
                <a:lnTo>
                  <a:pt x="2133269" y="370687"/>
                </a:lnTo>
                <a:lnTo>
                  <a:pt x="2128061" y="310259"/>
                </a:lnTo>
                <a:lnTo>
                  <a:pt x="2120119" y="262606"/>
                </a:lnTo>
                <a:lnTo>
                  <a:pt x="2110048" y="231356"/>
                </a:lnTo>
                <a:lnTo>
                  <a:pt x="2098452" y="220133"/>
                </a:lnTo>
                <a:lnTo>
                  <a:pt x="36687" y="220133"/>
                </a:lnTo>
                <a:lnTo>
                  <a:pt x="25091" y="208910"/>
                </a:lnTo>
                <a:lnTo>
                  <a:pt x="15020" y="177660"/>
                </a:lnTo>
                <a:lnTo>
                  <a:pt x="7078" y="130007"/>
                </a:lnTo>
                <a:lnTo>
                  <a:pt x="1870" y="69579"/>
                </a:lnTo>
                <a:lnTo>
                  <a:pt x="0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25061" y="3392722"/>
            <a:ext cx="417830" cy="2030730"/>
          </a:xfrm>
          <a:custGeom>
            <a:avLst/>
            <a:gdLst/>
            <a:ahLst/>
            <a:cxnLst/>
            <a:rect l="l" t="t" r="r" b="b"/>
            <a:pathLst>
              <a:path w="417829" h="2030729">
                <a:moveTo>
                  <a:pt x="0" y="0"/>
                </a:moveTo>
                <a:lnTo>
                  <a:pt x="65988" y="1773"/>
                </a:lnTo>
                <a:lnTo>
                  <a:pt x="123298" y="6713"/>
                </a:lnTo>
                <a:lnTo>
                  <a:pt x="168491" y="14245"/>
                </a:lnTo>
                <a:lnTo>
                  <a:pt x="208772" y="34794"/>
                </a:lnTo>
                <a:lnTo>
                  <a:pt x="208772" y="980564"/>
                </a:lnTo>
                <a:lnTo>
                  <a:pt x="219415" y="991561"/>
                </a:lnTo>
                <a:lnTo>
                  <a:pt x="249053" y="1001112"/>
                </a:lnTo>
                <a:lnTo>
                  <a:pt x="294246" y="1008644"/>
                </a:lnTo>
                <a:lnTo>
                  <a:pt x="351556" y="1013584"/>
                </a:lnTo>
                <a:lnTo>
                  <a:pt x="417545" y="1015358"/>
                </a:lnTo>
                <a:lnTo>
                  <a:pt x="351556" y="1017131"/>
                </a:lnTo>
                <a:lnTo>
                  <a:pt x="294246" y="1022070"/>
                </a:lnTo>
                <a:lnTo>
                  <a:pt x="249053" y="1029602"/>
                </a:lnTo>
                <a:lnTo>
                  <a:pt x="219415" y="1039153"/>
                </a:lnTo>
                <a:lnTo>
                  <a:pt x="208772" y="1050151"/>
                </a:lnTo>
                <a:lnTo>
                  <a:pt x="208772" y="1995921"/>
                </a:lnTo>
                <a:lnTo>
                  <a:pt x="198129" y="2006918"/>
                </a:lnTo>
                <a:lnTo>
                  <a:pt x="168491" y="2016470"/>
                </a:lnTo>
                <a:lnTo>
                  <a:pt x="123298" y="2024001"/>
                </a:lnTo>
                <a:lnTo>
                  <a:pt x="65988" y="2028941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933646" y="3964940"/>
            <a:ext cx="2009775" cy="7480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250"/>
              </a:spcBef>
            </a:pPr>
            <a:r>
              <a:rPr dirty="0" sz="2400" spc="-50">
                <a:latin typeface="Arial"/>
                <a:cs typeface="Arial"/>
              </a:rPr>
              <a:t>Di</a:t>
            </a:r>
            <a:r>
              <a:rPr dirty="0" sz="2400" spc="-85">
                <a:latin typeface="Arial"/>
                <a:cs typeface="Arial"/>
              </a:rPr>
              <a:t>m</a:t>
            </a:r>
            <a:r>
              <a:rPr dirty="0" sz="2400" spc="-90">
                <a:latin typeface="Arial"/>
                <a:cs typeface="Arial"/>
              </a:rPr>
              <a:t>e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-55">
                <a:latin typeface="Arial"/>
                <a:cs typeface="Arial"/>
              </a:rPr>
              <a:t>s</a:t>
            </a:r>
            <a:r>
              <a:rPr dirty="0" sz="2400" spc="-25">
                <a:latin typeface="Arial"/>
                <a:cs typeface="Arial"/>
              </a:rPr>
              <a:t>i</a:t>
            </a:r>
            <a:r>
              <a:rPr dirty="0" sz="2400" spc="-65">
                <a:latin typeface="Arial"/>
                <a:cs typeface="Arial"/>
              </a:rPr>
              <a:t>o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125">
                <a:latin typeface="Arial"/>
                <a:cs typeface="Arial"/>
              </a:rPr>
              <a:t>/</a:t>
            </a:r>
            <a:r>
              <a:rPr dirty="0" sz="2400" spc="-55">
                <a:latin typeface="Arial"/>
                <a:cs typeface="Arial"/>
              </a:rPr>
              <a:t>s</a:t>
            </a:r>
            <a:r>
              <a:rPr dirty="0" sz="2400" spc="-50">
                <a:latin typeface="Arial"/>
                <a:cs typeface="Arial"/>
              </a:rPr>
              <a:t>i</a:t>
            </a:r>
            <a:r>
              <a:rPr dirty="0" sz="2400" spc="-125">
                <a:latin typeface="Arial"/>
                <a:cs typeface="Arial"/>
              </a:rPr>
              <a:t>z</a:t>
            </a:r>
            <a:r>
              <a:rPr dirty="0" sz="2400" spc="-60">
                <a:latin typeface="Arial"/>
                <a:cs typeface="Arial"/>
              </a:rPr>
              <a:t>e  </a:t>
            </a:r>
            <a:r>
              <a:rPr dirty="0" sz="2400" spc="-25">
                <a:latin typeface="Arial"/>
                <a:cs typeface="Arial"/>
              </a:rPr>
              <a:t>of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embeddings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03145" y="5839459"/>
            <a:ext cx="2832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Arial"/>
                <a:cs typeface="Arial"/>
              </a:rPr>
              <a:t>one </a:t>
            </a:r>
            <a:r>
              <a:rPr dirty="0" sz="2400" spc="-25">
                <a:latin typeface="Arial"/>
                <a:cs typeface="Arial"/>
              </a:rPr>
              <a:t>column </a:t>
            </a:r>
            <a:r>
              <a:rPr dirty="0" sz="2400" spc="-35">
                <a:latin typeface="Arial"/>
                <a:cs typeface="Arial"/>
              </a:rPr>
              <a:t>per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7789" y="2904235"/>
            <a:ext cx="1511300" cy="7480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354330" marR="5080" indent="-342265">
              <a:lnSpc>
                <a:spcPts val="2810"/>
              </a:lnSpc>
              <a:spcBef>
                <a:spcPts val="250"/>
              </a:spcBef>
            </a:pPr>
            <a:r>
              <a:rPr dirty="0" sz="2400" spc="-40">
                <a:latin typeface="Arial"/>
                <a:cs typeface="Arial"/>
              </a:rPr>
              <a:t>e</a:t>
            </a:r>
            <a:r>
              <a:rPr dirty="0" sz="2400" spc="-60">
                <a:latin typeface="Arial"/>
                <a:cs typeface="Arial"/>
              </a:rPr>
              <a:t>m</a:t>
            </a:r>
            <a:r>
              <a:rPr dirty="0" sz="2400" spc="30">
                <a:latin typeface="Arial"/>
                <a:cs typeface="Arial"/>
              </a:rPr>
              <a:t>b</a:t>
            </a:r>
            <a:r>
              <a:rPr dirty="0" sz="2400" spc="-25">
                <a:latin typeface="Arial"/>
                <a:cs typeface="Arial"/>
              </a:rPr>
              <a:t>e</a:t>
            </a:r>
            <a:r>
              <a:rPr dirty="0" sz="2400" spc="-30">
                <a:latin typeface="Arial"/>
                <a:cs typeface="Arial"/>
              </a:rPr>
              <a:t>d</a:t>
            </a:r>
            <a:r>
              <a:rPr dirty="0" sz="2400" spc="30">
                <a:latin typeface="Arial"/>
                <a:cs typeface="Arial"/>
              </a:rPr>
              <a:t>d</a:t>
            </a:r>
            <a:r>
              <a:rPr dirty="0" sz="2400" spc="-85">
                <a:latin typeface="Arial"/>
                <a:cs typeface="Arial"/>
              </a:rPr>
              <a:t>i</a:t>
            </a:r>
            <a:r>
              <a:rPr dirty="0" sz="2400" spc="-55">
                <a:latin typeface="Arial"/>
                <a:cs typeface="Arial"/>
              </a:rPr>
              <a:t>n</a:t>
            </a:r>
            <a:r>
              <a:rPr dirty="0" sz="2400" spc="-5">
                <a:latin typeface="Arial"/>
                <a:cs typeface="Arial"/>
              </a:rPr>
              <a:t>g  </a:t>
            </a:r>
            <a:r>
              <a:rPr dirty="0" sz="2400" spc="-40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2143" y="3635729"/>
            <a:ext cx="189230" cy="415925"/>
          </a:xfrm>
          <a:custGeom>
            <a:avLst/>
            <a:gdLst/>
            <a:ahLst/>
            <a:cxnLst/>
            <a:rect l="l" t="t" r="r" b="b"/>
            <a:pathLst>
              <a:path w="189230" h="415925">
                <a:moveTo>
                  <a:pt x="151068" y="346861"/>
                </a:moveTo>
                <a:lnTo>
                  <a:pt x="119097" y="360918"/>
                </a:lnTo>
                <a:lnTo>
                  <a:pt x="184645" y="415338"/>
                </a:lnTo>
                <a:lnTo>
                  <a:pt x="187340" y="360822"/>
                </a:lnTo>
                <a:lnTo>
                  <a:pt x="158759" y="360822"/>
                </a:lnTo>
                <a:lnTo>
                  <a:pt x="156885" y="360091"/>
                </a:lnTo>
                <a:lnTo>
                  <a:pt x="151068" y="346861"/>
                </a:lnTo>
                <a:close/>
              </a:path>
              <a:path w="189230" h="415925">
                <a:moveTo>
                  <a:pt x="156881" y="344305"/>
                </a:moveTo>
                <a:lnTo>
                  <a:pt x="151068" y="346861"/>
                </a:lnTo>
                <a:lnTo>
                  <a:pt x="156885" y="360091"/>
                </a:lnTo>
                <a:lnTo>
                  <a:pt x="158759" y="360822"/>
                </a:lnTo>
                <a:lnTo>
                  <a:pt x="161969" y="359410"/>
                </a:lnTo>
                <a:lnTo>
                  <a:pt x="162698" y="357536"/>
                </a:lnTo>
                <a:lnTo>
                  <a:pt x="156881" y="344305"/>
                </a:lnTo>
                <a:close/>
              </a:path>
              <a:path w="189230" h="415925">
                <a:moveTo>
                  <a:pt x="188852" y="330248"/>
                </a:moveTo>
                <a:lnTo>
                  <a:pt x="156881" y="344305"/>
                </a:lnTo>
                <a:lnTo>
                  <a:pt x="162698" y="357536"/>
                </a:lnTo>
                <a:lnTo>
                  <a:pt x="161969" y="359410"/>
                </a:lnTo>
                <a:lnTo>
                  <a:pt x="158759" y="360822"/>
                </a:lnTo>
                <a:lnTo>
                  <a:pt x="187340" y="360822"/>
                </a:lnTo>
                <a:lnTo>
                  <a:pt x="188852" y="330248"/>
                </a:lnTo>
                <a:close/>
              </a:path>
              <a:path w="189230" h="415925">
                <a:moveTo>
                  <a:pt x="3939" y="0"/>
                </a:moveTo>
                <a:lnTo>
                  <a:pt x="729" y="1410"/>
                </a:lnTo>
                <a:lnTo>
                  <a:pt x="0" y="3284"/>
                </a:lnTo>
                <a:lnTo>
                  <a:pt x="151068" y="346861"/>
                </a:lnTo>
                <a:lnTo>
                  <a:pt x="156881" y="344305"/>
                </a:lnTo>
                <a:lnTo>
                  <a:pt x="5812" y="728"/>
                </a:lnTo>
                <a:lnTo>
                  <a:pt x="3939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185115" y="2517139"/>
            <a:ext cx="3080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Arial"/>
                <a:cs typeface="Arial"/>
              </a:rPr>
              <a:t>embedding vector </a:t>
            </a:r>
            <a:r>
              <a:rPr dirty="0" sz="2400" spc="-30">
                <a:latin typeface="Arial"/>
                <a:cs typeface="Arial"/>
              </a:rPr>
              <a:t>for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2340" y="2873755"/>
            <a:ext cx="1766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Arial"/>
                <a:cs typeface="Arial"/>
              </a:rPr>
              <a:t>specific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59081" y="3234700"/>
            <a:ext cx="1087755" cy="890269"/>
          </a:xfrm>
          <a:custGeom>
            <a:avLst/>
            <a:gdLst/>
            <a:ahLst/>
            <a:cxnLst/>
            <a:rect l="l" t="t" r="r" b="b"/>
            <a:pathLst>
              <a:path w="1087754" h="890270">
                <a:moveTo>
                  <a:pt x="34848" y="812518"/>
                </a:moveTo>
                <a:lnTo>
                  <a:pt x="0" y="890258"/>
                </a:lnTo>
                <a:lnTo>
                  <a:pt x="83102" y="871493"/>
                </a:lnTo>
                <a:lnTo>
                  <a:pt x="68474" y="853615"/>
                </a:lnTo>
                <a:lnTo>
                  <a:pt x="49799" y="853615"/>
                </a:lnTo>
                <a:lnTo>
                  <a:pt x="47798" y="853415"/>
                </a:lnTo>
                <a:lnTo>
                  <a:pt x="45579" y="850700"/>
                </a:lnTo>
                <a:lnTo>
                  <a:pt x="45778" y="848700"/>
                </a:lnTo>
                <a:lnTo>
                  <a:pt x="56964" y="839547"/>
                </a:lnTo>
                <a:lnTo>
                  <a:pt x="34848" y="812518"/>
                </a:lnTo>
                <a:close/>
              </a:path>
              <a:path w="1087754" h="890270">
                <a:moveTo>
                  <a:pt x="56964" y="839547"/>
                </a:moveTo>
                <a:lnTo>
                  <a:pt x="45778" y="848700"/>
                </a:lnTo>
                <a:lnTo>
                  <a:pt x="45579" y="850700"/>
                </a:lnTo>
                <a:lnTo>
                  <a:pt x="47798" y="853415"/>
                </a:lnTo>
                <a:lnTo>
                  <a:pt x="49799" y="853615"/>
                </a:lnTo>
                <a:lnTo>
                  <a:pt x="60985" y="844462"/>
                </a:lnTo>
                <a:lnTo>
                  <a:pt x="56964" y="839547"/>
                </a:lnTo>
                <a:close/>
              </a:path>
              <a:path w="1087754" h="890270">
                <a:moveTo>
                  <a:pt x="60985" y="844462"/>
                </a:moveTo>
                <a:lnTo>
                  <a:pt x="49799" y="853615"/>
                </a:lnTo>
                <a:lnTo>
                  <a:pt x="68474" y="853615"/>
                </a:lnTo>
                <a:lnTo>
                  <a:pt x="60985" y="844462"/>
                </a:lnTo>
                <a:close/>
              </a:path>
              <a:path w="1087754" h="890270">
                <a:moveTo>
                  <a:pt x="1083077" y="0"/>
                </a:moveTo>
                <a:lnTo>
                  <a:pt x="56964" y="839547"/>
                </a:lnTo>
                <a:lnTo>
                  <a:pt x="60985" y="844462"/>
                </a:lnTo>
                <a:lnTo>
                  <a:pt x="1087098" y="4914"/>
                </a:lnTo>
                <a:lnTo>
                  <a:pt x="1087299" y="2914"/>
                </a:lnTo>
                <a:lnTo>
                  <a:pt x="1085077" y="199"/>
                </a:lnTo>
                <a:lnTo>
                  <a:pt x="1083077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35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750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9666" y="1296924"/>
            <a:ext cx="79178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Edges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KG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represented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as </a:t>
            </a:r>
            <a:r>
              <a:rPr dirty="0" spc="-5">
                <a:solidFill>
                  <a:srgbClr val="000000"/>
                </a:solidFill>
              </a:rPr>
              <a:t>triples 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𝑟,</a:t>
            </a:r>
            <a:r>
              <a:rPr dirty="0" spc="-22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𝑡)</a:t>
            </a:r>
          </a:p>
        </p:txBody>
      </p:sp>
      <p:sp>
        <p:nvSpPr>
          <p:cNvPr id="4" name="object 4"/>
          <p:cNvSpPr/>
          <p:nvPr/>
        </p:nvSpPr>
        <p:spPr>
          <a:xfrm>
            <a:off x="4263616" y="1933373"/>
            <a:ext cx="410845" cy="329565"/>
          </a:xfrm>
          <a:custGeom>
            <a:avLst/>
            <a:gdLst/>
            <a:ahLst/>
            <a:cxnLst/>
            <a:rect l="l" t="t" r="r" b="b"/>
            <a:pathLst>
              <a:path w="410845" h="329564">
                <a:moveTo>
                  <a:pt x="305278" y="0"/>
                </a:moveTo>
                <a:lnTo>
                  <a:pt x="300591" y="13370"/>
                </a:lnTo>
                <a:lnTo>
                  <a:pt x="319658" y="21645"/>
                </a:lnTo>
                <a:lnTo>
                  <a:pt x="336055" y="33099"/>
                </a:lnTo>
                <a:lnTo>
                  <a:pt x="360841" y="65547"/>
                </a:lnTo>
                <a:lnTo>
                  <a:pt x="375425" y="109324"/>
                </a:lnTo>
                <a:lnTo>
                  <a:pt x="380287" y="163041"/>
                </a:lnTo>
                <a:lnTo>
                  <a:pt x="379066" y="192092"/>
                </a:lnTo>
                <a:lnTo>
                  <a:pt x="369300" y="242185"/>
                </a:lnTo>
                <a:lnTo>
                  <a:pt x="349701" y="281307"/>
                </a:lnTo>
                <a:lnTo>
                  <a:pt x="319880" y="307699"/>
                </a:lnTo>
                <a:lnTo>
                  <a:pt x="301111" y="316011"/>
                </a:lnTo>
                <a:lnTo>
                  <a:pt x="305278" y="329382"/>
                </a:lnTo>
                <a:lnTo>
                  <a:pt x="350206" y="308307"/>
                </a:lnTo>
                <a:lnTo>
                  <a:pt x="383240" y="271823"/>
                </a:lnTo>
                <a:lnTo>
                  <a:pt x="403554" y="222966"/>
                </a:lnTo>
                <a:lnTo>
                  <a:pt x="410326" y="164777"/>
                </a:lnTo>
                <a:lnTo>
                  <a:pt x="408628" y="134581"/>
                </a:lnTo>
                <a:lnTo>
                  <a:pt x="395041" y="81059"/>
                </a:lnTo>
                <a:lnTo>
                  <a:pt x="368095" y="37488"/>
                </a:lnTo>
                <a:lnTo>
                  <a:pt x="329158" y="8622"/>
                </a:lnTo>
                <a:lnTo>
                  <a:pt x="305278" y="0"/>
                </a:lnTo>
                <a:close/>
              </a:path>
              <a:path w="410845" h="329564">
                <a:moveTo>
                  <a:pt x="105046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6" y="320771"/>
                </a:lnTo>
                <a:lnTo>
                  <a:pt x="105046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66582" y="5730638"/>
            <a:ext cx="638810" cy="282575"/>
          </a:xfrm>
          <a:custGeom>
            <a:avLst/>
            <a:gdLst/>
            <a:ahLst/>
            <a:cxnLst/>
            <a:rect l="l" t="t" r="r" b="b"/>
            <a:pathLst>
              <a:path w="638810" h="282575">
                <a:moveTo>
                  <a:pt x="548289" y="0"/>
                </a:moveTo>
                <a:lnTo>
                  <a:pt x="544269" y="11459"/>
                </a:lnTo>
                <a:lnTo>
                  <a:pt x="560613" y="18552"/>
                </a:lnTo>
                <a:lnTo>
                  <a:pt x="574668" y="28370"/>
                </a:lnTo>
                <a:lnTo>
                  <a:pt x="603207" y="73879"/>
                </a:lnTo>
                <a:lnTo>
                  <a:pt x="611541" y="115662"/>
                </a:lnTo>
                <a:lnTo>
                  <a:pt x="612583" y="139749"/>
                </a:lnTo>
                <a:lnTo>
                  <a:pt x="611536" y="164650"/>
                </a:lnTo>
                <a:lnTo>
                  <a:pt x="603164" y="207587"/>
                </a:lnTo>
                <a:lnTo>
                  <a:pt x="574687" y="253826"/>
                </a:lnTo>
                <a:lnTo>
                  <a:pt x="544716" y="270867"/>
                </a:lnTo>
                <a:lnTo>
                  <a:pt x="548289" y="282326"/>
                </a:lnTo>
                <a:lnTo>
                  <a:pt x="586798" y="264262"/>
                </a:lnTo>
                <a:lnTo>
                  <a:pt x="615113" y="232990"/>
                </a:lnTo>
                <a:lnTo>
                  <a:pt x="632525" y="191113"/>
                </a:lnTo>
                <a:lnTo>
                  <a:pt x="638329" y="141237"/>
                </a:lnTo>
                <a:lnTo>
                  <a:pt x="636874" y="115355"/>
                </a:lnTo>
                <a:lnTo>
                  <a:pt x="625228" y="69479"/>
                </a:lnTo>
                <a:lnTo>
                  <a:pt x="602132" y="32132"/>
                </a:lnTo>
                <a:lnTo>
                  <a:pt x="568757" y="7390"/>
                </a:lnTo>
                <a:lnTo>
                  <a:pt x="548289" y="0"/>
                </a:lnTo>
                <a:close/>
              </a:path>
              <a:path w="638810" h="282575">
                <a:moveTo>
                  <a:pt x="90041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59" y="213052"/>
                </a:lnTo>
                <a:lnTo>
                  <a:pt x="36100" y="250277"/>
                </a:lnTo>
                <a:lnTo>
                  <a:pt x="69512" y="274945"/>
                </a:lnTo>
                <a:lnTo>
                  <a:pt x="90041" y="282326"/>
                </a:lnTo>
                <a:lnTo>
                  <a:pt x="93612" y="270867"/>
                </a:lnTo>
                <a:lnTo>
                  <a:pt x="77525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9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9666" y="1832355"/>
            <a:ext cx="8025765" cy="460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17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3930015" algn="l"/>
                <a:tab pos="4336415" algn="l"/>
              </a:tabLst>
            </a:pP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head </a:t>
            </a:r>
            <a:r>
              <a:rPr dirty="0" sz="2800" spc="5">
                <a:latin typeface="Cambria Math"/>
                <a:cs typeface="Cambria Math"/>
              </a:rPr>
              <a:t>(ℎ)</a:t>
            </a:r>
            <a:r>
              <a:rPr dirty="0" sz="2800" spc="40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has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D60093"/>
                </a:solidFill>
                <a:latin typeface="Calibri"/>
                <a:cs typeface="Calibri"/>
              </a:rPr>
              <a:t>relation	</a:t>
            </a:r>
            <a:r>
              <a:rPr dirty="0" sz="2800">
                <a:latin typeface="Cambria Math"/>
                <a:cs typeface="Cambria Math"/>
              </a:rPr>
              <a:t>𝑟	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solidFill>
                  <a:srgbClr val="00B050"/>
                </a:solidFill>
                <a:latin typeface="Calibri"/>
                <a:cs typeface="Calibri"/>
              </a:rPr>
              <a:t>tail</a:t>
            </a:r>
            <a:r>
              <a:rPr dirty="0" sz="2800" spc="-6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800" spc="10">
                <a:latin typeface="Cambria Math"/>
                <a:cs typeface="Cambria Math"/>
              </a:rPr>
              <a:t>(𝑡)</a:t>
            </a:r>
            <a:endParaRPr sz="2800">
              <a:latin typeface="Cambria Math"/>
              <a:cs typeface="Cambria Math"/>
            </a:endParaRPr>
          </a:p>
          <a:p>
            <a:pPr marL="332740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latin typeface="Calibri"/>
                <a:cs typeface="Calibri"/>
              </a:rPr>
              <a:t>Key</a:t>
            </a:r>
            <a:r>
              <a:rPr dirty="0" sz="3200" spc="-10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Idea:</a:t>
            </a:r>
            <a:endParaRPr sz="3200">
              <a:latin typeface="Calibri"/>
              <a:cs typeface="Calibri"/>
            </a:endParaRPr>
          </a:p>
          <a:p>
            <a:pPr lvl="1" marL="625475" marR="2419350" indent="-274320">
              <a:lnSpc>
                <a:spcPts val="31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Model </a:t>
            </a:r>
            <a:r>
              <a:rPr dirty="0" sz="2800" spc="-10">
                <a:latin typeface="Calibri"/>
                <a:cs typeface="Calibri"/>
              </a:rPr>
              <a:t>entities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relations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620">
                <a:latin typeface="Calibri"/>
                <a:cs typeface="Calibri"/>
              </a:rPr>
              <a:t>the  </a:t>
            </a:r>
            <a:r>
              <a:rPr dirty="0" sz="2800" spc="-5">
                <a:latin typeface="Calibri"/>
                <a:cs typeface="Calibri"/>
              </a:rPr>
              <a:t>embedding/vector space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100">
                <a:latin typeface="Cambria Math"/>
                <a:cs typeface="Cambria Math"/>
              </a:rPr>
              <a:t>ℝ</a:t>
            </a:r>
            <a:r>
              <a:rPr dirty="0" baseline="29166" sz="3000" spc="150">
                <a:latin typeface="Cambria Math"/>
                <a:cs typeface="Cambria Math"/>
              </a:rPr>
              <a:t>6</a:t>
            </a:r>
            <a:r>
              <a:rPr dirty="0" sz="2800" spc="10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17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Associate </a:t>
            </a:r>
            <a:r>
              <a:rPr dirty="0" sz="2400" spc="-5">
                <a:latin typeface="Calibri"/>
                <a:cs typeface="Calibri"/>
              </a:rPr>
              <a:t>entities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relations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5" b="1">
                <a:solidFill>
                  <a:srgbClr val="479249"/>
                </a:solidFill>
                <a:latin typeface="Calibri"/>
                <a:cs typeface="Calibri"/>
              </a:rPr>
              <a:t>shallow</a:t>
            </a:r>
            <a:r>
              <a:rPr dirty="0" sz="2400" spc="5" b="1">
                <a:solidFill>
                  <a:srgbClr val="479249"/>
                </a:solidFill>
                <a:latin typeface="Calibri"/>
                <a:cs typeface="Calibri"/>
              </a:rPr>
              <a:t> </a:t>
            </a:r>
            <a:r>
              <a:rPr dirty="0" sz="2400" spc="-40" b="1">
                <a:solidFill>
                  <a:srgbClr val="479249"/>
                </a:solidFill>
                <a:latin typeface="Calibri"/>
                <a:cs typeface="Calibri"/>
              </a:rPr>
              <a:t>embeddings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 b="1">
                <a:solidFill>
                  <a:srgbClr val="FF0000"/>
                </a:solidFill>
                <a:latin typeface="Calibri"/>
                <a:cs typeface="Calibri"/>
              </a:rPr>
              <a:t>Note </a:t>
            </a:r>
            <a:r>
              <a:rPr dirty="0" sz="2400" spc="-10" b="1">
                <a:solidFill>
                  <a:srgbClr val="FF0000"/>
                </a:solidFill>
                <a:latin typeface="Calibri"/>
                <a:cs typeface="Calibri"/>
              </a:rPr>
              <a:t>we </a:t>
            </a:r>
            <a:r>
              <a:rPr dirty="0" sz="2400" spc="-5" b="1">
                <a:solidFill>
                  <a:srgbClr val="FF0000"/>
                </a:solidFill>
                <a:latin typeface="Calibri"/>
                <a:cs typeface="Calibri"/>
              </a:rPr>
              <a:t>do not learn </a:t>
            </a:r>
            <a:r>
              <a:rPr dirty="0" sz="2400" b="1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dirty="0" sz="2400" spc="-5" b="1">
                <a:solidFill>
                  <a:srgbClr val="FF0000"/>
                </a:solidFill>
                <a:latin typeface="Calibri"/>
                <a:cs typeface="Calibri"/>
              </a:rPr>
              <a:t>GNN</a:t>
            </a:r>
            <a:r>
              <a:rPr dirty="0" sz="2400" spc="-5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Calibri"/>
                <a:cs typeface="Calibri"/>
              </a:rPr>
              <a:t>here!</a:t>
            </a:r>
            <a:endParaRPr sz="2400">
              <a:latin typeface="Calibri"/>
              <a:cs typeface="Calibri"/>
            </a:endParaRPr>
          </a:p>
          <a:p>
            <a:pPr lvl="1" marL="625475" marR="734695" indent="-274320">
              <a:lnSpc>
                <a:spcPts val="3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true triple </a:t>
            </a:r>
            <a:r>
              <a:rPr dirty="0" sz="2800" spc="5">
                <a:latin typeface="Cambria Math"/>
                <a:cs typeface="Cambria Math"/>
              </a:rPr>
              <a:t>(ℎ, </a:t>
            </a:r>
            <a:r>
              <a:rPr dirty="0" sz="2800" spc="25">
                <a:latin typeface="Cambria Math"/>
                <a:cs typeface="Cambria Math"/>
              </a:rPr>
              <a:t>𝑟, </a:t>
            </a:r>
            <a:r>
              <a:rPr dirty="0" sz="2800" spc="10">
                <a:latin typeface="Cambria Math"/>
                <a:cs typeface="Cambria Math"/>
              </a:rPr>
              <a:t>𝑡)</a:t>
            </a:r>
            <a:r>
              <a:rPr dirty="0" sz="2800" spc="10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goal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30">
                <a:latin typeface="Calibri"/>
                <a:cs typeface="Calibri"/>
              </a:rPr>
              <a:t>the </a:t>
            </a:r>
            <a:r>
              <a:rPr dirty="0" sz="2800" spc="-13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embedding of </a:t>
            </a:r>
            <a:r>
              <a:rPr dirty="0" sz="2800" spc="5">
                <a:solidFill>
                  <a:srgbClr val="D60093"/>
                </a:solidFill>
                <a:latin typeface="Cambria Math"/>
                <a:cs typeface="Cambria Math"/>
              </a:rPr>
              <a:t>(ℎ, </a:t>
            </a:r>
            <a:r>
              <a:rPr dirty="0" sz="2800" spc="25">
                <a:solidFill>
                  <a:srgbClr val="D60093"/>
                </a:solidFill>
                <a:latin typeface="Cambria Math"/>
                <a:cs typeface="Cambria Math"/>
              </a:rPr>
              <a:t>𝑟) </a:t>
            </a:r>
            <a:r>
              <a:rPr dirty="0" sz="2800" spc="-5" b="1">
                <a:latin typeface="Calibri"/>
                <a:cs typeface="Calibri"/>
              </a:rPr>
              <a:t>should be close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B050"/>
                </a:solidFill>
                <a:latin typeface="Calibri"/>
                <a:cs typeface="Calibri"/>
              </a:rPr>
              <a:t>embedding of</a:t>
            </a:r>
            <a:r>
              <a:rPr dirty="0" sz="2800" spc="-6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800" spc="25">
                <a:solidFill>
                  <a:srgbClr val="00B050"/>
                </a:solidFill>
                <a:latin typeface="Cambria Math"/>
                <a:cs typeface="Cambria Math"/>
              </a:rPr>
              <a:t>𝑡</a:t>
            </a:r>
            <a:r>
              <a:rPr dirty="0" sz="2800" spc="25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  <a:tab pos="2916555" algn="l"/>
                <a:tab pos="3481704" algn="l"/>
              </a:tabLst>
            </a:pPr>
            <a:r>
              <a:rPr dirty="0" sz="2400" spc="-5">
                <a:latin typeface="Calibri"/>
                <a:cs typeface="Calibri"/>
              </a:rPr>
              <a:t>How </a:t>
            </a:r>
            <a:r>
              <a:rPr dirty="0" sz="2400" spc="-15">
                <a:latin typeface="Calibri"/>
                <a:cs typeface="Calibri"/>
              </a:rPr>
              <a:t>to</a:t>
            </a:r>
            <a:r>
              <a:rPr dirty="0" sz="2400" spc="-5">
                <a:latin typeface="Calibri"/>
                <a:cs typeface="Calibri"/>
              </a:rPr>
              <a:t> embed	</a:t>
            </a:r>
            <a:r>
              <a:rPr dirty="0" sz="2400" spc="15">
                <a:latin typeface="Cambria Math"/>
                <a:cs typeface="Cambria Math"/>
              </a:rPr>
              <a:t>ℎ,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𝑟	</a:t>
            </a:r>
            <a:r>
              <a:rPr dirty="0" sz="2400"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309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How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define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closeness?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35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1000"/>
            <a:ext cx="1648968" cy="393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657215" cy="10071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0000FF"/>
                </a:solidFill>
              </a:rPr>
              <a:t>Translation</a:t>
            </a:r>
            <a:r>
              <a:rPr dirty="0" spc="-70">
                <a:solidFill>
                  <a:srgbClr val="0000FF"/>
                </a:solidFill>
              </a:rPr>
              <a:t> </a:t>
            </a:r>
            <a:r>
              <a:rPr dirty="0" spc="-5">
                <a:solidFill>
                  <a:srgbClr val="0000FF"/>
                </a:solidFill>
              </a:rPr>
              <a:t>Intuition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:</a:t>
            </a:r>
          </a:p>
          <a:p>
            <a:pPr marL="332740">
              <a:lnSpc>
                <a:spcPct val="100000"/>
              </a:lnSpc>
              <a:spcBef>
                <a:spcPts val="45"/>
              </a:spcBef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triple 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𝑟, </a:t>
            </a:r>
            <a:r>
              <a:rPr dirty="0" spc="15" b="0">
                <a:solidFill>
                  <a:srgbClr val="000000"/>
                </a:solidFill>
                <a:latin typeface="Cambria Math"/>
                <a:cs typeface="Cambria Math"/>
              </a:rPr>
              <a:t>𝑡)</a:t>
            </a:r>
            <a:r>
              <a:rPr dirty="0" spc="15" b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𝐡, 𝐫, 𝐭 ∈</a:t>
            </a:r>
            <a:r>
              <a:rPr dirty="0" spc="-3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mbria Math"/>
                <a:cs typeface="Cambria Math"/>
              </a:rPr>
              <a:t>ℝ</a:t>
            </a:r>
            <a:r>
              <a:rPr dirty="0" baseline="27777" sz="3450" spc="-52" b="0">
                <a:solidFill>
                  <a:srgbClr val="000000"/>
                </a:solidFill>
                <a:latin typeface="Cambria Math"/>
                <a:cs typeface="Cambria Math"/>
              </a:rPr>
              <a:t>+</a:t>
            </a:r>
            <a:r>
              <a:rPr dirty="0" sz="3200" spc="-35" b="0">
                <a:solidFill>
                  <a:srgbClr val="000000"/>
                </a:solidFill>
                <a:latin typeface="Cambria Math"/>
                <a:cs typeface="Cambria Math"/>
              </a:rPr>
              <a:t>,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149" y="2339340"/>
            <a:ext cx="54006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𝐡 + 𝐫 ≈ 𝐭 </a:t>
            </a:r>
            <a:r>
              <a:rPr dirty="0" sz="3200">
                <a:latin typeface="Calibri"/>
                <a:cs typeface="Calibri"/>
              </a:rPr>
              <a:t>if the </a:t>
            </a: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 spc="-20">
                <a:latin typeface="Calibri"/>
                <a:cs typeface="Calibri"/>
              </a:rPr>
              <a:t>fact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35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true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32523" y="34193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4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820924"/>
            <a:ext cx="4004945" cy="9982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3829"/>
              </a:lnSpc>
              <a:spcBef>
                <a:spcPts val="100"/>
              </a:spcBef>
            </a:pPr>
            <a:r>
              <a:rPr dirty="0" sz="3200" spc="-5">
                <a:latin typeface="Calibri"/>
                <a:cs typeface="Calibri"/>
              </a:rPr>
              <a:t>else </a:t>
            </a:r>
            <a:r>
              <a:rPr dirty="0" sz="3200">
                <a:latin typeface="Cambria Math"/>
                <a:cs typeface="Cambria Math"/>
              </a:rPr>
              <a:t>𝐡 + 𝐫 ≠</a:t>
            </a:r>
            <a:r>
              <a:rPr dirty="0" sz="3200" spc="2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𝐭</a:t>
            </a:r>
            <a:endParaRPr sz="3200">
              <a:latin typeface="Cambria Math"/>
              <a:cs typeface="Cambria Math"/>
            </a:endParaRPr>
          </a:p>
          <a:p>
            <a:pPr marL="12700">
              <a:lnSpc>
                <a:spcPts val="3829"/>
              </a:lnSpc>
              <a:tabLst>
                <a:tab pos="3446779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Scoring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function</a:t>
            </a:r>
            <a:r>
              <a:rPr dirty="0" sz="3200" spc="-5">
                <a:latin typeface="Calibri"/>
                <a:cs typeface="Calibri"/>
              </a:rPr>
              <a:t>: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35">
                <a:latin typeface="Cambria Math"/>
                <a:cs typeface="Cambria Math"/>
              </a:rPr>
              <a:t>𝑓</a:t>
            </a:r>
            <a:r>
              <a:rPr dirty="0" baseline="-15700" sz="3450" spc="-52">
                <a:latin typeface="Cambria Math"/>
                <a:cs typeface="Cambria Math"/>
              </a:rPr>
              <a:t>!	</a:t>
            </a:r>
            <a:r>
              <a:rPr dirty="0" sz="3200" spc="25">
                <a:latin typeface="Cambria Math"/>
                <a:cs typeface="Cambria Math"/>
              </a:rPr>
              <a:t>ℎ,</a:t>
            </a:r>
            <a:r>
              <a:rPr dirty="0" sz="3200" spc="-2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𝑡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8801" y="3305555"/>
            <a:ext cx="28238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-5">
                <a:latin typeface="Cambria Math"/>
                <a:cs typeface="Cambria Math"/>
              </a:rPr>
              <a:t>−||𝐡 </a:t>
            </a:r>
            <a:r>
              <a:rPr dirty="0" sz="3200">
                <a:latin typeface="Cambria Math"/>
                <a:cs typeface="Cambria Math"/>
              </a:rPr>
              <a:t>+ 𝐫 −</a:t>
            </a:r>
            <a:r>
              <a:rPr dirty="0" sz="3200" spc="114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𝐭||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6540" y="4115591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37491" y="6334212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39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99491" y="558879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85109" y="557440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7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5"/>
                </a:lnTo>
                <a:lnTo>
                  <a:pt x="19190" y="50767"/>
                </a:lnTo>
                <a:lnTo>
                  <a:pt x="17296" y="41382"/>
                </a:lnTo>
                <a:lnTo>
                  <a:pt x="19190" y="31997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7" y="17297"/>
                </a:lnTo>
                <a:lnTo>
                  <a:pt x="71292" y="12781"/>
                </a:lnTo>
                <a:lnTo>
                  <a:pt x="69983" y="11470"/>
                </a:lnTo>
                <a:lnTo>
                  <a:pt x="58317" y="3605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1" y="31997"/>
                </a:lnTo>
                <a:lnTo>
                  <a:pt x="65465" y="41382"/>
                </a:lnTo>
                <a:lnTo>
                  <a:pt x="63571" y="50767"/>
                </a:lnTo>
                <a:lnTo>
                  <a:pt x="58414" y="58415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7" y="65467"/>
                </a:lnTo>
                <a:lnTo>
                  <a:pt x="82763" y="40420"/>
                </a:lnTo>
                <a:lnTo>
                  <a:pt x="79891" y="26199"/>
                </a:lnTo>
                <a:lnTo>
                  <a:pt x="79208" y="24568"/>
                </a:lnTo>
                <a:lnTo>
                  <a:pt x="79092" y="24348"/>
                </a:lnTo>
                <a:lnTo>
                  <a:pt x="74337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6" y="34246"/>
                </a:lnTo>
                <a:lnTo>
                  <a:pt x="23126" y="41382"/>
                </a:lnTo>
                <a:lnTo>
                  <a:pt x="24566" y="48518"/>
                </a:lnTo>
                <a:lnTo>
                  <a:pt x="28464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9"/>
                </a:lnTo>
                <a:lnTo>
                  <a:pt x="28957" y="41382"/>
                </a:lnTo>
                <a:lnTo>
                  <a:pt x="29944" y="36495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8"/>
                </a:lnTo>
                <a:lnTo>
                  <a:pt x="54629" y="28958"/>
                </a:lnTo>
                <a:lnTo>
                  <a:pt x="54297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8"/>
                </a:moveTo>
                <a:lnTo>
                  <a:pt x="41381" y="28958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5"/>
                </a:lnTo>
                <a:lnTo>
                  <a:pt x="53806" y="41382"/>
                </a:lnTo>
                <a:lnTo>
                  <a:pt x="52819" y="46269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8"/>
                </a:lnTo>
                <a:lnTo>
                  <a:pt x="59635" y="41382"/>
                </a:lnTo>
                <a:lnTo>
                  <a:pt x="58195" y="34246"/>
                </a:lnTo>
                <a:lnTo>
                  <a:pt x="54629" y="28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53136" y="520619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38755" y="519180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6"/>
                </a:lnTo>
                <a:lnTo>
                  <a:pt x="79094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29997" y="5235495"/>
            <a:ext cx="1650364" cy="377190"/>
          </a:xfrm>
          <a:custGeom>
            <a:avLst/>
            <a:gdLst/>
            <a:ahLst/>
            <a:cxnLst/>
            <a:rect l="l" t="t" r="r" b="b"/>
            <a:pathLst>
              <a:path w="1650364" h="377189">
                <a:moveTo>
                  <a:pt x="1563293" y="27987"/>
                </a:moveTo>
                <a:lnTo>
                  <a:pt x="4975" y="348801"/>
                </a:lnTo>
                <a:lnTo>
                  <a:pt x="0" y="356356"/>
                </a:lnTo>
                <a:lnTo>
                  <a:pt x="3182" y="371813"/>
                </a:lnTo>
                <a:lnTo>
                  <a:pt x="10737" y="376789"/>
                </a:lnTo>
                <a:lnTo>
                  <a:pt x="1569055" y="55975"/>
                </a:lnTo>
                <a:lnTo>
                  <a:pt x="1563293" y="27987"/>
                </a:lnTo>
                <a:close/>
              </a:path>
              <a:path w="1650364" h="377189">
                <a:moveTo>
                  <a:pt x="1645710" y="23515"/>
                </a:moveTo>
                <a:lnTo>
                  <a:pt x="1585015" y="23515"/>
                </a:lnTo>
                <a:lnTo>
                  <a:pt x="1592571" y="28491"/>
                </a:lnTo>
                <a:lnTo>
                  <a:pt x="1595753" y="43948"/>
                </a:lnTo>
                <a:lnTo>
                  <a:pt x="1590777" y="51503"/>
                </a:lnTo>
                <a:lnTo>
                  <a:pt x="1569055" y="55975"/>
                </a:lnTo>
                <a:lnTo>
                  <a:pt x="1574817" y="83963"/>
                </a:lnTo>
                <a:lnTo>
                  <a:pt x="1650138" y="24696"/>
                </a:lnTo>
                <a:lnTo>
                  <a:pt x="1645710" y="23515"/>
                </a:lnTo>
                <a:close/>
              </a:path>
              <a:path w="1650364" h="377189">
                <a:moveTo>
                  <a:pt x="1585015" y="23515"/>
                </a:moveTo>
                <a:lnTo>
                  <a:pt x="1563293" y="27987"/>
                </a:lnTo>
                <a:lnTo>
                  <a:pt x="1569055" y="55975"/>
                </a:lnTo>
                <a:lnTo>
                  <a:pt x="1590777" y="51503"/>
                </a:lnTo>
                <a:lnTo>
                  <a:pt x="1595753" y="43948"/>
                </a:lnTo>
                <a:lnTo>
                  <a:pt x="1592571" y="28491"/>
                </a:lnTo>
                <a:lnTo>
                  <a:pt x="1585015" y="23515"/>
                </a:lnTo>
                <a:close/>
              </a:path>
              <a:path w="1650364" h="377189">
                <a:moveTo>
                  <a:pt x="1557531" y="0"/>
                </a:moveTo>
                <a:lnTo>
                  <a:pt x="1563293" y="27987"/>
                </a:lnTo>
                <a:lnTo>
                  <a:pt x="1585015" y="23515"/>
                </a:lnTo>
                <a:lnTo>
                  <a:pt x="1645710" y="23515"/>
                </a:lnTo>
                <a:lnTo>
                  <a:pt x="155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454299" y="5151627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𝐡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4309" y="5060188"/>
            <a:ext cx="1606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B050"/>
                </a:solidFill>
                <a:latin typeface="Cambria Math"/>
                <a:cs typeface="Cambria Math"/>
              </a:rPr>
              <a:t>𝐭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05283" y="4983988"/>
            <a:ext cx="194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D9253E"/>
                </a:solidFill>
                <a:latin typeface="Cambria Math"/>
                <a:cs typeface="Cambria Math"/>
              </a:rPr>
              <a:t>𝐫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98748" y="4106632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79698" y="6325254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39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41698" y="557983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27317" y="5565450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3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3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29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95345" y="519723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80962" y="5182851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1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1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7" y="63572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7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6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6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6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1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4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1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972205" y="5226536"/>
            <a:ext cx="1650364" cy="377190"/>
          </a:xfrm>
          <a:custGeom>
            <a:avLst/>
            <a:gdLst/>
            <a:ahLst/>
            <a:cxnLst/>
            <a:rect l="l" t="t" r="r" b="b"/>
            <a:pathLst>
              <a:path w="1650365" h="377189">
                <a:moveTo>
                  <a:pt x="1563294" y="27988"/>
                </a:moveTo>
                <a:lnTo>
                  <a:pt x="4975" y="348801"/>
                </a:lnTo>
                <a:lnTo>
                  <a:pt x="0" y="356356"/>
                </a:lnTo>
                <a:lnTo>
                  <a:pt x="3182" y="371814"/>
                </a:lnTo>
                <a:lnTo>
                  <a:pt x="10737" y="376789"/>
                </a:lnTo>
                <a:lnTo>
                  <a:pt x="1569056" y="55976"/>
                </a:lnTo>
                <a:lnTo>
                  <a:pt x="1563294" y="27988"/>
                </a:lnTo>
                <a:close/>
              </a:path>
              <a:path w="1650365" h="377189">
                <a:moveTo>
                  <a:pt x="1645714" y="23516"/>
                </a:moveTo>
                <a:lnTo>
                  <a:pt x="1585015" y="23516"/>
                </a:lnTo>
                <a:lnTo>
                  <a:pt x="1592571" y="28492"/>
                </a:lnTo>
                <a:lnTo>
                  <a:pt x="1595753" y="43949"/>
                </a:lnTo>
                <a:lnTo>
                  <a:pt x="1590777" y="51504"/>
                </a:lnTo>
                <a:lnTo>
                  <a:pt x="1569056" y="55976"/>
                </a:lnTo>
                <a:lnTo>
                  <a:pt x="1574817" y="83964"/>
                </a:lnTo>
                <a:lnTo>
                  <a:pt x="1650138" y="24696"/>
                </a:lnTo>
                <a:lnTo>
                  <a:pt x="1645714" y="23516"/>
                </a:lnTo>
                <a:close/>
              </a:path>
              <a:path w="1650365" h="377189">
                <a:moveTo>
                  <a:pt x="1585015" y="23516"/>
                </a:moveTo>
                <a:lnTo>
                  <a:pt x="1563294" y="27988"/>
                </a:lnTo>
                <a:lnTo>
                  <a:pt x="1569056" y="55976"/>
                </a:lnTo>
                <a:lnTo>
                  <a:pt x="1590777" y="51504"/>
                </a:lnTo>
                <a:lnTo>
                  <a:pt x="1595753" y="43949"/>
                </a:lnTo>
                <a:lnTo>
                  <a:pt x="1592571" y="28492"/>
                </a:lnTo>
                <a:lnTo>
                  <a:pt x="1585015" y="23516"/>
                </a:lnTo>
                <a:close/>
              </a:path>
              <a:path w="1650365" h="377189">
                <a:moveTo>
                  <a:pt x="1557533" y="0"/>
                </a:moveTo>
                <a:lnTo>
                  <a:pt x="1563294" y="27988"/>
                </a:lnTo>
                <a:lnTo>
                  <a:pt x="1585015" y="23516"/>
                </a:lnTo>
                <a:lnTo>
                  <a:pt x="1645714" y="23516"/>
                </a:lnTo>
                <a:lnTo>
                  <a:pt x="1557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221047" y="4864100"/>
            <a:ext cx="2235200" cy="72390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 marR="5080" indent="852169">
              <a:lnSpc>
                <a:spcPts val="2620"/>
              </a:lnSpc>
              <a:spcBef>
                <a:spcPts val="405"/>
              </a:spcBef>
            </a:pPr>
            <a:r>
              <a:rPr dirty="0" sz="2400">
                <a:solidFill>
                  <a:srgbClr val="D9253E"/>
                </a:solidFill>
                <a:latin typeface="Calibri"/>
                <a:cs typeface="Calibri"/>
              </a:rPr>
              <a:t>N</a:t>
            </a:r>
            <a:r>
              <a:rPr dirty="0" sz="2400" spc="-25">
                <a:solidFill>
                  <a:srgbClr val="D9253E"/>
                </a:solidFill>
                <a:latin typeface="Calibri"/>
                <a:cs typeface="Calibri"/>
              </a:rPr>
              <a:t>a</a:t>
            </a:r>
            <a:r>
              <a:rPr dirty="0" sz="2400" spc="-10">
                <a:solidFill>
                  <a:srgbClr val="D9253E"/>
                </a:solidFill>
                <a:latin typeface="Calibri"/>
                <a:cs typeface="Calibri"/>
              </a:rPr>
              <a:t>t</a:t>
            </a:r>
            <a:r>
              <a:rPr dirty="0" sz="2400" spc="-5">
                <a:solidFill>
                  <a:srgbClr val="D9253E"/>
                </a:solidFill>
                <a:latin typeface="Calibri"/>
                <a:cs typeface="Calibri"/>
              </a:rPr>
              <a:t>io</a:t>
            </a:r>
            <a:r>
              <a:rPr dirty="0" sz="2400">
                <a:solidFill>
                  <a:srgbClr val="D9253E"/>
                </a:solidFill>
                <a:latin typeface="Calibri"/>
                <a:cs typeface="Calibri"/>
              </a:rPr>
              <a:t>n</a:t>
            </a:r>
            <a:r>
              <a:rPr dirty="0" sz="2400" spc="-5">
                <a:solidFill>
                  <a:srgbClr val="D9253E"/>
                </a:solidFill>
                <a:latin typeface="Calibri"/>
                <a:cs typeface="Calibri"/>
              </a:rPr>
              <a:t>ali</a:t>
            </a:r>
            <a:r>
              <a:rPr dirty="0" sz="2400" spc="-10">
                <a:solidFill>
                  <a:srgbClr val="D9253E"/>
                </a:solidFill>
                <a:latin typeface="Calibri"/>
                <a:cs typeface="Calibri"/>
              </a:rPr>
              <a:t>t</a:t>
            </a:r>
            <a:r>
              <a:rPr dirty="0" sz="2400">
                <a:solidFill>
                  <a:srgbClr val="D9253E"/>
                </a:solidFill>
                <a:latin typeface="Calibri"/>
                <a:cs typeface="Calibri"/>
              </a:rPr>
              <a:t>y  </a:t>
            </a:r>
            <a:r>
              <a:rPr dirty="0" sz="2400" spc="-5">
                <a:solidFill>
                  <a:srgbClr val="0000FF"/>
                </a:solidFill>
                <a:latin typeface="Calibri"/>
                <a:cs typeface="Calibri"/>
              </a:rPr>
              <a:t>Obama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35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7681784" y="5028691"/>
            <a:ext cx="1205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dirty="0" sz="2400" spc="0">
                <a:solidFill>
                  <a:srgbClr val="00B050"/>
                </a:solidFill>
                <a:latin typeface="Calibri"/>
                <a:cs typeface="Calibri"/>
              </a:rPr>
              <a:t>e</a:t>
            </a:r>
            <a:r>
              <a:rPr dirty="0" sz="2400">
                <a:solidFill>
                  <a:srgbClr val="00B050"/>
                </a:solidFill>
                <a:latin typeface="Calibri"/>
                <a:cs typeface="Calibri"/>
              </a:rPr>
              <a:t>ri</a:t>
            </a:r>
            <a:r>
              <a:rPr dirty="0" sz="2400" spc="-25">
                <a:solidFill>
                  <a:srgbClr val="00B050"/>
                </a:solidFill>
                <a:latin typeface="Calibri"/>
                <a:cs typeface="Calibri"/>
              </a:rPr>
              <a:t>c</a:t>
            </a:r>
            <a:r>
              <a:rPr dirty="0" sz="2400">
                <a:solidFill>
                  <a:srgbClr val="00B050"/>
                </a:solidFill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13855" y="1887220"/>
            <a:ext cx="227584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 b="1">
                <a:solidFill>
                  <a:srgbClr val="00B050"/>
                </a:solidFill>
                <a:latin typeface="Arial"/>
                <a:cs typeface="Arial"/>
              </a:rPr>
              <a:t>embedding vectors </a:t>
            </a:r>
            <a:r>
              <a:rPr dirty="0" sz="1600" b="1">
                <a:solidFill>
                  <a:srgbClr val="00B050"/>
                </a:solidFill>
                <a:latin typeface="Arial"/>
                <a:cs typeface="Arial"/>
              </a:rPr>
              <a:t>will  </a:t>
            </a:r>
            <a:r>
              <a:rPr dirty="0" sz="1600" spc="-5" b="1">
                <a:solidFill>
                  <a:srgbClr val="00B050"/>
                </a:solidFill>
                <a:latin typeface="Arial"/>
                <a:cs typeface="Arial"/>
              </a:rPr>
              <a:t>appear </a:t>
            </a:r>
            <a:r>
              <a:rPr dirty="0" sz="1600" b="1">
                <a:solidFill>
                  <a:srgbClr val="00B050"/>
                </a:solidFill>
                <a:latin typeface="Arial"/>
                <a:cs typeface="Arial"/>
              </a:rPr>
              <a:t>in</a:t>
            </a:r>
            <a:r>
              <a:rPr dirty="0" sz="1600" spc="-6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00B050"/>
                </a:solidFill>
                <a:latin typeface="Arial"/>
                <a:cs typeface="Arial"/>
              </a:rPr>
              <a:t>boldface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56083" y="29971"/>
            <a:ext cx="5521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Bordes,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Translating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embeddings for modeling multi-relational data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 2013.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5501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129033"/>
            <a:ext cx="9144000" cy="4480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71600" y="1828800"/>
            <a:ext cx="4267200" cy="914400"/>
          </a:xfrm>
          <a:custGeom>
            <a:avLst/>
            <a:gdLst/>
            <a:ahLst/>
            <a:cxnLst/>
            <a:rect l="l" t="t" r="r" b="b"/>
            <a:pathLst>
              <a:path w="4267200" h="914400">
                <a:moveTo>
                  <a:pt x="0" y="0"/>
                </a:moveTo>
                <a:lnTo>
                  <a:pt x="4267200" y="0"/>
                </a:lnTo>
                <a:lnTo>
                  <a:pt x="4267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050" rIns="0" bIns="0" rtlCol="0" vert="horz">
            <a:spAutoFit/>
          </a:bodyPr>
          <a:lstStyle/>
          <a:p>
            <a:pPr marL="5398135" marR="5080">
              <a:lnSpc>
                <a:spcPct val="99400"/>
              </a:lnSpc>
              <a:spcBef>
                <a:spcPts val="110"/>
              </a:spcBef>
            </a:pPr>
            <a:r>
              <a:rPr dirty="0" sz="1800" spc="-45" b="0">
                <a:solidFill>
                  <a:srgbClr val="008000"/>
                </a:solidFill>
                <a:latin typeface="Arial"/>
                <a:cs typeface="Arial"/>
              </a:rPr>
              <a:t>Entities </a:t>
            </a:r>
            <a:r>
              <a:rPr dirty="0" sz="1800" spc="-25" b="0">
                <a:solidFill>
                  <a:srgbClr val="008000"/>
                </a:solidFill>
                <a:latin typeface="Arial"/>
                <a:cs typeface="Arial"/>
              </a:rPr>
              <a:t>and </a:t>
            </a:r>
            <a:r>
              <a:rPr dirty="0" sz="1800" spc="-45" b="0">
                <a:solidFill>
                  <a:srgbClr val="008000"/>
                </a:solidFill>
                <a:latin typeface="Arial"/>
                <a:cs typeface="Arial"/>
              </a:rPr>
              <a:t>relations </a:t>
            </a:r>
            <a:r>
              <a:rPr dirty="0" sz="1800" spc="-70" b="0">
                <a:solidFill>
                  <a:srgbClr val="008000"/>
                </a:solidFill>
                <a:latin typeface="Arial"/>
                <a:cs typeface="Arial"/>
              </a:rPr>
              <a:t>are  </a:t>
            </a:r>
            <a:r>
              <a:rPr dirty="0" sz="1800" spc="-50" b="0">
                <a:solidFill>
                  <a:srgbClr val="008000"/>
                </a:solidFill>
                <a:latin typeface="Arial"/>
                <a:cs typeface="Arial"/>
              </a:rPr>
              <a:t>initialized </a:t>
            </a:r>
            <a:r>
              <a:rPr dirty="0" sz="1800" spc="-55" b="0">
                <a:solidFill>
                  <a:srgbClr val="008000"/>
                </a:solidFill>
                <a:latin typeface="Arial"/>
                <a:cs typeface="Arial"/>
              </a:rPr>
              <a:t>uniformly, </a:t>
            </a:r>
            <a:r>
              <a:rPr dirty="0" sz="1800" spc="-25" b="0">
                <a:solidFill>
                  <a:srgbClr val="008000"/>
                </a:solidFill>
                <a:latin typeface="Arial"/>
                <a:cs typeface="Arial"/>
              </a:rPr>
              <a:t>and  </a:t>
            </a:r>
            <a:r>
              <a:rPr dirty="0" sz="1800" spc="-40" b="0">
                <a:solidFill>
                  <a:srgbClr val="008000"/>
                </a:solidFill>
                <a:latin typeface="Arial"/>
                <a:cs typeface="Arial"/>
              </a:rPr>
              <a:t>normalized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3913632"/>
            <a:ext cx="5181600" cy="304800"/>
          </a:xfrm>
          <a:custGeom>
            <a:avLst/>
            <a:gdLst/>
            <a:ahLst/>
            <a:cxnLst/>
            <a:rect l="l" t="t" r="r" b="b"/>
            <a:pathLst>
              <a:path w="5181600" h="304800">
                <a:moveTo>
                  <a:pt x="0" y="0"/>
                </a:moveTo>
                <a:lnTo>
                  <a:pt x="5181600" y="0"/>
                </a:lnTo>
                <a:lnTo>
                  <a:pt x="51816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CC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8000" y="4648200"/>
            <a:ext cx="5029200" cy="741045"/>
          </a:xfrm>
          <a:custGeom>
            <a:avLst/>
            <a:gdLst/>
            <a:ahLst/>
            <a:cxnLst/>
            <a:rect l="l" t="t" r="r" b="b"/>
            <a:pathLst>
              <a:path w="5029200" h="741045">
                <a:moveTo>
                  <a:pt x="0" y="0"/>
                </a:moveTo>
                <a:lnTo>
                  <a:pt x="5029200" y="0"/>
                </a:lnTo>
                <a:lnTo>
                  <a:pt x="5029200" y="740664"/>
                </a:lnTo>
                <a:lnTo>
                  <a:pt x="0" y="740664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50539" y="5486400"/>
            <a:ext cx="4895215" cy="8058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dirty="0" sz="1650" spc="-10">
                <a:solidFill>
                  <a:srgbClr val="0000FF"/>
                </a:solidFill>
                <a:latin typeface="Arial"/>
                <a:cs typeface="Arial"/>
              </a:rPr>
              <a:t>Contrastive loss</a:t>
            </a:r>
            <a:r>
              <a:rPr dirty="0" sz="1700" spc="-10">
                <a:solidFill>
                  <a:srgbClr val="0000FF"/>
                </a:solidFill>
                <a:latin typeface="Arial"/>
                <a:cs typeface="Arial"/>
              </a:rPr>
              <a:t>: </a:t>
            </a:r>
            <a:r>
              <a:rPr dirty="0" sz="1700" spc="-40">
                <a:solidFill>
                  <a:srgbClr val="0000FF"/>
                </a:solidFill>
                <a:latin typeface="Arial"/>
                <a:cs typeface="Arial"/>
              </a:rPr>
              <a:t>favors </a:t>
            </a:r>
            <a:r>
              <a:rPr dirty="0" sz="1700" spc="-30">
                <a:solidFill>
                  <a:srgbClr val="0000FF"/>
                </a:solidFill>
                <a:latin typeface="Arial"/>
                <a:cs typeface="Arial"/>
              </a:rPr>
              <a:t>lower </a:t>
            </a:r>
            <a:r>
              <a:rPr dirty="0" sz="1700" spc="-25">
                <a:solidFill>
                  <a:srgbClr val="0000FF"/>
                </a:solidFill>
                <a:latin typeface="Arial"/>
                <a:cs typeface="Arial"/>
              </a:rPr>
              <a:t>distance </a:t>
            </a:r>
            <a:r>
              <a:rPr dirty="0" sz="1700" spc="-65">
                <a:solidFill>
                  <a:srgbClr val="0000FF"/>
                </a:solidFill>
                <a:latin typeface="Arial"/>
                <a:cs typeface="Arial"/>
              </a:rPr>
              <a:t>(or </a:t>
            </a:r>
            <a:r>
              <a:rPr dirty="0" sz="1700" spc="-40">
                <a:solidFill>
                  <a:srgbClr val="0000FF"/>
                </a:solidFill>
                <a:latin typeface="Arial"/>
                <a:cs typeface="Arial"/>
              </a:rPr>
              <a:t>higher  </a:t>
            </a:r>
            <a:r>
              <a:rPr dirty="0" sz="1700" spc="-50">
                <a:solidFill>
                  <a:srgbClr val="0000FF"/>
                </a:solidFill>
                <a:latin typeface="Arial"/>
                <a:cs typeface="Arial"/>
              </a:rPr>
              <a:t>score) </a:t>
            </a:r>
            <a:r>
              <a:rPr dirty="0" sz="1700" spc="-25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dirty="0" sz="1700" spc="-50">
                <a:solidFill>
                  <a:srgbClr val="0000FF"/>
                </a:solidFill>
                <a:latin typeface="Arial"/>
                <a:cs typeface="Arial"/>
              </a:rPr>
              <a:t>valid </a:t>
            </a:r>
            <a:r>
              <a:rPr dirty="0" sz="1700" spc="-25">
                <a:solidFill>
                  <a:srgbClr val="0000FF"/>
                </a:solidFill>
                <a:latin typeface="Arial"/>
                <a:cs typeface="Arial"/>
              </a:rPr>
              <a:t>triplets, </a:t>
            </a:r>
            <a:r>
              <a:rPr dirty="0" sz="1700" spc="-35">
                <a:solidFill>
                  <a:srgbClr val="0000FF"/>
                </a:solidFill>
                <a:latin typeface="Arial"/>
                <a:cs typeface="Arial"/>
              </a:rPr>
              <a:t>high </a:t>
            </a:r>
            <a:r>
              <a:rPr dirty="0" sz="1700" spc="-25">
                <a:solidFill>
                  <a:srgbClr val="0000FF"/>
                </a:solidFill>
                <a:latin typeface="Arial"/>
                <a:cs typeface="Arial"/>
              </a:rPr>
              <a:t>distance </a:t>
            </a:r>
            <a:r>
              <a:rPr dirty="0" sz="1700" spc="-65">
                <a:solidFill>
                  <a:srgbClr val="0000FF"/>
                </a:solidFill>
                <a:latin typeface="Arial"/>
                <a:cs typeface="Arial"/>
              </a:rPr>
              <a:t>(or </a:t>
            </a:r>
            <a:r>
              <a:rPr dirty="0" sz="1700" spc="-30">
                <a:solidFill>
                  <a:srgbClr val="0000FF"/>
                </a:solidFill>
                <a:latin typeface="Arial"/>
                <a:cs typeface="Arial"/>
              </a:rPr>
              <a:t>lower </a:t>
            </a:r>
            <a:r>
              <a:rPr dirty="0" sz="1700" spc="-50">
                <a:solidFill>
                  <a:srgbClr val="0000FF"/>
                </a:solidFill>
                <a:latin typeface="Arial"/>
                <a:cs typeface="Arial"/>
              </a:rPr>
              <a:t>score)  </a:t>
            </a:r>
            <a:r>
              <a:rPr dirty="0" sz="1700" spc="-25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dirty="0" sz="1700" spc="-10">
                <a:solidFill>
                  <a:srgbClr val="0000FF"/>
                </a:solidFill>
                <a:latin typeface="Arial"/>
                <a:cs typeface="Arial"/>
              </a:rPr>
              <a:t>corrupted</a:t>
            </a:r>
            <a:r>
              <a:rPr dirty="0" sz="170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0000FF"/>
                </a:solidFill>
                <a:latin typeface="Arial"/>
                <a:cs typeface="Arial"/>
              </a:rPr>
              <a:t>ones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8006" y="4908803"/>
            <a:ext cx="640080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1750" marR="5080" indent="-19050">
              <a:lnSpc>
                <a:spcPct val="101400"/>
              </a:lnSpc>
              <a:spcBef>
                <a:spcPts val="75"/>
              </a:spcBef>
            </a:pPr>
            <a:r>
              <a:rPr dirty="0" sz="1400" spc="40">
                <a:solidFill>
                  <a:srgbClr val="F0AD00"/>
                </a:solidFill>
                <a:latin typeface="Arial"/>
                <a:cs typeface="Arial"/>
              </a:rPr>
              <a:t>p</a:t>
            </a:r>
            <a:r>
              <a:rPr dirty="0" sz="1400" spc="10">
                <a:solidFill>
                  <a:srgbClr val="F0AD00"/>
                </a:solidFill>
                <a:latin typeface="Arial"/>
                <a:cs typeface="Arial"/>
              </a:rPr>
              <a:t>o</a:t>
            </a:r>
            <a:r>
              <a:rPr dirty="0" sz="1400" spc="-5">
                <a:solidFill>
                  <a:srgbClr val="F0AD00"/>
                </a:solidFill>
                <a:latin typeface="Arial"/>
                <a:cs typeface="Arial"/>
              </a:rPr>
              <a:t>si</a:t>
            </a:r>
            <a:r>
              <a:rPr dirty="0" sz="1400" spc="45">
                <a:solidFill>
                  <a:srgbClr val="F0AD00"/>
                </a:solidFill>
                <a:latin typeface="Arial"/>
                <a:cs typeface="Arial"/>
              </a:rPr>
              <a:t>t</a:t>
            </a:r>
            <a:r>
              <a:rPr dirty="0" sz="1400" spc="-5">
                <a:solidFill>
                  <a:srgbClr val="F0AD00"/>
                </a:solidFill>
                <a:latin typeface="Arial"/>
                <a:cs typeface="Arial"/>
              </a:rPr>
              <a:t>i</a:t>
            </a:r>
            <a:r>
              <a:rPr dirty="0" sz="1400" spc="-15">
                <a:solidFill>
                  <a:srgbClr val="F0AD00"/>
                </a:solidFill>
                <a:latin typeface="Arial"/>
                <a:cs typeface="Arial"/>
              </a:rPr>
              <a:t>ve  </a:t>
            </a:r>
            <a:r>
              <a:rPr dirty="0" sz="1400">
                <a:solidFill>
                  <a:srgbClr val="F0AD00"/>
                </a:solidFill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0630" y="4908803"/>
            <a:ext cx="695960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59055" marR="5080" indent="-46990">
              <a:lnSpc>
                <a:spcPct val="101400"/>
              </a:lnSpc>
              <a:spcBef>
                <a:spcPts val="75"/>
              </a:spcBef>
            </a:pPr>
            <a:r>
              <a:rPr dirty="0" sz="1400" spc="-10">
                <a:solidFill>
                  <a:srgbClr val="F0AD00"/>
                </a:solidFill>
                <a:latin typeface="Arial"/>
                <a:cs typeface="Arial"/>
              </a:rPr>
              <a:t>n</a:t>
            </a:r>
            <a:r>
              <a:rPr dirty="0" sz="1400" spc="-35">
                <a:solidFill>
                  <a:srgbClr val="F0AD00"/>
                </a:solidFill>
                <a:latin typeface="Arial"/>
                <a:cs typeface="Arial"/>
              </a:rPr>
              <a:t>e</a:t>
            </a:r>
            <a:r>
              <a:rPr dirty="0" sz="1400" spc="10">
                <a:solidFill>
                  <a:srgbClr val="F0AD00"/>
                </a:solidFill>
                <a:latin typeface="Arial"/>
                <a:cs typeface="Arial"/>
              </a:rPr>
              <a:t>g</a:t>
            </a:r>
            <a:r>
              <a:rPr dirty="0" sz="1400" spc="-35">
                <a:solidFill>
                  <a:srgbClr val="F0AD00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F0AD00"/>
                </a:solidFill>
                <a:latin typeface="Arial"/>
                <a:cs typeface="Arial"/>
              </a:rPr>
              <a:t>t</a:t>
            </a:r>
            <a:r>
              <a:rPr dirty="0" sz="1400" spc="-5">
                <a:solidFill>
                  <a:srgbClr val="F0AD00"/>
                </a:solidFill>
                <a:latin typeface="Arial"/>
                <a:cs typeface="Arial"/>
              </a:rPr>
              <a:t>i</a:t>
            </a:r>
            <a:r>
              <a:rPr dirty="0" sz="1400" spc="-15">
                <a:solidFill>
                  <a:srgbClr val="F0AD00"/>
                </a:solidFill>
                <a:latin typeface="Arial"/>
                <a:cs typeface="Arial"/>
              </a:rPr>
              <a:t>ve  </a:t>
            </a:r>
            <a:r>
              <a:rPr dirty="0" sz="1400">
                <a:solidFill>
                  <a:srgbClr val="F0AD00"/>
                </a:solidFill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12253" y="4376866"/>
            <a:ext cx="1346200" cy="355600"/>
          </a:xfrm>
          <a:custGeom>
            <a:avLst/>
            <a:gdLst/>
            <a:ahLst/>
            <a:cxnLst/>
            <a:rect l="l" t="t" r="r" b="b"/>
            <a:pathLst>
              <a:path w="1346200" h="355600">
                <a:moveTo>
                  <a:pt x="1269075" y="26224"/>
                </a:moveTo>
                <a:lnTo>
                  <a:pt x="3660" y="333564"/>
                </a:lnTo>
                <a:lnTo>
                  <a:pt x="0" y="339573"/>
                </a:lnTo>
                <a:lnTo>
                  <a:pt x="2896" y="351501"/>
                </a:lnTo>
                <a:lnTo>
                  <a:pt x="8905" y="355161"/>
                </a:lnTo>
                <a:lnTo>
                  <a:pt x="1274321" y="47821"/>
                </a:lnTo>
                <a:lnTo>
                  <a:pt x="1269075" y="26224"/>
                </a:lnTo>
                <a:close/>
              </a:path>
              <a:path w="1346200" h="355600">
                <a:moveTo>
                  <a:pt x="1342505" y="21779"/>
                </a:moveTo>
                <a:lnTo>
                  <a:pt x="1287379" y="21779"/>
                </a:lnTo>
                <a:lnTo>
                  <a:pt x="1293388" y="25439"/>
                </a:lnTo>
                <a:lnTo>
                  <a:pt x="1296286" y="37367"/>
                </a:lnTo>
                <a:lnTo>
                  <a:pt x="1292625" y="43375"/>
                </a:lnTo>
                <a:lnTo>
                  <a:pt x="1274321" y="47821"/>
                </a:lnTo>
                <a:lnTo>
                  <a:pt x="1280690" y="74047"/>
                </a:lnTo>
                <a:lnTo>
                  <a:pt x="1342505" y="21779"/>
                </a:lnTo>
                <a:close/>
              </a:path>
              <a:path w="1346200" h="355600">
                <a:moveTo>
                  <a:pt x="1287379" y="21779"/>
                </a:moveTo>
                <a:lnTo>
                  <a:pt x="1269075" y="26224"/>
                </a:lnTo>
                <a:lnTo>
                  <a:pt x="1274321" y="47821"/>
                </a:lnTo>
                <a:lnTo>
                  <a:pt x="1292625" y="43375"/>
                </a:lnTo>
                <a:lnTo>
                  <a:pt x="1296286" y="37367"/>
                </a:lnTo>
                <a:lnTo>
                  <a:pt x="1293388" y="25439"/>
                </a:lnTo>
                <a:lnTo>
                  <a:pt x="1287379" y="21779"/>
                </a:lnTo>
                <a:close/>
              </a:path>
              <a:path w="1346200" h="355600">
                <a:moveTo>
                  <a:pt x="1262706" y="0"/>
                </a:moveTo>
                <a:lnTo>
                  <a:pt x="1269075" y="26224"/>
                </a:lnTo>
                <a:lnTo>
                  <a:pt x="1287379" y="21779"/>
                </a:lnTo>
                <a:lnTo>
                  <a:pt x="1342505" y="21779"/>
                </a:lnTo>
                <a:lnTo>
                  <a:pt x="1345746" y="19038"/>
                </a:lnTo>
                <a:lnTo>
                  <a:pt x="126270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11999" y="4420180"/>
            <a:ext cx="234315" cy="344805"/>
          </a:xfrm>
          <a:custGeom>
            <a:avLst/>
            <a:gdLst/>
            <a:ahLst/>
            <a:cxnLst/>
            <a:rect l="l" t="t" r="r" b="b"/>
            <a:pathLst>
              <a:path w="234315" h="344804">
                <a:moveTo>
                  <a:pt x="182249" y="57255"/>
                </a:moveTo>
                <a:lnTo>
                  <a:pt x="0" y="330817"/>
                </a:lnTo>
                <a:lnTo>
                  <a:pt x="1381" y="337717"/>
                </a:lnTo>
                <a:lnTo>
                  <a:pt x="11596" y="344521"/>
                </a:lnTo>
                <a:lnTo>
                  <a:pt x="18496" y="343140"/>
                </a:lnTo>
                <a:lnTo>
                  <a:pt x="200745" y="69577"/>
                </a:lnTo>
                <a:lnTo>
                  <a:pt x="182249" y="57255"/>
                </a:lnTo>
                <a:close/>
              </a:path>
              <a:path w="234315" h="344804">
                <a:moveTo>
                  <a:pt x="228733" y="40195"/>
                </a:moveTo>
                <a:lnTo>
                  <a:pt x="199591" y="40195"/>
                </a:lnTo>
                <a:lnTo>
                  <a:pt x="209807" y="47001"/>
                </a:lnTo>
                <a:lnTo>
                  <a:pt x="211189" y="53900"/>
                </a:lnTo>
                <a:lnTo>
                  <a:pt x="200745" y="69577"/>
                </a:lnTo>
                <a:lnTo>
                  <a:pt x="223205" y="84540"/>
                </a:lnTo>
                <a:lnTo>
                  <a:pt x="228733" y="40195"/>
                </a:lnTo>
                <a:close/>
              </a:path>
              <a:path w="234315" h="344804">
                <a:moveTo>
                  <a:pt x="199591" y="40195"/>
                </a:moveTo>
                <a:lnTo>
                  <a:pt x="192693" y="41578"/>
                </a:lnTo>
                <a:lnTo>
                  <a:pt x="182249" y="57255"/>
                </a:lnTo>
                <a:lnTo>
                  <a:pt x="200745" y="69577"/>
                </a:lnTo>
                <a:lnTo>
                  <a:pt x="211189" y="53900"/>
                </a:lnTo>
                <a:lnTo>
                  <a:pt x="209807" y="47001"/>
                </a:lnTo>
                <a:lnTo>
                  <a:pt x="199591" y="40195"/>
                </a:lnTo>
                <a:close/>
              </a:path>
              <a:path w="234315" h="344804">
                <a:moveTo>
                  <a:pt x="233744" y="0"/>
                </a:moveTo>
                <a:lnTo>
                  <a:pt x="159788" y="42292"/>
                </a:lnTo>
                <a:lnTo>
                  <a:pt x="182249" y="57255"/>
                </a:lnTo>
                <a:lnTo>
                  <a:pt x="192693" y="41578"/>
                </a:lnTo>
                <a:lnTo>
                  <a:pt x="199591" y="40195"/>
                </a:lnTo>
                <a:lnTo>
                  <a:pt x="228733" y="40195"/>
                </a:lnTo>
                <a:lnTo>
                  <a:pt x="2337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88940" y="3291840"/>
            <a:ext cx="3450590" cy="11684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50545">
              <a:lnSpc>
                <a:spcPts val="1989"/>
              </a:lnSpc>
              <a:spcBef>
                <a:spcPts val="204"/>
              </a:spcBef>
            </a:pPr>
            <a:r>
              <a:rPr dirty="0" sz="1700" spc="-45">
                <a:solidFill>
                  <a:srgbClr val="CC0066"/>
                </a:solidFill>
                <a:latin typeface="Arial"/>
                <a:cs typeface="Arial"/>
              </a:rPr>
              <a:t>Negative </a:t>
            </a:r>
            <a:r>
              <a:rPr dirty="0" sz="1700" spc="-35">
                <a:solidFill>
                  <a:srgbClr val="CC0066"/>
                </a:solidFill>
                <a:latin typeface="Arial"/>
                <a:cs typeface="Arial"/>
              </a:rPr>
              <a:t>sampling </a:t>
            </a:r>
            <a:r>
              <a:rPr dirty="0" sz="1700" spc="-15">
                <a:solidFill>
                  <a:srgbClr val="CC0066"/>
                </a:solidFill>
                <a:latin typeface="Arial"/>
                <a:cs typeface="Arial"/>
              </a:rPr>
              <a:t>with </a:t>
            </a:r>
            <a:r>
              <a:rPr dirty="0" sz="1700" spc="-25">
                <a:solidFill>
                  <a:srgbClr val="CC0066"/>
                </a:solidFill>
                <a:latin typeface="Arial"/>
                <a:cs typeface="Arial"/>
              </a:rPr>
              <a:t>triplet  </a:t>
            </a:r>
            <a:r>
              <a:rPr dirty="0" sz="1700" spc="-10">
                <a:solidFill>
                  <a:srgbClr val="CC0066"/>
                </a:solidFill>
                <a:latin typeface="Arial"/>
                <a:cs typeface="Arial"/>
              </a:rPr>
              <a:t>that </a:t>
            </a:r>
            <a:r>
              <a:rPr dirty="0" sz="1700" spc="-20">
                <a:solidFill>
                  <a:srgbClr val="CC0066"/>
                </a:solidFill>
                <a:latin typeface="Arial"/>
                <a:cs typeface="Arial"/>
              </a:rPr>
              <a:t>does </a:t>
            </a:r>
            <a:r>
              <a:rPr dirty="0" sz="1700" spc="-5">
                <a:solidFill>
                  <a:srgbClr val="CC0066"/>
                </a:solidFill>
                <a:latin typeface="Arial"/>
                <a:cs typeface="Arial"/>
              </a:rPr>
              <a:t>not </a:t>
            </a:r>
            <a:r>
              <a:rPr dirty="0" sz="1700" spc="-30">
                <a:solidFill>
                  <a:srgbClr val="CC0066"/>
                </a:solidFill>
                <a:latin typeface="Arial"/>
                <a:cs typeface="Arial"/>
              </a:rPr>
              <a:t>appear </a:t>
            </a:r>
            <a:r>
              <a:rPr dirty="0" sz="1700" spc="-55">
                <a:solidFill>
                  <a:srgbClr val="CC0066"/>
                </a:solidFill>
                <a:latin typeface="Arial"/>
                <a:cs typeface="Arial"/>
              </a:rPr>
              <a:t>in </a:t>
            </a:r>
            <a:r>
              <a:rPr dirty="0" sz="1700" spc="-25">
                <a:solidFill>
                  <a:srgbClr val="CC0066"/>
                </a:solidFill>
                <a:latin typeface="Arial"/>
                <a:cs typeface="Arial"/>
              </a:rPr>
              <a:t>the</a:t>
            </a:r>
            <a:r>
              <a:rPr dirty="0" sz="1700" spc="85">
                <a:solidFill>
                  <a:srgbClr val="CC0066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CC0066"/>
                </a:solidFill>
                <a:latin typeface="Arial"/>
                <a:cs typeface="Arial"/>
              </a:rPr>
              <a:t>KG</a:t>
            </a:r>
            <a:endParaRPr sz="1700">
              <a:latin typeface="Arial"/>
              <a:cs typeface="Arial"/>
            </a:endParaRPr>
          </a:p>
          <a:p>
            <a:pPr marL="1423670" marR="5080">
              <a:lnSpc>
                <a:spcPts val="1989"/>
              </a:lnSpc>
              <a:spcBef>
                <a:spcPts val="980"/>
              </a:spcBef>
            </a:pPr>
            <a:r>
              <a:rPr dirty="0" sz="1700">
                <a:solidFill>
                  <a:srgbClr val="0000FF"/>
                </a:solidFill>
                <a:latin typeface="Cambria Math"/>
                <a:cs typeface="Cambria Math"/>
              </a:rPr>
              <a:t>𝑑 </a:t>
            </a:r>
            <a:r>
              <a:rPr dirty="0" sz="1700" spc="-40">
                <a:solidFill>
                  <a:srgbClr val="0000FF"/>
                </a:solidFill>
                <a:latin typeface="Arial"/>
                <a:cs typeface="Arial"/>
              </a:rPr>
              <a:t>represents </a:t>
            </a:r>
            <a:r>
              <a:rPr dirty="0" sz="1700" spc="-25">
                <a:solidFill>
                  <a:srgbClr val="0000FF"/>
                </a:solidFill>
                <a:latin typeface="Arial"/>
                <a:cs typeface="Arial"/>
              </a:rPr>
              <a:t>distance  </a:t>
            </a:r>
            <a:r>
              <a:rPr dirty="0" sz="1700" spc="-55">
                <a:solidFill>
                  <a:srgbClr val="0000FF"/>
                </a:solidFill>
                <a:latin typeface="Arial"/>
                <a:cs typeface="Arial"/>
              </a:rPr>
              <a:t>(negative </a:t>
            </a:r>
            <a:r>
              <a:rPr dirty="0" sz="1700" spc="-2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dirty="0" sz="170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700" spc="-50">
                <a:solidFill>
                  <a:srgbClr val="0000FF"/>
                </a:solidFill>
                <a:latin typeface="Arial"/>
                <a:cs typeface="Arial"/>
              </a:rPr>
              <a:t>score)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35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7238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6890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00"/>
                </a:solidFill>
              </a:rPr>
              <a:t>Relations </a:t>
            </a:r>
            <a:r>
              <a:rPr dirty="0">
                <a:solidFill>
                  <a:srgbClr val="000000"/>
                </a:solidFill>
              </a:rPr>
              <a:t>in a </a:t>
            </a:r>
            <a:r>
              <a:rPr dirty="0" spc="-15">
                <a:solidFill>
                  <a:srgbClr val="000000"/>
                </a:solidFill>
              </a:rPr>
              <a:t>heterogeneous </a:t>
            </a:r>
            <a:r>
              <a:rPr dirty="0" spc="-65">
                <a:solidFill>
                  <a:srgbClr val="000000"/>
                </a:solidFill>
              </a:rPr>
              <a:t>KG </a:t>
            </a:r>
            <a:r>
              <a:rPr dirty="0" spc="-25">
                <a:solidFill>
                  <a:srgbClr val="000000"/>
                </a:solidFill>
              </a:rPr>
              <a:t>have  </a:t>
            </a:r>
            <a:r>
              <a:rPr dirty="0" spc="-20">
                <a:solidFill>
                  <a:srgbClr val="000000"/>
                </a:solidFill>
              </a:rPr>
              <a:t>different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properties</a:t>
            </a:r>
          </a:p>
        </p:txBody>
      </p:sp>
      <p:sp>
        <p:nvSpPr>
          <p:cNvPr id="4" name="object 4"/>
          <p:cNvSpPr/>
          <p:nvPr/>
        </p:nvSpPr>
        <p:spPr>
          <a:xfrm>
            <a:off x="3335074" y="4181238"/>
            <a:ext cx="1934845" cy="282575"/>
          </a:xfrm>
          <a:custGeom>
            <a:avLst/>
            <a:gdLst/>
            <a:ahLst/>
            <a:cxnLst/>
            <a:rect l="l" t="t" r="r" b="b"/>
            <a:pathLst>
              <a:path w="1934845" h="282575">
                <a:moveTo>
                  <a:pt x="1844451" y="0"/>
                </a:moveTo>
                <a:lnTo>
                  <a:pt x="1840433" y="11460"/>
                </a:lnTo>
                <a:lnTo>
                  <a:pt x="1856776" y="18552"/>
                </a:lnTo>
                <a:lnTo>
                  <a:pt x="1870831" y="28370"/>
                </a:lnTo>
                <a:lnTo>
                  <a:pt x="1899369" y="73878"/>
                </a:lnTo>
                <a:lnTo>
                  <a:pt x="1907703" y="115662"/>
                </a:lnTo>
                <a:lnTo>
                  <a:pt x="1908745" y="139749"/>
                </a:lnTo>
                <a:lnTo>
                  <a:pt x="1907698" y="164650"/>
                </a:lnTo>
                <a:lnTo>
                  <a:pt x="1899326" y="207587"/>
                </a:lnTo>
                <a:lnTo>
                  <a:pt x="1870849" y="253826"/>
                </a:lnTo>
                <a:lnTo>
                  <a:pt x="1840880" y="270866"/>
                </a:lnTo>
                <a:lnTo>
                  <a:pt x="1844451" y="282327"/>
                </a:lnTo>
                <a:lnTo>
                  <a:pt x="1882961" y="264263"/>
                </a:lnTo>
                <a:lnTo>
                  <a:pt x="1911275" y="232990"/>
                </a:lnTo>
                <a:lnTo>
                  <a:pt x="1928688" y="191113"/>
                </a:lnTo>
                <a:lnTo>
                  <a:pt x="1934491" y="141237"/>
                </a:lnTo>
                <a:lnTo>
                  <a:pt x="1933036" y="115355"/>
                </a:lnTo>
                <a:lnTo>
                  <a:pt x="1921391" y="69479"/>
                </a:lnTo>
                <a:lnTo>
                  <a:pt x="1898294" y="32133"/>
                </a:lnTo>
                <a:lnTo>
                  <a:pt x="1864920" y="7390"/>
                </a:lnTo>
                <a:lnTo>
                  <a:pt x="1844451" y="0"/>
                </a:lnTo>
                <a:close/>
              </a:path>
              <a:path w="193484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6" y="263742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60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333921"/>
            <a:ext cx="7947659" cy="360362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lvl="1" marL="890905" marR="318135" indent="-228600">
              <a:lnSpc>
                <a:spcPct val="100800"/>
              </a:lnSpc>
              <a:spcBef>
                <a:spcPts val="52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 b="1">
                <a:latin typeface="Calibri"/>
                <a:cs typeface="Calibri"/>
              </a:rPr>
              <a:t>Symmetry: </a:t>
            </a:r>
            <a:r>
              <a:rPr dirty="0" sz="2400" spc="-5">
                <a:latin typeface="Calibri"/>
                <a:cs typeface="Calibri"/>
              </a:rPr>
              <a:t>If the </a:t>
            </a:r>
            <a:r>
              <a:rPr dirty="0" sz="2400" spc="-10">
                <a:latin typeface="Calibri"/>
                <a:cs typeface="Calibri"/>
              </a:rPr>
              <a:t>edge </a:t>
            </a:r>
            <a:r>
              <a:rPr dirty="0" sz="2400" spc="5">
                <a:latin typeface="Calibri"/>
                <a:cs typeface="Calibri"/>
              </a:rPr>
              <a:t>(</a:t>
            </a:r>
            <a:r>
              <a:rPr dirty="0" sz="2400" spc="5">
                <a:latin typeface="Cambria Math"/>
                <a:cs typeface="Cambria Math"/>
              </a:rPr>
              <a:t>ℎ, </a:t>
            </a:r>
            <a:r>
              <a:rPr dirty="0" sz="2400" spc="-15">
                <a:latin typeface="Cambria Math"/>
                <a:cs typeface="Cambria Math"/>
              </a:rPr>
              <a:t>"</a:t>
            </a:r>
            <a:r>
              <a:rPr dirty="0" sz="2400" spc="-15">
                <a:solidFill>
                  <a:srgbClr val="00B050"/>
                </a:solidFill>
                <a:latin typeface="Cambria Math"/>
                <a:cs typeface="Cambria Math"/>
              </a:rPr>
              <a:t>Roommate</a:t>
            </a:r>
            <a:r>
              <a:rPr dirty="0" sz="2400" spc="-15">
                <a:latin typeface="Cambria Math"/>
                <a:cs typeface="Cambria Math"/>
              </a:rPr>
              <a:t>", </a:t>
            </a:r>
            <a:r>
              <a:rPr dirty="0" sz="2400" spc="25">
                <a:latin typeface="Cambria Math"/>
                <a:cs typeface="Cambria Math"/>
              </a:rPr>
              <a:t>𝑡</a:t>
            </a:r>
            <a:r>
              <a:rPr dirty="0" sz="2400" spc="25">
                <a:latin typeface="Calibri"/>
                <a:cs typeface="Calibri"/>
              </a:rPr>
              <a:t>) </a:t>
            </a:r>
            <a:r>
              <a:rPr dirty="0" sz="2400" spc="-15">
                <a:latin typeface="Calibri"/>
                <a:cs typeface="Calibri"/>
              </a:rPr>
              <a:t>exists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200">
                <a:latin typeface="Calibri"/>
                <a:cs typeface="Calibri"/>
              </a:rPr>
              <a:t>KG,  </a:t>
            </a:r>
            <a:r>
              <a:rPr dirty="0" sz="2400" spc="-5">
                <a:latin typeface="Calibri"/>
                <a:cs typeface="Calibri"/>
              </a:rPr>
              <a:t>then the </a:t>
            </a:r>
            <a:r>
              <a:rPr dirty="0" sz="2400" spc="-10">
                <a:latin typeface="Calibri"/>
                <a:cs typeface="Calibri"/>
              </a:rPr>
              <a:t>edge </a:t>
            </a:r>
            <a:r>
              <a:rPr dirty="0" sz="2400" spc="10">
                <a:latin typeface="Cambria Math"/>
                <a:cs typeface="Cambria Math"/>
              </a:rPr>
              <a:t>(𝑡, </a:t>
            </a:r>
            <a:r>
              <a:rPr dirty="0" sz="2400" spc="-15">
                <a:latin typeface="Cambria Math"/>
                <a:cs typeface="Cambria Math"/>
              </a:rPr>
              <a:t>"</a:t>
            </a:r>
            <a:r>
              <a:rPr dirty="0" sz="2400" spc="-15">
                <a:solidFill>
                  <a:srgbClr val="00B050"/>
                </a:solidFill>
                <a:latin typeface="Cambria Math"/>
                <a:cs typeface="Cambria Math"/>
              </a:rPr>
              <a:t>Roommate</a:t>
            </a:r>
            <a:r>
              <a:rPr dirty="0" sz="2400" spc="-15">
                <a:latin typeface="Cambria Math"/>
                <a:cs typeface="Cambria Math"/>
              </a:rPr>
              <a:t>", </a:t>
            </a:r>
            <a:r>
              <a:rPr dirty="0" sz="2400" spc="15">
                <a:latin typeface="Cambria Math"/>
                <a:cs typeface="Cambria Math"/>
              </a:rPr>
              <a:t>ℎ) </a:t>
            </a:r>
            <a:r>
              <a:rPr dirty="0" sz="2400" spc="-5">
                <a:latin typeface="Calibri"/>
                <a:cs typeface="Calibri"/>
              </a:rPr>
              <a:t>should also</a:t>
            </a:r>
            <a:r>
              <a:rPr dirty="0" sz="2400" spc="-26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exist.</a:t>
            </a:r>
            <a:endParaRPr sz="2400">
              <a:latin typeface="Calibri"/>
              <a:cs typeface="Calibri"/>
            </a:endParaRPr>
          </a:p>
          <a:p>
            <a:pPr lvl="1" marL="890905" marR="5080" indent="-228600">
              <a:lnSpc>
                <a:spcPct val="100800"/>
              </a:lnSpc>
              <a:spcBef>
                <a:spcPts val="60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  <a:tab pos="2816225" algn="l"/>
                <a:tab pos="4745990" algn="l"/>
              </a:tabLst>
            </a:pPr>
            <a:r>
              <a:rPr dirty="0" sz="2400" spc="-15" b="1">
                <a:latin typeface="Calibri"/>
                <a:cs typeface="Calibri"/>
              </a:rPr>
              <a:t>Inverse </a:t>
            </a:r>
            <a:r>
              <a:rPr dirty="0" sz="2400" spc="-10" b="1">
                <a:latin typeface="Calibri"/>
                <a:cs typeface="Calibri"/>
              </a:rPr>
              <a:t>relation: </a:t>
            </a:r>
            <a:r>
              <a:rPr dirty="0" sz="2400" spc="-5">
                <a:latin typeface="Calibri"/>
                <a:cs typeface="Calibri"/>
              </a:rPr>
              <a:t>If the </a:t>
            </a:r>
            <a:r>
              <a:rPr dirty="0" sz="2400" spc="-10">
                <a:latin typeface="Calibri"/>
                <a:cs typeface="Calibri"/>
              </a:rPr>
              <a:t>edge </a:t>
            </a:r>
            <a:r>
              <a:rPr dirty="0" sz="2400" spc="5">
                <a:latin typeface="Cambria Math"/>
                <a:cs typeface="Cambria Math"/>
              </a:rPr>
              <a:t>(ℎ, </a:t>
            </a:r>
            <a:r>
              <a:rPr dirty="0" sz="2400" spc="-45">
                <a:latin typeface="Cambria Math"/>
                <a:cs typeface="Cambria Math"/>
              </a:rPr>
              <a:t>"</a:t>
            </a:r>
            <a:r>
              <a:rPr dirty="0" sz="2400" spc="-45">
                <a:solidFill>
                  <a:srgbClr val="C64847"/>
                </a:solidFill>
                <a:latin typeface="Cambria Math"/>
                <a:cs typeface="Cambria Math"/>
              </a:rPr>
              <a:t>Advisor</a:t>
            </a:r>
            <a:r>
              <a:rPr dirty="0" sz="2400" spc="-45">
                <a:latin typeface="Cambria Math"/>
                <a:cs typeface="Cambria Math"/>
              </a:rPr>
              <a:t>", </a:t>
            </a:r>
            <a:r>
              <a:rPr dirty="0" sz="2400" spc="25">
                <a:latin typeface="Cambria Math"/>
                <a:cs typeface="Cambria Math"/>
              </a:rPr>
              <a:t>𝑡) </a:t>
            </a:r>
            <a:r>
              <a:rPr dirty="0" sz="2400" spc="-15">
                <a:latin typeface="Calibri"/>
                <a:cs typeface="Calibri"/>
              </a:rPr>
              <a:t>exists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90">
                <a:latin typeface="Calibri"/>
                <a:cs typeface="Calibri"/>
              </a:rPr>
              <a:t>KG,  </a:t>
            </a:r>
            <a:r>
              <a:rPr dirty="0" sz="2400" spc="-5">
                <a:latin typeface="Calibri"/>
                <a:cs typeface="Calibri"/>
              </a:rPr>
              <a:t>then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the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edge	</a:t>
            </a:r>
            <a:r>
              <a:rPr dirty="0" sz="2400" spc="25">
                <a:latin typeface="Cambria Math"/>
                <a:cs typeface="Cambria Math"/>
              </a:rPr>
              <a:t>𝑡,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"</a:t>
            </a:r>
            <a:r>
              <a:rPr dirty="0" sz="2400" spc="-50">
                <a:solidFill>
                  <a:srgbClr val="B48200"/>
                </a:solidFill>
                <a:latin typeface="Cambria Math"/>
                <a:cs typeface="Cambria Math"/>
              </a:rPr>
              <a:t>Advisee</a:t>
            </a:r>
            <a:r>
              <a:rPr dirty="0" sz="2400" spc="-50">
                <a:latin typeface="Cambria Math"/>
                <a:cs typeface="Cambria Math"/>
              </a:rPr>
              <a:t>",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ℎ	</a:t>
            </a:r>
            <a:r>
              <a:rPr dirty="0" sz="2400" spc="-5">
                <a:latin typeface="Calibri"/>
                <a:cs typeface="Calibri"/>
              </a:rPr>
              <a:t>should also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exist.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73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we </a:t>
            </a: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categorize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these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relation</a:t>
            </a:r>
            <a:r>
              <a:rPr dirty="0" sz="3200" spc="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patterns?</a:t>
            </a:r>
            <a:endParaRPr sz="3200">
              <a:latin typeface="Calibri"/>
              <a:cs typeface="Calibri"/>
            </a:endParaRPr>
          </a:p>
          <a:p>
            <a:pPr marL="332740" marR="149225" indent="-320040">
              <a:lnSpc>
                <a:spcPts val="3890"/>
              </a:lnSpc>
              <a:spcBef>
                <a:spcPts val="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Are </a:t>
            </a:r>
            <a:r>
              <a:rPr dirty="0" sz="3200" spc="-65" b="1">
                <a:latin typeface="Calibri"/>
                <a:cs typeface="Calibri"/>
              </a:rPr>
              <a:t>KG </a:t>
            </a:r>
            <a:r>
              <a:rPr dirty="0" sz="3200" spc="-5" b="1">
                <a:latin typeface="Calibri"/>
                <a:cs typeface="Calibri"/>
              </a:rPr>
              <a:t>embedding </a:t>
            </a:r>
            <a:r>
              <a:rPr dirty="0" sz="3200" spc="-10" b="1">
                <a:latin typeface="Calibri"/>
                <a:cs typeface="Calibri"/>
              </a:rPr>
              <a:t>methods </a:t>
            </a:r>
            <a:r>
              <a:rPr dirty="0" sz="3200" b="1">
                <a:latin typeface="Calibri"/>
                <a:cs typeface="Calibri"/>
              </a:rPr>
              <a:t>(e.g., </a:t>
            </a:r>
            <a:r>
              <a:rPr dirty="0" sz="3200" spc="-40" b="1">
                <a:solidFill>
                  <a:srgbClr val="0070C0"/>
                </a:solidFill>
                <a:latin typeface="Calibri"/>
                <a:cs typeface="Calibri"/>
              </a:rPr>
              <a:t>TransE</a:t>
            </a:r>
            <a:r>
              <a:rPr dirty="0" sz="3200" spc="-40" b="1">
                <a:latin typeface="Calibri"/>
                <a:cs typeface="Calibri"/>
              </a:rPr>
              <a:t>)  </a:t>
            </a:r>
            <a:r>
              <a:rPr dirty="0" sz="3200" spc="-15" b="1">
                <a:latin typeface="Calibri"/>
                <a:cs typeface="Calibri"/>
              </a:rPr>
              <a:t>expressive </a:t>
            </a:r>
            <a:r>
              <a:rPr dirty="0" sz="3200" spc="-5" b="1">
                <a:latin typeface="Calibri"/>
                <a:cs typeface="Calibri"/>
              </a:rPr>
              <a:t>enough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model these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patterns?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26415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85455" y="1828605"/>
            <a:ext cx="691515" cy="318135"/>
          </a:xfrm>
          <a:custGeom>
            <a:avLst/>
            <a:gdLst/>
            <a:ahLst/>
            <a:cxnLst/>
            <a:rect l="l" t="t" r="r" b="b"/>
            <a:pathLst>
              <a:path w="691514" h="318135">
                <a:moveTo>
                  <a:pt x="589710" y="0"/>
                </a:moveTo>
                <a:lnTo>
                  <a:pt x="585190" y="12891"/>
                </a:lnTo>
                <a:lnTo>
                  <a:pt x="603576" y="20871"/>
                </a:lnTo>
                <a:lnTo>
                  <a:pt x="619388" y="31916"/>
                </a:lnTo>
                <a:lnTo>
                  <a:pt x="643289" y="63205"/>
                </a:lnTo>
                <a:lnTo>
                  <a:pt x="657353" y="105419"/>
                </a:lnTo>
                <a:lnTo>
                  <a:pt x="662040" y="157218"/>
                </a:lnTo>
                <a:lnTo>
                  <a:pt x="660863" y="185231"/>
                </a:lnTo>
                <a:lnTo>
                  <a:pt x="651446" y="233535"/>
                </a:lnTo>
                <a:lnTo>
                  <a:pt x="632547" y="271259"/>
                </a:lnTo>
                <a:lnTo>
                  <a:pt x="603790" y="296709"/>
                </a:lnTo>
                <a:lnTo>
                  <a:pt x="585692" y="304725"/>
                </a:lnTo>
                <a:lnTo>
                  <a:pt x="589710" y="317618"/>
                </a:lnTo>
                <a:lnTo>
                  <a:pt x="633033" y="297295"/>
                </a:lnTo>
                <a:lnTo>
                  <a:pt x="664888" y="262114"/>
                </a:lnTo>
                <a:lnTo>
                  <a:pt x="684477" y="215003"/>
                </a:lnTo>
                <a:lnTo>
                  <a:pt x="691007" y="158892"/>
                </a:lnTo>
                <a:lnTo>
                  <a:pt x="689369" y="129775"/>
                </a:lnTo>
                <a:lnTo>
                  <a:pt x="676268" y="78164"/>
                </a:lnTo>
                <a:lnTo>
                  <a:pt x="650284" y="36149"/>
                </a:lnTo>
                <a:lnTo>
                  <a:pt x="612737" y="8314"/>
                </a:lnTo>
                <a:lnTo>
                  <a:pt x="589710" y="0"/>
                </a:lnTo>
                <a:close/>
              </a:path>
              <a:path w="691514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6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8" y="285554"/>
                </a:lnTo>
                <a:lnTo>
                  <a:pt x="47802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7"/>
                </a:lnTo>
                <a:lnTo>
                  <a:pt x="87499" y="20871"/>
                </a:lnTo>
                <a:lnTo>
                  <a:pt x="105817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5155" y="1828605"/>
            <a:ext cx="691515" cy="318135"/>
          </a:xfrm>
          <a:custGeom>
            <a:avLst/>
            <a:gdLst/>
            <a:ahLst/>
            <a:cxnLst/>
            <a:rect l="l" t="t" r="r" b="b"/>
            <a:pathLst>
              <a:path w="691514" h="318135">
                <a:moveTo>
                  <a:pt x="589710" y="0"/>
                </a:moveTo>
                <a:lnTo>
                  <a:pt x="585190" y="12891"/>
                </a:lnTo>
                <a:lnTo>
                  <a:pt x="603576" y="20871"/>
                </a:lnTo>
                <a:lnTo>
                  <a:pt x="619388" y="31916"/>
                </a:lnTo>
                <a:lnTo>
                  <a:pt x="643289" y="63205"/>
                </a:lnTo>
                <a:lnTo>
                  <a:pt x="657352" y="105419"/>
                </a:lnTo>
                <a:lnTo>
                  <a:pt x="662040" y="157218"/>
                </a:lnTo>
                <a:lnTo>
                  <a:pt x="660863" y="185231"/>
                </a:lnTo>
                <a:lnTo>
                  <a:pt x="651445" y="233535"/>
                </a:lnTo>
                <a:lnTo>
                  <a:pt x="632547" y="271259"/>
                </a:lnTo>
                <a:lnTo>
                  <a:pt x="603790" y="296709"/>
                </a:lnTo>
                <a:lnTo>
                  <a:pt x="585692" y="304725"/>
                </a:lnTo>
                <a:lnTo>
                  <a:pt x="589710" y="317618"/>
                </a:lnTo>
                <a:lnTo>
                  <a:pt x="633033" y="297295"/>
                </a:lnTo>
                <a:lnTo>
                  <a:pt x="664888" y="262114"/>
                </a:lnTo>
                <a:lnTo>
                  <a:pt x="684476" y="215003"/>
                </a:lnTo>
                <a:lnTo>
                  <a:pt x="691007" y="158892"/>
                </a:lnTo>
                <a:lnTo>
                  <a:pt x="689369" y="129775"/>
                </a:lnTo>
                <a:lnTo>
                  <a:pt x="676267" y="78164"/>
                </a:lnTo>
                <a:lnTo>
                  <a:pt x="650284" y="36149"/>
                </a:lnTo>
                <a:lnTo>
                  <a:pt x="612737" y="8314"/>
                </a:lnTo>
                <a:lnTo>
                  <a:pt x="589710" y="0"/>
                </a:lnTo>
                <a:close/>
              </a:path>
              <a:path w="691514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6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7"/>
                </a:lnTo>
                <a:lnTo>
                  <a:pt x="87499" y="20871"/>
                </a:lnTo>
                <a:lnTo>
                  <a:pt x="105817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11655"/>
            <a:ext cx="7142480" cy="8547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>
                <a:solidFill>
                  <a:srgbClr val="0000FF"/>
                </a:solidFill>
              </a:rPr>
              <a:t>Symmetric (Antisymmetric)</a:t>
            </a:r>
            <a:r>
              <a:rPr dirty="0" sz="2700" spc="-15">
                <a:solidFill>
                  <a:srgbClr val="0000FF"/>
                </a:solidFill>
              </a:rPr>
              <a:t> </a:t>
            </a:r>
            <a:r>
              <a:rPr dirty="0" sz="2700" spc="-10">
                <a:solidFill>
                  <a:srgbClr val="000000"/>
                </a:solidFill>
              </a:rPr>
              <a:t>Relations:</a:t>
            </a:r>
            <a:endParaRPr sz="2700"/>
          </a:p>
          <a:p>
            <a:pPr marL="866140">
              <a:lnSpc>
                <a:spcPct val="100000"/>
              </a:lnSpc>
              <a:spcBef>
                <a:spcPts val="45"/>
              </a:spcBef>
              <a:tabLst>
                <a:tab pos="1179195" algn="l"/>
                <a:tab pos="1883410" algn="l"/>
                <a:tab pos="2588895" algn="l"/>
                <a:tab pos="3350260" algn="l"/>
                <a:tab pos="6454775" algn="l"/>
              </a:tabLst>
            </a:pPr>
            <a:r>
              <a:rPr dirty="0" sz="270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z="2700" spc="15" b="0">
                <a:solidFill>
                  <a:srgbClr val="000000"/>
                </a:solidFill>
                <a:latin typeface="Cambria Math"/>
                <a:cs typeface="Cambria Math"/>
              </a:rPr>
              <a:t>ℎ,</a:t>
            </a:r>
            <a:r>
              <a:rPr dirty="0" sz="2700" spc="-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700" b="0">
                <a:solidFill>
                  <a:srgbClr val="000000"/>
                </a:solidFill>
                <a:latin typeface="Cambria Math"/>
                <a:cs typeface="Cambria Math"/>
              </a:rPr>
              <a:t>𝑡	⇒</a:t>
            </a:r>
            <a:r>
              <a:rPr dirty="0" sz="2700" spc="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70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z="2700" spc="25" b="0">
                <a:solidFill>
                  <a:srgbClr val="000000"/>
                </a:solidFill>
                <a:latin typeface="Cambria Math"/>
                <a:cs typeface="Cambria Math"/>
              </a:rPr>
              <a:t>𝑡,</a:t>
            </a:r>
            <a:r>
              <a:rPr dirty="0" sz="2700" spc="-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700" b="0">
                <a:solidFill>
                  <a:srgbClr val="000000"/>
                </a:solidFill>
                <a:latin typeface="Cambria Math"/>
                <a:cs typeface="Cambria Math"/>
              </a:rPr>
              <a:t>ℎ	</a:t>
            </a:r>
            <a:r>
              <a:rPr dirty="0" sz="2700" spc="10" b="0">
                <a:solidFill>
                  <a:srgbClr val="000000"/>
                </a:solidFill>
                <a:latin typeface="Cambria Math"/>
                <a:cs typeface="Cambria Math"/>
              </a:rPr>
              <a:t>(𝑟(ℎ, </a:t>
            </a:r>
            <a:r>
              <a:rPr dirty="0" sz="2700" spc="25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sz="2700" b="0">
                <a:solidFill>
                  <a:srgbClr val="000000"/>
                </a:solidFill>
                <a:latin typeface="Cambria Math"/>
                <a:cs typeface="Cambria Math"/>
              </a:rPr>
              <a:t>⇒</a:t>
            </a:r>
            <a:r>
              <a:rPr dirty="0" sz="2700" spc="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700" spc="15" b="0">
                <a:solidFill>
                  <a:srgbClr val="000000"/>
                </a:solidFill>
                <a:latin typeface="Cambria Math"/>
                <a:cs typeface="Cambria Math"/>
              </a:rPr>
              <a:t>¬𝑟(𝑡,</a:t>
            </a:r>
            <a:r>
              <a:rPr dirty="0" sz="2700" spc="-14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700" spc="5" b="0">
                <a:solidFill>
                  <a:srgbClr val="000000"/>
                </a:solidFill>
                <a:latin typeface="Cambria Math"/>
                <a:cs typeface="Cambria Math"/>
              </a:rPr>
              <a:t>ℎ))	∀ℎ,</a:t>
            </a:r>
            <a:r>
              <a:rPr dirty="0" sz="2700" spc="-24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270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2137359"/>
            <a:ext cx="5311140" cy="26441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3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400" spc="-1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22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5">
                <a:latin typeface="Calibri"/>
                <a:cs typeface="Calibri"/>
              </a:rPr>
              <a:t>Symmetric: </a:t>
            </a:r>
            <a:r>
              <a:rPr dirty="0" sz="2000" spc="-30">
                <a:latin typeface="Calibri"/>
                <a:cs typeface="Calibri"/>
              </a:rPr>
              <a:t>Family,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5">
                <a:latin typeface="Calibri"/>
                <a:cs typeface="Calibri"/>
              </a:rPr>
              <a:t>Roommate</a:t>
            </a:r>
            <a:endParaRPr sz="2000">
              <a:latin typeface="Calibri"/>
              <a:cs typeface="Calibri"/>
            </a:endParaRPr>
          </a:p>
          <a:p>
            <a:pPr lvl="1" marL="890905" indent="-228600">
              <a:lnSpc>
                <a:spcPts val="2205"/>
              </a:lnSpc>
              <a:spcBef>
                <a:spcPts val="284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Antisymmetric: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Hypernym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ts val="304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5" b="1">
                <a:solidFill>
                  <a:srgbClr val="0000FF"/>
                </a:solidFill>
                <a:latin typeface="Calibri"/>
                <a:cs typeface="Calibri"/>
              </a:rPr>
              <a:t>Inverse</a:t>
            </a:r>
            <a:r>
              <a:rPr dirty="0" sz="2700" spc="-7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Relations:</a:t>
            </a:r>
            <a:endParaRPr sz="2700">
              <a:latin typeface="Calibri"/>
              <a:cs typeface="Calibri"/>
            </a:endParaRPr>
          </a:p>
          <a:p>
            <a:pPr marL="2724785">
              <a:lnSpc>
                <a:spcPct val="100000"/>
              </a:lnSpc>
              <a:spcBef>
                <a:spcPts val="45"/>
              </a:spcBef>
            </a:pPr>
            <a:r>
              <a:rPr dirty="0" sz="2700" spc="-30">
                <a:latin typeface="Cambria Math"/>
                <a:cs typeface="Cambria Math"/>
              </a:rPr>
              <a:t>𝑟</a:t>
            </a:r>
            <a:r>
              <a:rPr dirty="0" baseline="-15277" sz="3000" spc="-44">
                <a:latin typeface="Cambria Math"/>
                <a:cs typeface="Cambria Math"/>
              </a:rPr>
              <a:t>7</a:t>
            </a:r>
            <a:r>
              <a:rPr dirty="0" sz="2700" spc="-30">
                <a:latin typeface="Cambria Math"/>
                <a:cs typeface="Cambria Math"/>
              </a:rPr>
              <a:t>(ℎ, </a:t>
            </a:r>
            <a:r>
              <a:rPr dirty="0" sz="2700" spc="25">
                <a:latin typeface="Cambria Math"/>
                <a:cs typeface="Cambria Math"/>
              </a:rPr>
              <a:t>𝑡) </a:t>
            </a:r>
            <a:r>
              <a:rPr dirty="0" sz="2700">
                <a:latin typeface="Cambria Math"/>
                <a:cs typeface="Cambria Math"/>
              </a:rPr>
              <a:t>⇒ </a:t>
            </a:r>
            <a:r>
              <a:rPr dirty="0" sz="2700" spc="10">
                <a:latin typeface="Cambria Math"/>
                <a:cs typeface="Cambria Math"/>
              </a:rPr>
              <a:t>𝑟</a:t>
            </a:r>
            <a:r>
              <a:rPr dirty="0" baseline="-15277" sz="3000" spc="15">
                <a:latin typeface="Cambria Math"/>
                <a:cs typeface="Cambria Math"/>
              </a:rPr>
              <a:t>(</a:t>
            </a:r>
            <a:r>
              <a:rPr dirty="0" sz="2700" spc="10">
                <a:latin typeface="Cambria Math"/>
                <a:cs typeface="Cambria Math"/>
              </a:rPr>
              <a:t>(𝑡,</a:t>
            </a:r>
            <a:r>
              <a:rPr dirty="0" sz="2700" spc="-40">
                <a:latin typeface="Cambria Math"/>
                <a:cs typeface="Cambria Math"/>
              </a:rPr>
              <a:t> </a:t>
            </a:r>
            <a:r>
              <a:rPr dirty="0" sz="2700" spc="15">
                <a:latin typeface="Cambria Math"/>
                <a:cs typeface="Cambria Math"/>
              </a:rPr>
              <a:t>ℎ)</a:t>
            </a:r>
            <a:endParaRPr sz="2700">
              <a:latin typeface="Cambria Math"/>
              <a:cs typeface="Cambria Math"/>
            </a:endParaRPr>
          </a:p>
          <a:p>
            <a:pPr lvl="1" marL="625475" indent="-274320">
              <a:lnSpc>
                <a:spcPts val="2680"/>
              </a:lnSpc>
              <a:spcBef>
                <a:spcPts val="2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Example </a:t>
            </a:r>
            <a:r>
              <a:rPr dirty="0" sz="2400">
                <a:latin typeface="Calibri"/>
                <a:cs typeface="Calibri"/>
              </a:rPr>
              <a:t>: </a:t>
            </a:r>
            <a:r>
              <a:rPr dirty="0" sz="2400" spc="-30">
                <a:latin typeface="Calibri"/>
                <a:cs typeface="Calibri"/>
              </a:rPr>
              <a:t>(Advisor,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Advisee)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040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0000FF"/>
                </a:solidFill>
                <a:latin typeface="Calibri"/>
                <a:cs typeface="Calibri"/>
              </a:rPr>
              <a:t>Composition </a:t>
            </a:r>
            <a:r>
              <a:rPr dirty="0" sz="2700" spc="-25" b="1">
                <a:solidFill>
                  <a:srgbClr val="0000FF"/>
                </a:solidFill>
                <a:latin typeface="Calibri"/>
                <a:cs typeface="Calibri"/>
              </a:rPr>
              <a:t>(Transitive)</a:t>
            </a:r>
            <a:r>
              <a:rPr dirty="0" sz="27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Relations: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73719" y="4863905"/>
            <a:ext cx="742315" cy="318135"/>
          </a:xfrm>
          <a:custGeom>
            <a:avLst/>
            <a:gdLst/>
            <a:ahLst/>
            <a:cxnLst/>
            <a:rect l="l" t="t" r="r" b="b"/>
            <a:pathLst>
              <a:path w="742314" h="318135">
                <a:moveTo>
                  <a:pt x="640891" y="0"/>
                </a:moveTo>
                <a:lnTo>
                  <a:pt x="636371" y="12891"/>
                </a:lnTo>
                <a:lnTo>
                  <a:pt x="654757" y="20871"/>
                </a:lnTo>
                <a:lnTo>
                  <a:pt x="670569" y="31916"/>
                </a:lnTo>
                <a:lnTo>
                  <a:pt x="694470" y="63205"/>
                </a:lnTo>
                <a:lnTo>
                  <a:pt x="708533" y="105418"/>
                </a:lnTo>
                <a:lnTo>
                  <a:pt x="713221" y="157218"/>
                </a:lnTo>
                <a:lnTo>
                  <a:pt x="712044" y="185231"/>
                </a:lnTo>
                <a:lnTo>
                  <a:pt x="702626" y="233535"/>
                </a:lnTo>
                <a:lnTo>
                  <a:pt x="683728" y="271259"/>
                </a:lnTo>
                <a:lnTo>
                  <a:pt x="654971" y="296709"/>
                </a:lnTo>
                <a:lnTo>
                  <a:pt x="636873" y="304725"/>
                </a:lnTo>
                <a:lnTo>
                  <a:pt x="640891" y="317618"/>
                </a:lnTo>
                <a:lnTo>
                  <a:pt x="684214" y="297295"/>
                </a:lnTo>
                <a:lnTo>
                  <a:pt x="716067" y="262114"/>
                </a:lnTo>
                <a:lnTo>
                  <a:pt x="735657" y="215003"/>
                </a:lnTo>
                <a:lnTo>
                  <a:pt x="742188" y="158892"/>
                </a:lnTo>
                <a:lnTo>
                  <a:pt x="740550" y="129775"/>
                </a:lnTo>
                <a:lnTo>
                  <a:pt x="727448" y="78163"/>
                </a:lnTo>
                <a:lnTo>
                  <a:pt x="701465" y="36148"/>
                </a:lnTo>
                <a:lnTo>
                  <a:pt x="663918" y="8313"/>
                </a:lnTo>
                <a:lnTo>
                  <a:pt x="640891" y="0"/>
                </a:lnTo>
                <a:close/>
              </a:path>
              <a:path w="742314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3"/>
                </a:lnTo>
                <a:lnTo>
                  <a:pt x="58491" y="46027"/>
                </a:lnTo>
                <a:lnTo>
                  <a:pt x="87499" y="20871"/>
                </a:lnTo>
                <a:lnTo>
                  <a:pt x="105817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14724" y="4863905"/>
            <a:ext cx="720725" cy="318135"/>
          </a:xfrm>
          <a:custGeom>
            <a:avLst/>
            <a:gdLst/>
            <a:ahLst/>
            <a:cxnLst/>
            <a:rect l="l" t="t" r="r" b="b"/>
            <a:pathLst>
              <a:path w="720725" h="318135">
                <a:moveTo>
                  <a:pt x="618920" y="0"/>
                </a:moveTo>
                <a:lnTo>
                  <a:pt x="614400" y="12891"/>
                </a:lnTo>
                <a:lnTo>
                  <a:pt x="632786" y="20871"/>
                </a:lnTo>
                <a:lnTo>
                  <a:pt x="648598" y="31916"/>
                </a:lnTo>
                <a:lnTo>
                  <a:pt x="672499" y="63205"/>
                </a:lnTo>
                <a:lnTo>
                  <a:pt x="686562" y="105418"/>
                </a:lnTo>
                <a:lnTo>
                  <a:pt x="691250" y="157218"/>
                </a:lnTo>
                <a:lnTo>
                  <a:pt x="690073" y="185231"/>
                </a:lnTo>
                <a:lnTo>
                  <a:pt x="680655" y="233535"/>
                </a:lnTo>
                <a:lnTo>
                  <a:pt x="661757" y="271259"/>
                </a:lnTo>
                <a:lnTo>
                  <a:pt x="633000" y="296709"/>
                </a:lnTo>
                <a:lnTo>
                  <a:pt x="614902" y="304725"/>
                </a:lnTo>
                <a:lnTo>
                  <a:pt x="618920" y="317618"/>
                </a:lnTo>
                <a:lnTo>
                  <a:pt x="662243" y="297295"/>
                </a:lnTo>
                <a:lnTo>
                  <a:pt x="694096" y="262114"/>
                </a:lnTo>
                <a:lnTo>
                  <a:pt x="713686" y="215003"/>
                </a:lnTo>
                <a:lnTo>
                  <a:pt x="720217" y="158892"/>
                </a:lnTo>
                <a:lnTo>
                  <a:pt x="718579" y="129775"/>
                </a:lnTo>
                <a:lnTo>
                  <a:pt x="705477" y="78163"/>
                </a:lnTo>
                <a:lnTo>
                  <a:pt x="679494" y="36148"/>
                </a:lnTo>
                <a:lnTo>
                  <a:pt x="641947" y="8313"/>
                </a:lnTo>
                <a:lnTo>
                  <a:pt x="618920" y="0"/>
                </a:lnTo>
                <a:close/>
              </a:path>
              <a:path w="720725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3"/>
                </a:lnTo>
                <a:lnTo>
                  <a:pt x="58491" y="46027"/>
                </a:lnTo>
                <a:lnTo>
                  <a:pt x="87499" y="20871"/>
                </a:lnTo>
                <a:lnTo>
                  <a:pt x="105817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67109" y="4863905"/>
            <a:ext cx="715645" cy="318135"/>
          </a:xfrm>
          <a:custGeom>
            <a:avLst/>
            <a:gdLst/>
            <a:ahLst/>
            <a:cxnLst/>
            <a:rect l="l" t="t" r="r" b="b"/>
            <a:pathLst>
              <a:path w="715645" h="318135">
                <a:moveTo>
                  <a:pt x="613904" y="0"/>
                </a:moveTo>
                <a:lnTo>
                  <a:pt x="609382" y="12891"/>
                </a:lnTo>
                <a:lnTo>
                  <a:pt x="627769" y="20871"/>
                </a:lnTo>
                <a:lnTo>
                  <a:pt x="643581" y="31916"/>
                </a:lnTo>
                <a:lnTo>
                  <a:pt x="667481" y="63205"/>
                </a:lnTo>
                <a:lnTo>
                  <a:pt x="681546" y="105418"/>
                </a:lnTo>
                <a:lnTo>
                  <a:pt x="686234" y="157218"/>
                </a:lnTo>
                <a:lnTo>
                  <a:pt x="685057" y="185231"/>
                </a:lnTo>
                <a:lnTo>
                  <a:pt x="675639" y="233535"/>
                </a:lnTo>
                <a:lnTo>
                  <a:pt x="656740" y="271259"/>
                </a:lnTo>
                <a:lnTo>
                  <a:pt x="627984" y="296709"/>
                </a:lnTo>
                <a:lnTo>
                  <a:pt x="609885" y="304725"/>
                </a:lnTo>
                <a:lnTo>
                  <a:pt x="613904" y="317618"/>
                </a:lnTo>
                <a:lnTo>
                  <a:pt x="657226" y="297295"/>
                </a:lnTo>
                <a:lnTo>
                  <a:pt x="689080" y="262114"/>
                </a:lnTo>
                <a:lnTo>
                  <a:pt x="708670" y="215003"/>
                </a:lnTo>
                <a:lnTo>
                  <a:pt x="715200" y="158892"/>
                </a:lnTo>
                <a:lnTo>
                  <a:pt x="713562" y="129775"/>
                </a:lnTo>
                <a:lnTo>
                  <a:pt x="700460" y="78163"/>
                </a:lnTo>
                <a:lnTo>
                  <a:pt x="674477" y="36148"/>
                </a:lnTo>
                <a:lnTo>
                  <a:pt x="636930" y="8313"/>
                </a:lnTo>
                <a:lnTo>
                  <a:pt x="613904" y="0"/>
                </a:lnTo>
                <a:close/>
              </a:path>
              <a:path w="715645" h="318135">
                <a:moveTo>
                  <a:pt x="101296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0" y="83113"/>
                </a:lnTo>
                <a:lnTo>
                  <a:pt x="58491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54276" y="4765040"/>
            <a:ext cx="392366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7765" algn="l"/>
                <a:tab pos="2605405" algn="l"/>
              </a:tabLst>
            </a:pPr>
            <a:r>
              <a:rPr dirty="0" sz="2700" spc="-20">
                <a:latin typeface="Cambria Math"/>
                <a:cs typeface="Cambria Math"/>
              </a:rPr>
              <a:t>𝑟</a:t>
            </a:r>
            <a:r>
              <a:rPr dirty="0" baseline="-15277" sz="3000" spc="-30">
                <a:latin typeface="Cambria Math"/>
                <a:cs typeface="Cambria Math"/>
              </a:rPr>
              <a:t>( </a:t>
            </a:r>
            <a:r>
              <a:rPr dirty="0" baseline="-15277" sz="3000" spc="52">
                <a:latin typeface="Cambria Math"/>
                <a:cs typeface="Cambria Math"/>
              </a:rPr>
              <a:t> </a:t>
            </a:r>
            <a:r>
              <a:rPr dirty="0" sz="2700" spc="30">
                <a:latin typeface="Cambria Math"/>
                <a:cs typeface="Cambria Math"/>
              </a:rPr>
              <a:t>𝑥,</a:t>
            </a:r>
            <a:r>
              <a:rPr dirty="0" sz="2700" spc="-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𝑦	∧ </a:t>
            </a:r>
            <a:r>
              <a:rPr dirty="0" sz="2700" spc="-125">
                <a:latin typeface="Cambria Math"/>
                <a:cs typeface="Cambria Math"/>
              </a:rPr>
              <a:t>𝑟</a:t>
            </a:r>
            <a:r>
              <a:rPr dirty="0" baseline="-15277" sz="3000" spc="-187">
                <a:latin typeface="Cambria Math"/>
                <a:cs typeface="Cambria Math"/>
              </a:rPr>
              <a:t>7 </a:t>
            </a:r>
            <a:r>
              <a:rPr dirty="0" baseline="-15277" sz="3000" spc="202">
                <a:latin typeface="Cambria Math"/>
                <a:cs typeface="Cambria Math"/>
              </a:rPr>
              <a:t> </a:t>
            </a:r>
            <a:r>
              <a:rPr dirty="0" sz="2700" spc="15">
                <a:latin typeface="Cambria Math"/>
                <a:cs typeface="Cambria Math"/>
              </a:rPr>
              <a:t>𝑦,</a:t>
            </a:r>
            <a:r>
              <a:rPr dirty="0" sz="2700" spc="-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𝑧	⇒ </a:t>
            </a:r>
            <a:r>
              <a:rPr dirty="0" sz="2700" spc="-125">
                <a:latin typeface="Cambria Math"/>
                <a:cs typeface="Cambria Math"/>
              </a:rPr>
              <a:t>𝑟</a:t>
            </a:r>
            <a:r>
              <a:rPr dirty="0" baseline="-15277" sz="3000" spc="-187">
                <a:latin typeface="Cambria Math"/>
                <a:cs typeface="Cambria Math"/>
              </a:rPr>
              <a:t>8   </a:t>
            </a:r>
            <a:r>
              <a:rPr dirty="0" sz="2700" spc="30">
                <a:latin typeface="Cambria Math"/>
                <a:cs typeface="Cambria Math"/>
              </a:rPr>
              <a:t>𝑥,</a:t>
            </a:r>
            <a:r>
              <a:rPr dirty="0" sz="2700" spc="-135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𝑧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8334" y="4765040"/>
            <a:ext cx="10521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5">
                <a:latin typeface="Cambria Math"/>
                <a:cs typeface="Cambria Math"/>
              </a:rPr>
              <a:t>∀𝑥, </a:t>
            </a:r>
            <a:r>
              <a:rPr dirty="0" sz="2700" spc="15">
                <a:latin typeface="Cambria Math"/>
                <a:cs typeface="Cambria Math"/>
              </a:rPr>
              <a:t>𝑦,</a:t>
            </a:r>
            <a:r>
              <a:rPr dirty="0" sz="2700" spc="-42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𝑧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30971" y="6006905"/>
            <a:ext cx="828675" cy="318135"/>
          </a:xfrm>
          <a:custGeom>
            <a:avLst/>
            <a:gdLst/>
            <a:ahLst/>
            <a:cxnLst/>
            <a:rect l="l" t="t" r="r" b="b"/>
            <a:pathLst>
              <a:path w="828675" h="318135">
                <a:moveTo>
                  <a:pt x="727061" y="0"/>
                </a:moveTo>
                <a:lnTo>
                  <a:pt x="722541" y="12892"/>
                </a:lnTo>
                <a:lnTo>
                  <a:pt x="740926" y="20871"/>
                </a:lnTo>
                <a:lnTo>
                  <a:pt x="756738" y="31916"/>
                </a:lnTo>
                <a:lnTo>
                  <a:pt x="780639" y="63205"/>
                </a:lnTo>
                <a:lnTo>
                  <a:pt x="794703" y="105419"/>
                </a:lnTo>
                <a:lnTo>
                  <a:pt x="799391" y="157218"/>
                </a:lnTo>
                <a:lnTo>
                  <a:pt x="798214" y="185231"/>
                </a:lnTo>
                <a:lnTo>
                  <a:pt x="788796" y="233535"/>
                </a:lnTo>
                <a:lnTo>
                  <a:pt x="769897" y="271260"/>
                </a:lnTo>
                <a:lnTo>
                  <a:pt x="741141" y="296709"/>
                </a:lnTo>
                <a:lnTo>
                  <a:pt x="723042" y="304725"/>
                </a:lnTo>
                <a:lnTo>
                  <a:pt x="727061" y="317617"/>
                </a:lnTo>
                <a:lnTo>
                  <a:pt x="770384" y="297295"/>
                </a:lnTo>
                <a:lnTo>
                  <a:pt x="802237" y="262114"/>
                </a:lnTo>
                <a:lnTo>
                  <a:pt x="821827" y="215003"/>
                </a:lnTo>
                <a:lnTo>
                  <a:pt x="828357" y="158892"/>
                </a:lnTo>
                <a:lnTo>
                  <a:pt x="826719" y="129775"/>
                </a:lnTo>
                <a:lnTo>
                  <a:pt x="813618" y="78164"/>
                </a:lnTo>
                <a:lnTo>
                  <a:pt x="787635" y="36149"/>
                </a:lnTo>
                <a:lnTo>
                  <a:pt x="750088" y="8313"/>
                </a:lnTo>
                <a:lnTo>
                  <a:pt x="727061" y="0"/>
                </a:lnTo>
                <a:close/>
              </a:path>
              <a:path w="828675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7"/>
                </a:lnTo>
                <a:lnTo>
                  <a:pt x="87499" y="20871"/>
                </a:lnTo>
                <a:lnTo>
                  <a:pt x="105817" y="12892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17659" y="6006905"/>
            <a:ext cx="836294" cy="318135"/>
          </a:xfrm>
          <a:custGeom>
            <a:avLst/>
            <a:gdLst/>
            <a:ahLst/>
            <a:cxnLst/>
            <a:rect l="l" t="t" r="r" b="b"/>
            <a:pathLst>
              <a:path w="836295" h="318135">
                <a:moveTo>
                  <a:pt x="734998" y="0"/>
                </a:moveTo>
                <a:lnTo>
                  <a:pt x="730478" y="12892"/>
                </a:lnTo>
                <a:lnTo>
                  <a:pt x="748864" y="20871"/>
                </a:lnTo>
                <a:lnTo>
                  <a:pt x="764676" y="31916"/>
                </a:lnTo>
                <a:lnTo>
                  <a:pt x="788577" y="63205"/>
                </a:lnTo>
                <a:lnTo>
                  <a:pt x="802640" y="105419"/>
                </a:lnTo>
                <a:lnTo>
                  <a:pt x="807328" y="157218"/>
                </a:lnTo>
                <a:lnTo>
                  <a:pt x="806151" y="185231"/>
                </a:lnTo>
                <a:lnTo>
                  <a:pt x="796733" y="233535"/>
                </a:lnTo>
                <a:lnTo>
                  <a:pt x="777835" y="271260"/>
                </a:lnTo>
                <a:lnTo>
                  <a:pt x="749078" y="296709"/>
                </a:lnTo>
                <a:lnTo>
                  <a:pt x="730980" y="304725"/>
                </a:lnTo>
                <a:lnTo>
                  <a:pt x="734998" y="317617"/>
                </a:lnTo>
                <a:lnTo>
                  <a:pt x="778321" y="297295"/>
                </a:lnTo>
                <a:lnTo>
                  <a:pt x="810174" y="262114"/>
                </a:lnTo>
                <a:lnTo>
                  <a:pt x="829764" y="215003"/>
                </a:lnTo>
                <a:lnTo>
                  <a:pt x="836295" y="158892"/>
                </a:lnTo>
                <a:lnTo>
                  <a:pt x="834657" y="129775"/>
                </a:lnTo>
                <a:lnTo>
                  <a:pt x="821555" y="78164"/>
                </a:lnTo>
                <a:lnTo>
                  <a:pt x="795572" y="36149"/>
                </a:lnTo>
                <a:lnTo>
                  <a:pt x="758025" y="8313"/>
                </a:lnTo>
                <a:lnTo>
                  <a:pt x="734998" y="0"/>
                </a:lnTo>
                <a:close/>
              </a:path>
              <a:path w="836295" h="318135">
                <a:moveTo>
                  <a:pt x="101296" y="0"/>
                </a:moveTo>
                <a:lnTo>
                  <a:pt x="58078" y="20363"/>
                </a:lnTo>
                <a:lnTo>
                  <a:pt x="26203" y="55670"/>
                </a:lnTo>
                <a:lnTo>
                  <a:pt x="6551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3" y="281562"/>
                </a:lnTo>
                <a:lnTo>
                  <a:pt x="78201" y="309314"/>
                </a:lnTo>
                <a:lnTo>
                  <a:pt x="101296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7"/>
                </a:lnTo>
                <a:lnTo>
                  <a:pt x="87499" y="20871"/>
                </a:lnTo>
                <a:lnTo>
                  <a:pt x="105817" y="12892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18108" y="5208523"/>
            <a:ext cx="6941820" cy="1534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74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400" spc="-10">
                <a:latin typeface="Calibri"/>
                <a:cs typeface="Calibri"/>
              </a:rPr>
              <a:t>: </a:t>
            </a:r>
            <a:r>
              <a:rPr dirty="0" sz="2400" spc="-5">
                <a:latin typeface="Calibri"/>
                <a:cs typeface="Calibri"/>
              </a:rPr>
              <a:t>My </a:t>
            </a:r>
            <a:r>
              <a:rPr dirty="0" sz="2400" spc="-10">
                <a:latin typeface="Calibri"/>
                <a:cs typeface="Calibri"/>
              </a:rPr>
              <a:t>mother’s </a:t>
            </a:r>
            <a:r>
              <a:rPr dirty="0" sz="2400" spc="-5">
                <a:latin typeface="Calibri"/>
                <a:cs typeface="Calibri"/>
              </a:rPr>
              <a:t>husband </a:t>
            </a:r>
            <a:r>
              <a:rPr dirty="0" sz="2400">
                <a:latin typeface="Calibri"/>
                <a:cs typeface="Calibri"/>
              </a:rPr>
              <a:t>is </a:t>
            </a:r>
            <a:r>
              <a:rPr dirty="0" sz="2400" spc="-25">
                <a:latin typeface="Calibri"/>
                <a:cs typeface="Calibri"/>
              </a:rPr>
              <a:t>my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father.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3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solidFill>
                  <a:srgbClr val="0000FF"/>
                </a:solidFill>
                <a:latin typeface="Calibri"/>
                <a:cs typeface="Calibri"/>
              </a:rPr>
              <a:t>1-to-N</a:t>
            </a:r>
            <a:r>
              <a:rPr dirty="0" sz="2700" spc="-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700" spc="-10" b="1">
                <a:latin typeface="Calibri"/>
                <a:cs typeface="Calibri"/>
              </a:rPr>
              <a:t>relations:</a:t>
            </a:r>
            <a:endParaRPr sz="2700">
              <a:latin typeface="Calibri"/>
              <a:cs typeface="Calibri"/>
            </a:endParaRPr>
          </a:p>
          <a:p>
            <a:pPr marL="1311275">
              <a:lnSpc>
                <a:spcPts val="3070"/>
              </a:lnSpc>
              <a:tabLst>
                <a:tab pos="1624965" algn="l"/>
                <a:tab pos="2811145" algn="l"/>
              </a:tabLst>
            </a:pPr>
            <a:r>
              <a:rPr dirty="0" sz="2700">
                <a:latin typeface="Cambria Math"/>
                <a:cs typeface="Cambria Math"/>
              </a:rPr>
              <a:t>𝑟	</a:t>
            </a:r>
            <a:r>
              <a:rPr dirty="0" sz="2700" spc="15">
                <a:latin typeface="Cambria Math"/>
                <a:cs typeface="Cambria Math"/>
              </a:rPr>
              <a:t>ℎ, </a:t>
            </a:r>
            <a:r>
              <a:rPr dirty="0" sz="2700" spc="105">
                <a:latin typeface="Cambria Math"/>
                <a:cs typeface="Cambria Math"/>
              </a:rPr>
              <a:t>𝑡</a:t>
            </a:r>
            <a:r>
              <a:rPr dirty="0" baseline="-15277" sz="3000" spc="157">
                <a:latin typeface="Cambria Math"/>
                <a:cs typeface="Cambria Math"/>
              </a:rPr>
              <a:t>(</a:t>
            </a:r>
            <a:r>
              <a:rPr dirty="0" baseline="-15277" sz="3000" spc="419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,</a:t>
            </a:r>
            <a:r>
              <a:rPr dirty="0" sz="2700" spc="-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𝑟	</a:t>
            </a:r>
            <a:r>
              <a:rPr dirty="0" sz="2700" spc="15">
                <a:latin typeface="Cambria Math"/>
                <a:cs typeface="Cambria Math"/>
              </a:rPr>
              <a:t>ℎ,</a:t>
            </a:r>
            <a:r>
              <a:rPr dirty="0" sz="2700" spc="-155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𝑡</a:t>
            </a:r>
            <a:r>
              <a:rPr dirty="0" baseline="-15277" sz="3000">
                <a:latin typeface="Cambria Math"/>
                <a:cs typeface="Cambria Math"/>
              </a:rPr>
              <a:t>7 </a:t>
            </a:r>
            <a:r>
              <a:rPr dirty="0" baseline="-15277" sz="3000" spc="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,</a:t>
            </a:r>
            <a:r>
              <a:rPr dirty="0" sz="2700" spc="-155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…</a:t>
            </a:r>
            <a:r>
              <a:rPr dirty="0" sz="2700" spc="-155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,</a:t>
            </a:r>
            <a:r>
              <a:rPr dirty="0" sz="2700" spc="-155">
                <a:latin typeface="Cambria Math"/>
                <a:cs typeface="Cambria Math"/>
              </a:rPr>
              <a:t> </a:t>
            </a:r>
            <a:r>
              <a:rPr dirty="0" sz="2700" spc="15">
                <a:latin typeface="Cambria Math"/>
                <a:cs typeface="Cambria Math"/>
              </a:rPr>
              <a:t>𝑟(ℎ,</a:t>
            </a:r>
            <a:r>
              <a:rPr dirty="0" sz="2700" spc="-155">
                <a:latin typeface="Cambria Math"/>
                <a:cs typeface="Cambria Math"/>
              </a:rPr>
              <a:t> </a:t>
            </a:r>
            <a:r>
              <a:rPr dirty="0" sz="2700" spc="75">
                <a:latin typeface="Cambria Math"/>
                <a:cs typeface="Cambria Math"/>
              </a:rPr>
              <a:t>𝑡</a:t>
            </a:r>
            <a:r>
              <a:rPr dirty="0" baseline="-15277" sz="3000" spc="112">
                <a:latin typeface="Cambria Math"/>
                <a:cs typeface="Cambria Math"/>
              </a:rPr>
              <a:t>9</a:t>
            </a:r>
            <a:r>
              <a:rPr dirty="0" sz="2700" spc="75">
                <a:latin typeface="Cambria Math"/>
                <a:cs typeface="Cambria Math"/>
              </a:rPr>
              <a:t>)</a:t>
            </a:r>
            <a:r>
              <a:rPr dirty="0" sz="2700" spc="10">
                <a:latin typeface="Cambria Math"/>
                <a:cs typeface="Cambria Math"/>
              </a:rPr>
              <a:t> </a:t>
            </a:r>
            <a:r>
              <a:rPr dirty="0" sz="2700" spc="-20">
                <a:latin typeface="Calibri"/>
                <a:cs typeface="Calibri"/>
              </a:rPr>
              <a:t>are</a:t>
            </a:r>
            <a:r>
              <a:rPr dirty="0" sz="2700" spc="-10">
                <a:latin typeface="Calibri"/>
                <a:cs typeface="Calibri"/>
              </a:rPr>
              <a:t> </a:t>
            </a:r>
            <a:r>
              <a:rPr dirty="0" sz="2700" spc="-5">
                <a:latin typeface="Calibri"/>
                <a:cs typeface="Calibri"/>
              </a:rPr>
              <a:t>all</a:t>
            </a:r>
            <a:r>
              <a:rPr dirty="0" sz="2700">
                <a:latin typeface="Calibri"/>
                <a:cs typeface="Calibri"/>
              </a:rPr>
              <a:t> </a:t>
            </a:r>
            <a:r>
              <a:rPr dirty="0" sz="2700" spc="-40">
                <a:latin typeface="Calibri"/>
                <a:cs typeface="Calibri"/>
              </a:rPr>
              <a:t>True.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400" spc="-10">
                <a:latin typeface="Calibri"/>
                <a:cs typeface="Calibri"/>
              </a:rPr>
              <a:t>: </a:t>
            </a:r>
            <a:r>
              <a:rPr dirty="0" sz="2400">
                <a:latin typeface="Cambria Math"/>
                <a:cs typeface="Cambria Math"/>
              </a:rPr>
              <a:t>𝑟 </a:t>
            </a:r>
            <a:r>
              <a:rPr dirty="0" sz="2400" spc="-5">
                <a:latin typeface="Calibri"/>
                <a:cs typeface="Calibri"/>
              </a:rPr>
              <a:t>is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0">
                <a:latin typeface="Calibri"/>
                <a:cs typeface="Calibri"/>
              </a:rPr>
              <a:t>“StudentsOf”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8403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95122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FF"/>
                </a:solidFill>
              </a:rPr>
              <a:t>Antisymmetric</a:t>
            </a:r>
            <a:r>
              <a:rPr dirty="0" spc="-4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1802764">
              <a:lnSpc>
                <a:spcPts val="3815"/>
              </a:lnSpc>
              <a:tabLst>
                <a:tab pos="5137785" algn="l"/>
              </a:tabLst>
            </a:pP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𝑟(ℎ, 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⇒</a:t>
            </a:r>
            <a:r>
              <a:rPr dirty="0" spc="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¬𝑟(𝑡,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ℎ)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651750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Hypernym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antisymmetric relations</a:t>
            </a:r>
            <a:r>
              <a:rPr dirty="0" sz="3200" spc="55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mbria Math"/>
                <a:cs typeface="Cambria Math"/>
              </a:rPr>
              <a:t>𝐡 + 𝐫 = </a:t>
            </a:r>
            <a:r>
              <a:rPr dirty="0" sz="2800" spc="-5">
                <a:latin typeface="Cambria Math"/>
                <a:cs typeface="Cambria Math"/>
              </a:rPr>
              <a:t>𝐭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>
                <a:latin typeface="Cambria Math"/>
                <a:cs typeface="Cambria Math"/>
              </a:rPr>
              <a:t>𝐭 + 𝐫 ≠</a:t>
            </a:r>
            <a:r>
              <a:rPr dirty="0" sz="2800" spc="5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𝐡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25806" y="4735563"/>
            <a:ext cx="12065" cy="1699895"/>
          </a:xfrm>
          <a:custGeom>
            <a:avLst/>
            <a:gdLst/>
            <a:ahLst/>
            <a:cxnLst/>
            <a:rect l="l" t="t" r="r" b="b"/>
            <a:pathLst>
              <a:path w="12064" h="1699895">
                <a:moveTo>
                  <a:pt x="0" y="0"/>
                </a:moveTo>
                <a:lnTo>
                  <a:pt x="11570" y="169976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18326" y="6399555"/>
            <a:ext cx="4267200" cy="34925"/>
          </a:xfrm>
          <a:custGeom>
            <a:avLst/>
            <a:gdLst/>
            <a:ahLst/>
            <a:cxnLst/>
            <a:rect l="l" t="t" r="r" b="b"/>
            <a:pathLst>
              <a:path w="4267200" h="34925">
                <a:moveTo>
                  <a:pt x="4267200" y="0"/>
                </a:moveTo>
                <a:lnTo>
                  <a:pt x="0" y="3443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71143" y="538472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56760" y="537033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1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7" y="63571"/>
                </a:lnTo>
                <a:lnTo>
                  <a:pt x="24348" y="58414"/>
                </a:lnTo>
                <a:lnTo>
                  <a:pt x="19192" y="50765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7"/>
                </a:lnTo>
                <a:lnTo>
                  <a:pt x="31997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6" y="24347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5"/>
                </a:lnTo>
                <a:lnTo>
                  <a:pt x="58416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6"/>
                </a:lnTo>
                <a:lnTo>
                  <a:pt x="79093" y="24347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6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6"/>
                </a:lnTo>
                <a:lnTo>
                  <a:pt x="28465" y="54297"/>
                </a:lnTo>
                <a:lnTo>
                  <a:pt x="34246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1" y="53804"/>
                </a:lnTo>
                <a:lnTo>
                  <a:pt x="41381" y="53804"/>
                </a:lnTo>
                <a:lnTo>
                  <a:pt x="36494" y="52819"/>
                </a:lnTo>
                <a:lnTo>
                  <a:pt x="32583" y="50180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0"/>
                </a:lnTo>
                <a:lnTo>
                  <a:pt x="46268" y="52819"/>
                </a:lnTo>
                <a:lnTo>
                  <a:pt x="41381" y="53804"/>
                </a:lnTo>
                <a:lnTo>
                  <a:pt x="54631" y="53804"/>
                </a:lnTo>
                <a:lnTo>
                  <a:pt x="58196" y="48516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41163" y="51065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26781" y="5092213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5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5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1" y="58414"/>
                </a:lnTo>
                <a:lnTo>
                  <a:pt x="79208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08" y="24568"/>
                </a:lnTo>
                <a:lnTo>
                  <a:pt x="79091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4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0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09251" y="5134667"/>
            <a:ext cx="840105" cy="266065"/>
          </a:xfrm>
          <a:custGeom>
            <a:avLst/>
            <a:gdLst/>
            <a:ahLst/>
            <a:cxnLst/>
            <a:rect l="l" t="t" r="r" b="b"/>
            <a:pathLst>
              <a:path w="840104" h="266064">
                <a:moveTo>
                  <a:pt x="753431" y="27505"/>
                </a:moveTo>
                <a:lnTo>
                  <a:pt x="4423" y="238438"/>
                </a:lnTo>
                <a:lnTo>
                  <a:pt x="0" y="246330"/>
                </a:lnTo>
                <a:lnTo>
                  <a:pt x="4278" y="261520"/>
                </a:lnTo>
                <a:lnTo>
                  <a:pt x="12169" y="265944"/>
                </a:lnTo>
                <a:lnTo>
                  <a:pt x="761177" y="55009"/>
                </a:lnTo>
                <a:lnTo>
                  <a:pt x="753431" y="27505"/>
                </a:lnTo>
                <a:close/>
              </a:path>
              <a:path w="840104" h="266064">
                <a:moveTo>
                  <a:pt x="836001" y="21493"/>
                </a:moveTo>
                <a:lnTo>
                  <a:pt x="774778" y="21493"/>
                </a:lnTo>
                <a:lnTo>
                  <a:pt x="782670" y="25915"/>
                </a:lnTo>
                <a:lnTo>
                  <a:pt x="786947" y="41107"/>
                </a:lnTo>
                <a:lnTo>
                  <a:pt x="782525" y="48997"/>
                </a:lnTo>
                <a:lnTo>
                  <a:pt x="761177" y="55009"/>
                </a:lnTo>
                <a:lnTo>
                  <a:pt x="768924" y="82515"/>
                </a:lnTo>
                <a:lnTo>
                  <a:pt x="836001" y="21493"/>
                </a:lnTo>
                <a:close/>
              </a:path>
              <a:path w="840104" h="266064">
                <a:moveTo>
                  <a:pt x="774778" y="21493"/>
                </a:moveTo>
                <a:lnTo>
                  <a:pt x="753431" y="27505"/>
                </a:lnTo>
                <a:lnTo>
                  <a:pt x="761177" y="55009"/>
                </a:lnTo>
                <a:lnTo>
                  <a:pt x="782525" y="48997"/>
                </a:lnTo>
                <a:lnTo>
                  <a:pt x="786947" y="41107"/>
                </a:lnTo>
                <a:lnTo>
                  <a:pt x="782670" y="25915"/>
                </a:lnTo>
                <a:lnTo>
                  <a:pt x="774778" y="21493"/>
                </a:lnTo>
                <a:close/>
              </a:path>
              <a:path w="840104" h="266064">
                <a:moveTo>
                  <a:pt x="745685" y="0"/>
                </a:moveTo>
                <a:lnTo>
                  <a:pt x="753431" y="27505"/>
                </a:lnTo>
                <a:lnTo>
                  <a:pt x="774778" y="21493"/>
                </a:lnTo>
                <a:lnTo>
                  <a:pt x="836001" y="21493"/>
                </a:lnTo>
                <a:lnTo>
                  <a:pt x="839819" y="18020"/>
                </a:lnTo>
                <a:lnTo>
                  <a:pt x="7456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44002" y="5108955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𝐡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1801" y="4755388"/>
            <a:ext cx="194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0029" y="5105907"/>
            <a:ext cx="1606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𝐭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05996" y="4868712"/>
            <a:ext cx="840105" cy="266065"/>
          </a:xfrm>
          <a:custGeom>
            <a:avLst/>
            <a:gdLst/>
            <a:ahLst/>
            <a:cxnLst/>
            <a:rect l="l" t="t" r="r" b="b"/>
            <a:pathLst>
              <a:path w="840104" h="266064">
                <a:moveTo>
                  <a:pt x="753430" y="27504"/>
                </a:moveTo>
                <a:lnTo>
                  <a:pt x="4422" y="238438"/>
                </a:lnTo>
                <a:lnTo>
                  <a:pt x="0" y="246330"/>
                </a:lnTo>
                <a:lnTo>
                  <a:pt x="4277" y="261520"/>
                </a:lnTo>
                <a:lnTo>
                  <a:pt x="12169" y="265944"/>
                </a:lnTo>
                <a:lnTo>
                  <a:pt x="761176" y="55009"/>
                </a:lnTo>
                <a:lnTo>
                  <a:pt x="753430" y="27504"/>
                </a:lnTo>
                <a:close/>
              </a:path>
              <a:path w="840104" h="266064">
                <a:moveTo>
                  <a:pt x="836001" y="21492"/>
                </a:moveTo>
                <a:lnTo>
                  <a:pt x="774778" y="21492"/>
                </a:lnTo>
                <a:lnTo>
                  <a:pt x="782669" y="25915"/>
                </a:lnTo>
                <a:lnTo>
                  <a:pt x="786947" y="41106"/>
                </a:lnTo>
                <a:lnTo>
                  <a:pt x="782524" y="48997"/>
                </a:lnTo>
                <a:lnTo>
                  <a:pt x="761176" y="55009"/>
                </a:lnTo>
                <a:lnTo>
                  <a:pt x="768922" y="82514"/>
                </a:lnTo>
                <a:lnTo>
                  <a:pt x="836001" y="21492"/>
                </a:lnTo>
                <a:close/>
              </a:path>
              <a:path w="840104" h="266064">
                <a:moveTo>
                  <a:pt x="774778" y="21492"/>
                </a:moveTo>
                <a:lnTo>
                  <a:pt x="753430" y="27504"/>
                </a:lnTo>
                <a:lnTo>
                  <a:pt x="761176" y="55009"/>
                </a:lnTo>
                <a:lnTo>
                  <a:pt x="782524" y="48997"/>
                </a:lnTo>
                <a:lnTo>
                  <a:pt x="786947" y="41106"/>
                </a:lnTo>
                <a:lnTo>
                  <a:pt x="782669" y="25915"/>
                </a:lnTo>
                <a:lnTo>
                  <a:pt x="774778" y="21492"/>
                </a:lnTo>
                <a:close/>
              </a:path>
              <a:path w="840104" h="266064">
                <a:moveTo>
                  <a:pt x="745684" y="0"/>
                </a:moveTo>
                <a:lnTo>
                  <a:pt x="753430" y="27504"/>
                </a:lnTo>
                <a:lnTo>
                  <a:pt x="774778" y="21492"/>
                </a:lnTo>
                <a:lnTo>
                  <a:pt x="836001" y="21492"/>
                </a:lnTo>
                <a:lnTo>
                  <a:pt x="839819" y="18018"/>
                </a:lnTo>
                <a:lnTo>
                  <a:pt x="74568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88546" y="4490211"/>
            <a:ext cx="194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48309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019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FF"/>
                </a:solidFill>
              </a:rPr>
              <a:t>Inverse</a:t>
            </a:r>
            <a:r>
              <a:rPr dirty="0" spc="-10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2362200">
              <a:lnSpc>
                <a:spcPts val="3815"/>
              </a:lnSpc>
            </a:pPr>
            <a:r>
              <a:rPr dirty="0" spc="-60" b="0">
                <a:solidFill>
                  <a:srgbClr val="008000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89" b="0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r>
              <a:rPr dirty="0" sz="3200" spc="-60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z="320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⇒ </a:t>
            </a:r>
            <a:r>
              <a:rPr dirty="0" sz="3200" spc="25" b="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37" b="0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(𝑡,</a:t>
            </a:r>
            <a:r>
              <a:rPr dirty="0" sz="3200" spc="-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ℎ)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6464935" cy="145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 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30">
                <a:latin typeface="Calibri"/>
                <a:cs typeface="Calibri"/>
              </a:rPr>
              <a:t>(Advisor,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Advisee)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25">
                <a:latin typeface="Calibri"/>
                <a:cs typeface="Calibri"/>
              </a:rPr>
              <a:t>inverse </a:t>
            </a:r>
            <a:r>
              <a:rPr dirty="0" sz="3200" spc="-10">
                <a:latin typeface="Calibri"/>
                <a:cs typeface="Calibri"/>
              </a:rPr>
              <a:t>relations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mbria Math"/>
                <a:cs typeface="Cambria Math"/>
              </a:rPr>
              <a:t>𝐡 + </a:t>
            </a:r>
            <a:r>
              <a:rPr dirty="0" sz="2800" spc="-110">
                <a:solidFill>
                  <a:srgbClr val="479249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165">
                <a:solidFill>
                  <a:srgbClr val="479249"/>
                </a:solidFill>
                <a:latin typeface="Cambria Math"/>
                <a:cs typeface="Cambria Math"/>
              </a:rPr>
              <a:t>𝟐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5">
                <a:latin typeface="Cambria Math"/>
                <a:cs typeface="Cambria Math"/>
              </a:rPr>
              <a:t>𝐭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set </a:t>
            </a:r>
            <a:r>
              <a:rPr dirty="0" sz="2800" spc="15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22">
                <a:solidFill>
                  <a:srgbClr val="C00000"/>
                </a:solidFill>
                <a:latin typeface="Cambria Math"/>
                <a:cs typeface="Cambria Math"/>
              </a:rPr>
              <a:t>(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60">
                <a:latin typeface="Cambria Math"/>
                <a:cs typeface="Cambria Math"/>
              </a:rPr>
              <a:t>−</a:t>
            </a:r>
            <a:r>
              <a:rPr dirty="0" sz="2800" spc="-60">
                <a:solidFill>
                  <a:srgbClr val="479249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89">
                <a:solidFill>
                  <a:srgbClr val="479249"/>
                </a:solidFill>
                <a:latin typeface="Cambria Math"/>
                <a:cs typeface="Cambria Math"/>
              </a:rPr>
              <a:t>7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25806" y="4735563"/>
            <a:ext cx="12065" cy="1699895"/>
          </a:xfrm>
          <a:custGeom>
            <a:avLst/>
            <a:gdLst/>
            <a:ahLst/>
            <a:cxnLst/>
            <a:rect l="l" t="t" r="r" b="b"/>
            <a:pathLst>
              <a:path w="12064" h="1699895">
                <a:moveTo>
                  <a:pt x="0" y="0"/>
                </a:moveTo>
                <a:lnTo>
                  <a:pt x="11570" y="169976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18326" y="6433351"/>
            <a:ext cx="1949450" cy="1270"/>
          </a:xfrm>
          <a:custGeom>
            <a:avLst/>
            <a:gdLst/>
            <a:ahLst/>
            <a:cxnLst/>
            <a:rect l="l" t="t" r="r" b="b"/>
            <a:pathLst>
              <a:path w="1949450" h="1270">
                <a:moveTo>
                  <a:pt x="1948873" y="0"/>
                </a:moveTo>
                <a:lnTo>
                  <a:pt x="0" y="642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71143" y="538472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7"/>
                </a:lnTo>
                <a:lnTo>
                  <a:pt x="26998" y="53999"/>
                </a:lnTo>
                <a:lnTo>
                  <a:pt x="37508" y="51877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56760" y="537033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1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7" y="63571"/>
                </a:lnTo>
                <a:lnTo>
                  <a:pt x="24348" y="58414"/>
                </a:lnTo>
                <a:lnTo>
                  <a:pt x="19192" y="50765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7"/>
                </a:lnTo>
                <a:lnTo>
                  <a:pt x="31997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6" y="24347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5"/>
                </a:lnTo>
                <a:lnTo>
                  <a:pt x="58416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6"/>
                </a:lnTo>
                <a:lnTo>
                  <a:pt x="79093" y="24347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6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6"/>
                </a:lnTo>
                <a:lnTo>
                  <a:pt x="28465" y="54297"/>
                </a:lnTo>
                <a:lnTo>
                  <a:pt x="34246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1" y="53804"/>
                </a:lnTo>
                <a:lnTo>
                  <a:pt x="41381" y="53804"/>
                </a:lnTo>
                <a:lnTo>
                  <a:pt x="36494" y="52819"/>
                </a:lnTo>
                <a:lnTo>
                  <a:pt x="32583" y="50180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0"/>
                </a:lnTo>
                <a:lnTo>
                  <a:pt x="46268" y="52819"/>
                </a:lnTo>
                <a:lnTo>
                  <a:pt x="41381" y="53804"/>
                </a:lnTo>
                <a:lnTo>
                  <a:pt x="54631" y="53804"/>
                </a:lnTo>
                <a:lnTo>
                  <a:pt x="58196" y="48516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41163" y="510659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26781" y="5092213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5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5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1" y="58414"/>
                </a:lnTo>
                <a:lnTo>
                  <a:pt x="79208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08" y="24568"/>
                </a:lnTo>
                <a:lnTo>
                  <a:pt x="79091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4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0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09251" y="5134667"/>
            <a:ext cx="840105" cy="266065"/>
          </a:xfrm>
          <a:custGeom>
            <a:avLst/>
            <a:gdLst/>
            <a:ahLst/>
            <a:cxnLst/>
            <a:rect l="l" t="t" r="r" b="b"/>
            <a:pathLst>
              <a:path w="840104" h="266064">
                <a:moveTo>
                  <a:pt x="753431" y="27505"/>
                </a:moveTo>
                <a:lnTo>
                  <a:pt x="4423" y="238438"/>
                </a:lnTo>
                <a:lnTo>
                  <a:pt x="0" y="246330"/>
                </a:lnTo>
                <a:lnTo>
                  <a:pt x="4278" y="261520"/>
                </a:lnTo>
                <a:lnTo>
                  <a:pt x="12169" y="265944"/>
                </a:lnTo>
                <a:lnTo>
                  <a:pt x="761177" y="55009"/>
                </a:lnTo>
                <a:lnTo>
                  <a:pt x="753431" y="27505"/>
                </a:lnTo>
                <a:close/>
              </a:path>
              <a:path w="840104" h="266064">
                <a:moveTo>
                  <a:pt x="836001" y="21493"/>
                </a:moveTo>
                <a:lnTo>
                  <a:pt x="774778" y="21493"/>
                </a:lnTo>
                <a:lnTo>
                  <a:pt x="782670" y="25915"/>
                </a:lnTo>
                <a:lnTo>
                  <a:pt x="786947" y="41107"/>
                </a:lnTo>
                <a:lnTo>
                  <a:pt x="782525" y="48997"/>
                </a:lnTo>
                <a:lnTo>
                  <a:pt x="761177" y="55009"/>
                </a:lnTo>
                <a:lnTo>
                  <a:pt x="768924" y="82515"/>
                </a:lnTo>
                <a:lnTo>
                  <a:pt x="836001" y="21493"/>
                </a:lnTo>
                <a:close/>
              </a:path>
              <a:path w="840104" h="266064">
                <a:moveTo>
                  <a:pt x="774778" y="21493"/>
                </a:moveTo>
                <a:lnTo>
                  <a:pt x="753431" y="27505"/>
                </a:lnTo>
                <a:lnTo>
                  <a:pt x="761177" y="55009"/>
                </a:lnTo>
                <a:lnTo>
                  <a:pt x="782525" y="48997"/>
                </a:lnTo>
                <a:lnTo>
                  <a:pt x="786947" y="41107"/>
                </a:lnTo>
                <a:lnTo>
                  <a:pt x="782670" y="25915"/>
                </a:lnTo>
                <a:lnTo>
                  <a:pt x="774778" y="21493"/>
                </a:lnTo>
                <a:close/>
              </a:path>
              <a:path w="840104" h="266064">
                <a:moveTo>
                  <a:pt x="745685" y="0"/>
                </a:moveTo>
                <a:lnTo>
                  <a:pt x="753431" y="27505"/>
                </a:lnTo>
                <a:lnTo>
                  <a:pt x="774778" y="21493"/>
                </a:lnTo>
                <a:lnTo>
                  <a:pt x="836001" y="21493"/>
                </a:lnTo>
                <a:lnTo>
                  <a:pt x="839819" y="18020"/>
                </a:lnTo>
                <a:lnTo>
                  <a:pt x="74568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44002" y="5108955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𝐡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1677" y="4935220"/>
            <a:ext cx="1606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𝐭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55692" y="5216366"/>
            <a:ext cx="814705" cy="266700"/>
          </a:xfrm>
          <a:custGeom>
            <a:avLst/>
            <a:gdLst/>
            <a:ahLst/>
            <a:cxnLst/>
            <a:rect l="l" t="t" r="r" b="b"/>
            <a:pathLst>
              <a:path w="814704" h="266700">
                <a:moveTo>
                  <a:pt x="70280" y="183903"/>
                </a:moveTo>
                <a:lnTo>
                  <a:pt x="0" y="249071"/>
                </a:lnTo>
                <a:lnTo>
                  <a:pt x="94301" y="266194"/>
                </a:lnTo>
                <a:lnTo>
                  <a:pt x="88108" y="244979"/>
                </a:lnTo>
                <a:lnTo>
                  <a:pt x="65004" y="244979"/>
                </a:lnTo>
                <a:lnTo>
                  <a:pt x="57071" y="240630"/>
                </a:lnTo>
                <a:lnTo>
                  <a:pt x="52649" y="225482"/>
                </a:lnTo>
                <a:lnTo>
                  <a:pt x="56997" y="217549"/>
                </a:lnTo>
                <a:lnTo>
                  <a:pt x="78287" y="211335"/>
                </a:lnTo>
                <a:lnTo>
                  <a:pt x="70280" y="183903"/>
                </a:lnTo>
                <a:close/>
              </a:path>
              <a:path w="814704" h="266700">
                <a:moveTo>
                  <a:pt x="78287" y="211335"/>
                </a:moveTo>
                <a:lnTo>
                  <a:pt x="56997" y="217549"/>
                </a:lnTo>
                <a:lnTo>
                  <a:pt x="52649" y="225482"/>
                </a:lnTo>
                <a:lnTo>
                  <a:pt x="57071" y="240630"/>
                </a:lnTo>
                <a:lnTo>
                  <a:pt x="65004" y="244979"/>
                </a:lnTo>
                <a:lnTo>
                  <a:pt x="86294" y="238764"/>
                </a:lnTo>
                <a:lnTo>
                  <a:pt x="78287" y="211335"/>
                </a:lnTo>
                <a:close/>
              </a:path>
              <a:path w="814704" h="266700">
                <a:moveTo>
                  <a:pt x="86294" y="238764"/>
                </a:moveTo>
                <a:lnTo>
                  <a:pt x="65004" y="244979"/>
                </a:lnTo>
                <a:lnTo>
                  <a:pt x="88108" y="244979"/>
                </a:lnTo>
                <a:lnTo>
                  <a:pt x="86294" y="238764"/>
                </a:lnTo>
                <a:close/>
              </a:path>
              <a:path w="814704" h="266700">
                <a:moveTo>
                  <a:pt x="802274" y="0"/>
                </a:moveTo>
                <a:lnTo>
                  <a:pt x="78287" y="211335"/>
                </a:lnTo>
                <a:lnTo>
                  <a:pt x="86294" y="238764"/>
                </a:lnTo>
                <a:lnTo>
                  <a:pt x="810280" y="27429"/>
                </a:lnTo>
                <a:lnTo>
                  <a:pt x="814628" y="19497"/>
                </a:lnTo>
                <a:lnTo>
                  <a:pt x="810206" y="4347"/>
                </a:lnTo>
                <a:lnTo>
                  <a:pt x="80227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289896" y="4651755"/>
            <a:ext cx="431165" cy="108648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sz="2800" spc="-110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165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baseline="-16666" sz="3000">
              <a:latin typeface="Cambria Math"/>
              <a:cs typeface="Cambria Math"/>
            </a:endParaRPr>
          </a:p>
          <a:p>
            <a:pPr marL="124460">
              <a:lnSpc>
                <a:spcPct val="100000"/>
              </a:lnSpc>
              <a:spcBef>
                <a:spcPts val="815"/>
              </a:spcBef>
            </a:pPr>
            <a:r>
              <a:rPr dirty="0" sz="2800" spc="-220">
                <a:solidFill>
                  <a:srgbClr val="479249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>
                <a:solidFill>
                  <a:srgbClr val="479249"/>
                </a:solidFill>
                <a:latin typeface="Cambria Math"/>
                <a:cs typeface="Cambria Math"/>
              </a:rPr>
              <a:t>𝟐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4254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312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Composition </a:t>
            </a:r>
            <a:r>
              <a:rPr dirty="0" spc="-25">
                <a:solidFill>
                  <a:srgbClr val="0000FF"/>
                </a:solidFill>
              </a:rPr>
              <a:t>(Transitive)</a:t>
            </a:r>
            <a:r>
              <a:rPr dirty="0" spc="-2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</p:txBody>
      </p:sp>
      <p:sp>
        <p:nvSpPr>
          <p:cNvPr id="4" name="object 4"/>
          <p:cNvSpPr/>
          <p:nvPr/>
        </p:nvSpPr>
        <p:spPr>
          <a:xfrm>
            <a:off x="1710975" y="1946172"/>
            <a:ext cx="880110" cy="376555"/>
          </a:xfrm>
          <a:custGeom>
            <a:avLst/>
            <a:gdLst/>
            <a:ahLst/>
            <a:cxnLst/>
            <a:rect l="l" t="t" r="r" b="b"/>
            <a:pathLst>
              <a:path w="880110" h="376555">
                <a:moveTo>
                  <a:pt x="759880" y="0"/>
                </a:moveTo>
                <a:lnTo>
                  <a:pt x="754522" y="15279"/>
                </a:lnTo>
                <a:lnTo>
                  <a:pt x="776313" y="24736"/>
                </a:lnTo>
                <a:lnTo>
                  <a:pt x="795053" y="37826"/>
                </a:lnTo>
                <a:lnTo>
                  <a:pt x="823380" y="74909"/>
                </a:lnTo>
                <a:lnTo>
                  <a:pt x="840049" y="124940"/>
                </a:lnTo>
                <a:lnTo>
                  <a:pt x="845605" y="186331"/>
                </a:lnTo>
                <a:lnTo>
                  <a:pt x="844210" y="219533"/>
                </a:lnTo>
                <a:lnTo>
                  <a:pt x="833048" y="276782"/>
                </a:lnTo>
                <a:lnTo>
                  <a:pt x="810649" y="321493"/>
                </a:lnTo>
                <a:lnTo>
                  <a:pt x="776567" y="351655"/>
                </a:lnTo>
                <a:lnTo>
                  <a:pt x="755117" y="361156"/>
                </a:lnTo>
                <a:lnTo>
                  <a:pt x="759880" y="376435"/>
                </a:lnTo>
                <a:lnTo>
                  <a:pt x="811225" y="352349"/>
                </a:lnTo>
                <a:lnTo>
                  <a:pt x="848978" y="310653"/>
                </a:lnTo>
                <a:lnTo>
                  <a:pt x="872195" y="254818"/>
                </a:lnTo>
                <a:lnTo>
                  <a:pt x="879934" y="188316"/>
                </a:lnTo>
                <a:lnTo>
                  <a:pt x="877993" y="153807"/>
                </a:lnTo>
                <a:lnTo>
                  <a:pt x="862466" y="92638"/>
                </a:lnTo>
                <a:lnTo>
                  <a:pt x="831671" y="42843"/>
                </a:lnTo>
                <a:lnTo>
                  <a:pt x="787171" y="9853"/>
                </a:lnTo>
                <a:lnTo>
                  <a:pt x="759880" y="0"/>
                </a:lnTo>
                <a:close/>
              </a:path>
              <a:path w="880110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20014" y="1946172"/>
            <a:ext cx="855980" cy="376555"/>
          </a:xfrm>
          <a:custGeom>
            <a:avLst/>
            <a:gdLst/>
            <a:ahLst/>
            <a:cxnLst/>
            <a:rect l="l" t="t" r="r" b="b"/>
            <a:pathLst>
              <a:path w="855979" h="376555">
                <a:moveTo>
                  <a:pt x="735432" y="0"/>
                </a:moveTo>
                <a:lnTo>
                  <a:pt x="730074" y="15279"/>
                </a:lnTo>
                <a:lnTo>
                  <a:pt x="751865" y="24736"/>
                </a:lnTo>
                <a:lnTo>
                  <a:pt x="770605" y="37826"/>
                </a:lnTo>
                <a:lnTo>
                  <a:pt x="798932" y="74909"/>
                </a:lnTo>
                <a:lnTo>
                  <a:pt x="815601" y="124940"/>
                </a:lnTo>
                <a:lnTo>
                  <a:pt x="821157" y="186331"/>
                </a:lnTo>
                <a:lnTo>
                  <a:pt x="819762" y="219533"/>
                </a:lnTo>
                <a:lnTo>
                  <a:pt x="808600" y="276782"/>
                </a:lnTo>
                <a:lnTo>
                  <a:pt x="786201" y="321493"/>
                </a:lnTo>
                <a:lnTo>
                  <a:pt x="752119" y="351655"/>
                </a:lnTo>
                <a:lnTo>
                  <a:pt x="730670" y="361156"/>
                </a:lnTo>
                <a:lnTo>
                  <a:pt x="735432" y="376435"/>
                </a:lnTo>
                <a:lnTo>
                  <a:pt x="786778" y="352349"/>
                </a:lnTo>
                <a:lnTo>
                  <a:pt x="824530" y="310653"/>
                </a:lnTo>
                <a:lnTo>
                  <a:pt x="847748" y="254818"/>
                </a:lnTo>
                <a:lnTo>
                  <a:pt x="855487" y="188316"/>
                </a:lnTo>
                <a:lnTo>
                  <a:pt x="853546" y="153807"/>
                </a:lnTo>
                <a:lnTo>
                  <a:pt x="838018" y="92638"/>
                </a:lnTo>
                <a:lnTo>
                  <a:pt x="807223" y="42843"/>
                </a:lnTo>
                <a:lnTo>
                  <a:pt x="762724" y="9853"/>
                </a:lnTo>
                <a:lnTo>
                  <a:pt x="735432" y="0"/>
                </a:lnTo>
                <a:close/>
              </a:path>
              <a:path w="85597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62530" y="1946172"/>
            <a:ext cx="850265" cy="376555"/>
          </a:xfrm>
          <a:custGeom>
            <a:avLst/>
            <a:gdLst/>
            <a:ahLst/>
            <a:cxnLst/>
            <a:rect l="l" t="t" r="r" b="b"/>
            <a:pathLst>
              <a:path w="850264" h="376555">
                <a:moveTo>
                  <a:pt x="729717" y="0"/>
                </a:moveTo>
                <a:lnTo>
                  <a:pt x="724359" y="15279"/>
                </a:lnTo>
                <a:lnTo>
                  <a:pt x="746150" y="24736"/>
                </a:lnTo>
                <a:lnTo>
                  <a:pt x="764890" y="37826"/>
                </a:lnTo>
                <a:lnTo>
                  <a:pt x="793217" y="74909"/>
                </a:lnTo>
                <a:lnTo>
                  <a:pt x="809886" y="124940"/>
                </a:lnTo>
                <a:lnTo>
                  <a:pt x="815442" y="186331"/>
                </a:lnTo>
                <a:lnTo>
                  <a:pt x="814047" y="219533"/>
                </a:lnTo>
                <a:lnTo>
                  <a:pt x="802885" y="276782"/>
                </a:lnTo>
                <a:lnTo>
                  <a:pt x="780486" y="321493"/>
                </a:lnTo>
                <a:lnTo>
                  <a:pt x="746404" y="351655"/>
                </a:lnTo>
                <a:lnTo>
                  <a:pt x="724955" y="361156"/>
                </a:lnTo>
                <a:lnTo>
                  <a:pt x="729717" y="376435"/>
                </a:lnTo>
                <a:lnTo>
                  <a:pt x="781063" y="352349"/>
                </a:lnTo>
                <a:lnTo>
                  <a:pt x="818815" y="310653"/>
                </a:lnTo>
                <a:lnTo>
                  <a:pt x="842033" y="254818"/>
                </a:lnTo>
                <a:lnTo>
                  <a:pt x="849772" y="188316"/>
                </a:lnTo>
                <a:lnTo>
                  <a:pt x="847831" y="153807"/>
                </a:lnTo>
                <a:lnTo>
                  <a:pt x="832303" y="92638"/>
                </a:lnTo>
                <a:lnTo>
                  <a:pt x="801508" y="42843"/>
                </a:lnTo>
                <a:lnTo>
                  <a:pt x="757008" y="9853"/>
                </a:lnTo>
                <a:lnTo>
                  <a:pt x="729717" y="0"/>
                </a:lnTo>
                <a:close/>
              </a:path>
              <a:path w="85026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34579" y="1830324"/>
            <a:ext cx="465074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9270" algn="l"/>
                <a:tab pos="1381760" algn="l"/>
                <a:tab pos="2218055" algn="l"/>
                <a:tab pos="3089275" algn="l"/>
                <a:tab pos="4060825" algn="l"/>
              </a:tabLst>
            </a:pPr>
            <a:r>
              <a:rPr dirty="0" sz="3200">
                <a:solidFill>
                  <a:srgbClr val="D9253E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>
                <a:solidFill>
                  <a:srgbClr val="D9253E"/>
                </a:solidFill>
                <a:latin typeface="Cambria Math"/>
                <a:cs typeface="Cambria Math"/>
              </a:rPr>
              <a:t>"	</a:t>
            </a:r>
            <a:r>
              <a:rPr dirty="0" sz="3200" spc="35">
                <a:latin typeface="Cambria Math"/>
                <a:cs typeface="Cambria Math"/>
              </a:rPr>
              <a:t>𝑥,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𝑦	∧</a:t>
            </a:r>
            <a:r>
              <a:rPr dirty="0" sz="3200" spc="0">
                <a:latin typeface="Cambria Math"/>
                <a:cs typeface="Cambria Math"/>
              </a:rPr>
              <a:t> </a:t>
            </a:r>
            <a:r>
              <a:rPr dirty="0" sz="3200" spc="-225">
                <a:solidFill>
                  <a:srgbClr val="E88651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337">
                <a:solidFill>
                  <a:srgbClr val="E88651"/>
                </a:solidFill>
                <a:latin typeface="Cambria Math"/>
                <a:cs typeface="Cambria Math"/>
              </a:rPr>
              <a:t>#	</a:t>
            </a:r>
            <a:r>
              <a:rPr dirty="0" sz="3200" spc="25">
                <a:latin typeface="Cambria Math"/>
                <a:cs typeface="Cambria Math"/>
              </a:rPr>
              <a:t>𝑦,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𝑧	⇒</a:t>
            </a:r>
            <a:r>
              <a:rPr dirty="0" sz="3200" spc="180">
                <a:latin typeface="Cambria Math"/>
                <a:cs typeface="Cambria Math"/>
              </a:rPr>
              <a:t> </a:t>
            </a:r>
            <a:r>
              <a:rPr dirty="0" sz="3200" spc="-75">
                <a:solidFill>
                  <a:srgbClr val="0000FF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112">
                <a:solidFill>
                  <a:srgbClr val="0000FF"/>
                </a:solidFill>
                <a:latin typeface="Cambria Math"/>
                <a:cs typeface="Cambria Math"/>
              </a:rPr>
              <a:t>/	</a:t>
            </a:r>
            <a:r>
              <a:rPr dirty="0" sz="3200" spc="35">
                <a:latin typeface="Cambria Math"/>
                <a:cs typeface="Cambria Math"/>
              </a:rPr>
              <a:t>𝑥,</a:t>
            </a:r>
            <a:r>
              <a:rPr dirty="0" sz="3200" spc="-254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𝑧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2006" y="1830324"/>
            <a:ext cx="12439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25">
                <a:latin typeface="Cambria Math"/>
                <a:cs typeface="Cambria Math"/>
              </a:rPr>
              <a:t>∀𝑥, 𝑦,</a:t>
            </a:r>
            <a:r>
              <a:rPr dirty="0" sz="3200" spc="-44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𝑧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50680" y="4347635"/>
            <a:ext cx="12065" cy="1699895"/>
          </a:xfrm>
          <a:custGeom>
            <a:avLst/>
            <a:gdLst/>
            <a:ahLst/>
            <a:cxnLst/>
            <a:rect l="l" t="t" r="r" b="b"/>
            <a:pathLst>
              <a:path w="12064" h="1699895">
                <a:moveTo>
                  <a:pt x="0" y="0"/>
                </a:moveTo>
                <a:lnTo>
                  <a:pt x="11570" y="169976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43200" y="6011628"/>
            <a:ext cx="4267200" cy="34925"/>
          </a:xfrm>
          <a:custGeom>
            <a:avLst/>
            <a:gdLst/>
            <a:ahLst/>
            <a:cxnLst/>
            <a:rect l="l" t="t" r="r" b="b"/>
            <a:pathLst>
              <a:path w="4267200" h="34925">
                <a:moveTo>
                  <a:pt x="4267200" y="0"/>
                </a:moveTo>
                <a:lnTo>
                  <a:pt x="0" y="34438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95148" y="5442456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80766" y="5428075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1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9"/>
                </a:lnTo>
                <a:lnTo>
                  <a:pt x="40420" y="82763"/>
                </a:lnTo>
                <a:lnTo>
                  <a:pt x="42341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2"/>
                </a:lnTo>
                <a:lnTo>
                  <a:pt x="24347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7" y="24348"/>
                </a:lnTo>
                <a:lnTo>
                  <a:pt x="31996" y="19190"/>
                </a:lnTo>
                <a:lnTo>
                  <a:pt x="41381" y="17297"/>
                </a:lnTo>
                <a:lnTo>
                  <a:pt x="74338" y="17297"/>
                </a:lnTo>
                <a:lnTo>
                  <a:pt x="71292" y="12780"/>
                </a:lnTo>
                <a:lnTo>
                  <a:pt x="69982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1" y="0"/>
                </a:lnTo>
                <a:close/>
              </a:path>
              <a:path w="83185" h="83185">
                <a:moveTo>
                  <a:pt x="74338" y="17297"/>
                </a:moveTo>
                <a:lnTo>
                  <a:pt x="41381" y="17297"/>
                </a:lnTo>
                <a:lnTo>
                  <a:pt x="50765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5" y="63572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1" y="58414"/>
                </a:lnTo>
                <a:lnTo>
                  <a:pt x="79208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08" y="24568"/>
                </a:lnTo>
                <a:lnTo>
                  <a:pt x="79091" y="24348"/>
                </a:lnTo>
                <a:lnTo>
                  <a:pt x="74338" y="17297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6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6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0" y="32581"/>
                </a:lnTo>
                <a:lnTo>
                  <a:pt x="52819" y="36494"/>
                </a:lnTo>
                <a:lnTo>
                  <a:pt x="53804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66036" y="471866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51654" y="4704285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7" y="63572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7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8" y="3605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6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4" y="58414"/>
                </a:lnTo>
                <a:lnTo>
                  <a:pt x="79210" y="58196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8" y="54298"/>
                </a:lnTo>
                <a:lnTo>
                  <a:pt x="54631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3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3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1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05933" y="4764759"/>
            <a:ext cx="968375" cy="694055"/>
          </a:xfrm>
          <a:custGeom>
            <a:avLst/>
            <a:gdLst/>
            <a:ahLst/>
            <a:cxnLst/>
            <a:rect l="l" t="t" r="r" b="b"/>
            <a:pathLst>
              <a:path w="968375" h="694054">
                <a:moveTo>
                  <a:pt x="889892" y="38083"/>
                </a:moveTo>
                <a:lnTo>
                  <a:pt x="1499" y="670636"/>
                </a:lnTo>
                <a:lnTo>
                  <a:pt x="0" y="679556"/>
                </a:lnTo>
                <a:lnTo>
                  <a:pt x="9152" y="692412"/>
                </a:lnTo>
                <a:lnTo>
                  <a:pt x="18073" y="693912"/>
                </a:lnTo>
                <a:lnTo>
                  <a:pt x="906466" y="61360"/>
                </a:lnTo>
                <a:lnTo>
                  <a:pt x="889892" y="38083"/>
                </a:lnTo>
                <a:close/>
              </a:path>
              <a:path w="968375" h="694054">
                <a:moveTo>
                  <a:pt x="954610" y="25219"/>
                </a:moveTo>
                <a:lnTo>
                  <a:pt x="907958" y="25219"/>
                </a:lnTo>
                <a:lnTo>
                  <a:pt x="916879" y="26720"/>
                </a:lnTo>
                <a:lnTo>
                  <a:pt x="926033" y="39575"/>
                </a:lnTo>
                <a:lnTo>
                  <a:pt x="924532" y="48497"/>
                </a:lnTo>
                <a:lnTo>
                  <a:pt x="906466" y="61360"/>
                </a:lnTo>
                <a:lnTo>
                  <a:pt x="923039" y="84637"/>
                </a:lnTo>
                <a:lnTo>
                  <a:pt x="954610" y="25219"/>
                </a:lnTo>
                <a:close/>
              </a:path>
              <a:path w="968375" h="694054">
                <a:moveTo>
                  <a:pt x="907958" y="25219"/>
                </a:moveTo>
                <a:lnTo>
                  <a:pt x="889892" y="38083"/>
                </a:lnTo>
                <a:lnTo>
                  <a:pt x="906466" y="61360"/>
                </a:lnTo>
                <a:lnTo>
                  <a:pt x="924532" y="48497"/>
                </a:lnTo>
                <a:lnTo>
                  <a:pt x="926033" y="39575"/>
                </a:lnTo>
                <a:lnTo>
                  <a:pt x="916879" y="26720"/>
                </a:lnTo>
                <a:lnTo>
                  <a:pt x="907958" y="25219"/>
                </a:lnTo>
                <a:close/>
              </a:path>
              <a:path w="968375" h="694054">
                <a:moveTo>
                  <a:pt x="968010" y="0"/>
                </a:moveTo>
                <a:lnTo>
                  <a:pt x="873318" y="14805"/>
                </a:lnTo>
                <a:lnTo>
                  <a:pt x="889892" y="38083"/>
                </a:lnTo>
                <a:lnTo>
                  <a:pt x="907958" y="25219"/>
                </a:lnTo>
                <a:lnTo>
                  <a:pt x="954610" y="25219"/>
                </a:lnTo>
                <a:lnTo>
                  <a:pt x="96801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972008" y="5124195"/>
            <a:ext cx="2127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𝐱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3124" y="4624323"/>
            <a:ext cx="3060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85">
                <a:solidFill>
                  <a:srgbClr val="D9253E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487">
                <a:solidFill>
                  <a:srgbClr val="D9253E"/>
                </a:solidFill>
                <a:latin typeface="Cambria Math"/>
                <a:cs typeface="Cambria Math"/>
              </a:rPr>
              <a:t>(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88231" y="52924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09" y="51877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73850" y="5278113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0"/>
                </a:lnTo>
                <a:lnTo>
                  <a:pt x="0" y="40420"/>
                </a:lnTo>
                <a:lnTo>
                  <a:pt x="0" y="42341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5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7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7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5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3"/>
                </a:lnTo>
                <a:lnTo>
                  <a:pt x="82763" y="42341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6"/>
                </a:lnTo>
                <a:lnTo>
                  <a:pt x="79093" y="24347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4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6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4"/>
                </a:lnTo>
                <a:lnTo>
                  <a:pt x="41381" y="53804"/>
                </a:lnTo>
                <a:lnTo>
                  <a:pt x="36494" y="52819"/>
                </a:lnTo>
                <a:lnTo>
                  <a:pt x="32581" y="50180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0"/>
                </a:lnTo>
                <a:lnTo>
                  <a:pt x="46268" y="52819"/>
                </a:lnTo>
                <a:lnTo>
                  <a:pt x="41381" y="53804"/>
                </a:lnTo>
                <a:lnTo>
                  <a:pt x="54629" y="53804"/>
                </a:lnTo>
                <a:lnTo>
                  <a:pt x="58195" y="48516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303743" y="4729376"/>
            <a:ext cx="892810" cy="571500"/>
          </a:xfrm>
          <a:custGeom>
            <a:avLst/>
            <a:gdLst/>
            <a:ahLst/>
            <a:cxnLst/>
            <a:rect l="l" t="t" r="r" b="b"/>
            <a:pathLst>
              <a:path w="892810" h="571500">
                <a:moveTo>
                  <a:pt x="812326" y="537239"/>
                </a:moveTo>
                <a:lnTo>
                  <a:pt x="797040" y="561380"/>
                </a:lnTo>
                <a:lnTo>
                  <a:pt x="892397" y="571027"/>
                </a:lnTo>
                <a:lnTo>
                  <a:pt x="879174" y="549103"/>
                </a:lnTo>
                <a:lnTo>
                  <a:pt x="831063" y="549103"/>
                </a:lnTo>
                <a:lnTo>
                  <a:pt x="812326" y="537239"/>
                </a:lnTo>
                <a:close/>
              </a:path>
              <a:path w="892810" h="571500">
                <a:moveTo>
                  <a:pt x="827612" y="513096"/>
                </a:moveTo>
                <a:lnTo>
                  <a:pt x="812326" y="537239"/>
                </a:lnTo>
                <a:lnTo>
                  <a:pt x="831063" y="549103"/>
                </a:lnTo>
                <a:lnTo>
                  <a:pt x="839890" y="547121"/>
                </a:lnTo>
                <a:lnTo>
                  <a:pt x="848333" y="533787"/>
                </a:lnTo>
                <a:lnTo>
                  <a:pt x="846350" y="524960"/>
                </a:lnTo>
                <a:lnTo>
                  <a:pt x="827612" y="513096"/>
                </a:lnTo>
                <a:close/>
              </a:path>
              <a:path w="892810" h="571500">
                <a:moveTo>
                  <a:pt x="842899" y="488953"/>
                </a:moveTo>
                <a:lnTo>
                  <a:pt x="827612" y="513096"/>
                </a:lnTo>
                <a:lnTo>
                  <a:pt x="846350" y="524960"/>
                </a:lnTo>
                <a:lnTo>
                  <a:pt x="848333" y="533787"/>
                </a:lnTo>
                <a:lnTo>
                  <a:pt x="839890" y="547121"/>
                </a:lnTo>
                <a:lnTo>
                  <a:pt x="831063" y="549103"/>
                </a:lnTo>
                <a:lnTo>
                  <a:pt x="879174" y="549103"/>
                </a:lnTo>
                <a:lnTo>
                  <a:pt x="842899" y="488953"/>
                </a:lnTo>
                <a:close/>
              </a:path>
              <a:path w="892810" h="571500">
                <a:moveTo>
                  <a:pt x="17269" y="0"/>
                </a:moveTo>
                <a:lnTo>
                  <a:pt x="8442" y="1982"/>
                </a:lnTo>
                <a:lnTo>
                  <a:pt x="0" y="15314"/>
                </a:lnTo>
                <a:lnTo>
                  <a:pt x="1982" y="24141"/>
                </a:lnTo>
                <a:lnTo>
                  <a:pt x="812326" y="537239"/>
                </a:lnTo>
                <a:lnTo>
                  <a:pt x="827612" y="513096"/>
                </a:lnTo>
                <a:lnTo>
                  <a:pt x="17269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751270" y="4535932"/>
            <a:ext cx="3143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20">
                <a:solidFill>
                  <a:srgbClr val="E88651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60">
                <a:solidFill>
                  <a:srgbClr val="E88651"/>
                </a:solidFill>
                <a:latin typeface="Cambria Math"/>
                <a:cs typeface="Cambria Math"/>
              </a:rPr>
              <a:t>7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33988" y="5319267"/>
            <a:ext cx="194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𝐫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75402" y="5494020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>
                <a:solidFill>
                  <a:srgbClr val="0000FF"/>
                </a:solidFill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26292" y="5284625"/>
            <a:ext cx="1862455" cy="219075"/>
          </a:xfrm>
          <a:custGeom>
            <a:avLst/>
            <a:gdLst/>
            <a:ahLst/>
            <a:cxnLst/>
            <a:rect l="l" t="t" r="r" b="b"/>
            <a:pathLst>
              <a:path w="1862454" h="219075">
                <a:moveTo>
                  <a:pt x="1775269" y="28455"/>
                </a:moveTo>
                <a:lnTo>
                  <a:pt x="5787" y="190414"/>
                </a:lnTo>
                <a:lnTo>
                  <a:pt x="0" y="197368"/>
                </a:lnTo>
                <a:lnTo>
                  <a:pt x="1438" y="213084"/>
                </a:lnTo>
                <a:lnTo>
                  <a:pt x="8392" y="218871"/>
                </a:lnTo>
                <a:lnTo>
                  <a:pt x="1777873" y="56912"/>
                </a:lnTo>
                <a:lnTo>
                  <a:pt x="1775269" y="28455"/>
                </a:lnTo>
                <a:close/>
              </a:path>
              <a:path w="1862454" h="219075">
                <a:moveTo>
                  <a:pt x="1840340" y="26433"/>
                </a:moveTo>
                <a:lnTo>
                  <a:pt x="1797354" y="26433"/>
                </a:lnTo>
                <a:lnTo>
                  <a:pt x="1804306" y="32221"/>
                </a:lnTo>
                <a:lnTo>
                  <a:pt x="1805745" y="47937"/>
                </a:lnTo>
                <a:lnTo>
                  <a:pt x="1799958" y="54890"/>
                </a:lnTo>
                <a:lnTo>
                  <a:pt x="1777873" y="56912"/>
                </a:lnTo>
                <a:lnTo>
                  <a:pt x="1780477" y="85368"/>
                </a:lnTo>
                <a:lnTo>
                  <a:pt x="1861939" y="34870"/>
                </a:lnTo>
                <a:lnTo>
                  <a:pt x="1840340" y="26433"/>
                </a:lnTo>
                <a:close/>
              </a:path>
              <a:path w="1862454" h="219075">
                <a:moveTo>
                  <a:pt x="1797354" y="26433"/>
                </a:moveTo>
                <a:lnTo>
                  <a:pt x="1775269" y="28455"/>
                </a:lnTo>
                <a:lnTo>
                  <a:pt x="1777873" y="56912"/>
                </a:lnTo>
                <a:lnTo>
                  <a:pt x="1799958" y="54890"/>
                </a:lnTo>
                <a:lnTo>
                  <a:pt x="1805745" y="47937"/>
                </a:lnTo>
                <a:lnTo>
                  <a:pt x="1804306" y="32221"/>
                </a:lnTo>
                <a:lnTo>
                  <a:pt x="1797354" y="26433"/>
                </a:lnTo>
                <a:close/>
              </a:path>
              <a:path w="1862454" h="219075">
                <a:moveTo>
                  <a:pt x="1772664" y="0"/>
                </a:moveTo>
                <a:lnTo>
                  <a:pt x="1775269" y="28455"/>
                </a:lnTo>
                <a:lnTo>
                  <a:pt x="1797354" y="26433"/>
                </a:lnTo>
                <a:lnTo>
                  <a:pt x="1840340" y="26433"/>
                </a:lnTo>
                <a:lnTo>
                  <a:pt x="177266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18108" y="2414523"/>
            <a:ext cx="7242809" cy="2253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>
                <a:latin typeface="Calibri"/>
                <a:cs typeface="Calibri"/>
              </a:rPr>
              <a:t>My </a:t>
            </a:r>
            <a:r>
              <a:rPr dirty="0" sz="2800" spc="-10">
                <a:latin typeface="Calibri"/>
                <a:cs typeface="Calibri"/>
              </a:rPr>
              <a:t>mother’s </a:t>
            </a:r>
            <a:r>
              <a:rPr dirty="0" sz="2800" spc="-5">
                <a:latin typeface="Calibri"/>
                <a:cs typeface="Calibri"/>
              </a:rPr>
              <a:t>husband is </a:t>
            </a:r>
            <a:r>
              <a:rPr dirty="0" sz="2800" spc="-30">
                <a:latin typeface="Calibri"/>
                <a:cs typeface="Calibri"/>
              </a:rPr>
              <a:t>my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father.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composition</a:t>
            </a:r>
            <a:r>
              <a:rPr dirty="0" sz="3200" spc="85">
                <a:latin typeface="Calibri"/>
                <a:cs typeface="Calibri"/>
              </a:rPr>
              <a:t> </a:t>
            </a:r>
            <a:r>
              <a:rPr dirty="0" sz="3200" spc="55">
                <a:latin typeface="Calibri"/>
                <a:cs typeface="Calibri"/>
              </a:rPr>
              <a:t>relations</a:t>
            </a:r>
            <a:r>
              <a:rPr dirty="0" sz="3200" spc="5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marL="2849245">
              <a:lnSpc>
                <a:spcPct val="100000"/>
              </a:lnSpc>
              <a:spcBef>
                <a:spcPts val="70"/>
              </a:spcBef>
            </a:pPr>
            <a:r>
              <a:rPr dirty="0" sz="3200" spc="-30">
                <a:solidFill>
                  <a:srgbClr val="0000FF"/>
                </a:solidFill>
                <a:latin typeface="Cambria Math"/>
                <a:cs typeface="Cambria Math"/>
              </a:rPr>
              <a:t>𝐫</a:t>
            </a:r>
            <a:r>
              <a:rPr dirty="0" baseline="-15700" sz="3450" spc="-44">
                <a:solidFill>
                  <a:srgbClr val="0000FF"/>
                </a:solidFill>
                <a:latin typeface="Cambria Math"/>
                <a:cs typeface="Cambria Math"/>
              </a:rPr>
              <a:t>/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40">
                <a:solidFill>
                  <a:srgbClr val="D9253E"/>
                </a:solidFill>
                <a:latin typeface="Cambria Math"/>
                <a:cs typeface="Cambria Math"/>
              </a:rPr>
              <a:t>𝐫</a:t>
            </a:r>
            <a:r>
              <a:rPr dirty="0" baseline="-15700" sz="3450" spc="60">
                <a:solidFill>
                  <a:srgbClr val="D9253E"/>
                </a:solidFill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+</a:t>
            </a:r>
            <a:r>
              <a:rPr dirty="0" sz="3200" spc="-45">
                <a:latin typeface="Cambria Math"/>
                <a:cs typeface="Cambria Math"/>
              </a:rPr>
              <a:t> </a:t>
            </a:r>
            <a:r>
              <a:rPr dirty="0" sz="3200" spc="-175">
                <a:solidFill>
                  <a:srgbClr val="E88651"/>
                </a:solidFill>
                <a:latin typeface="Cambria Math"/>
                <a:cs typeface="Cambria Math"/>
              </a:rPr>
              <a:t>𝐫</a:t>
            </a:r>
            <a:r>
              <a:rPr dirty="0" baseline="-15700" sz="3450" spc="-262">
                <a:solidFill>
                  <a:srgbClr val="E88651"/>
                </a:solidFill>
                <a:latin typeface="Cambria Math"/>
                <a:cs typeface="Cambria Math"/>
              </a:rPr>
              <a:t>#</a:t>
            </a:r>
            <a:endParaRPr baseline="-15700" sz="3450">
              <a:latin typeface="Cambria Math"/>
              <a:cs typeface="Cambria Math"/>
            </a:endParaRPr>
          </a:p>
          <a:p>
            <a:pPr algn="ctr" marL="160020">
              <a:lnSpc>
                <a:spcPct val="100000"/>
              </a:lnSpc>
              <a:spcBef>
                <a:spcPts val="3130"/>
              </a:spcBef>
            </a:pPr>
            <a:r>
              <a:rPr dirty="0" sz="2800">
                <a:latin typeface="Cambria Math"/>
                <a:cs typeface="Cambria Math"/>
              </a:rPr>
              <a:t>𝐲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5410868" y="5002276"/>
            <a:ext cx="2012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𝐳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9369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0097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82750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0072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Symmetric</a:t>
            </a:r>
            <a:r>
              <a:rPr dirty="0" spc="-10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1953260">
              <a:lnSpc>
                <a:spcPts val="3815"/>
              </a:lnSpc>
              <a:tabLst>
                <a:tab pos="2324735" algn="l"/>
                <a:tab pos="3160395" algn="l"/>
                <a:tab pos="3997325" algn="l"/>
                <a:tab pos="4987290" algn="l"/>
              </a:tabLst>
            </a:pPr>
            <a:r>
              <a:rPr dirty="0" b="0">
                <a:solidFill>
                  <a:srgbClr val="C00000"/>
                </a:solidFill>
                <a:latin typeface="Cambria Math"/>
                <a:cs typeface="Cambria Math"/>
              </a:rPr>
              <a:t>𝑟	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	⇒</a:t>
            </a:r>
            <a:r>
              <a:rPr dirty="0" spc="1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C00000"/>
                </a:solidFill>
                <a:latin typeface="Cambria Math"/>
                <a:cs typeface="Cambria Math"/>
              </a:rPr>
              <a:t>𝑟	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ℎ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108" y="2414523"/>
            <a:ext cx="7539990" cy="142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45">
                <a:latin typeface="Calibri"/>
                <a:cs typeface="Calibri"/>
              </a:rPr>
              <a:t>Family,</a:t>
            </a:r>
            <a:r>
              <a:rPr dirty="0" sz="2800" spc="-20">
                <a:latin typeface="Calibri"/>
                <a:cs typeface="Calibri"/>
              </a:rPr>
              <a:t> Roommate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symmetric relations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250">
                <a:solidFill>
                  <a:srgbClr val="FF0000"/>
                </a:solidFill>
                <a:latin typeface="Arial"/>
                <a:cs typeface="Arial"/>
              </a:rPr>
              <a:t>û</a:t>
            </a:r>
            <a:endParaRPr sz="3200">
              <a:latin typeface="Arial"/>
              <a:cs typeface="Arial"/>
            </a:endParaRPr>
          </a:p>
          <a:p>
            <a:pPr marL="1176020">
              <a:lnSpc>
                <a:spcPct val="100000"/>
              </a:lnSpc>
              <a:spcBef>
                <a:spcPts val="70"/>
              </a:spcBef>
              <a:tabLst>
                <a:tab pos="3519804" algn="l"/>
              </a:tabLst>
            </a:pPr>
            <a:r>
              <a:rPr dirty="0" sz="3200" spc="-5">
                <a:latin typeface="Calibri"/>
                <a:cs typeface="Calibri"/>
              </a:rPr>
              <a:t>only </a:t>
            </a: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>
                <a:latin typeface="Cambria Math"/>
                <a:cs typeface="Cambria Math"/>
              </a:rPr>
              <a:t>𝐫</a:t>
            </a:r>
            <a:r>
              <a:rPr dirty="0" sz="3200" spc="19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0,	𝐡 =</a:t>
            </a:r>
            <a:r>
              <a:rPr dirty="0" sz="3200" spc="26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𝐭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90650" y="4035700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71600" y="6254323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39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33600" y="550890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19218" y="549451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7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8" y="17297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7" y="65467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7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87245" y="512630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72863" y="511191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8" y="3605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4" y="58414"/>
                </a:lnTo>
                <a:lnTo>
                  <a:pt x="79210" y="58196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8" y="54298"/>
                </a:lnTo>
                <a:lnTo>
                  <a:pt x="54631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1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64106" y="5155604"/>
            <a:ext cx="1650364" cy="377190"/>
          </a:xfrm>
          <a:custGeom>
            <a:avLst/>
            <a:gdLst/>
            <a:ahLst/>
            <a:cxnLst/>
            <a:rect l="l" t="t" r="r" b="b"/>
            <a:pathLst>
              <a:path w="1650364" h="377189">
                <a:moveTo>
                  <a:pt x="1563293" y="27988"/>
                </a:moveTo>
                <a:lnTo>
                  <a:pt x="4975" y="348801"/>
                </a:lnTo>
                <a:lnTo>
                  <a:pt x="0" y="356356"/>
                </a:lnTo>
                <a:lnTo>
                  <a:pt x="3182" y="371814"/>
                </a:lnTo>
                <a:lnTo>
                  <a:pt x="10737" y="376789"/>
                </a:lnTo>
                <a:lnTo>
                  <a:pt x="1569055" y="55976"/>
                </a:lnTo>
                <a:lnTo>
                  <a:pt x="1563293" y="27988"/>
                </a:lnTo>
                <a:close/>
              </a:path>
              <a:path w="1650364" h="377189">
                <a:moveTo>
                  <a:pt x="1645714" y="23516"/>
                </a:moveTo>
                <a:lnTo>
                  <a:pt x="1585015" y="23516"/>
                </a:lnTo>
                <a:lnTo>
                  <a:pt x="1592571" y="28492"/>
                </a:lnTo>
                <a:lnTo>
                  <a:pt x="1595753" y="43949"/>
                </a:lnTo>
                <a:lnTo>
                  <a:pt x="1590777" y="51504"/>
                </a:lnTo>
                <a:lnTo>
                  <a:pt x="1569055" y="55976"/>
                </a:lnTo>
                <a:lnTo>
                  <a:pt x="1574817" y="83964"/>
                </a:lnTo>
                <a:lnTo>
                  <a:pt x="1650138" y="24696"/>
                </a:lnTo>
                <a:lnTo>
                  <a:pt x="1645714" y="23516"/>
                </a:lnTo>
                <a:close/>
              </a:path>
              <a:path w="1650364" h="377189">
                <a:moveTo>
                  <a:pt x="1585015" y="23516"/>
                </a:moveTo>
                <a:lnTo>
                  <a:pt x="1563293" y="27988"/>
                </a:lnTo>
                <a:lnTo>
                  <a:pt x="1569055" y="55976"/>
                </a:lnTo>
                <a:lnTo>
                  <a:pt x="1590777" y="51504"/>
                </a:lnTo>
                <a:lnTo>
                  <a:pt x="1595753" y="43949"/>
                </a:lnTo>
                <a:lnTo>
                  <a:pt x="1592571" y="28492"/>
                </a:lnTo>
                <a:lnTo>
                  <a:pt x="1585015" y="23516"/>
                </a:lnTo>
                <a:close/>
              </a:path>
              <a:path w="1650364" h="377189">
                <a:moveTo>
                  <a:pt x="1557531" y="0"/>
                </a:moveTo>
                <a:lnTo>
                  <a:pt x="1563293" y="27988"/>
                </a:lnTo>
                <a:lnTo>
                  <a:pt x="1585015" y="23516"/>
                </a:lnTo>
                <a:lnTo>
                  <a:pt x="1645714" y="23516"/>
                </a:lnTo>
                <a:lnTo>
                  <a:pt x="155753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794448" y="5172964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𝐡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30357" y="4846827"/>
            <a:ext cx="1606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𝐭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1805" y="4904739"/>
            <a:ext cx="1949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46926" y="4428632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6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03766" y="4428632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6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55640" y="4428632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6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12480" y="4428632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6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81245" y="4669933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5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638085" y="4669933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5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89959" y="4669933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5"/>
                </a:lnTo>
              </a:path>
            </a:pathLst>
          </a:custGeom>
          <a:ln w="1528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46799" y="4669933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0"/>
                </a:moveTo>
                <a:lnTo>
                  <a:pt x="0" y="184645"/>
                </a:lnTo>
              </a:path>
            </a:pathLst>
          </a:custGeom>
          <a:ln w="15279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701952" y="4121403"/>
            <a:ext cx="3851275" cy="7512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  <a:tabLst>
                <a:tab pos="1885314" algn="l"/>
                <a:tab pos="2833370" algn="l"/>
              </a:tabLst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For all </a:t>
            </a:r>
            <a:r>
              <a:rPr dirty="0" sz="1600" spc="5">
                <a:solidFill>
                  <a:srgbClr val="008000"/>
                </a:solidFill>
                <a:latin typeface="Cambria Math"/>
                <a:cs typeface="Cambria Math"/>
              </a:rPr>
              <a:t>ℎ,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𝑡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that satisfy </a:t>
            </a:r>
            <a:r>
              <a:rPr dirty="0" sz="1600" spc="5">
                <a:solidFill>
                  <a:srgbClr val="008000"/>
                </a:solidFill>
                <a:latin typeface="Cambria Math"/>
                <a:cs typeface="Cambria Math"/>
              </a:rPr>
              <a:t>𝑟(ℎ, 𝑡)</a:t>
            </a:r>
            <a:r>
              <a:rPr dirty="0" sz="1600" spc="5">
                <a:solidFill>
                  <a:srgbClr val="008000"/>
                </a:solidFill>
                <a:latin typeface="Arial"/>
                <a:cs typeface="Arial"/>
              </a:rPr>
              <a:t>, </a:t>
            </a:r>
            <a:r>
              <a:rPr dirty="0" sz="1600" spc="10">
                <a:solidFill>
                  <a:srgbClr val="008000"/>
                </a:solidFill>
                <a:latin typeface="Cambria Math"/>
                <a:cs typeface="Cambria Math"/>
              </a:rPr>
              <a:t>𝑟(𝑡, </a:t>
            </a:r>
            <a:r>
              <a:rPr dirty="0" sz="1600" spc="5">
                <a:solidFill>
                  <a:srgbClr val="008000"/>
                </a:solidFill>
                <a:latin typeface="Cambria Math"/>
                <a:cs typeface="Cambria Math"/>
              </a:rPr>
              <a:t>ℎ)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is also  </a:t>
            </a: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True,</a:t>
            </a:r>
            <a:r>
              <a:rPr dirty="0" sz="1600" spc="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which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means	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𝐡 + 𝐫 − 𝐭	= 0</a:t>
            </a:r>
            <a:r>
              <a:rPr dirty="0" sz="1600" spc="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120014">
              <a:lnSpc>
                <a:spcPts val="1835"/>
              </a:lnSpc>
              <a:tabLst>
                <a:tab pos="1067435" algn="l"/>
              </a:tabLst>
            </a:pP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𝐭 + 𝐫</a:t>
            </a:r>
            <a:r>
              <a:rPr dirty="0" sz="1600" spc="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− 𝐡	= 0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.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Then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𝐫 = 0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𝐡 = </a:t>
            </a:r>
            <a:r>
              <a:rPr dirty="0" sz="1600" spc="10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𝐭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,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01952" y="4846828"/>
            <a:ext cx="402018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however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ℎ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008000"/>
                </a:solidFill>
                <a:latin typeface="Cambria Math"/>
                <a:cs typeface="Cambria Math"/>
              </a:rPr>
              <a:t>𝑡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are two 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different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entities  and should be mapped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different</a:t>
            </a:r>
            <a:r>
              <a:rPr dirty="0" sz="1600" spc="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locations.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923885" y="3810000"/>
            <a:ext cx="438784" cy="1089660"/>
          </a:xfrm>
          <a:custGeom>
            <a:avLst/>
            <a:gdLst/>
            <a:ahLst/>
            <a:cxnLst/>
            <a:rect l="l" t="t" r="r" b="b"/>
            <a:pathLst>
              <a:path w="438785" h="1089660">
                <a:moveTo>
                  <a:pt x="384811" y="74885"/>
                </a:moveTo>
                <a:lnTo>
                  <a:pt x="0" y="1075639"/>
                </a:lnTo>
                <a:lnTo>
                  <a:pt x="3674" y="1083905"/>
                </a:lnTo>
                <a:lnTo>
                  <a:pt x="18404" y="1089569"/>
                </a:lnTo>
                <a:lnTo>
                  <a:pt x="26671" y="1085894"/>
                </a:lnTo>
                <a:lnTo>
                  <a:pt x="411482" y="85141"/>
                </a:lnTo>
                <a:lnTo>
                  <a:pt x="384811" y="74885"/>
                </a:lnTo>
                <a:close/>
              </a:path>
              <a:path w="438785" h="1089660">
                <a:moveTo>
                  <a:pt x="433806" y="50511"/>
                </a:moveTo>
                <a:lnTo>
                  <a:pt x="401036" y="50511"/>
                </a:lnTo>
                <a:lnTo>
                  <a:pt x="415767" y="56175"/>
                </a:lnTo>
                <a:lnTo>
                  <a:pt x="419441" y="64442"/>
                </a:lnTo>
                <a:lnTo>
                  <a:pt x="411482" y="85141"/>
                </a:lnTo>
                <a:lnTo>
                  <a:pt x="438153" y="95397"/>
                </a:lnTo>
                <a:lnTo>
                  <a:pt x="433806" y="50511"/>
                </a:lnTo>
                <a:close/>
              </a:path>
              <a:path w="438785" h="1089660">
                <a:moveTo>
                  <a:pt x="401036" y="50511"/>
                </a:moveTo>
                <a:lnTo>
                  <a:pt x="392770" y="54187"/>
                </a:lnTo>
                <a:lnTo>
                  <a:pt x="384811" y="74885"/>
                </a:lnTo>
                <a:lnTo>
                  <a:pt x="411482" y="85141"/>
                </a:lnTo>
                <a:lnTo>
                  <a:pt x="419441" y="64442"/>
                </a:lnTo>
                <a:lnTo>
                  <a:pt x="415767" y="56175"/>
                </a:lnTo>
                <a:lnTo>
                  <a:pt x="401036" y="50511"/>
                </a:lnTo>
                <a:close/>
              </a:path>
              <a:path w="438785" h="1089660">
                <a:moveTo>
                  <a:pt x="428914" y="0"/>
                </a:moveTo>
                <a:lnTo>
                  <a:pt x="358140" y="64630"/>
                </a:lnTo>
                <a:lnTo>
                  <a:pt x="384811" y="74885"/>
                </a:lnTo>
                <a:lnTo>
                  <a:pt x="392770" y="54187"/>
                </a:lnTo>
                <a:lnTo>
                  <a:pt x="401036" y="50511"/>
                </a:lnTo>
                <a:lnTo>
                  <a:pt x="433806" y="50511"/>
                </a:lnTo>
                <a:lnTo>
                  <a:pt x="4289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86104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1921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1-to-N</a:t>
            </a:r>
            <a:r>
              <a:rPr dirty="0" spc="-7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664450" cy="23056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00">
                <a:solidFill>
                  <a:srgbClr val="D9253E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150">
                <a:solidFill>
                  <a:srgbClr val="D9253E"/>
                </a:solidFill>
                <a:latin typeface="Cambria Math"/>
                <a:cs typeface="Cambria Math"/>
              </a:rPr>
              <a:t>(</a:t>
            </a:r>
            <a:r>
              <a:rPr dirty="0" sz="2800" spc="100">
                <a:latin typeface="Cambria Math"/>
                <a:cs typeface="Cambria Math"/>
              </a:rPr>
              <a:t>)</a:t>
            </a:r>
            <a:r>
              <a:rPr dirty="0" sz="2800" spc="15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solidFill>
                  <a:srgbClr val="479249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37">
                <a:solidFill>
                  <a:srgbClr val="479249"/>
                </a:solidFill>
                <a:latin typeface="Cambria Math"/>
                <a:cs typeface="Cambria Math"/>
              </a:rPr>
              <a:t>7</a:t>
            </a:r>
            <a:r>
              <a:rPr dirty="0" sz="2800" spc="25">
                <a:latin typeface="Cambria Math"/>
                <a:cs typeface="Cambria Math"/>
              </a:rPr>
              <a:t>)</a:t>
            </a:r>
            <a:r>
              <a:rPr dirty="0" sz="2800" spc="15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both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exist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knowledge </a:t>
            </a:r>
            <a:r>
              <a:rPr dirty="0" sz="2800" spc="-15">
                <a:latin typeface="Calibri"/>
                <a:cs typeface="Calibri"/>
              </a:rPr>
              <a:t>graph, </a:t>
            </a:r>
            <a:r>
              <a:rPr dirty="0" sz="2800">
                <a:latin typeface="Calibri"/>
                <a:cs typeface="Calibri"/>
              </a:rPr>
              <a:t>e.g., </a:t>
            </a:r>
            <a:r>
              <a:rPr dirty="0" sz="2800">
                <a:latin typeface="Cambria Math"/>
                <a:cs typeface="Cambria Math"/>
              </a:rPr>
              <a:t>𝑟 </a:t>
            </a:r>
            <a:r>
              <a:rPr dirty="0" sz="2800" spc="-5">
                <a:latin typeface="Calibri"/>
                <a:cs typeface="Calibri"/>
              </a:rPr>
              <a:t>is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0">
                <a:latin typeface="Calibri"/>
                <a:cs typeface="Calibri"/>
              </a:rPr>
              <a:t>“StudentsOf”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1-to-N relations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250">
                <a:solidFill>
                  <a:srgbClr val="FF0000"/>
                </a:solidFill>
                <a:latin typeface="Arial"/>
                <a:cs typeface="Arial"/>
              </a:rPr>
              <a:t>û</a:t>
            </a:r>
            <a:endParaRPr sz="3200">
              <a:latin typeface="Arial"/>
              <a:cs typeface="Arial"/>
            </a:endParaRPr>
          </a:p>
          <a:p>
            <a:pPr lvl="1" marL="625475" marR="188595" indent="-274320">
              <a:lnSpc>
                <a:spcPts val="3290"/>
              </a:lnSpc>
              <a:spcBef>
                <a:spcPts val="8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17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5277" sz="3000" spc="262">
                <a:solidFill>
                  <a:srgbClr val="D9253E"/>
                </a:solidFill>
                <a:latin typeface="Cambria Math"/>
                <a:cs typeface="Cambria Math"/>
              </a:rPr>
              <a:t>(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65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277" sz="3000" spc="97">
                <a:solidFill>
                  <a:srgbClr val="479249"/>
                </a:solidFill>
                <a:latin typeface="Cambria Math"/>
                <a:cs typeface="Cambria Math"/>
              </a:rPr>
              <a:t>7 </a:t>
            </a:r>
            <a:r>
              <a:rPr dirty="0" sz="2800" spc="-10">
                <a:latin typeface="Calibri"/>
                <a:cs typeface="Calibri"/>
              </a:rPr>
              <a:t>will </a:t>
            </a:r>
            <a:r>
              <a:rPr dirty="0" sz="2800" spc="-5">
                <a:latin typeface="Calibri"/>
                <a:cs typeface="Calibri"/>
              </a:rPr>
              <a:t>map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same </a:t>
            </a:r>
            <a:r>
              <a:rPr dirty="0" sz="2800" spc="-50">
                <a:latin typeface="Calibri"/>
                <a:cs typeface="Calibri"/>
              </a:rPr>
              <a:t>vector, </a:t>
            </a:r>
            <a:r>
              <a:rPr dirty="0" sz="2800" spc="-20">
                <a:latin typeface="Calibri"/>
                <a:cs typeface="Calibri"/>
              </a:rPr>
              <a:t>although  </a:t>
            </a:r>
            <a:r>
              <a:rPr dirty="0" sz="2800" spc="-10">
                <a:latin typeface="Calibri"/>
                <a:cs typeface="Calibri"/>
              </a:rPr>
              <a:t>they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25">
                <a:latin typeface="Calibri"/>
                <a:cs typeface="Calibri"/>
              </a:rPr>
              <a:t>different</a:t>
            </a:r>
            <a:r>
              <a:rPr dirty="0" sz="2800" spc="-10">
                <a:latin typeface="Calibri"/>
                <a:cs typeface="Calibri"/>
              </a:rPr>
              <a:t> entities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689348"/>
            <a:ext cx="30181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22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5700" sz="3450" spc="337">
                <a:solidFill>
                  <a:srgbClr val="D9253E"/>
                </a:solidFill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= 𝐡 + 𝐫 =</a:t>
            </a:r>
            <a:r>
              <a:rPr dirty="0" sz="3200" spc="475">
                <a:latin typeface="Cambria Math"/>
                <a:cs typeface="Cambria Math"/>
              </a:rPr>
              <a:t> </a:t>
            </a:r>
            <a:r>
              <a:rPr dirty="0" sz="3200" spc="5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700" sz="3450" spc="7">
                <a:solidFill>
                  <a:srgbClr val="479249"/>
                </a:solidFill>
                <a:latin typeface="Cambria Math"/>
                <a:cs typeface="Cambria Math"/>
              </a:rPr>
              <a:t>#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5170932"/>
            <a:ext cx="15627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22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5700" sz="3450" spc="337">
                <a:solidFill>
                  <a:srgbClr val="D9253E"/>
                </a:solidFill>
                <a:latin typeface="Cambria Math"/>
                <a:cs typeface="Cambria Math"/>
              </a:rPr>
              <a:t>" </a:t>
            </a:r>
            <a:r>
              <a:rPr dirty="0" sz="3200">
                <a:latin typeface="Cambria Math"/>
                <a:cs typeface="Cambria Math"/>
              </a:rPr>
              <a:t>≠</a:t>
            </a:r>
            <a:r>
              <a:rPr dirty="0" sz="3200" spc="100">
                <a:latin typeface="Cambria Math"/>
                <a:cs typeface="Cambria Math"/>
              </a:rPr>
              <a:t> </a:t>
            </a:r>
            <a:r>
              <a:rPr dirty="0" sz="3200" spc="5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700" sz="3450" spc="7">
                <a:solidFill>
                  <a:srgbClr val="479249"/>
                </a:solidFill>
                <a:latin typeface="Cambria Math"/>
                <a:cs typeface="Cambria Math"/>
              </a:rPr>
              <a:t>#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13504" y="4348479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94454" y="6567102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09301" y="553893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94920" y="552455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1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8"/>
                </a:lnTo>
                <a:lnTo>
                  <a:pt x="40420" y="82763"/>
                </a:lnTo>
                <a:lnTo>
                  <a:pt x="42341" y="82763"/>
                </a:lnTo>
                <a:lnTo>
                  <a:pt x="74337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7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7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2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1" y="0"/>
                </a:lnTo>
                <a:close/>
              </a:path>
              <a:path w="83184" h="83185">
                <a:moveTo>
                  <a:pt x="74337" y="17296"/>
                </a:moveTo>
                <a:lnTo>
                  <a:pt x="41381" y="17296"/>
                </a:lnTo>
                <a:lnTo>
                  <a:pt x="50765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5" y="63571"/>
                </a:lnTo>
                <a:lnTo>
                  <a:pt x="41381" y="65466"/>
                </a:lnTo>
                <a:lnTo>
                  <a:pt x="74337" y="65466"/>
                </a:lnTo>
                <a:lnTo>
                  <a:pt x="79091" y="58414"/>
                </a:lnTo>
                <a:lnTo>
                  <a:pt x="79208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08" y="24568"/>
                </a:lnTo>
                <a:lnTo>
                  <a:pt x="79091" y="24348"/>
                </a:lnTo>
                <a:lnTo>
                  <a:pt x="74337" y="17296"/>
                </a:lnTo>
                <a:close/>
              </a:path>
              <a:path w="83184" h="83185">
                <a:moveTo>
                  <a:pt x="41381" y="23126"/>
                </a:moveTo>
                <a:lnTo>
                  <a:pt x="34245" y="24568"/>
                </a:lnTo>
                <a:lnTo>
                  <a:pt x="28464" y="28464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6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6" y="24568"/>
                </a:lnTo>
                <a:lnTo>
                  <a:pt x="41381" y="23126"/>
                </a:lnTo>
                <a:close/>
              </a:path>
              <a:path w="83184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0" y="32581"/>
                </a:lnTo>
                <a:lnTo>
                  <a:pt x="52819" y="36494"/>
                </a:lnTo>
                <a:lnTo>
                  <a:pt x="53804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84494" y="538507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8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10" y="51877"/>
                </a:lnTo>
                <a:lnTo>
                  <a:pt x="46092" y="46091"/>
                </a:lnTo>
                <a:lnTo>
                  <a:pt x="51878" y="37508"/>
                </a:lnTo>
                <a:lnTo>
                  <a:pt x="54000" y="26998"/>
                </a:lnTo>
                <a:lnTo>
                  <a:pt x="51878" y="16489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70112" y="5370696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6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7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8" y="17297"/>
                </a:lnTo>
                <a:lnTo>
                  <a:pt x="71293" y="12781"/>
                </a:lnTo>
                <a:lnTo>
                  <a:pt x="69983" y="11470"/>
                </a:lnTo>
                <a:lnTo>
                  <a:pt x="58318" y="3605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8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2" y="31997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6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3" y="58416"/>
                </a:lnTo>
                <a:lnTo>
                  <a:pt x="79210" y="58196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7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5" y="24568"/>
                </a:lnTo>
                <a:lnTo>
                  <a:pt x="28465" y="28465"/>
                </a:lnTo>
                <a:lnTo>
                  <a:pt x="24568" y="34246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8" y="54298"/>
                </a:lnTo>
                <a:lnTo>
                  <a:pt x="54631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3" y="32583"/>
                </a:lnTo>
                <a:lnTo>
                  <a:pt x="36494" y="29944"/>
                </a:lnTo>
                <a:lnTo>
                  <a:pt x="41381" y="28958"/>
                </a:lnTo>
                <a:lnTo>
                  <a:pt x="54631" y="28958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4" h="83185">
                <a:moveTo>
                  <a:pt x="54631" y="28958"/>
                </a:moveTo>
                <a:lnTo>
                  <a:pt x="41381" y="28958"/>
                </a:lnTo>
                <a:lnTo>
                  <a:pt x="46268" y="29944"/>
                </a:lnTo>
                <a:lnTo>
                  <a:pt x="50181" y="32583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1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6"/>
                </a:lnTo>
                <a:lnTo>
                  <a:pt x="54631" y="28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259963" y="5659120"/>
            <a:ext cx="219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83454" y="472947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69072" y="4715098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4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6"/>
                </a:lnTo>
                <a:lnTo>
                  <a:pt x="79094" y="24348"/>
                </a:lnTo>
                <a:lnTo>
                  <a:pt x="74338" y="17296"/>
                </a:lnTo>
                <a:close/>
              </a:path>
              <a:path w="83184" h="83185">
                <a:moveTo>
                  <a:pt x="41381" y="23126"/>
                </a:moveTo>
                <a:lnTo>
                  <a:pt x="34245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4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510455" y="4783480"/>
            <a:ext cx="842010" cy="771525"/>
          </a:xfrm>
          <a:custGeom>
            <a:avLst/>
            <a:gdLst/>
            <a:ahLst/>
            <a:cxnLst/>
            <a:rect l="l" t="t" r="r" b="b"/>
            <a:pathLst>
              <a:path w="842009" h="771525">
                <a:moveTo>
                  <a:pt x="72895" y="47318"/>
                </a:moveTo>
                <a:lnTo>
                  <a:pt x="53608" y="68403"/>
                </a:lnTo>
                <a:lnTo>
                  <a:pt x="822025" y="771328"/>
                </a:lnTo>
                <a:lnTo>
                  <a:pt x="831062" y="770925"/>
                </a:lnTo>
                <a:lnTo>
                  <a:pt x="841714" y="759280"/>
                </a:lnTo>
                <a:lnTo>
                  <a:pt x="841312" y="750243"/>
                </a:lnTo>
                <a:lnTo>
                  <a:pt x="72895" y="47318"/>
                </a:lnTo>
                <a:close/>
              </a:path>
              <a:path w="842009" h="771525">
                <a:moveTo>
                  <a:pt x="0" y="0"/>
                </a:moveTo>
                <a:lnTo>
                  <a:pt x="34321" y="89486"/>
                </a:lnTo>
                <a:lnTo>
                  <a:pt x="53608" y="68403"/>
                </a:lnTo>
                <a:lnTo>
                  <a:pt x="37244" y="53433"/>
                </a:lnTo>
                <a:lnTo>
                  <a:pt x="36842" y="44396"/>
                </a:lnTo>
                <a:lnTo>
                  <a:pt x="47494" y="32752"/>
                </a:lnTo>
                <a:lnTo>
                  <a:pt x="56531" y="32349"/>
                </a:lnTo>
                <a:lnTo>
                  <a:pt x="86589" y="32349"/>
                </a:lnTo>
                <a:lnTo>
                  <a:pt x="92182" y="26234"/>
                </a:lnTo>
                <a:lnTo>
                  <a:pt x="0" y="0"/>
                </a:lnTo>
                <a:close/>
              </a:path>
              <a:path w="842009" h="771525">
                <a:moveTo>
                  <a:pt x="56531" y="32349"/>
                </a:moveTo>
                <a:lnTo>
                  <a:pt x="47494" y="32752"/>
                </a:lnTo>
                <a:lnTo>
                  <a:pt x="36842" y="44396"/>
                </a:lnTo>
                <a:lnTo>
                  <a:pt x="37244" y="53433"/>
                </a:lnTo>
                <a:lnTo>
                  <a:pt x="53608" y="68403"/>
                </a:lnTo>
                <a:lnTo>
                  <a:pt x="72895" y="47318"/>
                </a:lnTo>
                <a:lnTo>
                  <a:pt x="56531" y="32349"/>
                </a:lnTo>
                <a:close/>
              </a:path>
              <a:path w="842009" h="771525">
                <a:moveTo>
                  <a:pt x="86589" y="32349"/>
                </a:moveTo>
                <a:lnTo>
                  <a:pt x="56531" y="32349"/>
                </a:lnTo>
                <a:lnTo>
                  <a:pt x="72895" y="47318"/>
                </a:lnTo>
                <a:lnTo>
                  <a:pt x="86589" y="32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611494" y="5412240"/>
            <a:ext cx="713740" cy="169545"/>
          </a:xfrm>
          <a:custGeom>
            <a:avLst/>
            <a:gdLst/>
            <a:ahLst/>
            <a:cxnLst/>
            <a:rect l="l" t="t" r="r" b="b"/>
            <a:pathLst>
              <a:path w="713740" h="169545">
                <a:moveTo>
                  <a:pt x="86898" y="28114"/>
                </a:moveTo>
                <a:lnTo>
                  <a:pt x="81787" y="56228"/>
                </a:lnTo>
                <a:lnTo>
                  <a:pt x="703014" y="169167"/>
                </a:lnTo>
                <a:lnTo>
                  <a:pt x="710453" y="164017"/>
                </a:lnTo>
                <a:lnTo>
                  <a:pt x="713276" y="148490"/>
                </a:lnTo>
                <a:lnTo>
                  <a:pt x="708126" y="141053"/>
                </a:lnTo>
                <a:lnTo>
                  <a:pt x="86898" y="28114"/>
                </a:lnTo>
                <a:close/>
              </a:path>
              <a:path w="713740" h="169545">
                <a:moveTo>
                  <a:pt x="92010" y="0"/>
                </a:moveTo>
                <a:lnTo>
                  <a:pt x="0" y="26837"/>
                </a:lnTo>
                <a:lnTo>
                  <a:pt x="76676" y="84343"/>
                </a:lnTo>
                <a:lnTo>
                  <a:pt x="81787" y="56228"/>
                </a:lnTo>
                <a:lnTo>
                  <a:pt x="59966" y="52261"/>
                </a:lnTo>
                <a:lnTo>
                  <a:pt x="54818" y="44823"/>
                </a:lnTo>
                <a:lnTo>
                  <a:pt x="57640" y="29296"/>
                </a:lnTo>
                <a:lnTo>
                  <a:pt x="65078" y="24147"/>
                </a:lnTo>
                <a:lnTo>
                  <a:pt x="87620" y="24147"/>
                </a:lnTo>
                <a:lnTo>
                  <a:pt x="92010" y="0"/>
                </a:lnTo>
                <a:close/>
              </a:path>
              <a:path w="713740" h="169545">
                <a:moveTo>
                  <a:pt x="65078" y="24147"/>
                </a:moveTo>
                <a:lnTo>
                  <a:pt x="57640" y="29296"/>
                </a:lnTo>
                <a:lnTo>
                  <a:pt x="54818" y="44823"/>
                </a:lnTo>
                <a:lnTo>
                  <a:pt x="59966" y="52261"/>
                </a:lnTo>
                <a:lnTo>
                  <a:pt x="81787" y="56228"/>
                </a:lnTo>
                <a:lnTo>
                  <a:pt x="86898" y="28114"/>
                </a:lnTo>
                <a:lnTo>
                  <a:pt x="65078" y="24147"/>
                </a:lnTo>
                <a:close/>
              </a:path>
              <a:path w="713740" h="169545">
                <a:moveTo>
                  <a:pt x="87620" y="24147"/>
                </a:moveTo>
                <a:lnTo>
                  <a:pt x="65078" y="24147"/>
                </a:lnTo>
                <a:lnTo>
                  <a:pt x="86898" y="28114"/>
                </a:lnTo>
                <a:lnTo>
                  <a:pt x="87620" y="241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066953" y="4802632"/>
            <a:ext cx="1771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6430326" y="4186935"/>
            <a:ext cx="501650" cy="1653539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440"/>
              </a:spcBef>
            </a:pPr>
            <a:r>
              <a:rPr dirty="0" sz="2500" spc="15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6975" sz="2700" spc="232">
                <a:solidFill>
                  <a:srgbClr val="D9253E"/>
                </a:solidFill>
                <a:latin typeface="Cambria Math"/>
                <a:cs typeface="Cambria Math"/>
              </a:rPr>
              <a:t>)</a:t>
            </a:r>
            <a:endParaRPr baseline="-16975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500" spc="175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432" sz="2700" spc="262">
                <a:solidFill>
                  <a:srgbClr val="479249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1125"/>
              </a:spcBef>
            </a:pP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9059" y="5428996"/>
            <a:ext cx="16319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5">
                <a:solidFill>
                  <a:srgbClr val="FF0000"/>
                </a:solidFill>
                <a:latin typeface="Calibri"/>
                <a:cs typeface="Calibri"/>
              </a:rPr>
              <a:t>contradictory!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1000"/>
            <a:ext cx="1694688" cy="393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4413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5">
                <a:solidFill>
                  <a:srgbClr val="0070C0"/>
                </a:solidFill>
              </a:rPr>
              <a:t>TransE </a:t>
            </a:r>
            <a:r>
              <a:rPr dirty="0" spc="-5">
                <a:solidFill>
                  <a:srgbClr val="000000"/>
                </a:solidFill>
              </a:rPr>
              <a:t>models </a:t>
            </a:r>
            <a:r>
              <a:rPr dirty="0" spc="-15">
                <a:solidFill>
                  <a:srgbClr val="000000"/>
                </a:solidFill>
              </a:rPr>
              <a:t>translation </a:t>
            </a:r>
            <a:r>
              <a:rPr dirty="0">
                <a:solidFill>
                  <a:srgbClr val="000000"/>
                </a:solidFill>
              </a:rPr>
              <a:t>of </a:t>
            </a:r>
            <a:r>
              <a:rPr dirty="0" spc="-25">
                <a:solidFill>
                  <a:srgbClr val="000000"/>
                </a:solidFill>
              </a:rPr>
              <a:t>any </a:t>
            </a:r>
            <a:r>
              <a:rPr dirty="0" spc="-10">
                <a:solidFill>
                  <a:srgbClr val="000000"/>
                </a:solidFill>
              </a:rPr>
              <a:t>relation </a:t>
            </a:r>
            <a:r>
              <a:rPr dirty="0">
                <a:solidFill>
                  <a:srgbClr val="000000"/>
                </a:solidFill>
              </a:rPr>
              <a:t>in  </a:t>
            </a: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 spc="-5">
                <a:solidFill>
                  <a:srgbClr val="C00000"/>
                </a:solidFill>
              </a:rPr>
              <a:t>same </a:t>
            </a:r>
            <a:r>
              <a:rPr dirty="0" spc="-5">
                <a:solidFill>
                  <a:srgbClr val="000000"/>
                </a:solidFill>
              </a:rPr>
              <a:t>embedding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space.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695956"/>
            <a:ext cx="7911465" cy="32931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334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Can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5" b="1">
                <a:latin typeface="Calibri"/>
                <a:cs typeface="Calibri"/>
              </a:rPr>
              <a:t>design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0" b="1">
                <a:latin typeface="Calibri"/>
                <a:cs typeface="Calibri"/>
              </a:rPr>
              <a:t>new </a:t>
            </a:r>
            <a:r>
              <a:rPr dirty="0" sz="3200" spc="-5" b="1">
                <a:latin typeface="Calibri"/>
                <a:cs typeface="Calibri"/>
              </a:rPr>
              <a:t>space </a:t>
            </a:r>
            <a:r>
              <a:rPr dirty="0" sz="3200" spc="-20" b="1">
                <a:latin typeface="Calibri"/>
                <a:cs typeface="Calibri"/>
              </a:rPr>
              <a:t>for </a:t>
            </a:r>
            <a:r>
              <a:rPr dirty="0" sz="3200" spc="-5" b="1">
                <a:latin typeface="Calibri"/>
                <a:cs typeface="Calibri"/>
              </a:rPr>
              <a:t>each </a:t>
            </a:r>
            <a:r>
              <a:rPr dirty="0" sz="3200" spc="-10" b="1">
                <a:latin typeface="Calibri"/>
                <a:cs typeface="Calibri"/>
              </a:rPr>
              <a:t>relation  </a:t>
            </a:r>
            <a:r>
              <a:rPr dirty="0" sz="3200" spc="-5" b="1">
                <a:latin typeface="Calibri"/>
                <a:cs typeface="Calibri"/>
              </a:rPr>
              <a:t>and do </a:t>
            </a:r>
            <a:r>
              <a:rPr dirty="0" sz="3200" spc="-15" b="1">
                <a:latin typeface="Calibri"/>
                <a:cs typeface="Calibri"/>
              </a:rPr>
              <a:t>translation </a:t>
            </a:r>
            <a:r>
              <a:rPr dirty="0" sz="3200" b="1">
                <a:latin typeface="Calibri"/>
                <a:cs typeface="Calibri"/>
              </a:rPr>
              <a:t>in </a:t>
            </a:r>
            <a:r>
              <a:rPr dirty="0" sz="3200" spc="-10" b="1">
                <a:solidFill>
                  <a:srgbClr val="F0AD00"/>
                </a:solidFill>
                <a:latin typeface="Calibri"/>
                <a:cs typeface="Calibri"/>
              </a:rPr>
              <a:t>relation-specific</a:t>
            </a:r>
            <a:r>
              <a:rPr dirty="0" sz="3200" spc="25" b="1">
                <a:solidFill>
                  <a:srgbClr val="F0AD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F0AD00"/>
                </a:solidFill>
                <a:latin typeface="Calibri"/>
                <a:cs typeface="Calibri"/>
              </a:rPr>
              <a:t>space</a:t>
            </a:r>
            <a:r>
              <a:rPr dirty="0" sz="3200" spc="-5" b="1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ct val="101499"/>
              </a:lnSpc>
              <a:spcBef>
                <a:spcPts val="23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0" b="1">
                <a:solidFill>
                  <a:srgbClr val="7030A0"/>
                </a:solidFill>
                <a:latin typeface="Calibri"/>
                <a:cs typeface="Calibri"/>
              </a:rPr>
              <a:t>TransR</a:t>
            </a:r>
            <a:r>
              <a:rPr dirty="0" sz="3200" spc="-40"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entities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20">
                <a:latin typeface="Calibri"/>
                <a:cs typeface="Calibri"/>
              </a:rPr>
              <a:t>vectors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5">
                <a:latin typeface="Calibri"/>
                <a:cs typeface="Calibri"/>
              </a:rPr>
              <a:t>entity  space </a:t>
            </a:r>
            <a:r>
              <a:rPr dirty="0" sz="3200" spc="-125">
                <a:solidFill>
                  <a:srgbClr val="00B050"/>
                </a:solidFill>
                <a:latin typeface="Cambria Math"/>
                <a:cs typeface="Cambria Math"/>
              </a:rPr>
              <a:t>ℝ</a:t>
            </a:r>
            <a:r>
              <a:rPr dirty="0" baseline="28985" sz="3450" spc="-187">
                <a:solidFill>
                  <a:srgbClr val="00B050"/>
                </a:solidFill>
                <a:latin typeface="Cambria Math"/>
                <a:cs typeface="Cambria Math"/>
              </a:rPr>
              <a:t>+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5">
                <a:latin typeface="Calibri"/>
                <a:cs typeface="Calibri"/>
              </a:rPr>
              <a:t>model each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relation </a:t>
            </a:r>
            <a:r>
              <a:rPr dirty="0" sz="3200">
                <a:latin typeface="Calibri"/>
                <a:cs typeface="Calibri"/>
              </a:rPr>
              <a:t>as </a:t>
            </a:r>
            <a:r>
              <a:rPr dirty="0" sz="3200" spc="-15">
                <a:latin typeface="Calibri"/>
                <a:cs typeface="Calibri"/>
              </a:rPr>
              <a:t>vector 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relation </a:t>
            </a:r>
            <a:r>
              <a:rPr dirty="0" sz="3200" spc="-5">
                <a:latin typeface="Calibri"/>
                <a:cs typeface="Calibri"/>
              </a:rPr>
              <a:t>space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𝐫 ∈ </a:t>
            </a:r>
            <a:r>
              <a:rPr dirty="0" sz="3200" spc="50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8985" sz="3450" spc="75">
                <a:solidFill>
                  <a:srgbClr val="0000FF"/>
                </a:solidFill>
                <a:latin typeface="Cambria Math"/>
                <a:cs typeface="Cambria Math"/>
              </a:rPr>
              <a:t>0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with </a:t>
            </a:r>
            <a:r>
              <a:rPr dirty="0" sz="3200" spc="27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700" sz="3450" spc="412">
                <a:solidFill>
                  <a:srgbClr val="0000FF"/>
                </a:solidFill>
                <a:latin typeface="Cambria Math"/>
                <a:cs typeface="Cambria Math"/>
              </a:rPr>
              <a:t>! </a:t>
            </a:r>
            <a:r>
              <a:rPr dirty="0" sz="3200">
                <a:solidFill>
                  <a:srgbClr val="0000FF"/>
                </a:solidFill>
                <a:latin typeface="Cambria Math"/>
                <a:cs typeface="Cambria Math"/>
              </a:rPr>
              <a:t>∈ </a:t>
            </a:r>
            <a:r>
              <a:rPr dirty="0" sz="3200" spc="-15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8985" sz="3450" spc="-22">
                <a:solidFill>
                  <a:srgbClr val="0000FF"/>
                </a:solidFill>
                <a:latin typeface="Cambria Math"/>
                <a:cs typeface="Cambria Math"/>
              </a:rPr>
              <a:t>0×+ </a:t>
            </a:r>
            <a:r>
              <a:rPr dirty="0" sz="3200">
                <a:latin typeface="Calibri"/>
                <a:cs typeface="Calibri"/>
              </a:rPr>
              <a:t>as  the </a:t>
            </a:r>
            <a:r>
              <a:rPr dirty="0" sz="3200" spc="-10">
                <a:latin typeface="Calibri"/>
                <a:cs typeface="Calibri"/>
              </a:rPr>
              <a:t>projection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matrix.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3466" y="29971"/>
            <a:ext cx="6016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Lin,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Learning entity </a:t>
            </a:r>
            <a:r>
              <a:rPr dirty="0" sz="1200" u="sng">
                <a:solidFill>
                  <a:srgbClr val="168BBA"/>
                </a:solidFill>
                <a:latin typeface="Corbel"/>
                <a:cs typeface="Corbel"/>
              </a:rPr>
              <a:t>and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relation embeddings for knowledge graph completion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AAAI</a:t>
            </a:r>
            <a:r>
              <a:rPr dirty="0" sz="1200" spc="5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2015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81000"/>
            <a:ext cx="1694688" cy="393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526020" cy="142176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just" marL="332740" marR="5080" indent="-320040">
              <a:lnSpc>
                <a:spcPct val="102699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5">
                <a:solidFill>
                  <a:srgbClr val="7030A0"/>
                </a:solidFill>
              </a:rPr>
              <a:t>TransR</a:t>
            </a:r>
            <a:r>
              <a:rPr dirty="0" sz="3000" spc="-35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model </a:t>
            </a:r>
            <a:r>
              <a:rPr dirty="0" sz="3000" spc="-5">
                <a:solidFill>
                  <a:srgbClr val="00B050"/>
                </a:solidFill>
              </a:rPr>
              <a:t>entities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as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vectors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 the 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entity 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space </a:t>
            </a:r>
            <a:r>
              <a:rPr dirty="0" sz="3000" spc="85" b="0">
                <a:solidFill>
                  <a:srgbClr val="00B050"/>
                </a:solidFill>
                <a:latin typeface="Cambria Math"/>
                <a:cs typeface="Cambria Math"/>
              </a:rPr>
              <a:t>ℝ</a:t>
            </a:r>
            <a:r>
              <a:rPr dirty="0" baseline="27777" sz="3300" spc="127" b="0">
                <a:solidFill>
                  <a:srgbClr val="00B050"/>
                </a:solidFill>
                <a:latin typeface="Cambria Math"/>
                <a:cs typeface="Cambria Math"/>
              </a:rPr>
              <a:t>6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and model each </a:t>
            </a:r>
            <a:r>
              <a:rPr dirty="0" sz="3000" spc="-10">
                <a:solidFill>
                  <a:srgbClr val="0000FF"/>
                </a:solidFill>
              </a:rPr>
              <a:t>relation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as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vector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 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relation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space </a:t>
            </a:r>
            <a:r>
              <a:rPr dirty="0" sz="3000" b="0">
                <a:solidFill>
                  <a:srgbClr val="0000FF"/>
                </a:solidFill>
                <a:latin typeface="Cambria Math"/>
                <a:cs typeface="Cambria Math"/>
              </a:rPr>
              <a:t>𝐫 ∈ </a:t>
            </a:r>
            <a:r>
              <a:rPr dirty="0" sz="3000" spc="50" b="0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3300" spc="75" b="0">
                <a:solidFill>
                  <a:srgbClr val="0000FF"/>
                </a:solidFill>
                <a:latin typeface="Cambria Math"/>
                <a:cs typeface="Cambria Math"/>
              </a:rPr>
              <a:t>7 </a:t>
            </a:r>
            <a:r>
              <a:rPr dirty="0" sz="3000" spc="-5" b="0">
                <a:solidFill>
                  <a:srgbClr val="0000FF"/>
                </a:solidFill>
                <a:latin typeface="Calibri"/>
                <a:cs typeface="Calibri"/>
              </a:rPr>
              <a:t>with </a:t>
            </a:r>
            <a:r>
              <a:rPr dirty="0" sz="3000" spc="-30" b="0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 spc="-44" b="0">
                <a:solidFill>
                  <a:srgbClr val="0000FF"/>
                </a:solidFill>
                <a:latin typeface="Cambria Math"/>
                <a:cs typeface="Cambria Math"/>
              </a:rPr>
              <a:t>8  </a:t>
            </a:r>
            <a:r>
              <a:rPr dirty="0" sz="3000" b="0">
                <a:solidFill>
                  <a:srgbClr val="0000FF"/>
                </a:solidFill>
                <a:latin typeface="Cambria Math"/>
                <a:cs typeface="Cambria Math"/>
              </a:rPr>
              <a:t>∈ </a:t>
            </a:r>
            <a:r>
              <a:rPr dirty="0" sz="3000" spc="80" b="0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3300" spc="120" b="0">
                <a:solidFill>
                  <a:srgbClr val="0000FF"/>
                </a:solidFill>
                <a:latin typeface="Cambria Math"/>
                <a:cs typeface="Cambria Math"/>
              </a:rPr>
              <a:t>7×6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dirty="0" sz="3000" spc="4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1946" y="3838338"/>
            <a:ext cx="615315" cy="282575"/>
          </a:xfrm>
          <a:custGeom>
            <a:avLst/>
            <a:gdLst/>
            <a:ahLst/>
            <a:cxnLst/>
            <a:rect l="l" t="t" r="r" b="b"/>
            <a:pathLst>
              <a:path w="615314" h="282575">
                <a:moveTo>
                  <a:pt x="525237" y="0"/>
                </a:moveTo>
                <a:lnTo>
                  <a:pt x="521219" y="11460"/>
                </a:lnTo>
                <a:lnTo>
                  <a:pt x="537562" y="18552"/>
                </a:lnTo>
                <a:lnTo>
                  <a:pt x="551617" y="28370"/>
                </a:lnTo>
                <a:lnTo>
                  <a:pt x="580155" y="73878"/>
                </a:lnTo>
                <a:lnTo>
                  <a:pt x="588489" y="115662"/>
                </a:lnTo>
                <a:lnTo>
                  <a:pt x="589531" y="139749"/>
                </a:lnTo>
                <a:lnTo>
                  <a:pt x="588484" y="164650"/>
                </a:lnTo>
                <a:lnTo>
                  <a:pt x="580112" y="207587"/>
                </a:lnTo>
                <a:lnTo>
                  <a:pt x="551635" y="253826"/>
                </a:lnTo>
                <a:lnTo>
                  <a:pt x="521666" y="270866"/>
                </a:lnTo>
                <a:lnTo>
                  <a:pt x="525237" y="282327"/>
                </a:lnTo>
                <a:lnTo>
                  <a:pt x="563747" y="264263"/>
                </a:lnTo>
                <a:lnTo>
                  <a:pt x="592061" y="232990"/>
                </a:lnTo>
                <a:lnTo>
                  <a:pt x="609474" y="191113"/>
                </a:lnTo>
                <a:lnTo>
                  <a:pt x="615278" y="141237"/>
                </a:lnTo>
                <a:lnTo>
                  <a:pt x="613822" y="115355"/>
                </a:lnTo>
                <a:lnTo>
                  <a:pt x="602176" y="69479"/>
                </a:lnTo>
                <a:lnTo>
                  <a:pt x="579080" y="32133"/>
                </a:lnTo>
                <a:lnTo>
                  <a:pt x="545706" y="7390"/>
                </a:lnTo>
                <a:lnTo>
                  <a:pt x="525237" y="0"/>
                </a:lnTo>
                <a:close/>
              </a:path>
              <a:path w="615314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2497327"/>
            <a:ext cx="3178810" cy="1642745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960"/>
              </a:spcBef>
            </a:pP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projection</a:t>
            </a:r>
            <a:r>
              <a:rPr dirty="0" sz="3000" spc="-7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00FF"/>
                </a:solidFill>
                <a:latin typeface="Calibri"/>
                <a:cs typeface="Calibri"/>
              </a:rPr>
              <a:t>matrix</a:t>
            </a:r>
            <a:r>
              <a:rPr dirty="0" sz="3000" spc="-1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148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  <a:tab pos="1883410" algn="l"/>
              </a:tabLst>
            </a:pPr>
            <a:r>
              <a:rPr dirty="0" sz="2400" spc="-45">
                <a:latin typeface="Cambria Math"/>
                <a:cs typeface="Cambria Math"/>
              </a:rPr>
              <a:t>𝐡</a:t>
            </a:r>
            <a:r>
              <a:rPr dirty="0" baseline="-15432" sz="2700" spc="-67">
                <a:latin typeface="Cambria Math"/>
                <a:cs typeface="Cambria Math"/>
              </a:rPr>
              <a:t>&lt;</a:t>
            </a:r>
            <a:r>
              <a:rPr dirty="0" baseline="-15432" sz="2700" spc="2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30">
                <a:latin typeface="Cambria Math"/>
                <a:cs typeface="Cambria Math"/>
              </a:rPr>
              <a:t>𝐌</a:t>
            </a:r>
            <a:r>
              <a:rPr dirty="0" baseline="-15432" sz="2700" spc="44">
                <a:latin typeface="Cambria Math"/>
                <a:cs typeface="Cambria Math"/>
              </a:rPr>
              <a:t>/</a:t>
            </a:r>
            <a:r>
              <a:rPr dirty="0" sz="2400" spc="30">
                <a:latin typeface="Cambria Math"/>
                <a:cs typeface="Cambria Math"/>
              </a:rPr>
              <a:t>𝐡,	</a:t>
            </a:r>
            <a:r>
              <a:rPr dirty="0" sz="2400">
                <a:latin typeface="Cambria Math"/>
                <a:cs typeface="Cambria Math"/>
              </a:rPr>
              <a:t>𝐭</a:t>
            </a:r>
            <a:r>
              <a:rPr dirty="0" baseline="-15432" sz="2700">
                <a:latin typeface="Cambria Math"/>
                <a:cs typeface="Cambria Math"/>
              </a:rPr>
              <a:t>&lt;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𝐌</a:t>
            </a:r>
            <a:r>
              <a:rPr dirty="0" baseline="-15432" sz="2700" spc="75">
                <a:latin typeface="Cambria Math"/>
                <a:cs typeface="Cambria Math"/>
              </a:rPr>
              <a:t>/</a:t>
            </a:r>
            <a:r>
              <a:rPr dirty="0" sz="2400" spc="5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spcBef>
                <a:spcPts val="2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0" b="1">
                <a:solidFill>
                  <a:srgbClr val="D60093"/>
                </a:solidFill>
                <a:latin typeface="Calibri"/>
                <a:cs typeface="Calibri"/>
              </a:rPr>
              <a:t>Score 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function</a:t>
            </a:r>
            <a:r>
              <a:rPr dirty="0" sz="2400" spc="-5">
                <a:latin typeface="Calibri"/>
                <a:cs typeface="Calibri"/>
              </a:rPr>
              <a:t>: </a:t>
            </a:r>
            <a:r>
              <a:rPr dirty="0" sz="2400" spc="-200">
                <a:latin typeface="Cambria Math"/>
                <a:cs typeface="Cambria Math"/>
              </a:rPr>
              <a:t>𝑓</a:t>
            </a:r>
            <a:r>
              <a:rPr dirty="0" baseline="-15432" sz="2700" spc="-300">
                <a:latin typeface="Cambria Math"/>
                <a:cs typeface="Cambria Math"/>
              </a:rPr>
              <a:t>/    </a:t>
            </a:r>
            <a:r>
              <a:rPr dirty="0" sz="2400" spc="15">
                <a:latin typeface="Cambria Math"/>
                <a:cs typeface="Cambria Math"/>
              </a:rPr>
              <a:t>ℎ,</a:t>
            </a:r>
            <a:r>
              <a:rPr dirty="0" sz="2400" spc="-15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5948" y="3748532"/>
            <a:ext cx="2473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20">
                <a:latin typeface="Cambria Math"/>
                <a:cs typeface="Cambria Math"/>
              </a:rPr>
              <a:t>−||𝐡</a:t>
            </a:r>
            <a:r>
              <a:rPr dirty="0" baseline="-15432" sz="2700" spc="-30">
                <a:latin typeface="Cambria Math"/>
                <a:cs typeface="Cambria Math"/>
              </a:rPr>
              <a:t>&lt; </a:t>
            </a:r>
            <a:r>
              <a:rPr dirty="0" sz="2400">
                <a:latin typeface="Cambria Math"/>
                <a:cs typeface="Cambria Math"/>
              </a:rPr>
              <a:t>+ 𝐫 −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5">
                <a:latin typeface="Cambria Math"/>
                <a:cs typeface="Cambria Math"/>
              </a:rPr>
              <a:t>𝐭</a:t>
            </a:r>
            <a:r>
              <a:rPr dirty="0" baseline="-15432" sz="2700" spc="7">
                <a:latin typeface="Cambria Math"/>
                <a:cs typeface="Cambria Math"/>
              </a:rPr>
              <a:t>&lt;</a:t>
            </a:r>
            <a:r>
              <a:rPr dirty="0" sz="2400" spc="5">
                <a:latin typeface="Cambria Math"/>
                <a:cs typeface="Cambria Math"/>
              </a:rPr>
              <a:t>||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3303" y="4576315"/>
            <a:ext cx="0" cy="2000250"/>
          </a:xfrm>
          <a:custGeom>
            <a:avLst/>
            <a:gdLst/>
            <a:ahLst/>
            <a:cxnLst/>
            <a:rect l="l" t="t" r="r" b="b"/>
            <a:pathLst>
              <a:path w="0" h="2000250">
                <a:moveTo>
                  <a:pt x="0" y="0"/>
                </a:moveTo>
                <a:lnTo>
                  <a:pt x="1" y="1999665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2581" y="6556402"/>
            <a:ext cx="2895600" cy="13970"/>
          </a:xfrm>
          <a:custGeom>
            <a:avLst/>
            <a:gdLst/>
            <a:ahLst/>
            <a:cxnLst/>
            <a:rect l="l" t="t" r="r" b="b"/>
            <a:pathLst>
              <a:path w="2895600" h="13970">
                <a:moveTo>
                  <a:pt x="2895600" y="0"/>
                </a:moveTo>
                <a:lnTo>
                  <a:pt x="0" y="13634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70143" y="5627193"/>
            <a:ext cx="54610" cy="48895"/>
          </a:xfrm>
          <a:custGeom>
            <a:avLst/>
            <a:gdLst/>
            <a:ahLst/>
            <a:cxnLst/>
            <a:rect l="l" t="t" r="r" b="b"/>
            <a:pathLst>
              <a:path w="54610" h="48895">
                <a:moveTo>
                  <a:pt x="27000" y="0"/>
                </a:moveTo>
                <a:lnTo>
                  <a:pt x="16490" y="1898"/>
                </a:lnTo>
                <a:lnTo>
                  <a:pt x="7907" y="7074"/>
                </a:lnTo>
                <a:lnTo>
                  <a:pt x="2121" y="14752"/>
                </a:lnTo>
                <a:lnTo>
                  <a:pt x="0" y="24155"/>
                </a:lnTo>
                <a:lnTo>
                  <a:pt x="2121" y="33557"/>
                </a:lnTo>
                <a:lnTo>
                  <a:pt x="7907" y="41235"/>
                </a:lnTo>
                <a:lnTo>
                  <a:pt x="16490" y="46411"/>
                </a:lnTo>
                <a:lnTo>
                  <a:pt x="27000" y="48310"/>
                </a:lnTo>
                <a:lnTo>
                  <a:pt x="37509" y="46411"/>
                </a:lnTo>
                <a:lnTo>
                  <a:pt x="46091" y="41235"/>
                </a:lnTo>
                <a:lnTo>
                  <a:pt x="51877" y="33557"/>
                </a:lnTo>
                <a:lnTo>
                  <a:pt x="53999" y="24155"/>
                </a:lnTo>
                <a:lnTo>
                  <a:pt x="51877" y="14752"/>
                </a:lnTo>
                <a:lnTo>
                  <a:pt x="46091" y="7074"/>
                </a:lnTo>
                <a:lnTo>
                  <a:pt x="37509" y="1898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55738" y="5612830"/>
            <a:ext cx="83185" cy="77470"/>
          </a:xfrm>
          <a:custGeom>
            <a:avLst/>
            <a:gdLst/>
            <a:ahLst/>
            <a:cxnLst/>
            <a:rect l="l" t="t" r="r" b="b"/>
            <a:pathLst>
              <a:path w="83185" h="77470">
                <a:moveTo>
                  <a:pt x="42264" y="0"/>
                </a:moveTo>
                <a:lnTo>
                  <a:pt x="40543" y="0"/>
                </a:lnTo>
                <a:lnTo>
                  <a:pt x="26644" y="2510"/>
                </a:lnTo>
                <a:lnTo>
                  <a:pt x="0" y="37443"/>
                </a:lnTo>
                <a:lnTo>
                  <a:pt x="0" y="39592"/>
                </a:lnTo>
                <a:lnTo>
                  <a:pt x="25003" y="73907"/>
                </a:lnTo>
                <a:lnTo>
                  <a:pt x="40543" y="77036"/>
                </a:lnTo>
                <a:lnTo>
                  <a:pt x="42264" y="77036"/>
                </a:lnTo>
                <a:lnTo>
                  <a:pt x="75242" y="59769"/>
                </a:lnTo>
                <a:lnTo>
                  <a:pt x="41404" y="59769"/>
                </a:lnTo>
                <a:lnTo>
                  <a:pt x="31920" y="58056"/>
                </a:lnTo>
                <a:lnTo>
                  <a:pt x="24262" y="53437"/>
                </a:lnTo>
                <a:lnTo>
                  <a:pt x="19178" y="46691"/>
                </a:lnTo>
                <a:lnTo>
                  <a:pt x="17332" y="38518"/>
                </a:lnTo>
                <a:lnTo>
                  <a:pt x="19178" y="30344"/>
                </a:lnTo>
                <a:lnTo>
                  <a:pt x="24262" y="23599"/>
                </a:lnTo>
                <a:lnTo>
                  <a:pt x="31920" y="18980"/>
                </a:lnTo>
                <a:lnTo>
                  <a:pt x="41404" y="17267"/>
                </a:lnTo>
                <a:lnTo>
                  <a:pt x="75242" y="17267"/>
                </a:lnTo>
                <a:lnTo>
                  <a:pt x="70807" y="11381"/>
                </a:lnTo>
                <a:lnTo>
                  <a:pt x="69438" y="10146"/>
                </a:lnTo>
                <a:lnTo>
                  <a:pt x="57804" y="3129"/>
                </a:lnTo>
                <a:lnTo>
                  <a:pt x="56164" y="2510"/>
                </a:lnTo>
                <a:lnTo>
                  <a:pt x="42264" y="0"/>
                </a:lnTo>
                <a:close/>
              </a:path>
              <a:path w="83185" h="77470">
                <a:moveTo>
                  <a:pt x="75242" y="17267"/>
                </a:moveTo>
                <a:lnTo>
                  <a:pt x="41404" y="17267"/>
                </a:lnTo>
                <a:lnTo>
                  <a:pt x="50887" y="18980"/>
                </a:lnTo>
                <a:lnTo>
                  <a:pt x="58547" y="23599"/>
                </a:lnTo>
                <a:lnTo>
                  <a:pt x="63630" y="30344"/>
                </a:lnTo>
                <a:lnTo>
                  <a:pt x="65474" y="38518"/>
                </a:lnTo>
                <a:lnTo>
                  <a:pt x="63630" y="46691"/>
                </a:lnTo>
                <a:lnTo>
                  <a:pt x="58547" y="53437"/>
                </a:lnTo>
                <a:lnTo>
                  <a:pt x="50887" y="58056"/>
                </a:lnTo>
                <a:lnTo>
                  <a:pt x="41404" y="59769"/>
                </a:lnTo>
                <a:lnTo>
                  <a:pt x="75242" y="59769"/>
                </a:lnTo>
                <a:lnTo>
                  <a:pt x="78911" y="54901"/>
                </a:lnTo>
                <a:lnTo>
                  <a:pt x="79773" y="53042"/>
                </a:lnTo>
                <a:lnTo>
                  <a:pt x="82807" y="39592"/>
                </a:lnTo>
                <a:lnTo>
                  <a:pt x="82807" y="37443"/>
                </a:lnTo>
                <a:lnTo>
                  <a:pt x="79773" y="23994"/>
                </a:lnTo>
                <a:lnTo>
                  <a:pt x="78911" y="22135"/>
                </a:lnTo>
                <a:lnTo>
                  <a:pt x="75242" y="17267"/>
                </a:lnTo>
                <a:close/>
              </a:path>
              <a:path w="83185" h="77470">
                <a:moveTo>
                  <a:pt x="41404" y="23074"/>
                </a:moveTo>
                <a:lnTo>
                  <a:pt x="33971" y="24417"/>
                </a:lnTo>
                <a:lnTo>
                  <a:pt x="28159" y="27922"/>
                </a:lnTo>
                <a:lnTo>
                  <a:pt x="24481" y="32802"/>
                </a:lnTo>
                <a:lnTo>
                  <a:pt x="23192" y="38518"/>
                </a:lnTo>
                <a:lnTo>
                  <a:pt x="24481" y="44234"/>
                </a:lnTo>
                <a:lnTo>
                  <a:pt x="28159" y="49114"/>
                </a:lnTo>
                <a:lnTo>
                  <a:pt x="33971" y="52619"/>
                </a:lnTo>
                <a:lnTo>
                  <a:pt x="41404" y="53962"/>
                </a:lnTo>
                <a:lnTo>
                  <a:pt x="48837" y="52619"/>
                </a:lnTo>
                <a:lnTo>
                  <a:pt x="54648" y="49114"/>
                </a:lnTo>
                <a:lnTo>
                  <a:pt x="55371" y="48154"/>
                </a:lnTo>
                <a:lnTo>
                  <a:pt x="41404" y="48154"/>
                </a:lnTo>
                <a:lnTo>
                  <a:pt x="36022" y="47182"/>
                </a:lnTo>
                <a:lnTo>
                  <a:pt x="32058" y="44792"/>
                </a:lnTo>
                <a:lnTo>
                  <a:pt x="29786" y="41776"/>
                </a:lnTo>
                <a:lnTo>
                  <a:pt x="29051" y="38518"/>
                </a:lnTo>
                <a:lnTo>
                  <a:pt x="29786" y="35260"/>
                </a:lnTo>
                <a:lnTo>
                  <a:pt x="32058" y="32244"/>
                </a:lnTo>
                <a:lnTo>
                  <a:pt x="36022" y="29854"/>
                </a:lnTo>
                <a:lnTo>
                  <a:pt x="41404" y="28881"/>
                </a:lnTo>
                <a:lnTo>
                  <a:pt x="55371" y="28881"/>
                </a:lnTo>
                <a:lnTo>
                  <a:pt x="54648" y="27922"/>
                </a:lnTo>
                <a:lnTo>
                  <a:pt x="48837" y="24417"/>
                </a:lnTo>
                <a:lnTo>
                  <a:pt x="41404" y="23074"/>
                </a:lnTo>
                <a:close/>
              </a:path>
              <a:path w="83185" h="77470">
                <a:moveTo>
                  <a:pt x="55371" y="28881"/>
                </a:moveTo>
                <a:lnTo>
                  <a:pt x="41404" y="28881"/>
                </a:lnTo>
                <a:lnTo>
                  <a:pt x="46786" y="29854"/>
                </a:lnTo>
                <a:lnTo>
                  <a:pt x="50749" y="32244"/>
                </a:lnTo>
                <a:lnTo>
                  <a:pt x="53022" y="35260"/>
                </a:lnTo>
                <a:lnTo>
                  <a:pt x="53757" y="38518"/>
                </a:lnTo>
                <a:lnTo>
                  <a:pt x="53022" y="41776"/>
                </a:lnTo>
                <a:lnTo>
                  <a:pt x="50749" y="44792"/>
                </a:lnTo>
                <a:lnTo>
                  <a:pt x="46786" y="47182"/>
                </a:lnTo>
                <a:lnTo>
                  <a:pt x="41404" y="48154"/>
                </a:lnTo>
                <a:lnTo>
                  <a:pt x="55371" y="48154"/>
                </a:lnTo>
                <a:lnTo>
                  <a:pt x="58326" y="44234"/>
                </a:lnTo>
                <a:lnTo>
                  <a:pt x="59616" y="38518"/>
                </a:lnTo>
                <a:lnTo>
                  <a:pt x="58326" y="32802"/>
                </a:lnTo>
                <a:lnTo>
                  <a:pt x="55371" y="288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07353" y="4993520"/>
            <a:ext cx="54610" cy="48895"/>
          </a:xfrm>
          <a:custGeom>
            <a:avLst/>
            <a:gdLst/>
            <a:ahLst/>
            <a:cxnLst/>
            <a:rect l="l" t="t" r="r" b="b"/>
            <a:pathLst>
              <a:path w="54610" h="48895">
                <a:moveTo>
                  <a:pt x="27000" y="0"/>
                </a:moveTo>
                <a:lnTo>
                  <a:pt x="16490" y="1898"/>
                </a:lnTo>
                <a:lnTo>
                  <a:pt x="7907" y="7075"/>
                </a:lnTo>
                <a:lnTo>
                  <a:pt x="2121" y="14753"/>
                </a:lnTo>
                <a:lnTo>
                  <a:pt x="0" y="24155"/>
                </a:lnTo>
                <a:lnTo>
                  <a:pt x="2121" y="33557"/>
                </a:lnTo>
                <a:lnTo>
                  <a:pt x="7907" y="41235"/>
                </a:lnTo>
                <a:lnTo>
                  <a:pt x="16490" y="46412"/>
                </a:lnTo>
                <a:lnTo>
                  <a:pt x="27000" y="48310"/>
                </a:lnTo>
                <a:lnTo>
                  <a:pt x="37509" y="46412"/>
                </a:lnTo>
                <a:lnTo>
                  <a:pt x="46091" y="41235"/>
                </a:lnTo>
                <a:lnTo>
                  <a:pt x="51878" y="33557"/>
                </a:lnTo>
                <a:lnTo>
                  <a:pt x="54000" y="24155"/>
                </a:lnTo>
                <a:lnTo>
                  <a:pt x="51878" y="14753"/>
                </a:lnTo>
                <a:lnTo>
                  <a:pt x="46091" y="7075"/>
                </a:lnTo>
                <a:lnTo>
                  <a:pt x="37509" y="1898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92949" y="4979158"/>
            <a:ext cx="83185" cy="77470"/>
          </a:xfrm>
          <a:custGeom>
            <a:avLst/>
            <a:gdLst/>
            <a:ahLst/>
            <a:cxnLst/>
            <a:rect l="l" t="t" r="r" b="b"/>
            <a:pathLst>
              <a:path w="83185" h="77470">
                <a:moveTo>
                  <a:pt x="42264" y="0"/>
                </a:moveTo>
                <a:lnTo>
                  <a:pt x="40544" y="0"/>
                </a:lnTo>
                <a:lnTo>
                  <a:pt x="26644" y="2509"/>
                </a:lnTo>
                <a:lnTo>
                  <a:pt x="0" y="37443"/>
                </a:lnTo>
                <a:lnTo>
                  <a:pt x="0" y="39592"/>
                </a:lnTo>
                <a:lnTo>
                  <a:pt x="25003" y="73906"/>
                </a:lnTo>
                <a:lnTo>
                  <a:pt x="40544" y="77035"/>
                </a:lnTo>
                <a:lnTo>
                  <a:pt x="42264" y="77035"/>
                </a:lnTo>
                <a:lnTo>
                  <a:pt x="75243" y="59768"/>
                </a:lnTo>
                <a:lnTo>
                  <a:pt x="41404" y="59768"/>
                </a:lnTo>
                <a:lnTo>
                  <a:pt x="31920" y="58055"/>
                </a:lnTo>
                <a:lnTo>
                  <a:pt x="24262" y="53436"/>
                </a:lnTo>
                <a:lnTo>
                  <a:pt x="19178" y="46691"/>
                </a:lnTo>
                <a:lnTo>
                  <a:pt x="17334" y="38517"/>
                </a:lnTo>
                <a:lnTo>
                  <a:pt x="19178" y="30344"/>
                </a:lnTo>
                <a:lnTo>
                  <a:pt x="24262" y="23599"/>
                </a:lnTo>
                <a:lnTo>
                  <a:pt x="31920" y="18978"/>
                </a:lnTo>
                <a:lnTo>
                  <a:pt x="41404" y="17266"/>
                </a:lnTo>
                <a:lnTo>
                  <a:pt x="75243" y="17266"/>
                </a:lnTo>
                <a:lnTo>
                  <a:pt x="70807" y="11380"/>
                </a:lnTo>
                <a:lnTo>
                  <a:pt x="69438" y="10146"/>
                </a:lnTo>
                <a:lnTo>
                  <a:pt x="57804" y="3129"/>
                </a:lnTo>
                <a:lnTo>
                  <a:pt x="56164" y="2509"/>
                </a:lnTo>
                <a:lnTo>
                  <a:pt x="42264" y="0"/>
                </a:lnTo>
                <a:close/>
              </a:path>
              <a:path w="83185" h="77470">
                <a:moveTo>
                  <a:pt x="75243" y="17266"/>
                </a:moveTo>
                <a:lnTo>
                  <a:pt x="41404" y="17266"/>
                </a:lnTo>
                <a:lnTo>
                  <a:pt x="50888" y="18978"/>
                </a:lnTo>
                <a:lnTo>
                  <a:pt x="58546" y="23599"/>
                </a:lnTo>
                <a:lnTo>
                  <a:pt x="63630" y="30344"/>
                </a:lnTo>
                <a:lnTo>
                  <a:pt x="65474" y="38517"/>
                </a:lnTo>
                <a:lnTo>
                  <a:pt x="63630" y="46691"/>
                </a:lnTo>
                <a:lnTo>
                  <a:pt x="58546" y="53436"/>
                </a:lnTo>
                <a:lnTo>
                  <a:pt x="50888" y="58055"/>
                </a:lnTo>
                <a:lnTo>
                  <a:pt x="41404" y="59768"/>
                </a:lnTo>
                <a:lnTo>
                  <a:pt x="75243" y="59768"/>
                </a:lnTo>
                <a:lnTo>
                  <a:pt x="78912" y="54900"/>
                </a:lnTo>
                <a:lnTo>
                  <a:pt x="79773" y="53041"/>
                </a:lnTo>
                <a:lnTo>
                  <a:pt x="82809" y="39592"/>
                </a:lnTo>
                <a:lnTo>
                  <a:pt x="82809" y="37443"/>
                </a:lnTo>
                <a:lnTo>
                  <a:pt x="79773" y="23994"/>
                </a:lnTo>
                <a:lnTo>
                  <a:pt x="78912" y="22134"/>
                </a:lnTo>
                <a:lnTo>
                  <a:pt x="75243" y="17266"/>
                </a:lnTo>
                <a:close/>
              </a:path>
              <a:path w="83185" h="77470">
                <a:moveTo>
                  <a:pt x="41404" y="23073"/>
                </a:moveTo>
                <a:lnTo>
                  <a:pt x="33971" y="24417"/>
                </a:lnTo>
                <a:lnTo>
                  <a:pt x="28159" y="27920"/>
                </a:lnTo>
                <a:lnTo>
                  <a:pt x="24481" y="32801"/>
                </a:lnTo>
                <a:lnTo>
                  <a:pt x="23192" y="38517"/>
                </a:lnTo>
                <a:lnTo>
                  <a:pt x="24481" y="44234"/>
                </a:lnTo>
                <a:lnTo>
                  <a:pt x="28159" y="49113"/>
                </a:lnTo>
                <a:lnTo>
                  <a:pt x="33971" y="52618"/>
                </a:lnTo>
                <a:lnTo>
                  <a:pt x="41404" y="53961"/>
                </a:lnTo>
                <a:lnTo>
                  <a:pt x="48837" y="52618"/>
                </a:lnTo>
                <a:lnTo>
                  <a:pt x="54648" y="49113"/>
                </a:lnTo>
                <a:lnTo>
                  <a:pt x="55370" y="48154"/>
                </a:lnTo>
                <a:lnTo>
                  <a:pt x="41404" y="48154"/>
                </a:lnTo>
                <a:lnTo>
                  <a:pt x="36022" y="47181"/>
                </a:lnTo>
                <a:lnTo>
                  <a:pt x="32058" y="44791"/>
                </a:lnTo>
                <a:lnTo>
                  <a:pt x="29786" y="41776"/>
                </a:lnTo>
                <a:lnTo>
                  <a:pt x="29051" y="38517"/>
                </a:lnTo>
                <a:lnTo>
                  <a:pt x="29786" y="35259"/>
                </a:lnTo>
                <a:lnTo>
                  <a:pt x="32058" y="32244"/>
                </a:lnTo>
                <a:lnTo>
                  <a:pt x="36022" y="29853"/>
                </a:lnTo>
                <a:lnTo>
                  <a:pt x="41404" y="28881"/>
                </a:lnTo>
                <a:lnTo>
                  <a:pt x="55371" y="28881"/>
                </a:lnTo>
                <a:lnTo>
                  <a:pt x="54648" y="27920"/>
                </a:lnTo>
                <a:lnTo>
                  <a:pt x="48837" y="24417"/>
                </a:lnTo>
                <a:lnTo>
                  <a:pt x="41404" y="23073"/>
                </a:lnTo>
                <a:close/>
              </a:path>
              <a:path w="83185" h="77470">
                <a:moveTo>
                  <a:pt x="55371" y="28881"/>
                </a:moveTo>
                <a:lnTo>
                  <a:pt x="41404" y="28881"/>
                </a:lnTo>
                <a:lnTo>
                  <a:pt x="46786" y="29853"/>
                </a:lnTo>
                <a:lnTo>
                  <a:pt x="50750" y="32244"/>
                </a:lnTo>
                <a:lnTo>
                  <a:pt x="53022" y="35259"/>
                </a:lnTo>
                <a:lnTo>
                  <a:pt x="53757" y="38517"/>
                </a:lnTo>
                <a:lnTo>
                  <a:pt x="53022" y="41776"/>
                </a:lnTo>
                <a:lnTo>
                  <a:pt x="50750" y="44791"/>
                </a:lnTo>
                <a:lnTo>
                  <a:pt x="46786" y="47181"/>
                </a:lnTo>
                <a:lnTo>
                  <a:pt x="41404" y="48154"/>
                </a:lnTo>
                <a:lnTo>
                  <a:pt x="55370" y="48154"/>
                </a:lnTo>
                <a:lnTo>
                  <a:pt x="58326" y="44234"/>
                </a:lnTo>
                <a:lnTo>
                  <a:pt x="59616" y="38517"/>
                </a:lnTo>
                <a:lnTo>
                  <a:pt x="58326" y="32801"/>
                </a:lnTo>
                <a:lnTo>
                  <a:pt x="55371" y="288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22319" y="5838951"/>
            <a:ext cx="3803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">
                <a:latin typeface="Cambria Math"/>
                <a:cs typeface="Cambria Math"/>
              </a:rPr>
              <a:t>𝐡</a:t>
            </a:r>
            <a:r>
              <a:rPr dirty="0" baseline="-15432" sz="2700" spc="-120">
                <a:latin typeface="Cambria Math"/>
                <a:cs typeface="Cambria Math"/>
              </a:rPr>
              <a:t>&lt;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59302" y="5598159"/>
            <a:ext cx="32004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90">
                <a:latin typeface="Cambria Math"/>
                <a:cs typeface="Cambria Math"/>
              </a:rPr>
              <a:t>𝐭</a:t>
            </a:r>
            <a:r>
              <a:rPr dirty="0" baseline="-15432" sz="2700" spc="-120">
                <a:latin typeface="Cambria Math"/>
                <a:cs typeface="Cambria Math"/>
              </a:rPr>
              <a:t>&lt;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7401" y="5710935"/>
            <a:ext cx="1771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86931" y="4555361"/>
            <a:ext cx="0" cy="2000250"/>
          </a:xfrm>
          <a:custGeom>
            <a:avLst/>
            <a:gdLst/>
            <a:ahLst/>
            <a:cxnLst/>
            <a:rect l="l" t="t" r="r" b="b"/>
            <a:pathLst>
              <a:path w="0" h="2000250">
                <a:moveTo>
                  <a:pt x="0" y="0"/>
                </a:moveTo>
                <a:lnTo>
                  <a:pt x="1" y="1999665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67880" y="6540196"/>
            <a:ext cx="2895600" cy="13970"/>
          </a:xfrm>
          <a:custGeom>
            <a:avLst/>
            <a:gdLst/>
            <a:ahLst/>
            <a:cxnLst/>
            <a:rect l="l" t="t" r="r" b="b"/>
            <a:pathLst>
              <a:path w="2895600" h="13970">
                <a:moveTo>
                  <a:pt x="2895600" y="0"/>
                </a:moveTo>
                <a:lnTo>
                  <a:pt x="0" y="13634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70970" y="5852871"/>
            <a:ext cx="54610" cy="48895"/>
          </a:xfrm>
          <a:custGeom>
            <a:avLst/>
            <a:gdLst/>
            <a:ahLst/>
            <a:cxnLst/>
            <a:rect l="l" t="t" r="r" b="b"/>
            <a:pathLst>
              <a:path w="54610" h="48895">
                <a:moveTo>
                  <a:pt x="27000" y="0"/>
                </a:moveTo>
                <a:lnTo>
                  <a:pt x="16490" y="1898"/>
                </a:lnTo>
                <a:lnTo>
                  <a:pt x="7908" y="7074"/>
                </a:lnTo>
                <a:lnTo>
                  <a:pt x="2121" y="14752"/>
                </a:lnTo>
                <a:lnTo>
                  <a:pt x="0" y="24155"/>
                </a:lnTo>
                <a:lnTo>
                  <a:pt x="2121" y="33557"/>
                </a:lnTo>
                <a:lnTo>
                  <a:pt x="7908" y="41235"/>
                </a:lnTo>
                <a:lnTo>
                  <a:pt x="16490" y="46411"/>
                </a:lnTo>
                <a:lnTo>
                  <a:pt x="27000" y="48310"/>
                </a:lnTo>
                <a:lnTo>
                  <a:pt x="37510" y="46411"/>
                </a:lnTo>
                <a:lnTo>
                  <a:pt x="46092" y="41235"/>
                </a:lnTo>
                <a:lnTo>
                  <a:pt x="51878" y="33557"/>
                </a:lnTo>
                <a:lnTo>
                  <a:pt x="54000" y="24155"/>
                </a:lnTo>
                <a:lnTo>
                  <a:pt x="51878" y="14752"/>
                </a:lnTo>
                <a:lnTo>
                  <a:pt x="46092" y="7074"/>
                </a:lnTo>
                <a:lnTo>
                  <a:pt x="37510" y="1898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56565" y="5838508"/>
            <a:ext cx="83185" cy="77470"/>
          </a:xfrm>
          <a:custGeom>
            <a:avLst/>
            <a:gdLst/>
            <a:ahLst/>
            <a:cxnLst/>
            <a:rect l="l" t="t" r="r" b="b"/>
            <a:pathLst>
              <a:path w="83185" h="77470">
                <a:moveTo>
                  <a:pt x="42264" y="0"/>
                </a:moveTo>
                <a:lnTo>
                  <a:pt x="40544" y="0"/>
                </a:lnTo>
                <a:lnTo>
                  <a:pt x="26644" y="2510"/>
                </a:lnTo>
                <a:lnTo>
                  <a:pt x="0" y="37443"/>
                </a:lnTo>
                <a:lnTo>
                  <a:pt x="0" y="39592"/>
                </a:lnTo>
                <a:lnTo>
                  <a:pt x="25005" y="73907"/>
                </a:lnTo>
                <a:lnTo>
                  <a:pt x="40544" y="77036"/>
                </a:lnTo>
                <a:lnTo>
                  <a:pt x="42265" y="77036"/>
                </a:lnTo>
                <a:lnTo>
                  <a:pt x="75243" y="59769"/>
                </a:lnTo>
                <a:lnTo>
                  <a:pt x="41404" y="59769"/>
                </a:lnTo>
                <a:lnTo>
                  <a:pt x="31920" y="58056"/>
                </a:lnTo>
                <a:lnTo>
                  <a:pt x="24262" y="53437"/>
                </a:lnTo>
                <a:lnTo>
                  <a:pt x="19178" y="46691"/>
                </a:lnTo>
                <a:lnTo>
                  <a:pt x="17334" y="38518"/>
                </a:lnTo>
                <a:lnTo>
                  <a:pt x="19178" y="30344"/>
                </a:lnTo>
                <a:lnTo>
                  <a:pt x="24262" y="23599"/>
                </a:lnTo>
                <a:lnTo>
                  <a:pt x="31920" y="18980"/>
                </a:lnTo>
                <a:lnTo>
                  <a:pt x="41404" y="17267"/>
                </a:lnTo>
                <a:lnTo>
                  <a:pt x="75243" y="17267"/>
                </a:lnTo>
                <a:lnTo>
                  <a:pt x="70807" y="11381"/>
                </a:lnTo>
                <a:lnTo>
                  <a:pt x="69439" y="10146"/>
                </a:lnTo>
                <a:lnTo>
                  <a:pt x="57805" y="3129"/>
                </a:lnTo>
                <a:lnTo>
                  <a:pt x="56164" y="2510"/>
                </a:lnTo>
                <a:lnTo>
                  <a:pt x="42264" y="0"/>
                </a:lnTo>
                <a:close/>
              </a:path>
              <a:path w="83185" h="77470">
                <a:moveTo>
                  <a:pt x="75243" y="17267"/>
                </a:moveTo>
                <a:lnTo>
                  <a:pt x="41404" y="17267"/>
                </a:lnTo>
                <a:lnTo>
                  <a:pt x="50888" y="18980"/>
                </a:lnTo>
                <a:lnTo>
                  <a:pt x="58546" y="23599"/>
                </a:lnTo>
                <a:lnTo>
                  <a:pt x="63630" y="30344"/>
                </a:lnTo>
                <a:lnTo>
                  <a:pt x="65476" y="38518"/>
                </a:lnTo>
                <a:lnTo>
                  <a:pt x="63630" y="46691"/>
                </a:lnTo>
                <a:lnTo>
                  <a:pt x="58546" y="53437"/>
                </a:lnTo>
                <a:lnTo>
                  <a:pt x="50888" y="58056"/>
                </a:lnTo>
                <a:lnTo>
                  <a:pt x="41404" y="59769"/>
                </a:lnTo>
                <a:lnTo>
                  <a:pt x="75243" y="59769"/>
                </a:lnTo>
                <a:lnTo>
                  <a:pt x="78912" y="54901"/>
                </a:lnTo>
                <a:lnTo>
                  <a:pt x="79773" y="53042"/>
                </a:lnTo>
                <a:lnTo>
                  <a:pt x="82809" y="39592"/>
                </a:lnTo>
                <a:lnTo>
                  <a:pt x="82809" y="37443"/>
                </a:lnTo>
                <a:lnTo>
                  <a:pt x="79773" y="23994"/>
                </a:lnTo>
                <a:lnTo>
                  <a:pt x="78912" y="22135"/>
                </a:lnTo>
                <a:lnTo>
                  <a:pt x="75243" y="17267"/>
                </a:lnTo>
                <a:close/>
              </a:path>
              <a:path w="83185" h="77470">
                <a:moveTo>
                  <a:pt x="41404" y="23074"/>
                </a:moveTo>
                <a:lnTo>
                  <a:pt x="33971" y="24417"/>
                </a:lnTo>
                <a:lnTo>
                  <a:pt x="28160" y="27922"/>
                </a:lnTo>
                <a:lnTo>
                  <a:pt x="24483" y="32802"/>
                </a:lnTo>
                <a:lnTo>
                  <a:pt x="23192" y="38518"/>
                </a:lnTo>
                <a:lnTo>
                  <a:pt x="24483" y="44234"/>
                </a:lnTo>
                <a:lnTo>
                  <a:pt x="28160" y="49114"/>
                </a:lnTo>
                <a:lnTo>
                  <a:pt x="33971" y="52619"/>
                </a:lnTo>
                <a:lnTo>
                  <a:pt x="41404" y="53962"/>
                </a:lnTo>
                <a:lnTo>
                  <a:pt x="48837" y="52619"/>
                </a:lnTo>
                <a:lnTo>
                  <a:pt x="54649" y="49114"/>
                </a:lnTo>
                <a:lnTo>
                  <a:pt x="55372" y="48154"/>
                </a:lnTo>
                <a:lnTo>
                  <a:pt x="41404" y="48154"/>
                </a:lnTo>
                <a:lnTo>
                  <a:pt x="36022" y="47182"/>
                </a:lnTo>
                <a:lnTo>
                  <a:pt x="32059" y="44792"/>
                </a:lnTo>
                <a:lnTo>
                  <a:pt x="29786" y="41776"/>
                </a:lnTo>
                <a:lnTo>
                  <a:pt x="29051" y="38518"/>
                </a:lnTo>
                <a:lnTo>
                  <a:pt x="29786" y="35260"/>
                </a:lnTo>
                <a:lnTo>
                  <a:pt x="32059" y="32244"/>
                </a:lnTo>
                <a:lnTo>
                  <a:pt x="36022" y="29854"/>
                </a:lnTo>
                <a:lnTo>
                  <a:pt x="41404" y="28882"/>
                </a:lnTo>
                <a:lnTo>
                  <a:pt x="55372" y="28882"/>
                </a:lnTo>
                <a:lnTo>
                  <a:pt x="54649" y="27922"/>
                </a:lnTo>
                <a:lnTo>
                  <a:pt x="48837" y="24417"/>
                </a:lnTo>
                <a:lnTo>
                  <a:pt x="41404" y="23074"/>
                </a:lnTo>
                <a:close/>
              </a:path>
              <a:path w="83185" h="77470">
                <a:moveTo>
                  <a:pt x="55372" y="28882"/>
                </a:moveTo>
                <a:lnTo>
                  <a:pt x="41404" y="28882"/>
                </a:lnTo>
                <a:lnTo>
                  <a:pt x="46786" y="29854"/>
                </a:lnTo>
                <a:lnTo>
                  <a:pt x="50750" y="32244"/>
                </a:lnTo>
                <a:lnTo>
                  <a:pt x="53022" y="35260"/>
                </a:lnTo>
                <a:lnTo>
                  <a:pt x="53757" y="38518"/>
                </a:lnTo>
                <a:lnTo>
                  <a:pt x="53022" y="41776"/>
                </a:lnTo>
                <a:lnTo>
                  <a:pt x="50750" y="44792"/>
                </a:lnTo>
                <a:lnTo>
                  <a:pt x="46786" y="47182"/>
                </a:lnTo>
                <a:lnTo>
                  <a:pt x="41404" y="48154"/>
                </a:lnTo>
                <a:lnTo>
                  <a:pt x="55372" y="48154"/>
                </a:lnTo>
                <a:lnTo>
                  <a:pt x="58327" y="44234"/>
                </a:lnTo>
                <a:lnTo>
                  <a:pt x="59616" y="38518"/>
                </a:lnTo>
                <a:lnTo>
                  <a:pt x="58327" y="32802"/>
                </a:lnTo>
                <a:lnTo>
                  <a:pt x="55372" y="28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74009" y="5668428"/>
            <a:ext cx="54610" cy="48895"/>
          </a:xfrm>
          <a:custGeom>
            <a:avLst/>
            <a:gdLst/>
            <a:ahLst/>
            <a:cxnLst/>
            <a:rect l="l" t="t" r="r" b="b"/>
            <a:pathLst>
              <a:path w="54609" h="48895">
                <a:moveTo>
                  <a:pt x="27000" y="0"/>
                </a:moveTo>
                <a:lnTo>
                  <a:pt x="16490" y="1898"/>
                </a:lnTo>
                <a:lnTo>
                  <a:pt x="7908" y="7074"/>
                </a:lnTo>
                <a:lnTo>
                  <a:pt x="2121" y="14752"/>
                </a:lnTo>
                <a:lnTo>
                  <a:pt x="0" y="24155"/>
                </a:lnTo>
                <a:lnTo>
                  <a:pt x="2121" y="33557"/>
                </a:lnTo>
                <a:lnTo>
                  <a:pt x="7908" y="41235"/>
                </a:lnTo>
                <a:lnTo>
                  <a:pt x="16490" y="46411"/>
                </a:lnTo>
                <a:lnTo>
                  <a:pt x="27000" y="48309"/>
                </a:lnTo>
                <a:lnTo>
                  <a:pt x="37510" y="46411"/>
                </a:lnTo>
                <a:lnTo>
                  <a:pt x="46092" y="41235"/>
                </a:lnTo>
                <a:lnTo>
                  <a:pt x="51878" y="33557"/>
                </a:lnTo>
                <a:lnTo>
                  <a:pt x="54000" y="24155"/>
                </a:lnTo>
                <a:lnTo>
                  <a:pt x="51878" y="14752"/>
                </a:lnTo>
                <a:lnTo>
                  <a:pt x="46092" y="7074"/>
                </a:lnTo>
                <a:lnTo>
                  <a:pt x="37510" y="1898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59605" y="5654065"/>
            <a:ext cx="83185" cy="77470"/>
          </a:xfrm>
          <a:custGeom>
            <a:avLst/>
            <a:gdLst/>
            <a:ahLst/>
            <a:cxnLst/>
            <a:rect l="l" t="t" r="r" b="b"/>
            <a:pathLst>
              <a:path w="83184" h="77470">
                <a:moveTo>
                  <a:pt x="42264" y="0"/>
                </a:moveTo>
                <a:lnTo>
                  <a:pt x="40544" y="0"/>
                </a:lnTo>
                <a:lnTo>
                  <a:pt x="26644" y="2510"/>
                </a:lnTo>
                <a:lnTo>
                  <a:pt x="0" y="37443"/>
                </a:lnTo>
                <a:lnTo>
                  <a:pt x="0" y="39592"/>
                </a:lnTo>
                <a:lnTo>
                  <a:pt x="25005" y="73907"/>
                </a:lnTo>
                <a:lnTo>
                  <a:pt x="40544" y="77036"/>
                </a:lnTo>
                <a:lnTo>
                  <a:pt x="42264" y="77036"/>
                </a:lnTo>
                <a:lnTo>
                  <a:pt x="75243" y="59769"/>
                </a:lnTo>
                <a:lnTo>
                  <a:pt x="41404" y="59769"/>
                </a:lnTo>
                <a:lnTo>
                  <a:pt x="31920" y="58056"/>
                </a:lnTo>
                <a:lnTo>
                  <a:pt x="24262" y="53437"/>
                </a:lnTo>
                <a:lnTo>
                  <a:pt x="19178" y="46691"/>
                </a:lnTo>
                <a:lnTo>
                  <a:pt x="17334" y="38518"/>
                </a:lnTo>
                <a:lnTo>
                  <a:pt x="19178" y="30344"/>
                </a:lnTo>
                <a:lnTo>
                  <a:pt x="24262" y="23599"/>
                </a:lnTo>
                <a:lnTo>
                  <a:pt x="31920" y="18980"/>
                </a:lnTo>
                <a:lnTo>
                  <a:pt x="41404" y="17267"/>
                </a:lnTo>
                <a:lnTo>
                  <a:pt x="75243" y="17267"/>
                </a:lnTo>
                <a:lnTo>
                  <a:pt x="70807" y="11380"/>
                </a:lnTo>
                <a:lnTo>
                  <a:pt x="69439" y="10146"/>
                </a:lnTo>
                <a:lnTo>
                  <a:pt x="57805" y="3129"/>
                </a:lnTo>
                <a:lnTo>
                  <a:pt x="56164" y="2510"/>
                </a:lnTo>
                <a:lnTo>
                  <a:pt x="42264" y="0"/>
                </a:lnTo>
                <a:close/>
              </a:path>
              <a:path w="83184" h="77470">
                <a:moveTo>
                  <a:pt x="75243" y="17267"/>
                </a:moveTo>
                <a:lnTo>
                  <a:pt x="41404" y="17267"/>
                </a:lnTo>
                <a:lnTo>
                  <a:pt x="50888" y="18980"/>
                </a:lnTo>
                <a:lnTo>
                  <a:pt x="58547" y="23599"/>
                </a:lnTo>
                <a:lnTo>
                  <a:pt x="63630" y="30344"/>
                </a:lnTo>
                <a:lnTo>
                  <a:pt x="65474" y="38518"/>
                </a:lnTo>
                <a:lnTo>
                  <a:pt x="63630" y="46691"/>
                </a:lnTo>
                <a:lnTo>
                  <a:pt x="58547" y="53437"/>
                </a:lnTo>
                <a:lnTo>
                  <a:pt x="50888" y="58056"/>
                </a:lnTo>
                <a:lnTo>
                  <a:pt x="41404" y="59769"/>
                </a:lnTo>
                <a:lnTo>
                  <a:pt x="75243" y="59769"/>
                </a:lnTo>
                <a:lnTo>
                  <a:pt x="78912" y="54901"/>
                </a:lnTo>
                <a:lnTo>
                  <a:pt x="79773" y="53042"/>
                </a:lnTo>
                <a:lnTo>
                  <a:pt x="82809" y="39592"/>
                </a:lnTo>
                <a:lnTo>
                  <a:pt x="82809" y="37443"/>
                </a:lnTo>
                <a:lnTo>
                  <a:pt x="79773" y="23994"/>
                </a:lnTo>
                <a:lnTo>
                  <a:pt x="78912" y="22135"/>
                </a:lnTo>
                <a:lnTo>
                  <a:pt x="75243" y="17267"/>
                </a:lnTo>
                <a:close/>
              </a:path>
              <a:path w="83184" h="77470">
                <a:moveTo>
                  <a:pt x="41404" y="23074"/>
                </a:moveTo>
                <a:lnTo>
                  <a:pt x="33971" y="24417"/>
                </a:lnTo>
                <a:lnTo>
                  <a:pt x="28160" y="27922"/>
                </a:lnTo>
                <a:lnTo>
                  <a:pt x="24483" y="32802"/>
                </a:lnTo>
                <a:lnTo>
                  <a:pt x="23192" y="38518"/>
                </a:lnTo>
                <a:lnTo>
                  <a:pt x="24483" y="44234"/>
                </a:lnTo>
                <a:lnTo>
                  <a:pt x="28160" y="49114"/>
                </a:lnTo>
                <a:lnTo>
                  <a:pt x="33971" y="52619"/>
                </a:lnTo>
                <a:lnTo>
                  <a:pt x="41404" y="53962"/>
                </a:lnTo>
                <a:lnTo>
                  <a:pt x="48837" y="52619"/>
                </a:lnTo>
                <a:lnTo>
                  <a:pt x="54649" y="49114"/>
                </a:lnTo>
                <a:lnTo>
                  <a:pt x="55372" y="48154"/>
                </a:lnTo>
                <a:lnTo>
                  <a:pt x="41404" y="48154"/>
                </a:lnTo>
                <a:lnTo>
                  <a:pt x="36022" y="47182"/>
                </a:lnTo>
                <a:lnTo>
                  <a:pt x="32059" y="44791"/>
                </a:lnTo>
                <a:lnTo>
                  <a:pt x="29786" y="41776"/>
                </a:lnTo>
                <a:lnTo>
                  <a:pt x="29051" y="38518"/>
                </a:lnTo>
                <a:lnTo>
                  <a:pt x="29786" y="35260"/>
                </a:lnTo>
                <a:lnTo>
                  <a:pt x="32059" y="32244"/>
                </a:lnTo>
                <a:lnTo>
                  <a:pt x="36022" y="29854"/>
                </a:lnTo>
                <a:lnTo>
                  <a:pt x="41404" y="28881"/>
                </a:lnTo>
                <a:lnTo>
                  <a:pt x="55372" y="28881"/>
                </a:lnTo>
                <a:lnTo>
                  <a:pt x="54649" y="27922"/>
                </a:lnTo>
                <a:lnTo>
                  <a:pt x="48837" y="24417"/>
                </a:lnTo>
                <a:lnTo>
                  <a:pt x="41404" y="23074"/>
                </a:lnTo>
                <a:close/>
              </a:path>
              <a:path w="83184" h="77470">
                <a:moveTo>
                  <a:pt x="55372" y="28881"/>
                </a:moveTo>
                <a:lnTo>
                  <a:pt x="41404" y="28881"/>
                </a:lnTo>
                <a:lnTo>
                  <a:pt x="46786" y="29854"/>
                </a:lnTo>
                <a:lnTo>
                  <a:pt x="50750" y="32244"/>
                </a:lnTo>
                <a:lnTo>
                  <a:pt x="53022" y="35260"/>
                </a:lnTo>
                <a:lnTo>
                  <a:pt x="53757" y="38518"/>
                </a:lnTo>
                <a:lnTo>
                  <a:pt x="53022" y="41776"/>
                </a:lnTo>
                <a:lnTo>
                  <a:pt x="50750" y="44791"/>
                </a:lnTo>
                <a:lnTo>
                  <a:pt x="46786" y="47182"/>
                </a:lnTo>
                <a:lnTo>
                  <a:pt x="41404" y="48154"/>
                </a:lnTo>
                <a:lnTo>
                  <a:pt x="55372" y="48154"/>
                </a:lnTo>
                <a:lnTo>
                  <a:pt x="58327" y="44234"/>
                </a:lnTo>
                <a:lnTo>
                  <a:pt x="59616" y="38518"/>
                </a:lnTo>
                <a:lnTo>
                  <a:pt x="58327" y="32802"/>
                </a:lnTo>
                <a:lnTo>
                  <a:pt x="55372" y="288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09613" y="5646752"/>
            <a:ext cx="1272540" cy="245745"/>
          </a:xfrm>
          <a:custGeom>
            <a:avLst/>
            <a:gdLst/>
            <a:ahLst/>
            <a:cxnLst/>
            <a:rect l="l" t="t" r="r" b="b"/>
            <a:pathLst>
              <a:path w="1272540" h="245745">
                <a:moveTo>
                  <a:pt x="1185398" y="28214"/>
                </a:moveTo>
                <a:lnTo>
                  <a:pt x="5303" y="217415"/>
                </a:lnTo>
                <a:lnTo>
                  <a:pt x="0" y="224744"/>
                </a:lnTo>
                <a:lnTo>
                  <a:pt x="2499" y="240327"/>
                </a:lnTo>
                <a:lnTo>
                  <a:pt x="9827" y="245630"/>
                </a:lnTo>
                <a:lnTo>
                  <a:pt x="1189921" y="56429"/>
                </a:lnTo>
                <a:lnTo>
                  <a:pt x="1185398" y="28214"/>
                </a:lnTo>
                <a:close/>
              </a:path>
              <a:path w="1272540" h="245745">
                <a:moveTo>
                  <a:pt x="1259432" y="24703"/>
                </a:moveTo>
                <a:lnTo>
                  <a:pt x="1207297" y="24703"/>
                </a:lnTo>
                <a:lnTo>
                  <a:pt x="1214625" y="30007"/>
                </a:lnTo>
                <a:lnTo>
                  <a:pt x="1217123" y="45589"/>
                </a:lnTo>
                <a:lnTo>
                  <a:pt x="1211820" y="52918"/>
                </a:lnTo>
                <a:lnTo>
                  <a:pt x="1189921" y="56429"/>
                </a:lnTo>
                <a:lnTo>
                  <a:pt x="1194445" y="84643"/>
                </a:lnTo>
                <a:lnTo>
                  <a:pt x="1272303" y="28751"/>
                </a:lnTo>
                <a:lnTo>
                  <a:pt x="1259432" y="24703"/>
                </a:lnTo>
                <a:close/>
              </a:path>
              <a:path w="1272540" h="245745">
                <a:moveTo>
                  <a:pt x="1207297" y="24703"/>
                </a:moveTo>
                <a:lnTo>
                  <a:pt x="1185398" y="28214"/>
                </a:lnTo>
                <a:lnTo>
                  <a:pt x="1189921" y="56429"/>
                </a:lnTo>
                <a:lnTo>
                  <a:pt x="1211820" y="52918"/>
                </a:lnTo>
                <a:lnTo>
                  <a:pt x="1217123" y="45589"/>
                </a:lnTo>
                <a:lnTo>
                  <a:pt x="1214625" y="30007"/>
                </a:lnTo>
                <a:lnTo>
                  <a:pt x="1207297" y="24703"/>
                </a:lnTo>
                <a:close/>
              </a:path>
              <a:path w="1272540" h="245745">
                <a:moveTo>
                  <a:pt x="1180875" y="0"/>
                </a:moveTo>
                <a:lnTo>
                  <a:pt x="1185398" y="28214"/>
                </a:lnTo>
                <a:lnTo>
                  <a:pt x="1207297" y="24703"/>
                </a:lnTo>
                <a:lnTo>
                  <a:pt x="1259432" y="24703"/>
                </a:lnTo>
                <a:lnTo>
                  <a:pt x="1180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24143" y="5651348"/>
            <a:ext cx="2247265" cy="226060"/>
          </a:xfrm>
          <a:custGeom>
            <a:avLst/>
            <a:gdLst/>
            <a:ahLst/>
            <a:cxnLst/>
            <a:rect l="l" t="t" r="r" b="b"/>
            <a:pathLst>
              <a:path w="2247265" h="226060">
                <a:moveTo>
                  <a:pt x="0" y="0"/>
                </a:moveTo>
                <a:lnTo>
                  <a:pt x="2246828" y="22567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53445" y="5034756"/>
            <a:ext cx="5320665" cy="657860"/>
          </a:xfrm>
          <a:custGeom>
            <a:avLst/>
            <a:gdLst/>
            <a:ahLst/>
            <a:cxnLst/>
            <a:rect l="l" t="t" r="r" b="b"/>
            <a:pathLst>
              <a:path w="5320665" h="657860">
                <a:moveTo>
                  <a:pt x="0" y="0"/>
                </a:moveTo>
                <a:lnTo>
                  <a:pt x="5320564" y="6578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723027" y="4647691"/>
            <a:ext cx="2447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Space of relation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dirty="0" sz="1800" spc="-1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endParaRPr baseline="27777" sz="19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1689859" y="4477491"/>
            <a:ext cx="2307590" cy="165862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127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Space of entities:</a:t>
            </a:r>
            <a:r>
              <a:rPr dirty="0" sz="1800" spc="-1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8000"/>
                </a:solidFill>
                <a:latin typeface="Cambria Math"/>
                <a:cs typeface="Cambria Math"/>
              </a:rPr>
              <a:t>𝒅</a:t>
            </a:r>
            <a:endParaRPr baseline="2777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2500">
                <a:latin typeface="Cambria Math"/>
                <a:cs typeface="Cambria Math"/>
              </a:rPr>
              <a:t>𝐭</a:t>
            </a:r>
            <a:endParaRPr sz="2500">
              <a:latin typeface="Cambria Math"/>
              <a:cs typeface="Cambria Math"/>
            </a:endParaRPr>
          </a:p>
          <a:p>
            <a:pPr algn="r" marR="468630">
              <a:lnSpc>
                <a:spcPct val="100000"/>
              </a:lnSpc>
              <a:spcBef>
                <a:spcPts val="1895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34743" y="3132327"/>
            <a:ext cx="1143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55293" y="3023107"/>
            <a:ext cx="3153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3440" algn="l"/>
              </a:tabLst>
            </a:pPr>
            <a:r>
              <a:rPr dirty="0" sz="1800" spc="-5" b="1">
                <a:latin typeface="Arial"/>
                <a:cs typeface="Arial"/>
              </a:rPr>
              <a:t>Use </a:t>
            </a: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𝐌	</a:t>
            </a:r>
            <a:r>
              <a:rPr dirty="0" sz="1800" b="1">
                <a:latin typeface="Arial"/>
                <a:cs typeface="Arial"/>
              </a:rPr>
              <a:t>to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project </a:t>
            </a:r>
            <a:r>
              <a:rPr dirty="0" sz="1800" b="1">
                <a:latin typeface="Arial"/>
                <a:cs typeface="Arial"/>
              </a:rPr>
              <a:t>from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entity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55293" y="3288284"/>
            <a:ext cx="32848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space </a:t>
            </a:r>
            <a:r>
              <a:rPr dirty="0" sz="1800" spc="-5">
                <a:solidFill>
                  <a:srgbClr val="00B050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B050"/>
                </a:solidFill>
                <a:latin typeface="Cambria Math"/>
                <a:cs typeface="Cambria Math"/>
              </a:rPr>
              <a:t>𝒅 </a:t>
            </a:r>
            <a:r>
              <a:rPr dirty="0" sz="1800" b="1">
                <a:latin typeface="Arial"/>
                <a:cs typeface="Arial"/>
              </a:rPr>
              <a:t>to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relation space</a:t>
            </a:r>
            <a:r>
              <a:rPr dirty="0" sz="1800" spc="-16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190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284">
                <a:solidFill>
                  <a:srgbClr val="0000FF"/>
                </a:solidFill>
                <a:latin typeface="Cambria Math"/>
                <a:cs typeface="Cambria Math"/>
              </a:rPr>
              <a:t>.</a:t>
            </a:r>
            <a:r>
              <a:rPr dirty="0" sz="1800" spc="190"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54899" y="4935220"/>
            <a:ext cx="4686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6666" sz="3000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endParaRPr baseline="-16666" sz="3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4615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0097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82750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0072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Symmetric</a:t>
            </a:r>
            <a:r>
              <a:rPr dirty="0" spc="-10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1953260">
              <a:lnSpc>
                <a:spcPts val="3815"/>
              </a:lnSpc>
              <a:tabLst>
                <a:tab pos="2324735" algn="l"/>
                <a:tab pos="3160395" algn="l"/>
                <a:tab pos="3997325" algn="l"/>
                <a:tab pos="4987290" algn="l"/>
              </a:tabLst>
            </a:pP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	⇒</a:t>
            </a:r>
            <a:r>
              <a:rPr dirty="0" spc="1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ℎ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108" y="2414523"/>
            <a:ext cx="6748780" cy="142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45">
                <a:latin typeface="Calibri"/>
                <a:cs typeface="Calibri"/>
              </a:rPr>
              <a:t>Family,</a:t>
            </a:r>
            <a:r>
              <a:rPr dirty="0" sz="2800" spc="-20">
                <a:latin typeface="Calibri"/>
                <a:cs typeface="Calibri"/>
              </a:rPr>
              <a:t> Roommate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symmetric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</a:t>
            </a:r>
            <a:endParaRPr sz="3200">
              <a:latin typeface="Calibri"/>
              <a:cs typeface="Calibri"/>
            </a:endParaRPr>
          </a:p>
          <a:p>
            <a:pPr marL="1252855">
              <a:lnSpc>
                <a:spcPct val="100000"/>
              </a:lnSpc>
              <a:spcBef>
                <a:spcPts val="70"/>
              </a:spcBef>
              <a:tabLst>
                <a:tab pos="2488565" algn="l"/>
              </a:tabLst>
            </a:pPr>
            <a:r>
              <a:rPr dirty="0" sz="3200">
                <a:latin typeface="Cambria Math"/>
                <a:cs typeface="Cambria Math"/>
              </a:rPr>
              <a:t>𝐫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17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0,	</a:t>
            </a:r>
            <a:r>
              <a:rPr dirty="0" sz="3200" spc="165">
                <a:latin typeface="Cambria Math"/>
                <a:cs typeface="Cambria Math"/>
              </a:rPr>
              <a:t>𝐡</a:t>
            </a:r>
            <a:r>
              <a:rPr dirty="0" baseline="-15700" sz="3450" spc="247">
                <a:latin typeface="Cambria Math"/>
                <a:cs typeface="Cambria Math"/>
              </a:rPr>
              <a:t>2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229">
                <a:latin typeface="Cambria Math"/>
                <a:cs typeface="Cambria Math"/>
              </a:rPr>
              <a:t>𝐌</a:t>
            </a:r>
            <a:r>
              <a:rPr dirty="0" baseline="-15700" sz="3450" spc="345">
                <a:latin typeface="Cambria Math"/>
                <a:cs typeface="Cambria Math"/>
              </a:rPr>
              <a:t>!</a:t>
            </a:r>
            <a:r>
              <a:rPr dirty="0" sz="3200" spc="229">
                <a:latin typeface="Cambria Math"/>
                <a:cs typeface="Cambria Math"/>
              </a:rPr>
              <a:t>𝐡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229">
                <a:latin typeface="Cambria Math"/>
                <a:cs typeface="Cambria Math"/>
              </a:rPr>
              <a:t>𝐌</a:t>
            </a:r>
            <a:r>
              <a:rPr dirty="0" baseline="-15700" sz="3450" spc="345">
                <a:latin typeface="Cambria Math"/>
                <a:cs typeface="Cambria Math"/>
              </a:rPr>
              <a:t>!</a:t>
            </a:r>
            <a:r>
              <a:rPr dirty="0" sz="3200" spc="229">
                <a:latin typeface="Cambria Math"/>
                <a:cs typeface="Cambria Math"/>
              </a:rPr>
              <a:t>𝐭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455">
                <a:latin typeface="Cambria Math"/>
                <a:cs typeface="Cambria Math"/>
              </a:rPr>
              <a:t> </a:t>
            </a:r>
            <a:r>
              <a:rPr dirty="0" sz="3200" spc="430">
                <a:latin typeface="Cambria Math"/>
                <a:cs typeface="Cambria Math"/>
              </a:rPr>
              <a:t>𝐭</a:t>
            </a:r>
            <a:r>
              <a:rPr dirty="0" baseline="-15700" sz="3450" spc="644">
                <a:latin typeface="Cambria Math"/>
                <a:cs typeface="Cambria Math"/>
              </a:rPr>
              <a:t>2</a:t>
            </a:r>
            <a:r>
              <a:rPr dirty="0" sz="3200" spc="430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850" y="4391168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4799" y="6609791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94839" y="542776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80458" y="5413386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4" h="83185">
                <a:moveTo>
                  <a:pt x="41381" y="23126"/>
                </a:moveTo>
                <a:lnTo>
                  <a:pt x="34245" y="24568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4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55837" y="5625591"/>
            <a:ext cx="219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93799" y="477216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79418" y="4757787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5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4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11472" y="5546344"/>
            <a:ext cx="8083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25">
                <a:latin typeface="Cambria Math"/>
                <a:cs typeface="Cambria Math"/>
              </a:rPr>
              <a:t>𝐭</a:t>
            </a:r>
            <a:r>
              <a:rPr dirty="0" baseline="-15432" sz="2700" spc="37">
                <a:latin typeface="Cambria Math"/>
                <a:cs typeface="Cambria Math"/>
              </a:rPr>
              <a:t>&lt;</a:t>
            </a:r>
            <a:r>
              <a:rPr dirty="0" sz="2500" spc="25">
                <a:latin typeface="Cambria Math"/>
                <a:cs typeface="Cambria Math"/>
              </a:rPr>
              <a:t>,</a:t>
            </a:r>
            <a:r>
              <a:rPr dirty="0" sz="2500" spc="-220">
                <a:latin typeface="Cambria Math"/>
                <a:cs typeface="Cambria Math"/>
              </a:rPr>
              <a:t> </a:t>
            </a:r>
            <a:r>
              <a:rPr dirty="0" sz="2500" spc="-45">
                <a:latin typeface="Cambria Math"/>
                <a:cs typeface="Cambria Math"/>
              </a:rPr>
              <a:t>𝐡</a:t>
            </a:r>
            <a:r>
              <a:rPr dirty="0" baseline="-15432" sz="2700" spc="-67">
                <a:latin typeface="Cambria Math"/>
                <a:cs typeface="Cambria Math"/>
              </a:rPr>
              <a:t>&lt;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36434" y="4383548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17384" y="6602170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23513" y="562772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09132" y="561333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7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7" y="65466"/>
                </a:lnTo>
                <a:lnTo>
                  <a:pt x="79092" y="58415"/>
                </a:lnTo>
                <a:lnTo>
                  <a:pt x="79208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08" y="24567"/>
                </a:lnTo>
                <a:lnTo>
                  <a:pt x="79091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29" y="53805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11640" y="5481768"/>
            <a:ext cx="4275455" cy="154305"/>
          </a:xfrm>
          <a:custGeom>
            <a:avLst/>
            <a:gdLst/>
            <a:ahLst/>
            <a:cxnLst/>
            <a:rect l="l" t="t" r="r" b="b"/>
            <a:pathLst>
              <a:path w="4275455" h="154304">
                <a:moveTo>
                  <a:pt x="0" y="0"/>
                </a:moveTo>
                <a:lnTo>
                  <a:pt x="4274865" y="1538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39891" y="4818260"/>
            <a:ext cx="4384040" cy="836930"/>
          </a:xfrm>
          <a:custGeom>
            <a:avLst/>
            <a:gdLst/>
            <a:ahLst/>
            <a:cxnLst/>
            <a:rect l="l" t="t" r="r" b="b"/>
            <a:pathLst>
              <a:path w="4384040" h="836929">
                <a:moveTo>
                  <a:pt x="0" y="0"/>
                </a:moveTo>
                <a:lnTo>
                  <a:pt x="4383622" y="8364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765981" y="5073903"/>
            <a:ext cx="41973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432" sz="2700" spc="97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4346528" y="4160011"/>
            <a:ext cx="4551045" cy="119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Space of relation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dirty="0" sz="1800" spc="-1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endParaRPr baseline="27777" sz="1950">
              <a:latin typeface="Cambria Math"/>
              <a:cs typeface="Cambria Math"/>
            </a:endParaRPr>
          </a:p>
          <a:p>
            <a:pPr marL="316865" marR="273685">
              <a:lnSpc>
                <a:spcPts val="1800"/>
              </a:lnSpc>
              <a:spcBef>
                <a:spcPts val="1465"/>
              </a:spcBef>
            </a:pPr>
            <a:r>
              <a:rPr dirty="0" sz="1600" spc="-15" b="1">
                <a:solidFill>
                  <a:srgbClr val="E66C7D"/>
                </a:solidFill>
                <a:latin typeface="Arial"/>
                <a:cs typeface="Arial"/>
              </a:rPr>
              <a:t>We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can map </a:t>
            </a:r>
            <a:r>
              <a:rPr dirty="0" sz="1600">
                <a:solidFill>
                  <a:srgbClr val="E66C7D"/>
                </a:solidFill>
                <a:latin typeface="Cambria Math"/>
                <a:cs typeface="Cambria Math"/>
              </a:rPr>
              <a:t>𝒉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E66C7D"/>
                </a:solidFill>
                <a:latin typeface="Cambria Math"/>
                <a:cs typeface="Cambria Math"/>
              </a:rPr>
              <a:t>𝒕 </a:t>
            </a:r>
            <a:r>
              <a:rPr dirty="0" sz="1600" b="1">
                <a:solidFill>
                  <a:srgbClr val="E66C7D"/>
                </a:solidFill>
                <a:latin typeface="Arial"/>
                <a:cs typeface="Arial"/>
              </a:rPr>
              <a:t>to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the same location  on the space of relation</a:t>
            </a:r>
            <a:r>
              <a:rPr dirty="0" sz="1600" b="1">
                <a:solidFill>
                  <a:srgbClr val="E66C7D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E66C7D"/>
                </a:solidFill>
                <a:latin typeface="Cambria Math"/>
                <a:cs typeface="Cambria Math"/>
              </a:rPr>
              <a:t>𝒓</a:t>
            </a:r>
            <a:r>
              <a:rPr dirty="0" sz="1600" b="1">
                <a:solidFill>
                  <a:srgbClr val="E66C7D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316865">
              <a:lnSpc>
                <a:spcPct val="100000"/>
              </a:lnSpc>
              <a:spcBef>
                <a:spcPts val="55"/>
              </a:spcBef>
            </a:pPr>
            <a:r>
              <a:rPr dirty="0" sz="1600">
                <a:solidFill>
                  <a:srgbClr val="E66C7D"/>
                </a:solidFill>
                <a:latin typeface="Cambria Math"/>
                <a:cs typeface="Cambria Math"/>
              </a:rPr>
              <a:t>𝒉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E66C7D"/>
                </a:solidFill>
                <a:latin typeface="Cambria Math"/>
                <a:cs typeface="Cambria Math"/>
              </a:rPr>
              <a:t>𝒕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are still different </a:t>
            </a:r>
            <a:r>
              <a:rPr dirty="0" sz="1600" b="1">
                <a:solidFill>
                  <a:srgbClr val="E66C7D"/>
                </a:solidFill>
                <a:latin typeface="Arial"/>
                <a:cs typeface="Arial"/>
              </a:rPr>
              <a:t>in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the entity</a:t>
            </a:r>
            <a:r>
              <a:rPr dirty="0" sz="1600" spc="250" b="1">
                <a:solidFill>
                  <a:srgbClr val="E66C7D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E66C7D"/>
                </a:solidFill>
                <a:latin typeface="Arial"/>
                <a:cs typeface="Arial"/>
              </a:rPr>
              <a:t>space.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2155" y="4150867"/>
            <a:ext cx="2362835" cy="62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0175">
              <a:lnSpc>
                <a:spcPts val="1939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Space of entities:</a:t>
            </a:r>
            <a:r>
              <a:rPr dirty="0" sz="1800" spc="-1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8000"/>
                </a:solidFill>
                <a:latin typeface="Cambria Math"/>
                <a:cs typeface="Cambria Math"/>
              </a:rPr>
              <a:t>𝒅</a:t>
            </a:r>
            <a:endParaRPr baseline="27777" sz="1950">
              <a:latin typeface="Cambria Math"/>
              <a:cs typeface="Cambria Math"/>
            </a:endParaRPr>
          </a:p>
          <a:p>
            <a:pPr marL="12700">
              <a:lnSpc>
                <a:spcPts val="2780"/>
              </a:lnSpc>
            </a:pPr>
            <a:r>
              <a:rPr dirty="0" sz="2500">
                <a:latin typeface="Cambria Math"/>
                <a:cs typeface="Cambria Math"/>
              </a:rPr>
              <a:t>𝐭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32615" y="1499108"/>
            <a:ext cx="1873250" cy="1113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20"/>
              </a:spcBef>
            </a:pP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Note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different  symmetric  relations may  have different</a:t>
            </a:r>
            <a:r>
              <a:rPr dirty="0" sz="1800" spc="-6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70C0"/>
                </a:solidFill>
                <a:latin typeface="Cambria Math"/>
                <a:cs typeface="Cambria Math"/>
              </a:rPr>
              <a:t>𝐌</a:t>
            </a:r>
            <a:r>
              <a:rPr dirty="0" baseline="-14957" sz="1950">
                <a:solidFill>
                  <a:srgbClr val="0070C0"/>
                </a:solidFill>
                <a:latin typeface="Cambria Math"/>
                <a:cs typeface="Cambria Math"/>
              </a:rPr>
              <a:t>𝒓</a:t>
            </a:r>
            <a:endParaRPr baseline="-14957" sz="1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65759"/>
            <a:ext cx="7699248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95122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FF"/>
                </a:solidFill>
              </a:rPr>
              <a:t>Antisymmetric</a:t>
            </a:r>
            <a:r>
              <a:rPr dirty="0" spc="-4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1802764">
              <a:lnSpc>
                <a:spcPts val="3815"/>
              </a:lnSpc>
              <a:tabLst>
                <a:tab pos="5137785" algn="l"/>
              </a:tabLst>
            </a:pP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𝑟(ℎ, 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⇒</a:t>
            </a:r>
            <a:r>
              <a:rPr dirty="0" spc="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¬𝑟(𝑡,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ℎ)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272020" cy="191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Hypernym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antisymmetric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</a:t>
            </a:r>
            <a:endParaRPr sz="3200">
              <a:latin typeface="Calibri"/>
              <a:cs typeface="Calibri"/>
            </a:endParaRPr>
          </a:p>
          <a:p>
            <a:pPr marL="1901189">
              <a:lnSpc>
                <a:spcPts val="3815"/>
              </a:lnSpc>
              <a:spcBef>
                <a:spcPts val="70"/>
              </a:spcBef>
            </a:pPr>
            <a:r>
              <a:rPr dirty="0" sz="3200">
                <a:latin typeface="Cambria Math"/>
                <a:cs typeface="Cambria Math"/>
              </a:rPr>
              <a:t>𝐫 ≠ 0, </a:t>
            </a:r>
            <a:r>
              <a:rPr dirty="0" sz="3200" spc="229">
                <a:latin typeface="Cambria Math"/>
                <a:cs typeface="Cambria Math"/>
              </a:rPr>
              <a:t>𝐌</a:t>
            </a:r>
            <a:r>
              <a:rPr dirty="0" baseline="-15700" sz="3450" spc="345">
                <a:latin typeface="Cambria Math"/>
                <a:cs typeface="Cambria Math"/>
              </a:rPr>
              <a:t>!</a:t>
            </a:r>
            <a:r>
              <a:rPr dirty="0" sz="3200" spc="229">
                <a:latin typeface="Cambria Math"/>
                <a:cs typeface="Cambria Math"/>
              </a:rPr>
              <a:t>𝐡 </a:t>
            </a:r>
            <a:r>
              <a:rPr dirty="0" sz="3200">
                <a:latin typeface="Cambria Math"/>
                <a:cs typeface="Cambria Math"/>
              </a:rPr>
              <a:t>+ 𝐫 =</a:t>
            </a:r>
            <a:r>
              <a:rPr dirty="0" sz="3200" spc="254">
                <a:latin typeface="Cambria Math"/>
                <a:cs typeface="Cambria Math"/>
              </a:rPr>
              <a:t> </a:t>
            </a:r>
            <a:r>
              <a:rPr dirty="0" sz="3200" spc="175">
                <a:latin typeface="Cambria Math"/>
                <a:cs typeface="Cambria Math"/>
              </a:rPr>
              <a:t>𝐌</a:t>
            </a:r>
            <a:r>
              <a:rPr dirty="0" baseline="-15700" sz="3450" spc="262">
                <a:latin typeface="Cambria Math"/>
                <a:cs typeface="Cambria Math"/>
              </a:rPr>
              <a:t>!</a:t>
            </a:r>
            <a:r>
              <a:rPr dirty="0" sz="3200" spc="175">
                <a:latin typeface="Cambria Math"/>
                <a:cs typeface="Cambria Math"/>
              </a:rPr>
              <a:t>𝐭,</a:t>
            </a:r>
            <a:endParaRPr sz="3200">
              <a:latin typeface="Cambria Math"/>
              <a:cs typeface="Cambria Math"/>
            </a:endParaRPr>
          </a:p>
          <a:p>
            <a:pPr marL="2085975">
              <a:lnSpc>
                <a:spcPts val="3815"/>
              </a:lnSpc>
            </a:pPr>
            <a:r>
              <a:rPr dirty="0" sz="3200" spc="-5">
                <a:latin typeface="Calibri"/>
                <a:cs typeface="Calibri"/>
              </a:rPr>
              <a:t>Then </a:t>
            </a:r>
            <a:r>
              <a:rPr dirty="0" sz="3200" spc="229">
                <a:latin typeface="Cambria Math"/>
                <a:cs typeface="Cambria Math"/>
              </a:rPr>
              <a:t>𝐌</a:t>
            </a:r>
            <a:r>
              <a:rPr dirty="0" baseline="-15700" sz="3450" spc="345">
                <a:latin typeface="Cambria Math"/>
                <a:cs typeface="Cambria Math"/>
              </a:rPr>
              <a:t>!</a:t>
            </a:r>
            <a:r>
              <a:rPr dirty="0" sz="3200" spc="229">
                <a:latin typeface="Cambria Math"/>
                <a:cs typeface="Cambria Math"/>
              </a:rPr>
              <a:t>𝐭 </a:t>
            </a:r>
            <a:r>
              <a:rPr dirty="0" sz="3200">
                <a:latin typeface="Cambria Math"/>
                <a:cs typeface="Cambria Math"/>
              </a:rPr>
              <a:t>+ 𝐫 ≠</a:t>
            </a:r>
            <a:r>
              <a:rPr dirty="0" sz="3200" spc="65">
                <a:latin typeface="Cambria Math"/>
                <a:cs typeface="Cambria Math"/>
              </a:rPr>
              <a:t> </a:t>
            </a:r>
            <a:r>
              <a:rPr dirty="0" sz="3200" spc="350">
                <a:latin typeface="Cambria Math"/>
                <a:cs typeface="Cambria Math"/>
              </a:rPr>
              <a:t>𝐌</a:t>
            </a:r>
            <a:r>
              <a:rPr dirty="0" baseline="-15700" sz="3450" spc="525">
                <a:latin typeface="Cambria Math"/>
                <a:cs typeface="Cambria Math"/>
              </a:rPr>
              <a:t>!</a:t>
            </a:r>
            <a:r>
              <a:rPr dirty="0" sz="3200" spc="350">
                <a:latin typeface="Cambria Math"/>
                <a:cs typeface="Cambria Math"/>
              </a:rPr>
              <a:t>𝐭</a:t>
            </a:r>
            <a:r>
              <a:rPr dirty="0" sz="3200" spc="350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780" y="4594225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0730" y="6812846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50770" y="563082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36388" y="5616442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3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11769" y="5829807"/>
            <a:ext cx="219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49730" y="497522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35349" y="4960843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6"/>
                </a:lnTo>
                <a:lnTo>
                  <a:pt x="79094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92365" y="4586604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73315" y="6805227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79444" y="583077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65063" y="5816395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4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67571" y="5684823"/>
            <a:ext cx="4275455" cy="154305"/>
          </a:xfrm>
          <a:custGeom>
            <a:avLst/>
            <a:gdLst/>
            <a:ahLst/>
            <a:cxnLst/>
            <a:rect l="l" t="t" r="r" b="b"/>
            <a:pathLst>
              <a:path w="4275455" h="154304">
                <a:moveTo>
                  <a:pt x="0" y="0"/>
                </a:moveTo>
                <a:lnTo>
                  <a:pt x="4274865" y="1538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95822" y="5021317"/>
            <a:ext cx="4471035" cy="399415"/>
          </a:xfrm>
          <a:custGeom>
            <a:avLst/>
            <a:gdLst/>
            <a:ahLst/>
            <a:cxnLst/>
            <a:rect l="l" t="t" r="r" b="b"/>
            <a:pathLst>
              <a:path w="4471034" h="399414">
                <a:moveTo>
                  <a:pt x="0" y="0"/>
                </a:moveTo>
                <a:lnTo>
                  <a:pt x="4470668" y="39913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21913" y="5275071"/>
            <a:ext cx="419734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6975" sz="2700" spc="97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8086" y="4361179"/>
            <a:ext cx="5292090" cy="616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0175">
              <a:lnSpc>
                <a:spcPts val="1905"/>
              </a:lnSpc>
              <a:spcBef>
                <a:spcPts val="100"/>
              </a:spcBef>
              <a:tabLst>
                <a:tab pos="2856865" algn="l"/>
              </a:tabLst>
            </a:pPr>
            <a:r>
              <a:rPr dirty="0" baseline="1543" sz="2700" spc="-7" b="1">
                <a:solidFill>
                  <a:srgbClr val="008000"/>
                </a:solidFill>
                <a:latin typeface="Arial"/>
                <a:cs typeface="Arial"/>
              </a:rPr>
              <a:t>Space of</a:t>
            </a:r>
            <a:r>
              <a:rPr dirty="0" baseline="1543" sz="2700" spc="7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baseline="1543" sz="2700" spc="-7" b="1">
                <a:solidFill>
                  <a:srgbClr val="008000"/>
                </a:solidFill>
                <a:latin typeface="Arial"/>
                <a:cs typeface="Arial"/>
              </a:rPr>
              <a:t>entities:</a:t>
            </a:r>
            <a:r>
              <a:rPr dirty="0" baseline="1543" sz="2700" spc="-157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baseline="1543" sz="2700" spc="-7">
                <a:solidFill>
                  <a:srgbClr val="008000"/>
                </a:solidFill>
                <a:latin typeface="Cambria Math"/>
                <a:cs typeface="Cambria Math"/>
              </a:rPr>
              <a:t>ℝ</a:t>
            </a:r>
            <a:r>
              <a:rPr dirty="0" baseline="29914" sz="1950" spc="-7">
                <a:solidFill>
                  <a:srgbClr val="008000"/>
                </a:solidFill>
                <a:latin typeface="Cambria Math"/>
                <a:cs typeface="Cambria Math"/>
              </a:rPr>
              <a:t>𝒅	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Space of relation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dirty="0" sz="1800" spc="-1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endParaRPr baseline="27777" sz="1950">
              <a:latin typeface="Cambria Math"/>
              <a:cs typeface="Cambria Math"/>
            </a:endParaRPr>
          </a:p>
          <a:p>
            <a:pPr marL="12700">
              <a:lnSpc>
                <a:spcPts val="2745"/>
              </a:lnSpc>
            </a:pPr>
            <a:r>
              <a:rPr dirty="0" sz="2500">
                <a:latin typeface="Cambria Math"/>
                <a:cs typeface="Cambria Math"/>
              </a:rPr>
              <a:t>𝐭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58583" y="541254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6998" y="0"/>
                </a:moveTo>
                <a:lnTo>
                  <a:pt x="16489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7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44200" y="5398165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1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7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7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6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4" h="83185">
                <a:moveTo>
                  <a:pt x="41381" y="23126"/>
                </a:moveTo>
                <a:lnTo>
                  <a:pt x="34245" y="24568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4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565371" y="5000752"/>
            <a:ext cx="523240" cy="1189990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215900">
              <a:lnSpc>
                <a:spcPct val="100000"/>
              </a:lnSpc>
              <a:spcBef>
                <a:spcPts val="1680"/>
              </a:spcBef>
            </a:pPr>
            <a:r>
              <a:rPr dirty="0" sz="2500" spc="90">
                <a:latin typeface="Cambria Math"/>
                <a:cs typeface="Cambria Math"/>
              </a:rPr>
              <a:t>𝐭</a:t>
            </a:r>
            <a:r>
              <a:rPr dirty="0" baseline="-15432" sz="2700" spc="-120">
                <a:latin typeface="Cambria Math"/>
                <a:cs typeface="Cambria Math"/>
              </a:rPr>
              <a:t>&lt;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2500" spc="-45">
                <a:latin typeface="Cambria Math"/>
                <a:cs typeface="Cambria Math"/>
              </a:rPr>
              <a:t>𝐡</a:t>
            </a:r>
            <a:r>
              <a:rPr dirty="0" baseline="-16975" sz="2700" spc="-67">
                <a:latin typeface="Cambria Math"/>
                <a:cs typeface="Cambria Math"/>
              </a:rPr>
              <a:t>&lt;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16701" y="5458638"/>
            <a:ext cx="85725" cy="414655"/>
          </a:xfrm>
          <a:custGeom>
            <a:avLst/>
            <a:gdLst/>
            <a:ahLst/>
            <a:cxnLst/>
            <a:rect l="l" t="t" r="r" b="b"/>
            <a:pathLst>
              <a:path w="85725" h="414654">
                <a:moveTo>
                  <a:pt x="28477" y="84253"/>
                </a:moveTo>
                <a:lnTo>
                  <a:pt x="1854" y="405822"/>
                </a:lnTo>
                <a:lnTo>
                  <a:pt x="7701" y="412725"/>
                </a:lnTo>
                <a:lnTo>
                  <a:pt x="23428" y="414027"/>
                </a:lnTo>
                <a:lnTo>
                  <a:pt x="30331" y="408180"/>
                </a:lnTo>
                <a:lnTo>
                  <a:pt x="56955" y="86611"/>
                </a:lnTo>
                <a:lnTo>
                  <a:pt x="28477" y="84253"/>
                </a:lnTo>
                <a:close/>
              </a:path>
              <a:path w="85725" h="414654">
                <a:moveTo>
                  <a:pt x="72346" y="56304"/>
                </a:moveTo>
                <a:lnTo>
                  <a:pt x="37209" y="56304"/>
                </a:lnTo>
                <a:lnTo>
                  <a:pt x="52938" y="57605"/>
                </a:lnTo>
                <a:lnTo>
                  <a:pt x="58785" y="64508"/>
                </a:lnTo>
                <a:lnTo>
                  <a:pt x="56955" y="86611"/>
                </a:lnTo>
                <a:lnTo>
                  <a:pt x="85432" y="88969"/>
                </a:lnTo>
                <a:lnTo>
                  <a:pt x="72346" y="56304"/>
                </a:lnTo>
                <a:close/>
              </a:path>
              <a:path w="85725" h="414654">
                <a:moveTo>
                  <a:pt x="37209" y="56304"/>
                </a:moveTo>
                <a:lnTo>
                  <a:pt x="30307" y="62151"/>
                </a:lnTo>
                <a:lnTo>
                  <a:pt x="28477" y="84253"/>
                </a:lnTo>
                <a:lnTo>
                  <a:pt x="56955" y="86611"/>
                </a:lnTo>
                <a:lnTo>
                  <a:pt x="58785" y="64508"/>
                </a:lnTo>
                <a:lnTo>
                  <a:pt x="52938" y="57605"/>
                </a:lnTo>
                <a:lnTo>
                  <a:pt x="37209" y="56304"/>
                </a:lnTo>
                <a:close/>
              </a:path>
              <a:path w="85725" h="414654">
                <a:moveTo>
                  <a:pt x="49789" y="0"/>
                </a:moveTo>
                <a:lnTo>
                  <a:pt x="0" y="81895"/>
                </a:lnTo>
                <a:lnTo>
                  <a:pt x="28477" y="84253"/>
                </a:lnTo>
                <a:lnTo>
                  <a:pt x="30307" y="62151"/>
                </a:lnTo>
                <a:lnTo>
                  <a:pt x="37209" y="56304"/>
                </a:lnTo>
                <a:lnTo>
                  <a:pt x="72346" y="56304"/>
                </a:lnTo>
                <a:lnTo>
                  <a:pt x="49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137830" y="5375655"/>
            <a:ext cx="1771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19723" y="4881879"/>
            <a:ext cx="1771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578696" y="4982928"/>
            <a:ext cx="85725" cy="414655"/>
          </a:xfrm>
          <a:custGeom>
            <a:avLst/>
            <a:gdLst/>
            <a:ahLst/>
            <a:cxnLst/>
            <a:rect l="l" t="t" r="r" b="b"/>
            <a:pathLst>
              <a:path w="85725" h="414654">
                <a:moveTo>
                  <a:pt x="28477" y="84253"/>
                </a:moveTo>
                <a:lnTo>
                  <a:pt x="1852" y="405823"/>
                </a:lnTo>
                <a:lnTo>
                  <a:pt x="7700" y="412725"/>
                </a:lnTo>
                <a:lnTo>
                  <a:pt x="23427" y="414027"/>
                </a:lnTo>
                <a:lnTo>
                  <a:pt x="30330" y="408180"/>
                </a:lnTo>
                <a:lnTo>
                  <a:pt x="56954" y="86611"/>
                </a:lnTo>
                <a:lnTo>
                  <a:pt x="28477" y="84253"/>
                </a:lnTo>
                <a:close/>
              </a:path>
              <a:path w="85725" h="414654">
                <a:moveTo>
                  <a:pt x="72345" y="56304"/>
                </a:moveTo>
                <a:lnTo>
                  <a:pt x="37209" y="56304"/>
                </a:lnTo>
                <a:lnTo>
                  <a:pt x="52937" y="57605"/>
                </a:lnTo>
                <a:lnTo>
                  <a:pt x="58784" y="64508"/>
                </a:lnTo>
                <a:lnTo>
                  <a:pt x="56954" y="86611"/>
                </a:lnTo>
                <a:lnTo>
                  <a:pt x="85431" y="88969"/>
                </a:lnTo>
                <a:lnTo>
                  <a:pt x="72345" y="56304"/>
                </a:lnTo>
                <a:close/>
              </a:path>
              <a:path w="85725" h="414654">
                <a:moveTo>
                  <a:pt x="37209" y="56304"/>
                </a:moveTo>
                <a:lnTo>
                  <a:pt x="30307" y="62151"/>
                </a:lnTo>
                <a:lnTo>
                  <a:pt x="28477" y="84253"/>
                </a:lnTo>
                <a:lnTo>
                  <a:pt x="56954" y="86611"/>
                </a:lnTo>
                <a:lnTo>
                  <a:pt x="58784" y="64508"/>
                </a:lnTo>
                <a:lnTo>
                  <a:pt x="52937" y="57605"/>
                </a:lnTo>
                <a:lnTo>
                  <a:pt x="37209" y="56304"/>
                </a:lnTo>
                <a:close/>
              </a:path>
              <a:path w="85725" h="414654">
                <a:moveTo>
                  <a:pt x="49789" y="0"/>
                </a:moveTo>
                <a:lnTo>
                  <a:pt x="0" y="81895"/>
                </a:lnTo>
                <a:lnTo>
                  <a:pt x="28477" y="84253"/>
                </a:lnTo>
                <a:lnTo>
                  <a:pt x="30307" y="62151"/>
                </a:lnTo>
                <a:lnTo>
                  <a:pt x="37209" y="56304"/>
                </a:lnTo>
                <a:lnTo>
                  <a:pt x="72345" y="56304"/>
                </a:lnTo>
                <a:lnTo>
                  <a:pt x="497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47472"/>
            <a:ext cx="637641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1921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1-to-N</a:t>
            </a:r>
            <a:r>
              <a:rPr dirty="0" spc="-7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</p:txBody>
      </p:sp>
      <p:sp>
        <p:nvSpPr>
          <p:cNvPr id="4" name="object 4"/>
          <p:cNvSpPr/>
          <p:nvPr/>
        </p:nvSpPr>
        <p:spPr>
          <a:xfrm>
            <a:off x="857250" y="4419743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8200" y="6638366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53047" y="561020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38664" y="5595822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7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7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6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3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3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8239" y="545634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13858" y="5441961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8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4"/>
                </a:lnTo>
                <a:lnTo>
                  <a:pt x="48517" y="24568"/>
                </a:lnTo>
                <a:lnTo>
                  <a:pt x="41381" y="23126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96815" y="5723127"/>
            <a:ext cx="219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27199" y="480074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8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12818" y="4786362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37028" y="5406135"/>
            <a:ext cx="219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0703" y="5559044"/>
            <a:ext cx="186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>
                <a:latin typeface="Cambria Math"/>
                <a:cs typeface="Cambria Math"/>
              </a:rPr>
              <a:t>&lt;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2205" y="5573776"/>
            <a:ext cx="32004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90">
                <a:latin typeface="Cambria Math"/>
                <a:cs typeface="Cambria Math"/>
              </a:rPr>
              <a:t>𝐭</a:t>
            </a:r>
            <a:r>
              <a:rPr dirty="0" baseline="-16975" sz="2700" spc="-120">
                <a:latin typeface="Cambria Math"/>
                <a:cs typeface="Cambria Math"/>
              </a:rPr>
              <a:t>&lt;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7341" y="5116576"/>
            <a:ext cx="1460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0373" y="5269484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479249"/>
                </a:solidFill>
                <a:latin typeface="Cambria Math"/>
                <a:cs typeface="Cambria Math"/>
              </a:rPr>
              <a:t>*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90304" y="5701791"/>
            <a:ext cx="17716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9834" y="4412123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50784" y="6630745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053874" y="586246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39493" y="5848082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29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56913" y="56562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42532" y="5641914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92419" y="5637135"/>
            <a:ext cx="1272540" cy="267970"/>
          </a:xfrm>
          <a:custGeom>
            <a:avLst/>
            <a:gdLst/>
            <a:ahLst/>
            <a:cxnLst/>
            <a:rect l="l" t="t" r="r" b="b"/>
            <a:pathLst>
              <a:path w="1272539" h="267970">
                <a:moveTo>
                  <a:pt x="1185501" y="28126"/>
                </a:moveTo>
                <a:lnTo>
                  <a:pt x="5167" y="239656"/>
                </a:lnTo>
                <a:lnTo>
                  <a:pt x="0" y="247081"/>
                </a:lnTo>
                <a:lnTo>
                  <a:pt x="2783" y="262615"/>
                </a:lnTo>
                <a:lnTo>
                  <a:pt x="10208" y="267783"/>
                </a:lnTo>
                <a:lnTo>
                  <a:pt x="1190542" y="56253"/>
                </a:lnTo>
                <a:lnTo>
                  <a:pt x="1185501" y="28126"/>
                </a:lnTo>
                <a:close/>
              </a:path>
              <a:path w="1272539" h="267970">
                <a:moveTo>
                  <a:pt x="1262709" y="24214"/>
                </a:moveTo>
                <a:lnTo>
                  <a:pt x="1207331" y="24214"/>
                </a:lnTo>
                <a:lnTo>
                  <a:pt x="1214756" y="29382"/>
                </a:lnTo>
                <a:lnTo>
                  <a:pt x="1217540" y="44916"/>
                </a:lnTo>
                <a:lnTo>
                  <a:pt x="1212372" y="52341"/>
                </a:lnTo>
                <a:lnTo>
                  <a:pt x="1190542" y="56253"/>
                </a:lnTo>
                <a:lnTo>
                  <a:pt x="1195583" y="84380"/>
                </a:lnTo>
                <a:lnTo>
                  <a:pt x="1272402" y="27068"/>
                </a:lnTo>
                <a:lnTo>
                  <a:pt x="1262709" y="24214"/>
                </a:lnTo>
                <a:close/>
              </a:path>
              <a:path w="1272539" h="267970">
                <a:moveTo>
                  <a:pt x="1207331" y="24214"/>
                </a:moveTo>
                <a:lnTo>
                  <a:pt x="1185501" y="28126"/>
                </a:lnTo>
                <a:lnTo>
                  <a:pt x="1190542" y="56253"/>
                </a:lnTo>
                <a:lnTo>
                  <a:pt x="1212372" y="52341"/>
                </a:lnTo>
                <a:lnTo>
                  <a:pt x="1217540" y="44916"/>
                </a:lnTo>
                <a:lnTo>
                  <a:pt x="1214756" y="29382"/>
                </a:lnTo>
                <a:lnTo>
                  <a:pt x="1207331" y="24214"/>
                </a:lnTo>
                <a:close/>
              </a:path>
              <a:path w="1272539" h="267970">
                <a:moveTo>
                  <a:pt x="1180461" y="0"/>
                </a:moveTo>
                <a:lnTo>
                  <a:pt x="1185501" y="28126"/>
                </a:lnTo>
                <a:lnTo>
                  <a:pt x="1207331" y="24214"/>
                </a:lnTo>
                <a:lnTo>
                  <a:pt x="1262709" y="24214"/>
                </a:lnTo>
                <a:lnTo>
                  <a:pt x="1180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807046" y="5637203"/>
            <a:ext cx="2247265" cy="252729"/>
          </a:xfrm>
          <a:custGeom>
            <a:avLst/>
            <a:gdLst/>
            <a:ahLst/>
            <a:cxnLst/>
            <a:rect l="l" t="t" r="r" b="b"/>
            <a:pathLst>
              <a:path w="2247265" h="252729">
                <a:moveTo>
                  <a:pt x="0" y="0"/>
                </a:moveTo>
                <a:lnTo>
                  <a:pt x="2246828" y="2522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045040" y="5510343"/>
            <a:ext cx="4275455" cy="154305"/>
          </a:xfrm>
          <a:custGeom>
            <a:avLst/>
            <a:gdLst/>
            <a:ahLst/>
            <a:cxnLst/>
            <a:rect l="l" t="t" r="r" b="b"/>
            <a:pathLst>
              <a:path w="4275455" h="154304">
                <a:moveTo>
                  <a:pt x="0" y="0"/>
                </a:moveTo>
                <a:lnTo>
                  <a:pt x="4274865" y="1538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73291" y="4846835"/>
            <a:ext cx="4384040" cy="836930"/>
          </a:xfrm>
          <a:custGeom>
            <a:avLst/>
            <a:gdLst/>
            <a:ahLst/>
            <a:cxnLst/>
            <a:rect l="l" t="t" r="r" b="b"/>
            <a:pathLst>
              <a:path w="4384040" h="836929">
                <a:moveTo>
                  <a:pt x="0" y="0"/>
                </a:moveTo>
                <a:lnTo>
                  <a:pt x="4383622" y="8364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18108" y="1920747"/>
            <a:ext cx="7179945" cy="333438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625475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00">
                <a:solidFill>
                  <a:srgbClr val="D9253E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150">
                <a:solidFill>
                  <a:srgbClr val="D9253E"/>
                </a:solidFill>
                <a:latin typeface="Cambria Math"/>
                <a:cs typeface="Cambria Math"/>
              </a:rPr>
              <a:t>(</a:t>
            </a:r>
            <a:r>
              <a:rPr dirty="0" sz="2800" spc="100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solidFill>
                  <a:srgbClr val="479249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37">
                <a:solidFill>
                  <a:srgbClr val="479249"/>
                </a:solidFill>
                <a:latin typeface="Cambria Math"/>
                <a:cs typeface="Cambria Math"/>
              </a:rPr>
              <a:t>7</a:t>
            </a:r>
            <a:r>
              <a:rPr dirty="0" sz="2800" spc="25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20">
                <a:latin typeface="Calibri"/>
                <a:cs typeface="Calibri"/>
              </a:rPr>
              <a:t>exist</a:t>
            </a:r>
            <a:r>
              <a:rPr dirty="0" sz="2800" spc="-5">
                <a:latin typeface="Calibri"/>
                <a:cs typeface="Calibri"/>
              </a:rPr>
              <a:t> in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knowledge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graph.</a:t>
            </a:r>
            <a:endParaRPr sz="2800">
              <a:latin typeface="Calibri"/>
              <a:cs typeface="Calibri"/>
            </a:endParaRPr>
          </a:p>
          <a:p>
            <a:pPr marL="332740" marR="79248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1-to-N relations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learn </a:t>
            </a:r>
            <a:r>
              <a:rPr dirty="0" sz="2800" spc="100">
                <a:latin typeface="Cambria Math"/>
                <a:cs typeface="Cambria Math"/>
              </a:rPr>
              <a:t>𝐌</a:t>
            </a:r>
            <a:r>
              <a:rPr dirty="0" baseline="-15277" sz="3000" spc="150">
                <a:latin typeface="Cambria Math"/>
                <a:cs typeface="Cambria Math"/>
              </a:rPr>
              <a:t>* </a:t>
            </a:r>
            <a:r>
              <a:rPr dirty="0" sz="2800">
                <a:latin typeface="Calibri"/>
                <a:cs typeface="Calibri"/>
              </a:rPr>
              <a:t>so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0">
                <a:latin typeface="Cambria Math"/>
                <a:cs typeface="Cambria Math"/>
              </a:rPr>
              <a:t>𝐭</a:t>
            </a:r>
            <a:r>
              <a:rPr dirty="0" baseline="-15277" sz="3000" spc="0">
                <a:latin typeface="Cambria Math"/>
                <a:cs typeface="Cambria Math"/>
              </a:rPr>
              <a:t>&lt;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175">
                <a:latin typeface="Cambria Math"/>
                <a:cs typeface="Cambria Math"/>
              </a:rPr>
              <a:t>𝐌</a:t>
            </a:r>
            <a:r>
              <a:rPr dirty="0" baseline="-15277" sz="3000" spc="262">
                <a:latin typeface="Cambria Math"/>
                <a:cs typeface="Cambria Math"/>
              </a:rPr>
              <a:t>*</a:t>
            </a:r>
            <a:r>
              <a:rPr dirty="0" sz="2800" spc="17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5277" sz="3000" spc="262">
                <a:solidFill>
                  <a:srgbClr val="D9253E"/>
                </a:solidFill>
                <a:latin typeface="Cambria Math"/>
                <a:cs typeface="Cambria Math"/>
              </a:rPr>
              <a:t>(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225">
                <a:latin typeface="Cambria Math"/>
                <a:cs typeface="Cambria Math"/>
              </a:rPr>
              <a:t> </a:t>
            </a:r>
            <a:r>
              <a:rPr dirty="0" sz="2800" spc="114">
                <a:latin typeface="Cambria Math"/>
                <a:cs typeface="Cambria Math"/>
              </a:rPr>
              <a:t>𝐌</a:t>
            </a:r>
            <a:r>
              <a:rPr dirty="0" baseline="-15277" sz="3000" spc="172">
                <a:latin typeface="Cambria Math"/>
                <a:cs typeface="Cambria Math"/>
              </a:rPr>
              <a:t>*</a:t>
            </a:r>
            <a:r>
              <a:rPr dirty="0" sz="2800" spc="114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277" sz="3000" spc="172">
                <a:solidFill>
                  <a:srgbClr val="479249"/>
                </a:solidFill>
                <a:latin typeface="Cambria Math"/>
                <a:cs typeface="Cambria Math"/>
              </a:rPr>
              <a:t>7</a:t>
            </a:r>
            <a:endParaRPr baseline="-15277" sz="30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Note that </a:t>
            </a:r>
            <a:r>
              <a:rPr dirty="0" sz="2600" spc="36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6081" sz="2850" spc="547">
                <a:solidFill>
                  <a:srgbClr val="D9253E"/>
                </a:solidFill>
                <a:latin typeface="Cambria Math"/>
                <a:cs typeface="Cambria Math"/>
              </a:rPr>
              <a:t>. </a:t>
            </a:r>
            <a:r>
              <a:rPr dirty="0" sz="2600" spc="-5">
                <a:latin typeface="Calibri"/>
                <a:cs typeface="Calibri"/>
              </a:rPr>
              <a:t>does not </a:t>
            </a:r>
            <a:r>
              <a:rPr dirty="0" sz="2600" spc="-10">
                <a:latin typeface="Calibri"/>
                <a:cs typeface="Calibri"/>
              </a:rPr>
              <a:t>need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be equal </a:t>
            </a:r>
            <a:r>
              <a:rPr dirty="0" sz="2600" spc="-15">
                <a:latin typeface="Calibri"/>
                <a:cs typeface="Calibri"/>
              </a:rPr>
              <a:t>to</a:t>
            </a:r>
            <a:r>
              <a:rPr dirty="0" sz="2600" spc="-250">
                <a:latin typeface="Calibri"/>
                <a:cs typeface="Calibri"/>
              </a:rPr>
              <a:t> </a:t>
            </a:r>
            <a:r>
              <a:rPr dirty="0" sz="2600" spc="105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6081" sz="2850" spc="157">
                <a:solidFill>
                  <a:srgbClr val="479249"/>
                </a:solidFill>
                <a:latin typeface="Cambria Math"/>
                <a:cs typeface="Cambria Math"/>
              </a:rPr>
              <a:t>/</a:t>
            </a:r>
            <a:r>
              <a:rPr dirty="0" sz="2600" spc="105">
                <a:latin typeface="Cambria Math"/>
                <a:cs typeface="Cambria Math"/>
              </a:rPr>
              <a:t>!</a:t>
            </a:r>
            <a:endParaRPr sz="2600">
              <a:latin typeface="Cambria Math"/>
              <a:cs typeface="Cambria Math"/>
            </a:endParaRPr>
          </a:p>
          <a:p>
            <a:pPr marL="1429385">
              <a:lnSpc>
                <a:spcPct val="100000"/>
              </a:lnSpc>
              <a:spcBef>
                <a:spcPts val="1080"/>
              </a:spcBef>
            </a:pPr>
            <a:r>
              <a:rPr dirty="0" sz="2500" spc="15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6975" sz="2700" spc="232">
                <a:solidFill>
                  <a:srgbClr val="D9253E"/>
                </a:solidFill>
                <a:latin typeface="Cambria Math"/>
                <a:cs typeface="Cambria Math"/>
              </a:rPr>
              <a:t>)</a:t>
            </a:r>
            <a:endParaRPr baseline="-16975" sz="2700">
              <a:latin typeface="Cambria Math"/>
              <a:cs typeface="Cambria Math"/>
            </a:endParaRPr>
          </a:p>
          <a:p>
            <a:pPr algn="ctr" marR="802005">
              <a:lnSpc>
                <a:spcPct val="100000"/>
              </a:lnSpc>
              <a:spcBef>
                <a:spcPts val="550"/>
              </a:spcBef>
            </a:pPr>
            <a:r>
              <a:rPr dirty="0" sz="2500" spc="2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432" sz="2700" spc="37">
                <a:solidFill>
                  <a:srgbClr val="0000FF"/>
                </a:solidFill>
                <a:latin typeface="Cambria Math"/>
                <a:cs typeface="Cambria Math"/>
              </a:rPr>
              <a:t>/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3186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5306060" cy="952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>
                <a:solidFill>
                  <a:srgbClr val="0000FF"/>
                </a:solidFill>
              </a:rPr>
              <a:t>Inverse</a:t>
            </a:r>
            <a:r>
              <a:rPr dirty="0" sz="3000" spc="-65">
                <a:solidFill>
                  <a:srgbClr val="0000FF"/>
                </a:solidFill>
              </a:rPr>
              <a:t> </a:t>
            </a:r>
            <a:r>
              <a:rPr dirty="0" sz="3000" spc="-10">
                <a:solidFill>
                  <a:srgbClr val="000000"/>
                </a:solidFill>
              </a:rPr>
              <a:t>Relations:</a:t>
            </a:r>
            <a:endParaRPr sz="3000"/>
          </a:p>
          <a:p>
            <a:pPr marL="2456815">
              <a:lnSpc>
                <a:spcPct val="100000"/>
              </a:lnSpc>
              <a:spcBef>
                <a:spcPts val="95"/>
              </a:spcBef>
            </a:pPr>
            <a:r>
              <a:rPr dirty="0" sz="3000" spc="85" b="0">
                <a:solidFill>
                  <a:srgbClr val="008000"/>
                </a:solidFill>
                <a:latin typeface="Cambria Math"/>
                <a:cs typeface="Cambria Math"/>
              </a:rPr>
              <a:t>𝑟</a:t>
            </a:r>
            <a:r>
              <a:rPr dirty="0" baseline="-15151" sz="3300" spc="127" b="0">
                <a:solidFill>
                  <a:srgbClr val="008000"/>
                </a:solidFill>
                <a:latin typeface="Cambria Math"/>
                <a:cs typeface="Cambria Math"/>
              </a:rPr>
              <a:t>:</a:t>
            </a:r>
            <a:r>
              <a:rPr dirty="0" sz="3000" spc="85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z="300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⇒ </a:t>
            </a:r>
            <a:r>
              <a:rPr dirty="0" sz="3000" spc="80" b="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5151" sz="3300" spc="120" b="0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dirty="0" sz="3000" spc="80" b="0">
                <a:solidFill>
                  <a:srgbClr val="000000"/>
                </a:solidFill>
                <a:latin typeface="Cambria Math"/>
                <a:cs typeface="Cambria Math"/>
              </a:rPr>
              <a:t>(𝑡,</a:t>
            </a:r>
            <a:r>
              <a:rPr dirty="0" sz="3000" spc="-14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spc="15" b="0">
                <a:solidFill>
                  <a:srgbClr val="000000"/>
                </a:solidFill>
                <a:latin typeface="Cambria Math"/>
                <a:cs typeface="Cambria Math"/>
              </a:rPr>
              <a:t>ℎ)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63140"/>
            <a:ext cx="7849234" cy="17519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9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solidFill>
                  <a:srgbClr val="008000"/>
                </a:solidFill>
                <a:latin typeface="Calibri"/>
                <a:cs typeface="Calibri"/>
              </a:rPr>
              <a:t>Example </a:t>
            </a:r>
            <a:r>
              <a:rPr dirty="0" sz="2600">
                <a:latin typeface="Calibri"/>
                <a:cs typeface="Calibri"/>
              </a:rPr>
              <a:t>: </a:t>
            </a:r>
            <a:r>
              <a:rPr dirty="0" sz="2600" spc="-30">
                <a:latin typeface="Calibri"/>
                <a:cs typeface="Calibri"/>
              </a:rPr>
              <a:t>(Advisor,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Advisee)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0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000" spc="-15">
                <a:latin typeface="Calibri"/>
                <a:cs typeface="Calibri"/>
              </a:rPr>
              <a:t>can </a:t>
            </a:r>
            <a:r>
              <a:rPr dirty="0" sz="3000" spc="-5">
                <a:latin typeface="Calibri"/>
                <a:cs typeface="Calibri"/>
              </a:rPr>
              <a:t>model </a:t>
            </a:r>
            <a:r>
              <a:rPr dirty="0" sz="3000" spc="-25">
                <a:latin typeface="Calibri"/>
                <a:cs typeface="Calibri"/>
              </a:rPr>
              <a:t>inverse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relations</a:t>
            </a:r>
            <a:endParaRPr sz="3000">
              <a:latin typeface="Calibri"/>
              <a:cs typeface="Calibri"/>
            </a:endParaRPr>
          </a:p>
          <a:p>
            <a:pPr marL="2231390">
              <a:lnSpc>
                <a:spcPct val="100000"/>
              </a:lnSpc>
              <a:spcBef>
                <a:spcPts val="95"/>
              </a:spcBef>
            </a:pPr>
            <a:r>
              <a:rPr dirty="0" sz="3000" spc="215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5151" sz="3300" spc="322">
                <a:solidFill>
                  <a:srgbClr val="008000"/>
                </a:solidFill>
                <a:latin typeface="Cambria Math"/>
                <a:cs typeface="Cambria Math"/>
              </a:rPr>
              <a:t>: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105">
                <a:latin typeface="Cambria Math"/>
                <a:cs typeface="Cambria Math"/>
              </a:rPr>
              <a:t>−</a:t>
            </a:r>
            <a:r>
              <a:rPr dirty="0" sz="3000" spc="105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5151" sz="3300" spc="157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r>
              <a:rPr dirty="0" sz="3000" spc="105">
                <a:latin typeface="Cambria Math"/>
                <a:cs typeface="Cambria Math"/>
              </a:rPr>
              <a:t>, </a:t>
            </a:r>
            <a:r>
              <a:rPr dirty="0" sz="3000" spc="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 spc="7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r>
              <a:rPr dirty="0" baseline="-32407" sz="2700" spc="7">
                <a:solidFill>
                  <a:srgbClr val="C00000"/>
                </a:solidFill>
                <a:latin typeface="Cambria Math"/>
                <a:cs typeface="Cambria Math"/>
              </a:rPr>
              <a:t>?  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-200">
                <a:latin typeface="Cambria Math"/>
                <a:cs typeface="Cambria Math"/>
              </a:rPr>
              <a:t> </a:t>
            </a:r>
            <a:r>
              <a:rPr dirty="0" sz="3000" spc="-270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 spc="-405">
                <a:solidFill>
                  <a:srgbClr val="008000"/>
                </a:solidFill>
                <a:latin typeface="Cambria Math"/>
                <a:cs typeface="Cambria Math"/>
              </a:rPr>
              <a:t>8</a:t>
            </a:r>
            <a:r>
              <a:rPr dirty="0" baseline="-32407" sz="2700" spc="-405">
                <a:solidFill>
                  <a:srgbClr val="008000"/>
                </a:solidFill>
                <a:latin typeface="Cambria Math"/>
                <a:cs typeface="Cambria Math"/>
              </a:rPr>
              <a:t>@</a:t>
            </a:r>
            <a:endParaRPr baseline="-32407" sz="2700">
              <a:latin typeface="Cambria Math"/>
              <a:cs typeface="Cambria Math"/>
            </a:endParaRPr>
          </a:p>
          <a:p>
            <a:pPr marL="151130">
              <a:lnSpc>
                <a:spcPct val="100000"/>
              </a:lnSpc>
            </a:pPr>
            <a:r>
              <a:rPr dirty="0" sz="3000" spc="-5">
                <a:latin typeface="Calibri"/>
                <a:cs typeface="Calibri"/>
              </a:rPr>
              <a:t>Then </a:t>
            </a:r>
            <a:r>
              <a:rPr dirty="0" sz="3000" spc="3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 spc="52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r>
              <a:rPr dirty="0" baseline="-32407" sz="2700" spc="52">
                <a:solidFill>
                  <a:srgbClr val="C00000"/>
                </a:solidFill>
                <a:latin typeface="Cambria Math"/>
                <a:cs typeface="Cambria Math"/>
              </a:rPr>
              <a:t>?</a:t>
            </a:r>
            <a:r>
              <a:rPr dirty="0" sz="3000" spc="35">
                <a:latin typeface="Cambria Math"/>
                <a:cs typeface="Cambria Math"/>
              </a:rPr>
              <a:t>𝐭 </a:t>
            </a:r>
            <a:r>
              <a:rPr dirty="0" sz="3000">
                <a:latin typeface="Cambria Math"/>
                <a:cs typeface="Cambria Math"/>
              </a:rPr>
              <a:t>+ </a:t>
            </a:r>
            <a:r>
              <a:rPr dirty="0" sz="3000" spc="-125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5151" sz="3300" spc="-187">
                <a:solidFill>
                  <a:srgbClr val="C00000"/>
                </a:solidFill>
                <a:latin typeface="Cambria Math"/>
                <a:cs typeface="Cambria Math"/>
              </a:rPr>
              <a:t>𝟏  </a:t>
            </a:r>
            <a:r>
              <a:rPr dirty="0" sz="3000">
                <a:latin typeface="Cambria Math"/>
                <a:cs typeface="Cambria Math"/>
              </a:rPr>
              <a:t>= </a:t>
            </a:r>
            <a:r>
              <a:rPr dirty="0" sz="3000" spc="3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 spc="52">
                <a:solidFill>
                  <a:srgbClr val="C00000"/>
                </a:solidFill>
                <a:latin typeface="Cambria Math"/>
                <a:cs typeface="Cambria Math"/>
              </a:rPr>
              <a:t>8</a:t>
            </a:r>
            <a:r>
              <a:rPr dirty="0" baseline="-32407" sz="2700" spc="52">
                <a:solidFill>
                  <a:srgbClr val="C00000"/>
                </a:solidFill>
                <a:latin typeface="Cambria Math"/>
                <a:cs typeface="Cambria Math"/>
              </a:rPr>
              <a:t>?</a:t>
            </a:r>
            <a:r>
              <a:rPr dirty="0" sz="3000" spc="35">
                <a:latin typeface="Cambria Math"/>
                <a:cs typeface="Cambria Math"/>
              </a:rPr>
              <a:t>𝐡 </a:t>
            </a:r>
            <a:r>
              <a:rPr dirty="0" sz="3000" spc="-5">
                <a:latin typeface="Calibri"/>
                <a:cs typeface="Calibri"/>
              </a:rPr>
              <a:t>and </a:t>
            </a:r>
            <a:r>
              <a:rPr dirty="0" sz="3000" spc="-170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 spc="-254">
                <a:solidFill>
                  <a:srgbClr val="008000"/>
                </a:solidFill>
                <a:latin typeface="Cambria Math"/>
                <a:cs typeface="Cambria Math"/>
              </a:rPr>
              <a:t>8</a:t>
            </a:r>
            <a:r>
              <a:rPr dirty="0" baseline="-32407" sz="2700" spc="-254">
                <a:solidFill>
                  <a:srgbClr val="008000"/>
                </a:solidFill>
                <a:latin typeface="Cambria Math"/>
                <a:cs typeface="Cambria Math"/>
              </a:rPr>
              <a:t>@</a:t>
            </a:r>
            <a:r>
              <a:rPr dirty="0" sz="3000" spc="-170">
                <a:latin typeface="Cambria Math"/>
                <a:cs typeface="Cambria Math"/>
              </a:rPr>
              <a:t>𝐡  </a:t>
            </a:r>
            <a:r>
              <a:rPr dirty="0" sz="3000">
                <a:latin typeface="Cambria Math"/>
                <a:cs typeface="Cambria Math"/>
              </a:rPr>
              <a:t>+ </a:t>
            </a:r>
            <a:r>
              <a:rPr dirty="0" sz="3000" spc="-125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5151" sz="3300" spc="-187">
                <a:solidFill>
                  <a:srgbClr val="008000"/>
                </a:solidFill>
                <a:latin typeface="Cambria Math"/>
                <a:cs typeface="Cambria Math"/>
              </a:rPr>
              <a:t>𝟐  </a:t>
            </a:r>
            <a:r>
              <a:rPr dirty="0" sz="3000">
                <a:latin typeface="Cambria Math"/>
                <a:cs typeface="Cambria Math"/>
              </a:rPr>
              <a:t>=</a:t>
            </a:r>
            <a:r>
              <a:rPr dirty="0" sz="3000" spc="-135">
                <a:latin typeface="Cambria Math"/>
                <a:cs typeface="Cambria Math"/>
              </a:rPr>
              <a:t> </a:t>
            </a:r>
            <a:r>
              <a:rPr dirty="0" sz="3000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5151" sz="3300">
                <a:solidFill>
                  <a:srgbClr val="008000"/>
                </a:solidFill>
                <a:latin typeface="Cambria Math"/>
                <a:cs typeface="Cambria Math"/>
              </a:rPr>
              <a:t>8</a:t>
            </a:r>
            <a:r>
              <a:rPr dirty="0" baseline="-32407" sz="2700">
                <a:solidFill>
                  <a:srgbClr val="008000"/>
                </a:solidFill>
                <a:latin typeface="Cambria Math"/>
                <a:cs typeface="Cambria Math"/>
              </a:rPr>
              <a:t>@</a:t>
            </a:r>
            <a:r>
              <a:rPr dirty="0" sz="3000">
                <a:latin typeface="Cambria Math"/>
                <a:cs typeface="Cambria Math"/>
              </a:rPr>
              <a:t>𝐭</a:t>
            </a:r>
            <a:r>
              <a:rPr dirty="0" sz="3000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9780" y="4582795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0730" y="6801416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50770" y="5619393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6999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6999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36388" y="5605012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2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3" y="56564"/>
                </a:lnTo>
                <a:lnTo>
                  <a:pt x="82763" y="42342"/>
                </a:lnTo>
                <a:lnTo>
                  <a:pt x="82763" y="40420"/>
                </a:lnTo>
                <a:lnTo>
                  <a:pt x="79893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49730" y="4963795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8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7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35349" y="4949413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200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8" y="3604"/>
                </a:lnTo>
                <a:lnTo>
                  <a:pt x="56564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9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3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198"/>
                </a:lnTo>
                <a:lnTo>
                  <a:pt x="79210" y="24566"/>
                </a:lnTo>
                <a:lnTo>
                  <a:pt x="79094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5" y="28464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8" y="54297"/>
                </a:lnTo>
                <a:lnTo>
                  <a:pt x="54630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1" y="28957"/>
                </a:lnTo>
                <a:lnTo>
                  <a:pt x="54298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31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0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1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92365" y="4575175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73315" y="6793796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40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79444" y="5819347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8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8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10" y="51878"/>
                </a:lnTo>
                <a:lnTo>
                  <a:pt x="46092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2" y="7908"/>
                </a:lnTo>
                <a:lnTo>
                  <a:pt x="37510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65063" y="5804965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9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8" y="58415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6"/>
                </a:lnTo>
                <a:lnTo>
                  <a:pt x="24348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9" y="17296"/>
                </a:lnTo>
                <a:lnTo>
                  <a:pt x="71293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9" y="17296"/>
                </a:moveTo>
                <a:lnTo>
                  <a:pt x="41381" y="17296"/>
                </a:lnTo>
                <a:lnTo>
                  <a:pt x="50766" y="19191"/>
                </a:lnTo>
                <a:lnTo>
                  <a:pt x="58414" y="24348"/>
                </a:lnTo>
                <a:lnTo>
                  <a:pt x="63572" y="31996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4" y="58415"/>
                </a:lnTo>
                <a:lnTo>
                  <a:pt x="50766" y="63571"/>
                </a:lnTo>
                <a:lnTo>
                  <a:pt x="41381" y="65466"/>
                </a:lnTo>
                <a:lnTo>
                  <a:pt x="74339" y="65466"/>
                </a:lnTo>
                <a:lnTo>
                  <a:pt x="79093" y="58415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10" y="24567"/>
                </a:lnTo>
                <a:lnTo>
                  <a:pt x="79093" y="24348"/>
                </a:lnTo>
                <a:lnTo>
                  <a:pt x="74339" y="17296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5" y="24567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8" y="54298"/>
                </a:lnTo>
                <a:lnTo>
                  <a:pt x="54630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7"/>
                </a:lnTo>
                <a:lnTo>
                  <a:pt x="41381" y="23127"/>
                </a:lnTo>
                <a:close/>
              </a:path>
              <a:path w="83184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2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30" y="53805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67571" y="5673394"/>
            <a:ext cx="4275455" cy="154305"/>
          </a:xfrm>
          <a:custGeom>
            <a:avLst/>
            <a:gdLst/>
            <a:ahLst/>
            <a:cxnLst/>
            <a:rect l="l" t="t" r="r" b="b"/>
            <a:pathLst>
              <a:path w="4275455" h="154304">
                <a:moveTo>
                  <a:pt x="0" y="0"/>
                </a:moveTo>
                <a:lnTo>
                  <a:pt x="4274865" y="15386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95822" y="4888179"/>
            <a:ext cx="4497705" cy="121920"/>
          </a:xfrm>
          <a:custGeom>
            <a:avLst/>
            <a:gdLst/>
            <a:ahLst/>
            <a:cxnLst/>
            <a:rect l="l" t="t" r="r" b="b"/>
            <a:pathLst>
              <a:path w="4497705" h="121920">
                <a:moveTo>
                  <a:pt x="0" y="121707"/>
                </a:moveTo>
                <a:lnTo>
                  <a:pt x="449766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11769" y="4342891"/>
            <a:ext cx="2409190" cy="1881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6530">
              <a:lnSpc>
                <a:spcPts val="1939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Space of entities:</a:t>
            </a:r>
            <a:r>
              <a:rPr dirty="0" sz="1800" spc="-17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8000"/>
                </a:solidFill>
                <a:latin typeface="Cambria Math"/>
                <a:cs typeface="Cambria Math"/>
              </a:rPr>
              <a:t>𝒅</a:t>
            </a:r>
            <a:endParaRPr baseline="27777" sz="1950">
              <a:latin typeface="Cambria Math"/>
              <a:cs typeface="Cambria Math"/>
            </a:endParaRPr>
          </a:p>
          <a:p>
            <a:pPr marL="58419">
              <a:lnSpc>
                <a:spcPts val="2780"/>
              </a:lnSpc>
            </a:pPr>
            <a:r>
              <a:rPr dirty="0" sz="2500">
                <a:latin typeface="Cambria Math"/>
                <a:cs typeface="Cambria Math"/>
              </a:rPr>
              <a:t>𝐭</a:t>
            </a:r>
            <a:endParaRPr sz="2500">
              <a:latin typeface="Cambria Math"/>
              <a:cs typeface="Cambria Math"/>
            </a:endParaRPr>
          </a:p>
          <a:p>
            <a:pPr marL="982344">
              <a:lnSpc>
                <a:spcPct val="100000"/>
              </a:lnSpc>
              <a:spcBef>
                <a:spcPts val="2014"/>
              </a:spcBef>
            </a:pPr>
            <a:r>
              <a:rPr dirty="0" sz="2500" spc="0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6975" sz="2700" spc="0">
                <a:solidFill>
                  <a:srgbClr val="C00000"/>
                </a:solidFill>
                <a:latin typeface="Cambria Math"/>
                <a:cs typeface="Cambria Math"/>
              </a:rPr>
              <a:t>/</a:t>
            </a:r>
            <a:r>
              <a:rPr dirty="0" baseline="-33333" sz="2250" spc="0">
                <a:solidFill>
                  <a:srgbClr val="C00000"/>
                </a:solidFill>
                <a:latin typeface="Cambria Math"/>
                <a:cs typeface="Cambria Math"/>
              </a:rPr>
              <a:t>$  </a:t>
            </a:r>
            <a:r>
              <a:rPr dirty="0" sz="2500">
                <a:latin typeface="Cambria Math"/>
                <a:cs typeface="Cambria Math"/>
              </a:rPr>
              <a:t>=</a:t>
            </a:r>
            <a:r>
              <a:rPr dirty="0" sz="2500" spc="-95">
                <a:latin typeface="Cambria Math"/>
                <a:cs typeface="Cambria Math"/>
              </a:rPr>
              <a:t> </a:t>
            </a:r>
            <a:r>
              <a:rPr dirty="0" sz="2500" spc="-185">
                <a:solidFill>
                  <a:srgbClr val="0000FF"/>
                </a:solidFill>
                <a:latin typeface="Cambria Math"/>
                <a:cs typeface="Cambria Math"/>
              </a:rPr>
              <a:t>𝐌</a:t>
            </a:r>
            <a:r>
              <a:rPr dirty="0" baseline="-16975" sz="2700" spc="-277">
                <a:solidFill>
                  <a:srgbClr val="008000"/>
                </a:solidFill>
                <a:latin typeface="Cambria Math"/>
                <a:cs typeface="Cambria Math"/>
              </a:rPr>
              <a:t>/</a:t>
            </a:r>
            <a:r>
              <a:rPr dirty="0" baseline="-33333" sz="2250" spc="-277">
                <a:solidFill>
                  <a:srgbClr val="008000"/>
                </a:solidFill>
                <a:latin typeface="Cambria Math"/>
                <a:cs typeface="Cambria Math"/>
              </a:rPr>
              <a:t>%</a:t>
            </a:r>
            <a:endParaRPr baseline="-33333" sz="22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 sz="2500">
                <a:latin typeface="Cambria Math"/>
                <a:cs typeface="Cambria Math"/>
              </a:rPr>
              <a:t>𝐡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85582" y="4880272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09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89"/>
                </a:lnTo>
                <a:lnTo>
                  <a:pt x="0" y="26998"/>
                </a:lnTo>
                <a:lnTo>
                  <a:pt x="2121" y="37508"/>
                </a:lnTo>
                <a:lnTo>
                  <a:pt x="7907" y="46091"/>
                </a:lnTo>
                <a:lnTo>
                  <a:pt x="16490" y="51877"/>
                </a:lnTo>
                <a:lnTo>
                  <a:pt x="27000" y="53999"/>
                </a:lnTo>
                <a:lnTo>
                  <a:pt x="37509" y="51877"/>
                </a:lnTo>
                <a:lnTo>
                  <a:pt x="46091" y="46091"/>
                </a:lnTo>
                <a:lnTo>
                  <a:pt x="51878" y="37508"/>
                </a:lnTo>
                <a:lnTo>
                  <a:pt x="54000" y="26998"/>
                </a:lnTo>
                <a:lnTo>
                  <a:pt x="51878" y="16489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71201" y="486588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4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1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6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7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8" y="17297"/>
                </a:lnTo>
                <a:lnTo>
                  <a:pt x="71293" y="12781"/>
                </a:lnTo>
                <a:lnTo>
                  <a:pt x="69983" y="11470"/>
                </a:lnTo>
                <a:lnTo>
                  <a:pt x="58317" y="3605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4" h="83185">
                <a:moveTo>
                  <a:pt x="74338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1" y="31997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6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3" y="58416"/>
                </a:lnTo>
                <a:lnTo>
                  <a:pt x="79210" y="58196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1"/>
                </a:lnTo>
                <a:lnTo>
                  <a:pt x="79891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8" y="17297"/>
                </a:lnTo>
                <a:close/>
              </a:path>
              <a:path w="83184" h="83185">
                <a:moveTo>
                  <a:pt x="41381" y="23127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8" y="34246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5"/>
                </a:lnTo>
                <a:lnTo>
                  <a:pt x="32581" y="32583"/>
                </a:lnTo>
                <a:lnTo>
                  <a:pt x="36494" y="29945"/>
                </a:lnTo>
                <a:lnTo>
                  <a:pt x="41381" y="28958"/>
                </a:lnTo>
                <a:lnTo>
                  <a:pt x="54629" y="28958"/>
                </a:lnTo>
                <a:lnTo>
                  <a:pt x="54297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4" h="83185">
                <a:moveTo>
                  <a:pt x="54629" y="28958"/>
                </a:moveTo>
                <a:lnTo>
                  <a:pt x="41381" y="28958"/>
                </a:lnTo>
                <a:lnTo>
                  <a:pt x="46268" y="29945"/>
                </a:lnTo>
                <a:lnTo>
                  <a:pt x="50181" y="32583"/>
                </a:lnTo>
                <a:lnTo>
                  <a:pt x="52819" y="36495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6"/>
                </a:lnTo>
                <a:lnTo>
                  <a:pt x="54629" y="28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002458" y="4297537"/>
            <a:ext cx="2447925" cy="81153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Space of relation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𝒓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dirty="0" sz="1800" spc="-1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Cambria Math"/>
                <a:cs typeface="Cambria Math"/>
              </a:rPr>
              <a:t>ℝ</a:t>
            </a:r>
            <a:r>
              <a:rPr dirty="0" baseline="27777" sz="1950" spc="-7">
                <a:solidFill>
                  <a:srgbClr val="0000FF"/>
                </a:solidFill>
                <a:latin typeface="Cambria Math"/>
                <a:cs typeface="Cambria Math"/>
              </a:rPr>
              <a:t>𝒌</a:t>
            </a:r>
            <a:endParaRPr baseline="27777" sz="1950">
              <a:latin typeface="Cambria Math"/>
              <a:cs typeface="Cambria Math"/>
            </a:endParaRPr>
          </a:p>
          <a:p>
            <a:pPr algn="r" marR="356235">
              <a:lnSpc>
                <a:spcPct val="100000"/>
              </a:lnSpc>
              <a:spcBef>
                <a:spcPts val="595"/>
              </a:spcBef>
            </a:pPr>
            <a:r>
              <a:rPr dirty="0" sz="2500" spc="90">
                <a:latin typeface="Cambria Math"/>
                <a:cs typeface="Cambria Math"/>
              </a:rPr>
              <a:t>𝐭</a:t>
            </a:r>
            <a:r>
              <a:rPr dirty="0" baseline="-16975" sz="2700" spc="-120">
                <a:latin typeface="Cambria Math"/>
                <a:cs typeface="Cambria Math"/>
              </a:rPr>
              <a:t>&lt;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30138" y="4971614"/>
            <a:ext cx="137795" cy="826769"/>
          </a:xfrm>
          <a:custGeom>
            <a:avLst/>
            <a:gdLst/>
            <a:ahLst/>
            <a:cxnLst/>
            <a:rect l="l" t="t" r="r" b="b"/>
            <a:pathLst>
              <a:path w="137795" h="826770">
                <a:moveTo>
                  <a:pt x="0" y="736812"/>
                </a:moveTo>
                <a:lnTo>
                  <a:pt x="33267" y="826697"/>
                </a:lnTo>
                <a:lnTo>
                  <a:pt x="69353" y="770747"/>
                </a:lnTo>
                <a:lnTo>
                  <a:pt x="47337" y="770747"/>
                </a:lnTo>
                <a:lnTo>
                  <a:pt x="31650" y="769028"/>
                </a:lnTo>
                <a:lnTo>
                  <a:pt x="25989" y="761972"/>
                </a:lnTo>
                <a:lnTo>
                  <a:pt x="28405" y="739926"/>
                </a:lnTo>
                <a:lnTo>
                  <a:pt x="0" y="736812"/>
                </a:lnTo>
                <a:close/>
              </a:path>
              <a:path w="137795" h="826770">
                <a:moveTo>
                  <a:pt x="28405" y="739926"/>
                </a:moveTo>
                <a:lnTo>
                  <a:pt x="25989" y="761972"/>
                </a:lnTo>
                <a:lnTo>
                  <a:pt x="31650" y="769028"/>
                </a:lnTo>
                <a:lnTo>
                  <a:pt x="47337" y="770747"/>
                </a:lnTo>
                <a:lnTo>
                  <a:pt x="54394" y="765085"/>
                </a:lnTo>
                <a:lnTo>
                  <a:pt x="56810" y="743039"/>
                </a:lnTo>
                <a:lnTo>
                  <a:pt x="28405" y="739926"/>
                </a:lnTo>
                <a:close/>
              </a:path>
              <a:path w="137795" h="826770">
                <a:moveTo>
                  <a:pt x="56810" y="743039"/>
                </a:moveTo>
                <a:lnTo>
                  <a:pt x="54394" y="765085"/>
                </a:lnTo>
                <a:lnTo>
                  <a:pt x="47337" y="770747"/>
                </a:lnTo>
                <a:lnTo>
                  <a:pt x="69353" y="770747"/>
                </a:lnTo>
                <a:lnTo>
                  <a:pt x="85215" y="746153"/>
                </a:lnTo>
                <a:lnTo>
                  <a:pt x="56810" y="743039"/>
                </a:lnTo>
                <a:close/>
              </a:path>
              <a:path w="137795" h="826770">
                <a:moveTo>
                  <a:pt x="115942" y="0"/>
                </a:moveTo>
                <a:lnTo>
                  <a:pt x="108887" y="5661"/>
                </a:lnTo>
                <a:lnTo>
                  <a:pt x="28405" y="739926"/>
                </a:lnTo>
                <a:lnTo>
                  <a:pt x="56810" y="743039"/>
                </a:lnTo>
                <a:lnTo>
                  <a:pt x="137292" y="8774"/>
                </a:lnTo>
                <a:lnTo>
                  <a:pt x="131630" y="1718"/>
                </a:lnTo>
                <a:lnTo>
                  <a:pt x="11594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136843" y="5095239"/>
            <a:ext cx="28765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04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975" sz="270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5371" y="5064760"/>
            <a:ext cx="402590" cy="1116965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395"/>
              </a:spcBef>
            </a:pPr>
            <a:r>
              <a:rPr dirty="0" sz="2500" spc="-204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6975" sz="2700">
                <a:solidFill>
                  <a:srgbClr val="008000"/>
                </a:solidFill>
                <a:latin typeface="Cambria Math"/>
                <a:cs typeface="Cambria Math"/>
              </a:rPr>
              <a:t>𝟐</a:t>
            </a:r>
            <a:endParaRPr baseline="-16975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2500" spc="-45">
                <a:latin typeface="Cambria Math"/>
                <a:cs typeface="Cambria Math"/>
              </a:rPr>
              <a:t>𝐡</a:t>
            </a:r>
            <a:r>
              <a:rPr dirty="0" baseline="-15432" sz="2700" spc="-67">
                <a:latin typeface="Cambria Math"/>
                <a:cs typeface="Cambria Math"/>
              </a:rPr>
              <a:t>&lt;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55041" y="5037592"/>
            <a:ext cx="133985" cy="728345"/>
          </a:xfrm>
          <a:custGeom>
            <a:avLst/>
            <a:gdLst/>
            <a:ahLst/>
            <a:cxnLst/>
            <a:rect l="l" t="t" r="r" b="b"/>
            <a:pathLst>
              <a:path w="133984" h="728345">
                <a:moveTo>
                  <a:pt x="76775" y="83391"/>
                </a:moveTo>
                <a:lnTo>
                  <a:pt x="0" y="718851"/>
                </a:lnTo>
                <a:lnTo>
                  <a:pt x="5582" y="725969"/>
                </a:lnTo>
                <a:lnTo>
                  <a:pt x="21250" y="727862"/>
                </a:lnTo>
                <a:lnTo>
                  <a:pt x="28367" y="722279"/>
                </a:lnTo>
                <a:lnTo>
                  <a:pt x="105145" y="86819"/>
                </a:lnTo>
                <a:lnTo>
                  <a:pt x="76775" y="83391"/>
                </a:lnTo>
                <a:close/>
              </a:path>
              <a:path w="133984" h="728345">
                <a:moveTo>
                  <a:pt x="121192" y="55791"/>
                </a:moveTo>
                <a:lnTo>
                  <a:pt x="86554" y="55791"/>
                </a:lnTo>
                <a:lnTo>
                  <a:pt x="102221" y="57683"/>
                </a:lnTo>
                <a:lnTo>
                  <a:pt x="107805" y="64801"/>
                </a:lnTo>
                <a:lnTo>
                  <a:pt x="105145" y="86819"/>
                </a:lnTo>
                <a:lnTo>
                  <a:pt x="133513" y="90247"/>
                </a:lnTo>
                <a:lnTo>
                  <a:pt x="121192" y="55791"/>
                </a:lnTo>
                <a:close/>
              </a:path>
              <a:path w="133984" h="728345">
                <a:moveTo>
                  <a:pt x="86554" y="55791"/>
                </a:moveTo>
                <a:lnTo>
                  <a:pt x="79435" y="61374"/>
                </a:lnTo>
                <a:lnTo>
                  <a:pt x="76775" y="83391"/>
                </a:lnTo>
                <a:lnTo>
                  <a:pt x="105145" y="86819"/>
                </a:lnTo>
                <a:lnTo>
                  <a:pt x="107805" y="64801"/>
                </a:lnTo>
                <a:lnTo>
                  <a:pt x="102221" y="57683"/>
                </a:lnTo>
                <a:lnTo>
                  <a:pt x="86554" y="55791"/>
                </a:lnTo>
                <a:close/>
              </a:path>
              <a:path w="133984" h="728345">
                <a:moveTo>
                  <a:pt x="101243" y="0"/>
                </a:moveTo>
                <a:lnTo>
                  <a:pt x="48407" y="79964"/>
                </a:lnTo>
                <a:lnTo>
                  <a:pt x="76775" y="83391"/>
                </a:lnTo>
                <a:lnTo>
                  <a:pt x="79435" y="61374"/>
                </a:lnTo>
                <a:lnTo>
                  <a:pt x="86554" y="55791"/>
                </a:lnTo>
                <a:lnTo>
                  <a:pt x="121192" y="55791"/>
                </a:lnTo>
                <a:lnTo>
                  <a:pt x="101243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632192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39575" y="1908072"/>
            <a:ext cx="880110" cy="376555"/>
          </a:xfrm>
          <a:custGeom>
            <a:avLst/>
            <a:gdLst/>
            <a:ahLst/>
            <a:cxnLst/>
            <a:rect l="l" t="t" r="r" b="b"/>
            <a:pathLst>
              <a:path w="880110" h="376555">
                <a:moveTo>
                  <a:pt x="759880" y="0"/>
                </a:moveTo>
                <a:lnTo>
                  <a:pt x="754522" y="15279"/>
                </a:lnTo>
                <a:lnTo>
                  <a:pt x="776313" y="24736"/>
                </a:lnTo>
                <a:lnTo>
                  <a:pt x="795053" y="37826"/>
                </a:lnTo>
                <a:lnTo>
                  <a:pt x="823380" y="74909"/>
                </a:lnTo>
                <a:lnTo>
                  <a:pt x="840049" y="124940"/>
                </a:lnTo>
                <a:lnTo>
                  <a:pt x="845605" y="186331"/>
                </a:lnTo>
                <a:lnTo>
                  <a:pt x="844210" y="219533"/>
                </a:lnTo>
                <a:lnTo>
                  <a:pt x="833048" y="276782"/>
                </a:lnTo>
                <a:lnTo>
                  <a:pt x="810649" y="321493"/>
                </a:lnTo>
                <a:lnTo>
                  <a:pt x="776567" y="351655"/>
                </a:lnTo>
                <a:lnTo>
                  <a:pt x="755117" y="361156"/>
                </a:lnTo>
                <a:lnTo>
                  <a:pt x="759880" y="376435"/>
                </a:lnTo>
                <a:lnTo>
                  <a:pt x="811225" y="352349"/>
                </a:lnTo>
                <a:lnTo>
                  <a:pt x="848978" y="310653"/>
                </a:lnTo>
                <a:lnTo>
                  <a:pt x="872195" y="254818"/>
                </a:lnTo>
                <a:lnTo>
                  <a:pt x="879934" y="188316"/>
                </a:lnTo>
                <a:lnTo>
                  <a:pt x="877993" y="153807"/>
                </a:lnTo>
                <a:lnTo>
                  <a:pt x="862466" y="92638"/>
                </a:lnTo>
                <a:lnTo>
                  <a:pt x="831671" y="42843"/>
                </a:lnTo>
                <a:lnTo>
                  <a:pt x="787171" y="9853"/>
                </a:lnTo>
                <a:lnTo>
                  <a:pt x="759880" y="0"/>
                </a:lnTo>
                <a:close/>
              </a:path>
              <a:path w="88011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48614" y="1908072"/>
            <a:ext cx="855980" cy="376555"/>
          </a:xfrm>
          <a:custGeom>
            <a:avLst/>
            <a:gdLst/>
            <a:ahLst/>
            <a:cxnLst/>
            <a:rect l="l" t="t" r="r" b="b"/>
            <a:pathLst>
              <a:path w="855979" h="376555">
                <a:moveTo>
                  <a:pt x="735432" y="0"/>
                </a:moveTo>
                <a:lnTo>
                  <a:pt x="730074" y="15279"/>
                </a:lnTo>
                <a:lnTo>
                  <a:pt x="751865" y="24736"/>
                </a:lnTo>
                <a:lnTo>
                  <a:pt x="770605" y="37826"/>
                </a:lnTo>
                <a:lnTo>
                  <a:pt x="798932" y="74909"/>
                </a:lnTo>
                <a:lnTo>
                  <a:pt x="815601" y="124940"/>
                </a:lnTo>
                <a:lnTo>
                  <a:pt x="821157" y="186331"/>
                </a:lnTo>
                <a:lnTo>
                  <a:pt x="819762" y="219533"/>
                </a:lnTo>
                <a:lnTo>
                  <a:pt x="808600" y="276782"/>
                </a:lnTo>
                <a:lnTo>
                  <a:pt x="786201" y="321493"/>
                </a:lnTo>
                <a:lnTo>
                  <a:pt x="752119" y="351655"/>
                </a:lnTo>
                <a:lnTo>
                  <a:pt x="730670" y="361156"/>
                </a:lnTo>
                <a:lnTo>
                  <a:pt x="735432" y="376435"/>
                </a:lnTo>
                <a:lnTo>
                  <a:pt x="786778" y="352349"/>
                </a:lnTo>
                <a:lnTo>
                  <a:pt x="824530" y="310653"/>
                </a:lnTo>
                <a:lnTo>
                  <a:pt x="847748" y="254818"/>
                </a:lnTo>
                <a:lnTo>
                  <a:pt x="855487" y="188316"/>
                </a:lnTo>
                <a:lnTo>
                  <a:pt x="853546" y="153807"/>
                </a:lnTo>
                <a:lnTo>
                  <a:pt x="838018" y="92638"/>
                </a:lnTo>
                <a:lnTo>
                  <a:pt x="807223" y="42843"/>
                </a:lnTo>
                <a:lnTo>
                  <a:pt x="762724" y="9853"/>
                </a:lnTo>
                <a:lnTo>
                  <a:pt x="735432" y="0"/>
                </a:lnTo>
                <a:close/>
              </a:path>
              <a:path w="85597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91130" y="1908072"/>
            <a:ext cx="850265" cy="376555"/>
          </a:xfrm>
          <a:custGeom>
            <a:avLst/>
            <a:gdLst/>
            <a:ahLst/>
            <a:cxnLst/>
            <a:rect l="l" t="t" r="r" b="b"/>
            <a:pathLst>
              <a:path w="850264" h="376555">
                <a:moveTo>
                  <a:pt x="729717" y="0"/>
                </a:moveTo>
                <a:lnTo>
                  <a:pt x="724359" y="15279"/>
                </a:lnTo>
                <a:lnTo>
                  <a:pt x="746150" y="24736"/>
                </a:lnTo>
                <a:lnTo>
                  <a:pt x="764890" y="37826"/>
                </a:lnTo>
                <a:lnTo>
                  <a:pt x="793217" y="74909"/>
                </a:lnTo>
                <a:lnTo>
                  <a:pt x="809886" y="124940"/>
                </a:lnTo>
                <a:lnTo>
                  <a:pt x="815442" y="186331"/>
                </a:lnTo>
                <a:lnTo>
                  <a:pt x="814047" y="219533"/>
                </a:lnTo>
                <a:lnTo>
                  <a:pt x="802885" y="276782"/>
                </a:lnTo>
                <a:lnTo>
                  <a:pt x="780486" y="321493"/>
                </a:lnTo>
                <a:lnTo>
                  <a:pt x="746404" y="351655"/>
                </a:lnTo>
                <a:lnTo>
                  <a:pt x="724955" y="361156"/>
                </a:lnTo>
                <a:lnTo>
                  <a:pt x="729717" y="376435"/>
                </a:lnTo>
                <a:lnTo>
                  <a:pt x="781063" y="352349"/>
                </a:lnTo>
                <a:lnTo>
                  <a:pt x="818815" y="310653"/>
                </a:lnTo>
                <a:lnTo>
                  <a:pt x="842033" y="254818"/>
                </a:lnTo>
                <a:lnTo>
                  <a:pt x="849772" y="188316"/>
                </a:lnTo>
                <a:lnTo>
                  <a:pt x="847831" y="153807"/>
                </a:lnTo>
                <a:lnTo>
                  <a:pt x="832303" y="92638"/>
                </a:lnTo>
                <a:lnTo>
                  <a:pt x="801508" y="42843"/>
                </a:lnTo>
                <a:lnTo>
                  <a:pt x="757008" y="9853"/>
                </a:lnTo>
                <a:lnTo>
                  <a:pt x="729717" y="0"/>
                </a:lnTo>
                <a:close/>
              </a:path>
              <a:path w="85026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5595620" cy="10102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Composition</a:t>
            </a:r>
            <a:r>
              <a:rPr dirty="0" spc="-4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957580">
              <a:lnSpc>
                <a:spcPct val="100000"/>
              </a:lnSpc>
              <a:spcBef>
                <a:spcPts val="70"/>
              </a:spcBef>
              <a:tabLst>
                <a:tab pos="1454150" algn="l"/>
                <a:tab pos="2327275" algn="l"/>
                <a:tab pos="3162935" algn="l"/>
                <a:tab pos="4034154" algn="l"/>
                <a:tab pos="5005705" algn="l"/>
              </a:tabLst>
            </a:pPr>
            <a:r>
              <a:rPr dirty="0" b="0">
                <a:solidFill>
                  <a:srgbClr val="D9253E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b="0">
                <a:solidFill>
                  <a:srgbClr val="D9253E"/>
                </a:solidFill>
                <a:latin typeface="Cambria Math"/>
                <a:cs typeface="Cambria Math"/>
              </a:rPr>
              <a:t>"	</a:t>
            </a:r>
            <a:r>
              <a:rPr dirty="0" sz="3200" spc="35" b="0">
                <a:solidFill>
                  <a:srgbClr val="000000"/>
                </a:solidFill>
                <a:latin typeface="Cambria Math"/>
                <a:cs typeface="Cambria Math"/>
              </a:rPr>
              <a:t>𝑥,</a:t>
            </a:r>
            <a:r>
              <a:rPr dirty="0" sz="32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𝑦	∧</a:t>
            </a:r>
            <a:r>
              <a:rPr dirty="0" sz="3200" spc="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-225" b="0">
                <a:solidFill>
                  <a:srgbClr val="E88651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337" b="0">
                <a:solidFill>
                  <a:srgbClr val="E88651"/>
                </a:solidFill>
                <a:latin typeface="Cambria Math"/>
                <a:cs typeface="Cambria Math"/>
              </a:rPr>
              <a:t>#	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𝑦,</a:t>
            </a:r>
            <a:r>
              <a:rPr dirty="0" sz="32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𝑧	⇒</a:t>
            </a:r>
            <a:r>
              <a:rPr dirty="0" sz="3200" spc="18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-75" b="0">
                <a:latin typeface="Cambria Math"/>
                <a:cs typeface="Cambria Math"/>
              </a:rPr>
              <a:t>𝑟</a:t>
            </a:r>
            <a:r>
              <a:rPr dirty="0" baseline="-15700" sz="3450" spc="-112" b="0">
                <a:latin typeface="Cambria Math"/>
                <a:cs typeface="Cambria Math"/>
              </a:rPr>
              <a:t>/	</a:t>
            </a:r>
            <a:r>
              <a:rPr dirty="0" sz="3200" spc="35" b="0">
                <a:solidFill>
                  <a:srgbClr val="000000"/>
                </a:solidFill>
                <a:latin typeface="Cambria Math"/>
                <a:cs typeface="Cambria Math"/>
              </a:rPr>
              <a:t>𝑥,</a:t>
            </a:r>
            <a:r>
              <a:rPr dirty="0" sz="3200" spc="-254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𝑧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0606" y="1793748"/>
            <a:ext cx="12439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25">
                <a:latin typeface="Cambria Math"/>
                <a:cs typeface="Cambria Math"/>
              </a:rPr>
              <a:t>∀𝑥, 𝑦,</a:t>
            </a:r>
            <a:r>
              <a:rPr dirty="0" sz="3200" spc="-44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𝑧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2326131"/>
            <a:ext cx="7537450" cy="2202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marR="117475" indent="-274320">
              <a:lnSpc>
                <a:spcPts val="313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>
                <a:latin typeface="Calibri"/>
                <a:cs typeface="Calibri"/>
              </a:rPr>
              <a:t>My </a:t>
            </a:r>
            <a:r>
              <a:rPr dirty="0" sz="2800" spc="-10">
                <a:latin typeface="Calibri"/>
                <a:cs typeface="Calibri"/>
              </a:rPr>
              <a:t>mother’s </a:t>
            </a:r>
            <a:r>
              <a:rPr dirty="0" sz="2800" spc="-5">
                <a:latin typeface="Calibri"/>
                <a:cs typeface="Calibri"/>
              </a:rPr>
              <a:t>husband is </a:t>
            </a:r>
            <a:r>
              <a:rPr dirty="0" sz="2800" spc="-30">
                <a:latin typeface="Calibri"/>
                <a:cs typeface="Calibri"/>
              </a:rPr>
              <a:t>my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father.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6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5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cannot </a:t>
            </a:r>
            <a:r>
              <a:rPr dirty="0" sz="3200" spc="-5">
                <a:latin typeface="Calibri"/>
                <a:cs typeface="Calibri"/>
              </a:rPr>
              <a:t>model composition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670"/>
              </a:lnSpc>
              <a:spcBef>
                <a:spcPts val="3045"/>
              </a:spcBef>
            </a:pPr>
            <a:r>
              <a:rPr dirty="0" sz="3200" spc="-15">
                <a:latin typeface="Calibri"/>
                <a:cs typeface="Calibri"/>
              </a:rPr>
              <a:t>Each </a:t>
            </a:r>
            <a:r>
              <a:rPr dirty="0" sz="3200" spc="-10">
                <a:latin typeface="Calibri"/>
                <a:cs typeface="Calibri"/>
              </a:rPr>
              <a:t>relation </a:t>
            </a:r>
            <a:r>
              <a:rPr dirty="0" sz="3200">
                <a:latin typeface="Calibri"/>
                <a:cs typeface="Calibri"/>
              </a:rPr>
              <a:t>has a </a:t>
            </a:r>
            <a:r>
              <a:rPr dirty="0" sz="3200" spc="-25">
                <a:latin typeface="Calibri"/>
                <a:cs typeface="Calibri"/>
              </a:rPr>
              <a:t>different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space.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670"/>
              </a:lnSpc>
            </a:pPr>
            <a:r>
              <a:rPr dirty="0" sz="3200">
                <a:latin typeface="Calibri"/>
                <a:cs typeface="Calibri"/>
              </a:rPr>
              <a:t>It is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not </a:t>
            </a:r>
            <a:r>
              <a:rPr dirty="0" sz="3200" spc="-15" b="1">
                <a:solidFill>
                  <a:srgbClr val="FF0000"/>
                </a:solidFill>
                <a:latin typeface="Calibri"/>
                <a:cs typeface="Calibri"/>
              </a:rPr>
              <a:t>naturally </a:t>
            </a:r>
            <a:r>
              <a:rPr dirty="0" sz="3200" spc="-5" b="1">
                <a:solidFill>
                  <a:srgbClr val="FF0000"/>
                </a:solidFill>
                <a:latin typeface="Calibri"/>
                <a:cs typeface="Calibri"/>
              </a:rPr>
              <a:t>compositional </a:t>
            </a:r>
            <a:r>
              <a:rPr dirty="0" sz="3200" spc="-25">
                <a:latin typeface="Calibri"/>
                <a:cs typeface="Calibri"/>
              </a:rPr>
              <a:t>for</a:t>
            </a:r>
            <a:r>
              <a:rPr dirty="0" sz="3200">
                <a:latin typeface="Calibri"/>
                <a:cs typeface="Calibri"/>
              </a:rPr>
              <a:t> multiple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108" y="4460748"/>
            <a:ext cx="19481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Calibri"/>
                <a:cs typeface="Calibri"/>
              </a:rPr>
              <a:t>relations!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250">
                <a:solidFill>
                  <a:srgbClr val="FF0000"/>
                </a:solidFill>
                <a:latin typeface="Arial"/>
                <a:cs typeface="Arial"/>
              </a:rPr>
              <a:t>û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08" y="5350255"/>
            <a:ext cx="462216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" b="1">
                <a:latin typeface="Calibri"/>
                <a:cs typeface="Calibri"/>
              </a:rPr>
              <a:t>Intuition</a:t>
            </a:r>
            <a:r>
              <a:rPr dirty="0" sz="2700" spc="-5">
                <a:latin typeface="Calibri"/>
                <a:cs typeface="Calibri"/>
              </a:rPr>
              <a:t>: The </a:t>
            </a:r>
            <a:r>
              <a:rPr dirty="0" sz="2700" spc="-10">
                <a:latin typeface="Calibri"/>
                <a:cs typeface="Calibri"/>
              </a:rPr>
              <a:t>manifold </a:t>
            </a:r>
            <a:r>
              <a:rPr dirty="0" sz="2700" spc="5">
                <a:latin typeface="Cambria Math"/>
                <a:cs typeface="Cambria Math"/>
              </a:rPr>
              <a:t>{𝑧|∃𝑦,</a:t>
            </a:r>
            <a:r>
              <a:rPr dirty="0" sz="2700" spc="-195">
                <a:latin typeface="Cambria Math"/>
                <a:cs typeface="Cambria Math"/>
              </a:rPr>
              <a:t> </a:t>
            </a:r>
            <a:r>
              <a:rPr dirty="0" sz="2700" spc="-335">
                <a:latin typeface="Cambria Math"/>
                <a:cs typeface="Cambria Math"/>
              </a:rPr>
              <a:t>𝑓</a:t>
            </a:r>
            <a:r>
              <a:rPr dirty="0" baseline="-15277" sz="3000" spc="-502">
                <a:latin typeface="Cambria Math"/>
                <a:cs typeface="Cambria Math"/>
              </a:rPr>
              <a:t>*</a:t>
            </a:r>
            <a:r>
              <a:rPr dirty="0" baseline="-32986" sz="2400" spc="-502">
                <a:latin typeface="Cambria Math"/>
                <a:cs typeface="Cambria Math"/>
              </a:rPr>
              <a:t>@</a:t>
            </a:r>
            <a:endParaRPr baseline="-32986"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83365" y="5448105"/>
            <a:ext cx="742315" cy="318135"/>
          </a:xfrm>
          <a:custGeom>
            <a:avLst/>
            <a:gdLst/>
            <a:ahLst/>
            <a:cxnLst/>
            <a:rect l="l" t="t" r="r" b="b"/>
            <a:pathLst>
              <a:path w="742314" h="318135">
                <a:moveTo>
                  <a:pt x="640891" y="0"/>
                </a:moveTo>
                <a:lnTo>
                  <a:pt x="636370" y="12891"/>
                </a:lnTo>
                <a:lnTo>
                  <a:pt x="654756" y="20871"/>
                </a:lnTo>
                <a:lnTo>
                  <a:pt x="670568" y="31916"/>
                </a:lnTo>
                <a:lnTo>
                  <a:pt x="694469" y="63205"/>
                </a:lnTo>
                <a:lnTo>
                  <a:pt x="708533" y="105419"/>
                </a:lnTo>
                <a:lnTo>
                  <a:pt x="713221" y="157218"/>
                </a:lnTo>
                <a:lnTo>
                  <a:pt x="712044" y="185231"/>
                </a:lnTo>
                <a:lnTo>
                  <a:pt x="702626" y="233535"/>
                </a:lnTo>
                <a:lnTo>
                  <a:pt x="683728" y="271260"/>
                </a:lnTo>
                <a:lnTo>
                  <a:pt x="654971" y="296709"/>
                </a:lnTo>
                <a:lnTo>
                  <a:pt x="636873" y="304725"/>
                </a:lnTo>
                <a:lnTo>
                  <a:pt x="640891" y="317617"/>
                </a:lnTo>
                <a:lnTo>
                  <a:pt x="684214" y="297295"/>
                </a:lnTo>
                <a:lnTo>
                  <a:pt x="716067" y="262114"/>
                </a:lnTo>
                <a:lnTo>
                  <a:pt x="735657" y="215003"/>
                </a:lnTo>
                <a:lnTo>
                  <a:pt x="742188" y="158892"/>
                </a:lnTo>
                <a:lnTo>
                  <a:pt x="740550" y="129775"/>
                </a:lnTo>
                <a:lnTo>
                  <a:pt x="727448" y="78165"/>
                </a:lnTo>
                <a:lnTo>
                  <a:pt x="701464" y="36149"/>
                </a:lnTo>
                <a:lnTo>
                  <a:pt x="663918" y="8314"/>
                </a:lnTo>
                <a:lnTo>
                  <a:pt x="640891" y="0"/>
                </a:lnTo>
                <a:close/>
              </a:path>
              <a:path w="742314" h="318135">
                <a:moveTo>
                  <a:pt x="101296" y="0"/>
                </a:moveTo>
                <a:lnTo>
                  <a:pt x="58077" y="20363"/>
                </a:lnTo>
                <a:lnTo>
                  <a:pt x="26202" y="55671"/>
                </a:lnTo>
                <a:lnTo>
                  <a:pt x="6550" y="102866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1" y="309314"/>
                </a:lnTo>
                <a:lnTo>
                  <a:pt x="101296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0" y="83114"/>
                </a:lnTo>
                <a:lnTo>
                  <a:pt x="58491" y="46028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382831" y="5350255"/>
            <a:ext cx="53721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30">
                <a:latin typeface="Cambria Math"/>
                <a:cs typeface="Cambria Math"/>
              </a:rPr>
              <a:t>𝑥,</a:t>
            </a:r>
            <a:r>
              <a:rPr dirty="0" sz="2700" spc="-245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𝑦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8227" y="5350255"/>
            <a:ext cx="104394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mbria Math"/>
                <a:cs typeface="Cambria Math"/>
              </a:rPr>
              <a:t>= 0,</a:t>
            </a:r>
            <a:r>
              <a:rPr dirty="0" sz="2700" spc="-100">
                <a:latin typeface="Cambria Math"/>
                <a:cs typeface="Cambria Math"/>
              </a:rPr>
              <a:t> </a:t>
            </a:r>
            <a:r>
              <a:rPr dirty="0" sz="2700" spc="-195">
                <a:latin typeface="Cambria Math"/>
                <a:cs typeface="Cambria Math"/>
              </a:rPr>
              <a:t>𝑓</a:t>
            </a:r>
            <a:r>
              <a:rPr dirty="0" baseline="-15277" sz="3000" spc="-292">
                <a:latin typeface="Cambria Math"/>
                <a:cs typeface="Cambria Math"/>
              </a:rPr>
              <a:t>*</a:t>
            </a:r>
            <a:r>
              <a:rPr dirty="0" baseline="-32986" sz="2400" spc="-292">
                <a:latin typeface="Cambria Math"/>
                <a:cs typeface="Cambria Math"/>
              </a:rPr>
              <a:t>A</a:t>
            </a:r>
            <a:endParaRPr baseline="-32986"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25512" y="5448105"/>
            <a:ext cx="720725" cy="318135"/>
          </a:xfrm>
          <a:custGeom>
            <a:avLst/>
            <a:gdLst/>
            <a:ahLst/>
            <a:cxnLst/>
            <a:rect l="l" t="t" r="r" b="b"/>
            <a:pathLst>
              <a:path w="720725" h="318135">
                <a:moveTo>
                  <a:pt x="618920" y="0"/>
                </a:moveTo>
                <a:lnTo>
                  <a:pt x="614399" y="12891"/>
                </a:lnTo>
                <a:lnTo>
                  <a:pt x="632785" y="20871"/>
                </a:lnTo>
                <a:lnTo>
                  <a:pt x="648597" y="31916"/>
                </a:lnTo>
                <a:lnTo>
                  <a:pt x="672498" y="63205"/>
                </a:lnTo>
                <a:lnTo>
                  <a:pt x="686562" y="105419"/>
                </a:lnTo>
                <a:lnTo>
                  <a:pt x="691250" y="157218"/>
                </a:lnTo>
                <a:lnTo>
                  <a:pt x="690073" y="185231"/>
                </a:lnTo>
                <a:lnTo>
                  <a:pt x="680655" y="233535"/>
                </a:lnTo>
                <a:lnTo>
                  <a:pt x="661757" y="271260"/>
                </a:lnTo>
                <a:lnTo>
                  <a:pt x="633000" y="296709"/>
                </a:lnTo>
                <a:lnTo>
                  <a:pt x="614902" y="304725"/>
                </a:lnTo>
                <a:lnTo>
                  <a:pt x="618920" y="317617"/>
                </a:lnTo>
                <a:lnTo>
                  <a:pt x="662243" y="297295"/>
                </a:lnTo>
                <a:lnTo>
                  <a:pt x="694096" y="262114"/>
                </a:lnTo>
                <a:lnTo>
                  <a:pt x="713686" y="215003"/>
                </a:lnTo>
                <a:lnTo>
                  <a:pt x="720217" y="158892"/>
                </a:lnTo>
                <a:lnTo>
                  <a:pt x="718579" y="129775"/>
                </a:lnTo>
                <a:lnTo>
                  <a:pt x="705477" y="78165"/>
                </a:lnTo>
                <a:lnTo>
                  <a:pt x="679493" y="36149"/>
                </a:lnTo>
                <a:lnTo>
                  <a:pt x="641947" y="8314"/>
                </a:lnTo>
                <a:lnTo>
                  <a:pt x="618920" y="0"/>
                </a:lnTo>
                <a:close/>
              </a:path>
              <a:path w="720725" h="318135">
                <a:moveTo>
                  <a:pt x="101296" y="0"/>
                </a:moveTo>
                <a:lnTo>
                  <a:pt x="58077" y="20363"/>
                </a:lnTo>
                <a:lnTo>
                  <a:pt x="26202" y="55671"/>
                </a:lnTo>
                <a:lnTo>
                  <a:pt x="6550" y="102866"/>
                </a:lnTo>
                <a:lnTo>
                  <a:pt x="0" y="158892"/>
                </a:lnTo>
                <a:lnTo>
                  <a:pt x="1632" y="188072"/>
                </a:lnTo>
                <a:lnTo>
                  <a:pt x="14692" y="239683"/>
                </a:lnTo>
                <a:lnTo>
                  <a:pt x="40612" y="281562"/>
                </a:lnTo>
                <a:lnTo>
                  <a:pt x="78201" y="309314"/>
                </a:lnTo>
                <a:lnTo>
                  <a:pt x="101296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5" y="210670"/>
                </a:lnTo>
                <a:lnTo>
                  <a:pt x="28966" y="157218"/>
                </a:lnTo>
                <a:lnTo>
                  <a:pt x="30143" y="130120"/>
                </a:lnTo>
                <a:lnTo>
                  <a:pt x="39561" y="83114"/>
                </a:lnTo>
                <a:lnTo>
                  <a:pt x="58491" y="46028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324979" y="5350255"/>
            <a:ext cx="51625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5">
                <a:latin typeface="Cambria Math"/>
                <a:cs typeface="Cambria Math"/>
              </a:rPr>
              <a:t>𝑦,</a:t>
            </a:r>
            <a:r>
              <a:rPr dirty="0" sz="2700" spc="-2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𝑧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58404" y="5350255"/>
            <a:ext cx="9925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latin typeface="Cambria Math"/>
                <a:cs typeface="Cambria Math"/>
              </a:rPr>
              <a:t>= 0}</a:t>
            </a:r>
            <a:r>
              <a:rPr dirty="0" sz="2700" spc="75">
                <a:latin typeface="Cambria Math"/>
                <a:cs typeface="Cambria Math"/>
              </a:rPr>
              <a:t> </a:t>
            </a:r>
            <a:r>
              <a:rPr dirty="0" sz="2700">
                <a:latin typeface="Calibri"/>
                <a:cs typeface="Calibri"/>
              </a:rPr>
              <a:t>is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108" y="5743447"/>
            <a:ext cx="795591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120"/>
              </a:lnSpc>
              <a:spcBef>
                <a:spcPts val="100"/>
              </a:spcBef>
            </a:pPr>
            <a:r>
              <a:rPr dirty="0" sz="2700" spc="-5" b="1">
                <a:solidFill>
                  <a:srgbClr val="FF0000"/>
                </a:solidFill>
                <a:latin typeface="Calibri"/>
                <a:cs typeface="Calibri"/>
              </a:rPr>
              <a:t>high dimensional </a:t>
            </a:r>
            <a:r>
              <a:rPr dirty="0" sz="2700" spc="-10">
                <a:latin typeface="Calibri"/>
                <a:cs typeface="Calibri"/>
              </a:rPr>
              <a:t>and </a:t>
            </a:r>
            <a:r>
              <a:rPr dirty="0" sz="2700" spc="-20">
                <a:latin typeface="Calibri"/>
                <a:cs typeface="Calibri"/>
              </a:rPr>
              <a:t>may </a:t>
            </a:r>
            <a:r>
              <a:rPr dirty="0" sz="2700" spc="-5">
                <a:latin typeface="Calibri"/>
                <a:cs typeface="Calibri"/>
              </a:rPr>
              <a:t>not be modeled </a:t>
            </a:r>
            <a:r>
              <a:rPr dirty="0" sz="2700" spc="-10">
                <a:latin typeface="Calibri"/>
                <a:cs typeface="Calibri"/>
              </a:rPr>
              <a:t>using </a:t>
            </a:r>
            <a:r>
              <a:rPr dirty="0" sz="2700">
                <a:latin typeface="Calibri"/>
                <a:cs typeface="Calibri"/>
              </a:rPr>
              <a:t>a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 spc="-5">
                <a:solidFill>
                  <a:srgbClr val="FF0000"/>
                </a:solidFill>
                <a:latin typeface="Calibri"/>
                <a:cs typeface="Calibri"/>
              </a:rPr>
              <a:t>single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ts val="3120"/>
              </a:lnSpc>
            </a:pPr>
            <a:r>
              <a:rPr dirty="0" sz="2700" spc="-15">
                <a:solidFill>
                  <a:srgbClr val="B48200"/>
                </a:solidFill>
                <a:latin typeface="Cambria Math"/>
                <a:cs typeface="Cambria Math"/>
              </a:rPr>
              <a:t>𝐌</a:t>
            </a:r>
            <a:r>
              <a:rPr dirty="0" baseline="-15277" sz="3000" spc="-22">
                <a:solidFill>
                  <a:srgbClr val="B48200"/>
                </a:solidFill>
                <a:latin typeface="Cambria Math"/>
                <a:cs typeface="Cambria Math"/>
              </a:rPr>
              <a:t>*</a:t>
            </a:r>
            <a:r>
              <a:rPr dirty="0" baseline="-32986" sz="2400" spc="-22">
                <a:solidFill>
                  <a:srgbClr val="B48200"/>
                </a:solidFill>
                <a:latin typeface="Cambria Math"/>
                <a:cs typeface="Cambria Math"/>
              </a:rPr>
              <a:t>B  </a:t>
            </a:r>
            <a:r>
              <a:rPr dirty="0" sz="2700" spc="-10">
                <a:latin typeface="Calibri"/>
                <a:cs typeface="Calibri"/>
              </a:rPr>
              <a:t>and</a:t>
            </a:r>
            <a:r>
              <a:rPr dirty="0" sz="2700" spc="-275">
                <a:latin typeface="Calibri"/>
                <a:cs typeface="Calibri"/>
              </a:rPr>
              <a:t> </a:t>
            </a:r>
            <a:r>
              <a:rPr dirty="0" sz="2700" spc="-85">
                <a:solidFill>
                  <a:srgbClr val="B48200"/>
                </a:solidFill>
                <a:latin typeface="Cambria Math"/>
                <a:cs typeface="Cambria Math"/>
              </a:rPr>
              <a:t>𝐫</a:t>
            </a:r>
            <a:r>
              <a:rPr dirty="0" baseline="-15277" sz="3000" spc="-127">
                <a:solidFill>
                  <a:srgbClr val="B48200"/>
                </a:solidFill>
                <a:latin typeface="Cambria Math"/>
                <a:cs typeface="Cambria Math"/>
              </a:rPr>
              <a:t>8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92987" y="5101550"/>
            <a:ext cx="846455" cy="306705"/>
          </a:xfrm>
          <a:custGeom>
            <a:avLst/>
            <a:gdLst/>
            <a:ahLst/>
            <a:cxnLst/>
            <a:rect l="l" t="t" r="r" b="b"/>
            <a:pathLst>
              <a:path w="846454" h="306704">
                <a:moveTo>
                  <a:pt x="760385" y="27108"/>
                </a:moveTo>
                <a:lnTo>
                  <a:pt x="4046" y="279222"/>
                </a:lnTo>
                <a:lnTo>
                  <a:pt x="0" y="287313"/>
                </a:lnTo>
                <a:lnTo>
                  <a:pt x="4991" y="302285"/>
                </a:lnTo>
                <a:lnTo>
                  <a:pt x="13082" y="306330"/>
                </a:lnTo>
                <a:lnTo>
                  <a:pt x="769421" y="54216"/>
                </a:lnTo>
                <a:lnTo>
                  <a:pt x="760385" y="27108"/>
                </a:lnTo>
                <a:close/>
              </a:path>
              <a:path w="846454" h="306704">
                <a:moveTo>
                  <a:pt x="839688" y="20095"/>
                </a:moveTo>
                <a:lnTo>
                  <a:pt x="781425" y="20095"/>
                </a:lnTo>
                <a:lnTo>
                  <a:pt x="789517" y="24141"/>
                </a:lnTo>
                <a:lnTo>
                  <a:pt x="794506" y="39112"/>
                </a:lnTo>
                <a:lnTo>
                  <a:pt x="790461" y="47203"/>
                </a:lnTo>
                <a:lnTo>
                  <a:pt x="769421" y="54216"/>
                </a:lnTo>
                <a:lnTo>
                  <a:pt x="778457" y="81325"/>
                </a:lnTo>
                <a:lnTo>
                  <a:pt x="839688" y="20095"/>
                </a:lnTo>
                <a:close/>
              </a:path>
              <a:path w="846454" h="306704">
                <a:moveTo>
                  <a:pt x="781425" y="20095"/>
                </a:moveTo>
                <a:lnTo>
                  <a:pt x="760385" y="27108"/>
                </a:lnTo>
                <a:lnTo>
                  <a:pt x="769421" y="54216"/>
                </a:lnTo>
                <a:lnTo>
                  <a:pt x="790461" y="47203"/>
                </a:lnTo>
                <a:lnTo>
                  <a:pt x="794506" y="39112"/>
                </a:lnTo>
                <a:lnTo>
                  <a:pt x="789517" y="24141"/>
                </a:lnTo>
                <a:lnTo>
                  <a:pt x="781425" y="20095"/>
                </a:lnTo>
                <a:close/>
              </a:path>
              <a:path w="846454" h="306704">
                <a:moveTo>
                  <a:pt x="751348" y="0"/>
                </a:moveTo>
                <a:lnTo>
                  <a:pt x="760385" y="27108"/>
                </a:lnTo>
                <a:lnTo>
                  <a:pt x="781425" y="20095"/>
                </a:lnTo>
                <a:lnTo>
                  <a:pt x="839688" y="20095"/>
                </a:lnTo>
                <a:lnTo>
                  <a:pt x="846228" y="13554"/>
                </a:lnTo>
                <a:lnTo>
                  <a:pt x="751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23437" y="5105765"/>
            <a:ext cx="738505" cy="302260"/>
          </a:xfrm>
          <a:custGeom>
            <a:avLst/>
            <a:gdLst/>
            <a:ahLst/>
            <a:cxnLst/>
            <a:rect l="l" t="t" r="r" b="b"/>
            <a:pathLst>
              <a:path w="738504" h="302260">
                <a:moveTo>
                  <a:pt x="85159" y="26682"/>
                </a:moveTo>
                <a:lnTo>
                  <a:pt x="74931" y="53363"/>
                </a:lnTo>
                <a:lnTo>
                  <a:pt x="724148" y="302230"/>
                </a:lnTo>
                <a:lnTo>
                  <a:pt x="732411" y="298547"/>
                </a:lnTo>
                <a:lnTo>
                  <a:pt x="738060" y="283811"/>
                </a:lnTo>
                <a:lnTo>
                  <a:pt x="734377" y="275549"/>
                </a:lnTo>
                <a:lnTo>
                  <a:pt x="85159" y="26682"/>
                </a:lnTo>
                <a:close/>
              </a:path>
              <a:path w="738504" h="302260">
                <a:moveTo>
                  <a:pt x="95387" y="0"/>
                </a:moveTo>
                <a:lnTo>
                  <a:pt x="0" y="9339"/>
                </a:lnTo>
                <a:lnTo>
                  <a:pt x="64703" y="80045"/>
                </a:lnTo>
                <a:lnTo>
                  <a:pt x="74931" y="53363"/>
                </a:lnTo>
                <a:lnTo>
                  <a:pt x="54222" y="45425"/>
                </a:lnTo>
                <a:lnTo>
                  <a:pt x="50539" y="37162"/>
                </a:lnTo>
                <a:lnTo>
                  <a:pt x="56187" y="22426"/>
                </a:lnTo>
                <a:lnTo>
                  <a:pt x="64449" y="18743"/>
                </a:lnTo>
                <a:lnTo>
                  <a:pt x="88202" y="18743"/>
                </a:lnTo>
                <a:lnTo>
                  <a:pt x="95387" y="0"/>
                </a:lnTo>
                <a:close/>
              </a:path>
              <a:path w="738504" h="302260">
                <a:moveTo>
                  <a:pt x="64449" y="18743"/>
                </a:moveTo>
                <a:lnTo>
                  <a:pt x="56187" y="22426"/>
                </a:lnTo>
                <a:lnTo>
                  <a:pt x="50539" y="37162"/>
                </a:lnTo>
                <a:lnTo>
                  <a:pt x="54222" y="45425"/>
                </a:lnTo>
                <a:lnTo>
                  <a:pt x="74931" y="53363"/>
                </a:lnTo>
                <a:lnTo>
                  <a:pt x="85159" y="26682"/>
                </a:lnTo>
                <a:lnTo>
                  <a:pt x="64449" y="18743"/>
                </a:lnTo>
                <a:close/>
              </a:path>
              <a:path w="738504" h="302260">
                <a:moveTo>
                  <a:pt x="88202" y="18743"/>
                </a:moveTo>
                <a:lnTo>
                  <a:pt x="64449" y="18743"/>
                </a:lnTo>
                <a:lnTo>
                  <a:pt x="85159" y="26682"/>
                </a:lnTo>
                <a:lnTo>
                  <a:pt x="88202" y="18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846815" y="4778755"/>
            <a:ext cx="1536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Zero</a:t>
            </a:r>
            <a:r>
              <a:rPr dirty="0" sz="1800" spc="-75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Distance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8610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6692" y="1227836"/>
            <a:ext cx="7988300" cy="1296670"/>
          </a:xfrm>
          <a:prstGeom prst="rect"/>
        </p:spPr>
        <p:txBody>
          <a:bodyPr wrap="square" lIns="0" tIns="69215" rIns="0" bIns="0" rtlCol="0" vert="horz">
            <a:spAutoFit/>
          </a:bodyPr>
          <a:lstStyle/>
          <a:p>
            <a:pPr marL="332740" marR="5080" indent="-320040">
              <a:lnSpc>
                <a:spcPts val="3190"/>
              </a:lnSpc>
              <a:spcBef>
                <a:spcPts val="54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000000"/>
                </a:solidFill>
              </a:rPr>
              <a:t>So </a:t>
            </a:r>
            <a:r>
              <a:rPr dirty="0" sz="3000" spc="-20">
                <a:solidFill>
                  <a:srgbClr val="000000"/>
                </a:solidFill>
              </a:rPr>
              <a:t>far: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scoring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function </a:t>
            </a:r>
            <a:r>
              <a:rPr dirty="0" sz="3000" spc="-95" b="0">
                <a:solidFill>
                  <a:srgbClr val="000000"/>
                </a:solidFill>
                <a:latin typeface="Cambria Math"/>
                <a:cs typeface="Cambria Math"/>
              </a:rPr>
              <a:t>𝑓</a:t>
            </a:r>
            <a:r>
              <a:rPr dirty="0" baseline="-15151" sz="3300" spc="-142" b="0">
                <a:solidFill>
                  <a:srgbClr val="000000"/>
                </a:solidFill>
                <a:latin typeface="Cambria Math"/>
                <a:cs typeface="Cambria Math"/>
              </a:rPr>
              <a:t>8</a:t>
            </a:r>
            <a:r>
              <a:rPr dirty="0" sz="3000" spc="-95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z="300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z="3000" spc="-15">
                <a:solidFill>
                  <a:srgbClr val="E66C7D"/>
                </a:solidFill>
              </a:rPr>
              <a:t>negative </a:t>
            </a:r>
            <a:r>
              <a:rPr dirty="0" sz="3000" spc="-5">
                <a:solidFill>
                  <a:srgbClr val="E66C7D"/>
                </a:solidFill>
              </a:rPr>
              <a:t>of  L1 </a:t>
            </a:r>
            <a:r>
              <a:rPr dirty="0" sz="3000">
                <a:solidFill>
                  <a:srgbClr val="E66C7D"/>
                </a:solidFill>
              </a:rPr>
              <a:t>/ </a:t>
            </a:r>
            <a:r>
              <a:rPr dirty="0" sz="3000" spc="-5">
                <a:solidFill>
                  <a:srgbClr val="E66C7D"/>
                </a:solidFill>
              </a:rPr>
              <a:t>L2 </a:t>
            </a:r>
            <a:r>
              <a:rPr dirty="0" sz="3000" spc="-15">
                <a:solidFill>
                  <a:srgbClr val="E66C7D"/>
                </a:solidFill>
              </a:rPr>
              <a:t>distance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z="3000" spc="-40">
                <a:solidFill>
                  <a:srgbClr val="000000"/>
                </a:solidFill>
              </a:rPr>
              <a:t>TransE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z="3000" spc="-40">
                <a:solidFill>
                  <a:srgbClr val="000000"/>
                </a:solidFill>
              </a:rPr>
              <a:t>TransR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18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0">
                <a:solidFill>
                  <a:srgbClr val="0000FF"/>
                </a:solidFill>
                <a:latin typeface="Calibri"/>
                <a:cs typeface="Calibri"/>
              </a:rPr>
              <a:t>Another line </a:t>
            </a:r>
            <a:r>
              <a:rPr dirty="0" sz="3000" b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3000" spc="-60" b="0">
                <a:solidFill>
                  <a:srgbClr val="0000FF"/>
                </a:solidFill>
                <a:latin typeface="Calibri"/>
                <a:cs typeface="Calibri"/>
              </a:rPr>
              <a:t>KG </a:t>
            </a:r>
            <a:r>
              <a:rPr dirty="0" sz="3000" spc="-5" b="0">
                <a:solidFill>
                  <a:srgbClr val="0000FF"/>
                </a:solidFill>
                <a:latin typeface="Calibri"/>
                <a:cs typeface="Calibri"/>
              </a:rPr>
              <a:t>embeddings adopt </a:t>
            </a:r>
            <a:r>
              <a:rPr dirty="0" sz="3000" spc="-5">
                <a:solidFill>
                  <a:srgbClr val="0000FF"/>
                </a:solidFill>
              </a:rPr>
              <a:t>bilinear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35547" y="3443923"/>
            <a:ext cx="768350" cy="353060"/>
          </a:xfrm>
          <a:custGeom>
            <a:avLst/>
            <a:gdLst/>
            <a:ahLst/>
            <a:cxnLst/>
            <a:rect l="l" t="t" r="r" b="b"/>
            <a:pathLst>
              <a:path w="768350" h="353060">
                <a:moveTo>
                  <a:pt x="655769" y="0"/>
                </a:moveTo>
                <a:lnTo>
                  <a:pt x="650746" y="14324"/>
                </a:lnTo>
                <a:lnTo>
                  <a:pt x="671175" y="23189"/>
                </a:lnTo>
                <a:lnTo>
                  <a:pt x="688744" y="35462"/>
                </a:lnTo>
                <a:lnTo>
                  <a:pt x="715300" y="70227"/>
                </a:lnTo>
                <a:lnTo>
                  <a:pt x="730928" y="117132"/>
                </a:lnTo>
                <a:lnTo>
                  <a:pt x="736137" y="174685"/>
                </a:lnTo>
                <a:lnTo>
                  <a:pt x="734829" y="205812"/>
                </a:lnTo>
                <a:lnTo>
                  <a:pt x="724364" y="259483"/>
                </a:lnTo>
                <a:lnTo>
                  <a:pt x="703365" y="301399"/>
                </a:lnTo>
                <a:lnTo>
                  <a:pt x="671414" y="329677"/>
                </a:lnTo>
                <a:lnTo>
                  <a:pt x="651305" y="338583"/>
                </a:lnTo>
                <a:lnTo>
                  <a:pt x="655769" y="352907"/>
                </a:lnTo>
                <a:lnTo>
                  <a:pt x="703906" y="330327"/>
                </a:lnTo>
                <a:lnTo>
                  <a:pt x="739300" y="291237"/>
                </a:lnTo>
                <a:lnTo>
                  <a:pt x="761065" y="238891"/>
                </a:lnTo>
                <a:lnTo>
                  <a:pt x="768320" y="176546"/>
                </a:lnTo>
                <a:lnTo>
                  <a:pt x="766501" y="144193"/>
                </a:lnTo>
                <a:lnTo>
                  <a:pt x="751944" y="86849"/>
                </a:lnTo>
                <a:lnTo>
                  <a:pt x="723074" y="40166"/>
                </a:lnTo>
                <a:lnTo>
                  <a:pt x="681355" y="9237"/>
                </a:lnTo>
                <a:lnTo>
                  <a:pt x="655769" y="0"/>
                </a:lnTo>
                <a:close/>
              </a:path>
              <a:path w="768350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4"/>
                </a:lnTo>
                <a:lnTo>
                  <a:pt x="0" y="176546"/>
                </a:lnTo>
                <a:lnTo>
                  <a:pt x="1813" y="208969"/>
                </a:lnTo>
                <a:lnTo>
                  <a:pt x="16324" y="266314"/>
                </a:lnTo>
                <a:lnTo>
                  <a:pt x="45125" y="312846"/>
                </a:lnTo>
                <a:lnTo>
                  <a:pt x="86890" y="343681"/>
                </a:lnTo>
                <a:lnTo>
                  <a:pt x="112551" y="352907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3" y="282028"/>
                </a:lnTo>
                <a:lnTo>
                  <a:pt x="37416" y="234078"/>
                </a:lnTo>
                <a:lnTo>
                  <a:pt x="32184" y="174685"/>
                </a:lnTo>
                <a:lnTo>
                  <a:pt x="33492" y="144577"/>
                </a:lnTo>
                <a:lnTo>
                  <a:pt x="43957" y="92348"/>
                </a:lnTo>
                <a:lnTo>
                  <a:pt x="64990" y="51141"/>
                </a:lnTo>
                <a:lnTo>
                  <a:pt x="97221" y="23189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6692" y="2459227"/>
            <a:ext cx="8292465" cy="1360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ts val="3454"/>
              </a:lnSpc>
              <a:spcBef>
                <a:spcPts val="100"/>
              </a:spcBef>
            </a:pPr>
            <a:r>
              <a:rPr dirty="0" sz="3000" spc="-5">
                <a:solidFill>
                  <a:srgbClr val="0000FF"/>
                </a:solidFill>
                <a:latin typeface="Calibri"/>
                <a:cs typeface="Calibri"/>
              </a:rPr>
              <a:t>modeling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454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DistMult</a:t>
            </a:r>
            <a:r>
              <a:rPr dirty="0" sz="3000" spc="-10">
                <a:latin typeface="Calibri"/>
                <a:cs typeface="Calibri"/>
              </a:rPr>
              <a:t>: Entities </a:t>
            </a:r>
            <a:r>
              <a:rPr dirty="0" sz="3000" spc="-5">
                <a:latin typeface="Calibri"/>
                <a:cs typeface="Calibri"/>
              </a:rPr>
              <a:t>and </a:t>
            </a:r>
            <a:r>
              <a:rPr dirty="0" sz="3000" spc="-15">
                <a:latin typeface="Calibri"/>
                <a:cs typeface="Calibri"/>
              </a:rPr>
              <a:t>relations </a:t>
            </a:r>
            <a:r>
              <a:rPr dirty="0" sz="3000" spc="-5">
                <a:latin typeface="Calibri"/>
                <a:cs typeface="Calibri"/>
              </a:rPr>
              <a:t>using </a:t>
            </a:r>
            <a:r>
              <a:rPr dirty="0" sz="3000" spc="-20">
                <a:latin typeface="Calibri"/>
                <a:cs typeface="Calibri"/>
              </a:rPr>
              <a:t>vectors </a:t>
            </a:r>
            <a:r>
              <a:rPr dirty="0" sz="3000" spc="-5">
                <a:latin typeface="Calibri"/>
                <a:cs typeface="Calibri"/>
              </a:rPr>
              <a:t>in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 spc="50">
                <a:latin typeface="Cambria Math"/>
                <a:cs typeface="Cambria Math"/>
              </a:rPr>
              <a:t>ℝ</a:t>
            </a:r>
            <a:r>
              <a:rPr dirty="0" baseline="27777" sz="3300" spc="75">
                <a:latin typeface="Cambria Math"/>
                <a:cs typeface="Cambria Math"/>
              </a:rPr>
              <a:t>7</a:t>
            </a:r>
            <a:endParaRPr baseline="27777" sz="33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3233420" algn="l"/>
                <a:tab pos="4016375" algn="l"/>
              </a:tabLst>
            </a:pP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Score</a:t>
            </a:r>
            <a:r>
              <a:rPr dirty="0" sz="3000" spc="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114" b="1">
                <a:solidFill>
                  <a:srgbClr val="D60093"/>
                </a:solidFill>
                <a:latin typeface="Calibri"/>
                <a:cs typeface="Calibri"/>
              </a:rPr>
              <a:t>funcMon</a:t>
            </a:r>
            <a:r>
              <a:rPr dirty="0" sz="3000" spc="-114">
                <a:solidFill>
                  <a:srgbClr val="D60093"/>
                </a:solidFill>
                <a:latin typeface="Cambria Math"/>
                <a:cs typeface="Cambria Math"/>
              </a:rPr>
              <a:t>:</a:t>
            </a:r>
            <a:r>
              <a:rPr dirty="0" sz="3000" spc="-15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000" spc="-325">
                <a:latin typeface="Cambria Math"/>
                <a:cs typeface="Cambria Math"/>
              </a:rPr>
              <a:t>𝑓</a:t>
            </a:r>
            <a:r>
              <a:rPr dirty="0" baseline="-15151" sz="3300" spc="-487">
                <a:latin typeface="Cambria Math"/>
                <a:cs typeface="Cambria Math"/>
              </a:rPr>
              <a:t>8	</a:t>
            </a:r>
            <a:r>
              <a:rPr dirty="0" sz="3000" spc="15">
                <a:latin typeface="Cambria Math"/>
                <a:cs typeface="Cambria Math"/>
              </a:rPr>
              <a:t>ℎ,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𝑡	</a:t>
            </a:r>
            <a:r>
              <a:rPr dirty="0" sz="3000" spc="-5">
                <a:latin typeface="Cambria Math"/>
                <a:cs typeface="Cambria Math"/>
              </a:rPr>
              <a:t>=&lt; </a:t>
            </a:r>
            <a:r>
              <a:rPr dirty="0" sz="3000">
                <a:latin typeface="Cambria Math"/>
                <a:cs typeface="Cambria Math"/>
              </a:rPr>
              <a:t>𝐡, </a:t>
            </a:r>
            <a:r>
              <a:rPr dirty="0" sz="3000" spc="-5">
                <a:latin typeface="Cambria Math"/>
                <a:cs typeface="Cambria Math"/>
              </a:rPr>
              <a:t>𝐫, </a:t>
            </a:r>
            <a:r>
              <a:rPr dirty="0" sz="3000">
                <a:latin typeface="Cambria Math"/>
                <a:cs typeface="Cambria Math"/>
              </a:rPr>
              <a:t>𝐭 &gt; = </a:t>
            </a:r>
            <a:r>
              <a:rPr dirty="0" baseline="2777" sz="4500" spc="-660">
                <a:latin typeface="Cambria Math"/>
                <a:cs typeface="Cambria Math"/>
              </a:rPr>
              <a:t>∑</a:t>
            </a:r>
            <a:r>
              <a:rPr dirty="0" baseline="-17676" sz="3300" spc="-660">
                <a:latin typeface="Cambria Math"/>
                <a:cs typeface="Cambria Math"/>
              </a:rPr>
              <a:t>&gt;         </a:t>
            </a:r>
            <a:r>
              <a:rPr dirty="0" sz="3000" spc="-440">
                <a:latin typeface="Cambria Math"/>
                <a:cs typeface="Cambria Math"/>
              </a:rPr>
              <a:t>𝐡</a:t>
            </a:r>
            <a:r>
              <a:rPr dirty="0" baseline="-15151" sz="3300" spc="-660">
                <a:latin typeface="Cambria Math"/>
                <a:cs typeface="Cambria Math"/>
              </a:rPr>
              <a:t>&gt;              </a:t>
            </a:r>
            <a:r>
              <a:rPr dirty="0" sz="3000">
                <a:latin typeface="Cambria Math"/>
                <a:cs typeface="Cambria Math"/>
              </a:rPr>
              <a:t>⋅ </a:t>
            </a:r>
            <a:r>
              <a:rPr dirty="0" sz="3000" spc="-565">
                <a:latin typeface="Cambria Math"/>
                <a:cs typeface="Cambria Math"/>
              </a:rPr>
              <a:t>𝐫</a:t>
            </a:r>
            <a:r>
              <a:rPr dirty="0" baseline="-15151" sz="3300" spc="-847">
                <a:latin typeface="Cambria Math"/>
                <a:cs typeface="Cambria Math"/>
              </a:rPr>
              <a:t>&gt;</a:t>
            </a:r>
            <a:r>
              <a:rPr dirty="0" baseline="-15151" sz="3300" spc="187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⋅</a:t>
            </a:r>
            <a:r>
              <a:rPr dirty="0" sz="3000" spc="155">
                <a:latin typeface="Cambria Math"/>
                <a:cs typeface="Cambria Math"/>
              </a:rPr>
              <a:t> </a:t>
            </a:r>
            <a:r>
              <a:rPr dirty="0" sz="3000" spc="-390">
                <a:latin typeface="Cambria Math"/>
                <a:cs typeface="Cambria Math"/>
              </a:rPr>
              <a:t>𝐭</a:t>
            </a:r>
            <a:r>
              <a:rPr dirty="0" baseline="-15151" sz="3300" spc="-585">
                <a:latin typeface="Cambria Math"/>
                <a:cs typeface="Cambria Math"/>
              </a:rPr>
              <a:t>&gt;</a:t>
            </a:r>
            <a:endParaRPr baseline="-15151" sz="3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6692" y="3806444"/>
            <a:ext cx="20904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mbria Math"/>
                <a:cs typeface="Cambria Math"/>
              </a:rPr>
              <a:t>𝐡, </a:t>
            </a:r>
            <a:r>
              <a:rPr dirty="0" sz="3000" spc="-5">
                <a:latin typeface="Cambria Math"/>
                <a:cs typeface="Cambria Math"/>
              </a:rPr>
              <a:t>𝐫, </a:t>
            </a:r>
            <a:r>
              <a:rPr dirty="0" sz="3000">
                <a:latin typeface="Cambria Math"/>
                <a:cs typeface="Cambria Math"/>
              </a:rPr>
              <a:t>𝐭 ∈</a:t>
            </a:r>
            <a:r>
              <a:rPr dirty="0" sz="3000" spc="-75">
                <a:latin typeface="Cambria Math"/>
                <a:cs typeface="Cambria Math"/>
              </a:rPr>
              <a:t> </a:t>
            </a:r>
            <a:r>
              <a:rPr dirty="0" sz="3000" spc="50">
                <a:latin typeface="Cambria Math"/>
                <a:cs typeface="Cambria Math"/>
              </a:rPr>
              <a:t>ℝ</a:t>
            </a:r>
            <a:r>
              <a:rPr dirty="0" baseline="27777" sz="3300" spc="75">
                <a:latin typeface="Cambria Math"/>
                <a:cs typeface="Cambria Math"/>
              </a:rPr>
              <a:t>7</a:t>
            </a:r>
            <a:endParaRPr baseline="27777" sz="33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7564" y="6068752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4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4367" y="6068752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2F62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07009" y="6068752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4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93813" y="6068752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2F62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19867" y="6068750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4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06669" y="6068750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89313" y="6068750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5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76115" y="6068750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974762" y="5051481"/>
          <a:ext cx="1600200" cy="44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801"/>
                <a:gridCol w="384723"/>
                <a:gridCol w="384722"/>
                <a:gridCol w="386801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D9253E"/>
                      </a:solidFill>
                      <a:prstDash val="solid"/>
                    </a:lnL>
                    <a:lnR w="38100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D9253E"/>
                      </a:solidFill>
                      <a:prstDash val="solid"/>
                    </a:lnL>
                    <a:lnR w="53975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D9253E"/>
                      </a:solidFill>
                      <a:prstDash val="solid"/>
                    </a:lnL>
                    <a:lnR w="38100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D9253E"/>
                      </a:solidFill>
                      <a:prstDash val="solid"/>
                    </a:lnL>
                    <a:lnR w="53975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011745" y="5480103"/>
            <a:ext cx="1124585" cy="605155"/>
          </a:xfrm>
          <a:custGeom>
            <a:avLst/>
            <a:gdLst/>
            <a:ahLst/>
            <a:cxnLst/>
            <a:rect l="l" t="t" r="r" b="b"/>
            <a:pathLst>
              <a:path w="1124585" h="605154">
                <a:moveTo>
                  <a:pt x="1041918" y="27602"/>
                </a:moveTo>
                <a:lnTo>
                  <a:pt x="2647" y="579732"/>
                </a:lnTo>
                <a:lnTo>
                  <a:pt x="0" y="588382"/>
                </a:lnTo>
                <a:lnTo>
                  <a:pt x="7404" y="602319"/>
                </a:lnTo>
                <a:lnTo>
                  <a:pt x="16054" y="604967"/>
                </a:lnTo>
                <a:lnTo>
                  <a:pt x="1055325" y="52836"/>
                </a:lnTo>
                <a:lnTo>
                  <a:pt x="1041918" y="27602"/>
                </a:lnTo>
                <a:close/>
              </a:path>
              <a:path w="1124585" h="605154">
                <a:moveTo>
                  <a:pt x="1112080" y="17198"/>
                </a:moveTo>
                <a:lnTo>
                  <a:pt x="1061502" y="17198"/>
                </a:lnTo>
                <a:lnTo>
                  <a:pt x="1070154" y="19846"/>
                </a:lnTo>
                <a:lnTo>
                  <a:pt x="1077558" y="33782"/>
                </a:lnTo>
                <a:lnTo>
                  <a:pt x="1074910" y="42431"/>
                </a:lnTo>
                <a:lnTo>
                  <a:pt x="1055325" y="52836"/>
                </a:lnTo>
                <a:lnTo>
                  <a:pt x="1068731" y="78071"/>
                </a:lnTo>
                <a:lnTo>
                  <a:pt x="1112080" y="17198"/>
                </a:lnTo>
                <a:close/>
              </a:path>
              <a:path w="1124585" h="605154">
                <a:moveTo>
                  <a:pt x="1061502" y="17198"/>
                </a:moveTo>
                <a:lnTo>
                  <a:pt x="1041918" y="27602"/>
                </a:lnTo>
                <a:lnTo>
                  <a:pt x="1055325" y="52836"/>
                </a:lnTo>
                <a:lnTo>
                  <a:pt x="1074910" y="42431"/>
                </a:lnTo>
                <a:lnTo>
                  <a:pt x="1077558" y="33782"/>
                </a:lnTo>
                <a:lnTo>
                  <a:pt x="1070154" y="19846"/>
                </a:lnTo>
                <a:lnTo>
                  <a:pt x="1061502" y="17198"/>
                </a:lnTo>
                <a:close/>
              </a:path>
              <a:path w="1124585" h="605154">
                <a:moveTo>
                  <a:pt x="1124327" y="0"/>
                </a:moveTo>
                <a:lnTo>
                  <a:pt x="1028512" y="2367"/>
                </a:lnTo>
                <a:lnTo>
                  <a:pt x="1041918" y="27602"/>
                </a:lnTo>
                <a:lnTo>
                  <a:pt x="1061502" y="17198"/>
                </a:lnTo>
                <a:lnTo>
                  <a:pt x="1112080" y="17198"/>
                </a:lnTo>
                <a:lnTo>
                  <a:pt x="11243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30845" y="5480105"/>
            <a:ext cx="1128395" cy="605155"/>
          </a:xfrm>
          <a:custGeom>
            <a:avLst/>
            <a:gdLst/>
            <a:ahLst/>
            <a:cxnLst/>
            <a:rect l="l" t="t" r="r" b="b"/>
            <a:pathLst>
              <a:path w="1128395" h="605154">
                <a:moveTo>
                  <a:pt x="1045805" y="27480"/>
                </a:moveTo>
                <a:lnTo>
                  <a:pt x="2660" y="579709"/>
                </a:lnTo>
                <a:lnTo>
                  <a:pt x="0" y="588355"/>
                </a:lnTo>
                <a:lnTo>
                  <a:pt x="7383" y="602303"/>
                </a:lnTo>
                <a:lnTo>
                  <a:pt x="16029" y="604964"/>
                </a:lnTo>
                <a:lnTo>
                  <a:pt x="1059174" y="52734"/>
                </a:lnTo>
                <a:lnTo>
                  <a:pt x="1045805" y="27480"/>
                </a:lnTo>
                <a:close/>
              </a:path>
              <a:path w="1128395" h="605154">
                <a:moveTo>
                  <a:pt x="1116035" y="17104"/>
                </a:moveTo>
                <a:lnTo>
                  <a:pt x="1065406" y="17104"/>
                </a:lnTo>
                <a:lnTo>
                  <a:pt x="1074052" y="19765"/>
                </a:lnTo>
                <a:lnTo>
                  <a:pt x="1081436" y="33712"/>
                </a:lnTo>
                <a:lnTo>
                  <a:pt x="1078776" y="42358"/>
                </a:lnTo>
                <a:lnTo>
                  <a:pt x="1059174" y="52734"/>
                </a:lnTo>
                <a:lnTo>
                  <a:pt x="1072544" y="77989"/>
                </a:lnTo>
                <a:lnTo>
                  <a:pt x="1116035" y="17104"/>
                </a:lnTo>
                <a:close/>
              </a:path>
              <a:path w="1128395" h="605154">
                <a:moveTo>
                  <a:pt x="1065406" y="17104"/>
                </a:moveTo>
                <a:lnTo>
                  <a:pt x="1045805" y="27480"/>
                </a:lnTo>
                <a:lnTo>
                  <a:pt x="1059174" y="52734"/>
                </a:lnTo>
                <a:lnTo>
                  <a:pt x="1078776" y="42358"/>
                </a:lnTo>
                <a:lnTo>
                  <a:pt x="1081436" y="33712"/>
                </a:lnTo>
                <a:lnTo>
                  <a:pt x="1074052" y="19765"/>
                </a:lnTo>
                <a:lnTo>
                  <a:pt x="1065406" y="17104"/>
                </a:lnTo>
                <a:close/>
              </a:path>
              <a:path w="1128395" h="605154">
                <a:moveTo>
                  <a:pt x="1128254" y="0"/>
                </a:moveTo>
                <a:lnTo>
                  <a:pt x="1032436" y="2226"/>
                </a:lnTo>
                <a:lnTo>
                  <a:pt x="1045805" y="27480"/>
                </a:lnTo>
                <a:lnTo>
                  <a:pt x="1065406" y="17104"/>
                </a:lnTo>
                <a:lnTo>
                  <a:pt x="1116035" y="17104"/>
                </a:lnTo>
                <a:lnTo>
                  <a:pt x="11282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03998" y="5480104"/>
            <a:ext cx="1174750" cy="605155"/>
          </a:xfrm>
          <a:custGeom>
            <a:avLst/>
            <a:gdLst/>
            <a:ahLst/>
            <a:cxnLst/>
            <a:rect l="l" t="t" r="r" b="b"/>
            <a:pathLst>
              <a:path w="1174750" h="605154">
                <a:moveTo>
                  <a:pt x="1091309" y="26113"/>
                </a:moveTo>
                <a:lnTo>
                  <a:pt x="2802" y="579486"/>
                </a:lnTo>
                <a:lnTo>
                  <a:pt x="0" y="588087"/>
                </a:lnTo>
                <a:lnTo>
                  <a:pt x="7151" y="602155"/>
                </a:lnTo>
                <a:lnTo>
                  <a:pt x="15753" y="604958"/>
                </a:lnTo>
                <a:lnTo>
                  <a:pt x="1104259" y="51585"/>
                </a:lnTo>
                <a:lnTo>
                  <a:pt x="1091309" y="26113"/>
                </a:lnTo>
                <a:close/>
              </a:path>
              <a:path w="1174750" h="605154">
                <a:moveTo>
                  <a:pt x="1162320" y="16062"/>
                </a:moveTo>
                <a:lnTo>
                  <a:pt x="1111078" y="16062"/>
                </a:lnTo>
                <a:lnTo>
                  <a:pt x="1119680" y="18865"/>
                </a:lnTo>
                <a:lnTo>
                  <a:pt x="1126831" y="32933"/>
                </a:lnTo>
                <a:lnTo>
                  <a:pt x="1124028" y="41535"/>
                </a:lnTo>
                <a:lnTo>
                  <a:pt x="1104259" y="51585"/>
                </a:lnTo>
                <a:lnTo>
                  <a:pt x="1117208" y="77057"/>
                </a:lnTo>
                <a:lnTo>
                  <a:pt x="1162320" y="16062"/>
                </a:lnTo>
                <a:close/>
              </a:path>
              <a:path w="1174750" h="605154">
                <a:moveTo>
                  <a:pt x="1111078" y="16062"/>
                </a:moveTo>
                <a:lnTo>
                  <a:pt x="1091309" y="26113"/>
                </a:lnTo>
                <a:lnTo>
                  <a:pt x="1104259" y="51585"/>
                </a:lnTo>
                <a:lnTo>
                  <a:pt x="1124028" y="41535"/>
                </a:lnTo>
                <a:lnTo>
                  <a:pt x="1126831" y="32933"/>
                </a:lnTo>
                <a:lnTo>
                  <a:pt x="1119680" y="18865"/>
                </a:lnTo>
                <a:lnTo>
                  <a:pt x="1111078" y="16062"/>
                </a:lnTo>
                <a:close/>
              </a:path>
              <a:path w="1174750" h="605154">
                <a:moveTo>
                  <a:pt x="1174201" y="0"/>
                </a:moveTo>
                <a:lnTo>
                  <a:pt x="1078359" y="640"/>
                </a:lnTo>
                <a:lnTo>
                  <a:pt x="1091309" y="26113"/>
                </a:lnTo>
                <a:lnTo>
                  <a:pt x="1111078" y="16062"/>
                </a:lnTo>
                <a:lnTo>
                  <a:pt x="1162320" y="16062"/>
                </a:lnTo>
                <a:lnTo>
                  <a:pt x="1174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04453" y="5480103"/>
            <a:ext cx="1142365" cy="605155"/>
          </a:xfrm>
          <a:custGeom>
            <a:avLst/>
            <a:gdLst/>
            <a:ahLst/>
            <a:cxnLst/>
            <a:rect l="l" t="t" r="r" b="b"/>
            <a:pathLst>
              <a:path w="1142364" h="605154">
                <a:moveTo>
                  <a:pt x="1059325" y="27067"/>
                </a:moveTo>
                <a:lnTo>
                  <a:pt x="2703" y="579643"/>
                </a:lnTo>
                <a:lnTo>
                  <a:pt x="0" y="588276"/>
                </a:lnTo>
                <a:lnTo>
                  <a:pt x="7312" y="602261"/>
                </a:lnTo>
                <a:lnTo>
                  <a:pt x="15946" y="604965"/>
                </a:lnTo>
                <a:lnTo>
                  <a:pt x="1072566" y="52388"/>
                </a:lnTo>
                <a:lnTo>
                  <a:pt x="1059325" y="27067"/>
                </a:lnTo>
                <a:close/>
              </a:path>
              <a:path w="1142364" h="605154">
                <a:moveTo>
                  <a:pt x="1129789" y="16789"/>
                </a:moveTo>
                <a:lnTo>
                  <a:pt x="1078978" y="16789"/>
                </a:lnTo>
                <a:lnTo>
                  <a:pt x="1087610" y="19493"/>
                </a:lnTo>
                <a:lnTo>
                  <a:pt x="1094924" y="33477"/>
                </a:lnTo>
                <a:lnTo>
                  <a:pt x="1092219" y="42110"/>
                </a:lnTo>
                <a:lnTo>
                  <a:pt x="1072566" y="52388"/>
                </a:lnTo>
                <a:lnTo>
                  <a:pt x="1085809" y="77710"/>
                </a:lnTo>
                <a:lnTo>
                  <a:pt x="1129789" y="16789"/>
                </a:lnTo>
                <a:close/>
              </a:path>
              <a:path w="1142364" h="605154">
                <a:moveTo>
                  <a:pt x="1078978" y="16789"/>
                </a:moveTo>
                <a:lnTo>
                  <a:pt x="1059325" y="27067"/>
                </a:lnTo>
                <a:lnTo>
                  <a:pt x="1072566" y="52388"/>
                </a:lnTo>
                <a:lnTo>
                  <a:pt x="1092219" y="42110"/>
                </a:lnTo>
                <a:lnTo>
                  <a:pt x="1094924" y="33477"/>
                </a:lnTo>
                <a:lnTo>
                  <a:pt x="1087610" y="19493"/>
                </a:lnTo>
                <a:lnTo>
                  <a:pt x="1078978" y="16789"/>
                </a:lnTo>
                <a:close/>
              </a:path>
              <a:path w="1142364" h="605154">
                <a:moveTo>
                  <a:pt x="1141910" y="0"/>
                </a:moveTo>
                <a:lnTo>
                  <a:pt x="1046082" y="1744"/>
                </a:lnTo>
                <a:lnTo>
                  <a:pt x="1059325" y="27067"/>
                </a:lnTo>
                <a:lnTo>
                  <a:pt x="1078978" y="16789"/>
                </a:lnTo>
                <a:lnTo>
                  <a:pt x="1129789" y="16789"/>
                </a:lnTo>
                <a:lnTo>
                  <a:pt x="11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84929" y="5476049"/>
            <a:ext cx="1329690" cy="609600"/>
          </a:xfrm>
          <a:custGeom>
            <a:avLst/>
            <a:gdLst/>
            <a:ahLst/>
            <a:cxnLst/>
            <a:rect l="l" t="t" r="r" b="b"/>
            <a:pathLst>
              <a:path w="1329689" h="609600">
                <a:moveTo>
                  <a:pt x="84070" y="26075"/>
                </a:moveTo>
                <a:lnTo>
                  <a:pt x="72383" y="52152"/>
                </a:lnTo>
                <a:lnTo>
                  <a:pt x="1314780" y="608966"/>
                </a:lnTo>
                <a:lnTo>
                  <a:pt x="1323236" y="605739"/>
                </a:lnTo>
                <a:lnTo>
                  <a:pt x="1329687" y="591344"/>
                </a:lnTo>
                <a:lnTo>
                  <a:pt x="1326466" y="582890"/>
                </a:lnTo>
                <a:lnTo>
                  <a:pt x="84070" y="26075"/>
                </a:lnTo>
                <a:close/>
              </a:path>
              <a:path w="1329689" h="609600">
                <a:moveTo>
                  <a:pt x="95756" y="0"/>
                </a:moveTo>
                <a:lnTo>
                  <a:pt x="0" y="4053"/>
                </a:lnTo>
                <a:lnTo>
                  <a:pt x="60697" y="78228"/>
                </a:lnTo>
                <a:lnTo>
                  <a:pt x="72383" y="52152"/>
                </a:lnTo>
                <a:lnTo>
                  <a:pt x="52144" y="43082"/>
                </a:lnTo>
                <a:lnTo>
                  <a:pt x="48924" y="34627"/>
                </a:lnTo>
                <a:lnTo>
                  <a:pt x="55378" y="20227"/>
                </a:lnTo>
                <a:lnTo>
                  <a:pt x="63831" y="17005"/>
                </a:lnTo>
                <a:lnTo>
                  <a:pt x="88135" y="17005"/>
                </a:lnTo>
                <a:lnTo>
                  <a:pt x="95756" y="0"/>
                </a:lnTo>
                <a:close/>
              </a:path>
              <a:path w="1329689" h="609600">
                <a:moveTo>
                  <a:pt x="63831" y="17005"/>
                </a:moveTo>
                <a:lnTo>
                  <a:pt x="55378" y="20227"/>
                </a:lnTo>
                <a:lnTo>
                  <a:pt x="48924" y="34627"/>
                </a:lnTo>
                <a:lnTo>
                  <a:pt x="52144" y="43082"/>
                </a:lnTo>
                <a:lnTo>
                  <a:pt x="72383" y="52152"/>
                </a:lnTo>
                <a:lnTo>
                  <a:pt x="84070" y="26075"/>
                </a:lnTo>
                <a:lnTo>
                  <a:pt x="63831" y="17005"/>
                </a:lnTo>
                <a:close/>
              </a:path>
              <a:path w="1329689" h="609600">
                <a:moveTo>
                  <a:pt x="88135" y="17005"/>
                </a:moveTo>
                <a:lnTo>
                  <a:pt x="63831" y="17005"/>
                </a:lnTo>
                <a:lnTo>
                  <a:pt x="84070" y="26075"/>
                </a:lnTo>
                <a:lnTo>
                  <a:pt x="88135" y="17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78253" y="5475761"/>
            <a:ext cx="1340485" cy="609600"/>
          </a:xfrm>
          <a:custGeom>
            <a:avLst/>
            <a:gdLst/>
            <a:ahLst/>
            <a:cxnLst/>
            <a:rect l="l" t="t" r="r" b="b"/>
            <a:pathLst>
              <a:path w="1340485" h="609600">
                <a:moveTo>
                  <a:pt x="84136" y="26111"/>
                </a:moveTo>
                <a:lnTo>
                  <a:pt x="72528" y="52222"/>
                </a:lnTo>
                <a:lnTo>
                  <a:pt x="1325509" y="609250"/>
                </a:lnTo>
                <a:lnTo>
                  <a:pt x="1333952" y="606004"/>
                </a:lnTo>
                <a:lnTo>
                  <a:pt x="1340363" y="591583"/>
                </a:lnTo>
                <a:lnTo>
                  <a:pt x="1337116" y="583139"/>
                </a:lnTo>
                <a:lnTo>
                  <a:pt x="84136" y="26111"/>
                </a:lnTo>
                <a:close/>
              </a:path>
              <a:path w="1340485" h="609600">
                <a:moveTo>
                  <a:pt x="95744" y="0"/>
                </a:moveTo>
                <a:lnTo>
                  <a:pt x="0" y="4342"/>
                </a:lnTo>
                <a:lnTo>
                  <a:pt x="60920" y="78333"/>
                </a:lnTo>
                <a:lnTo>
                  <a:pt x="72528" y="52222"/>
                </a:lnTo>
                <a:lnTo>
                  <a:pt x="52263" y="43213"/>
                </a:lnTo>
                <a:lnTo>
                  <a:pt x="49016" y="34768"/>
                </a:lnTo>
                <a:lnTo>
                  <a:pt x="55427" y="20349"/>
                </a:lnTo>
                <a:lnTo>
                  <a:pt x="63870" y="17101"/>
                </a:lnTo>
                <a:lnTo>
                  <a:pt x="88141" y="17101"/>
                </a:lnTo>
                <a:lnTo>
                  <a:pt x="95744" y="0"/>
                </a:lnTo>
                <a:close/>
              </a:path>
              <a:path w="1340485" h="609600">
                <a:moveTo>
                  <a:pt x="63870" y="17101"/>
                </a:moveTo>
                <a:lnTo>
                  <a:pt x="55427" y="20349"/>
                </a:lnTo>
                <a:lnTo>
                  <a:pt x="49016" y="34768"/>
                </a:lnTo>
                <a:lnTo>
                  <a:pt x="52263" y="43213"/>
                </a:lnTo>
                <a:lnTo>
                  <a:pt x="72528" y="52222"/>
                </a:lnTo>
                <a:lnTo>
                  <a:pt x="84136" y="26111"/>
                </a:lnTo>
                <a:lnTo>
                  <a:pt x="63870" y="17101"/>
                </a:lnTo>
                <a:close/>
              </a:path>
              <a:path w="1340485" h="609600">
                <a:moveTo>
                  <a:pt x="88141" y="17101"/>
                </a:moveTo>
                <a:lnTo>
                  <a:pt x="63870" y="17101"/>
                </a:lnTo>
                <a:lnTo>
                  <a:pt x="84136" y="26111"/>
                </a:lnTo>
                <a:lnTo>
                  <a:pt x="88141" y="17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44798" y="5475506"/>
            <a:ext cx="1350010" cy="609600"/>
          </a:xfrm>
          <a:custGeom>
            <a:avLst/>
            <a:gdLst/>
            <a:ahLst/>
            <a:cxnLst/>
            <a:rect l="l" t="t" r="r" b="b"/>
            <a:pathLst>
              <a:path w="1350010" h="609600">
                <a:moveTo>
                  <a:pt x="84195" y="26141"/>
                </a:moveTo>
                <a:lnTo>
                  <a:pt x="72656" y="52283"/>
                </a:lnTo>
                <a:lnTo>
                  <a:pt x="1335128" y="609502"/>
                </a:lnTo>
                <a:lnTo>
                  <a:pt x="1343563" y="606232"/>
                </a:lnTo>
                <a:lnTo>
                  <a:pt x="1349935" y="591795"/>
                </a:lnTo>
                <a:lnTo>
                  <a:pt x="1346666" y="583360"/>
                </a:lnTo>
                <a:lnTo>
                  <a:pt x="84195" y="26141"/>
                </a:lnTo>
                <a:close/>
              </a:path>
              <a:path w="1350010" h="609600">
                <a:moveTo>
                  <a:pt x="95733" y="0"/>
                </a:moveTo>
                <a:lnTo>
                  <a:pt x="0" y="4597"/>
                </a:lnTo>
                <a:lnTo>
                  <a:pt x="61118" y="78425"/>
                </a:lnTo>
                <a:lnTo>
                  <a:pt x="72656" y="52283"/>
                </a:lnTo>
                <a:lnTo>
                  <a:pt x="52367" y="43328"/>
                </a:lnTo>
                <a:lnTo>
                  <a:pt x="49098" y="34893"/>
                </a:lnTo>
                <a:lnTo>
                  <a:pt x="55471" y="20455"/>
                </a:lnTo>
                <a:lnTo>
                  <a:pt x="63906" y="17186"/>
                </a:lnTo>
                <a:lnTo>
                  <a:pt x="88147" y="17186"/>
                </a:lnTo>
                <a:lnTo>
                  <a:pt x="95733" y="0"/>
                </a:lnTo>
                <a:close/>
              </a:path>
              <a:path w="1350010" h="609600">
                <a:moveTo>
                  <a:pt x="63906" y="17186"/>
                </a:moveTo>
                <a:lnTo>
                  <a:pt x="55471" y="20455"/>
                </a:lnTo>
                <a:lnTo>
                  <a:pt x="49098" y="34893"/>
                </a:lnTo>
                <a:lnTo>
                  <a:pt x="52367" y="43328"/>
                </a:lnTo>
                <a:lnTo>
                  <a:pt x="72656" y="52283"/>
                </a:lnTo>
                <a:lnTo>
                  <a:pt x="84195" y="26141"/>
                </a:lnTo>
                <a:lnTo>
                  <a:pt x="63906" y="17186"/>
                </a:lnTo>
                <a:close/>
              </a:path>
              <a:path w="1350010" h="609600">
                <a:moveTo>
                  <a:pt x="88147" y="17186"/>
                </a:moveTo>
                <a:lnTo>
                  <a:pt x="63906" y="17186"/>
                </a:lnTo>
                <a:lnTo>
                  <a:pt x="84195" y="26141"/>
                </a:lnTo>
                <a:lnTo>
                  <a:pt x="88147" y="17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44745" y="5475682"/>
            <a:ext cx="1343660" cy="609600"/>
          </a:xfrm>
          <a:custGeom>
            <a:avLst/>
            <a:gdLst/>
            <a:ahLst/>
            <a:cxnLst/>
            <a:rect l="l" t="t" r="r" b="b"/>
            <a:pathLst>
              <a:path w="1343659" h="609600">
                <a:moveTo>
                  <a:pt x="84154" y="26120"/>
                </a:moveTo>
                <a:lnTo>
                  <a:pt x="72568" y="52240"/>
                </a:lnTo>
                <a:lnTo>
                  <a:pt x="1328475" y="609328"/>
                </a:lnTo>
                <a:lnTo>
                  <a:pt x="1336916" y="606074"/>
                </a:lnTo>
                <a:lnTo>
                  <a:pt x="1343315" y="591648"/>
                </a:lnTo>
                <a:lnTo>
                  <a:pt x="1340062" y="583207"/>
                </a:lnTo>
                <a:lnTo>
                  <a:pt x="84154" y="26120"/>
                </a:lnTo>
                <a:close/>
              </a:path>
              <a:path w="1343659" h="609600">
                <a:moveTo>
                  <a:pt x="95741" y="0"/>
                </a:moveTo>
                <a:lnTo>
                  <a:pt x="0" y="4420"/>
                </a:lnTo>
                <a:lnTo>
                  <a:pt x="60981" y="78361"/>
                </a:lnTo>
                <a:lnTo>
                  <a:pt x="72568" y="52240"/>
                </a:lnTo>
                <a:lnTo>
                  <a:pt x="52293" y="43247"/>
                </a:lnTo>
                <a:lnTo>
                  <a:pt x="49039" y="34806"/>
                </a:lnTo>
                <a:lnTo>
                  <a:pt x="55438" y="20380"/>
                </a:lnTo>
                <a:lnTo>
                  <a:pt x="63879" y="17127"/>
                </a:lnTo>
                <a:lnTo>
                  <a:pt x="88144" y="17127"/>
                </a:lnTo>
                <a:lnTo>
                  <a:pt x="95741" y="0"/>
                </a:lnTo>
                <a:close/>
              </a:path>
              <a:path w="1343659" h="609600">
                <a:moveTo>
                  <a:pt x="63879" y="17127"/>
                </a:moveTo>
                <a:lnTo>
                  <a:pt x="55438" y="20380"/>
                </a:lnTo>
                <a:lnTo>
                  <a:pt x="49039" y="34806"/>
                </a:lnTo>
                <a:lnTo>
                  <a:pt x="52293" y="43247"/>
                </a:lnTo>
                <a:lnTo>
                  <a:pt x="72568" y="52240"/>
                </a:lnTo>
                <a:lnTo>
                  <a:pt x="84154" y="26120"/>
                </a:lnTo>
                <a:lnTo>
                  <a:pt x="63879" y="17127"/>
                </a:lnTo>
                <a:close/>
              </a:path>
              <a:path w="1343659" h="609600">
                <a:moveTo>
                  <a:pt x="88144" y="17127"/>
                </a:moveTo>
                <a:lnTo>
                  <a:pt x="63879" y="17127"/>
                </a:lnTo>
                <a:lnTo>
                  <a:pt x="84154" y="26120"/>
                </a:lnTo>
                <a:lnTo>
                  <a:pt x="88144" y="17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63256" y="4654289"/>
            <a:ext cx="598170" cy="426084"/>
          </a:xfrm>
          <a:custGeom>
            <a:avLst/>
            <a:gdLst/>
            <a:ahLst/>
            <a:cxnLst/>
            <a:rect l="l" t="t" r="r" b="b"/>
            <a:pathLst>
              <a:path w="598170" h="426085">
                <a:moveTo>
                  <a:pt x="536540" y="360437"/>
                </a:moveTo>
                <a:lnTo>
                  <a:pt x="527627" y="361984"/>
                </a:lnTo>
                <a:lnTo>
                  <a:pt x="518539" y="374886"/>
                </a:lnTo>
                <a:lnTo>
                  <a:pt x="520086" y="383799"/>
                </a:lnTo>
                <a:lnTo>
                  <a:pt x="579711" y="425796"/>
                </a:lnTo>
                <a:lnTo>
                  <a:pt x="588624" y="424251"/>
                </a:lnTo>
                <a:lnTo>
                  <a:pt x="597712" y="411349"/>
                </a:lnTo>
                <a:lnTo>
                  <a:pt x="596165" y="402435"/>
                </a:lnTo>
                <a:lnTo>
                  <a:pt x="536540" y="360437"/>
                </a:lnTo>
                <a:close/>
              </a:path>
              <a:path w="598170" h="426085">
                <a:moveTo>
                  <a:pt x="443094" y="294618"/>
                </a:moveTo>
                <a:lnTo>
                  <a:pt x="434181" y="296165"/>
                </a:lnTo>
                <a:lnTo>
                  <a:pt x="425093" y="309067"/>
                </a:lnTo>
                <a:lnTo>
                  <a:pt x="426638" y="317980"/>
                </a:lnTo>
                <a:lnTo>
                  <a:pt x="486265" y="359977"/>
                </a:lnTo>
                <a:lnTo>
                  <a:pt x="495178" y="358432"/>
                </a:lnTo>
                <a:lnTo>
                  <a:pt x="504266" y="345528"/>
                </a:lnTo>
                <a:lnTo>
                  <a:pt x="502719" y="336616"/>
                </a:lnTo>
                <a:lnTo>
                  <a:pt x="443094" y="294618"/>
                </a:lnTo>
                <a:close/>
              </a:path>
              <a:path w="598170" h="426085">
                <a:moveTo>
                  <a:pt x="349647" y="228799"/>
                </a:moveTo>
                <a:lnTo>
                  <a:pt x="340734" y="230344"/>
                </a:lnTo>
                <a:lnTo>
                  <a:pt x="331646" y="243248"/>
                </a:lnTo>
                <a:lnTo>
                  <a:pt x="333192" y="252161"/>
                </a:lnTo>
                <a:lnTo>
                  <a:pt x="392818" y="294158"/>
                </a:lnTo>
                <a:lnTo>
                  <a:pt x="401731" y="292611"/>
                </a:lnTo>
                <a:lnTo>
                  <a:pt x="410819" y="279709"/>
                </a:lnTo>
                <a:lnTo>
                  <a:pt x="409272" y="270797"/>
                </a:lnTo>
                <a:lnTo>
                  <a:pt x="349647" y="228799"/>
                </a:lnTo>
                <a:close/>
              </a:path>
              <a:path w="598170" h="426085">
                <a:moveTo>
                  <a:pt x="256200" y="162980"/>
                </a:moveTo>
                <a:lnTo>
                  <a:pt x="247286" y="164525"/>
                </a:lnTo>
                <a:lnTo>
                  <a:pt x="238199" y="177427"/>
                </a:lnTo>
                <a:lnTo>
                  <a:pt x="239745" y="186342"/>
                </a:lnTo>
                <a:lnTo>
                  <a:pt x="299370" y="228338"/>
                </a:lnTo>
                <a:lnTo>
                  <a:pt x="308284" y="226792"/>
                </a:lnTo>
                <a:lnTo>
                  <a:pt x="317371" y="213890"/>
                </a:lnTo>
                <a:lnTo>
                  <a:pt x="315826" y="204976"/>
                </a:lnTo>
                <a:lnTo>
                  <a:pt x="256200" y="162980"/>
                </a:lnTo>
                <a:close/>
              </a:path>
              <a:path w="598170" h="426085">
                <a:moveTo>
                  <a:pt x="162754" y="97160"/>
                </a:moveTo>
                <a:lnTo>
                  <a:pt x="153840" y="98706"/>
                </a:lnTo>
                <a:lnTo>
                  <a:pt x="144753" y="111608"/>
                </a:lnTo>
                <a:lnTo>
                  <a:pt x="146298" y="120521"/>
                </a:lnTo>
                <a:lnTo>
                  <a:pt x="205924" y="162519"/>
                </a:lnTo>
                <a:lnTo>
                  <a:pt x="214838" y="160973"/>
                </a:lnTo>
                <a:lnTo>
                  <a:pt x="223925" y="148070"/>
                </a:lnTo>
                <a:lnTo>
                  <a:pt x="222379" y="139157"/>
                </a:lnTo>
                <a:lnTo>
                  <a:pt x="162754" y="97160"/>
                </a:lnTo>
                <a:close/>
              </a:path>
              <a:path w="598170" h="426085">
                <a:moveTo>
                  <a:pt x="78312" y="37684"/>
                </a:moveTo>
                <a:lnTo>
                  <a:pt x="61857" y="61045"/>
                </a:lnTo>
                <a:lnTo>
                  <a:pt x="112477" y="96700"/>
                </a:lnTo>
                <a:lnTo>
                  <a:pt x="121391" y="95153"/>
                </a:lnTo>
                <a:lnTo>
                  <a:pt x="130478" y="82251"/>
                </a:lnTo>
                <a:lnTo>
                  <a:pt x="128932" y="73338"/>
                </a:lnTo>
                <a:lnTo>
                  <a:pt x="78312" y="37684"/>
                </a:lnTo>
                <a:close/>
              </a:path>
              <a:path w="598170" h="426085">
                <a:moveTo>
                  <a:pt x="0" y="0"/>
                </a:moveTo>
                <a:lnTo>
                  <a:pt x="45402" y="84408"/>
                </a:lnTo>
                <a:lnTo>
                  <a:pt x="61857" y="61045"/>
                </a:lnTo>
                <a:lnTo>
                  <a:pt x="52852" y="54702"/>
                </a:lnTo>
                <a:lnTo>
                  <a:pt x="51305" y="45789"/>
                </a:lnTo>
                <a:lnTo>
                  <a:pt x="60393" y="32886"/>
                </a:lnTo>
                <a:lnTo>
                  <a:pt x="69306" y="31341"/>
                </a:lnTo>
                <a:lnTo>
                  <a:pt x="82779" y="31341"/>
                </a:lnTo>
                <a:lnTo>
                  <a:pt x="94767" y="14321"/>
                </a:lnTo>
                <a:lnTo>
                  <a:pt x="0" y="0"/>
                </a:lnTo>
                <a:close/>
              </a:path>
              <a:path w="598170" h="426085">
                <a:moveTo>
                  <a:pt x="69306" y="31341"/>
                </a:moveTo>
                <a:lnTo>
                  <a:pt x="60393" y="32886"/>
                </a:lnTo>
                <a:lnTo>
                  <a:pt x="51305" y="45789"/>
                </a:lnTo>
                <a:lnTo>
                  <a:pt x="52852" y="54702"/>
                </a:lnTo>
                <a:lnTo>
                  <a:pt x="61857" y="61045"/>
                </a:lnTo>
                <a:lnTo>
                  <a:pt x="78312" y="37684"/>
                </a:lnTo>
                <a:lnTo>
                  <a:pt x="69306" y="31341"/>
                </a:lnTo>
                <a:close/>
              </a:path>
              <a:path w="598170" h="426085">
                <a:moveTo>
                  <a:pt x="82779" y="31341"/>
                </a:moveTo>
                <a:lnTo>
                  <a:pt x="69306" y="31341"/>
                </a:lnTo>
                <a:lnTo>
                  <a:pt x="78312" y="37684"/>
                </a:lnTo>
                <a:lnTo>
                  <a:pt x="82779" y="313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55747" y="4244714"/>
            <a:ext cx="415290" cy="409575"/>
          </a:xfrm>
          <a:custGeom>
            <a:avLst/>
            <a:gdLst/>
            <a:ahLst/>
            <a:cxnLst/>
            <a:rect l="l" t="t" r="r" b="b"/>
            <a:pathLst>
              <a:path w="415289" h="409575">
                <a:moveTo>
                  <a:pt x="0" y="0"/>
                </a:moveTo>
                <a:lnTo>
                  <a:pt x="415017" y="0"/>
                </a:lnTo>
                <a:lnTo>
                  <a:pt x="415017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58734" y="4654289"/>
            <a:ext cx="210185" cy="444500"/>
          </a:xfrm>
          <a:custGeom>
            <a:avLst/>
            <a:gdLst/>
            <a:ahLst/>
            <a:cxnLst/>
            <a:rect l="l" t="t" r="r" b="b"/>
            <a:pathLst>
              <a:path w="210185" h="444500">
                <a:moveTo>
                  <a:pt x="172006" y="359149"/>
                </a:moveTo>
                <a:lnTo>
                  <a:pt x="157572" y="365532"/>
                </a:lnTo>
                <a:lnTo>
                  <a:pt x="154310" y="373970"/>
                </a:lnTo>
                <a:lnTo>
                  <a:pt x="183812" y="440668"/>
                </a:lnTo>
                <a:lnTo>
                  <a:pt x="192250" y="443931"/>
                </a:lnTo>
                <a:lnTo>
                  <a:pt x="206682" y="437548"/>
                </a:lnTo>
                <a:lnTo>
                  <a:pt x="209944" y="429110"/>
                </a:lnTo>
                <a:lnTo>
                  <a:pt x="180442" y="362412"/>
                </a:lnTo>
                <a:lnTo>
                  <a:pt x="172006" y="359149"/>
                </a:lnTo>
                <a:close/>
              </a:path>
              <a:path w="210185" h="444500">
                <a:moveTo>
                  <a:pt x="125770" y="254618"/>
                </a:moveTo>
                <a:lnTo>
                  <a:pt x="111338" y="261001"/>
                </a:lnTo>
                <a:lnTo>
                  <a:pt x="108075" y="269439"/>
                </a:lnTo>
                <a:lnTo>
                  <a:pt x="137576" y="336137"/>
                </a:lnTo>
                <a:lnTo>
                  <a:pt x="146014" y="339399"/>
                </a:lnTo>
                <a:lnTo>
                  <a:pt x="160446" y="333016"/>
                </a:lnTo>
                <a:lnTo>
                  <a:pt x="163709" y="324578"/>
                </a:lnTo>
                <a:lnTo>
                  <a:pt x="134208" y="257879"/>
                </a:lnTo>
                <a:lnTo>
                  <a:pt x="125770" y="254618"/>
                </a:lnTo>
                <a:close/>
              </a:path>
              <a:path w="210185" h="444500">
                <a:moveTo>
                  <a:pt x="79535" y="150086"/>
                </a:moveTo>
                <a:lnTo>
                  <a:pt x="65102" y="156470"/>
                </a:lnTo>
                <a:lnTo>
                  <a:pt x="61840" y="164908"/>
                </a:lnTo>
                <a:lnTo>
                  <a:pt x="91340" y="231606"/>
                </a:lnTo>
                <a:lnTo>
                  <a:pt x="99778" y="234868"/>
                </a:lnTo>
                <a:lnTo>
                  <a:pt x="114212" y="228485"/>
                </a:lnTo>
                <a:lnTo>
                  <a:pt x="117473" y="220047"/>
                </a:lnTo>
                <a:lnTo>
                  <a:pt x="87972" y="153348"/>
                </a:lnTo>
                <a:lnTo>
                  <a:pt x="79535" y="150086"/>
                </a:lnTo>
                <a:close/>
              </a:path>
              <a:path w="210185" h="444500">
                <a:moveTo>
                  <a:pt x="52265" y="72619"/>
                </a:moveTo>
                <a:lnTo>
                  <a:pt x="26132" y="84177"/>
                </a:lnTo>
                <a:lnTo>
                  <a:pt x="45106" y="127074"/>
                </a:lnTo>
                <a:lnTo>
                  <a:pt x="53544" y="130337"/>
                </a:lnTo>
                <a:lnTo>
                  <a:pt x="67976" y="123953"/>
                </a:lnTo>
                <a:lnTo>
                  <a:pt x="71239" y="115516"/>
                </a:lnTo>
                <a:lnTo>
                  <a:pt x="52265" y="72619"/>
                </a:lnTo>
                <a:close/>
              </a:path>
              <a:path w="210185" h="444500">
                <a:moveTo>
                  <a:pt x="4522" y="0"/>
                </a:moveTo>
                <a:lnTo>
                  <a:pt x="0" y="95736"/>
                </a:lnTo>
                <a:lnTo>
                  <a:pt x="26132" y="84177"/>
                </a:lnTo>
                <a:lnTo>
                  <a:pt x="17161" y="63894"/>
                </a:lnTo>
                <a:lnTo>
                  <a:pt x="20424" y="55458"/>
                </a:lnTo>
                <a:lnTo>
                  <a:pt x="34856" y="49074"/>
                </a:lnTo>
                <a:lnTo>
                  <a:pt x="63896" y="49074"/>
                </a:lnTo>
                <a:lnTo>
                  <a:pt x="4522" y="0"/>
                </a:lnTo>
                <a:close/>
              </a:path>
              <a:path w="210185" h="444500">
                <a:moveTo>
                  <a:pt x="34856" y="49074"/>
                </a:moveTo>
                <a:lnTo>
                  <a:pt x="20424" y="55458"/>
                </a:lnTo>
                <a:lnTo>
                  <a:pt x="17161" y="63894"/>
                </a:lnTo>
                <a:lnTo>
                  <a:pt x="26132" y="84177"/>
                </a:lnTo>
                <a:lnTo>
                  <a:pt x="52265" y="72619"/>
                </a:lnTo>
                <a:lnTo>
                  <a:pt x="43294" y="52336"/>
                </a:lnTo>
                <a:lnTo>
                  <a:pt x="34856" y="49074"/>
                </a:lnTo>
                <a:close/>
              </a:path>
              <a:path w="210185" h="444500">
                <a:moveTo>
                  <a:pt x="63896" y="49074"/>
                </a:moveTo>
                <a:lnTo>
                  <a:pt x="34856" y="49074"/>
                </a:lnTo>
                <a:lnTo>
                  <a:pt x="43294" y="52336"/>
                </a:lnTo>
                <a:lnTo>
                  <a:pt x="52265" y="72619"/>
                </a:lnTo>
                <a:lnTo>
                  <a:pt x="78398" y="61060"/>
                </a:lnTo>
                <a:lnTo>
                  <a:pt x="63896" y="49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60026" y="4654289"/>
            <a:ext cx="207010" cy="426084"/>
          </a:xfrm>
          <a:custGeom>
            <a:avLst/>
            <a:gdLst/>
            <a:ahLst/>
            <a:cxnLst/>
            <a:rect l="l" t="t" r="r" b="b"/>
            <a:pathLst>
              <a:path w="207010" h="426085">
                <a:moveTo>
                  <a:pt x="38760" y="341308"/>
                </a:moveTo>
                <a:lnTo>
                  <a:pt x="30284" y="344470"/>
                </a:lnTo>
                <a:lnTo>
                  <a:pt x="0" y="410817"/>
                </a:lnTo>
                <a:lnTo>
                  <a:pt x="3162" y="419293"/>
                </a:lnTo>
                <a:lnTo>
                  <a:pt x="17518" y="425846"/>
                </a:lnTo>
                <a:lnTo>
                  <a:pt x="25994" y="422683"/>
                </a:lnTo>
                <a:lnTo>
                  <a:pt x="56278" y="356337"/>
                </a:lnTo>
                <a:lnTo>
                  <a:pt x="53116" y="347861"/>
                </a:lnTo>
                <a:lnTo>
                  <a:pt x="38760" y="341308"/>
                </a:lnTo>
                <a:close/>
              </a:path>
              <a:path w="207010" h="426085">
                <a:moveTo>
                  <a:pt x="86222" y="237328"/>
                </a:moveTo>
                <a:lnTo>
                  <a:pt x="77748" y="240492"/>
                </a:lnTo>
                <a:lnTo>
                  <a:pt x="47462" y="306838"/>
                </a:lnTo>
                <a:lnTo>
                  <a:pt x="50626" y="315313"/>
                </a:lnTo>
                <a:lnTo>
                  <a:pt x="64982" y="321867"/>
                </a:lnTo>
                <a:lnTo>
                  <a:pt x="73458" y="318703"/>
                </a:lnTo>
                <a:lnTo>
                  <a:pt x="103742" y="252357"/>
                </a:lnTo>
                <a:lnTo>
                  <a:pt x="100580" y="243881"/>
                </a:lnTo>
                <a:lnTo>
                  <a:pt x="86222" y="237328"/>
                </a:lnTo>
                <a:close/>
              </a:path>
              <a:path w="207010" h="426085">
                <a:moveTo>
                  <a:pt x="133686" y="133349"/>
                </a:moveTo>
                <a:lnTo>
                  <a:pt x="125210" y="136512"/>
                </a:lnTo>
                <a:lnTo>
                  <a:pt x="94926" y="202858"/>
                </a:lnTo>
                <a:lnTo>
                  <a:pt x="98088" y="211334"/>
                </a:lnTo>
                <a:lnTo>
                  <a:pt x="112445" y="217887"/>
                </a:lnTo>
                <a:lnTo>
                  <a:pt x="120920" y="214725"/>
                </a:lnTo>
                <a:lnTo>
                  <a:pt x="151206" y="148377"/>
                </a:lnTo>
                <a:lnTo>
                  <a:pt x="148042" y="139903"/>
                </a:lnTo>
                <a:lnTo>
                  <a:pt x="133686" y="133349"/>
                </a:lnTo>
                <a:close/>
              </a:path>
              <a:path w="207010" h="426085">
                <a:moveTo>
                  <a:pt x="154635" y="72052"/>
                </a:moveTo>
                <a:lnTo>
                  <a:pt x="142389" y="98879"/>
                </a:lnTo>
                <a:lnTo>
                  <a:pt x="145552" y="107354"/>
                </a:lnTo>
                <a:lnTo>
                  <a:pt x="159909" y="113908"/>
                </a:lnTo>
                <a:lnTo>
                  <a:pt x="168384" y="110745"/>
                </a:lnTo>
                <a:lnTo>
                  <a:pt x="180630" y="83917"/>
                </a:lnTo>
                <a:lnTo>
                  <a:pt x="154635" y="72052"/>
                </a:lnTo>
                <a:close/>
              </a:path>
              <a:path w="207010" h="426085">
                <a:moveTo>
                  <a:pt x="204956" y="48713"/>
                </a:moveTo>
                <a:lnTo>
                  <a:pt x="172319" y="48713"/>
                </a:lnTo>
                <a:lnTo>
                  <a:pt x="186677" y="55266"/>
                </a:lnTo>
                <a:lnTo>
                  <a:pt x="189839" y="63742"/>
                </a:lnTo>
                <a:lnTo>
                  <a:pt x="180630" y="83917"/>
                </a:lnTo>
                <a:lnTo>
                  <a:pt x="206625" y="95783"/>
                </a:lnTo>
                <a:lnTo>
                  <a:pt x="204956" y="48713"/>
                </a:lnTo>
                <a:close/>
              </a:path>
              <a:path w="207010" h="426085">
                <a:moveTo>
                  <a:pt x="172319" y="48713"/>
                </a:moveTo>
                <a:lnTo>
                  <a:pt x="163845" y="51875"/>
                </a:lnTo>
                <a:lnTo>
                  <a:pt x="154635" y="72052"/>
                </a:lnTo>
                <a:lnTo>
                  <a:pt x="180630" y="83917"/>
                </a:lnTo>
                <a:lnTo>
                  <a:pt x="189839" y="63742"/>
                </a:lnTo>
                <a:lnTo>
                  <a:pt x="186677" y="55266"/>
                </a:lnTo>
                <a:lnTo>
                  <a:pt x="172319" y="48713"/>
                </a:lnTo>
                <a:close/>
              </a:path>
              <a:path w="207010" h="426085">
                <a:moveTo>
                  <a:pt x="203230" y="0"/>
                </a:moveTo>
                <a:lnTo>
                  <a:pt x="128640" y="60186"/>
                </a:lnTo>
                <a:lnTo>
                  <a:pt x="154635" y="72052"/>
                </a:lnTo>
                <a:lnTo>
                  <a:pt x="163845" y="51875"/>
                </a:lnTo>
                <a:lnTo>
                  <a:pt x="172319" y="48713"/>
                </a:lnTo>
                <a:lnTo>
                  <a:pt x="204956" y="48713"/>
                </a:lnTo>
                <a:lnTo>
                  <a:pt x="2032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65582" y="4654289"/>
            <a:ext cx="598170" cy="443865"/>
          </a:xfrm>
          <a:custGeom>
            <a:avLst/>
            <a:gdLst/>
            <a:ahLst/>
            <a:cxnLst/>
            <a:rect l="l" t="t" r="r" b="b"/>
            <a:pathLst>
              <a:path w="598170" h="443864">
                <a:moveTo>
                  <a:pt x="60115" y="377628"/>
                </a:moveTo>
                <a:lnTo>
                  <a:pt x="1363" y="420838"/>
                </a:lnTo>
                <a:lnTo>
                  <a:pt x="0" y="429781"/>
                </a:lnTo>
                <a:lnTo>
                  <a:pt x="9351" y="442494"/>
                </a:lnTo>
                <a:lnTo>
                  <a:pt x="18294" y="443858"/>
                </a:lnTo>
                <a:lnTo>
                  <a:pt x="77045" y="400646"/>
                </a:lnTo>
                <a:lnTo>
                  <a:pt x="78409" y="391703"/>
                </a:lnTo>
                <a:lnTo>
                  <a:pt x="69058" y="378990"/>
                </a:lnTo>
                <a:lnTo>
                  <a:pt x="60115" y="377628"/>
                </a:lnTo>
                <a:close/>
              </a:path>
              <a:path w="598170" h="443864">
                <a:moveTo>
                  <a:pt x="152194" y="309906"/>
                </a:moveTo>
                <a:lnTo>
                  <a:pt x="93441" y="353117"/>
                </a:lnTo>
                <a:lnTo>
                  <a:pt x="92078" y="362060"/>
                </a:lnTo>
                <a:lnTo>
                  <a:pt x="101428" y="374773"/>
                </a:lnTo>
                <a:lnTo>
                  <a:pt x="110371" y="376137"/>
                </a:lnTo>
                <a:lnTo>
                  <a:pt x="169123" y="332925"/>
                </a:lnTo>
                <a:lnTo>
                  <a:pt x="170487" y="323982"/>
                </a:lnTo>
                <a:lnTo>
                  <a:pt x="161136" y="311269"/>
                </a:lnTo>
                <a:lnTo>
                  <a:pt x="152194" y="309906"/>
                </a:lnTo>
                <a:close/>
              </a:path>
              <a:path w="598170" h="443864">
                <a:moveTo>
                  <a:pt x="244271" y="242185"/>
                </a:moveTo>
                <a:lnTo>
                  <a:pt x="185519" y="285395"/>
                </a:lnTo>
                <a:lnTo>
                  <a:pt x="184156" y="294339"/>
                </a:lnTo>
                <a:lnTo>
                  <a:pt x="193506" y="307052"/>
                </a:lnTo>
                <a:lnTo>
                  <a:pt x="202449" y="308415"/>
                </a:lnTo>
                <a:lnTo>
                  <a:pt x="261202" y="265203"/>
                </a:lnTo>
                <a:lnTo>
                  <a:pt x="262564" y="256261"/>
                </a:lnTo>
                <a:lnTo>
                  <a:pt x="253213" y="243547"/>
                </a:lnTo>
                <a:lnTo>
                  <a:pt x="244271" y="242185"/>
                </a:lnTo>
                <a:close/>
              </a:path>
              <a:path w="598170" h="443864">
                <a:moveTo>
                  <a:pt x="336349" y="174463"/>
                </a:moveTo>
                <a:lnTo>
                  <a:pt x="277596" y="217674"/>
                </a:lnTo>
                <a:lnTo>
                  <a:pt x="276233" y="226617"/>
                </a:lnTo>
                <a:lnTo>
                  <a:pt x="285584" y="239331"/>
                </a:lnTo>
                <a:lnTo>
                  <a:pt x="294526" y="240694"/>
                </a:lnTo>
                <a:lnTo>
                  <a:pt x="353279" y="197483"/>
                </a:lnTo>
                <a:lnTo>
                  <a:pt x="354642" y="188540"/>
                </a:lnTo>
                <a:lnTo>
                  <a:pt x="345292" y="175826"/>
                </a:lnTo>
                <a:lnTo>
                  <a:pt x="336349" y="174463"/>
                </a:lnTo>
                <a:close/>
              </a:path>
              <a:path w="598170" h="443864">
                <a:moveTo>
                  <a:pt x="428426" y="106742"/>
                </a:moveTo>
                <a:lnTo>
                  <a:pt x="369675" y="149953"/>
                </a:lnTo>
                <a:lnTo>
                  <a:pt x="368311" y="158896"/>
                </a:lnTo>
                <a:lnTo>
                  <a:pt x="377662" y="171610"/>
                </a:lnTo>
                <a:lnTo>
                  <a:pt x="386605" y="172972"/>
                </a:lnTo>
                <a:lnTo>
                  <a:pt x="445357" y="129762"/>
                </a:lnTo>
                <a:lnTo>
                  <a:pt x="446719" y="120818"/>
                </a:lnTo>
                <a:lnTo>
                  <a:pt x="437370" y="108104"/>
                </a:lnTo>
                <a:lnTo>
                  <a:pt x="428426" y="106742"/>
                </a:lnTo>
                <a:close/>
              </a:path>
              <a:path w="598170" h="443864">
                <a:moveTo>
                  <a:pt x="520150" y="39280"/>
                </a:moveTo>
                <a:lnTo>
                  <a:pt x="461752" y="82232"/>
                </a:lnTo>
                <a:lnTo>
                  <a:pt x="460388" y="91175"/>
                </a:lnTo>
                <a:lnTo>
                  <a:pt x="469739" y="103888"/>
                </a:lnTo>
                <a:lnTo>
                  <a:pt x="478683" y="105251"/>
                </a:lnTo>
                <a:lnTo>
                  <a:pt x="537081" y="62300"/>
                </a:lnTo>
                <a:lnTo>
                  <a:pt x="520150" y="39280"/>
                </a:lnTo>
                <a:close/>
              </a:path>
              <a:path w="598170" h="443864">
                <a:moveTo>
                  <a:pt x="577705" y="39020"/>
                </a:moveTo>
                <a:lnTo>
                  <a:pt x="520504" y="39020"/>
                </a:lnTo>
                <a:lnTo>
                  <a:pt x="529447" y="40384"/>
                </a:lnTo>
                <a:lnTo>
                  <a:pt x="538798" y="53097"/>
                </a:lnTo>
                <a:lnTo>
                  <a:pt x="537434" y="62040"/>
                </a:lnTo>
                <a:lnTo>
                  <a:pt x="537081" y="62300"/>
                </a:lnTo>
                <a:lnTo>
                  <a:pt x="554012" y="85319"/>
                </a:lnTo>
                <a:lnTo>
                  <a:pt x="577705" y="39020"/>
                </a:lnTo>
                <a:close/>
              </a:path>
              <a:path w="598170" h="443864">
                <a:moveTo>
                  <a:pt x="520504" y="39020"/>
                </a:moveTo>
                <a:lnTo>
                  <a:pt x="520150" y="39280"/>
                </a:lnTo>
                <a:lnTo>
                  <a:pt x="537081" y="62300"/>
                </a:lnTo>
                <a:lnTo>
                  <a:pt x="537434" y="62040"/>
                </a:lnTo>
                <a:lnTo>
                  <a:pt x="538798" y="53097"/>
                </a:lnTo>
                <a:lnTo>
                  <a:pt x="529447" y="40384"/>
                </a:lnTo>
                <a:lnTo>
                  <a:pt x="520504" y="39020"/>
                </a:lnTo>
                <a:close/>
              </a:path>
              <a:path w="598170" h="443864">
                <a:moveTo>
                  <a:pt x="597674" y="0"/>
                </a:moveTo>
                <a:lnTo>
                  <a:pt x="503220" y="16262"/>
                </a:lnTo>
                <a:lnTo>
                  <a:pt x="520150" y="39280"/>
                </a:lnTo>
                <a:lnTo>
                  <a:pt x="520504" y="39020"/>
                </a:lnTo>
                <a:lnTo>
                  <a:pt x="577705" y="39020"/>
                </a:lnTo>
                <a:lnTo>
                  <a:pt x="5976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411460" y="3867403"/>
            <a:ext cx="713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>
                <a:latin typeface="Cambria Math"/>
                <a:cs typeface="Cambria Math"/>
              </a:rPr>
              <a:t>𝑓</a:t>
            </a:r>
            <a:r>
              <a:rPr dirty="0" baseline="-17094" sz="1950" spc="7">
                <a:latin typeface="Cambria Math"/>
                <a:cs typeface="Cambria Math"/>
              </a:rPr>
              <a:t>!</a:t>
            </a:r>
            <a:r>
              <a:rPr dirty="0" sz="1800" spc="5">
                <a:latin typeface="Cambria Math"/>
                <a:cs typeface="Cambria Math"/>
              </a:rPr>
              <a:t>(ℎ,</a:t>
            </a:r>
            <a:r>
              <a:rPr dirty="0" sz="1800" spc="-160">
                <a:latin typeface="Cambria Math"/>
                <a:cs typeface="Cambria Math"/>
              </a:rPr>
              <a:t> </a:t>
            </a:r>
            <a:r>
              <a:rPr dirty="0" sz="1800" spc="15">
                <a:latin typeface="Cambria Math"/>
                <a:cs typeface="Cambria Math"/>
              </a:rPr>
              <a:t>𝑡)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  <p:sp>
        <p:nvSpPr>
          <p:cNvPr id="30" name="object 30"/>
          <p:cNvSpPr txBox="1"/>
          <p:nvPr/>
        </p:nvSpPr>
        <p:spPr>
          <a:xfrm>
            <a:off x="5194009" y="4617211"/>
            <a:ext cx="495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Sum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34159" y="5434076"/>
            <a:ext cx="81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P</a:t>
            </a:r>
            <a:r>
              <a:rPr dirty="0" sz="1800">
                <a:latin typeface="Arial"/>
                <a:cs typeface="Arial"/>
              </a:rPr>
              <a:t>r</a:t>
            </a:r>
            <a:r>
              <a:rPr dirty="0" sz="1800" spc="-5">
                <a:latin typeface="Arial"/>
                <a:cs typeface="Arial"/>
              </a:rPr>
              <a:t>odu</a:t>
            </a:r>
            <a:r>
              <a:rPr dirty="0" sz="1800">
                <a:latin typeface="Arial"/>
                <a:cs typeface="Arial"/>
              </a:rPr>
              <a:t>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86876" y="5104891"/>
            <a:ext cx="134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D9253E"/>
                </a:solidFill>
                <a:latin typeface="Cambria Math"/>
                <a:cs typeface="Cambria Math"/>
              </a:rPr>
              <a:t>𝐫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47361" y="6510019"/>
            <a:ext cx="165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𝐡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72100" y="6506971"/>
            <a:ext cx="112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54084" y="29971"/>
            <a:ext cx="64947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Corbel"/>
                <a:cs typeface="Corbel"/>
              </a:rPr>
              <a:t>Yang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Embedding Entities and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Relations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for Learning and Inference in Knowledge Bases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ICLR</a:t>
            </a:r>
            <a:r>
              <a:rPr dirty="0" sz="1200" spc="1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2015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0939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35547" y="1843722"/>
            <a:ext cx="768350" cy="353060"/>
          </a:xfrm>
          <a:custGeom>
            <a:avLst/>
            <a:gdLst/>
            <a:ahLst/>
            <a:cxnLst/>
            <a:rect l="l" t="t" r="r" b="b"/>
            <a:pathLst>
              <a:path w="768350" h="353060">
                <a:moveTo>
                  <a:pt x="655769" y="0"/>
                </a:moveTo>
                <a:lnTo>
                  <a:pt x="650746" y="14324"/>
                </a:lnTo>
                <a:lnTo>
                  <a:pt x="671175" y="23190"/>
                </a:lnTo>
                <a:lnTo>
                  <a:pt x="688744" y="35462"/>
                </a:lnTo>
                <a:lnTo>
                  <a:pt x="715300" y="70228"/>
                </a:lnTo>
                <a:lnTo>
                  <a:pt x="730928" y="117132"/>
                </a:lnTo>
                <a:lnTo>
                  <a:pt x="736137" y="174687"/>
                </a:lnTo>
                <a:lnTo>
                  <a:pt x="734829" y="205812"/>
                </a:lnTo>
                <a:lnTo>
                  <a:pt x="724364" y="259483"/>
                </a:lnTo>
                <a:lnTo>
                  <a:pt x="703365" y="301399"/>
                </a:lnTo>
                <a:lnTo>
                  <a:pt x="671414" y="329677"/>
                </a:lnTo>
                <a:lnTo>
                  <a:pt x="651305" y="338583"/>
                </a:lnTo>
                <a:lnTo>
                  <a:pt x="655769" y="352908"/>
                </a:lnTo>
                <a:lnTo>
                  <a:pt x="703906" y="330328"/>
                </a:lnTo>
                <a:lnTo>
                  <a:pt x="739300" y="291237"/>
                </a:lnTo>
                <a:lnTo>
                  <a:pt x="761065" y="238892"/>
                </a:lnTo>
                <a:lnTo>
                  <a:pt x="768320" y="176546"/>
                </a:lnTo>
                <a:lnTo>
                  <a:pt x="766501" y="144194"/>
                </a:lnTo>
                <a:lnTo>
                  <a:pt x="751944" y="86849"/>
                </a:lnTo>
                <a:lnTo>
                  <a:pt x="723074" y="40166"/>
                </a:lnTo>
                <a:lnTo>
                  <a:pt x="681355" y="9237"/>
                </a:lnTo>
                <a:lnTo>
                  <a:pt x="655769" y="0"/>
                </a:lnTo>
                <a:close/>
              </a:path>
              <a:path w="768350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6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3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7" y="92349"/>
                </a:lnTo>
                <a:lnTo>
                  <a:pt x="64990" y="51141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692" y="1279652"/>
            <a:ext cx="829246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>
                <a:solidFill>
                  <a:srgbClr val="C00000"/>
                </a:solidFill>
              </a:rPr>
              <a:t>DistMult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: Entities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relations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using </a:t>
            </a:r>
            <a:r>
              <a:rPr dirty="0" sz="3000" spc="-20" b="0">
                <a:solidFill>
                  <a:srgbClr val="000000"/>
                </a:solidFill>
                <a:latin typeface="Calibri"/>
                <a:cs typeface="Calibri"/>
              </a:rPr>
              <a:t>vectors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z="3000" spc="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000" spc="50" b="0">
                <a:solidFill>
                  <a:srgbClr val="000000"/>
                </a:solidFill>
                <a:latin typeface="Cambria Math"/>
                <a:cs typeface="Cambria Math"/>
              </a:rPr>
              <a:t>ℝ</a:t>
            </a:r>
            <a:r>
              <a:rPr dirty="0" baseline="27777" sz="3300" spc="75" b="0">
                <a:solidFill>
                  <a:srgbClr val="000000"/>
                </a:solidFill>
                <a:latin typeface="Cambria Math"/>
                <a:cs typeface="Cambria Math"/>
              </a:rPr>
              <a:t>7</a:t>
            </a:r>
            <a:endParaRPr baseline="27777" sz="33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  <a:tab pos="3233420" algn="l"/>
                <a:tab pos="4016375" algn="l"/>
              </a:tabLst>
            </a:pPr>
            <a:r>
              <a:rPr dirty="0" sz="3000" spc="-15">
                <a:solidFill>
                  <a:srgbClr val="D60093"/>
                </a:solidFill>
              </a:rPr>
              <a:t>Score</a:t>
            </a:r>
            <a:r>
              <a:rPr dirty="0" sz="3000" spc="5">
                <a:solidFill>
                  <a:srgbClr val="D60093"/>
                </a:solidFill>
              </a:rPr>
              <a:t> </a:t>
            </a:r>
            <a:r>
              <a:rPr dirty="0" sz="3000" spc="-114">
                <a:solidFill>
                  <a:srgbClr val="D60093"/>
                </a:solidFill>
              </a:rPr>
              <a:t>funcMon</a:t>
            </a:r>
            <a:r>
              <a:rPr dirty="0" sz="3000" spc="-114" b="0">
                <a:solidFill>
                  <a:srgbClr val="D60093"/>
                </a:solidFill>
                <a:latin typeface="Cambria Math"/>
                <a:cs typeface="Cambria Math"/>
              </a:rPr>
              <a:t>:</a:t>
            </a:r>
            <a:r>
              <a:rPr dirty="0" sz="3000" spc="-155" b="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3000" spc="-325" b="0">
                <a:solidFill>
                  <a:srgbClr val="000000"/>
                </a:solidFill>
                <a:latin typeface="Cambria Math"/>
                <a:cs typeface="Cambria Math"/>
              </a:rPr>
              <a:t>𝑓</a:t>
            </a:r>
            <a:r>
              <a:rPr dirty="0" baseline="-15151" sz="3300" spc="-487" b="0">
                <a:solidFill>
                  <a:srgbClr val="000000"/>
                </a:solidFill>
                <a:latin typeface="Cambria Math"/>
                <a:cs typeface="Cambria Math"/>
              </a:rPr>
              <a:t>8	</a:t>
            </a:r>
            <a:r>
              <a:rPr dirty="0" sz="3000" spc="15" b="0">
                <a:solidFill>
                  <a:srgbClr val="000000"/>
                </a:solidFill>
                <a:latin typeface="Cambria Math"/>
                <a:cs typeface="Cambria Math"/>
              </a:rPr>
              <a:t>ℎ,</a:t>
            </a:r>
            <a:r>
              <a:rPr dirty="0" sz="30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𝑡	</a:t>
            </a:r>
            <a:r>
              <a:rPr dirty="0" sz="3000" spc="-5" b="0">
                <a:solidFill>
                  <a:srgbClr val="000000"/>
                </a:solidFill>
                <a:latin typeface="Cambria Math"/>
                <a:cs typeface="Cambria Math"/>
              </a:rPr>
              <a:t>=&lt;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𝐡, </a:t>
            </a:r>
            <a:r>
              <a:rPr dirty="0" sz="3000" spc="-5" b="0">
                <a:solidFill>
                  <a:srgbClr val="000000"/>
                </a:solidFill>
                <a:latin typeface="Cambria Math"/>
                <a:cs typeface="Cambria Math"/>
              </a:rPr>
              <a:t>𝐫,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𝐭 &gt; = </a:t>
            </a:r>
            <a:r>
              <a:rPr dirty="0" baseline="2777" sz="4500" spc="-660" b="0">
                <a:solidFill>
                  <a:srgbClr val="000000"/>
                </a:solidFill>
                <a:latin typeface="Cambria Math"/>
                <a:cs typeface="Cambria Math"/>
              </a:rPr>
              <a:t>∑</a:t>
            </a:r>
            <a:r>
              <a:rPr dirty="0" baseline="-17676" sz="3300" spc="-660" b="0">
                <a:solidFill>
                  <a:srgbClr val="000000"/>
                </a:solidFill>
                <a:latin typeface="Cambria Math"/>
                <a:cs typeface="Cambria Math"/>
              </a:rPr>
              <a:t>&gt;         </a:t>
            </a:r>
            <a:r>
              <a:rPr dirty="0" sz="3000" spc="-440" b="0">
                <a:solidFill>
                  <a:srgbClr val="000000"/>
                </a:solidFill>
                <a:latin typeface="Cambria Math"/>
                <a:cs typeface="Cambria Math"/>
              </a:rPr>
              <a:t>𝐡</a:t>
            </a:r>
            <a:r>
              <a:rPr dirty="0" baseline="-15151" sz="3300" spc="-660" b="0">
                <a:solidFill>
                  <a:srgbClr val="000000"/>
                </a:solidFill>
                <a:latin typeface="Cambria Math"/>
                <a:cs typeface="Cambria Math"/>
              </a:rPr>
              <a:t>&gt;             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⋅ </a:t>
            </a:r>
            <a:r>
              <a:rPr dirty="0" sz="3000" spc="-565" b="0">
                <a:solidFill>
                  <a:srgbClr val="000000"/>
                </a:solidFill>
                <a:latin typeface="Cambria Math"/>
                <a:cs typeface="Cambria Math"/>
              </a:rPr>
              <a:t>𝐫</a:t>
            </a:r>
            <a:r>
              <a:rPr dirty="0" baseline="-15151" sz="3300" spc="-847" b="0">
                <a:solidFill>
                  <a:srgbClr val="000000"/>
                </a:solidFill>
                <a:latin typeface="Cambria Math"/>
                <a:cs typeface="Cambria Math"/>
              </a:rPr>
              <a:t>&gt;</a:t>
            </a:r>
            <a:r>
              <a:rPr dirty="0" baseline="-15151" sz="3300" spc="187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⋅</a:t>
            </a:r>
            <a:r>
              <a:rPr dirty="0" sz="3000" spc="15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spc="-390" b="0">
                <a:solidFill>
                  <a:srgbClr val="000000"/>
                </a:solidFill>
                <a:latin typeface="Cambria Math"/>
                <a:cs typeface="Cambria Math"/>
              </a:rPr>
              <a:t>𝐭</a:t>
            </a:r>
            <a:r>
              <a:rPr dirty="0" baseline="-15151" sz="3300" spc="-585" b="0">
                <a:solidFill>
                  <a:srgbClr val="000000"/>
                </a:solidFill>
                <a:latin typeface="Cambria Math"/>
                <a:cs typeface="Cambria Math"/>
              </a:rPr>
              <a:t>&gt;</a:t>
            </a:r>
            <a:endParaRPr baseline="-15151" sz="3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6692" y="2206244"/>
            <a:ext cx="8197850" cy="184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55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mbria Math"/>
                <a:cs typeface="Cambria Math"/>
              </a:rPr>
              <a:t>𝐡, </a:t>
            </a:r>
            <a:r>
              <a:rPr dirty="0" sz="3000" spc="-5">
                <a:latin typeface="Cambria Math"/>
                <a:cs typeface="Cambria Math"/>
              </a:rPr>
              <a:t>𝐫, </a:t>
            </a:r>
            <a:r>
              <a:rPr dirty="0" sz="3000">
                <a:latin typeface="Cambria Math"/>
                <a:cs typeface="Cambria Math"/>
              </a:rPr>
              <a:t>𝐭 ∈</a:t>
            </a:r>
            <a:r>
              <a:rPr dirty="0" sz="3000" spc="-75">
                <a:latin typeface="Cambria Math"/>
                <a:cs typeface="Cambria Math"/>
              </a:rPr>
              <a:t> </a:t>
            </a:r>
            <a:r>
              <a:rPr dirty="0" sz="3000" spc="50">
                <a:latin typeface="Cambria Math"/>
                <a:cs typeface="Cambria Math"/>
              </a:rPr>
              <a:t>ℝ</a:t>
            </a:r>
            <a:r>
              <a:rPr dirty="0" baseline="27777" sz="3300" spc="75">
                <a:latin typeface="Cambria Math"/>
                <a:cs typeface="Cambria Math"/>
              </a:rPr>
              <a:t>7</a:t>
            </a:r>
            <a:endParaRPr baseline="27777" sz="3300">
              <a:latin typeface="Cambria Math"/>
              <a:cs typeface="Cambria Math"/>
            </a:endParaRPr>
          </a:p>
          <a:p>
            <a:pPr marL="332740" indent="-320040">
              <a:lnSpc>
                <a:spcPts val="355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Intuition </a:t>
            </a:r>
            <a:r>
              <a:rPr dirty="0" sz="3000" b="1">
                <a:latin typeface="Calibri"/>
                <a:cs typeface="Calibri"/>
              </a:rPr>
              <a:t>of </a:t>
            </a:r>
            <a:r>
              <a:rPr dirty="0" sz="3000" spc="-5" b="1">
                <a:latin typeface="Calibri"/>
                <a:cs typeface="Calibri"/>
              </a:rPr>
              <a:t>the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score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function</a:t>
            </a:r>
            <a:r>
              <a:rPr dirty="0" sz="3000" spc="-5" b="1">
                <a:latin typeface="Calibri"/>
                <a:cs typeface="Calibri"/>
              </a:rPr>
              <a:t>: </a:t>
            </a:r>
            <a:r>
              <a:rPr dirty="0" sz="3000">
                <a:latin typeface="Calibri"/>
                <a:cs typeface="Calibri"/>
              </a:rPr>
              <a:t>Can </a:t>
            </a:r>
            <a:r>
              <a:rPr dirty="0" sz="3000" spc="-5">
                <a:latin typeface="Calibri"/>
                <a:cs typeface="Calibri"/>
              </a:rPr>
              <a:t>be </a:t>
            </a:r>
            <a:r>
              <a:rPr dirty="0" sz="3000" spc="-15">
                <a:latin typeface="Calibri"/>
                <a:cs typeface="Calibri"/>
              </a:rPr>
              <a:t>viewed </a:t>
            </a:r>
            <a:r>
              <a:rPr dirty="0" sz="3000">
                <a:latin typeface="Calibri"/>
                <a:cs typeface="Calibri"/>
              </a:rPr>
              <a:t>as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endParaRPr sz="30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</a:pPr>
            <a:r>
              <a:rPr dirty="0" sz="3000" spc="-5" b="1">
                <a:solidFill>
                  <a:srgbClr val="3792AA"/>
                </a:solidFill>
                <a:latin typeface="Calibri"/>
                <a:cs typeface="Calibri"/>
              </a:rPr>
              <a:t>cosine similarity </a:t>
            </a:r>
            <a:r>
              <a:rPr dirty="0" sz="3000" spc="-15">
                <a:latin typeface="Calibri"/>
                <a:cs typeface="Calibri"/>
              </a:rPr>
              <a:t>between </a:t>
            </a:r>
            <a:r>
              <a:rPr dirty="0" sz="3000">
                <a:latin typeface="Cambria Math"/>
                <a:cs typeface="Cambria Math"/>
              </a:rPr>
              <a:t>𝐡 ⋅ 𝐫 </a:t>
            </a:r>
            <a:r>
              <a:rPr dirty="0" sz="3000" spc="-5">
                <a:latin typeface="Calibri"/>
                <a:cs typeface="Calibri"/>
              </a:rPr>
              <a:t>and</a:t>
            </a:r>
            <a:r>
              <a:rPr dirty="0" sz="3000">
                <a:latin typeface="Calibri"/>
                <a:cs typeface="Calibri"/>
              </a:rPr>
              <a:t> </a:t>
            </a:r>
            <a:r>
              <a:rPr dirty="0" sz="3000">
                <a:latin typeface="Cambria Math"/>
                <a:cs typeface="Cambria Math"/>
              </a:rPr>
              <a:t>𝐭</a:t>
            </a:r>
            <a:endParaRPr sz="3000">
              <a:latin typeface="Cambria Math"/>
              <a:cs typeface="Cambria Math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latin typeface="Calibri"/>
                <a:cs typeface="Calibri"/>
              </a:rPr>
              <a:t>Example: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89689" y="4129722"/>
            <a:ext cx="921385" cy="353060"/>
          </a:xfrm>
          <a:custGeom>
            <a:avLst/>
            <a:gdLst/>
            <a:ahLst/>
            <a:cxnLst/>
            <a:rect l="l" t="t" r="r" b="b"/>
            <a:pathLst>
              <a:path w="921385" h="353060">
                <a:moveTo>
                  <a:pt x="808233" y="0"/>
                </a:moveTo>
                <a:lnTo>
                  <a:pt x="803210" y="14324"/>
                </a:lnTo>
                <a:lnTo>
                  <a:pt x="823639" y="23190"/>
                </a:lnTo>
                <a:lnTo>
                  <a:pt x="841208" y="35462"/>
                </a:lnTo>
                <a:lnTo>
                  <a:pt x="867764" y="70228"/>
                </a:lnTo>
                <a:lnTo>
                  <a:pt x="883391" y="117132"/>
                </a:lnTo>
                <a:lnTo>
                  <a:pt x="888601" y="174687"/>
                </a:lnTo>
                <a:lnTo>
                  <a:pt x="887293" y="205812"/>
                </a:lnTo>
                <a:lnTo>
                  <a:pt x="876828" y="259483"/>
                </a:lnTo>
                <a:lnTo>
                  <a:pt x="855829" y="301399"/>
                </a:lnTo>
                <a:lnTo>
                  <a:pt x="823877" y="329677"/>
                </a:lnTo>
                <a:lnTo>
                  <a:pt x="803769" y="338583"/>
                </a:lnTo>
                <a:lnTo>
                  <a:pt x="808233" y="352908"/>
                </a:lnTo>
                <a:lnTo>
                  <a:pt x="856370" y="330328"/>
                </a:lnTo>
                <a:lnTo>
                  <a:pt x="891763" y="291237"/>
                </a:lnTo>
                <a:lnTo>
                  <a:pt x="913529" y="238891"/>
                </a:lnTo>
                <a:lnTo>
                  <a:pt x="920785" y="176546"/>
                </a:lnTo>
                <a:lnTo>
                  <a:pt x="918965" y="144193"/>
                </a:lnTo>
                <a:lnTo>
                  <a:pt x="904408" y="86849"/>
                </a:lnTo>
                <a:lnTo>
                  <a:pt x="875538" y="40166"/>
                </a:lnTo>
                <a:lnTo>
                  <a:pt x="833819" y="9237"/>
                </a:lnTo>
                <a:lnTo>
                  <a:pt x="808233" y="0"/>
                </a:lnTo>
                <a:close/>
              </a:path>
              <a:path w="921385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4"/>
                </a:lnTo>
                <a:lnTo>
                  <a:pt x="0" y="176546"/>
                </a:lnTo>
                <a:lnTo>
                  <a:pt x="1813" y="208969"/>
                </a:lnTo>
                <a:lnTo>
                  <a:pt x="16324" y="266314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3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7" y="92349"/>
                </a:lnTo>
                <a:lnTo>
                  <a:pt x="64990" y="51141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36100" y="4022852"/>
            <a:ext cx="114808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8155" algn="l"/>
              </a:tabLst>
            </a:pPr>
            <a:r>
              <a:rPr dirty="0" sz="3000" spc="-325">
                <a:latin typeface="Cambria Math"/>
                <a:cs typeface="Cambria Math"/>
              </a:rPr>
              <a:t>𝑓</a:t>
            </a:r>
            <a:r>
              <a:rPr dirty="0" baseline="-15151" sz="3300" spc="-487">
                <a:latin typeface="Cambria Math"/>
                <a:cs typeface="Cambria Math"/>
              </a:rPr>
              <a:t>8	</a:t>
            </a:r>
            <a:r>
              <a:rPr dirty="0" sz="3000" spc="15">
                <a:latin typeface="Cambria Math"/>
                <a:cs typeface="Cambria Math"/>
              </a:rPr>
              <a:t>ℎ,</a:t>
            </a:r>
            <a:r>
              <a:rPr dirty="0" sz="3000" spc="-260">
                <a:latin typeface="Cambria Math"/>
                <a:cs typeface="Cambria Math"/>
              </a:rPr>
              <a:t> </a:t>
            </a:r>
            <a:r>
              <a:rPr dirty="0" sz="3000" spc="285">
                <a:solidFill>
                  <a:srgbClr val="C00000"/>
                </a:solidFill>
                <a:latin typeface="Cambria Math"/>
                <a:cs typeface="Cambria Math"/>
              </a:rPr>
              <a:t>𝑡</a:t>
            </a:r>
            <a:r>
              <a:rPr dirty="0" baseline="-15151" sz="3300" spc="427">
                <a:solidFill>
                  <a:srgbClr val="C00000"/>
                </a:solidFill>
                <a:latin typeface="Cambria Math"/>
                <a:cs typeface="Cambria Math"/>
              </a:rPr>
              <a:t>;</a:t>
            </a:r>
            <a:endParaRPr baseline="-15151" sz="3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33220" y="4129722"/>
            <a:ext cx="929640" cy="353060"/>
          </a:xfrm>
          <a:custGeom>
            <a:avLst/>
            <a:gdLst/>
            <a:ahLst/>
            <a:cxnLst/>
            <a:rect l="l" t="t" r="r" b="b"/>
            <a:pathLst>
              <a:path w="929639" h="353060">
                <a:moveTo>
                  <a:pt x="817059" y="0"/>
                </a:moveTo>
                <a:lnTo>
                  <a:pt x="812036" y="14324"/>
                </a:lnTo>
                <a:lnTo>
                  <a:pt x="832465" y="23190"/>
                </a:lnTo>
                <a:lnTo>
                  <a:pt x="850034" y="35462"/>
                </a:lnTo>
                <a:lnTo>
                  <a:pt x="876590" y="70228"/>
                </a:lnTo>
                <a:lnTo>
                  <a:pt x="892217" y="117132"/>
                </a:lnTo>
                <a:lnTo>
                  <a:pt x="897426" y="174687"/>
                </a:lnTo>
                <a:lnTo>
                  <a:pt x="896118" y="205812"/>
                </a:lnTo>
                <a:lnTo>
                  <a:pt x="885654" y="259483"/>
                </a:lnTo>
                <a:lnTo>
                  <a:pt x="864655" y="301399"/>
                </a:lnTo>
                <a:lnTo>
                  <a:pt x="832704" y="329677"/>
                </a:lnTo>
                <a:lnTo>
                  <a:pt x="812595" y="338583"/>
                </a:lnTo>
                <a:lnTo>
                  <a:pt x="817059" y="352908"/>
                </a:lnTo>
                <a:lnTo>
                  <a:pt x="865196" y="330328"/>
                </a:lnTo>
                <a:lnTo>
                  <a:pt x="900590" y="291237"/>
                </a:lnTo>
                <a:lnTo>
                  <a:pt x="922355" y="238891"/>
                </a:lnTo>
                <a:lnTo>
                  <a:pt x="929610" y="176546"/>
                </a:lnTo>
                <a:lnTo>
                  <a:pt x="927791" y="144193"/>
                </a:lnTo>
                <a:lnTo>
                  <a:pt x="913234" y="86849"/>
                </a:lnTo>
                <a:lnTo>
                  <a:pt x="884363" y="40166"/>
                </a:lnTo>
                <a:lnTo>
                  <a:pt x="842645" y="9237"/>
                </a:lnTo>
                <a:lnTo>
                  <a:pt x="817059" y="0"/>
                </a:lnTo>
                <a:close/>
              </a:path>
              <a:path w="929639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4"/>
                </a:lnTo>
                <a:lnTo>
                  <a:pt x="0" y="176546"/>
                </a:lnTo>
                <a:lnTo>
                  <a:pt x="1813" y="208969"/>
                </a:lnTo>
                <a:lnTo>
                  <a:pt x="16324" y="266314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3"/>
                </a:lnTo>
                <a:lnTo>
                  <a:pt x="96907" y="329677"/>
                </a:lnTo>
                <a:lnTo>
                  <a:pt x="79553" y="317282"/>
                </a:lnTo>
                <a:lnTo>
                  <a:pt x="53112" y="282028"/>
                </a:lnTo>
                <a:lnTo>
                  <a:pt x="37416" y="234078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1"/>
                </a:lnTo>
                <a:lnTo>
                  <a:pt x="97221" y="23190"/>
                </a:lnTo>
                <a:lnTo>
                  <a:pt x="117574" y="14324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84110" y="4605900"/>
            <a:ext cx="528955" cy="2077085"/>
          </a:xfrm>
          <a:custGeom>
            <a:avLst/>
            <a:gdLst/>
            <a:ahLst/>
            <a:cxnLst/>
            <a:rect l="l" t="t" r="r" b="b"/>
            <a:pathLst>
              <a:path w="528954" h="2077084">
                <a:moveTo>
                  <a:pt x="20040" y="0"/>
                </a:moveTo>
                <a:lnTo>
                  <a:pt x="4705" y="3726"/>
                </a:lnTo>
                <a:lnTo>
                  <a:pt x="0" y="11452"/>
                </a:lnTo>
                <a:lnTo>
                  <a:pt x="17221" y="82321"/>
                </a:lnTo>
                <a:lnTo>
                  <a:pt x="24946" y="87026"/>
                </a:lnTo>
                <a:lnTo>
                  <a:pt x="40281" y="83300"/>
                </a:lnTo>
                <a:lnTo>
                  <a:pt x="44987" y="75575"/>
                </a:lnTo>
                <a:lnTo>
                  <a:pt x="27767" y="4705"/>
                </a:lnTo>
                <a:lnTo>
                  <a:pt x="20040" y="0"/>
                </a:lnTo>
                <a:close/>
              </a:path>
              <a:path w="528954" h="2077084">
                <a:moveTo>
                  <a:pt x="47029" y="111067"/>
                </a:moveTo>
                <a:lnTo>
                  <a:pt x="31694" y="114794"/>
                </a:lnTo>
                <a:lnTo>
                  <a:pt x="26988" y="122520"/>
                </a:lnTo>
                <a:lnTo>
                  <a:pt x="44209" y="193389"/>
                </a:lnTo>
                <a:lnTo>
                  <a:pt x="51935" y="198095"/>
                </a:lnTo>
                <a:lnTo>
                  <a:pt x="67270" y="194368"/>
                </a:lnTo>
                <a:lnTo>
                  <a:pt x="71975" y="186643"/>
                </a:lnTo>
                <a:lnTo>
                  <a:pt x="54756" y="115773"/>
                </a:lnTo>
                <a:lnTo>
                  <a:pt x="47029" y="111067"/>
                </a:lnTo>
                <a:close/>
              </a:path>
              <a:path w="528954" h="2077084">
                <a:moveTo>
                  <a:pt x="74018" y="222135"/>
                </a:moveTo>
                <a:lnTo>
                  <a:pt x="58682" y="225861"/>
                </a:lnTo>
                <a:lnTo>
                  <a:pt x="53977" y="233588"/>
                </a:lnTo>
                <a:lnTo>
                  <a:pt x="71198" y="304458"/>
                </a:lnTo>
                <a:lnTo>
                  <a:pt x="78924" y="309163"/>
                </a:lnTo>
                <a:lnTo>
                  <a:pt x="94259" y="305436"/>
                </a:lnTo>
                <a:lnTo>
                  <a:pt x="98964" y="297710"/>
                </a:lnTo>
                <a:lnTo>
                  <a:pt x="81744" y="226841"/>
                </a:lnTo>
                <a:lnTo>
                  <a:pt x="74018" y="222135"/>
                </a:lnTo>
                <a:close/>
              </a:path>
              <a:path w="528954" h="2077084">
                <a:moveTo>
                  <a:pt x="101006" y="333203"/>
                </a:moveTo>
                <a:lnTo>
                  <a:pt x="85671" y="336929"/>
                </a:lnTo>
                <a:lnTo>
                  <a:pt x="80966" y="344656"/>
                </a:lnTo>
                <a:lnTo>
                  <a:pt x="98187" y="415526"/>
                </a:lnTo>
                <a:lnTo>
                  <a:pt x="105912" y="420231"/>
                </a:lnTo>
                <a:lnTo>
                  <a:pt x="121248" y="416505"/>
                </a:lnTo>
                <a:lnTo>
                  <a:pt x="125953" y="408778"/>
                </a:lnTo>
                <a:lnTo>
                  <a:pt x="108733" y="337908"/>
                </a:lnTo>
                <a:lnTo>
                  <a:pt x="101006" y="333203"/>
                </a:lnTo>
                <a:close/>
              </a:path>
              <a:path w="528954" h="2077084">
                <a:moveTo>
                  <a:pt x="127995" y="444271"/>
                </a:moveTo>
                <a:lnTo>
                  <a:pt x="112660" y="447997"/>
                </a:lnTo>
                <a:lnTo>
                  <a:pt x="107955" y="455724"/>
                </a:lnTo>
                <a:lnTo>
                  <a:pt x="125176" y="526594"/>
                </a:lnTo>
                <a:lnTo>
                  <a:pt x="132901" y="531299"/>
                </a:lnTo>
                <a:lnTo>
                  <a:pt x="148236" y="527573"/>
                </a:lnTo>
                <a:lnTo>
                  <a:pt x="152942" y="519846"/>
                </a:lnTo>
                <a:lnTo>
                  <a:pt x="135722" y="448976"/>
                </a:lnTo>
                <a:lnTo>
                  <a:pt x="127995" y="444271"/>
                </a:lnTo>
                <a:close/>
              </a:path>
              <a:path w="528954" h="2077084">
                <a:moveTo>
                  <a:pt x="154984" y="555339"/>
                </a:moveTo>
                <a:lnTo>
                  <a:pt x="139649" y="559066"/>
                </a:lnTo>
                <a:lnTo>
                  <a:pt x="134943" y="566792"/>
                </a:lnTo>
                <a:lnTo>
                  <a:pt x="152165" y="637661"/>
                </a:lnTo>
                <a:lnTo>
                  <a:pt x="159890" y="642367"/>
                </a:lnTo>
                <a:lnTo>
                  <a:pt x="175225" y="638641"/>
                </a:lnTo>
                <a:lnTo>
                  <a:pt x="179931" y="630914"/>
                </a:lnTo>
                <a:lnTo>
                  <a:pt x="162711" y="560044"/>
                </a:lnTo>
                <a:lnTo>
                  <a:pt x="154984" y="555339"/>
                </a:lnTo>
                <a:close/>
              </a:path>
              <a:path w="528954" h="2077084">
                <a:moveTo>
                  <a:pt x="181973" y="666408"/>
                </a:moveTo>
                <a:lnTo>
                  <a:pt x="166637" y="670134"/>
                </a:lnTo>
                <a:lnTo>
                  <a:pt x="161932" y="677859"/>
                </a:lnTo>
                <a:lnTo>
                  <a:pt x="179153" y="748729"/>
                </a:lnTo>
                <a:lnTo>
                  <a:pt x="186879" y="753435"/>
                </a:lnTo>
                <a:lnTo>
                  <a:pt x="202214" y="749708"/>
                </a:lnTo>
                <a:lnTo>
                  <a:pt x="206921" y="741982"/>
                </a:lnTo>
                <a:lnTo>
                  <a:pt x="189699" y="671113"/>
                </a:lnTo>
                <a:lnTo>
                  <a:pt x="181973" y="666408"/>
                </a:lnTo>
                <a:close/>
              </a:path>
              <a:path w="528954" h="2077084">
                <a:moveTo>
                  <a:pt x="208961" y="777476"/>
                </a:moveTo>
                <a:lnTo>
                  <a:pt x="193626" y="781202"/>
                </a:lnTo>
                <a:lnTo>
                  <a:pt x="188921" y="788927"/>
                </a:lnTo>
                <a:lnTo>
                  <a:pt x="206142" y="859797"/>
                </a:lnTo>
                <a:lnTo>
                  <a:pt x="213868" y="864502"/>
                </a:lnTo>
                <a:lnTo>
                  <a:pt x="229203" y="860776"/>
                </a:lnTo>
                <a:lnTo>
                  <a:pt x="233909" y="853050"/>
                </a:lnTo>
                <a:lnTo>
                  <a:pt x="216688" y="782181"/>
                </a:lnTo>
                <a:lnTo>
                  <a:pt x="208961" y="777476"/>
                </a:lnTo>
                <a:close/>
              </a:path>
              <a:path w="528954" h="2077084">
                <a:moveTo>
                  <a:pt x="235950" y="888544"/>
                </a:moveTo>
                <a:lnTo>
                  <a:pt x="220615" y="892270"/>
                </a:lnTo>
                <a:lnTo>
                  <a:pt x="215910" y="899996"/>
                </a:lnTo>
                <a:lnTo>
                  <a:pt x="233131" y="970865"/>
                </a:lnTo>
                <a:lnTo>
                  <a:pt x="240856" y="975570"/>
                </a:lnTo>
                <a:lnTo>
                  <a:pt x="256193" y="971844"/>
                </a:lnTo>
                <a:lnTo>
                  <a:pt x="260898" y="964117"/>
                </a:lnTo>
                <a:lnTo>
                  <a:pt x="243677" y="893249"/>
                </a:lnTo>
                <a:lnTo>
                  <a:pt x="235950" y="888544"/>
                </a:lnTo>
                <a:close/>
              </a:path>
              <a:path w="528954" h="2077084">
                <a:moveTo>
                  <a:pt x="262939" y="999611"/>
                </a:moveTo>
                <a:lnTo>
                  <a:pt x="247604" y="1003338"/>
                </a:lnTo>
                <a:lnTo>
                  <a:pt x="242898" y="1011064"/>
                </a:lnTo>
                <a:lnTo>
                  <a:pt x="260120" y="1081933"/>
                </a:lnTo>
                <a:lnTo>
                  <a:pt x="267846" y="1086639"/>
                </a:lnTo>
                <a:lnTo>
                  <a:pt x="283182" y="1082912"/>
                </a:lnTo>
                <a:lnTo>
                  <a:pt x="287887" y="1075186"/>
                </a:lnTo>
                <a:lnTo>
                  <a:pt x="270666" y="1004317"/>
                </a:lnTo>
                <a:lnTo>
                  <a:pt x="262939" y="999611"/>
                </a:lnTo>
                <a:close/>
              </a:path>
              <a:path w="528954" h="2077084">
                <a:moveTo>
                  <a:pt x="289928" y="1110679"/>
                </a:moveTo>
                <a:lnTo>
                  <a:pt x="274593" y="1114406"/>
                </a:lnTo>
                <a:lnTo>
                  <a:pt x="269887" y="1122132"/>
                </a:lnTo>
                <a:lnTo>
                  <a:pt x="287108" y="1193001"/>
                </a:lnTo>
                <a:lnTo>
                  <a:pt x="294835" y="1197707"/>
                </a:lnTo>
                <a:lnTo>
                  <a:pt x="310170" y="1193980"/>
                </a:lnTo>
                <a:lnTo>
                  <a:pt x="314876" y="1186254"/>
                </a:lnTo>
                <a:lnTo>
                  <a:pt x="297654" y="1115385"/>
                </a:lnTo>
                <a:lnTo>
                  <a:pt x="289928" y="1110679"/>
                </a:lnTo>
                <a:close/>
              </a:path>
              <a:path w="528954" h="2077084">
                <a:moveTo>
                  <a:pt x="316917" y="1221747"/>
                </a:moveTo>
                <a:lnTo>
                  <a:pt x="301581" y="1225474"/>
                </a:lnTo>
                <a:lnTo>
                  <a:pt x="296876" y="1233200"/>
                </a:lnTo>
                <a:lnTo>
                  <a:pt x="314097" y="1304069"/>
                </a:lnTo>
                <a:lnTo>
                  <a:pt x="321824" y="1308775"/>
                </a:lnTo>
                <a:lnTo>
                  <a:pt x="337159" y="1305048"/>
                </a:lnTo>
                <a:lnTo>
                  <a:pt x="341864" y="1297322"/>
                </a:lnTo>
                <a:lnTo>
                  <a:pt x="324643" y="1226453"/>
                </a:lnTo>
                <a:lnTo>
                  <a:pt x="316917" y="1221747"/>
                </a:lnTo>
                <a:close/>
              </a:path>
              <a:path w="528954" h="2077084">
                <a:moveTo>
                  <a:pt x="343905" y="1332815"/>
                </a:moveTo>
                <a:lnTo>
                  <a:pt x="328570" y="1336542"/>
                </a:lnTo>
                <a:lnTo>
                  <a:pt x="323865" y="1344268"/>
                </a:lnTo>
                <a:lnTo>
                  <a:pt x="341086" y="1415137"/>
                </a:lnTo>
                <a:lnTo>
                  <a:pt x="348813" y="1419843"/>
                </a:lnTo>
                <a:lnTo>
                  <a:pt x="364148" y="1416116"/>
                </a:lnTo>
                <a:lnTo>
                  <a:pt x="368853" y="1408390"/>
                </a:lnTo>
                <a:lnTo>
                  <a:pt x="351632" y="1337521"/>
                </a:lnTo>
                <a:lnTo>
                  <a:pt x="343905" y="1332815"/>
                </a:lnTo>
                <a:close/>
              </a:path>
              <a:path w="528954" h="2077084">
                <a:moveTo>
                  <a:pt x="370894" y="1443883"/>
                </a:moveTo>
                <a:lnTo>
                  <a:pt x="355559" y="1447610"/>
                </a:lnTo>
                <a:lnTo>
                  <a:pt x="350854" y="1455336"/>
                </a:lnTo>
                <a:lnTo>
                  <a:pt x="368075" y="1526205"/>
                </a:lnTo>
                <a:lnTo>
                  <a:pt x="375801" y="1530911"/>
                </a:lnTo>
                <a:lnTo>
                  <a:pt x="391137" y="1527184"/>
                </a:lnTo>
                <a:lnTo>
                  <a:pt x="395842" y="1519458"/>
                </a:lnTo>
                <a:lnTo>
                  <a:pt x="378621" y="1448589"/>
                </a:lnTo>
                <a:lnTo>
                  <a:pt x="370894" y="1443883"/>
                </a:lnTo>
                <a:close/>
              </a:path>
              <a:path w="528954" h="2077084">
                <a:moveTo>
                  <a:pt x="397883" y="1554951"/>
                </a:moveTo>
                <a:lnTo>
                  <a:pt x="382548" y="1558678"/>
                </a:lnTo>
                <a:lnTo>
                  <a:pt x="377842" y="1566404"/>
                </a:lnTo>
                <a:lnTo>
                  <a:pt x="395063" y="1637273"/>
                </a:lnTo>
                <a:lnTo>
                  <a:pt x="402790" y="1641979"/>
                </a:lnTo>
                <a:lnTo>
                  <a:pt x="418125" y="1638252"/>
                </a:lnTo>
                <a:lnTo>
                  <a:pt x="422831" y="1630526"/>
                </a:lnTo>
                <a:lnTo>
                  <a:pt x="405610" y="1559657"/>
                </a:lnTo>
                <a:lnTo>
                  <a:pt x="397883" y="1554951"/>
                </a:lnTo>
                <a:close/>
              </a:path>
              <a:path w="528954" h="2077084">
                <a:moveTo>
                  <a:pt x="424872" y="1666019"/>
                </a:moveTo>
                <a:lnTo>
                  <a:pt x="409536" y="1669746"/>
                </a:lnTo>
                <a:lnTo>
                  <a:pt x="404831" y="1677472"/>
                </a:lnTo>
                <a:lnTo>
                  <a:pt x="422052" y="1748341"/>
                </a:lnTo>
                <a:lnTo>
                  <a:pt x="429779" y="1753047"/>
                </a:lnTo>
                <a:lnTo>
                  <a:pt x="445114" y="1749320"/>
                </a:lnTo>
                <a:lnTo>
                  <a:pt x="449820" y="1741594"/>
                </a:lnTo>
                <a:lnTo>
                  <a:pt x="432598" y="1670725"/>
                </a:lnTo>
                <a:lnTo>
                  <a:pt x="424872" y="1666019"/>
                </a:lnTo>
                <a:close/>
              </a:path>
              <a:path w="528954" h="2077084">
                <a:moveTo>
                  <a:pt x="451860" y="1777087"/>
                </a:moveTo>
                <a:lnTo>
                  <a:pt x="436525" y="1780813"/>
                </a:lnTo>
                <a:lnTo>
                  <a:pt x="431820" y="1788540"/>
                </a:lnTo>
                <a:lnTo>
                  <a:pt x="449041" y="1859409"/>
                </a:lnTo>
                <a:lnTo>
                  <a:pt x="456768" y="1864114"/>
                </a:lnTo>
                <a:lnTo>
                  <a:pt x="472103" y="1860388"/>
                </a:lnTo>
                <a:lnTo>
                  <a:pt x="476808" y="1852662"/>
                </a:lnTo>
                <a:lnTo>
                  <a:pt x="459587" y="1781793"/>
                </a:lnTo>
                <a:lnTo>
                  <a:pt x="451860" y="1777087"/>
                </a:lnTo>
                <a:close/>
              </a:path>
              <a:path w="528954" h="2077084">
                <a:moveTo>
                  <a:pt x="478849" y="1888155"/>
                </a:moveTo>
                <a:lnTo>
                  <a:pt x="463514" y="1891881"/>
                </a:lnTo>
                <a:lnTo>
                  <a:pt x="458809" y="1899608"/>
                </a:lnTo>
                <a:lnTo>
                  <a:pt x="476030" y="1970477"/>
                </a:lnTo>
                <a:lnTo>
                  <a:pt x="483756" y="1975182"/>
                </a:lnTo>
                <a:lnTo>
                  <a:pt x="499092" y="1971456"/>
                </a:lnTo>
                <a:lnTo>
                  <a:pt x="503797" y="1963730"/>
                </a:lnTo>
                <a:lnTo>
                  <a:pt x="486576" y="1892860"/>
                </a:lnTo>
                <a:lnTo>
                  <a:pt x="478849" y="1888155"/>
                </a:lnTo>
                <a:close/>
              </a:path>
              <a:path w="528954" h="2077084">
                <a:moveTo>
                  <a:pt x="505839" y="1999223"/>
                </a:moveTo>
                <a:lnTo>
                  <a:pt x="490503" y="2002949"/>
                </a:lnTo>
                <a:lnTo>
                  <a:pt x="485797" y="2010676"/>
                </a:lnTo>
                <a:lnTo>
                  <a:pt x="500687" y="2071948"/>
                </a:lnTo>
                <a:lnTo>
                  <a:pt x="508414" y="2076654"/>
                </a:lnTo>
                <a:lnTo>
                  <a:pt x="523749" y="2072927"/>
                </a:lnTo>
                <a:lnTo>
                  <a:pt x="528454" y="2065201"/>
                </a:lnTo>
                <a:lnTo>
                  <a:pt x="513565" y="2003928"/>
                </a:lnTo>
                <a:lnTo>
                  <a:pt x="505839" y="1999223"/>
                </a:lnTo>
                <a:close/>
              </a:path>
            </a:pathLst>
          </a:custGeom>
          <a:solidFill>
            <a:srgbClr val="15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46181" y="5299455"/>
            <a:ext cx="6261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𝒉 ⋅</a:t>
            </a:r>
            <a:r>
              <a:rPr dirty="0" sz="2500" spc="-105">
                <a:latin typeface="Cambria Math"/>
                <a:cs typeface="Cambria Math"/>
              </a:rPr>
              <a:t> </a:t>
            </a:r>
            <a:r>
              <a:rPr dirty="0" sz="2500">
                <a:latin typeface="Cambria Math"/>
                <a:cs typeface="Cambria Math"/>
              </a:rPr>
              <a:t>𝒓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40242" y="5275502"/>
            <a:ext cx="1915795" cy="502920"/>
          </a:xfrm>
          <a:custGeom>
            <a:avLst/>
            <a:gdLst/>
            <a:ahLst/>
            <a:cxnLst/>
            <a:rect l="l" t="t" r="r" b="b"/>
            <a:pathLst>
              <a:path w="1915795" h="502920">
                <a:moveTo>
                  <a:pt x="1828710" y="27754"/>
                </a:moveTo>
                <a:lnTo>
                  <a:pt x="4691" y="474680"/>
                </a:lnTo>
                <a:lnTo>
                  <a:pt x="0" y="482415"/>
                </a:lnTo>
                <a:lnTo>
                  <a:pt x="3756" y="497743"/>
                </a:lnTo>
                <a:lnTo>
                  <a:pt x="11490" y="502434"/>
                </a:lnTo>
                <a:lnTo>
                  <a:pt x="1835511" y="55508"/>
                </a:lnTo>
                <a:lnTo>
                  <a:pt x="1828710" y="27754"/>
                </a:lnTo>
                <a:close/>
              </a:path>
              <a:path w="1915795" h="502920">
                <a:moveTo>
                  <a:pt x="1913905" y="22476"/>
                </a:moveTo>
                <a:lnTo>
                  <a:pt x="1850250" y="22476"/>
                </a:lnTo>
                <a:lnTo>
                  <a:pt x="1857985" y="27167"/>
                </a:lnTo>
                <a:lnTo>
                  <a:pt x="1861741" y="42495"/>
                </a:lnTo>
                <a:lnTo>
                  <a:pt x="1857051" y="50231"/>
                </a:lnTo>
                <a:lnTo>
                  <a:pt x="1835511" y="55508"/>
                </a:lnTo>
                <a:lnTo>
                  <a:pt x="1842311" y="83262"/>
                </a:lnTo>
                <a:lnTo>
                  <a:pt x="1913905" y="22476"/>
                </a:lnTo>
                <a:close/>
              </a:path>
              <a:path w="1915795" h="502920">
                <a:moveTo>
                  <a:pt x="1850250" y="22476"/>
                </a:moveTo>
                <a:lnTo>
                  <a:pt x="1828710" y="27754"/>
                </a:lnTo>
                <a:lnTo>
                  <a:pt x="1835511" y="55508"/>
                </a:lnTo>
                <a:lnTo>
                  <a:pt x="1857051" y="50231"/>
                </a:lnTo>
                <a:lnTo>
                  <a:pt x="1861741" y="42495"/>
                </a:lnTo>
                <a:lnTo>
                  <a:pt x="1857985" y="27167"/>
                </a:lnTo>
                <a:lnTo>
                  <a:pt x="1850250" y="22476"/>
                </a:lnTo>
                <a:close/>
              </a:path>
              <a:path w="1915795" h="502920">
                <a:moveTo>
                  <a:pt x="1821910" y="0"/>
                </a:moveTo>
                <a:lnTo>
                  <a:pt x="1828710" y="27754"/>
                </a:lnTo>
                <a:lnTo>
                  <a:pt x="1850250" y="22476"/>
                </a:lnTo>
                <a:lnTo>
                  <a:pt x="1913905" y="22476"/>
                </a:lnTo>
                <a:lnTo>
                  <a:pt x="1915373" y="21230"/>
                </a:lnTo>
                <a:lnTo>
                  <a:pt x="182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39710" y="4766292"/>
            <a:ext cx="1511935" cy="974090"/>
          </a:xfrm>
          <a:custGeom>
            <a:avLst/>
            <a:gdLst/>
            <a:ahLst/>
            <a:cxnLst/>
            <a:rect l="l" t="t" r="r" b="b"/>
            <a:pathLst>
              <a:path w="1511934" h="974089">
                <a:moveTo>
                  <a:pt x="1431560" y="34206"/>
                </a:moveTo>
                <a:lnTo>
                  <a:pt x="1936" y="949943"/>
                </a:lnTo>
                <a:lnTo>
                  <a:pt x="0" y="958780"/>
                </a:lnTo>
                <a:lnTo>
                  <a:pt x="8512" y="972069"/>
                </a:lnTo>
                <a:lnTo>
                  <a:pt x="17349" y="974005"/>
                </a:lnTo>
                <a:lnTo>
                  <a:pt x="1446973" y="58269"/>
                </a:lnTo>
                <a:lnTo>
                  <a:pt x="1431560" y="34206"/>
                </a:lnTo>
                <a:close/>
              </a:path>
              <a:path w="1511934" h="974089">
                <a:moveTo>
                  <a:pt x="1498195" y="22245"/>
                </a:moveTo>
                <a:lnTo>
                  <a:pt x="1450234" y="22245"/>
                </a:lnTo>
                <a:lnTo>
                  <a:pt x="1459071" y="24182"/>
                </a:lnTo>
                <a:lnTo>
                  <a:pt x="1467584" y="37471"/>
                </a:lnTo>
                <a:lnTo>
                  <a:pt x="1465647" y="46308"/>
                </a:lnTo>
                <a:lnTo>
                  <a:pt x="1446973" y="58269"/>
                </a:lnTo>
                <a:lnTo>
                  <a:pt x="1462385" y="82331"/>
                </a:lnTo>
                <a:lnTo>
                  <a:pt x="1498195" y="22245"/>
                </a:lnTo>
                <a:close/>
              </a:path>
              <a:path w="1511934" h="974089">
                <a:moveTo>
                  <a:pt x="1450234" y="22245"/>
                </a:moveTo>
                <a:lnTo>
                  <a:pt x="1431560" y="34206"/>
                </a:lnTo>
                <a:lnTo>
                  <a:pt x="1446973" y="58269"/>
                </a:lnTo>
                <a:lnTo>
                  <a:pt x="1465647" y="46308"/>
                </a:lnTo>
                <a:lnTo>
                  <a:pt x="1467584" y="37471"/>
                </a:lnTo>
                <a:lnTo>
                  <a:pt x="1459071" y="24182"/>
                </a:lnTo>
                <a:lnTo>
                  <a:pt x="1450234" y="22245"/>
                </a:lnTo>
                <a:close/>
              </a:path>
              <a:path w="1511934" h="974089">
                <a:moveTo>
                  <a:pt x="1511453" y="0"/>
                </a:moveTo>
                <a:lnTo>
                  <a:pt x="1416147" y="10144"/>
                </a:lnTo>
                <a:lnTo>
                  <a:pt x="1431560" y="34206"/>
                </a:lnTo>
                <a:lnTo>
                  <a:pt x="1450234" y="22245"/>
                </a:lnTo>
                <a:lnTo>
                  <a:pt x="1498195" y="22245"/>
                </a:lnTo>
                <a:lnTo>
                  <a:pt x="1511453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52504" y="5746182"/>
            <a:ext cx="419734" cy="492125"/>
          </a:xfrm>
          <a:custGeom>
            <a:avLst/>
            <a:gdLst/>
            <a:ahLst/>
            <a:cxnLst/>
            <a:rect l="l" t="t" r="r" b="b"/>
            <a:pathLst>
              <a:path w="419735" h="492125">
                <a:moveTo>
                  <a:pt x="22759" y="398640"/>
                </a:moveTo>
                <a:lnTo>
                  <a:pt x="0" y="491742"/>
                </a:lnTo>
                <a:lnTo>
                  <a:pt x="88137" y="454089"/>
                </a:lnTo>
                <a:lnTo>
                  <a:pt x="87161" y="453261"/>
                </a:lnTo>
                <a:lnTo>
                  <a:pt x="42983" y="453261"/>
                </a:lnTo>
                <a:lnTo>
                  <a:pt x="30948" y="443053"/>
                </a:lnTo>
                <a:lnTo>
                  <a:pt x="30206" y="434037"/>
                </a:lnTo>
                <a:lnTo>
                  <a:pt x="44552" y="417123"/>
                </a:lnTo>
                <a:lnTo>
                  <a:pt x="22759" y="398640"/>
                </a:lnTo>
                <a:close/>
              </a:path>
              <a:path w="419735" h="492125">
                <a:moveTo>
                  <a:pt x="44552" y="417123"/>
                </a:moveTo>
                <a:lnTo>
                  <a:pt x="30206" y="434037"/>
                </a:lnTo>
                <a:lnTo>
                  <a:pt x="30948" y="443053"/>
                </a:lnTo>
                <a:lnTo>
                  <a:pt x="42983" y="453261"/>
                </a:lnTo>
                <a:lnTo>
                  <a:pt x="52000" y="452520"/>
                </a:lnTo>
                <a:lnTo>
                  <a:pt x="66345" y="435606"/>
                </a:lnTo>
                <a:lnTo>
                  <a:pt x="44552" y="417123"/>
                </a:lnTo>
                <a:close/>
              </a:path>
              <a:path w="419735" h="492125">
                <a:moveTo>
                  <a:pt x="66345" y="435606"/>
                </a:moveTo>
                <a:lnTo>
                  <a:pt x="52000" y="452520"/>
                </a:lnTo>
                <a:lnTo>
                  <a:pt x="42983" y="453261"/>
                </a:lnTo>
                <a:lnTo>
                  <a:pt x="87161" y="453261"/>
                </a:lnTo>
                <a:lnTo>
                  <a:pt x="66345" y="435606"/>
                </a:lnTo>
                <a:close/>
              </a:path>
              <a:path w="419735" h="492125">
                <a:moveTo>
                  <a:pt x="406717" y="0"/>
                </a:moveTo>
                <a:lnTo>
                  <a:pt x="397701" y="740"/>
                </a:lnTo>
                <a:lnTo>
                  <a:pt x="44552" y="417123"/>
                </a:lnTo>
                <a:lnTo>
                  <a:pt x="66345" y="435606"/>
                </a:lnTo>
                <a:lnTo>
                  <a:pt x="419493" y="19223"/>
                </a:lnTo>
                <a:lnTo>
                  <a:pt x="418753" y="10207"/>
                </a:lnTo>
                <a:lnTo>
                  <a:pt x="406717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789750" y="6046215"/>
            <a:ext cx="2838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30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6975" sz="2700" spc="427">
                <a:solidFill>
                  <a:srgbClr val="D9253E"/>
                </a:solidFill>
                <a:latin typeface="Cambria Math"/>
                <a:cs typeface="Cambria Math"/>
              </a:rPr>
              <a:t>)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3737100" y="4022852"/>
            <a:ext cx="3480435" cy="793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320"/>
              </a:lnSpc>
              <a:spcBef>
                <a:spcPts val="100"/>
              </a:spcBef>
              <a:tabLst>
                <a:tab pos="1454785" algn="l"/>
                <a:tab pos="1920239" algn="l"/>
                <a:tab pos="2864485" algn="l"/>
              </a:tabLst>
            </a:pPr>
            <a:r>
              <a:rPr dirty="0" sz="3000">
                <a:latin typeface="Cambria Math"/>
                <a:cs typeface="Cambria Math"/>
              </a:rPr>
              <a:t>&lt;</a:t>
            </a:r>
            <a:r>
              <a:rPr dirty="0" sz="3000" spc="1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0,	</a:t>
            </a:r>
            <a:r>
              <a:rPr dirty="0" sz="3000" spc="-325">
                <a:latin typeface="Cambria Math"/>
                <a:cs typeface="Cambria Math"/>
              </a:rPr>
              <a:t>𝑓</a:t>
            </a:r>
            <a:r>
              <a:rPr dirty="0" baseline="-15151" sz="3300" spc="-487">
                <a:latin typeface="Cambria Math"/>
                <a:cs typeface="Cambria Math"/>
              </a:rPr>
              <a:t>8	</a:t>
            </a:r>
            <a:r>
              <a:rPr dirty="0" sz="3000" spc="15">
                <a:latin typeface="Cambria Math"/>
                <a:cs typeface="Cambria Math"/>
              </a:rPr>
              <a:t>ℎ,</a:t>
            </a:r>
            <a:r>
              <a:rPr dirty="0" sz="3000" spc="-165">
                <a:latin typeface="Cambria Math"/>
                <a:cs typeface="Cambria Math"/>
              </a:rPr>
              <a:t> </a:t>
            </a:r>
            <a:r>
              <a:rPr dirty="0" sz="3000" spc="315">
                <a:solidFill>
                  <a:srgbClr val="2F6231"/>
                </a:solidFill>
                <a:latin typeface="Cambria Math"/>
                <a:cs typeface="Cambria Math"/>
              </a:rPr>
              <a:t>𝑡</a:t>
            </a:r>
            <a:r>
              <a:rPr dirty="0" baseline="-15151" sz="3300" spc="472">
                <a:solidFill>
                  <a:srgbClr val="2F6231"/>
                </a:solidFill>
                <a:latin typeface="Cambria Math"/>
                <a:cs typeface="Cambria Math"/>
              </a:rPr>
              <a:t>:	</a:t>
            </a:r>
            <a:r>
              <a:rPr dirty="0" sz="3000">
                <a:latin typeface="Cambria Math"/>
                <a:cs typeface="Cambria Math"/>
              </a:rPr>
              <a:t>&gt;</a:t>
            </a:r>
            <a:r>
              <a:rPr dirty="0" sz="3000" spc="75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0</a:t>
            </a:r>
            <a:endParaRPr sz="3000">
              <a:latin typeface="Cambria Math"/>
              <a:cs typeface="Cambria Math"/>
            </a:endParaRPr>
          </a:p>
          <a:p>
            <a:pPr algn="r" marR="327025">
              <a:lnSpc>
                <a:spcPts val="2720"/>
              </a:lnSpc>
            </a:pPr>
            <a:r>
              <a:rPr dirty="0" sz="2500" spc="90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432" sz="2700" spc="397">
                <a:solidFill>
                  <a:srgbClr val="479249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6927" y="347472"/>
            <a:ext cx="685190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1921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1-to-N</a:t>
            </a:r>
            <a:r>
              <a:rPr dirty="0" spc="-7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</p:txBody>
      </p:sp>
      <p:sp>
        <p:nvSpPr>
          <p:cNvPr id="4" name="object 4"/>
          <p:cNvSpPr/>
          <p:nvPr/>
        </p:nvSpPr>
        <p:spPr>
          <a:xfrm>
            <a:off x="3143250" y="3924300"/>
            <a:ext cx="0" cy="2235200"/>
          </a:xfrm>
          <a:custGeom>
            <a:avLst/>
            <a:gdLst/>
            <a:ahLst/>
            <a:cxnLst/>
            <a:rect l="l" t="t" r="r" b="b"/>
            <a:pathLst>
              <a:path w="0" h="2235200">
                <a:moveTo>
                  <a:pt x="0" y="0"/>
                </a:moveTo>
                <a:lnTo>
                  <a:pt x="1" y="223520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24200" y="6142921"/>
            <a:ext cx="2895600" cy="15240"/>
          </a:xfrm>
          <a:custGeom>
            <a:avLst/>
            <a:gdLst/>
            <a:ahLst/>
            <a:cxnLst/>
            <a:rect l="l" t="t" r="r" b="b"/>
            <a:pathLst>
              <a:path w="2895600" h="15239">
                <a:moveTo>
                  <a:pt x="2895600" y="0"/>
                </a:moveTo>
                <a:lnTo>
                  <a:pt x="0" y="15240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39977" y="5638250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7" y="37509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25595" y="562386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1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4" y="79158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7" y="65466"/>
                </a:lnTo>
                <a:lnTo>
                  <a:pt x="41381" y="65466"/>
                </a:lnTo>
                <a:lnTo>
                  <a:pt x="31996" y="63571"/>
                </a:lnTo>
                <a:lnTo>
                  <a:pt x="24347" y="58415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7" y="24348"/>
                </a:lnTo>
                <a:lnTo>
                  <a:pt x="31996" y="19191"/>
                </a:lnTo>
                <a:lnTo>
                  <a:pt x="41381" y="17296"/>
                </a:lnTo>
                <a:lnTo>
                  <a:pt x="74337" y="17296"/>
                </a:lnTo>
                <a:lnTo>
                  <a:pt x="71292" y="12780"/>
                </a:lnTo>
                <a:lnTo>
                  <a:pt x="69982" y="11469"/>
                </a:lnTo>
                <a:lnTo>
                  <a:pt x="58317" y="3604"/>
                </a:lnTo>
                <a:lnTo>
                  <a:pt x="56563" y="2871"/>
                </a:lnTo>
                <a:lnTo>
                  <a:pt x="42341" y="0"/>
                </a:lnTo>
                <a:close/>
              </a:path>
              <a:path w="83185" h="83185">
                <a:moveTo>
                  <a:pt x="74337" y="17296"/>
                </a:moveTo>
                <a:lnTo>
                  <a:pt x="41381" y="17296"/>
                </a:lnTo>
                <a:lnTo>
                  <a:pt x="50765" y="19191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5"/>
                </a:lnTo>
                <a:lnTo>
                  <a:pt x="50765" y="63571"/>
                </a:lnTo>
                <a:lnTo>
                  <a:pt x="41381" y="65466"/>
                </a:lnTo>
                <a:lnTo>
                  <a:pt x="74337" y="65466"/>
                </a:lnTo>
                <a:lnTo>
                  <a:pt x="79092" y="58415"/>
                </a:lnTo>
                <a:lnTo>
                  <a:pt x="79208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9"/>
                </a:lnTo>
                <a:lnTo>
                  <a:pt x="79208" y="24567"/>
                </a:lnTo>
                <a:lnTo>
                  <a:pt x="79091" y="24348"/>
                </a:lnTo>
                <a:lnTo>
                  <a:pt x="74337" y="17296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7"/>
                </a:lnTo>
                <a:lnTo>
                  <a:pt x="28464" y="28465"/>
                </a:lnTo>
                <a:lnTo>
                  <a:pt x="24566" y="34245"/>
                </a:lnTo>
                <a:lnTo>
                  <a:pt x="23126" y="41381"/>
                </a:lnTo>
                <a:lnTo>
                  <a:pt x="24566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6" y="58195"/>
                </a:lnTo>
                <a:lnTo>
                  <a:pt x="54297" y="54298"/>
                </a:lnTo>
                <a:lnTo>
                  <a:pt x="54629" y="53805"/>
                </a:lnTo>
                <a:lnTo>
                  <a:pt x="41381" y="53805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2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6" y="24567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0" y="32582"/>
                </a:lnTo>
                <a:lnTo>
                  <a:pt x="52819" y="36494"/>
                </a:lnTo>
                <a:lnTo>
                  <a:pt x="53804" y="41381"/>
                </a:lnTo>
                <a:lnTo>
                  <a:pt x="52819" y="46268"/>
                </a:lnTo>
                <a:lnTo>
                  <a:pt x="50180" y="50181"/>
                </a:lnTo>
                <a:lnTo>
                  <a:pt x="46268" y="52819"/>
                </a:lnTo>
                <a:lnTo>
                  <a:pt x="41381" y="53805"/>
                </a:lnTo>
                <a:lnTo>
                  <a:pt x="54629" y="53805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71331" y="5250181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56949" y="5235799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7" y="3605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4" y="58414"/>
                </a:lnTo>
                <a:lnTo>
                  <a:pt x="79210" y="58196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32512" y="5663112"/>
            <a:ext cx="1915795" cy="502920"/>
          </a:xfrm>
          <a:custGeom>
            <a:avLst/>
            <a:gdLst/>
            <a:ahLst/>
            <a:cxnLst/>
            <a:rect l="l" t="t" r="r" b="b"/>
            <a:pathLst>
              <a:path w="1915795" h="502920">
                <a:moveTo>
                  <a:pt x="1828710" y="27754"/>
                </a:moveTo>
                <a:lnTo>
                  <a:pt x="4690" y="474679"/>
                </a:lnTo>
                <a:lnTo>
                  <a:pt x="0" y="482415"/>
                </a:lnTo>
                <a:lnTo>
                  <a:pt x="3755" y="497743"/>
                </a:lnTo>
                <a:lnTo>
                  <a:pt x="11490" y="502433"/>
                </a:lnTo>
                <a:lnTo>
                  <a:pt x="1835511" y="55507"/>
                </a:lnTo>
                <a:lnTo>
                  <a:pt x="1828710" y="27754"/>
                </a:lnTo>
                <a:close/>
              </a:path>
              <a:path w="1915795" h="502920">
                <a:moveTo>
                  <a:pt x="1913905" y="22476"/>
                </a:moveTo>
                <a:lnTo>
                  <a:pt x="1850250" y="22476"/>
                </a:lnTo>
                <a:lnTo>
                  <a:pt x="1857984" y="27167"/>
                </a:lnTo>
                <a:lnTo>
                  <a:pt x="1861741" y="42495"/>
                </a:lnTo>
                <a:lnTo>
                  <a:pt x="1857049" y="50230"/>
                </a:lnTo>
                <a:lnTo>
                  <a:pt x="1835511" y="55507"/>
                </a:lnTo>
                <a:lnTo>
                  <a:pt x="1842311" y="83262"/>
                </a:lnTo>
                <a:lnTo>
                  <a:pt x="1913905" y="22476"/>
                </a:lnTo>
                <a:close/>
              </a:path>
              <a:path w="1915795" h="502920">
                <a:moveTo>
                  <a:pt x="1850250" y="22476"/>
                </a:moveTo>
                <a:lnTo>
                  <a:pt x="1828710" y="27754"/>
                </a:lnTo>
                <a:lnTo>
                  <a:pt x="1835511" y="55507"/>
                </a:lnTo>
                <a:lnTo>
                  <a:pt x="1857049" y="50230"/>
                </a:lnTo>
                <a:lnTo>
                  <a:pt x="1861741" y="42495"/>
                </a:lnTo>
                <a:lnTo>
                  <a:pt x="1857984" y="27167"/>
                </a:lnTo>
                <a:lnTo>
                  <a:pt x="1850250" y="22476"/>
                </a:lnTo>
                <a:close/>
              </a:path>
              <a:path w="1915795" h="502920">
                <a:moveTo>
                  <a:pt x="1821910" y="0"/>
                </a:moveTo>
                <a:lnTo>
                  <a:pt x="1828710" y="27754"/>
                </a:lnTo>
                <a:lnTo>
                  <a:pt x="1850250" y="22476"/>
                </a:lnTo>
                <a:lnTo>
                  <a:pt x="1913905" y="22476"/>
                </a:lnTo>
                <a:lnTo>
                  <a:pt x="1915373" y="21229"/>
                </a:lnTo>
                <a:lnTo>
                  <a:pt x="182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26938" y="5304181"/>
            <a:ext cx="1671955" cy="855344"/>
          </a:xfrm>
          <a:custGeom>
            <a:avLst/>
            <a:gdLst/>
            <a:ahLst/>
            <a:cxnLst/>
            <a:rect l="l" t="t" r="r" b="b"/>
            <a:pathLst>
              <a:path w="1671954" h="855345">
                <a:moveTo>
                  <a:pt x="1588468" y="26006"/>
                </a:moveTo>
                <a:lnTo>
                  <a:pt x="2814" y="829562"/>
                </a:lnTo>
                <a:lnTo>
                  <a:pt x="0" y="838160"/>
                </a:lnTo>
                <a:lnTo>
                  <a:pt x="7134" y="852237"/>
                </a:lnTo>
                <a:lnTo>
                  <a:pt x="15731" y="855051"/>
                </a:lnTo>
                <a:lnTo>
                  <a:pt x="1601385" y="51495"/>
                </a:lnTo>
                <a:lnTo>
                  <a:pt x="1588468" y="26006"/>
                </a:lnTo>
                <a:close/>
              </a:path>
              <a:path w="1671954" h="855345">
                <a:moveTo>
                  <a:pt x="1659541" y="15981"/>
                </a:moveTo>
                <a:lnTo>
                  <a:pt x="1608250" y="15981"/>
                </a:lnTo>
                <a:lnTo>
                  <a:pt x="1616848" y="18795"/>
                </a:lnTo>
                <a:lnTo>
                  <a:pt x="1623982" y="32872"/>
                </a:lnTo>
                <a:lnTo>
                  <a:pt x="1621167" y="41470"/>
                </a:lnTo>
                <a:lnTo>
                  <a:pt x="1601385" y="51495"/>
                </a:lnTo>
                <a:lnTo>
                  <a:pt x="1614302" y="76984"/>
                </a:lnTo>
                <a:lnTo>
                  <a:pt x="1659541" y="15981"/>
                </a:lnTo>
                <a:close/>
              </a:path>
              <a:path w="1671954" h="855345">
                <a:moveTo>
                  <a:pt x="1608250" y="15981"/>
                </a:moveTo>
                <a:lnTo>
                  <a:pt x="1588468" y="26006"/>
                </a:lnTo>
                <a:lnTo>
                  <a:pt x="1601385" y="51495"/>
                </a:lnTo>
                <a:lnTo>
                  <a:pt x="1621167" y="41470"/>
                </a:lnTo>
                <a:lnTo>
                  <a:pt x="1623982" y="32872"/>
                </a:lnTo>
                <a:lnTo>
                  <a:pt x="1616848" y="18795"/>
                </a:lnTo>
                <a:lnTo>
                  <a:pt x="1608250" y="15981"/>
                </a:lnTo>
                <a:close/>
              </a:path>
              <a:path w="1671954" h="855345">
                <a:moveTo>
                  <a:pt x="1671393" y="0"/>
                </a:moveTo>
                <a:lnTo>
                  <a:pt x="1575551" y="518"/>
                </a:lnTo>
                <a:lnTo>
                  <a:pt x="1588468" y="26006"/>
                </a:lnTo>
                <a:lnTo>
                  <a:pt x="1608250" y="15981"/>
                </a:lnTo>
                <a:lnTo>
                  <a:pt x="1659541" y="15981"/>
                </a:lnTo>
                <a:lnTo>
                  <a:pt x="1671393" y="0"/>
                </a:lnTo>
                <a:close/>
              </a:path>
            </a:pathLst>
          </a:custGeom>
          <a:solidFill>
            <a:srgbClr val="4792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07573" y="482266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7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09"/>
                </a:lnTo>
                <a:lnTo>
                  <a:pt x="7907" y="46091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1"/>
                </a:lnTo>
                <a:lnTo>
                  <a:pt x="51878" y="37509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7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93192" y="4808283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0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7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5"/>
                </a:lnTo>
                <a:lnTo>
                  <a:pt x="41381" y="65465"/>
                </a:lnTo>
                <a:lnTo>
                  <a:pt x="31996" y="63571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6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0"/>
                </a:lnTo>
                <a:lnTo>
                  <a:pt x="41381" y="17296"/>
                </a:lnTo>
                <a:lnTo>
                  <a:pt x="74338" y="17296"/>
                </a:lnTo>
                <a:lnTo>
                  <a:pt x="71292" y="12780"/>
                </a:lnTo>
                <a:lnTo>
                  <a:pt x="69983" y="11469"/>
                </a:lnTo>
                <a:lnTo>
                  <a:pt x="58317" y="3604"/>
                </a:lnTo>
                <a:lnTo>
                  <a:pt x="56563" y="2870"/>
                </a:lnTo>
                <a:lnTo>
                  <a:pt x="42343" y="0"/>
                </a:lnTo>
                <a:close/>
              </a:path>
              <a:path w="83185" h="83185">
                <a:moveTo>
                  <a:pt x="74338" y="17296"/>
                </a:moveTo>
                <a:lnTo>
                  <a:pt x="41381" y="17296"/>
                </a:lnTo>
                <a:lnTo>
                  <a:pt x="50766" y="19190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1"/>
                </a:lnTo>
                <a:lnTo>
                  <a:pt x="41381" y="65465"/>
                </a:lnTo>
                <a:lnTo>
                  <a:pt x="74338" y="65465"/>
                </a:lnTo>
                <a:lnTo>
                  <a:pt x="79093" y="58414"/>
                </a:lnTo>
                <a:lnTo>
                  <a:pt x="79210" y="58195"/>
                </a:lnTo>
                <a:lnTo>
                  <a:pt x="79891" y="56563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198"/>
                </a:lnTo>
                <a:lnTo>
                  <a:pt x="79210" y="24566"/>
                </a:lnTo>
                <a:lnTo>
                  <a:pt x="79094" y="24348"/>
                </a:lnTo>
                <a:lnTo>
                  <a:pt x="74338" y="17296"/>
                </a:lnTo>
                <a:close/>
              </a:path>
              <a:path w="83185" h="83185">
                <a:moveTo>
                  <a:pt x="41381" y="23126"/>
                </a:moveTo>
                <a:lnTo>
                  <a:pt x="34245" y="24566"/>
                </a:lnTo>
                <a:lnTo>
                  <a:pt x="28464" y="28464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7"/>
                </a:lnTo>
                <a:lnTo>
                  <a:pt x="34245" y="58195"/>
                </a:lnTo>
                <a:lnTo>
                  <a:pt x="41381" y="59635"/>
                </a:lnTo>
                <a:lnTo>
                  <a:pt x="48517" y="58195"/>
                </a:lnTo>
                <a:lnTo>
                  <a:pt x="54297" y="54297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4"/>
                </a:lnTo>
                <a:lnTo>
                  <a:pt x="48517" y="24566"/>
                </a:lnTo>
                <a:lnTo>
                  <a:pt x="41381" y="23126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5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46258" y="4868757"/>
            <a:ext cx="1569720" cy="1297305"/>
          </a:xfrm>
          <a:custGeom>
            <a:avLst/>
            <a:gdLst/>
            <a:ahLst/>
            <a:cxnLst/>
            <a:rect l="l" t="t" r="r" b="b"/>
            <a:pathLst>
              <a:path w="1569720" h="1297304">
                <a:moveTo>
                  <a:pt x="1493999" y="43523"/>
                </a:moveTo>
                <a:lnTo>
                  <a:pt x="863" y="1275033"/>
                </a:lnTo>
                <a:lnTo>
                  <a:pt x="0" y="1284038"/>
                </a:lnTo>
                <a:lnTo>
                  <a:pt x="10040" y="1296213"/>
                </a:lnTo>
                <a:lnTo>
                  <a:pt x="19046" y="1297077"/>
                </a:lnTo>
                <a:lnTo>
                  <a:pt x="1512180" y="65567"/>
                </a:lnTo>
                <a:lnTo>
                  <a:pt x="1493999" y="43523"/>
                </a:lnTo>
                <a:close/>
              </a:path>
              <a:path w="1569720" h="1297304">
                <a:moveTo>
                  <a:pt x="1556178" y="29410"/>
                </a:moveTo>
                <a:lnTo>
                  <a:pt x="1511110" y="29410"/>
                </a:lnTo>
                <a:lnTo>
                  <a:pt x="1520115" y="30275"/>
                </a:lnTo>
                <a:lnTo>
                  <a:pt x="1530156" y="42449"/>
                </a:lnTo>
                <a:lnTo>
                  <a:pt x="1529292" y="51454"/>
                </a:lnTo>
                <a:lnTo>
                  <a:pt x="1512180" y="65567"/>
                </a:lnTo>
                <a:lnTo>
                  <a:pt x="1530362" y="87612"/>
                </a:lnTo>
                <a:lnTo>
                  <a:pt x="1556178" y="29410"/>
                </a:lnTo>
                <a:close/>
              </a:path>
              <a:path w="1569720" h="1297304">
                <a:moveTo>
                  <a:pt x="1511110" y="29410"/>
                </a:moveTo>
                <a:lnTo>
                  <a:pt x="1493999" y="43523"/>
                </a:lnTo>
                <a:lnTo>
                  <a:pt x="1512180" y="65567"/>
                </a:lnTo>
                <a:lnTo>
                  <a:pt x="1529292" y="51454"/>
                </a:lnTo>
                <a:lnTo>
                  <a:pt x="1530156" y="42449"/>
                </a:lnTo>
                <a:lnTo>
                  <a:pt x="1520115" y="30275"/>
                </a:lnTo>
                <a:lnTo>
                  <a:pt x="1511110" y="29410"/>
                </a:lnTo>
                <a:close/>
              </a:path>
              <a:path w="1569720" h="1297304">
                <a:moveTo>
                  <a:pt x="1569223" y="0"/>
                </a:moveTo>
                <a:lnTo>
                  <a:pt x="1475817" y="21478"/>
                </a:lnTo>
                <a:lnTo>
                  <a:pt x="1493999" y="43523"/>
                </a:lnTo>
                <a:lnTo>
                  <a:pt x="1511110" y="29410"/>
                </a:lnTo>
                <a:lnTo>
                  <a:pt x="1556178" y="29410"/>
                </a:lnTo>
                <a:lnTo>
                  <a:pt x="1569223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8108" y="1920747"/>
            <a:ext cx="7179945" cy="41605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00">
                <a:solidFill>
                  <a:srgbClr val="D9253E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150">
                <a:solidFill>
                  <a:srgbClr val="D9253E"/>
                </a:solidFill>
                <a:latin typeface="Cambria Math"/>
                <a:cs typeface="Cambria Math"/>
              </a:rPr>
              <a:t>(</a:t>
            </a:r>
            <a:r>
              <a:rPr dirty="0" sz="2800" spc="100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solidFill>
                  <a:srgbClr val="479249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37">
                <a:solidFill>
                  <a:srgbClr val="479249"/>
                </a:solidFill>
                <a:latin typeface="Cambria Math"/>
                <a:cs typeface="Cambria Math"/>
              </a:rPr>
              <a:t>7</a:t>
            </a:r>
            <a:r>
              <a:rPr dirty="0" sz="2800" spc="25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20">
                <a:latin typeface="Calibri"/>
                <a:cs typeface="Calibri"/>
              </a:rPr>
              <a:t>exist</a:t>
            </a:r>
            <a:r>
              <a:rPr dirty="0" sz="2800" spc="-5">
                <a:latin typeface="Calibri"/>
                <a:cs typeface="Calibri"/>
              </a:rPr>
              <a:t> in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knowledge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1-to-N relations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marL="1852295">
              <a:lnSpc>
                <a:spcPts val="3815"/>
              </a:lnSpc>
            </a:pPr>
            <a:r>
              <a:rPr dirty="0" sz="2800">
                <a:latin typeface="Cambria Math"/>
                <a:cs typeface="Cambria Math"/>
              </a:rPr>
              <a:t>&lt; 𝐡, 𝐫, </a:t>
            </a:r>
            <a:r>
              <a:rPr dirty="0" sz="2800" spc="175">
                <a:solidFill>
                  <a:srgbClr val="C00000"/>
                </a:solidFill>
                <a:latin typeface="Cambria Math"/>
                <a:cs typeface="Cambria Math"/>
              </a:rPr>
              <a:t>𝐭</a:t>
            </a:r>
            <a:r>
              <a:rPr dirty="0" baseline="-16666" sz="3000" spc="262">
                <a:solidFill>
                  <a:srgbClr val="C00000"/>
                </a:solidFill>
                <a:latin typeface="Cambria Math"/>
                <a:cs typeface="Cambria Math"/>
              </a:rPr>
              <a:t>( </a:t>
            </a:r>
            <a:r>
              <a:rPr dirty="0" sz="2800">
                <a:latin typeface="Cambria Math"/>
                <a:cs typeface="Cambria Math"/>
              </a:rPr>
              <a:t>&gt; = </a:t>
            </a:r>
            <a:r>
              <a:rPr dirty="0" sz="3200">
                <a:latin typeface="Cambria Math"/>
                <a:cs typeface="Cambria Math"/>
              </a:rPr>
              <a:t>&lt; 𝐡, 𝐫, </a:t>
            </a:r>
            <a:r>
              <a:rPr dirty="0" sz="3200">
                <a:solidFill>
                  <a:srgbClr val="008000"/>
                </a:solidFill>
                <a:latin typeface="Cambria Math"/>
                <a:cs typeface="Cambria Math"/>
              </a:rPr>
              <a:t>𝐭</a:t>
            </a:r>
            <a:r>
              <a:rPr dirty="0" baseline="-14492" sz="3450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r>
              <a:rPr dirty="0" baseline="-14492" sz="3450" spc="-292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&gt;</a:t>
            </a:r>
            <a:endParaRPr sz="32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300">
              <a:latin typeface="Times New Roman"/>
              <a:cs typeface="Times New Roman"/>
            </a:endParaRPr>
          </a:p>
          <a:p>
            <a:pPr algn="ctr" marL="1671955">
              <a:lnSpc>
                <a:spcPct val="100000"/>
              </a:lnSpc>
            </a:pPr>
            <a:r>
              <a:rPr dirty="0" sz="2500" spc="155">
                <a:solidFill>
                  <a:srgbClr val="D9253E"/>
                </a:solidFill>
                <a:latin typeface="Cambria Math"/>
                <a:cs typeface="Cambria Math"/>
              </a:rPr>
              <a:t>𝐭</a:t>
            </a:r>
            <a:r>
              <a:rPr dirty="0" baseline="-15432" sz="2700" spc="232">
                <a:solidFill>
                  <a:srgbClr val="D9253E"/>
                </a:solidFill>
                <a:latin typeface="Cambria Math"/>
                <a:cs typeface="Cambria Math"/>
              </a:rPr>
              <a:t>)</a:t>
            </a:r>
            <a:endParaRPr baseline="-15432" sz="2700">
              <a:latin typeface="Cambria Math"/>
              <a:cs typeface="Cambria Math"/>
            </a:endParaRPr>
          </a:p>
          <a:p>
            <a:pPr algn="ctr" marL="1864360">
              <a:lnSpc>
                <a:spcPct val="100000"/>
              </a:lnSpc>
              <a:spcBef>
                <a:spcPts val="1725"/>
              </a:spcBef>
            </a:pPr>
            <a:r>
              <a:rPr dirty="0" sz="2500" spc="175">
                <a:solidFill>
                  <a:srgbClr val="479249"/>
                </a:solidFill>
                <a:latin typeface="Cambria Math"/>
                <a:cs typeface="Cambria Math"/>
              </a:rPr>
              <a:t>𝐭</a:t>
            </a:r>
            <a:r>
              <a:rPr dirty="0" baseline="-15432" sz="2700" spc="262">
                <a:solidFill>
                  <a:srgbClr val="479249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marL="4300220">
              <a:lnSpc>
                <a:spcPct val="100000"/>
              </a:lnSpc>
              <a:spcBef>
                <a:spcPts val="2420"/>
              </a:spcBef>
            </a:pPr>
            <a:r>
              <a:rPr dirty="0" sz="2500">
                <a:latin typeface="Cambria Math"/>
                <a:cs typeface="Cambria Math"/>
              </a:rPr>
              <a:t>𝐡 ⋅</a:t>
            </a:r>
            <a:r>
              <a:rPr dirty="0" sz="2500" spc="-105">
                <a:latin typeface="Cambria Math"/>
                <a:cs typeface="Cambria Math"/>
              </a:rPr>
              <a:t> </a:t>
            </a:r>
            <a:r>
              <a:rPr dirty="0" sz="2500">
                <a:latin typeface="Cambria Math"/>
                <a:cs typeface="Cambria Math"/>
              </a:rPr>
              <a:t>𝐫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2000" y="3924300"/>
            <a:ext cx="349250" cy="2022475"/>
          </a:xfrm>
          <a:custGeom>
            <a:avLst/>
            <a:gdLst/>
            <a:ahLst/>
            <a:cxnLst/>
            <a:rect l="l" t="t" r="r" b="b"/>
            <a:pathLst>
              <a:path w="349250" h="2022475">
                <a:moveTo>
                  <a:pt x="0" y="0"/>
                </a:moveTo>
                <a:lnTo>
                  <a:pt x="349135" y="202207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9369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10097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82750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80072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Symmetric</a:t>
            </a:r>
            <a:r>
              <a:rPr dirty="0" spc="-10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1953260">
              <a:lnSpc>
                <a:spcPts val="3815"/>
              </a:lnSpc>
              <a:tabLst>
                <a:tab pos="2324735" algn="l"/>
                <a:tab pos="3160395" algn="l"/>
                <a:tab pos="3997325" algn="l"/>
                <a:tab pos="4987290" algn="l"/>
              </a:tabLst>
            </a:pP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	⇒</a:t>
            </a:r>
            <a:r>
              <a:rPr dirty="0" spc="1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ℎ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108" y="2414523"/>
            <a:ext cx="6996430" cy="142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45">
                <a:latin typeface="Calibri"/>
                <a:cs typeface="Calibri"/>
              </a:rPr>
              <a:t>Family,</a:t>
            </a:r>
            <a:r>
              <a:rPr dirty="0" sz="2800" spc="-20">
                <a:latin typeface="Calibri"/>
                <a:cs typeface="Calibri"/>
              </a:rPr>
              <a:t> Roommate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naturally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symmetric  relations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24742" y="42067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19" h="376554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50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19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48410" y="4091940"/>
            <a:ext cx="10668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8634" algn="l"/>
              </a:tabLst>
            </a:pPr>
            <a:r>
              <a:rPr dirty="0" sz="3200" spc="-35">
                <a:latin typeface="Cambria Math"/>
                <a:cs typeface="Cambria Math"/>
              </a:rPr>
              <a:t>𝑓</a:t>
            </a:r>
            <a:r>
              <a:rPr dirty="0" baseline="-15700" sz="3450" spc="-52">
                <a:latin typeface="Cambria Math"/>
                <a:cs typeface="Cambria Math"/>
              </a:rPr>
              <a:t>!	</a:t>
            </a:r>
            <a:r>
              <a:rPr dirty="0" sz="3200" spc="25">
                <a:latin typeface="Cambria Math"/>
                <a:cs typeface="Cambria Math"/>
              </a:rPr>
              <a:t>ℎ,</a:t>
            </a:r>
            <a:r>
              <a:rPr dirty="0" sz="3200" spc="-2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𝑡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2581020" y="3890507"/>
            <a:ext cx="5158740" cy="1617345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3200" spc="-5">
                <a:latin typeface="Cambria Math"/>
                <a:cs typeface="Cambria Math"/>
              </a:rPr>
              <a:t>=&lt; </a:t>
            </a:r>
            <a:r>
              <a:rPr dirty="0" sz="3200">
                <a:latin typeface="Cambria Math"/>
                <a:cs typeface="Cambria Math"/>
              </a:rPr>
              <a:t>𝐡, 𝐫, 𝐭 &gt; = </a:t>
            </a:r>
            <a:r>
              <a:rPr dirty="0" sz="3200" spc="1625">
                <a:latin typeface="Cambria Math"/>
                <a:cs typeface="Cambria Math"/>
              </a:rPr>
              <a:t>M</a:t>
            </a:r>
            <a:r>
              <a:rPr dirty="0" sz="3200" spc="-365">
                <a:latin typeface="Cambria Math"/>
                <a:cs typeface="Cambria Math"/>
              </a:rPr>
              <a:t> </a:t>
            </a:r>
            <a:r>
              <a:rPr dirty="0" sz="3200" spc="-235">
                <a:latin typeface="Cambria Math"/>
                <a:cs typeface="Cambria Math"/>
              </a:rPr>
              <a:t>𝐡</a:t>
            </a:r>
            <a:r>
              <a:rPr dirty="0" baseline="-15700" sz="3450" spc="-352">
                <a:latin typeface="Cambria Math"/>
                <a:cs typeface="Cambria Math"/>
              </a:rPr>
              <a:t>3   </a:t>
            </a:r>
            <a:r>
              <a:rPr dirty="0" sz="3200">
                <a:latin typeface="Cambria Math"/>
                <a:cs typeface="Cambria Math"/>
              </a:rPr>
              <a:t>⋅ </a:t>
            </a:r>
            <a:r>
              <a:rPr dirty="0" sz="3200" spc="-365">
                <a:latin typeface="Cambria Math"/>
                <a:cs typeface="Cambria Math"/>
              </a:rPr>
              <a:t>𝐫</a:t>
            </a:r>
            <a:r>
              <a:rPr dirty="0" baseline="-15700" sz="3450" spc="-547">
                <a:latin typeface="Cambria Math"/>
                <a:cs typeface="Cambria Math"/>
              </a:rPr>
              <a:t>3     </a:t>
            </a:r>
            <a:r>
              <a:rPr dirty="0" sz="3200">
                <a:latin typeface="Cambria Math"/>
                <a:cs typeface="Cambria Math"/>
              </a:rPr>
              <a:t>⋅ </a:t>
            </a:r>
            <a:r>
              <a:rPr dirty="0" sz="3200" spc="-180">
                <a:latin typeface="Cambria Math"/>
                <a:cs typeface="Cambria Math"/>
              </a:rPr>
              <a:t>𝐭</a:t>
            </a:r>
            <a:r>
              <a:rPr dirty="0" baseline="-15700" sz="3450" spc="-270">
                <a:latin typeface="Cambria Math"/>
                <a:cs typeface="Cambria Math"/>
              </a:rPr>
              <a:t>3   </a:t>
            </a: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  <a:p>
            <a:pPr algn="ctr" marL="481965">
              <a:lnSpc>
                <a:spcPts val="2440"/>
              </a:lnSpc>
              <a:spcBef>
                <a:spcPts val="1135"/>
              </a:spcBef>
            </a:pPr>
            <a:r>
              <a:rPr dirty="0" sz="2300" spc="-470">
                <a:latin typeface="Cambria Math"/>
                <a:cs typeface="Cambria Math"/>
              </a:rPr>
              <a:t>3</a:t>
            </a:r>
            <a:endParaRPr sz="2300">
              <a:latin typeface="Cambria Math"/>
              <a:cs typeface="Cambria Math"/>
            </a:endParaRPr>
          </a:p>
          <a:p>
            <a:pPr marL="182245">
              <a:lnSpc>
                <a:spcPts val="3520"/>
              </a:lnSpc>
            </a:pPr>
            <a:r>
              <a:rPr dirty="0" sz="3200">
                <a:latin typeface="Cambria Math"/>
                <a:cs typeface="Cambria Math"/>
              </a:rPr>
              <a:t>&lt; </a:t>
            </a:r>
            <a:r>
              <a:rPr dirty="0" sz="3200" spc="-5">
                <a:latin typeface="Cambria Math"/>
                <a:cs typeface="Cambria Math"/>
              </a:rPr>
              <a:t>𝐭, </a:t>
            </a:r>
            <a:r>
              <a:rPr dirty="0" sz="3200">
                <a:latin typeface="Cambria Math"/>
                <a:cs typeface="Cambria Math"/>
              </a:rPr>
              <a:t>𝐫, 𝐡 &gt; = </a:t>
            </a:r>
            <a:r>
              <a:rPr dirty="0" sz="3200" spc="25">
                <a:latin typeface="Cambria Math"/>
                <a:cs typeface="Cambria Math"/>
              </a:rPr>
              <a:t>𝑓</a:t>
            </a:r>
            <a:r>
              <a:rPr dirty="0" baseline="-15700" sz="3450" spc="37">
                <a:latin typeface="Cambria Math"/>
                <a:cs typeface="Cambria Math"/>
              </a:rPr>
              <a:t>!</a:t>
            </a:r>
            <a:r>
              <a:rPr dirty="0" sz="3200" spc="25">
                <a:latin typeface="Cambria Math"/>
                <a:cs typeface="Cambria Math"/>
              </a:rPr>
              <a:t>(𝑡,</a:t>
            </a:r>
            <a:r>
              <a:rPr dirty="0" sz="3200" spc="-20">
                <a:latin typeface="Cambria Math"/>
                <a:cs typeface="Cambria Math"/>
              </a:rPr>
              <a:t> </a:t>
            </a:r>
            <a:r>
              <a:rPr dirty="0" sz="3200" spc="25">
                <a:latin typeface="Cambria Math"/>
                <a:cs typeface="Cambria Math"/>
              </a:rPr>
              <a:t>ℎ)</a:t>
            </a:r>
            <a:endParaRPr sz="32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119" y="390143"/>
            <a:ext cx="7510272" cy="463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6472" y="1348740"/>
            <a:ext cx="615886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FF"/>
                </a:solidFill>
              </a:rPr>
              <a:t>Antisymmetric</a:t>
            </a:r>
            <a:r>
              <a:rPr dirty="0" spc="-4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2009775">
              <a:lnSpc>
                <a:spcPts val="3815"/>
              </a:lnSpc>
              <a:tabLst>
                <a:tab pos="5344795" algn="l"/>
              </a:tabLst>
            </a:pP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𝑟(ℎ, 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⇒</a:t>
            </a:r>
            <a:r>
              <a:rPr dirty="0" spc="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¬𝑟(𝑡,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ℎ)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4" name="object 4"/>
          <p:cNvSpPr/>
          <p:nvPr/>
        </p:nvSpPr>
        <p:spPr>
          <a:xfrm>
            <a:off x="832805" y="34447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19" h="376554">
                <a:moveTo>
                  <a:pt x="700318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8" y="74909"/>
                </a:lnTo>
                <a:lnTo>
                  <a:pt x="780486" y="124940"/>
                </a:lnTo>
                <a:lnTo>
                  <a:pt x="786043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5" y="351655"/>
                </a:lnTo>
                <a:lnTo>
                  <a:pt x="695555" y="361156"/>
                </a:lnTo>
                <a:lnTo>
                  <a:pt x="700318" y="376435"/>
                </a:lnTo>
                <a:lnTo>
                  <a:pt x="751663" y="352349"/>
                </a:lnTo>
                <a:lnTo>
                  <a:pt x="789416" y="310653"/>
                </a:lnTo>
                <a:lnTo>
                  <a:pt x="812633" y="254818"/>
                </a:lnTo>
                <a:lnTo>
                  <a:pt x="820372" y="188316"/>
                </a:lnTo>
                <a:lnTo>
                  <a:pt x="818431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8" y="0"/>
                </a:lnTo>
                <a:close/>
              </a:path>
              <a:path w="820419" h="376554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7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5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6472" y="2414523"/>
            <a:ext cx="8199120" cy="1939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Hypernym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cannot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antisymmetric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508634" algn="l"/>
                <a:tab pos="1344930" algn="l"/>
              </a:tabLst>
            </a:pPr>
            <a:r>
              <a:rPr dirty="0" sz="3200" spc="-35">
                <a:latin typeface="Cambria Math"/>
                <a:cs typeface="Cambria Math"/>
              </a:rPr>
              <a:t>𝑓</a:t>
            </a:r>
            <a:r>
              <a:rPr dirty="0" baseline="-15700" sz="3450" spc="-52">
                <a:latin typeface="Cambria Math"/>
                <a:cs typeface="Cambria Math"/>
              </a:rPr>
              <a:t>!	</a:t>
            </a:r>
            <a:r>
              <a:rPr dirty="0" sz="3200" spc="25">
                <a:latin typeface="Cambria Math"/>
                <a:cs typeface="Cambria Math"/>
              </a:rPr>
              <a:t>ℎ,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𝑡	</a:t>
            </a:r>
            <a:r>
              <a:rPr dirty="0" sz="3200" spc="-5">
                <a:latin typeface="Cambria Math"/>
                <a:cs typeface="Cambria Math"/>
              </a:rPr>
              <a:t>=&lt; </a:t>
            </a:r>
            <a:r>
              <a:rPr dirty="0" sz="3200">
                <a:latin typeface="Cambria Math"/>
                <a:cs typeface="Cambria Math"/>
              </a:rPr>
              <a:t>𝐡, 𝐫, 𝐭 &gt; = &lt; </a:t>
            </a:r>
            <a:r>
              <a:rPr dirty="0" sz="3200" spc="-5">
                <a:latin typeface="Cambria Math"/>
                <a:cs typeface="Cambria Math"/>
              </a:rPr>
              <a:t>𝐭, </a:t>
            </a:r>
            <a:r>
              <a:rPr dirty="0" sz="3200">
                <a:latin typeface="Cambria Math"/>
                <a:cs typeface="Cambria Math"/>
              </a:rPr>
              <a:t>𝐫, 𝐡 &gt;= </a:t>
            </a:r>
            <a:r>
              <a:rPr dirty="0" sz="3200" spc="25">
                <a:latin typeface="Cambria Math"/>
                <a:cs typeface="Cambria Math"/>
              </a:rPr>
              <a:t>𝑓</a:t>
            </a:r>
            <a:r>
              <a:rPr dirty="0" baseline="-15700" sz="3450" spc="37">
                <a:latin typeface="Cambria Math"/>
                <a:cs typeface="Cambria Math"/>
              </a:rPr>
              <a:t>!</a:t>
            </a:r>
            <a:r>
              <a:rPr dirty="0" sz="3200" spc="25">
                <a:latin typeface="Cambria Math"/>
                <a:cs typeface="Cambria Math"/>
              </a:rPr>
              <a:t>(𝑡, </a:t>
            </a:r>
            <a:r>
              <a:rPr dirty="0" sz="3200" spc="25">
                <a:latin typeface="Cambria Math"/>
                <a:cs typeface="Cambria Math"/>
              </a:rPr>
              <a:t>ℎ)</a:t>
            </a:r>
            <a:r>
              <a:rPr dirty="0" sz="3200" spc="0">
                <a:latin typeface="Cambria Math"/>
                <a:cs typeface="Cambria Math"/>
              </a:rPr>
              <a:t> </a:t>
            </a:r>
            <a:r>
              <a:rPr dirty="0" sz="3200" spc="250">
                <a:solidFill>
                  <a:srgbClr val="FF0000"/>
                </a:solidFill>
                <a:latin typeface="Arial"/>
                <a:cs typeface="Arial"/>
              </a:rPr>
              <a:t>û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15">
                <a:latin typeface="Cambria Math"/>
                <a:cs typeface="Cambria Math"/>
              </a:rPr>
              <a:t>𝑟(ℎ, </a:t>
            </a:r>
            <a:r>
              <a:rPr dirty="0" sz="2800" spc="25">
                <a:latin typeface="Cambria Math"/>
                <a:cs typeface="Cambria Math"/>
              </a:rPr>
              <a:t>𝑡)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25">
                <a:latin typeface="Cambria Math"/>
                <a:cs typeface="Cambria Math"/>
              </a:rPr>
              <a:t>𝑟(𝑡, </a:t>
            </a:r>
            <a:r>
              <a:rPr dirty="0" sz="2800" spc="10">
                <a:latin typeface="Cambria Math"/>
                <a:cs typeface="Cambria Math"/>
              </a:rPr>
              <a:t>ℎ) </a:t>
            </a:r>
            <a:r>
              <a:rPr dirty="0" sz="2800" spc="-25">
                <a:latin typeface="Calibri"/>
                <a:cs typeface="Calibri"/>
              </a:rPr>
              <a:t>always have </a:t>
            </a:r>
            <a:r>
              <a:rPr dirty="0" sz="2800" spc="-5">
                <a:latin typeface="Calibri"/>
                <a:cs typeface="Calibri"/>
              </a:rPr>
              <a:t>same</a:t>
            </a:r>
            <a:r>
              <a:rPr dirty="0" sz="2800" spc="-2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score!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31735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019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FF"/>
                </a:solidFill>
              </a:rPr>
              <a:t>Inverse</a:t>
            </a:r>
            <a:r>
              <a:rPr dirty="0" spc="-10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2362200">
              <a:lnSpc>
                <a:spcPts val="3815"/>
              </a:lnSpc>
            </a:pPr>
            <a:r>
              <a:rPr dirty="0" spc="-60" b="0">
                <a:solidFill>
                  <a:srgbClr val="008000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89" b="0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r>
              <a:rPr dirty="0" sz="3200" spc="-60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z="320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⇒ </a:t>
            </a:r>
            <a:r>
              <a:rPr dirty="0" sz="3200" spc="25" b="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37" b="0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(𝑡,</a:t>
            </a:r>
            <a:r>
              <a:rPr dirty="0" sz="3200" spc="-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ℎ)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414523"/>
            <a:ext cx="7362825" cy="1442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 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30">
                <a:latin typeface="Calibri"/>
                <a:cs typeface="Calibri"/>
              </a:rPr>
              <a:t>(Advisor,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Advisee)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cannot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25">
                <a:latin typeface="Calibri"/>
                <a:cs typeface="Calibri"/>
              </a:rPr>
              <a:t>inverse </a:t>
            </a:r>
            <a:r>
              <a:rPr dirty="0" sz="3200" spc="-10">
                <a:latin typeface="Calibri"/>
                <a:cs typeface="Calibri"/>
              </a:rPr>
              <a:t>relations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250">
                <a:solidFill>
                  <a:srgbClr val="FF0000"/>
                </a:solidFill>
                <a:latin typeface="Arial"/>
                <a:cs typeface="Arial"/>
              </a:rPr>
              <a:t>û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If it does model </a:t>
            </a:r>
            <a:r>
              <a:rPr dirty="0" sz="2800" spc="-20">
                <a:latin typeface="Calibri"/>
                <a:cs typeface="Calibri"/>
              </a:rPr>
              <a:t>inverse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relations: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91613" y="3939973"/>
            <a:ext cx="716280" cy="329565"/>
          </a:xfrm>
          <a:custGeom>
            <a:avLst/>
            <a:gdLst/>
            <a:ahLst/>
            <a:cxnLst/>
            <a:rect l="l" t="t" r="r" b="b"/>
            <a:pathLst>
              <a:path w="716280" h="329564">
                <a:moveTo>
                  <a:pt x="611223" y="0"/>
                </a:moveTo>
                <a:lnTo>
                  <a:pt x="606534" y="13370"/>
                </a:lnTo>
                <a:lnTo>
                  <a:pt x="625601" y="21644"/>
                </a:lnTo>
                <a:lnTo>
                  <a:pt x="641998" y="33099"/>
                </a:lnTo>
                <a:lnTo>
                  <a:pt x="666785" y="65547"/>
                </a:lnTo>
                <a:lnTo>
                  <a:pt x="681370" y="109324"/>
                </a:lnTo>
                <a:lnTo>
                  <a:pt x="686231" y="163041"/>
                </a:lnTo>
                <a:lnTo>
                  <a:pt x="685010" y="192092"/>
                </a:lnTo>
                <a:lnTo>
                  <a:pt x="675243" y="242185"/>
                </a:lnTo>
                <a:lnTo>
                  <a:pt x="655645" y="281307"/>
                </a:lnTo>
                <a:lnTo>
                  <a:pt x="625823" y="307699"/>
                </a:lnTo>
                <a:lnTo>
                  <a:pt x="607054" y="316011"/>
                </a:lnTo>
                <a:lnTo>
                  <a:pt x="611223" y="329382"/>
                </a:lnTo>
                <a:lnTo>
                  <a:pt x="656150" y="308306"/>
                </a:lnTo>
                <a:lnTo>
                  <a:pt x="689183" y="271821"/>
                </a:lnTo>
                <a:lnTo>
                  <a:pt x="709498" y="222966"/>
                </a:lnTo>
                <a:lnTo>
                  <a:pt x="716269" y="164777"/>
                </a:lnTo>
                <a:lnTo>
                  <a:pt x="714571" y="134581"/>
                </a:lnTo>
                <a:lnTo>
                  <a:pt x="700985" y="81059"/>
                </a:lnTo>
                <a:lnTo>
                  <a:pt x="674039" y="37488"/>
                </a:lnTo>
                <a:lnTo>
                  <a:pt x="635102" y="8621"/>
                </a:lnTo>
                <a:lnTo>
                  <a:pt x="611223" y="0"/>
                </a:lnTo>
                <a:close/>
              </a:path>
              <a:path w="716280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50" y="296130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40"/>
                </a:lnTo>
                <a:lnTo>
                  <a:pt x="41027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6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02423" y="3939973"/>
            <a:ext cx="716280" cy="329565"/>
          </a:xfrm>
          <a:custGeom>
            <a:avLst/>
            <a:gdLst/>
            <a:ahLst/>
            <a:cxnLst/>
            <a:rect l="l" t="t" r="r" b="b"/>
            <a:pathLst>
              <a:path w="716279" h="329564">
                <a:moveTo>
                  <a:pt x="611221" y="0"/>
                </a:moveTo>
                <a:lnTo>
                  <a:pt x="606534" y="13370"/>
                </a:lnTo>
                <a:lnTo>
                  <a:pt x="625601" y="21644"/>
                </a:lnTo>
                <a:lnTo>
                  <a:pt x="641998" y="33099"/>
                </a:lnTo>
                <a:lnTo>
                  <a:pt x="666784" y="65547"/>
                </a:lnTo>
                <a:lnTo>
                  <a:pt x="681369" y="109324"/>
                </a:lnTo>
                <a:lnTo>
                  <a:pt x="686231" y="163041"/>
                </a:lnTo>
                <a:lnTo>
                  <a:pt x="685010" y="192092"/>
                </a:lnTo>
                <a:lnTo>
                  <a:pt x="675243" y="242185"/>
                </a:lnTo>
                <a:lnTo>
                  <a:pt x="655645" y="281307"/>
                </a:lnTo>
                <a:lnTo>
                  <a:pt x="625823" y="307699"/>
                </a:lnTo>
                <a:lnTo>
                  <a:pt x="607054" y="316011"/>
                </a:lnTo>
                <a:lnTo>
                  <a:pt x="611221" y="329382"/>
                </a:lnTo>
                <a:lnTo>
                  <a:pt x="656149" y="308306"/>
                </a:lnTo>
                <a:lnTo>
                  <a:pt x="689183" y="271821"/>
                </a:lnTo>
                <a:lnTo>
                  <a:pt x="709498" y="222966"/>
                </a:lnTo>
                <a:lnTo>
                  <a:pt x="716269" y="164777"/>
                </a:lnTo>
                <a:lnTo>
                  <a:pt x="714571" y="134581"/>
                </a:lnTo>
                <a:lnTo>
                  <a:pt x="700985" y="81059"/>
                </a:lnTo>
                <a:lnTo>
                  <a:pt x="674039" y="37488"/>
                </a:lnTo>
                <a:lnTo>
                  <a:pt x="635101" y="8621"/>
                </a:lnTo>
                <a:lnTo>
                  <a:pt x="611221" y="0"/>
                </a:lnTo>
                <a:close/>
              </a:path>
              <a:path w="716279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06042" y="3837939"/>
            <a:ext cx="5035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5">
                <a:latin typeface="Cambria Math"/>
                <a:cs typeface="Cambria Math"/>
              </a:rPr>
              <a:t>𝑡,</a:t>
            </a:r>
            <a:r>
              <a:rPr dirty="0" sz="2800" spc="-2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54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956563" y="3719067"/>
            <a:ext cx="6103620" cy="111696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1280795" algn="l"/>
              </a:tabLst>
            </a:pPr>
            <a:r>
              <a:rPr dirty="0" sz="2800" spc="-155">
                <a:latin typeface="Cambria Math"/>
                <a:cs typeface="Cambria Math"/>
              </a:rPr>
              <a:t>𝑓</a:t>
            </a:r>
            <a:r>
              <a:rPr dirty="0" baseline="-16666" sz="3000" spc="-232">
                <a:solidFill>
                  <a:srgbClr val="008000"/>
                </a:solidFill>
                <a:latin typeface="Cambria Math"/>
                <a:cs typeface="Cambria Math"/>
              </a:rPr>
              <a:t>*</a:t>
            </a:r>
            <a:r>
              <a:rPr dirty="0" baseline="-32679" sz="2550" spc="-232">
                <a:solidFill>
                  <a:srgbClr val="008000"/>
                </a:solidFill>
                <a:latin typeface="Cambria Math"/>
                <a:cs typeface="Cambria Math"/>
              </a:rPr>
              <a:t>3  </a:t>
            </a:r>
            <a:r>
              <a:rPr dirty="0" baseline="-32679" sz="2550" spc="7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 spc="10">
                <a:latin typeface="Cambria Math"/>
                <a:cs typeface="Cambria Math"/>
              </a:rPr>
              <a:t>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𝑡	</a:t>
            </a:r>
            <a:r>
              <a:rPr dirty="0" sz="2800" spc="-5">
                <a:latin typeface="Cambria Math"/>
                <a:cs typeface="Cambria Math"/>
              </a:rPr>
              <a:t>=&lt; </a:t>
            </a:r>
            <a:r>
              <a:rPr dirty="0" sz="2800">
                <a:latin typeface="Cambria Math"/>
                <a:cs typeface="Cambria Math"/>
              </a:rPr>
              <a:t>𝐡, </a:t>
            </a:r>
            <a:r>
              <a:rPr dirty="0" sz="2800" spc="-25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37">
                <a:solidFill>
                  <a:srgbClr val="008000"/>
                </a:solidFill>
                <a:latin typeface="Cambria Math"/>
                <a:cs typeface="Cambria Math"/>
              </a:rPr>
              <a:t>7</a:t>
            </a:r>
            <a:r>
              <a:rPr dirty="0" sz="2800" spc="-25">
                <a:latin typeface="Cambria Math"/>
                <a:cs typeface="Cambria Math"/>
              </a:rPr>
              <a:t>, </a:t>
            </a:r>
            <a:r>
              <a:rPr dirty="0" sz="2800">
                <a:latin typeface="Cambria Math"/>
                <a:cs typeface="Cambria Math"/>
              </a:rPr>
              <a:t>𝐭 &gt; = &lt; </a:t>
            </a:r>
            <a:r>
              <a:rPr dirty="0" sz="2800" spc="-5">
                <a:latin typeface="Cambria Math"/>
                <a:cs typeface="Cambria Math"/>
              </a:rPr>
              <a:t>𝐭, </a:t>
            </a:r>
            <a:r>
              <a:rPr dirty="0" sz="2800" spc="-110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165">
                <a:solidFill>
                  <a:srgbClr val="C00000"/>
                </a:solidFill>
                <a:latin typeface="Cambria Math"/>
                <a:cs typeface="Cambria Math"/>
              </a:rPr>
              <a:t>𝟏  </a:t>
            </a:r>
            <a:r>
              <a:rPr dirty="0" sz="2800">
                <a:latin typeface="Cambria Math"/>
                <a:cs typeface="Cambria Math"/>
              </a:rPr>
              <a:t>, 𝐡 &gt;=</a:t>
            </a:r>
            <a:r>
              <a:rPr dirty="0" sz="2800" spc="15">
                <a:latin typeface="Cambria Math"/>
                <a:cs typeface="Cambria Math"/>
              </a:rPr>
              <a:t> </a:t>
            </a:r>
            <a:r>
              <a:rPr dirty="0" sz="2800" spc="-155">
                <a:latin typeface="Cambria Math"/>
                <a:cs typeface="Cambria Math"/>
              </a:rPr>
              <a:t>𝑓</a:t>
            </a:r>
            <a:r>
              <a:rPr dirty="0" baseline="-16666" sz="3000" spc="-232">
                <a:solidFill>
                  <a:srgbClr val="C00000"/>
                </a:solidFill>
                <a:latin typeface="Cambria Math"/>
                <a:cs typeface="Cambria Math"/>
              </a:rPr>
              <a:t>*</a:t>
            </a:r>
            <a:r>
              <a:rPr dirty="0" baseline="-32679" sz="2550" spc="-232">
                <a:solidFill>
                  <a:srgbClr val="C00000"/>
                </a:solidFill>
                <a:latin typeface="Cambria Math"/>
                <a:cs typeface="Cambria Math"/>
              </a:rPr>
              <a:t>4</a:t>
            </a:r>
            <a:endParaRPr baseline="-32679" sz="255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9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This means </a:t>
            </a:r>
            <a:r>
              <a:rPr dirty="0" sz="2800" spc="-90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135">
                <a:solidFill>
                  <a:srgbClr val="008000"/>
                </a:solidFill>
                <a:latin typeface="Cambria Math"/>
                <a:cs typeface="Cambria Math"/>
              </a:rPr>
              <a:t>7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55">
                <a:latin typeface="Cambria Math"/>
                <a:cs typeface="Cambria Math"/>
              </a:rPr>
              <a:t> </a:t>
            </a:r>
            <a:r>
              <a:rPr dirty="0" sz="2800" spc="15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22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563" y="4904739"/>
            <a:ext cx="7391400" cy="1303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0">
                <a:latin typeface="Calibri"/>
                <a:cs typeface="Calibri"/>
              </a:rPr>
              <a:t>semantically </a:t>
            </a:r>
            <a:r>
              <a:rPr dirty="0" sz="2800" spc="-5">
                <a:latin typeface="Calibri"/>
                <a:cs typeface="Calibri"/>
              </a:rPr>
              <a:t>this does not </a:t>
            </a: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 spc="-5">
                <a:latin typeface="Calibri"/>
                <a:cs typeface="Calibri"/>
              </a:rPr>
              <a:t>sense: </a:t>
            </a:r>
            <a:r>
              <a:rPr dirty="0" sz="2800" spc="-5" b="1">
                <a:latin typeface="Calibri"/>
                <a:cs typeface="Calibri"/>
              </a:rPr>
              <a:t>The  embedding of </a:t>
            </a:r>
            <a:r>
              <a:rPr dirty="0" sz="2800" spc="-20" b="1">
                <a:latin typeface="Calibri"/>
                <a:cs typeface="Calibri"/>
              </a:rPr>
              <a:t>“Advisor” </a:t>
            </a:r>
            <a:r>
              <a:rPr dirty="0" sz="2800" spc="-5" b="1">
                <a:latin typeface="Calibri"/>
                <a:cs typeface="Calibri"/>
              </a:rPr>
              <a:t>should not be the same  with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spc="-55" b="1">
                <a:latin typeface="Calibri"/>
                <a:cs typeface="Calibri"/>
              </a:rPr>
              <a:t>“Advisee”.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632192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12273" y="1876207"/>
            <a:ext cx="824865" cy="353060"/>
          </a:xfrm>
          <a:custGeom>
            <a:avLst/>
            <a:gdLst/>
            <a:ahLst/>
            <a:cxnLst/>
            <a:rect l="l" t="t" r="r" b="b"/>
            <a:pathLst>
              <a:path w="824864" h="353060">
                <a:moveTo>
                  <a:pt x="712030" y="0"/>
                </a:moveTo>
                <a:lnTo>
                  <a:pt x="707007" y="14325"/>
                </a:lnTo>
                <a:lnTo>
                  <a:pt x="727436" y="23190"/>
                </a:lnTo>
                <a:lnTo>
                  <a:pt x="745005" y="35463"/>
                </a:lnTo>
                <a:lnTo>
                  <a:pt x="771561" y="70228"/>
                </a:lnTo>
                <a:lnTo>
                  <a:pt x="787189" y="117132"/>
                </a:lnTo>
                <a:lnTo>
                  <a:pt x="792398" y="174687"/>
                </a:lnTo>
                <a:lnTo>
                  <a:pt x="791090" y="205813"/>
                </a:lnTo>
                <a:lnTo>
                  <a:pt x="780625" y="259484"/>
                </a:lnTo>
                <a:lnTo>
                  <a:pt x="759626" y="301400"/>
                </a:lnTo>
                <a:lnTo>
                  <a:pt x="727675" y="329677"/>
                </a:lnTo>
                <a:lnTo>
                  <a:pt x="707566" y="338584"/>
                </a:lnTo>
                <a:lnTo>
                  <a:pt x="712030" y="352908"/>
                </a:lnTo>
                <a:lnTo>
                  <a:pt x="760167" y="330329"/>
                </a:lnTo>
                <a:lnTo>
                  <a:pt x="795561" y="291238"/>
                </a:lnTo>
                <a:lnTo>
                  <a:pt x="817326" y="238892"/>
                </a:lnTo>
                <a:lnTo>
                  <a:pt x="824581" y="176547"/>
                </a:lnTo>
                <a:lnTo>
                  <a:pt x="822762" y="144195"/>
                </a:lnTo>
                <a:lnTo>
                  <a:pt x="808205" y="86849"/>
                </a:lnTo>
                <a:lnTo>
                  <a:pt x="779335" y="40166"/>
                </a:lnTo>
                <a:lnTo>
                  <a:pt x="737616" y="9238"/>
                </a:lnTo>
                <a:lnTo>
                  <a:pt x="712030" y="0"/>
                </a:lnTo>
                <a:close/>
              </a:path>
              <a:path w="824864" h="353060">
                <a:moveTo>
                  <a:pt x="112551" y="0"/>
                </a:moveTo>
                <a:lnTo>
                  <a:pt x="64531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7" y="329677"/>
                </a:lnTo>
                <a:lnTo>
                  <a:pt x="79553" y="317283"/>
                </a:lnTo>
                <a:lnTo>
                  <a:pt x="53112" y="282030"/>
                </a:lnTo>
                <a:lnTo>
                  <a:pt x="37416" y="234079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5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13806" y="1876207"/>
            <a:ext cx="800735" cy="353060"/>
          </a:xfrm>
          <a:custGeom>
            <a:avLst/>
            <a:gdLst/>
            <a:ahLst/>
            <a:cxnLst/>
            <a:rect l="l" t="t" r="r" b="b"/>
            <a:pathLst>
              <a:path w="800735" h="353060">
                <a:moveTo>
                  <a:pt x="687964" y="0"/>
                </a:moveTo>
                <a:lnTo>
                  <a:pt x="682941" y="14325"/>
                </a:lnTo>
                <a:lnTo>
                  <a:pt x="703370" y="23190"/>
                </a:lnTo>
                <a:lnTo>
                  <a:pt x="720938" y="35463"/>
                </a:lnTo>
                <a:lnTo>
                  <a:pt x="747495" y="70228"/>
                </a:lnTo>
                <a:lnTo>
                  <a:pt x="763122" y="117132"/>
                </a:lnTo>
                <a:lnTo>
                  <a:pt x="768330" y="174687"/>
                </a:lnTo>
                <a:lnTo>
                  <a:pt x="767022" y="205813"/>
                </a:lnTo>
                <a:lnTo>
                  <a:pt x="756558" y="259484"/>
                </a:lnTo>
                <a:lnTo>
                  <a:pt x="735560" y="301400"/>
                </a:lnTo>
                <a:lnTo>
                  <a:pt x="703608" y="329677"/>
                </a:lnTo>
                <a:lnTo>
                  <a:pt x="683498" y="338584"/>
                </a:lnTo>
                <a:lnTo>
                  <a:pt x="687964" y="352908"/>
                </a:lnTo>
                <a:lnTo>
                  <a:pt x="736100" y="330329"/>
                </a:lnTo>
                <a:lnTo>
                  <a:pt x="771494" y="291238"/>
                </a:lnTo>
                <a:lnTo>
                  <a:pt x="793260" y="238892"/>
                </a:lnTo>
                <a:lnTo>
                  <a:pt x="800515" y="176547"/>
                </a:lnTo>
                <a:lnTo>
                  <a:pt x="798695" y="144195"/>
                </a:lnTo>
                <a:lnTo>
                  <a:pt x="784138" y="86849"/>
                </a:lnTo>
                <a:lnTo>
                  <a:pt x="755268" y="40166"/>
                </a:lnTo>
                <a:lnTo>
                  <a:pt x="713549" y="9238"/>
                </a:lnTo>
                <a:lnTo>
                  <a:pt x="687964" y="0"/>
                </a:lnTo>
                <a:close/>
              </a:path>
              <a:path w="800735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5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7" y="329677"/>
                </a:lnTo>
                <a:lnTo>
                  <a:pt x="79553" y="317283"/>
                </a:lnTo>
                <a:lnTo>
                  <a:pt x="53112" y="282030"/>
                </a:lnTo>
                <a:lnTo>
                  <a:pt x="37416" y="234079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90" y="51142"/>
                </a:lnTo>
                <a:lnTo>
                  <a:pt x="97221" y="23190"/>
                </a:lnTo>
                <a:lnTo>
                  <a:pt x="117574" y="14325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38466" y="1876207"/>
            <a:ext cx="796290" cy="353060"/>
          </a:xfrm>
          <a:custGeom>
            <a:avLst/>
            <a:gdLst/>
            <a:ahLst/>
            <a:cxnLst/>
            <a:rect l="l" t="t" r="r" b="b"/>
            <a:pathLst>
              <a:path w="796289" h="353060">
                <a:moveTo>
                  <a:pt x="683455" y="0"/>
                </a:moveTo>
                <a:lnTo>
                  <a:pt x="678432" y="14325"/>
                </a:lnTo>
                <a:lnTo>
                  <a:pt x="698861" y="23190"/>
                </a:lnTo>
                <a:lnTo>
                  <a:pt x="716430" y="35463"/>
                </a:lnTo>
                <a:lnTo>
                  <a:pt x="742986" y="70228"/>
                </a:lnTo>
                <a:lnTo>
                  <a:pt x="758613" y="117132"/>
                </a:lnTo>
                <a:lnTo>
                  <a:pt x="763822" y="174687"/>
                </a:lnTo>
                <a:lnTo>
                  <a:pt x="762514" y="205813"/>
                </a:lnTo>
                <a:lnTo>
                  <a:pt x="752050" y="259484"/>
                </a:lnTo>
                <a:lnTo>
                  <a:pt x="731051" y="301400"/>
                </a:lnTo>
                <a:lnTo>
                  <a:pt x="699099" y="329677"/>
                </a:lnTo>
                <a:lnTo>
                  <a:pt x="678990" y="338584"/>
                </a:lnTo>
                <a:lnTo>
                  <a:pt x="683455" y="352908"/>
                </a:lnTo>
                <a:lnTo>
                  <a:pt x="731592" y="330329"/>
                </a:lnTo>
                <a:lnTo>
                  <a:pt x="766986" y="291238"/>
                </a:lnTo>
                <a:lnTo>
                  <a:pt x="788751" y="238892"/>
                </a:lnTo>
                <a:lnTo>
                  <a:pt x="796006" y="176547"/>
                </a:lnTo>
                <a:lnTo>
                  <a:pt x="794187" y="144195"/>
                </a:lnTo>
                <a:lnTo>
                  <a:pt x="779630" y="86849"/>
                </a:lnTo>
                <a:lnTo>
                  <a:pt x="750759" y="40166"/>
                </a:lnTo>
                <a:lnTo>
                  <a:pt x="709041" y="9238"/>
                </a:lnTo>
                <a:lnTo>
                  <a:pt x="683455" y="0"/>
                </a:lnTo>
                <a:close/>
              </a:path>
              <a:path w="796289" h="353060">
                <a:moveTo>
                  <a:pt x="112551" y="0"/>
                </a:moveTo>
                <a:lnTo>
                  <a:pt x="64530" y="22626"/>
                </a:lnTo>
                <a:lnTo>
                  <a:pt x="29114" y="61856"/>
                </a:lnTo>
                <a:lnTo>
                  <a:pt x="7278" y="114295"/>
                </a:lnTo>
                <a:lnTo>
                  <a:pt x="0" y="176547"/>
                </a:lnTo>
                <a:lnTo>
                  <a:pt x="1813" y="208969"/>
                </a:lnTo>
                <a:lnTo>
                  <a:pt x="16324" y="266315"/>
                </a:lnTo>
                <a:lnTo>
                  <a:pt x="45124" y="312847"/>
                </a:lnTo>
                <a:lnTo>
                  <a:pt x="86890" y="343682"/>
                </a:lnTo>
                <a:lnTo>
                  <a:pt x="112551" y="352908"/>
                </a:lnTo>
                <a:lnTo>
                  <a:pt x="117016" y="338584"/>
                </a:lnTo>
                <a:lnTo>
                  <a:pt x="96906" y="329677"/>
                </a:lnTo>
                <a:lnTo>
                  <a:pt x="79552" y="317283"/>
                </a:lnTo>
                <a:lnTo>
                  <a:pt x="53112" y="282030"/>
                </a:lnTo>
                <a:lnTo>
                  <a:pt x="37416" y="234079"/>
                </a:lnTo>
                <a:lnTo>
                  <a:pt x="32184" y="174687"/>
                </a:lnTo>
                <a:lnTo>
                  <a:pt x="33492" y="144578"/>
                </a:lnTo>
                <a:lnTo>
                  <a:pt x="43956" y="92349"/>
                </a:lnTo>
                <a:lnTo>
                  <a:pt x="64989" y="51142"/>
                </a:lnTo>
                <a:lnTo>
                  <a:pt x="97220" y="23190"/>
                </a:lnTo>
                <a:lnTo>
                  <a:pt x="117574" y="14325"/>
                </a:lnTo>
                <a:lnTo>
                  <a:pt x="112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5398135" cy="952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0000FF"/>
                </a:solidFill>
              </a:rPr>
              <a:t>Composition</a:t>
            </a:r>
            <a:r>
              <a:rPr dirty="0" sz="3000" spc="-65">
                <a:solidFill>
                  <a:srgbClr val="0000FF"/>
                </a:solidFill>
              </a:rPr>
              <a:t> </a:t>
            </a:r>
            <a:r>
              <a:rPr dirty="0" sz="3000" spc="-10">
                <a:solidFill>
                  <a:srgbClr val="000000"/>
                </a:solidFill>
              </a:rPr>
              <a:t>Relations:</a:t>
            </a:r>
            <a:endParaRPr sz="3000"/>
          </a:p>
          <a:p>
            <a:pPr marL="1054100">
              <a:lnSpc>
                <a:spcPct val="100000"/>
              </a:lnSpc>
              <a:spcBef>
                <a:spcPts val="95"/>
              </a:spcBef>
              <a:tabLst>
                <a:tab pos="2336800" algn="l"/>
                <a:tab pos="3935095" algn="l"/>
              </a:tabLst>
            </a:pPr>
            <a:r>
              <a:rPr dirty="0" sz="3000" spc="135" b="0">
                <a:solidFill>
                  <a:srgbClr val="246172"/>
                </a:solidFill>
                <a:latin typeface="Cambria Math"/>
                <a:cs typeface="Cambria Math"/>
              </a:rPr>
              <a:t>𝑟</a:t>
            </a:r>
            <a:r>
              <a:rPr dirty="0" baseline="-15151" sz="3300" spc="202" b="0">
                <a:solidFill>
                  <a:srgbClr val="246172"/>
                </a:solidFill>
                <a:latin typeface="Cambria Math"/>
                <a:cs typeface="Cambria Math"/>
              </a:rPr>
              <a:t>;</a:t>
            </a:r>
            <a:r>
              <a:rPr dirty="0" baseline="-15151" sz="3300" spc="757" b="0">
                <a:solidFill>
                  <a:srgbClr val="246172"/>
                </a:solidFill>
                <a:latin typeface="Cambria Math"/>
                <a:cs typeface="Cambria Math"/>
              </a:rPr>
              <a:t> </a:t>
            </a:r>
            <a:r>
              <a:rPr dirty="0" sz="3000" spc="35" b="0">
                <a:solidFill>
                  <a:srgbClr val="000000"/>
                </a:solidFill>
                <a:latin typeface="Cambria Math"/>
                <a:cs typeface="Cambria Math"/>
              </a:rPr>
              <a:t>𝑥,</a:t>
            </a:r>
            <a:r>
              <a:rPr dirty="0" sz="30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𝑦	∧ </a:t>
            </a:r>
            <a:r>
              <a:rPr dirty="0" sz="3000" spc="175" b="0">
                <a:solidFill>
                  <a:srgbClr val="CF5B1B"/>
                </a:solidFill>
                <a:latin typeface="Cambria Math"/>
                <a:cs typeface="Cambria Math"/>
              </a:rPr>
              <a:t>𝑟</a:t>
            </a:r>
            <a:r>
              <a:rPr dirty="0" baseline="-15151" sz="3300" spc="262" b="0">
                <a:solidFill>
                  <a:srgbClr val="CF5B1B"/>
                </a:solidFill>
                <a:latin typeface="Cambria Math"/>
                <a:cs typeface="Cambria Math"/>
              </a:rPr>
              <a:t>:</a:t>
            </a:r>
            <a:r>
              <a:rPr dirty="0" baseline="-15151" sz="3300" spc="772" b="0">
                <a:solidFill>
                  <a:srgbClr val="CF5B1B"/>
                </a:solidFill>
                <a:latin typeface="Cambria Math"/>
                <a:cs typeface="Cambria Math"/>
              </a:rPr>
              <a:t> </a:t>
            </a:r>
            <a:r>
              <a:rPr dirty="0" sz="3000" spc="15" b="0">
                <a:solidFill>
                  <a:srgbClr val="000000"/>
                </a:solidFill>
                <a:latin typeface="Cambria Math"/>
                <a:cs typeface="Cambria Math"/>
              </a:rPr>
              <a:t>𝑦,</a:t>
            </a:r>
            <a:r>
              <a:rPr dirty="0" sz="30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𝑧	⇒ </a:t>
            </a:r>
            <a:r>
              <a:rPr dirty="0" sz="3000" b="0">
                <a:latin typeface="Cambria Math"/>
                <a:cs typeface="Cambria Math"/>
              </a:rPr>
              <a:t>𝑟</a:t>
            </a:r>
            <a:r>
              <a:rPr dirty="0" baseline="-15151" sz="3300" b="0">
                <a:latin typeface="Cambria Math"/>
                <a:cs typeface="Cambria Math"/>
              </a:rPr>
              <a:t>?  </a:t>
            </a:r>
            <a:r>
              <a:rPr dirty="0" sz="3000" spc="35" b="0">
                <a:solidFill>
                  <a:srgbClr val="000000"/>
                </a:solidFill>
                <a:latin typeface="Cambria Math"/>
                <a:cs typeface="Cambria Math"/>
              </a:rPr>
              <a:t>𝑥,</a:t>
            </a:r>
            <a:r>
              <a:rPr dirty="0" sz="3000" spc="-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000" b="0">
                <a:solidFill>
                  <a:srgbClr val="000000"/>
                </a:solidFill>
                <a:latin typeface="Cambria Math"/>
                <a:cs typeface="Cambria Math"/>
              </a:rPr>
              <a:t>𝑧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7656" y="1767332"/>
            <a:ext cx="11664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25">
                <a:latin typeface="Cambria Math"/>
                <a:cs typeface="Cambria Math"/>
              </a:rPr>
              <a:t>∀𝑥, </a:t>
            </a:r>
            <a:r>
              <a:rPr dirty="0" sz="3000" spc="15">
                <a:latin typeface="Cambria Math"/>
                <a:cs typeface="Cambria Math"/>
              </a:rPr>
              <a:t>𝑦,</a:t>
            </a:r>
            <a:r>
              <a:rPr dirty="0" sz="3000" spc="-440">
                <a:latin typeface="Cambria Math"/>
                <a:cs typeface="Cambria Math"/>
              </a:rPr>
              <a:t> </a:t>
            </a:r>
            <a:r>
              <a:rPr dirty="0" sz="3000">
                <a:latin typeface="Cambria Math"/>
                <a:cs typeface="Cambria Math"/>
              </a:rPr>
              <a:t>𝑧</a:t>
            </a:r>
            <a:endParaRPr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92563" y="4325520"/>
            <a:ext cx="2282375" cy="24323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15361" y="5441001"/>
            <a:ext cx="1396365" cy="725805"/>
          </a:xfrm>
          <a:custGeom>
            <a:avLst/>
            <a:gdLst/>
            <a:ahLst/>
            <a:cxnLst/>
            <a:rect l="l" t="t" r="r" b="b"/>
            <a:pathLst>
              <a:path w="1396364" h="725804">
                <a:moveTo>
                  <a:pt x="15750" y="0"/>
                </a:moveTo>
                <a:lnTo>
                  <a:pt x="7150" y="2802"/>
                </a:lnTo>
                <a:lnTo>
                  <a:pt x="0" y="16871"/>
                </a:lnTo>
                <a:lnTo>
                  <a:pt x="2802" y="25472"/>
                </a:lnTo>
                <a:lnTo>
                  <a:pt x="67817" y="58519"/>
                </a:lnTo>
                <a:lnTo>
                  <a:pt x="76419" y="55714"/>
                </a:lnTo>
                <a:lnTo>
                  <a:pt x="83569" y="41647"/>
                </a:lnTo>
                <a:lnTo>
                  <a:pt x="80765" y="33045"/>
                </a:lnTo>
                <a:lnTo>
                  <a:pt x="15750" y="0"/>
                </a:lnTo>
                <a:close/>
              </a:path>
              <a:path w="1396364" h="725804">
                <a:moveTo>
                  <a:pt x="117643" y="51790"/>
                </a:moveTo>
                <a:lnTo>
                  <a:pt x="109043" y="54594"/>
                </a:lnTo>
                <a:lnTo>
                  <a:pt x="101892" y="68662"/>
                </a:lnTo>
                <a:lnTo>
                  <a:pt x="104696" y="77264"/>
                </a:lnTo>
                <a:lnTo>
                  <a:pt x="169711" y="110309"/>
                </a:lnTo>
                <a:lnTo>
                  <a:pt x="178311" y="107506"/>
                </a:lnTo>
                <a:lnTo>
                  <a:pt x="185463" y="93437"/>
                </a:lnTo>
                <a:lnTo>
                  <a:pt x="182659" y="84837"/>
                </a:lnTo>
                <a:lnTo>
                  <a:pt x="117643" y="51790"/>
                </a:lnTo>
                <a:close/>
              </a:path>
              <a:path w="1396364" h="725804">
                <a:moveTo>
                  <a:pt x="219537" y="103581"/>
                </a:moveTo>
                <a:lnTo>
                  <a:pt x="210936" y="106385"/>
                </a:lnTo>
                <a:lnTo>
                  <a:pt x="203785" y="120454"/>
                </a:lnTo>
                <a:lnTo>
                  <a:pt x="206589" y="129054"/>
                </a:lnTo>
                <a:lnTo>
                  <a:pt x="271604" y="162101"/>
                </a:lnTo>
                <a:lnTo>
                  <a:pt x="280205" y="159297"/>
                </a:lnTo>
                <a:lnTo>
                  <a:pt x="287356" y="145228"/>
                </a:lnTo>
                <a:lnTo>
                  <a:pt x="284552" y="136627"/>
                </a:lnTo>
                <a:lnTo>
                  <a:pt x="219537" y="103581"/>
                </a:lnTo>
                <a:close/>
              </a:path>
              <a:path w="1396364" h="725804">
                <a:moveTo>
                  <a:pt x="321430" y="155372"/>
                </a:moveTo>
                <a:lnTo>
                  <a:pt x="312828" y="158176"/>
                </a:lnTo>
                <a:lnTo>
                  <a:pt x="305678" y="172244"/>
                </a:lnTo>
                <a:lnTo>
                  <a:pt x="308482" y="180845"/>
                </a:lnTo>
                <a:lnTo>
                  <a:pt x="373496" y="213892"/>
                </a:lnTo>
                <a:lnTo>
                  <a:pt x="382098" y="211088"/>
                </a:lnTo>
                <a:lnTo>
                  <a:pt x="389248" y="197019"/>
                </a:lnTo>
                <a:lnTo>
                  <a:pt x="386445" y="188418"/>
                </a:lnTo>
                <a:lnTo>
                  <a:pt x="321430" y="155372"/>
                </a:lnTo>
                <a:close/>
              </a:path>
              <a:path w="1396364" h="725804">
                <a:moveTo>
                  <a:pt x="423322" y="207163"/>
                </a:moveTo>
                <a:lnTo>
                  <a:pt x="414722" y="209967"/>
                </a:lnTo>
                <a:lnTo>
                  <a:pt x="407570" y="224035"/>
                </a:lnTo>
                <a:lnTo>
                  <a:pt x="410375" y="232636"/>
                </a:lnTo>
                <a:lnTo>
                  <a:pt x="475390" y="265682"/>
                </a:lnTo>
                <a:lnTo>
                  <a:pt x="483990" y="262879"/>
                </a:lnTo>
                <a:lnTo>
                  <a:pt x="491142" y="248810"/>
                </a:lnTo>
                <a:lnTo>
                  <a:pt x="488337" y="240209"/>
                </a:lnTo>
                <a:lnTo>
                  <a:pt x="423322" y="207163"/>
                </a:lnTo>
                <a:close/>
              </a:path>
              <a:path w="1396364" h="725804">
                <a:moveTo>
                  <a:pt x="525216" y="258954"/>
                </a:moveTo>
                <a:lnTo>
                  <a:pt x="516615" y="261758"/>
                </a:lnTo>
                <a:lnTo>
                  <a:pt x="509464" y="275826"/>
                </a:lnTo>
                <a:lnTo>
                  <a:pt x="512268" y="284427"/>
                </a:lnTo>
                <a:lnTo>
                  <a:pt x="577283" y="317473"/>
                </a:lnTo>
                <a:lnTo>
                  <a:pt x="585884" y="314670"/>
                </a:lnTo>
                <a:lnTo>
                  <a:pt x="593035" y="300601"/>
                </a:lnTo>
                <a:lnTo>
                  <a:pt x="590231" y="292000"/>
                </a:lnTo>
                <a:lnTo>
                  <a:pt x="525216" y="258954"/>
                </a:lnTo>
                <a:close/>
              </a:path>
              <a:path w="1396364" h="725804">
                <a:moveTo>
                  <a:pt x="627109" y="310745"/>
                </a:moveTo>
                <a:lnTo>
                  <a:pt x="618507" y="313549"/>
                </a:lnTo>
                <a:lnTo>
                  <a:pt x="611357" y="327617"/>
                </a:lnTo>
                <a:lnTo>
                  <a:pt x="614161" y="336218"/>
                </a:lnTo>
                <a:lnTo>
                  <a:pt x="679176" y="369264"/>
                </a:lnTo>
                <a:lnTo>
                  <a:pt x="687777" y="366461"/>
                </a:lnTo>
                <a:lnTo>
                  <a:pt x="694927" y="352392"/>
                </a:lnTo>
                <a:lnTo>
                  <a:pt x="692124" y="343791"/>
                </a:lnTo>
                <a:lnTo>
                  <a:pt x="627109" y="310745"/>
                </a:lnTo>
                <a:close/>
              </a:path>
              <a:path w="1396364" h="725804">
                <a:moveTo>
                  <a:pt x="729001" y="362536"/>
                </a:moveTo>
                <a:lnTo>
                  <a:pt x="720401" y="365340"/>
                </a:lnTo>
                <a:lnTo>
                  <a:pt x="713251" y="379408"/>
                </a:lnTo>
                <a:lnTo>
                  <a:pt x="716053" y="388009"/>
                </a:lnTo>
                <a:lnTo>
                  <a:pt x="781069" y="421055"/>
                </a:lnTo>
                <a:lnTo>
                  <a:pt x="789670" y="418252"/>
                </a:lnTo>
                <a:lnTo>
                  <a:pt x="796820" y="404183"/>
                </a:lnTo>
                <a:lnTo>
                  <a:pt x="794016" y="395582"/>
                </a:lnTo>
                <a:lnTo>
                  <a:pt x="729001" y="362536"/>
                </a:lnTo>
                <a:close/>
              </a:path>
              <a:path w="1396364" h="725804">
                <a:moveTo>
                  <a:pt x="830894" y="414327"/>
                </a:moveTo>
                <a:lnTo>
                  <a:pt x="822294" y="417131"/>
                </a:lnTo>
                <a:lnTo>
                  <a:pt x="815143" y="431199"/>
                </a:lnTo>
                <a:lnTo>
                  <a:pt x="817947" y="439800"/>
                </a:lnTo>
                <a:lnTo>
                  <a:pt x="882962" y="472846"/>
                </a:lnTo>
                <a:lnTo>
                  <a:pt x="891562" y="470043"/>
                </a:lnTo>
                <a:lnTo>
                  <a:pt x="898714" y="455974"/>
                </a:lnTo>
                <a:lnTo>
                  <a:pt x="895910" y="447373"/>
                </a:lnTo>
                <a:lnTo>
                  <a:pt x="830894" y="414327"/>
                </a:lnTo>
                <a:close/>
              </a:path>
              <a:path w="1396364" h="725804">
                <a:moveTo>
                  <a:pt x="932788" y="466118"/>
                </a:moveTo>
                <a:lnTo>
                  <a:pt x="924187" y="468922"/>
                </a:lnTo>
                <a:lnTo>
                  <a:pt x="917036" y="482990"/>
                </a:lnTo>
                <a:lnTo>
                  <a:pt x="919840" y="491591"/>
                </a:lnTo>
                <a:lnTo>
                  <a:pt x="984855" y="524638"/>
                </a:lnTo>
                <a:lnTo>
                  <a:pt x="993456" y="521833"/>
                </a:lnTo>
                <a:lnTo>
                  <a:pt x="1000607" y="507765"/>
                </a:lnTo>
                <a:lnTo>
                  <a:pt x="997803" y="499164"/>
                </a:lnTo>
                <a:lnTo>
                  <a:pt x="932788" y="466118"/>
                </a:lnTo>
                <a:close/>
              </a:path>
              <a:path w="1396364" h="725804">
                <a:moveTo>
                  <a:pt x="1034681" y="517909"/>
                </a:moveTo>
                <a:lnTo>
                  <a:pt x="1026079" y="520713"/>
                </a:lnTo>
                <a:lnTo>
                  <a:pt x="1018929" y="534781"/>
                </a:lnTo>
                <a:lnTo>
                  <a:pt x="1021732" y="543382"/>
                </a:lnTo>
                <a:lnTo>
                  <a:pt x="1086747" y="576428"/>
                </a:lnTo>
                <a:lnTo>
                  <a:pt x="1095349" y="573624"/>
                </a:lnTo>
                <a:lnTo>
                  <a:pt x="1102499" y="559556"/>
                </a:lnTo>
                <a:lnTo>
                  <a:pt x="1099695" y="550955"/>
                </a:lnTo>
                <a:lnTo>
                  <a:pt x="1034681" y="517909"/>
                </a:lnTo>
                <a:close/>
              </a:path>
              <a:path w="1396364" h="725804">
                <a:moveTo>
                  <a:pt x="1136573" y="569700"/>
                </a:moveTo>
                <a:lnTo>
                  <a:pt x="1127973" y="572504"/>
                </a:lnTo>
                <a:lnTo>
                  <a:pt x="1120821" y="586572"/>
                </a:lnTo>
                <a:lnTo>
                  <a:pt x="1123626" y="595173"/>
                </a:lnTo>
                <a:lnTo>
                  <a:pt x="1188641" y="628219"/>
                </a:lnTo>
                <a:lnTo>
                  <a:pt x="1197241" y="625416"/>
                </a:lnTo>
                <a:lnTo>
                  <a:pt x="1204393" y="611347"/>
                </a:lnTo>
                <a:lnTo>
                  <a:pt x="1201588" y="602746"/>
                </a:lnTo>
                <a:lnTo>
                  <a:pt x="1136573" y="569700"/>
                </a:lnTo>
                <a:close/>
              </a:path>
              <a:path w="1396364" h="725804">
                <a:moveTo>
                  <a:pt x="1238467" y="621491"/>
                </a:moveTo>
                <a:lnTo>
                  <a:pt x="1229866" y="624295"/>
                </a:lnTo>
                <a:lnTo>
                  <a:pt x="1222715" y="638363"/>
                </a:lnTo>
                <a:lnTo>
                  <a:pt x="1225519" y="646964"/>
                </a:lnTo>
                <a:lnTo>
                  <a:pt x="1290534" y="680010"/>
                </a:lnTo>
                <a:lnTo>
                  <a:pt x="1299135" y="677206"/>
                </a:lnTo>
                <a:lnTo>
                  <a:pt x="1306286" y="663138"/>
                </a:lnTo>
                <a:lnTo>
                  <a:pt x="1303482" y="654537"/>
                </a:lnTo>
                <a:lnTo>
                  <a:pt x="1238467" y="621491"/>
                </a:lnTo>
                <a:close/>
              </a:path>
              <a:path w="1396364" h="725804">
                <a:moveTo>
                  <a:pt x="1340360" y="673282"/>
                </a:moveTo>
                <a:lnTo>
                  <a:pt x="1331758" y="676086"/>
                </a:lnTo>
                <a:lnTo>
                  <a:pt x="1324608" y="690154"/>
                </a:lnTo>
                <a:lnTo>
                  <a:pt x="1327412" y="698755"/>
                </a:lnTo>
                <a:lnTo>
                  <a:pt x="1380435" y="725706"/>
                </a:lnTo>
                <a:lnTo>
                  <a:pt x="1389037" y="722902"/>
                </a:lnTo>
                <a:lnTo>
                  <a:pt x="1396187" y="708834"/>
                </a:lnTo>
                <a:lnTo>
                  <a:pt x="1393383" y="700233"/>
                </a:lnTo>
                <a:lnTo>
                  <a:pt x="1340360" y="673282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46710" y="5059823"/>
            <a:ext cx="416559" cy="729615"/>
          </a:xfrm>
          <a:custGeom>
            <a:avLst/>
            <a:gdLst/>
            <a:ahLst/>
            <a:cxnLst/>
            <a:rect l="l" t="t" r="r" b="b"/>
            <a:pathLst>
              <a:path w="416560" h="729614">
                <a:moveTo>
                  <a:pt x="361645" y="67784"/>
                </a:moveTo>
                <a:lnTo>
                  <a:pt x="0" y="712728"/>
                </a:lnTo>
                <a:lnTo>
                  <a:pt x="2449" y="721436"/>
                </a:lnTo>
                <a:lnTo>
                  <a:pt x="16215" y="729155"/>
                </a:lnTo>
                <a:lnTo>
                  <a:pt x="24923" y="726704"/>
                </a:lnTo>
                <a:lnTo>
                  <a:pt x="386569" y="81760"/>
                </a:lnTo>
                <a:lnTo>
                  <a:pt x="361645" y="67784"/>
                </a:lnTo>
                <a:close/>
              </a:path>
              <a:path w="416560" h="729614">
                <a:moveTo>
                  <a:pt x="413852" y="45989"/>
                </a:moveTo>
                <a:lnTo>
                  <a:pt x="381200" y="45989"/>
                </a:lnTo>
                <a:lnTo>
                  <a:pt x="394964" y="53708"/>
                </a:lnTo>
                <a:lnTo>
                  <a:pt x="397416" y="62416"/>
                </a:lnTo>
                <a:lnTo>
                  <a:pt x="386569" y="81760"/>
                </a:lnTo>
                <a:lnTo>
                  <a:pt x="411492" y="95736"/>
                </a:lnTo>
                <a:lnTo>
                  <a:pt x="413852" y="45989"/>
                </a:lnTo>
                <a:close/>
              </a:path>
              <a:path w="416560" h="729614">
                <a:moveTo>
                  <a:pt x="381200" y="45989"/>
                </a:moveTo>
                <a:lnTo>
                  <a:pt x="372492" y="48440"/>
                </a:lnTo>
                <a:lnTo>
                  <a:pt x="361645" y="67784"/>
                </a:lnTo>
                <a:lnTo>
                  <a:pt x="386569" y="81760"/>
                </a:lnTo>
                <a:lnTo>
                  <a:pt x="397416" y="62416"/>
                </a:lnTo>
                <a:lnTo>
                  <a:pt x="394964" y="53708"/>
                </a:lnTo>
                <a:lnTo>
                  <a:pt x="381200" y="45989"/>
                </a:lnTo>
                <a:close/>
              </a:path>
              <a:path w="416560" h="729614">
                <a:moveTo>
                  <a:pt x="416034" y="0"/>
                </a:moveTo>
                <a:lnTo>
                  <a:pt x="336721" y="53808"/>
                </a:lnTo>
                <a:lnTo>
                  <a:pt x="361645" y="67784"/>
                </a:lnTo>
                <a:lnTo>
                  <a:pt x="372492" y="48440"/>
                </a:lnTo>
                <a:lnTo>
                  <a:pt x="381200" y="45989"/>
                </a:lnTo>
                <a:lnTo>
                  <a:pt x="413852" y="45989"/>
                </a:lnTo>
                <a:lnTo>
                  <a:pt x="416034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8108" y="2263140"/>
            <a:ext cx="8147050" cy="3710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9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600" spc="-10">
                <a:latin typeface="Calibri"/>
                <a:cs typeface="Calibri"/>
              </a:rPr>
              <a:t>: </a:t>
            </a:r>
            <a:r>
              <a:rPr dirty="0" sz="2600">
                <a:latin typeface="Calibri"/>
                <a:cs typeface="Calibri"/>
              </a:rPr>
              <a:t>My </a:t>
            </a:r>
            <a:r>
              <a:rPr dirty="0" sz="2600" spc="-10">
                <a:latin typeface="Calibri"/>
                <a:cs typeface="Calibri"/>
              </a:rPr>
              <a:t>mother’s </a:t>
            </a:r>
            <a:r>
              <a:rPr dirty="0" sz="2600" spc="-5">
                <a:latin typeface="Calibri"/>
                <a:cs typeface="Calibri"/>
              </a:rPr>
              <a:t>husband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25">
                <a:latin typeface="Calibri"/>
                <a:cs typeface="Calibri"/>
              </a:rPr>
              <a:t>my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55">
                <a:latin typeface="Calibri"/>
                <a:cs typeface="Calibri"/>
              </a:rPr>
              <a:t>father.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000" spc="-10" b="1">
                <a:solidFill>
                  <a:srgbClr val="FF0000"/>
                </a:solidFill>
                <a:latin typeface="Calibri"/>
                <a:cs typeface="Calibri"/>
              </a:rPr>
              <a:t>cannot </a:t>
            </a:r>
            <a:r>
              <a:rPr dirty="0" sz="3000" spc="-5">
                <a:latin typeface="Calibri"/>
                <a:cs typeface="Calibri"/>
              </a:rPr>
              <a:t>model composition </a:t>
            </a:r>
            <a:r>
              <a:rPr dirty="0" sz="3000" spc="-15">
                <a:latin typeface="Calibri"/>
                <a:cs typeface="Calibri"/>
              </a:rPr>
              <a:t>relations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 spc="229">
                <a:solidFill>
                  <a:srgbClr val="FF0000"/>
                </a:solidFill>
                <a:latin typeface="Arial"/>
                <a:cs typeface="Arial"/>
              </a:rPr>
              <a:t>û</a:t>
            </a:r>
            <a:endParaRPr sz="3000">
              <a:latin typeface="Arial"/>
              <a:cs typeface="Arial"/>
            </a:endParaRPr>
          </a:p>
          <a:p>
            <a:pPr lvl="1" marL="625475" marR="5080" indent="-274320">
              <a:lnSpc>
                <a:spcPct val="897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Intuition: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2600" spc="-10">
                <a:latin typeface="Calibri"/>
                <a:cs typeface="Calibri"/>
              </a:rPr>
              <a:t>defines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hyperplane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5">
                <a:latin typeface="Calibri"/>
                <a:cs typeface="Calibri"/>
              </a:rPr>
              <a:t>each </a:t>
            </a:r>
            <a:r>
              <a:rPr dirty="0" sz="2600" spc="-90">
                <a:latin typeface="Calibri"/>
                <a:cs typeface="Calibri"/>
              </a:rPr>
              <a:t>(head,  </a:t>
            </a:r>
            <a:r>
              <a:rPr dirty="0" sz="2600" spc="-10">
                <a:latin typeface="Calibri"/>
                <a:cs typeface="Calibri"/>
              </a:rPr>
              <a:t>relation), </a:t>
            </a:r>
            <a:r>
              <a:rPr dirty="0" sz="2600" spc="-5">
                <a:latin typeface="Calibri"/>
                <a:cs typeface="Calibri"/>
              </a:rPr>
              <a:t>the union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hyperplane </a:t>
            </a:r>
            <a:r>
              <a:rPr dirty="0" sz="2600" spc="-5">
                <a:latin typeface="Calibri"/>
                <a:cs typeface="Calibri"/>
              </a:rPr>
              <a:t>induced </a:t>
            </a:r>
            <a:r>
              <a:rPr dirty="0" sz="2600" spc="-10">
                <a:latin typeface="Calibri"/>
                <a:cs typeface="Calibri"/>
              </a:rPr>
              <a:t>by </a:t>
            </a:r>
            <a:r>
              <a:rPr dirty="0" sz="2600" spc="-5">
                <a:latin typeface="Calibri"/>
                <a:cs typeface="Calibri"/>
              </a:rPr>
              <a:t>multi-  </a:t>
            </a:r>
            <a:r>
              <a:rPr dirty="0" sz="2600" spc="-10">
                <a:latin typeface="Calibri"/>
                <a:cs typeface="Calibri"/>
              </a:rPr>
              <a:t>hops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10">
                <a:latin typeface="Calibri"/>
                <a:cs typeface="Calibri"/>
              </a:rPr>
              <a:t>relations, </a:t>
            </a:r>
            <a:r>
              <a:rPr dirty="0" sz="2600">
                <a:latin typeface="Calibri"/>
                <a:cs typeface="Calibri"/>
              </a:rPr>
              <a:t>e.g., </a:t>
            </a:r>
            <a:r>
              <a:rPr dirty="0" sz="2600" spc="100">
                <a:latin typeface="Cambria Math"/>
                <a:cs typeface="Cambria Math"/>
              </a:rPr>
              <a:t>(𝑟</a:t>
            </a:r>
            <a:r>
              <a:rPr dirty="0" baseline="-16081" sz="2850" spc="150">
                <a:latin typeface="Cambria Math"/>
                <a:cs typeface="Cambria Math"/>
              </a:rPr>
              <a:t>.</a:t>
            </a:r>
            <a:r>
              <a:rPr dirty="0" sz="2600" spc="100">
                <a:latin typeface="Cambria Math"/>
                <a:cs typeface="Cambria Math"/>
              </a:rPr>
              <a:t>, </a:t>
            </a:r>
            <a:r>
              <a:rPr dirty="0" sz="2600" spc="-15">
                <a:latin typeface="Cambria Math"/>
                <a:cs typeface="Cambria Math"/>
              </a:rPr>
              <a:t>𝑟</a:t>
            </a:r>
            <a:r>
              <a:rPr dirty="0" baseline="-16081" sz="2850" spc="-22">
                <a:latin typeface="Cambria Math"/>
                <a:cs typeface="Cambria Math"/>
              </a:rPr>
              <a:t>/</a:t>
            </a:r>
            <a:r>
              <a:rPr dirty="0" sz="2600" spc="-15">
                <a:latin typeface="Cambria Math"/>
                <a:cs typeface="Cambria Math"/>
              </a:rPr>
              <a:t>)</a:t>
            </a:r>
            <a:r>
              <a:rPr dirty="0" sz="2600" spc="-15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cannot </a:t>
            </a:r>
            <a:r>
              <a:rPr dirty="0" sz="2600" spc="-5">
                <a:latin typeface="Calibri"/>
                <a:cs typeface="Calibri"/>
              </a:rPr>
              <a:t>be </a:t>
            </a:r>
            <a:r>
              <a:rPr dirty="0" sz="2600" spc="-15">
                <a:latin typeface="Calibri"/>
                <a:cs typeface="Calibri"/>
              </a:rPr>
              <a:t>expressed  </a:t>
            </a:r>
            <a:r>
              <a:rPr dirty="0" sz="2600" spc="-5">
                <a:latin typeface="Calibri"/>
                <a:cs typeface="Calibri"/>
              </a:rPr>
              <a:t>using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single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hyperplane.</a:t>
            </a:r>
            <a:endParaRPr sz="2600">
              <a:latin typeface="Calibri"/>
              <a:cs typeface="Calibri"/>
            </a:endParaRPr>
          </a:p>
          <a:p>
            <a:pPr algn="ctr" marL="1224915">
              <a:lnSpc>
                <a:spcPct val="100000"/>
              </a:lnSpc>
              <a:spcBef>
                <a:spcPts val="1320"/>
              </a:spcBef>
            </a:pPr>
            <a:r>
              <a:rPr dirty="0" sz="2500" spc="-254">
                <a:solidFill>
                  <a:srgbClr val="B48200"/>
                </a:solidFill>
                <a:latin typeface="Cambria Math"/>
                <a:cs typeface="Cambria Math"/>
              </a:rPr>
              <a:t>𝐫</a:t>
            </a:r>
            <a:r>
              <a:rPr dirty="0" baseline="-15432" sz="2700" spc="-382">
                <a:solidFill>
                  <a:srgbClr val="B48200"/>
                </a:solidFill>
                <a:latin typeface="Cambria Math"/>
                <a:cs typeface="Cambria Math"/>
              </a:rPr>
              <a:t>+</a:t>
            </a:r>
            <a:endParaRPr baseline="-15432" sz="27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00">
              <a:latin typeface="Times New Roman"/>
              <a:cs typeface="Times New Roman"/>
            </a:endParaRPr>
          </a:p>
          <a:p>
            <a:pPr algn="ctr" marL="1801495">
              <a:lnSpc>
                <a:spcPct val="100000"/>
              </a:lnSpc>
            </a:pPr>
            <a:r>
              <a:rPr dirty="0" sz="2500" spc="25">
                <a:solidFill>
                  <a:srgbClr val="CF5B1B"/>
                </a:solidFill>
                <a:latin typeface="Cambria Math"/>
                <a:cs typeface="Cambria Math"/>
              </a:rPr>
              <a:t>𝐫</a:t>
            </a:r>
            <a:r>
              <a:rPr dirty="0" baseline="-16975" sz="2700" spc="37">
                <a:solidFill>
                  <a:srgbClr val="CF5B1B"/>
                </a:solidFill>
                <a:latin typeface="Cambria Math"/>
                <a:cs typeface="Cambria Math"/>
              </a:rPr>
              <a:t>*</a:t>
            </a:r>
            <a:endParaRPr baseline="-16975" sz="2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46966" y="5737708"/>
            <a:ext cx="858519" cy="314960"/>
          </a:xfrm>
          <a:custGeom>
            <a:avLst/>
            <a:gdLst/>
            <a:ahLst/>
            <a:cxnLst/>
            <a:rect l="l" t="t" r="r" b="b"/>
            <a:pathLst>
              <a:path w="858520" h="314960">
                <a:moveTo>
                  <a:pt x="772132" y="287484"/>
                </a:moveTo>
                <a:lnTo>
                  <a:pt x="762957" y="314546"/>
                </a:lnTo>
                <a:lnTo>
                  <a:pt x="857906" y="301478"/>
                </a:lnTo>
                <a:lnTo>
                  <a:pt x="851104" y="294606"/>
                </a:lnTo>
                <a:lnTo>
                  <a:pt x="793137" y="294606"/>
                </a:lnTo>
                <a:lnTo>
                  <a:pt x="772132" y="287484"/>
                </a:lnTo>
                <a:close/>
              </a:path>
              <a:path w="858520" h="314960">
                <a:moveTo>
                  <a:pt x="781307" y="260422"/>
                </a:moveTo>
                <a:lnTo>
                  <a:pt x="772132" y="287484"/>
                </a:lnTo>
                <a:lnTo>
                  <a:pt x="793137" y="294606"/>
                </a:lnTo>
                <a:lnTo>
                  <a:pt x="801249" y="290601"/>
                </a:lnTo>
                <a:lnTo>
                  <a:pt x="806316" y="275656"/>
                </a:lnTo>
                <a:lnTo>
                  <a:pt x="802312" y="267544"/>
                </a:lnTo>
                <a:lnTo>
                  <a:pt x="781307" y="260422"/>
                </a:lnTo>
                <a:close/>
              </a:path>
              <a:path w="858520" h="314960">
                <a:moveTo>
                  <a:pt x="790482" y="233360"/>
                </a:moveTo>
                <a:lnTo>
                  <a:pt x="781307" y="260422"/>
                </a:lnTo>
                <a:lnTo>
                  <a:pt x="802312" y="267544"/>
                </a:lnTo>
                <a:lnTo>
                  <a:pt x="806316" y="275656"/>
                </a:lnTo>
                <a:lnTo>
                  <a:pt x="801249" y="290601"/>
                </a:lnTo>
                <a:lnTo>
                  <a:pt x="793137" y="294606"/>
                </a:lnTo>
                <a:lnTo>
                  <a:pt x="851104" y="294606"/>
                </a:lnTo>
                <a:lnTo>
                  <a:pt x="790482" y="233360"/>
                </a:lnTo>
                <a:close/>
              </a:path>
              <a:path w="858520" h="314960">
                <a:moveTo>
                  <a:pt x="13178" y="0"/>
                </a:moveTo>
                <a:lnTo>
                  <a:pt x="5067" y="4004"/>
                </a:lnTo>
                <a:lnTo>
                  <a:pt x="0" y="18950"/>
                </a:lnTo>
                <a:lnTo>
                  <a:pt x="4004" y="27061"/>
                </a:lnTo>
                <a:lnTo>
                  <a:pt x="772132" y="287484"/>
                </a:lnTo>
                <a:lnTo>
                  <a:pt x="781307" y="260422"/>
                </a:lnTo>
                <a:lnTo>
                  <a:pt x="1317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85679" y="4500778"/>
            <a:ext cx="714375" cy="2096135"/>
          </a:xfrm>
          <a:custGeom>
            <a:avLst/>
            <a:gdLst/>
            <a:ahLst/>
            <a:cxnLst/>
            <a:rect l="l" t="t" r="r" b="b"/>
            <a:pathLst>
              <a:path w="714375" h="2096134">
                <a:moveTo>
                  <a:pt x="695264" y="0"/>
                </a:moveTo>
                <a:lnTo>
                  <a:pt x="687183" y="4065"/>
                </a:lnTo>
                <a:lnTo>
                  <a:pt x="664293" y="73312"/>
                </a:lnTo>
                <a:lnTo>
                  <a:pt x="668360" y="81393"/>
                </a:lnTo>
                <a:lnTo>
                  <a:pt x="683343" y="86346"/>
                </a:lnTo>
                <a:lnTo>
                  <a:pt x="691424" y="82280"/>
                </a:lnTo>
                <a:lnTo>
                  <a:pt x="714314" y="13034"/>
                </a:lnTo>
                <a:lnTo>
                  <a:pt x="710248" y="4953"/>
                </a:lnTo>
                <a:lnTo>
                  <a:pt x="695264" y="0"/>
                </a:lnTo>
                <a:close/>
              </a:path>
              <a:path w="714375" h="2096134">
                <a:moveTo>
                  <a:pt x="659391" y="108524"/>
                </a:moveTo>
                <a:lnTo>
                  <a:pt x="651310" y="112590"/>
                </a:lnTo>
                <a:lnTo>
                  <a:pt x="628421" y="181837"/>
                </a:lnTo>
                <a:lnTo>
                  <a:pt x="632487" y="189918"/>
                </a:lnTo>
                <a:lnTo>
                  <a:pt x="647472" y="194871"/>
                </a:lnTo>
                <a:lnTo>
                  <a:pt x="655553" y="190804"/>
                </a:lnTo>
                <a:lnTo>
                  <a:pt x="678441" y="121558"/>
                </a:lnTo>
                <a:lnTo>
                  <a:pt x="674376" y="113477"/>
                </a:lnTo>
                <a:lnTo>
                  <a:pt x="659391" y="108524"/>
                </a:lnTo>
                <a:close/>
              </a:path>
              <a:path w="714375" h="2096134">
                <a:moveTo>
                  <a:pt x="623519" y="217049"/>
                </a:moveTo>
                <a:lnTo>
                  <a:pt x="615438" y="221115"/>
                </a:lnTo>
                <a:lnTo>
                  <a:pt x="592550" y="290362"/>
                </a:lnTo>
                <a:lnTo>
                  <a:pt x="596615" y="298443"/>
                </a:lnTo>
                <a:lnTo>
                  <a:pt x="611600" y="303396"/>
                </a:lnTo>
                <a:lnTo>
                  <a:pt x="619681" y="299330"/>
                </a:lnTo>
                <a:lnTo>
                  <a:pt x="642570" y="230083"/>
                </a:lnTo>
                <a:lnTo>
                  <a:pt x="638503" y="222002"/>
                </a:lnTo>
                <a:lnTo>
                  <a:pt x="623519" y="217049"/>
                </a:lnTo>
                <a:close/>
              </a:path>
              <a:path w="714375" h="2096134">
                <a:moveTo>
                  <a:pt x="587648" y="325574"/>
                </a:moveTo>
                <a:lnTo>
                  <a:pt x="579567" y="329639"/>
                </a:lnTo>
                <a:lnTo>
                  <a:pt x="556677" y="398886"/>
                </a:lnTo>
                <a:lnTo>
                  <a:pt x="560743" y="406967"/>
                </a:lnTo>
                <a:lnTo>
                  <a:pt x="575727" y="411920"/>
                </a:lnTo>
                <a:lnTo>
                  <a:pt x="583808" y="407855"/>
                </a:lnTo>
                <a:lnTo>
                  <a:pt x="606698" y="338608"/>
                </a:lnTo>
                <a:lnTo>
                  <a:pt x="602631" y="330527"/>
                </a:lnTo>
                <a:lnTo>
                  <a:pt x="587648" y="325574"/>
                </a:lnTo>
                <a:close/>
              </a:path>
              <a:path w="714375" h="2096134">
                <a:moveTo>
                  <a:pt x="551775" y="434099"/>
                </a:moveTo>
                <a:lnTo>
                  <a:pt x="543694" y="438165"/>
                </a:lnTo>
                <a:lnTo>
                  <a:pt x="520805" y="507411"/>
                </a:lnTo>
                <a:lnTo>
                  <a:pt x="524870" y="515493"/>
                </a:lnTo>
                <a:lnTo>
                  <a:pt x="539855" y="520446"/>
                </a:lnTo>
                <a:lnTo>
                  <a:pt x="547936" y="516380"/>
                </a:lnTo>
                <a:lnTo>
                  <a:pt x="570825" y="447133"/>
                </a:lnTo>
                <a:lnTo>
                  <a:pt x="566759" y="439052"/>
                </a:lnTo>
                <a:lnTo>
                  <a:pt x="551775" y="434099"/>
                </a:lnTo>
                <a:close/>
              </a:path>
              <a:path w="714375" h="2096134">
                <a:moveTo>
                  <a:pt x="515903" y="542624"/>
                </a:moveTo>
                <a:lnTo>
                  <a:pt x="507822" y="546690"/>
                </a:lnTo>
                <a:lnTo>
                  <a:pt x="484932" y="615937"/>
                </a:lnTo>
                <a:lnTo>
                  <a:pt x="488999" y="624018"/>
                </a:lnTo>
                <a:lnTo>
                  <a:pt x="503982" y="628971"/>
                </a:lnTo>
                <a:lnTo>
                  <a:pt x="512063" y="624904"/>
                </a:lnTo>
                <a:lnTo>
                  <a:pt x="534953" y="555658"/>
                </a:lnTo>
                <a:lnTo>
                  <a:pt x="530887" y="547577"/>
                </a:lnTo>
                <a:lnTo>
                  <a:pt x="515903" y="542624"/>
                </a:lnTo>
                <a:close/>
              </a:path>
              <a:path w="714375" h="2096134">
                <a:moveTo>
                  <a:pt x="480030" y="651149"/>
                </a:moveTo>
                <a:lnTo>
                  <a:pt x="471949" y="655215"/>
                </a:lnTo>
                <a:lnTo>
                  <a:pt x="449060" y="724462"/>
                </a:lnTo>
                <a:lnTo>
                  <a:pt x="453127" y="732543"/>
                </a:lnTo>
                <a:lnTo>
                  <a:pt x="468110" y="737496"/>
                </a:lnTo>
                <a:lnTo>
                  <a:pt x="476191" y="733430"/>
                </a:lnTo>
                <a:lnTo>
                  <a:pt x="499080" y="664183"/>
                </a:lnTo>
                <a:lnTo>
                  <a:pt x="495015" y="656102"/>
                </a:lnTo>
                <a:lnTo>
                  <a:pt x="480030" y="651149"/>
                </a:lnTo>
                <a:close/>
              </a:path>
              <a:path w="714375" h="2096134">
                <a:moveTo>
                  <a:pt x="444158" y="759674"/>
                </a:moveTo>
                <a:lnTo>
                  <a:pt x="436077" y="763739"/>
                </a:lnTo>
                <a:lnTo>
                  <a:pt x="413188" y="832986"/>
                </a:lnTo>
                <a:lnTo>
                  <a:pt x="417254" y="841067"/>
                </a:lnTo>
                <a:lnTo>
                  <a:pt x="432238" y="846020"/>
                </a:lnTo>
                <a:lnTo>
                  <a:pt x="440320" y="841955"/>
                </a:lnTo>
                <a:lnTo>
                  <a:pt x="463208" y="772708"/>
                </a:lnTo>
                <a:lnTo>
                  <a:pt x="459143" y="764627"/>
                </a:lnTo>
                <a:lnTo>
                  <a:pt x="444158" y="759674"/>
                </a:lnTo>
                <a:close/>
              </a:path>
              <a:path w="714375" h="2096134">
                <a:moveTo>
                  <a:pt x="408285" y="868199"/>
                </a:moveTo>
                <a:lnTo>
                  <a:pt x="400204" y="872265"/>
                </a:lnTo>
                <a:lnTo>
                  <a:pt x="377315" y="941511"/>
                </a:lnTo>
                <a:lnTo>
                  <a:pt x="381382" y="949592"/>
                </a:lnTo>
                <a:lnTo>
                  <a:pt x="396367" y="954545"/>
                </a:lnTo>
                <a:lnTo>
                  <a:pt x="404448" y="950480"/>
                </a:lnTo>
                <a:lnTo>
                  <a:pt x="427337" y="881233"/>
                </a:lnTo>
                <a:lnTo>
                  <a:pt x="423270" y="873152"/>
                </a:lnTo>
                <a:lnTo>
                  <a:pt x="408285" y="868199"/>
                </a:lnTo>
                <a:close/>
              </a:path>
              <a:path w="714375" h="2096134">
                <a:moveTo>
                  <a:pt x="372414" y="976723"/>
                </a:moveTo>
                <a:lnTo>
                  <a:pt x="364333" y="980790"/>
                </a:lnTo>
                <a:lnTo>
                  <a:pt x="341444" y="1050037"/>
                </a:lnTo>
                <a:lnTo>
                  <a:pt x="345509" y="1058118"/>
                </a:lnTo>
                <a:lnTo>
                  <a:pt x="360494" y="1063071"/>
                </a:lnTo>
                <a:lnTo>
                  <a:pt x="368575" y="1059004"/>
                </a:lnTo>
                <a:lnTo>
                  <a:pt x="391464" y="989757"/>
                </a:lnTo>
                <a:lnTo>
                  <a:pt x="387398" y="981676"/>
                </a:lnTo>
                <a:lnTo>
                  <a:pt x="372414" y="976723"/>
                </a:lnTo>
                <a:close/>
              </a:path>
              <a:path w="714375" h="2096134">
                <a:moveTo>
                  <a:pt x="336542" y="1085249"/>
                </a:moveTo>
                <a:lnTo>
                  <a:pt x="328461" y="1089315"/>
                </a:lnTo>
                <a:lnTo>
                  <a:pt x="305572" y="1158562"/>
                </a:lnTo>
                <a:lnTo>
                  <a:pt x="309637" y="1166643"/>
                </a:lnTo>
                <a:lnTo>
                  <a:pt x="324622" y="1171596"/>
                </a:lnTo>
                <a:lnTo>
                  <a:pt x="332703" y="1167530"/>
                </a:lnTo>
                <a:lnTo>
                  <a:pt x="355592" y="1098283"/>
                </a:lnTo>
                <a:lnTo>
                  <a:pt x="351525" y="1090202"/>
                </a:lnTo>
                <a:lnTo>
                  <a:pt x="336542" y="1085249"/>
                </a:lnTo>
                <a:close/>
              </a:path>
              <a:path w="714375" h="2096134">
                <a:moveTo>
                  <a:pt x="300669" y="1193774"/>
                </a:moveTo>
                <a:lnTo>
                  <a:pt x="292588" y="1197840"/>
                </a:lnTo>
                <a:lnTo>
                  <a:pt x="269699" y="1267087"/>
                </a:lnTo>
                <a:lnTo>
                  <a:pt x="273766" y="1275168"/>
                </a:lnTo>
                <a:lnTo>
                  <a:pt x="288749" y="1280121"/>
                </a:lnTo>
                <a:lnTo>
                  <a:pt x="296830" y="1276055"/>
                </a:lnTo>
                <a:lnTo>
                  <a:pt x="319719" y="1206808"/>
                </a:lnTo>
                <a:lnTo>
                  <a:pt x="315653" y="1198727"/>
                </a:lnTo>
                <a:lnTo>
                  <a:pt x="300669" y="1193774"/>
                </a:lnTo>
                <a:close/>
              </a:path>
              <a:path w="714375" h="2096134">
                <a:moveTo>
                  <a:pt x="264797" y="1302299"/>
                </a:moveTo>
                <a:lnTo>
                  <a:pt x="256716" y="1306365"/>
                </a:lnTo>
                <a:lnTo>
                  <a:pt x="233827" y="1375612"/>
                </a:lnTo>
                <a:lnTo>
                  <a:pt x="237893" y="1383693"/>
                </a:lnTo>
                <a:lnTo>
                  <a:pt x="252877" y="1388646"/>
                </a:lnTo>
                <a:lnTo>
                  <a:pt x="260958" y="1384580"/>
                </a:lnTo>
                <a:lnTo>
                  <a:pt x="283847" y="1315333"/>
                </a:lnTo>
                <a:lnTo>
                  <a:pt x="279782" y="1307252"/>
                </a:lnTo>
                <a:lnTo>
                  <a:pt x="264797" y="1302299"/>
                </a:lnTo>
                <a:close/>
              </a:path>
              <a:path w="714375" h="2096134">
                <a:moveTo>
                  <a:pt x="228925" y="1410824"/>
                </a:moveTo>
                <a:lnTo>
                  <a:pt x="220844" y="1414890"/>
                </a:lnTo>
                <a:lnTo>
                  <a:pt x="197954" y="1484137"/>
                </a:lnTo>
                <a:lnTo>
                  <a:pt x="202021" y="1492218"/>
                </a:lnTo>
                <a:lnTo>
                  <a:pt x="217004" y="1497171"/>
                </a:lnTo>
                <a:lnTo>
                  <a:pt x="225085" y="1493105"/>
                </a:lnTo>
                <a:lnTo>
                  <a:pt x="247975" y="1423858"/>
                </a:lnTo>
                <a:lnTo>
                  <a:pt x="243909" y="1415777"/>
                </a:lnTo>
                <a:lnTo>
                  <a:pt x="228925" y="1410824"/>
                </a:lnTo>
                <a:close/>
              </a:path>
              <a:path w="714375" h="2096134">
                <a:moveTo>
                  <a:pt x="193052" y="1519349"/>
                </a:moveTo>
                <a:lnTo>
                  <a:pt x="184971" y="1523415"/>
                </a:lnTo>
                <a:lnTo>
                  <a:pt x="162082" y="1592662"/>
                </a:lnTo>
                <a:lnTo>
                  <a:pt x="166149" y="1600743"/>
                </a:lnTo>
                <a:lnTo>
                  <a:pt x="181133" y="1605696"/>
                </a:lnTo>
                <a:lnTo>
                  <a:pt x="189214" y="1601630"/>
                </a:lnTo>
                <a:lnTo>
                  <a:pt x="212103" y="1532383"/>
                </a:lnTo>
                <a:lnTo>
                  <a:pt x="208037" y="1524302"/>
                </a:lnTo>
                <a:lnTo>
                  <a:pt x="193052" y="1519349"/>
                </a:lnTo>
                <a:close/>
              </a:path>
              <a:path w="714375" h="2096134">
                <a:moveTo>
                  <a:pt x="157181" y="1627874"/>
                </a:moveTo>
                <a:lnTo>
                  <a:pt x="149099" y="1631940"/>
                </a:lnTo>
                <a:lnTo>
                  <a:pt x="126211" y="1701187"/>
                </a:lnTo>
                <a:lnTo>
                  <a:pt x="130276" y="1709268"/>
                </a:lnTo>
                <a:lnTo>
                  <a:pt x="145261" y="1714221"/>
                </a:lnTo>
                <a:lnTo>
                  <a:pt x="153342" y="1710155"/>
                </a:lnTo>
                <a:lnTo>
                  <a:pt x="176231" y="1640908"/>
                </a:lnTo>
                <a:lnTo>
                  <a:pt x="172165" y="1632827"/>
                </a:lnTo>
                <a:lnTo>
                  <a:pt x="157181" y="1627874"/>
                </a:lnTo>
                <a:close/>
              </a:path>
              <a:path w="714375" h="2096134">
                <a:moveTo>
                  <a:pt x="121309" y="1736399"/>
                </a:moveTo>
                <a:lnTo>
                  <a:pt x="113228" y="1740465"/>
                </a:lnTo>
                <a:lnTo>
                  <a:pt x="90338" y="1809712"/>
                </a:lnTo>
                <a:lnTo>
                  <a:pt x="94404" y="1817793"/>
                </a:lnTo>
                <a:lnTo>
                  <a:pt x="109388" y="1822746"/>
                </a:lnTo>
                <a:lnTo>
                  <a:pt x="117469" y="1818680"/>
                </a:lnTo>
                <a:lnTo>
                  <a:pt x="140359" y="1749433"/>
                </a:lnTo>
                <a:lnTo>
                  <a:pt x="136292" y="1741352"/>
                </a:lnTo>
                <a:lnTo>
                  <a:pt x="121309" y="1736399"/>
                </a:lnTo>
                <a:close/>
              </a:path>
              <a:path w="714375" h="2096134">
                <a:moveTo>
                  <a:pt x="85436" y="1844924"/>
                </a:moveTo>
                <a:lnTo>
                  <a:pt x="77355" y="1848990"/>
                </a:lnTo>
                <a:lnTo>
                  <a:pt x="54466" y="1918237"/>
                </a:lnTo>
                <a:lnTo>
                  <a:pt x="58531" y="1926318"/>
                </a:lnTo>
                <a:lnTo>
                  <a:pt x="73516" y="1931271"/>
                </a:lnTo>
                <a:lnTo>
                  <a:pt x="81597" y="1927205"/>
                </a:lnTo>
                <a:lnTo>
                  <a:pt x="104486" y="1857958"/>
                </a:lnTo>
                <a:lnTo>
                  <a:pt x="100420" y="1849877"/>
                </a:lnTo>
                <a:lnTo>
                  <a:pt x="85436" y="1844924"/>
                </a:lnTo>
                <a:close/>
              </a:path>
              <a:path w="714375" h="2096134">
                <a:moveTo>
                  <a:pt x="49564" y="1953449"/>
                </a:moveTo>
                <a:lnTo>
                  <a:pt x="41483" y="1957515"/>
                </a:lnTo>
                <a:lnTo>
                  <a:pt x="18594" y="2026762"/>
                </a:lnTo>
                <a:lnTo>
                  <a:pt x="22660" y="2034843"/>
                </a:lnTo>
                <a:lnTo>
                  <a:pt x="37644" y="2039796"/>
                </a:lnTo>
                <a:lnTo>
                  <a:pt x="45725" y="2035730"/>
                </a:lnTo>
                <a:lnTo>
                  <a:pt x="68614" y="1966483"/>
                </a:lnTo>
                <a:lnTo>
                  <a:pt x="64549" y="1958402"/>
                </a:lnTo>
                <a:lnTo>
                  <a:pt x="49564" y="1953449"/>
                </a:lnTo>
                <a:close/>
              </a:path>
              <a:path w="714375" h="2096134">
                <a:moveTo>
                  <a:pt x="13691" y="2061974"/>
                </a:moveTo>
                <a:lnTo>
                  <a:pt x="5610" y="2066040"/>
                </a:lnTo>
                <a:lnTo>
                  <a:pt x="0" y="2083014"/>
                </a:lnTo>
                <a:lnTo>
                  <a:pt x="4066" y="2091095"/>
                </a:lnTo>
                <a:lnTo>
                  <a:pt x="19050" y="2096048"/>
                </a:lnTo>
                <a:lnTo>
                  <a:pt x="27131" y="2091982"/>
                </a:lnTo>
                <a:lnTo>
                  <a:pt x="32741" y="2075008"/>
                </a:lnTo>
                <a:lnTo>
                  <a:pt x="28676" y="2066927"/>
                </a:lnTo>
                <a:lnTo>
                  <a:pt x="13691" y="2061974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220065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50175" cy="198564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Based on Distmult, </a:t>
            </a:r>
            <a:r>
              <a:rPr dirty="0" spc="-5">
                <a:solidFill>
                  <a:srgbClr val="00B050"/>
                </a:solidFill>
              </a:rPr>
              <a:t>ComplEx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embeds entities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10">
                <a:solidFill>
                  <a:srgbClr val="C00000"/>
                </a:solidFill>
              </a:rPr>
              <a:t>Complex </a:t>
            </a:r>
            <a:r>
              <a:rPr dirty="0" spc="-15">
                <a:solidFill>
                  <a:srgbClr val="C00000"/>
                </a:solidFill>
              </a:rPr>
              <a:t>vector</a:t>
            </a:r>
            <a:r>
              <a:rPr dirty="0" spc="-2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space</a:t>
            </a:r>
          </a:p>
          <a:p>
            <a:pPr marL="332740" marR="151765" indent="-320040">
              <a:lnSpc>
                <a:spcPts val="389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B050"/>
                </a:solidFill>
              </a:rPr>
              <a:t>ComplEx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: model entities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 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vectors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50" b="0">
                <a:solidFill>
                  <a:srgbClr val="000000"/>
                </a:solidFill>
                <a:latin typeface="Cambria Math"/>
                <a:cs typeface="Cambria Math"/>
              </a:rPr>
              <a:t>ℂ</a:t>
            </a:r>
            <a:r>
              <a:rPr dirty="0" baseline="28985" sz="3450" spc="75" b="0">
                <a:solidFill>
                  <a:srgbClr val="000000"/>
                </a:solidFill>
                <a:latin typeface="Cambria Math"/>
                <a:cs typeface="Cambria Math"/>
              </a:rPr>
              <a:t>0</a:t>
            </a:r>
            <a:endParaRPr baseline="28985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8321" y="3888004"/>
            <a:ext cx="0" cy="2204720"/>
          </a:xfrm>
          <a:custGeom>
            <a:avLst/>
            <a:gdLst/>
            <a:ahLst/>
            <a:cxnLst/>
            <a:rect l="l" t="t" r="r" b="b"/>
            <a:pathLst>
              <a:path w="0" h="2204720">
                <a:moveTo>
                  <a:pt x="0" y="0"/>
                </a:moveTo>
                <a:lnTo>
                  <a:pt x="0" y="2204333"/>
                </a:lnTo>
              </a:path>
            </a:pathLst>
          </a:custGeom>
          <a:ln w="28576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32271" y="6106625"/>
            <a:ext cx="5562600" cy="23495"/>
          </a:xfrm>
          <a:custGeom>
            <a:avLst/>
            <a:gdLst/>
            <a:ahLst/>
            <a:cxnLst/>
            <a:rect l="l" t="t" r="r" b="b"/>
            <a:pathLst>
              <a:path w="5562600" h="23495">
                <a:moveTo>
                  <a:pt x="5562600" y="0"/>
                </a:moveTo>
                <a:lnTo>
                  <a:pt x="0" y="23382"/>
                </a:lnTo>
              </a:path>
            </a:pathLst>
          </a:custGeom>
          <a:ln w="28575">
            <a:solidFill>
              <a:srgbClr val="151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82645" y="4786368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6998" y="0"/>
                </a:moveTo>
                <a:lnTo>
                  <a:pt x="16489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89" y="51878"/>
                </a:lnTo>
                <a:lnTo>
                  <a:pt x="26998" y="54000"/>
                </a:lnTo>
                <a:lnTo>
                  <a:pt x="37508" y="51878"/>
                </a:lnTo>
                <a:lnTo>
                  <a:pt x="46091" y="46092"/>
                </a:lnTo>
                <a:lnTo>
                  <a:pt x="51877" y="37510"/>
                </a:lnTo>
                <a:lnTo>
                  <a:pt x="53999" y="27000"/>
                </a:lnTo>
                <a:lnTo>
                  <a:pt x="51877" y="16490"/>
                </a:lnTo>
                <a:lnTo>
                  <a:pt x="46091" y="7908"/>
                </a:lnTo>
                <a:lnTo>
                  <a:pt x="37508" y="2121"/>
                </a:lnTo>
                <a:lnTo>
                  <a:pt x="26998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68262" y="4771987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1" y="0"/>
                </a:lnTo>
                <a:lnTo>
                  <a:pt x="26200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1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7" y="63572"/>
                </a:lnTo>
                <a:lnTo>
                  <a:pt x="24348" y="58414"/>
                </a:lnTo>
                <a:lnTo>
                  <a:pt x="19192" y="50766"/>
                </a:lnTo>
                <a:lnTo>
                  <a:pt x="17297" y="41381"/>
                </a:lnTo>
                <a:lnTo>
                  <a:pt x="19192" y="31997"/>
                </a:lnTo>
                <a:lnTo>
                  <a:pt x="24348" y="24348"/>
                </a:lnTo>
                <a:lnTo>
                  <a:pt x="31997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8" y="3605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6" y="24348"/>
                </a:lnTo>
                <a:lnTo>
                  <a:pt x="63572" y="31997"/>
                </a:lnTo>
                <a:lnTo>
                  <a:pt x="65467" y="41381"/>
                </a:lnTo>
                <a:lnTo>
                  <a:pt x="63572" y="50766"/>
                </a:lnTo>
                <a:lnTo>
                  <a:pt x="58416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4" y="58414"/>
                </a:lnTo>
                <a:lnTo>
                  <a:pt x="79210" y="58196"/>
                </a:lnTo>
                <a:lnTo>
                  <a:pt x="79893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3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6" y="24568"/>
                </a:lnTo>
                <a:lnTo>
                  <a:pt x="28465" y="28465"/>
                </a:lnTo>
                <a:lnTo>
                  <a:pt x="24568" y="34245"/>
                </a:lnTo>
                <a:lnTo>
                  <a:pt x="23127" y="41381"/>
                </a:lnTo>
                <a:lnTo>
                  <a:pt x="24568" y="48517"/>
                </a:lnTo>
                <a:lnTo>
                  <a:pt x="28465" y="54298"/>
                </a:lnTo>
                <a:lnTo>
                  <a:pt x="34246" y="58196"/>
                </a:lnTo>
                <a:lnTo>
                  <a:pt x="41381" y="59636"/>
                </a:lnTo>
                <a:lnTo>
                  <a:pt x="48517" y="58196"/>
                </a:lnTo>
                <a:lnTo>
                  <a:pt x="54298" y="54298"/>
                </a:lnTo>
                <a:lnTo>
                  <a:pt x="54631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3" y="50181"/>
                </a:lnTo>
                <a:lnTo>
                  <a:pt x="29944" y="46268"/>
                </a:lnTo>
                <a:lnTo>
                  <a:pt x="28958" y="41381"/>
                </a:lnTo>
                <a:lnTo>
                  <a:pt x="29944" y="36494"/>
                </a:lnTo>
                <a:lnTo>
                  <a:pt x="32583" y="32583"/>
                </a:lnTo>
                <a:lnTo>
                  <a:pt x="36494" y="29944"/>
                </a:lnTo>
                <a:lnTo>
                  <a:pt x="41381" y="28957"/>
                </a:lnTo>
                <a:lnTo>
                  <a:pt x="54630" y="28957"/>
                </a:lnTo>
                <a:lnTo>
                  <a:pt x="54298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30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3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31" y="53806"/>
                </a:lnTo>
                <a:lnTo>
                  <a:pt x="58196" y="48517"/>
                </a:lnTo>
                <a:lnTo>
                  <a:pt x="59636" y="41381"/>
                </a:lnTo>
                <a:lnTo>
                  <a:pt x="58196" y="34245"/>
                </a:lnTo>
                <a:lnTo>
                  <a:pt x="54630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21329" y="4832460"/>
            <a:ext cx="1569720" cy="1297305"/>
          </a:xfrm>
          <a:custGeom>
            <a:avLst/>
            <a:gdLst/>
            <a:ahLst/>
            <a:cxnLst/>
            <a:rect l="l" t="t" r="r" b="b"/>
            <a:pathLst>
              <a:path w="1569720" h="1297304">
                <a:moveTo>
                  <a:pt x="1493999" y="43523"/>
                </a:moveTo>
                <a:lnTo>
                  <a:pt x="864" y="1275033"/>
                </a:lnTo>
                <a:lnTo>
                  <a:pt x="0" y="1284038"/>
                </a:lnTo>
                <a:lnTo>
                  <a:pt x="10041" y="1296213"/>
                </a:lnTo>
                <a:lnTo>
                  <a:pt x="19046" y="1297078"/>
                </a:lnTo>
                <a:lnTo>
                  <a:pt x="1512181" y="65567"/>
                </a:lnTo>
                <a:lnTo>
                  <a:pt x="1493999" y="43523"/>
                </a:lnTo>
                <a:close/>
              </a:path>
              <a:path w="1569720" h="1297304">
                <a:moveTo>
                  <a:pt x="1556178" y="29410"/>
                </a:moveTo>
                <a:lnTo>
                  <a:pt x="1511110" y="29410"/>
                </a:lnTo>
                <a:lnTo>
                  <a:pt x="1520115" y="30275"/>
                </a:lnTo>
                <a:lnTo>
                  <a:pt x="1530156" y="42449"/>
                </a:lnTo>
                <a:lnTo>
                  <a:pt x="1529292" y="51455"/>
                </a:lnTo>
                <a:lnTo>
                  <a:pt x="1512181" y="65567"/>
                </a:lnTo>
                <a:lnTo>
                  <a:pt x="1530363" y="87612"/>
                </a:lnTo>
                <a:lnTo>
                  <a:pt x="1556178" y="29410"/>
                </a:lnTo>
                <a:close/>
              </a:path>
              <a:path w="1569720" h="1297304">
                <a:moveTo>
                  <a:pt x="1511110" y="29410"/>
                </a:moveTo>
                <a:lnTo>
                  <a:pt x="1493999" y="43523"/>
                </a:lnTo>
                <a:lnTo>
                  <a:pt x="1512181" y="65567"/>
                </a:lnTo>
                <a:lnTo>
                  <a:pt x="1529292" y="51455"/>
                </a:lnTo>
                <a:lnTo>
                  <a:pt x="1530156" y="42449"/>
                </a:lnTo>
                <a:lnTo>
                  <a:pt x="1520115" y="30275"/>
                </a:lnTo>
                <a:lnTo>
                  <a:pt x="1511110" y="29410"/>
                </a:lnTo>
                <a:close/>
              </a:path>
              <a:path w="1569720" h="1297304">
                <a:moveTo>
                  <a:pt x="1569223" y="0"/>
                </a:moveTo>
                <a:lnTo>
                  <a:pt x="1475817" y="21479"/>
                </a:lnTo>
                <a:lnTo>
                  <a:pt x="1493999" y="43523"/>
                </a:lnTo>
                <a:lnTo>
                  <a:pt x="1511110" y="29410"/>
                </a:lnTo>
                <a:lnTo>
                  <a:pt x="1556178" y="29410"/>
                </a:lnTo>
                <a:lnTo>
                  <a:pt x="1569223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881737" y="4348479"/>
            <a:ext cx="14770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latin typeface="Cambria Math"/>
                <a:cs typeface="Cambria Math"/>
              </a:rPr>
              <a:t>𝐮 = </a:t>
            </a:r>
            <a:r>
              <a:rPr dirty="0" sz="2500">
                <a:solidFill>
                  <a:srgbClr val="0000FF"/>
                </a:solidFill>
                <a:latin typeface="Cambria Math"/>
                <a:cs typeface="Cambria Math"/>
              </a:rPr>
              <a:t>𝐚 </a:t>
            </a:r>
            <a:r>
              <a:rPr dirty="0" sz="2500">
                <a:solidFill>
                  <a:srgbClr val="D9253E"/>
                </a:solidFill>
                <a:latin typeface="Cambria Math"/>
                <a:cs typeface="Cambria Math"/>
              </a:rPr>
              <a:t>+</a:t>
            </a:r>
            <a:r>
              <a:rPr dirty="0" sz="2500" spc="165">
                <a:solidFill>
                  <a:srgbClr val="D9253E"/>
                </a:solidFill>
                <a:latin typeface="Cambria Math"/>
                <a:cs typeface="Cambria Math"/>
              </a:rPr>
              <a:t> </a:t>
            </a:r>
            <a:r>
              <a:rPr dirty="0" sz="2500" spc="-5">
                <a:solidFill>
                  <a:srgbClr val="D9253E"/>
                </a:solidFill>
                <a:latin typeface="Cambria Math"/>
                <a:cs typeface="Cambria Math"/>
              </a:rPr>
              <a:t>𝐛𝑖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3176" y="3735323"/>
            <a:ext cx="9232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" b="1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dirty="0" sz="2600" b="1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2600" spc="-5">
                <a:latin typeface="Cambria Math"/>
                <a:cs typeface="Cambria Math"/>
              </a:rPr>
              <a:t>(𝐮</a:t>
            </a:r>
            <a:r>
              <a:rPr dirty="0" sz="2600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8266" y="6177279"/>
            <a:ext cx="8547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0" b="1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2500" b="1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dirty="0" sz="2500" spc="-5">
                <a:latin typeface="Cambria Math"/>
                <a:cs typeface="Cambria Math"/>
              </a:rPr>
              <a:t>(𝐮</a:t>
            </a:r>
            <a:r>
              <a:rPr dirty="0" sz="2500">
                <a:latin typeface="Cambria Math"/>
                <a:cs typeface="Cambria Math"/>
              </a:rPr>
              <a:t>)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55029" y="3455923"/>
            <a:ext cx="703580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𝐮 ∈</a:t>
            </a:r>
            <a:r>
              <a:rPr dirty="0" sz="1800" spc="105">
                <a:latin typeface="Cambria Math"/>
                <a:cs typeface="Cambria Math"/>
              </a:rPr>
              <a:t> </a:t>
            </a:r>
            <a:r>
              <a:rPr dirty="0" sz="1800" spc="250">
                <a:latin typeface="Cambria Math"/>
                <a:cs typeface="Cambria Math"/>
              </a:rPr>
              <a:t>ℂ</a:t>
            </a:r>
            <a:r>
              <a:rPr dirty="0" baseline="27777" sz="1950" spc="375">
                <a:latin typeface="Cambria Math"/>
                <a:cs typeface="Cambria Math"/>
              </a:rPr>
              <a:t>.</a:t>
            </a:r>
            <a:endParaRPr baseline="27777" sz="1950">
              <a:latin typeface="Cambria Math"/>
              <a:cs typeface="Cambria Math"/>
            </a:endParaRPr>
          </a:p>
          <a:p>
            <a:pPr marL="19050">
              <a:lnSpc>
                <a:spcPct val="100000"/>
              </a:lnSpc>
              <a:spcBef>
                <a:spcPts val="25"/>
              </a:spcBef>
            </a:pPr>
            <a:r>
              <a:rPr dirty="0" sz="1800">
                <a:latin typeface="Cambria Math"/>
                <a:cs typeface="Cambria Math"/>
              </a:rPr>
              <a:t>𝐚 ∈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 spc="250">
                <a:latin typeface="Cambria Math"/>
                <a:cs typeface="Cambria Math"/>
              </a:rPr>
              <a:t>ℝ</a:t>
            </a:r>
            <a:r>
              <a:rPr dirty="0" baseline="27777" sz="1950" spc="375">
                <a:latin typeface="Cambria Math"/>
                <a:cs typeface="Cambria Math"/>
              </a:rPr>
              <a:t>.</a:t>
            </a:r>
            <a:endParaRPr baseline="2777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latin typeface="Cambria Math"/>
                <a:cs typeface="Cambria Math"/>
              </a:rPr>
              <a:t>𝐛 ∈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 spc="250">
                <a:latin typeface="Cambria Math"/>
                <a:cs typeface="Cambria Math"/>
              </a:rPr>
              <a:t>ℝ</a:t>
            </a:r>
            <a:r>
              <a:rPr dirty="0" baseline="27777" sz="1950" spc="375">
                <a:latin typeface="Cambria Math"/>
                <a:cs typeface="Cambria Math"/>
              </a:rPr>
              <a:t>.</a:t>
            </a:r>
            <a:endParaRPr baseline="27777" sz="19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53997" y="4858049"/>
            <a:ext cx="1553845" cy="1264920"/>
          </a:xfrm>
          <a:custGeom>
            <a:avLst/>
            <a:gdLst/>
            <a:ahLst/>
            <a:cxnLst/>
            <a:rect l="l" t="t" r="r" b="b"/>
            <a:pathLst>
              <a:path w="1553845" h="1264920">
                <a:moveTo>
                  <a:pt x="1495803" y="1196480"/>
                </a:moveTo>
                <a:lnTo>
                  <a:pt x="1486804" y="1197413"/>
                </a:lnTo>
                <a:lnTo>
                  <a:pt x="1476855" y="1209663"/>
                </a:lnTo>
                <a:lnTo>
                  <a:pt x="1477787" y="1218661"/>
                </a:lnTo>
                <a:lnTo>
                  <a:pt x="1534398" y="1264641"/>
                </a:lnTo>
                <a:lnTo>
                  <a:pt x="1543397" y="1263708"/>
                </a:lnTo>
                <a:lnTo>
                  <a:pt x="1553347" y="1251458"/>
                </a:lnTo>
                <a:lnTo>
                  <a:pt x="1552414" y="1242460"/>
                </a:lnTo>
                <a:lnTo>
                  <a:pt x="1495803" y="1196480"/>
                </a:lnTo>
                <a:close/>
              </a:path>
              <a:path w="1553845" h="1264920">
                <a:moveTo>
                  <a:pt x="1407079" y="1124420"/>
                </a:moveTo>
                <a:lnTo>
                  <a:pt x="1398082" y="1125352"/>
                </a:lnTo>
                <a:lnTo>
                  <a:pt x="1388132" y="1137602"/>
                </a:lnTo>
                <a:lnTo>
                  <a:pt x="1389065" y="1146600"/>
                </a:lnTo>
                <a:lnTo>
                  <a:pt x="1445676" y="1192580"/>
                </a:lnTo>
                <a:lnTo>
                  <a:pt x="1454674" y="1191648"/>
                </a:lnTo>
                <a:lnTo>
                  <a:pt x="1464623" y="1179398"/>
                </a:lnTo>
                <a:lnTo>
                  <a:pt x="1463691" y="1170399"/>
                </a:lnTo>
                <a:lnTo>
                  <a:pt x="1407079" y="1124420"/>
                </a:lnTo>
                <a:close/>
              </a:path>
              <a:path w="1553845" h="1264920">
                <a:moveTo>
                  <a:pt x="1318356" y="1052359"/>
                </a:moveTo>
                <a:lnTo>
                  <a:pt x="1309358" y="1053292"/>
                </a:lnTo>
                <a:lnTo>
                  <a:pt x="1299409" y="1065542"/>
                </a:lnTo>
                <a:lnTo>
                  <a:pt x="1300341" y="1074540"/>
                </a:lnTo>
                <a:lnTo>
                  <a:pt x="1356953" y="1120520"/>
                </a:lnTo>
                <a:lnTo>
                  <a:pt x="1365951" y="1119587"/>
                </a:lnTo>
                <a:lnTo>
                  <a:pt x="1375901" y="1107337"/>
                </a:lnTo>
                <a:lnTo>
                  <a:pt x="1374968" y="1098339"/>
                </a:lnTo>
                <a:lnTo>
                  <a:pt x="1318356" y="1052359"/>
                </a:lnTo>
                <a:close/>
              </a:path>
              <a:path w="1553845" h="1264920">
                <a:moveTo>
                  <a:pt x="1229634" y="980299"/>
                </a:moveTo>
                <a:lnTo>
                  <a:pt x="1220636" y="981231"/>
                </a:lnTo>
                <a:lnTo>
                  <a:pt x="1210685" y="993481"/>
                </a:lnTo>
                <a:lnTo>
                  <a:pt x="1211619" y="1002479"/>
                </a:lnTo>
                <a:lnTo>
                  <a:pt x="1268230" y="1048459"/>
                </a:lnTo>
                <a:lnTo>
                  <a:pt x="1277228" y="1047527"/>
                </a:lnTo>
                <a:lnTo>
                  <a:pt x="1287178" y="1035276"/>
                </a:lnTo>
                <a:lnTo>
                  <a:pt x="1286245" y="1026278"/>
                </a:lnTo>
                <a:lnTo>
                  <a:pt x="1229634" y="980299"/>
                </a:lnTo>
                <a:close/>
              </a:path>
              <a:path w="1553845" h="1264920">
                <a:moveTo>
                  <a:pt x="1140910" y="908238"/>
                </a:moveTo>
                <a:lnTo>
                  <a:pt x="1131912" y="909171"/>
                </a:lnTo>
                <a:lnTo>
                  <a:pt x="1121963" y="921421"/>
                </a:lnTo>
                <a:lnTo>
                  <a:pt x="1122895" y="930419"/>
                </a:lnTo>
                <a:lnTo>
                  <a:pt x="1179507" y="976398"/>
                </a:lnTo>
                <a:lnTo>
                  <a:pt x="1188505" y="975466"/>
                </a:lnTo>
                <a:lnTo>
                  <a:pt x="1198454" y="963216"/>
                </a:lnTo>
                <a:lnTo>
                  <a:pt x="1197522" y="954218"/>
                </a:lnTo>
                <a:lnTo>
                  <a:pt x="1140910" y="908238"/>
                </a:lnTo>
                <a:close/>
              </a:path>
              <a:path w="1553845" h="1264920">
                <a:moveTo>
                  <a:pt x="1052188" y="836177"/>
                </a:moveTo>
                <a:lnTo>
                  <a:pt x="1043189" y="837110"/>
                </a:lnTo>
                <a:lnTo>
                  <a:pt x="1033240" y="849360"/>
                </a:lnTo>
                <a:lnTo>
                  <a:pt x="1034172" y="858358"/>
                </a:lnTo>
                <a:lnTo>
                  <a:pt x="1090783" y="904338"/>
                </a:lnTo>
                <a:lnTo>
                  <a:pt x="1099783" y="903405"/>
                </a:lnTo>
                <a:lnTo>
                  <a:pt x="1109732" y="891155"/>
                </a:lnTo>
                <a:lnTo>
                  <a:pt x="1108800" y="882157"/>
                </a:lnTo>
                <a:lnTo>
                  <a:pt x="1052188" y="836177"/>
                </a:lnTo>
                <a:close/>
              </a:path>
              <a:path w="1553845" h="1264920">
                <a:moveTo>
                  <a:pt x="963465" y="764117"/>
                </a:moveTo>
                <a:lnTo>
                  <a:pt x="954467" y="765049"/>
                </a:lnTo>
                <a:lnTo>
                  <a:pt x="944516" y="777299"/>
                </a:lnTo>
                <a:lnTo>
                  <a:pt x="945450" y="786298"/>
                </a:lnTo>
                <a:lnTo>
                  <a:pt x="1002061" y="832277"/>
                </a:lnTo>
                <a:lnTo>
                  <a:pt x="1011059" y="831345"/>
                </a:lnTo>
                <a:lnTo>
                  <a:pt x="1021008" y="819095"/>
                </a:lnTo>
                <a:lnTo>
                  <a:pt x="1020076" y="810097"/>
                </a:lnTo>
                <a:lnTo>
                  <a:pt x="963465" y="764117"/>
                </a:lnTo>
                <a:close/>
              </a:path>
              <a:path w="1553845" h="1264920">
                <a:moveTo>
                  <a:pt x="874741" y="692057"/>
                </a:moveTo>
                <a:lnTo>
                  <a:pt x="865743" y="692989"/>
                </a:lnTo>
                <a:lnTo>
                  <a:pt x="855794" y="705239"/>
                </a:lnTo>
                <a:lnTo>
                  <a:pt x="856726" y="714237"/>
                </a:lnTo>
                <a:lnTo>
                  <a:pt x="913338" y="760217"/>
                </a:lnTo>
                <a:lnTo>
                  <a:pt x="922336" y="759284"/>
                </a:lnTo>
                <a:lnTo>
                  <a:pt x="932286" y="747034"/>
                </a:lnTo>
                <a:lnTo>
                  <a:pt x="931353" y="738036"/>
                </a:lnTo>
                <a:lnTo>
                  <a:pt x="874741" y="692057"/>
                </a:lnTo>
                <a:close/>
              </a:path>
              <a:path w="1553845" h="1264920">
                <a:moveTo>
                  <a:pt x="786019" y="619996"/>
                </a:moveTo>
                <a:lnTo>
                  <a:pt x="777020" y="620928"/>
                </a:lnTo>
                <a:lnTo>
                  <a:pt x="767071" y="633178"/>
                </a:lnTo>
                <a:lnTo>
                  <a:pt x="768003" y="642176"/>
                </a:lnTo>
                <a:lnTo>
                  <a:pt x="824616" y="688157"/>
                </a:lnTo>
                <a:lnTo>
                  <a:pt x="833614" y="687223"/>
                </a:lnTo>
                <a:lnTo>
                  <a:pt x="843563" y="674974"/>
                </a:lnTo>
                <a:lnTo>
                  <a:pt x="842631" y="665976"/>
                </a:lnTo>
                <a:lnTo>
                  <a:pt x="786019" y="619996"/>
                </a:lnTo>
                <a:close/>
              </a:path>
              <a:path w="1553845" h="1264920">
                <a:moveTo>
                  <a:pt x="697296" y="547936"/>
                </a:moveTo>
                <a:lnTo>
                  <a:pt x="688298" y="548868"/>
                </a:lnTo>
                <a:lnTo>
                  <a:pt x="678348" y="561119"/>
                </a:lnTo>
                <a:lnTo>
                  <a:pt x="679281" y="570116"/>
                </a:lnTo>
                <a:lnTo>
                  <a:pt x="735892" y="616096"/>
                </a:lnTo>
                <a:lnTo>
                  <a:pt x="744890" y="615163"/>
                </a:lnTo>
                <a:lnTo>
                  <a:pt x="754839" y="602913"/>
                </a:lnTo>
                <a:lnTo>
                  <a:pt x="753907" y="593915"/>
                </a:lnTo>
                <a:lnTo>
                  <a:pt x="697296" y="547936"/>
                </a:lnTo>
                <a:close/>
              </a:path>
              <a:path w="1553845" h="1264920">
                <a:moveTo>
                  <a:pt x="608572" y="475875"/>
                </a:moveTo>
                <a:lnTo>
                  <a:pt x="599574" y="476807"/>
                </a:lnTo>
                <a:lnTo>
                  <a:pt x="589625" y="489057"/>
                </a:lnTo>
                <a:lnTo>
                  <a:pt x="590557" y="498055"/>
                </a:lnTo>
                <a:lnTo>
                  <a:pt x="647169" y="544036"/>
                </a:lnTo>
                <a:lnTo>
                  <a:pt x="656167" y="543102"/>
                </a:lnTo>
                <a:lnTo>
                  <a:pt x="666117" y="530853"/>
                </a:lnTo>
                <a:lnTo>
                  <a:pt x="665184" y="521854"/>
                </a:lnTo>
                <a:lnTo>
                  <a:pt x="608572" y="475875"/>
                </a:lnTo>
                <a:close/>
              </a:path>
              <a:path w="1553845" h="1264920">
                <a:moveTo>
                  <a:pt x="519850" y="403814"/>
                </a:moveTo>
                <a:lnTo>
                  <a:pt x="510852" y="404747"/>
                </a:lnTo>
                <a:lnTo>
                  <a:pt x="500901" y="416996"/>
                </a:lnTo>
                <a:lnTo>
                  <a:pt x="501835" y="425996"/>
                </a:lnTo>
                <a:lnTo>
                  <a:pt x="558446" y="471975"/>
                </a:lnTo>
                <a:lnTo>
                  <a:pt x="567444" y="471043"/>
                </a:lnTo>
                <a:lnTo>
                  <a:pt x="577394" y="458792"/>
                </a:lnTo>
                <a:lnTo>
                  <a:pt x="576461" y="449794"/>
                </a:lnTo>
                <a:lnTo>
                  <a:pt x="519850" y="403814"/>
                </a:lnTo>
                <a:close/>
              </a:path>
              <a:path w="1553845" h="1264920">
                <a:moveTo>
                  <a:pt x="431126" y="331754"/>
                </a:moveTo>
                <a:lnTo>
                  <a:pt x="422128" y="332686"/>
                </a:lnTo>
                <a:lnTo>
                  <a:pt x="412179" y="344937"/>
                </a:lnTo>
                <a:lnTo>
                  <a:pt x="413111" y="353935"/>
                </a:lnTo>
                <a:lnTo>
                  <a:pt x="469723" y="399915"/>
                </a:lnTo>
                <a:lnTo>
                  <a:pt x="478721" y="398981"/>
                </a:lnTo>
                <a:lnTo>
                  <a:pt x="488670" y="386731"/>
                </a:lnTo>
                <a:lnTo>
                  <a:pt x="487738" y="377733"/>
                </a:lnTo>
                <a:lnTo>
                  <a:pt x="431126" y="331754"/>
                </a:lnTo>
                <a:close/>
              </a:path>
              <a:path w="1553845" h="1264920">
                <a:moveTo>
                  <a:pt x="342404" y="259693"/>
                </a:moveTo>
                <a:lnTo>
                  <a:pt x="333405" y="260625"/>
                </a:lnTo>
                <a:lnTo>
                  <a:pt x="323456" y="272876"/>
                </a:lnTo>
                <a:lnTo>
                  <a:pt x="324388" y="281873"/>
                </a:lnTo>
                <a:lnTo>
                  <a:pt x="381000" y="327854"/>
                </a:lnTo>
                <a:lnTo>
                  <a:pt x="389999" y="326922"/>
                </a:lnTo>
                <a:lnTo>
                  <a:pt x="399948" y="314671"/>
                </a:lnTo>
                <a:lnTo>
                  <a:pt x="399016" y="305673"/>
                </a:lnTo>
                <a:lnTo>
                  <a:pt x="342404" y="259693"/>
                </a:lnTo>
                <a:close/>
              </a:path>
              <a:path w="1553845" h="1264920">
                <a:moveTo>
                  <a:pt x="253681" y="187633"/>
                </a:moveTo>
                <a:lnTo>
                  <a:pt x="244683" y="188565"/>
                </a:lnTo>
                <a:lnTo>
                  <a:pt x="234732" y="200816"/>
                </a:lnTo>
                <a:lnTo>
                  <a:pt x="235666" y="209814"/>
                </a:lnTo>
                <a:lnTo>
                  <a:pt x="292277" y="255793"/>
                </a:lnTo>
                <a:lnTo>
                  <a:pt x="301275" y="254861"/>
                </a:lnTo>
                <a:lnTo>
                  <a:pt x="311224" y="242610"/>
                </a:lnTo>
                <a:lnTo>
                  <a:pt x="310292" y="233612"/>
                </a:lnTo>
                <a:lnTo>
                  <a:pt x="253681" y="187633"/>
                </a:lnTo>
                <a:close/>
              </a:path>
              <a:path w="1553845" h="1264920">
                <a:moveTo>
                  <a:pt x="164957" y="115572"/>
                </a:moveTo>
                <a:lnTo>
                  <a:pt x="155959" y="116504"/>
                </a:lnTo>
                <a:lnTo>
                  <a:pt x="146010" y="128755"/>
                </a:lnTo>
                <a:lnTo>
                  <a:pt x="146942" y="137753"/>
                </a:lnTo>
                <a:lnTo>
                  <a:pt x="203554" y="183733"/>
                </a:lnTo>
                <a:lnTo>
                  <a:pt x="212552" y="182799"/>
                </a:lnTo>
                <a:lnTo>
                  <a:pt x="222502" y="170550"/>
                </a:lnTo>
                <a:lnTo>
                  <a:pt x="221569" y="161551"/>
                </a:lnTo>
                <a:lnTo>
                  <a:pt x="164957" y="115572"/>
                </a:lnTo>
                <a:close/>
              </a:path>
              <a:path w="1553845" h="1264920">
                <a:moveTo>
                  <a:pt x="76235" y="43511"/>
                </a:moveTo>
                <a:lnTo>
                  <a:pt x="74993" y="43640"/>
                </a:lnTo>
                <a:lnTo>
                  <a:pt x="58091" y="64450"/>
                </a:lnTo>
                <a:lnTo>
                  <a:pt x="58220" y="65692"/>
                </a:lnTo>
                <a:lnTo>
                  <a:pt x="114832" y="111672"/>
                </a:lnTo>
                <a:lnTo>
                  <a:pt x="123830" y="110740"/>
                </a:lnTo>
                <a:lnTo>
                  <a:pt x="133779" y="98489"/>
                </a:lnTo>
                <a:lnTo>
                  <a:pt x="132847" y="89491"/>
                </a:lnTo>
                <a:lnTo>
                  <a:pt x="76235" y="43511"/>
                </a:lnTo>
                <a:close/>
              </a:path>
              <a:path w="1553845" h="1264920">
                <a:moveTo>
                  <a:pt x="0" y="0"/>
                </a:moveTo>
                <a:lnTo>
                  <a:pt x="39519" y="87316"/>
                </a:lnTo>
                <a:lnTo>
                  <a:pt x="58091" y="64450"/>
                </a:lnTo>
                <a:lnTo>
                  <a:pt x="57287" y="56694"/>
                </a:lnTo>
                <a:lnTo>
                  <a:pt x="67237" y="44444"/>
                </a:lnTo>
                <a:lnTo>
                  <a:pt x="74993" y="43640"/>
                </a:lnTo>
                <a:lnTo>
                  <a:pt x="93564" y="20774"/>
                </a:lnTo>
                <a:lnTo>
                  <a:pt x="0" y="0"/>
                </a:lnTo>
                <a:close/>
              </a:path>
              <a:path w="1553845" h="1264920">
                <a:moveTo>
                  <a:pt x="74993" y="43640"/>
                </a:moveTo>
                <a:lnTo>
                  <a:pt x="67237" y="44444"/>
                </a:lnTo>
                <a:lnTo>
                  <a:pt x="57287" y="56694"/>
                </a:lnTo>
                <a:lnTo>
                  <a:pt x="58091" y="64450"/>
                </a:lnTo>
                <a:lnTo>
                  <a:pt x="74993" y="4364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26997" y="4804049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000" y="0"/>
                </a:moveTo>
                <a:lnTo>
                  <a:pt x="16490" y="2121"/>
                </a:lnTo>
                <a:lnTo>
                  <a:pt x="7907" y="7908"/>
                </a:lnTo>
                <a:lnTo>
                  <a:pt x="2121" y="16490"/>
                </a:lnTo>
                <a:lnTo>
                  <a:pt x="0" y="27000"/>
                </a:lnTo>
                <a:lnTo>
                  <a:pt x="2121" y="37510"/>
                </a:lnTo>
                <a:lnTo>
                  <a:pt x="7907" y="46092"/>
                </a:lnTo>
                <a:lnTo>
                  <a:pt x="16490" y="51878"/>
                </a:lnTo>
                <a:lnTo>
                  <a:pt x="27000" y="54000"/>
                </a:lnTo>
                <a:lnTo>
                  <a:pt x="37509" y="51878"/>
                </a:lnTo>
                <a:lnTo>
                  <a:pt x="46091" y="46092"/>
                </a:lnTo>
                <a:lnTo>
                  <a:pt x="51878" y="37510"/>
                </a:lnTo>
                <a:lnTo>
                  <a:pt x="54000" y="27000"/>
                </a:lnTo>
                <a:lnTo>
                  <a:pt x="51878" y="16490"/>
                </a:lnTo>
                <a:lnTo>
                  <a:pt x="46091" y="7908"/>
                </a:lnTo>
                <a:lnTo>
                  <a:pt x="37509" y="2121"/>
                </a:lnTo>
                <a:lnTo>
                  <a:pt x="27000" y="0"/>
                </a:lnTo>
                <a:close/>
              </a:path>
            </a:pathLst>
          </a:custGeom>
          <a:solidFill>
            <a:srgbClr val="FFD2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12616" y="4789667"/>
            <a:ext cx="83185" cy="83185"/>
          </a:xfrm>
          <a:custGeom>
            <a:avLst/>
            <a:gdLst/>
            <a:ahLst/>
            <a:cxnLst/>
            <a:rect l="l" t="t" r="r" b="b"/>
            <a:pathLst>
              <a:path w="83185" h="83185">
                <a:moveTo>
                  <a:pt x="42343" y="0"/>
                </a:moveTo>
                <a:lnTo>
                  <a:pt x="40420" y="0"/>
                </a:lnTo>
                <a:lnTo>
                  <a:pt x="26198" y="2871"/>
                </a:lnTo>
                <a:lnTo>
                  <a:pt x="0" y="40420"/>
                </a:lnTo>
                <a:lnTo>
                  <a:pt x="0" y="42343"/>
                </a:lnTo>
                <a:lnTo>
                  <a:pt x="24446" y="79159"/>
                </a:lnTo>
                <a:lnTo>
                  <a:pt x="40420" y="82763"/>
                </a:lnTo>
                <a:lnTo>
                  <a:pt x="42343" y="82763"/>
                </a:lnTo>
                <a:lnTo>
                  <a:pt x="74338" y="65467"/>
                </a:lnTo>
                <a:lnTo>
                  <a:pt x="41381" y="65467"/>
                </a:lnTo>
                <a:lnTo>
                  <a:pt x="31996" y="63572"/>
                </a:lnTo>
                <a:lnTo>
                  <a:pt x="24348" y="58414"/>
                </a:lnTo>
                <a:lnTo>
                  <a:pt x="19190" y="50766"/>
                </a:lnTo>
                <a:lnTo>
                  <a:pt x="17297" y="41381"/>
                </a:lnTo>
                <a:lnTo>
                  <a:pt x="19190" y="31996"/>
                </a:lnTo>
                <a:lnTo>
                  <a:pt x="24348" y="24348"/>
                </a:lnTo>
                <a:lnTo>
                  <a:pt x="31996" y="19192"/>
                </a:lnTo>
                <a:lnTo>
                  <a:pt x="41381" y="17297"/>
                </a:lnTo>
                <a:lnTo>
                  <a:pt x="74339" y="17297"/>
                </a:lnTo>
                <a:lnTo>
                  <a:pt x="71293" y="12780"/>
                </a:lnTo>
                <a:lnTo>
                  <a:pt x="69983" y="11470"/>
                </a:lnTo>
                <a:lnTo>
                  <a:pt x="58317" y="3604"/>
                </a:lnTo>
                <a:lnTo>
                  <a:pt x="56564" y="2871"/>
                </a:lnTo>
                <a:lnTo>
                  <a:pt x="42343" y="0"/>
                </a:lnTo>
                <a:close/>
              </a:path>
              <a:path w="83185" h="83185">
                <a:moveTo>
                  <a:pt x="74339" y="17297"/>
                </a:moveTo>
                <a:lnTo>
                  <a:pt x="41381" y="17297"/>
                </a:lnTo>
                <a:lnTo>
                  <a:pt x="50766" y="19192"/>
                </a:lnTo>
                <a:lnTo>
                  <a:pt x="58414" y="24348"/>
                </a:lnTo>
                <a:lnTo>
                  <a:pt x="63571" y="31996"/>
                </a:lnTo>
                <a:lnTo>
                  <a:pt x="65465" y="41381"/>
                </a:lnTo>
                <a:lnTo>
                  <a:pt x="63571" y="50766"/>
                </a:lnTo>
                <a:lnTo>
                  <a:pt x="58414" y="58414"/>
                </a:lnTo>
                <a:lnTo>
                  <a:pt x="50766" y="63572"/>
                </a:lnTo>
                <a:lnTo>
                  <a:pt x="41381" y="65467"/>
                </a:lnTo>
                <a:lnTo>
                  <a:pt x="74338" y="65467"/>
                </a:lnTo>
                <a:lnTo>
                  <a:pt x="79094" y="58414"/>
                </a:lnTo>
                <a:lnTo>
                  <a:pt x="79210" y="58195"/>
                </a:lnTo>
                <a:lnTo>
                  <a:pt x="79891" y="56564"/>
                </a:lnTo>
                <a:lnTo>
                  <a:pt x="82763" y="42343"/>
                </a:lnTo>
                <a:lnTo>
                  <a:pt x="82763" y="40420"/>
                </a:lnTo>
                <a:lnTo>
                  <a:pt x="79891" y="26200"/>
                </a:lnTo>
                <a:lnTo>
                  <a:pt x="79210" y="24568"/>
                </a:lnTo>
                <a:lnTo>
                  <a:pt x="79093" y="24348"/>
                </a:lnTo>
                <a:lnTo>
                  <a:pt x="74339" y="17297"/>
                </a:lnTo>
                <a:close/>
              </a:path>
              <a:path w="83185" h="83185">
                <a:moveTo>
                  <a:pt x="41381" y="23127"/>
                </a:moveTo>
                <a:lnTo>
                  <a:pt x="34245" y="24568"/>
                </a:lnTo>
                <a:lnTo>
                  <a:pt x="28464" y="28465"/>
                </a:lnTo>
                <a:lnTo>
                  <a:pt x="24568" y="34245"/>
                </a:lnTo>
                <a:lnTo>
                  <a:pt x="23126" y="41381"/>
                </a:lnTo>
                <a:lnTo>
                  <a:pt x="24568" y="48517"/>
                </a:lnTo>
                <a:lnTo>
                  <a:pt x="28464" y="54298"/>
                </a:lnTo>
                <a:lnTo>
                  <a:pt x="34245" y="58195"/>
                </a:lnTo>
                <a:lnTo>
                  <a:pt x="41381" y="59636"/>
                </a:lnTo>
                <a:lnTo>
                  <a:pt x="48517" y="58195"/>
                </a:lnTo>
                <a:lnTo>
                  <a:pt x="54297" y="54298"/>
                </a:lnTo>
                <a:lnTo>
                  <a:pt x="54629" y="53806"/>
                </a:lnTo>
                <a:lnTo>
                  <a:pt x="41381" y="53806"/>
                </a:lnTo>
                <a:lnTo>
                  <a:pt x="36494" y="52819"/>
                </a:lnTo>
                <a:lnTo>
                  <a:pt x="32581" y="50181"/>
                </a:lnTo>
                <a:lnTo>
                  <a:pt x="29944" y="46268"/>
                </a:lnTo>
                <a:lnTo>
                  <a:pt x="28957" y="41381"/>
                </a:lnTo>
                <a:lnTo>
                  <a:pt x="29944" y="36494"/>
                </a:lnTo>
                <a:lnTo>
                  <a:pt x="32581" y="32581"/>
                </a:lnTo>
                <a:lnTo>
                  <a:pt x="36494" y="29944"/>
                </a:lnTo>
                <a:lnTo>
                  <a:pt x="41381" y="28957"/>
                </a:lnTo>
                <a:lnTo>
                  <a:pt x="54629" y="28957"/>
                </a:lnTo>
                <a:lnTo>
                  <a:pt x="54297" y="28465"/>
                </a:lnTo>
                <a:lnTo>
                  <a:pt x="48517" y="24568"/>
                </a:lnTo>
                <a:lnTo>
                  <a:pt x="41381" y="23127"/>
                </a:lnTo>
                <a:close/>
              </a:path>
              <a:path w="83185" h="83185">
                <a:moveTo>
                  <a:pt x="54629" y="28957"/>
                </a:moveTo>
                <a:lnTo>
                  <a:pt x="41381" y="28957"/>
                </a:lnTo>
                <a:lnTo>
                  <a:pt x="46268" y="29944"/>
                </a:lnTo>
                <a:lnTo>
                  <a:pt x="50181" y="32581"/>
                </a:lnTo>
                <a:lnTo>
                  <a:pt x="52819" y="36494"/>
                </a:lnTo>
                <a:lnTo>
                  <a:pt x="53806" y="41381"/>
                </a:lnTo>
                <a:lnTo>
                  <a:pt x="52819" y="46268"/>
                </a:lnTo>
                <a:lnTo>
                  <a:pt x="50181" y="50181"/>
                </a:lnTo>
                <a:lnTo>
                  <a:pt x="46268" y="52819"/>
                </a:lnTo>
                <a:lnTo>
                  <a:pt x="41381" y="53806"/>
                </a:lnTo>
                <a:lnTo>
                  <a:pt x="54629" y="53806"/>
                </a:lnTo>
                <a:lnTo>
                  <a:pt x="58195" y="48517"/>
                </a:lnTo>
                <a:lnTo>
                  <a:pt x="59636" y="41381"/>
                </a:lnTo>
                <a:lnTo>
                  <a:pt x="58195" y="34245"/>
                </a:lnTo>
                <a:lnTo>
                  <a:pt x="54629" y="289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423893" y="4378959"/>
            <a:ext cx="147701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750">
                <a:latin typeface="Cambria Math"/>
                <a:cs typeface="Cambria Math"/>
              </a:rPr>
              <a:t>𝐮7</a:t>
            </a:r>
            <a:r>
              <a:rPr dirty="0" sz="2500" spc="204">
                <a:latin typeface="Cambria Math"/>
                <a:cs typeface="Cambria Math"/>
              </a:rPr>
              <a:t> </a:t>
            </a:r>
            <a:r>
              <a:rPr dirty="0" sz="2500">
                <a:latin typeface="Cambria Math"/>
                <a:cs typeface="Cambria Math"/>
              </a:rPr>
              <a:t>= </a:t>
            </a:r>
            <a:r>
              <a:rPr dirty="0" sz="2500">
                <a:solidFill>
                  <a:srgbClr val="0000FF"/>
                </a:solidFill>
                <a:latin typeface="Cambria Math"/>
                <a:cs typeface="Cambria Math"/>
              </a:rPr>
              <a:t>𝐚 </a:t>
            </a:r>
            <a:r>
              <a:rPr dirty="0" sz="2500">
                <a:solidFill>
                  <a:srgbClr val="C64847"/>
                </a:solidFill>
                <a:latin typeface="Cambria Math"/>
                <a:cs typeface="Cambria Math"/>
              </a:rPr>
              <a:t>−</a:t>
            </a:r>
            <a:r>
              <a:rPr dirty="0" sz="2500" spc="65">
                <a:solidFill>
                  <a:srgbClr val="C64847"/>
                </a:solidFill>
                <a:latin typeface="Cambria Math"/>
                <a:cs typeface="Cambria Math"/>
              </a:rPr>
              <a:t> </a:t>
            </a:r>
            <a:r>
              <a:rPr dirty="0" sz="2500" spc="-5">
                <a:solidFill>
                  <a:srgbClr val="D9253E"/>
                </a:solidFill>
                <a:latin typeface="Cambria Math"/>
                <a:cs typeface="Cambria Math"/>
              </a:rPr>
              <a:t>𝐛𝑖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4326275" y="29971"/>
            <a:ext cx="4705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solidFill>
                  <a:srgbClr val="FFFFFF"/>
                </a:solidFill>
                <a:latin typeface="Corbel"/>
                <a:cs typeface="Corbel"/>
              </a:rPr>
              <a:t>Trouillon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al,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Complex Embeddings for Simple Link Prediction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ICML 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2016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3718" y="6247383"/>
            <a:ext cx="308610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750">
                <a:solidFill>
                  <a:srgbClr val="008000"/>
                </a:solidFill>
                <a:latin typeface="Cambria Math"/>
                <a:cs typeface="Cambria Math"/>
              </a:rPr>
              <a:t>𝐮7</a:t>
            </a:r>
            <a:r>
              <a:rPr dirty="0" sz="2500" spc="22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500" spc="-75" i="1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dirty="0" sz="2500" spc="-50" i="1">
                <a:solidFill>
                  <a:srgbClr val="008000"/>
                </a:solidFill>
                <a:latin typeface="Arial"/>
                <a:cs typeface="Arial"/>
              </a:rPr>
              <a:t>called </a:t>
            </a:r>
            <a:r>
              <a:rPr dirty="0" sz="2500" spc="-95" i="1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2500" spc="90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500" spc="-35" i="1">
                <a:solidFill>
                  <a:srgbClr val="008000"/>
                </a:solidFill>
                <a:latin typeface="Arial"/>
                <a:cs typeface="Arial"/>
              </a:rPr>
              <a:t>conjugate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220065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50175" cy="198564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Based on Distmult, </a:t>
            </a:r>
            <a:r>
              <a:rPr dirty="0" spc="-5">
                <a:solidFill>
                  <a:srgbClr val="00B050"/>
                </a:solidFill>
              </a:rPr>
              <a:t>ComplEx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embeds entities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pc="-10">
                <a:solidFill>
                  <a:srgbClr val="C00000"/>
                </a:solidFill>
              </a:rPr>
              <a:t>Complex </a:t>
            </a:r>
            <a:r>
              <a:rPr dirty="0" spc="-15">
                <a:solidFill>
                  <a:srgbClr val="C00000"/>
                </a:solidFill>
              </a:rPr>
              <a:t>vector</a:t>
            </a:r>
            <a:r>
              <a:rPr dirty="0" spc="-2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space</a:t>
            </a:r>
          </a:p>
          <a:p>
            <a:pPr marL="332740" marR="151765" indent="-320040">
              <a:lnSpc>
                <a:spcPts val="389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B050"/>
                </a:solidFill>
              </a:rPr>
              <a:t>ComplEx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: model entities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relations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 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vectors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50" b="0">
                <a:solidFill>
                  <a:srgbClr val="000000"/>
                </a:solidFill>
                <a:latin typeface="Cambria Math"/>
                <a:cs typeface="Cambria Math"/>
              </a:rPr>
              <a:t>ℂ</a:t>
            </a:r>
            <a:r>
              <a:rPr dirty="0" baseline="28985" sz="3450" spc="75" b="0">
                <a:solidFill>
                  <a:srgbClr val="000000"/>
                </a:solidFill>
                <a:latin typeface="Cambria Math"/>
                <a:cs typeface="Cambria Math"/>
              </a:rPr>
              <a:t>0</a:t>
            </a:r>
            <a:endParaRPr baseline="28985" sz="34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33653" y="34193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4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6" y="219533"/>
                </a:lnTo>
                <a:lnTo>
                  <a:pt x="773484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37756" y="6002893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4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24558" y="6002893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2F62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07201" y="6002893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4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94003" y="6002893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2F62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20059" y="6002892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4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6860" y="6002892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89503" y="6002892"/>
            <a:ext cx="774065" cy="409575"/>
          </a:xfrm>
          <a:custGeom>
            <a:avLst/>
            <a:gdLst/>
            <a:ahLst/>
            <a:cxnLst/>
            <a:rect l="l" t="t" r="r" b="b"/>
            <a:pathLst>
              <a:path w="774065" h="409575">
                <a:moveTo>
                  <a:pt x="0" y="0"/>
                </a:moveTo>
                <a:lnTo>
                  <a:pt x="773605" y="0"/>
                </a:lnTo>
                <a:lnTo>
                  <a:pt x="77360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76306" y="6002892"/>
            <a:ext cx="0" cy="409575"/>
          </a:xfrm>
          <a:custGeom>
            <a:avLst/>
            <a:gdLst/>
            <a:ahLst/>
            <a:cxnLst/>
            <a:rect l="l" t="t" r="r" b="b"/>
            <a:pathLst>
              <a:path w="0" h="409575">
                <a:moveTo>
                  <a:pt x="0" y="0"/>
                </a:moveTo>
                <a:lnTo>
                  <a:pt x="1" y="40957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974952" y="4985623"/>
          <a:ext cx="1600200" cy="44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803"/>
                <a:gridCol w="384721"/>
                <a:gridCol w="384724"/>
                <a:gridCol w="386800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D9253E"/>
                      </a:solidFill>
                      <a:prstDash val="solid"/>
                    </a:lnL>
                    <a:lnR w="38100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D9253E"/>
                      </a:solidFill>
                      <a:prstDash val="solid"/>
                    </a:lnL>
                    <a:lnR w="53975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3975">
                      <a:solidFill>
                        <a:srgbClr val="D9253E"/>
                      </a:solidFill>
                      <a:prstDash val="solid"/>
                    </a:lnL>
                    <a:lnR w="38100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D9253E"/>
                      </a:solidFill>
                      <a:prstDash val="solid"/>
                    </a:lnL>
                    <a:lnR w="53975">
                      <a:solidFill>
                        <a:srgbClr val="D9253E"/>
                      </a:solidFill>
                      <a:prstDash val="solid"/>
                    </a:lnR>
                    <a:lnT w="53975">
                      <a:solidFill>
                        <a:srgbClr val="D9253E"/>
                      </a:solidFill>
                      <a:prstDash val="solid"/>
                    </a:lnT>
                    <a:lnB w="53975">
                      <a:solidFill>
                        <a:srgbClr val="D9253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011937" y="5414246"/>
            <a:ext cx="1124585" cy="605155"/>
          </a:xfrm>
          <a:custGeom>
            <a:avLst/>
            <a:gdLst/>
            <a:ahLst/>
            <a:cxnLst/>
            <a:rect l="l" t="t" r="r" b="b"/>
            <a:pathLst>
              <a:path w="1124585" h="605154">
                <a:moveTo>
                  <a:pt x="1041917" y="27601"/>
                </a:moveTo>
                <a:lnTo>
                  <a:pt x="2646" y="579731"/>
                </a:lnTo>
                <a:lnTo>
                  <a:pt x="0" y="588381"/>
                </a:lnTo>
                <a:lnTo>
                  <a:pt x="7404" y="602318"/>
                </a:lnTo>
                <a:lnTo>
                  <a:pt x="16054" y="604966"/>
                </a:lnTo>
                <a:lnTo>
                  <a:pt x="1055324" y="52836"/>
                </a:lnTo>
                <a:lnTo>
                  <a:pt x="1041917" y="27601"/>
                </a:lnTo>
                <a:close/>
              </a:path>
              <a:path w="1124585" h="605154">
                <a:moveTo>
                  <a:pt x="1112079" y="17197"/>
                </a:moveTo>
                <a:lnTo>
                  <a:pt x="1061502" y="17197"/>
                </a:lnTo>
                <a:lnTo>
                  <a:pt x="1070152" y="19845"/>
                </a:lnTo>
                <a:lnTo>
                  <a:pt x="1077556" y="33781"/>
                </a:lnTo>
                <a:lnTo>
                  <a:pt x="1074908" y="42431"/>
                </a:lnTo>
                <a:lnTo>
                  <a:pt x="1055324" y="52836"/>
                </a:lnTo>
                <a:lnTo>
                  <a:pt x="1068730" y="78071"/>
                </a:lnTo>
                <a:lnTo>
                  <a:pt x="1112079" y="17197"/>
                </a:lnTo>
                <a:close/>
              </a:path>
              <a:path w="1124585" h="605154">
                <a:moveTo>
                  <a:pt x="1061502" y="17197"/>
                </a:moveTo>
                <a:lnTo>
                  <a:pt x="1041917" y="27601"/>
                </a:lnTo>
                <a:lnTo>
                  <a:pt x="1055324" y="52836"/>
                </a:lnTo>
                <a:lnTo>
                  <a:pt x="1074908" y="42431"/>
                </a:lnTo>
                <a:lnTo>
                  <a:pt x="1077556" y="33781"/>
                </a:lnTo>
                <a:lnTo>
                  <a:pt x="1070152" y="19845"/>
                </a:lnTo>
                <a:lnTo>
                  <a:pt x="1061502" y="17197"/>
                </a:lnTo>
                <a:close/>
              </a:path>
              <a:path w="1124585" h="605154">
                <a:moveTo>
                  <a:pt x="1124325" y="0"/>
                </a:moveTo>
                <a:lnTo>
                  <a:pt x="1028512" y="2367"/>
                </a:lnTo>
                <a:lnTo>
                  <a:pt x="1041917" y="27601"/>
                </a:lnTo>
                <a:lnTo>
                  <a:pt x="1061502" y="17197"/>
                </a:lnTo>
                <a:lnTo>
                  <a:pt x="1112079" y="17197"/>
                </a:lnTo>
                <a:lnTo>
                  <a:pt x="1124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31037" y="5414247"/>
            <a:ext cx="1128395" cy="605155"/>
          </a:xfrm>
          <a:custGeom>
            <a:avLst/>
            <a:gdLst/>
            <a:ahLst/>
            <a:cxnLst/>
            <a:rect l="l" t="t" r="r" b="b"/>
            <a:pathLst>
              <a:path w="1128395" h="605154">
                <a:moveTo>
                  <a:pt x="1045804" y="27481"/>
                </a:moveTo>
                <a:lnTo>
                  <a:pt x="2660" y="579710"/>
                </a:lnTo>
                <a:lnTo>
                  <a:pt x="0" y="588356"/>
                </a:lnTo>
                <a:lnTo>
                  <a:pt x="7383" y="602304"/>
                </a:lnTo>
                <a:lnTo>
                  <a:pt x="16029" y="604964"/>
                </a:lnTo>
                <a:lnTo>
                  <a:pt x="1059173" y="52736"/>
                </a:lnTo>
                <a:lnTo>
                  <a:pt x="1045804" y="27481"/>
                </a:lnTo>
                <a:close/>
              </a:path>
              <a:path w="1128395" h="605154">
                <a:moveTo>
                  <a:pt x="1116034" y="17104"/>
                </a:moveTo>
                <a:lnTo>
                  <a:pt x="1065406" y="17104"/>
                </a:lnTo>
                <a:lnTo>
                  <a:pt x="1074052" y="19765"/>
                </a:lnTo>
                <a:lnTo>
                  <a:pt x="1081436" y="33712"/>
                </a:lnTo>
                <a:lnTo>
                  <a:pt x="1078776" y="42359"/>
                </a:lnTo>
                <a:lnTo>
                  <a:pt x="1059173" y="52736"/>
                </a:lnTo>
                <a:lnTo>
                  <a:pt x="1072542" y="77990"/>
                </a:lnTo>
                <a:lnTo>
                  <a:pt x="1116034" y="17104"/>
                </a:lnTo>
                <a:close/>
              </a:path>
              <a:path w="1128395" h="605154">
                <a:moveTo>
                  <a:pt x="1065406" y="17104"/>
                </a:moveTo>
                <a:lnTo>
                  <a:pt x="1045804" y="27481"/>
                </a:lnTo>
                <a:lnTo>
                  <a:pt x="1059173" y="52736"/>
                </a:lnTo>
                <a:lnTo>
                  <a:pt x="1078776" y="42359"/>
                </a:lnTo>
                <a:lnTo>
                  <a:pt x="1081436" y="33712"/>
                </a:lnTo>
                <a:lnTo>
                  <a:pt x="1074052" y="19765"/>
                </a:lnTo>
                <a:lnTo>
                  <a:pt x="1065406" y="17104"/>
                </a:lnTo>
                <a:close/>
              </a:path>
              <a:path w="1128395" h="605154">
                <a:moveTo>
                  <a:pt x="1128252" y="0"/>
                </a:moveTo>
                <a:lnTo>
                  <a:pt x="1032435" y="2227"/>
                </a:lnTo>
                <a:lnTo>
                  <a:pt x="1045804" y="27481"/>
                </a:lnTo>
                <a:lnTo>
                  <a:pt x="1065406" y="17104"/>
                </a:lnTo>
                <a:lnTo>
                  <a:pt x="1116034" y="17104"/>
                </a:lnTo>
                <a:lnTo>
                  <a:pt x="1128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04188" y="5414247"/>
            <a:ext cx="1174750" cy="605155"/>
          </a:xfrm>
          <a:custGeom>
            <a:avLst/>
            <a:gdLst/>
            <a:ahLst/>
            <a:cxnLst/>
            <a:rect l="l" t="t" r="r" b="b"/>
            <a:pathLst>
              <a:path w="1174750" h="605154">
                <a:moveTo>
                  <a:pt x="1091309" y="26112"/>
                </a:moveTo>
                <a:lnTo>
                  <a:pt x="2804" y="579485"/>
                </a:lnTo>
                <a:lnTo>
                  <a:pt x="0" y="588086"/>
                </a:lnTo>
                <a:lnTo>
                  <a:pt x="7152" y="602154"/>
                </a:lnTo>
                <a:lnTo>
                  <a:pt x="15753" y="604957"/>
                </a:lnTo>
                <a:lnTo>
                  <a:pt x="1104258" y="51584"/>
                </a:lnTo>
                <a:lnTo>
                  <a:pt x="1091309" y="26112"/>
                </a:lnTo>
                <a:close/>
              </a:path>
              <a:path w="1174750" h="605154">
                <a:moveTo>
                  <a:pt x="1162321" y="16061"/>
                </a:moveTo>
                <a:lnTo>
                  <a:pt x="1111078" y="16061"/>
                </a:lnTo>
                <a:lnTo>
                  <a:pt x="1119680" y="18864"/>
                </a:lnTo>
                <a:lnTo>
                  <a:pt x="1126831" y="32933"/>
                </a:lnTo>
                <a:lnTo>
                  <a:pt x="1124028" y="41534"/>
                </a:lnTo>
                <a:lnTo>
                  <a:pt x="1104258" y="51584"/>
                </a:lnTo>
                <a:lnTo>
                  <a:pt x="1117208" y="77057"/>
                </a:lnTo>
                <a:lnTo>
                  <a:pt x="1162321" y="16061"/>
                </a:lnTo>
                <a:close/>
              </a:path>
              <a:path w="1174750" h="605154">
                <a:moveTo>
                  <a:pt x="1111078" y="16061"/>
                </a:moveTo>
                <a:lnTo>
                  <a:pt x="1091309" y="26112"/>
                </a:lnTo>
                <a:lnTo>
                  <a:pt x="1104258" y="51584"/>
                </a:lnTo>
                <a:lnTo>
                  <a:pt x="1124028" y="41534"/>
                </a:lnTo>
                <a:lnTo>
                  <a:pt x="1126831" y="32933"/>
                </a:lnTo>
                <a:lnTo>
                  <a:pt x="1119680" y="18864"/>
                </a:lnTo>
                <a:lnTo>
                  <a:pt x="1111078" y="16061"/>
                </a:lnTo>
                <a:close/>
              </a:path>
              <a:path w="1174750" h="605154">
                <a:moveTo>
                  <a:pt x="1174201" y="0"/>
                </a:moveTo>
                <a:lnTo>
                  <a:pt x="1078359" y="640"/>
                </a:lnTo>
                <a:lnTo>
                  <a:pt x="1091309" y="26112"/>
                </a:lnTo>
                <a:lnTo>
                  <a:pt x="1111078" y="16061"/>
                </a:lnTo>
                <a:lnTo>
                  <a:pt x="1162321" y="16061"/>
                </a:lnTo>
                <a:lnTo>
                  <a:pt x="1174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4643" y="5414246"/>
            <a:ext cx="1142365" cy="605155"/>
          </a:xfrm>
          <a:custGeom>
            <a:avLst/>
            <a:gdLst/>
            <a:ahLst/>
            <a:cxnLst/>
            <a:rect l="l" t="t" r="r" b="b"/>
            <a:pathLst>
              <a:path w="1142364" h="605154">
                <a:moveTo>
                  <a:pt x="1059324" y="27066"/>
                </a:moveTo>
                <a:lnTo>
                  <a:pt x="2703" y="579642"/>
                </a:lnTo>
                <a:lnTo>
                  <a:pt x="0" y="588275"/>
                </a:lnTo>
                <a:lnTo>
                  <a:pt x="7313" y="602260"/>
                </a:lnTo>
                <a:lnTo>
                  <a:pt x="15946" y="604964"/>
                </a:lnTo>
                <a:lnTo>
                  <a:pt x="1072567" y="52387"/>
                </a:lnTo>
                <a:lnTo>
                  <a:pt x="1059324" y="27066"/>
                </a:lnTo>
                <a:close/>
              </a:path>
              <a:path w="1142364" h="605154">
                <a:moveTo>
                  <a:pt x="1129790" y="16788"/>
                </a:moveTo>
                <a:lnTo>
                  <a:pt x="1078978" y="16788"/>
                </a:lnTo>
                <a:lnTo>
                  <a:pt x="1087610" y="19491"/>
                </a:lnTo>
                <a:lnTo>
                  <a:pt x="1094924" y="33477"/>
                </a:lnTo>
                <a:lnTo>
                  <a:pt x="1092220" y="42109"/>
                </a:lnTo>
                <a:lnTo>
                  <a:pt x="1072567" y="52387"/>
                </a:lnTo>
                <a:lnTo>
                  <a:pt x="1085809" y="77708"/>
                </a:lnTo>
                <a:lnTo>
                  <a:pt x="1129790" y="16788"/>
                </a:lnTo>
                <a:close/>
              </a:path>
              <a:path w="1142364" h="605154">
                <a:moveTo>
                  <a:pt x="1078978" y="16788"/>
                </a:moveTo>
                <a:lnTo>
                  <a:pt x="1059324" y="27066"/>
                </a:lnTo>
                <a:lnTo>
                  <a:pt x="1072567" y="52387"/>
                </a:lnTo>
                <a:lnTo>
                  <a:pt x="1092220" y="42109"/>
                </a:lnTo>
                <a:lnTo>
                  <a:pt x="1094924" y="33477"/>
                </a:lnTo>
                <a:lnTo>
                  <a:pt x="1087610" y="19491"/>
                </a:lnTo>
                <a:lnTo>
                  <a:pt x="1078978" y="16788"/>
                </a:lnTo>
                <a:close/>
              </a:path>
              <a:path w="1142364" h="605154">
                <a:moveTo>
                  <a:pt x="1141910" y="0"/>
                </a:moveTo>
                <a:lnTo>
                  <a:pt x="1046082" y="1744"/>
                </a:lnTo>
                <a:lnTo>
                  <a:pt x="1059324" y="27066"/>
                </a:lnTo>
                <a:lnTo>
                  <a:pt x="1078978" y="16788"/>
                </a:lnTo>
                <a:lnTo>
                  <a:pt x="1129790" y="16788"/>
                </a:lnTo>
                <a:lnTo>
                  <a:pt x="1141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85119" y="5410192"/>
            <a:ext cx="1329690" cy="608965"/>
          </a:xfrm>
          <a:custGeom>
            <a:avLst/>
            <a:gdLst/>
            <a:ahLst/>
            <a:cxnLst/>
            <a:rect l="l" t="t" r="r" b="b"/>
            <a:pathLst>
              <a:path w="1329689" h="608964">
                <a:moveTo>
                  <a:pt x="84070" y="26076"/>
                </a:moveTo>
                <a:lnTo>
                  <a:pt x="72383" y="52151"/>
                </a:lnTo>
                <a:lnTo>
                  <a:pt x="1314780" y="608965"/>
                </a:lnTo>
                <a:lnTo>
                  <a:pt x="1323235" y="605738"/>
                </a:lnTo>
                <a:lnTo>
                  <a:pt x="1329687" y="591343"/>
                </a:lnTo>
                <a:lnTo>
                  <a:pt x="1326466" y="582889"/>
                </a:lnTo>
                <a:lnTo>
                  <a:pt x="84070" y="26076"/>
                </a:lnTo>
                <a:close/>
              </a:path>
              <a:path w="1329689" h="608964">
                <a:moveTo>
                  <a:pt x="95758" y="0"/>
                </a:moveTo>
                <a:lnTo>
                  <a:pt x="0" y="4053"/>
                </a:lnTo>
                <a:lnTo>
                  <a:pt x="60697" y="78226"/>
                </a:lnTo>
                <a:lnTo>
                  <a:pt x="72383" y="52151"/>
                </a:lnTo>
                <a:lnTo>
                  <a:pt x="52144" y="43080"/>
                </a:lnTo>
                <a:lnTo>
                  <a:pt x="48924" y="34627"/>
                </a:lnTo>
                <a:lnTo>
                  <a:pt x="55378" y="20226"/>
                </a:lnTo>
                <a:lnTo>
                  <a:pt x="63831" y="17005"/>
                </a:lnTo>
                <a:lnTo>
                  <a:pt x="88136" y="17005"/>
                </a:lnTo>
                <a:lnTo>
                  <a:pt x="95758" y="0"/>
                </a:lnTo>
                <a:close/>
              </a:path>
              <a:path w="1329689" h="608964">
                <a:moveTo>
                  <a:pt x="63831" y="17005"/>
                </a:moveTo>
                <a:lnTo>
                  <a:pt x="55378" y="20226"/>
                </a:lnTo>
                <a:lnTo>
                  <a:pt x="48924" y="34627"/>
                </a:lnTo>
                <a:lnTo>
                  <a:pt x="52144" y="43080"/>
                </a:lnTo>
                <a:lnTo>
                  <a:pt x="72383" y="52151"/>
                </a:lnTo>
                <a:lnTo>
                  <a:pt x="84070" y="26076"/>
                </a:lnTo>
                <a:lnTo>
                  <a:pt x="63831" y="17005"/>
                </a:lnTo>
                <a:close/>
              </a:path>
              <a:path w="1329689" h="608964">
                <a:moveTo>
                  <a:pt x="88136" y="17005"/>
                </a:moveTo>
                <a:lnTo>
                  <a:pt x="63831" y="17005"/>
                </a:lnTo>
                <a:lnTo>
                  <a:pt x="84070" y="26076"/>
                </a:lnTo>
                <a:lnTo>
                  <a:pt x="88136" y="17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78443" y="5409904"/>
            <a:ext cx="1340485" cy="609600"/>
          </a:xfrm>
          <a:custGeom>
            <a:avLst/>
            <a:gdLst/>
            <a:ahLst/>
            <a:cxnLst/>
            <a:rect l="l" t="t" r="r" b="b"/>
            <a:pathLst>
              <a:path w="1340485" h="609600">
                <a:moveTo>
                  <a:pt x="84137" y="26110"/>
                </a:moveTo>
                <a:lnTo>
                  <a:pt x="72528" y="52221"/>
                </a:lnTo>
                <a:lnTo>
                  <a:pt x="1325509" y="609249"/>
                </a:lnTo>
                <a:lnTo>
                  <a:pt x="1333953" y="606003"/>
                </a:lnTo>
                <a:lnTo>
                  <a:pt x="1340364" y="591582"/>
                </a:lnTo>
                <a:lnTo>
                  <a:pt x="1337116" y="583138"/>
                </a:lnTo>
                <a:lnTo>
                  <a:pt x="84137" y="26110"/>
                </a:lnTo>
                <a:close/>
              </a:path>
              <a:path w="1340485" h="609600">
                <a:moveTo>
                  <a:pt x="95745" y="0"/>
                </a:moveTo>
                <a:lnTo>
                  <a:pt x="0" y="4342"/>
                </a:lnTo>
                <a:lnTo>
                  <a:pt x="60920" y="78332"/>
                </a:lnTo>
                <a:lnTo>
                  <a:pt x="72528" y="52221"/>
                </a:lnTo>
                <a:lnTo>
                  <a:pt x="52263" y="43211"/>
                </a:lnTo>
                <a:lnTo>
                  <a:pt x="49016" y="34768"/>
                </a:lnTo>
                <a:lnTo>
                  <a:pt x="55427" y="20347"/>
                </a:lnTo>
                <a:lnTo>
                  <a:pt x="63872" y="17101"/>
                </a:lnTo>
                <a:lnTo>
                  <a:pt x="88142" y="17101"/>
                </a:lnTo>
                <a:lnTo>
                  <a:pt x="95745" y="0"/>
                </a:lnTo>
                <a:close/>
              </a:path>
              <a:path w="1340485" h="609600">
                <a:moveTo>
                  <a:pt x="63872" y="17101"/>
                </a:moveTo>
                <a:lnTo>
                  <a:pt x="55427" y="20347"/>
                </a:lnTo>
                <a:lnTo>
                  <a:pt x="49016" y="34768"/>
                </a:lnTo>
                <a:lnTo>
                  <a:pt x="52263" y="43211"/>
                </a:lnTo>
                <a:lnTo>
                  <a:pt x="72528" y="52221"/>
                </a:lnTo>
                <a:lnTo>
                  <a:pt x="84137" y="26110"/>
                </a:lnTo>
                <a:lnTo>
                  <a:pt x="63872" y="17101"/>
                </a:lnTo>
                <a:close/>
              </a:path>
              <a:path w="1340485" h="609600">
                <a:moveTo>
                  <a:pt x="88142" y="17101"/>
                </a:moveTo>
                <a:lnTo>
                  <a:pt x="63872" y="17101"/>
                </a:lnTo>
                <a:lnTo>
                  <a:pt x="84137" y="26110"/>
                </a:lnTo>
                <a:lnTo>
                  <a:pt x="88142" y="17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44990" y="5409647"/>
            <a:ext cx="1350010" cy="609600"/>
          </a:xfrm>
          <a:custGeom>
            <a:avLst/>
            <a:gdLst/>
            <a:ahLst/>
            <a:cxnLst/>
            <a:rect l="l" t="t" r="r" b="b"/>
            <a:pathLst>
              <a:path w="1350010" h="609600">
                <a:moveTo>
                  <a:pt x="84194" y="26141"/>
                </a:moveTo>
                <a:lnTo>
                  <a:pt x="72656" y="52283"/>
                </a:lnTo>
                <a:lnTo>
                  <a:pt x="1335126" y="609502"/>
                </a:lnTo>
                <a:lnTo>
                  <a:pt x="1343562" y="606233"/>
                </a:lnTo>
                <a:lnTo>
                  <a:pt x="1349935" y="591795"/>
                </a:lnTo>
                <a:lnTo>
                  <a:pt x="1346666" y="583360"/>
                </a:lnTo>
                <a:lnTo>
                  <a:pt x="84194" y="26141"/>
                </a:lnTo>
                <a:close/>
              </a:path>
              <a:path w="1350010" h="609600">
                <a:moveTo>
                  <a:pt x="95732" y="0"/>
                </a:moveTo>
                <a:lnTo>
                  <a:pt x="0" y="4598"/>
                </a:lnTo>
                <a:lnTo>
                  <a:pt x="61117" y="78426"/>
                </a:lnTo>
                <a:lnTo>
                  <a:pt x="72656" y="52283"/>
                </a:lnTo>
                <a:lnTo>
                  <a:pt x="52367" y="43328"/>
                </a:lnTo>
                <a:lnTo>
                  <a:pt x="49098" y="34894"/>
                </a:lnTo>
                <a:lnTo>
                  <a:pt x="55471" y="20455"/>
                </a:lnTo>
                <a:lnTo>
                  <a:pt x="63905" y="17186"/>
                </a:lnTo>
                <a:lnTo>
                  <a:pt x="88146" y="17186"/>
                </a:lnTo>
                <a:lnTo>
                  <a:pt x="95732" y="0"/>
                </a:lnTo>
                <a:close/>
              </a:path>
              <a:path w="1350010" h="609600">
                <a:moveTo>
                  <a:pt x="63905" y="17186"/>
                </a:moveTo>
                <a:lnTo>
                  <a:pt x="55471" y="20455"/>
                </a:lnTo>
                <a:lnTo>
                  <a:pt x="49098" y="34894"/>
                </a:lnTo>
                <a:lnTo>
                  <a:pt x="52367" y="43328"/>
                </a:lnTo>
                <a:lnTo>
                  <a:pt x="72656" y="52283"/>
                </a:lnTo>
                <a:lnTo>
                  <a:pt x="84194" y="26141"/>
                </a:lnTo>
                <a:lnTo>
                  <a:pt x="63905" y="17186"/>
                </a:lnTo>
                <a:close/>
              </a:path>
              <a:path w="1350010" h="609600">
                <a:moveTo>
                  <a:pt x="88146" y="17186"/>
                </a:moveTo>
                <a:lnTo>
                  <a:pt x="63905" y="17186"/>
                </a:lnTo>
                <a:lnTo>
                  <a:pt x="84194" y="26141"/>
                </a:lnTo>
                <a:lnTo>
                  <a:pt x="88146" y="17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44936" y="5409824"/>
            <a:ext cx="1343660" cy="609600"/>
          </a:xfrm>
          <a:custGeom>
            <a:avLst/>
            <a:gdLst/>
            <a:ahLst/>
            <a:cxnLst/>
            <a:rect l="l" t="t" r="r" b="b"/>
            <a:pathLst>
              <a:path w="1343659" h="609600">
                <a:moveTo>
                  <a:pt x="84154" y="26120"/>
                </a:moveTo>
                <a:lnTo>
                  <a:pt x="72568" y="52240"/>
                </a:lnTo>
                <a:lnTo>
                  <a:pt x="1328475" y="609328"/>
                </a:lnTo>
                <a:lnTo>
                  <a:pt x="1336916" y="606075"/>
                </a:lnTo>
                <a:lnTo>
                  <a:pt x="1343315" y="591649"/>
                </a:lnTo>
                <a:lnTo>
                  <a:pt x="1340062" y="583208"/>
                </a:lnTo>
                <a:lnTo>
                  <a:pt x="84154" y="26120"/>
                </a:lnTo>
                <a:close/>
              </a:path>
              <a:path w="1343659" h="609600">
                <a:moveTo>
                  <a:pt x="95741" y="0"/>
                </a:moveTo>
                <a:lnTo>
                  <a:pt x="0" y="4422"/>
                </a:lnTo>
                <a:lnTo>
                  <a:pt x="60981" y="78361"/>
                </a:lnTo>
                <a:lnTo>
                  <a:pt x="72568" y="52240"/>
                </a:lnTo>
                <a:lnTo>
                  <a:pt x="52293" y="43247"/>
                </a:lnTo>
                <a:lnTo>
                  <a:pt x="49039" y="34806"/>
                </a:lnTo>
                <a:lnTo>
                  <a:pt x="55438" y="20380"/>
                </a:lnTo>
                <a:lnTo>
                  <a:pt x="63879" y="17127"/>
                </a:lnTo>
                <a:lnTo>
                  <a:pt x="88144" y="17127"/>
                </a:lnTo>
                <a:lnTo>
                  <a:pt x="95741" y="0"/>
                </a:lnTo>
                <a:close/>
              </a:path>
              <a:path w="1343659" h="609600">
                <a:moveTo>
                  <a:pt x="63879" y="17127"/>
                </a:moveTo>
                <a:lnTo>
                  <a:pt x="55438" y="20380"/>
                </a:lnTo>
                <a:lnTo>
                  <a:pt x="49039" y="34806"/>
                </a:lnTo>
                <a:lnTo>
                  <a:pt x="52293" y="43247"/>
                </a:lnTo>
                <a:lnTo>
                  <a:pt x="72568" y="52240"/>
                </a:lnTo>
                <a:lnTo>
                  <a:pt x="84154" y="26120"/>
                </a:lnTo>
                <a:lnTo>
                  <a:pt x="63879" y="17127"/>
                </a:lnTo>
                <a:close/>
              </a:path>
              <a:path w="1343659" h="609600">
                <a:moveTo>
                  <a:pt x="88144" y="17127"/>
                </a:moveTo>
                <a:lnTo>
                  <a:pt x="63879" y="17127"/>
                </a:lnTo>
                <a:lnTo>
                  <a:pt x="84154" y="26120"/>
                </a:lnTo>
                <a:lnTo>
                  <a:pt x="88144" y="17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63447" y="4588432"/>
            <a:ext cx="598170" cy="426084"/>
          </a:xfrm>
          <a:custGeom>
            <a:avLst/>
            <a:gdLst/>
            <a:ahLst/>
            <a:cxnLst/>
            <a:rect l="l" t="t" r="r" b="b"/>
            <a:pathLst>
              <a:path w="598170" h="426085">
                <a:moveTo>
                  <a:pt x="536540" y="360437"/>
                </a:moveTo>
                <a:lnTo>
                  <a:pt x="527627" y="361983"/>
                </a:lnTo>
                <a:lnTo>
                  <a:pt x="518539" y="374884"/>
                </a:lnTo>
                <a:lnTo>
                  <a:pt x="520086" y="383799"/>
                </a:lnTo>
                <a:lnTo>
                  <a:pt x="579711" y="425796"/>
                </a:lnTo>
                <a:lnTo>
                  <a:pt x="588625" y="424249"/>
                </a:lnTo>
                <a:lnTo>
                  <a:pt x="597712" y="411347"/>
                </a:lnTo>
                <a:lnTo>
                  <a:pt x="596167" y="402435"/>
                </a:lnTo>
                <a:lnTo>
                  <a:pt x="536540" y="360437"/>
                </a:lnTo>
                <a:close/>
              </a:path>
              <a:path w="598170" h="426085">
                <a:moveTo>
                  <a:pt x="443094" y="294617"/>
                </a:moveTo>
                <a:lnTo>
                  <a:pt x="434181" y="296163"/>
                </a:lnTo>
                <a:lnTo>
                  <a:pt x="425093" y="309065"/>
                </a:lnTo>
                <a:lnTo>
                  <a:pt x="426639" y="317978"/>
                </a:lnTo>
                <a:lnTo>
                  <a:pt x="486265" y="359976"/>
                </a:lnTo>
                <a:lnTo>
                  <a:pt x="495178" y="358430"/>
                </a:lnTo>
                <a:lnTo>
                  <a:pt x="504266" y="345528"/>
                </a:lnTo>
                <a:lnTo>
                  <a:pt x="502720" y="336614"/>
                </a:lnTo>
                <a:lnTo>
                  <a:pt x="443094" y="294617"/>
                </a:lnTo>
                <a:close/>
              </a:path>
              <a:path w="598170" h="426085">
                <a:moveTo>
                  <a:pt x="349647" y="228798"/>
                </a:moveTo>
                <a:lnTo>
                  <a:pt x="340734" y="230344"/>
                </a:lnTo>
                <a:lnTo>
                  <a:pt x="331646" y="243246"/>
                </a:lnTo>
                <a:lnTo>
                  <a:pt x="333193" y="252159"/>
                </a:lnTo>
                <a:lnTo>
                  <a:pt x="392818" y="294157"/>
                </a:lnTo>
                <a:lnTo>
                  <a:pt x="401731" y="292611"/>
                </a:lnTo>
                <a:lnTo>
                  <a:pt x="410819" y="279708"/>
                </a:lnTo>
                <a:lnTo>
                  <a:pt x="409272" y="270795"/>
                </a:lnTo>
                <a:lnTo>
                  <a:pt x="349647" y="228798"/>
                </a:lnTo>
                <a:close/>
              </a:path>
              <a:path w="598170" h="426085">
                <a:moveTo>
                  <a:pt x="256200" y="162979"/>
                </a:moveTo>
                <a:lnTo>
                  <a:pt x="247288" y="164524"/>
                </a:lnTo>
                <a:lnTo>
                  <a:pt x="238199" y="177427"/>
                </a:lnTo>
                <a:lnTo>
                  <a:pt x="239745" y="186340"/>
                </a:lnTo>
                <a:lnTo>
                  <a:pt x="299372" y="228338"/>
                </a:lnTo>
                <a:lnTo>
                  <a:pt x="308284" y="226791"/>
                </a:lnTo>
                <a:lnTo>
                  <a:pt x="317373" y="213889"/>
                </a:lnTo>
                <a:lnTo>
                  <a:pt x="315826" y="204976"/>
                </a:lnTo>
                <a:lnTo>
                  <a:pt x="256200" y="162979"/>
                </a:lnTo>
                <a:close/>
              </a:path>
              <a:path w="598170" h="426085">
                <a:moveTo>
                  <a:pt x="162754" y="97160"/>
                </a:moveTo>
                <a:lnTo>
                  <a:pt x="153841" y="98705"/>
                </a:lnTo>
                <a:lnTo>
                  <a:pt x="144753" y="111607"/>
                </a:lnTo>
                <a:lnTo>
                  <a:pt x="146298" y="120521"/>
                </a:lnTo>
                <a:lnTo>
                  <a:pt x="205925" y="162518"/>
                </a:lnTo>
                <a:lnTo>
                  <a:pt x="214838" y="160972"/>
                </a:lnTo>
                <a:lnTo>
                  <a:pt x="223926" y="148070"/>
                </a:lnTo>
                <a:lnTo>
                  <a:pt x="222379" y="139156"/>
                </a:lnTo>
                <a:lnTo>
                  <a:pt x="162754" y="97160"/>
                </a:lnTo>
                <a:close/>
              </a:path>
              <a:path w="598170" h="426085">
                <a:moveTo>
                  <a:pt x="78313" y="37682"/>
                </a:moveTo>
                <a:lnTo>
                  <a:pt x="61858" y="61044"/>
                </a:lnTo>
                <a:lnTo>
                  <a:pt x="112478" y="96699"/>
                </a:lnTo>
                <a:lnTo>
                  <a:pt x="121391" y="95153"/>
                </a:lnTo>
                <a:lnTo>
                  <a:pt x="130479" y="82250"/>
                </a:lnTo>
                <a:lnTo>
                  <a:pt x="128932" y="73337"/>
                </a:lnTo>
                <a:lnTo>
                  <a:pt x="78313" y="37682"/>
                </a:lnTo>
                <a:close/>
              </a:path>
              <a:path w="598170" h="426085">
                <a:moveTo>
                  <a:pt x="0" y="0"/>
                </a:moveTo>
                <a:lnTo>
                  <a:pt x="45403" y="84406"/>
                </a:lnTo>
                <a:lnTo>
                  <a:pt x="61858" y="61044"/>
                </a:lnTo>
                <a:lnTo>
                  <a:pt x="52852" y="54701"/>
                </a:lnTo>
                <a:lnTo>
                  <a:pt x="51306" y="45788"/>
                </a:lnTo>
                <a:lnTo>
                  <a:pt x="60393" y="32886"/>
                </a:lnTo>
                <a:lnTo>
                  <a:pt x="69307" y="31339"/>
                </a:lnTo>
                <a:lnTo>
                  <a:pt x="82780" y="31339"/>
                </a:lnTo>
                <a:lnTo>
                  <a:pt x="94767" y="14321"/>
                </a:lnTo>
                <a:lnTo>
                  <a:pt x="0" y="0"/>
                </a:lnTo>
                <a:close/>
              </a:path>
              <a:path w="598170" h="426085">
                <a:moveTo>
                  <a:pt x="69307" y="31339"/>
                </a:moveTo>
                <a:lnTo>
                  <a:pt x="60393" y="32886"/>
                </a:lnTo>
                <a:lnTo>
                  <a:pt x="51306" y="45788"/>
                </a:lnTo>
                <a:lnTo>
                  <a:pt x="52852" y="54701"/>
                </a:lnTo>
                <a:lnTo>
                  <a:pt x="61858" y="61044"/>
                </a:lnTo>
                <a:lnTo>
                  <a:pt x="78313" y="37682"/>
                </a:lnTo>
                <a:lnTo>
                  <a:pt x="69307" y="31339"/>
                </a:lnTo>
                <a:close/>
              </a:path>
              <a:path w="598170" h="426085">
                <a:moveTo>
                  <a:pt x="82780" y="31339"/>
                </a:moveTo>
                <a:lnTo>
                  <a:pt x="69307" y="31339"/>
                </a:lnTo>
                <a:lnTo>
                  <a:pt x="78313" y="37682"/>
                </a:lnTo>
                <a:lnTo>
                  <a:pt x="82780" y="31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55938" y="4178857"/>
            <a:ext cx="415290" cy="409575"/>
          </a:xfrm>
          <a:custGeom>
            <a:avLst/>
            <a:gdLst/>
            <a:ahLst/>
            <a:cxnLst/>
            <a:rect l="l" t="t" r="r" b="b"/>
            <a:pathLst>
              <a:path w="415289" h="409575">
                <a:moveTo>
                  <a:pt x="0" y="0"/>
                </a:moveTo>
                <a:lnTo>
                  <a:pt x="415017" y="0"/>
                </a:lnTo>
                <a:lnTo>
                  <a:pt x="415017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758925" y="4588431"/>
            <a:ext cx="210185" cy="444500"/>
          </a:xfrm>
          <a:custGeom>
            <a:avLst/>
            <a:gdLst/>
            <a:ahLst/>
            <a:cxnLst/>
            <a:rect l="l" t="t" r="r" b="b"/>
            <a:pathLst>
              <a:path w="210185" h="444500">
                <a:moveTo>
                  <a:pt x="172006" y="359149"/>
                </a:moveTo>
                <a:lnTo>
                  <a:pt x="157573" y="365533"/>
                </a:lnTo>
                <a:lnTo>
                  <a:pt x="154311" y="373970"/>
                </a:lnTo>
                <a:lnTo>
                  <a:pt x="183812" y="440669"/>
                </a:lnTo>
                <a:lnTo>
                  <a:pt x="192250" y="443932"/>
                </a:lnTo>
                <a:lnTo>
                  <a:pt x="206682" y="437548"/>
                </a:lnTo>
                <a:lnTo>
                  <a:pt x="209944" y="429110"/>
                </a:lnTo>
                <a:lnTo>
                  <a:pt x="180444" y="362412"/>
                </a:lnTo>
                <a:lnTo>
                  <a:pt x="172006" y="359149"/>
                </a:lnTo>
                <a:close/>
              </a:path>
              <a:path w="210185" h="444500">
                <a:moveTo>
                  <a:pt x="125770" y="254618"/>
                </a:moveTo>
                <a:lnTo>
                  <a:pt x="111338" y="261001"/>
                </a:lnTo>
                <a:lnTo>
                  <a:pt x="108075" y="269439"/>
                </a:lnTo>
                <a:lnTo>
                  <a:pt x="137576" y="336138"/>
                </a:lnTo>
                <a:lnTo>
                  <a:pt x="146014" y="339401"/>
                </a:lnTo>
                <a:lnTo>
                  <a:pt x="160447" y="333016"/>
                </a:lnTo>
                <a:lnTo>
                  <a:pt x="163709" y="324578"/>
                </a:lnTo>
                <a:lnTo>
                  <a:pt x="134208" y="257881"/>
                </a:lnTo>
                <a:lnTo>
                  <a:pt x="125770" y="254618"/>
                </a:lnTo>
                <a:close/>
              </a:path>
              <a:path w="210185" h="444500">
                <a:moveTo>
                  <a:pt x="79536" y="150087"/>
                </a:moveTo>
                <a:lnTo>
                  <a:pt x="65102" y="156470"/>
                </a:lnTo>
                <a:lnTo>
                  <a:pt x="61840" y="164908"/>
                </a:lnTo>
                <a:lnTo>
                  <a:pt x="91342" y="231607"/>
                </a:lnTo>
                <a:lnTo>
                  <a:pt x="99778" y="234868"/>
                </a:lnTo>
                <a:lnTo>
                  <a:pt x="114212" y="228485"/>
                </a:lnTo>
                <a:lnTo>
                  <a:pt x="117475" y="220047"/>
                </a:lnTo>
                <a:lnTo>
                  <a:pt x="87972" y="153349"/>
                </a:lnTo>
                <a:lnTo>
                  <a:pt x="79536" y="150087"/>
                </a:lnTo>
                <a:close/>
              </a:path>
              <a:path w="210185" h="444500">
                <a:moveTo>
                  <a:pt x="52265" y="72619"/>
                </a:moveTo>
                <a:lnTo>
                  <a:pt x="26132" y="84178"/>
                </a:lnTo>
                <a:lnTo>
                  <a:pt x="45106" y="127074"/>
                </a:lnTo>
                <a:lnTo>
                  <a:pt x="53544" y="130337"/>
                </a:lnTo>
                <a:lnTo>
                  <a:pt x="67976" y="123954"/>
                </a:lnTo>
                <a:lnTo>
                  <a:pt x="71239" y="115516"/>
                </a:lnTo>
                <a:lnTo>
                  <a:pt x="52265" y="72619"/>
                </a:lnTo>
                <a:close/>
              </a:path>
              <a:path w="210185" h="444500">
                <a:moveTo>
                  <a:pt x="4522" y="0"/>
                </a:moveTo>
                <a:lnTo>
                  <a:pt x="0" y="95737"/>
                </a:lnTo>
                <a:lnTo>
                  <a:pt x="26132" y="84178"/>
                </a:lnTo>
                <a:lnTo>
                  <a:pt x="17161" y="63896"/>
                </a:lnTo>
                <a:lnTo>
                  <a:pt x="20424" y="55458"/>
                </a:lnTo>
                <a:lnTo>
                  <a:pt x="34856" y="49074"/>
                </a:lnTo>
                <a:lnTo>
                  <a:pt x="63896" y="49074"/>
                </a:lnTo>
                <a:lnTo>
                  <a:pt x="4522" y="0"/>
                </a:lnTo>
                <a:close/>
              </a:path>
              <a:path w="210185" h="444500">
                <a:moveTo>
                  <a:pt x="34856" y="49074"/>
                </a:moveTo>
                <a:lnTo>
                  <a:pt x="20424" y="55458"/>
                </a:lnTo>
                <a:lnTo>
                  <a:pt x="17161" y="63896"/>
                </a:lnTo>
                <a:lnTo>
                  <a:pt x="26132" y="84178"/>
                </a:lnTo>
                <a:lnTo>
                  <a:pt x="52265" y="72619"/>
                </a:lnTo>
                <a:lnTo>
                  <a:pt x="43294" y="52336"/>
                </a:lnTo>
                <a:lnTo>
                  <a:pt x="34856" y="49074"/>
                </a:lnTo>
                <a:close/>
              </a:path>
              <a:path w="210185" h="444500">
                <a:moveTo>
                  <a:pt x="63896" y="49074"/>
                </a:moveTo>
                <a:lnTo>
                  <a:pt x="34856" y="49074"/>
                </a:lnTo>
                <a:lnTo>
                  <a:pt x="43294" y="52336"/>
                </a:lnTo>
                <a:lnTo>
                  <a:pt x="52265" y="72619"/>
                </a:lnTo>
                <a:lnTo>
                  <a:pt x="78398" y="61060"/>
                </a:lnTo>
                <a:lnTo>
                  <a:pt x="63896" y="49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60216" y="4588432"/>
            <a:ext cx="207010" cy="426084"/>
          </a:xfrm>
          <a:custGeom>
            <a:avLst/>
            <a:gdLst/>
            <a:ahLst/>
            <a:cxnLst/>
            <a:rect l="l" t="t" r="r" b="b"/>
            <a:pathLst>
              <a:path w="207010" h="426085">
                <a:moveTo>
                  <a:pt x="38760" y="341307"/>
                </a:moveTo>
                <a:lnTo>
                  <a:pt x="30284" y="344470"/>
                </a:lnTo>
                <a:lnTo>
                  <a:pt x="0" y="410817"/>
                </a:lnTo>
                <a:lnTo>
                  <a:pt x="3162" y="419291"/>
                </a:lnTo>
                <a:lnTo>
                  <a:pt x="17519" y="425844"/>
                </a:lnTo>
                <a:lnTo>
                  <a:pt x="25994" y="422682"/>
                </a:lnTo>
                <a:lnTo>
                  <a:pt x="56280" y="356336"/>
                </a:lnTo>
                <a:lnTo>
                  <a:pt x="53116" y="347860"/>
                </a:lnTo>
                <a:lnTo>
                  <a:pt x="38760" y="341307"/>
                </a:lnTo>
                <a:close/>
              </a:path>
              <a:path w="207010" h="426085">
                <a:moveTo>
                  <a:pt x="86224" y="237328"/>
                </a:moveTo>
                <a:lnTo>
                  <a:pt x="77748" y="240491"/>
                </a:lnTo>
                <a:lnTo>
                  <a:pt x="47463" y="306837"/>
                </a:lnTo>
                <a:lnTo>
                  <a:pt x="50626" y="315313"/>
                </a:lnTo>
                <a:lnTo>
                  <a:pt x="64982" y="321866"/>
                </a:lnTo>
                <a:lnTo>
                  <a:pt x="73458" y="318702"/>
                </a:lnTo>
                <a:lnTo>
                  <a:pt x="103742" y="252356"/>
                </a:lnTo>
                <a:lnTo>
                  <a:pt x="100580" y="243881"/>
                </a:lnTo>
                <a:lnTo>
                  <a:pt x="86224" y="237328"/>
                </a:lnTo>
                <a:close/>
              </a:path>
              <a:path w="207010" h="426085">
                <a:moveTo>
                  <a:pt x="133686" y="133348"/>
                </a:moveTo>
                <a:lnTo>
                  <a:pt x="125211" y="136512"/>
                </a:lnTo>
                <a:lnTo>
                  <a:pt x="94926" y="202858"/>
                </a:lnTo>
                <a:lnTo>
                  <a:pt x="98089" y="211333"/>
                </a:lnTo>
                <a:lnTo>
                  <a:pt x="112445" y="217886"/>
                </a:lnTo>
                <a:lnTo>
                  <a:pt x="120921" y="214723"/>
                </a:lnTo>
                <a:lnTo>
                  <a:pt x="151206" y="148377"/>
                </a:lnTo>
                <a:lnTo>
                  <a:pt x="148043" y="139901"/>
                </a:lnTo>
                <a:lnTo>
                  <a:pt x="133686" y="133348"/>
                </a:lnTo>
                <a:close/>
              </a:path>
              <a:path w="207010" h="426085">
                <a:moveTo>
                  <a:pt x="154635" y="72051"/>
                </a:moveTo>
                <a:lnTo>
                  <a:pt x="142389" y="98878"/>
                </a:lnTo>
                <a:lnTo>
                  <a:pt x="145553" y="107354"/>
                </a:lnTo>
                <a:lnTo>
                  <a:pt x="159909" y="113907"/>
                </a:lnTo>
                <a:lnTo>
                  <a:pt x="168384" y="110743"/>
                </a:lnTo>
                <a:lnTo>
                  <a:pt x="180630" y="83917"/>
                </a:lnTo>
                <a:lnTo>
                  <a:pt x="154635" y="72051"/>
                </a:lnTo>
                <a:close/>
              </a:path>
              <a:path w="207010" h="426085">
                <a:moveTo>
                  <a:pt x="204956" y="48712"/>
                </a:moveTo>
                <a:lnTo>
                  <a:pt x="172321" y="48712"/>
                </a:lnTo>
                <a:lnTo>
                  <a:pt x="186677" y="55265"/>
                </a:lnTo>
                <a:lnTo>
                  <a:pt x="189840" y="63741"/>
                </a:lnTo>
                <a:lnTo>
                  <a:pt x="180630" y="83917"/>
                </a:lnTo>
                <a:lnTo>
                  <a:pt x="206625" y="95783"/>
                </a:lnTo>
                <a:lnTo>
                  <a:pt x="204956" y="48712"/>
                </a:lnTo>
                <a:close/>
              </a:path>
              <a:path w="207010" h="426085">
                <a:moveTo>
                  <a:pt x="172321" y="48712"/>
                </a:moveTo>
                <a:lnTo>
                  <a:pt x="163845" y="51875"/>
                </a:lnTo>
                <a:lnTo>
                  <a:pt x="154635" y="72051"/>
                </a:lnTo>
                <a:lnTo>
                  <a:pt x="180630" y="83917"/>
                </a:lnTo>
                <a:lnTo>
                  <a:pt x="189840" y="63741"/>
                </a:lnTo>
                <a:lnTo>
                  <a:pt x="186677" y="55265"/>
                </a:lnTo>
                <a:lnTo>
                  <a:pt x="172321" y="48712"/>
                </a:lnTo>
                <a:close/>
              </a:path>
              <a:path w="207010" h="426085">
                <a:moveTo>
                  <a:pt x="203230" y="0"/>
                </a:moveTo>
                <a:lnTo>
                  <a:pt x="128640" y="60185"/>
                </a:lnTo>
                <a:lnTo>
                  <a:pt x="154635" y="72051"/>
                </a:lnTo>
                <a:lnTo>
                  <a:pt x="163845" y="51875"/>
                </a:lnTo>
                <a:lnTo>
                  <a:pt x="172321" y="48712"/>
                </a:lnTo>
                <a:lnTo>
                  <a:pt x="204956" y="48712"/>
                </a:lnTo>
                <a:lnTo>
                  <a:pt x="2032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165774" y="4588431"/>
            <a:ext cx="598170" cy="443865"/>
          </a:xfrm>
          <a:custGeom>
            <a:avLst/>
            <a:gdLst/>
            <a:ahLst/>
            <a:cxnLst/>
            <a:rect l="l" t="t" r="r" b="b"/>
            <a:pathLst>
              <a:path w="598170" h="443864">
                <a:moveTo>
                  <a:pt x="60115" y="377628"/>
                </a:moveTo>
                <a:lnTo>
                  <a:pt x="1362" y="420838"/>
                </a:lnTo>
                <a:lnTo>
                  <a:pt x="0" y="429781"/>
                </a:lnTo>
                <a:lnTo>
                  <a:pt x="9351" y="442495"/>
                </a:lnTo>
                <a:lnTo>
                  <a:pt x="18293" y="443858"/>
                </a:lnTo>
                <a:lnTo>
                  <a:pt x="77045" y="400646"/>
                </a:lnTo>
                <a:lnTo>
                  <a:pt x="78408" y="391704"/>
                </a:lnTo>
                <a:lnTo>
                  <a:pt x="69058" y="378990"/>
                </a:lnTo>
                <a:lnTo>
                  <a:pt x="60115" y="377628"/>
                </a:lnTo>
                <a:close/>
              </a:path>
              <a:path w="598170" h="443864">
                <a:moveTo>
                  <a:pt x="152192" y="309906"/>
                </a:moveTo>
                <a:lnTo>
                  <a:pt x="93441" y="353118"/>
                </a:lnTo>
                <a:lnTo>
                  <a:pt x="92077" y="362060"/>
                </a:lnTo>
                <a:lnTo>
                  <a:pt x="101428" y="374774"/>
                </a:lnTo>
                <a:lnTo>
                  <a:pt x="110371" y="376137"/>
                </a:lnTo>
                <a:lnTo>
                  <a:pt x="169123" y="332926"/>
                </a:lnTo>
                <a:lnTo>
                  <a:pt x="170486" y="323983"/>
                </a:lnTo>
                <a:lnTo>
                  <a:pt x="161136" y="311269"/>
                </a:lnTo>
                <a:lnTo>
                  <a:pt x="152192" y="309906"/>
                </a:lnTo>
                <a:close/>
              </a:path>
              <a:path w="598170" h="443864">
                <a:moveTo>
                  <a:pt x="244270" y="242185"/>
                </a:moveTo>
                <a:lnTo>
                  <a:pt x="185519" y="285396"/>
                </a:lnTo>
                <a:lnTo>
                  <a:pt x="184155" y="294339"/>
                </a:lnTo>
                <a:lnTo>
                  <a:pt x="193506" y="307052"/>
                </a:lnTo>
                <a:lnTo>
                  <a:pt x="202449" y="308415"/>
                </a:lnTo>
                <a:lnTo>
                  <a:pt x="261200" y="265205"/>
                </a:lnTo>
                <a:lnTo>
                  <a:pt x="262564" y="256261"/>
                </a:lnTo>
                <a:lnTo>
                  <a:pt x="253213" y="243549"/>
                </a:lnTo>
                <a:lnTo>
                  <a:pt x="244270" y="242185"/>
                </a:lnTo>
                <a:close/>
              </a:path>
              <a:path w="598170" h="443864">
                <a:moveTo>
                  <a:pt x="336349" y="174463"/>
                </a:moveTo>
                <a:lnTo>
                  <a:pt x="277596" y="217675"/>
                </a:lnTo>
                <a:lnTo>
                  <a:pt x="276233" y="226618"/>
                </a:lnTo>
                <a:lnTo>
                  <a:pt x="285583" y="239331"/>
                </a:lnTo>
                <a:lnTo>
                  <a:pt x="294526" y="240694"/>
                </a:lnTo>
                <a:lnTo>
                  <a:pt x="353278" y="197483"/>
                </a:lnTo>
                <a:lnTo>
                  <a:pt x="354642" y="188540"/>
                </a:lnTo>
                <a:lnTo>
                  <a:pt x="345291" y="175827"/>
                </a:lnTo>
                <a:lnTo>
                  <a:pt x="336349" y="174463"/>
                </a:lnTo>
                <a:close/>
              </a:path>
              <a:path w="598170" h="443864">
                <a:moveTo>
                  <a:pt x="428426" y="106743"/>
                </a:moveTo>
                <a:lnTo>
                  <a:pt x="369674" y="149953"/>
                </a:lnTo>
                <a:lnTo>
                  <a:pt x="368311" y="158897"/>
                </a:lnTo>
                <a:lnTo>
                  <a:pt x="377661" y="171610"/>
                </a:lnTo>
                <a:lnTo>
                  <a:pt x="386604" y="172973"/>
                </a:lnTo>
                <a:lnTo>
                  <a:pt x="445357" y="129762"/>
                </a:lnTo>
                <a:lnTo>
                  <a:pt x="446719" y="120818"/>
                </a:lnTo>
                <a:lnTo>
                  <a:pt x="437368" y="108106"/>
                </a:lnTo>
                <a:lnTo>
                  <a:pt x="428426" y="106743"/>
                </a:lnTo>
                <a:close/>
              </a:path>
              <a:path w="598170" h="443864">
                <a:moveTo>
                  <a:pt x="520150" y="39282"/>
                </a:moveTo>
                <a:lnTo>
                  <a:pt x="461751" y="82232"/>
                </a:lnTo>
                <a:lnTo>
                  <a:pt x="460388" y="91175"/>
                </a:lnTo>
                <a:lnTo>
                  <a:pt x="469739" y="103888"/>
                </a:lnTo>
                <a:lnTo>
                  <a:pt x="478682" y="105252"/>
                </a:lnTo>
                <a:lnTo>
                  <a:pt x="537080" y="62301"/>
                </a:lnTo>
                <a:lnTo>
                  <a:pt x="520150" y="39282"/>
                </a:lnTo>
                <a:close/>
              </a:path>
              <a:path w="598170" h="443864">
                <a:moveTo>
                  <a:pt x="577704" y="39022"/>
                </a:moveTo>
                <a:lnTo>
                  <a:pt x="520504" y="39022"/>
                </a:lnTo>
                <a:lnTo>
                  <a:pt x="529447" y="40384"/>
                </a:lnTo>
                <a:lnTo>
                  <a:pt x="538797" y="53097"/>
                </a:lnTo>
                <a:lnTo>
                  <a:pt x="537434" y="62040"/>
                </a:lnTo>
                <a:lnTo>
                  <a:pt x="537080" y="62301"/>
                </a:lnTo>
                <a:lnTo>
                  <a:pt x="554010" y="85321"/>
                </a:lnTo>
                <a:lnTo>
                  <a:pt x="577704" y="39022"/>
                </a:lnTo>
                <a:close/>
              </a:path>
              <a:path w="598170" h="443864">
                <a:moveTo>
                  <a:pt x="520504" y="39022"/>
                </a:moveTo>
                <a:lnTo>
                  <a:pt x="520150" y="39282"/>
                </a:lnTo>
                <a:lnTo>
                  <a:pt x="537080" y="62301"/>
                </a:lnTo>
                <a:lnTo>
                  <a:pt x="537434" y="62040"/>
                </a:lnTo>
                <a:lnTo>
                  <a:pt x="538797" y="53097"/>
                </a:lnTo>
                <a:lnTo>
                  <a:pt x="529447" y="40384"/>
                </a:lnTo>
                <a:lnTo>
                  <a:pt x="520504" y="39022"/>
                </a:lnTo>
                <a:close/>
              </a:path>
              <a:path w="598170" h="443864">
                <a:moveTo>
                  <a:pt x="597673" y="0"/>
                </a:moveTo>
                <a:lnTo>
                  <a:pt x="503219" y="16262"/>
                </a:lnTo>
                <a:lnTo>
                  <a:pt x="520150" y="39282"/>
                </a:lnTo>
                <a:lnTo>
                  <a:pt x="520504" y="39022"/>
                </a:lnTo>
                <a:lnTo>
                  <a:pt x="577704" y="39022"/>
                </a:lnTo>
                <a:lnTo>
                  <a:pt x="597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18108" y="3305555"/>
            <a:ext cx="7429500" cy="236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348354" algn="l"/>
                <a:tab pos="4184015" algn="l"/>
              </a:tabLst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Score</a:t>
            </a:r>
            <a:r>
              <a:rPr dirty="0" sz="3200" spc="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function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35">
                <a:latin typeface="Cambria Math"/>
                <a:cs typeface="Cambria Math"/>
              </a:rPr>
              <a:t>𝑓</a:t>
            </a:r>
            <a:r>
              <a:rPr dirty="0" baseline="-15700" sz="3450" spc="-52">
                <a:latin typeface="Cambria Math"/>
                <a:cs typeface="Cambria Math"/>
              </a:rPr>
              <a:t>!	</a:t>
            </a:r>
            <a:r>
              <a:rPr dirty="0" sz="3200" spc="25">
                <a:latin typeface="Cambria Math"/>
                <a:cs typeface="Cambria Math"/>
              </a:rPr>
              <a:t>ℎ,</a:t>
            </a:r>
            <a:r>
              <a:rPr dirty="0" sz="3200" spc="-16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𝑡	= </a:t>
            </a:r>
            <a:r>
              <a:rPr dirty="0" sz="3200" spc="-110">
                <a:solidFill>
                  <a:srgbClr val="0000FF"/>
                </a:solidFill>
                <a:latin typeface="Cambria Math"/>
                <a:cs typeface="Cambria Math"/>
              </a:rPr>
              <a:t>Re</a:t>
            </a:r>
            <a:r>
              <a:rPr dirty="0" sz="3200" spc="-110">
                <a:latin typeface="Cambria Math"/>
                <a:cs typeface="Cambria Math"/>
              </a:rPr>
              <a:t>(</a:t>
            </a:r>
            <a:r>
              <a:rPr dirty="0" baseline="2604" sz="4800" spc="-165">
                <a:latin typeface="Cambria Math"/>
                <a:cs typeface="Cambria Math"/>
              </a:rPr>
              <a:t>∑</a:t>
            </a:r>
            <a:r>
              <a:rPr dirty="0" baseline="-18115" sz="3450" spc="-165">
                <a:latin typeface="Cambria Math"/>
                <a:cs typeface="Cambria Math"/>
              </a:rPr>
              <a:t>3 </a:t>
            </a:r>
            <a:r>
              <a:rPr dirty="0" sz="3200" spc="-235">
                <a:latin typeface="Cambria Math"/>
                <a:cs typeface="Cambria Math"/>
              </a:rPr>
              <a:t>𝐡</a:t>
            </a:r>
            <a:r>
              <a:rPr dirty="0" baseline="-15700" sz="3450" spc="-352">
                <a:latin typeface="Cambria Math"/>
                <a:cs typeface="Cambria Math"/>
              </a:rPr>
              <a:t>3   </a:t>
            </a:r>
            <a:r>
              <a:rPr dirty="0" sz="3200">
                <a:latin typeface="Cambria Math"/>
                <a:cs typeface="Cambria Math"/>
              </a:rPr>
              <a:t>⋅ </a:t>
            </a:r>
            <a:r>
              <a:rPr dirty="0" sz="3200" spc="-365">
                <a:latin typeface="Cambria Math"/>
                <a:cs typeface="Cambria Math"/>
              </a:rPr>
              <a:t>𝐫</a:t>
            </a:r>
            <a:r>
              <a:rPr dirty="0" baseline="-15700" sz="3450" spc="-547">
                <a:latin typeface="Cambria Math"/>
                <a:cs typeface="Cambria Math"/>
              </a:rPr>
              <a:t>3     </a:t>
            </a:r>
            <a:r>
              <a:rPr dirty="0" sz="3200">
                <a:latin typeface="Cambria Math"/>
                <a:cs typeface="Cambria Math"/>
              </a:rPr>
              <a:t>⋅</a:t>
            </a:r>
            <a:r>
              <a:rPr dirty="0" sz="3200" spc="80">
                <a:latin typeface="Cambria Math"/>
                <a:cs typeface="Cambria Math"/>
              </a:rPr>
              <a:t> </a:t>
            </a:r>
            <a:r>
              <a:rPr dirty="0" sz="3200" spc="-70">
                <a:latin typeface="Cambria Math"/>
                <a:cs typeface="Cambria Math"/>
              </a:rPr>
              <a:t>𝐭</a:t>
            </a:r>
            <a:r>
              <a:rPr dirty="0" baseline="7812" sz="4800" spc="-104">
                <a:latin typeface="Cambria Math"/>
                <a:cs typeface="Cambria Math"/>
              </a:rPr>
              <a:t>̅</a:t>
            </a:r>
            <a:r>
              <a:rPr dirty="0" baseline="-15700" sz="3450" spc="-104">
                <a:latin typeface="Cambria Math"/>
                <a:cs typeface="Cambria Math"/>
              </a:rPr>
              <a:t>3</a:t>
            </a:r>
            <a:r>
              <a:rPr dirty="0" sz="3200" spc="-7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  <a:p>
            <a:pPr algn="ctr" marL="869950">
              <a:lnSpc>
                <a:spcPct val="100000"/>
              </a:lnSpc>
              <a:spcBef>
                <a:spcPts val="80"/>
              </a:spcBef>
            </a:pPr>
            <a:r>
              <a:rPr dirty="0" sz="1800" spc="5">
                <a:latin typeface="Cambria Math"/>
                <a:cs typeface="Cambria Math"/>
              </a:rPr>
              <a:t>𝑓</a:t>
            </a:r>
            <a:r>
              <a:rPr dirty="0" baseline="-14957" sz="1950" spc="7">
                <a:latin typeface="Cambria Math"/>
                <a:cs typeface="Cambria Math"/>
              </a:rPr>
              <a:t>!</a:t>
            </a:r>
            <a:r>
              <a:rPr dirty="0" sz="1800" spc="5">
                <a:latin typeface="Cambria Math"/>
                <a:cs typeface="Cambria Math"/>
              </a:rPr>
              <a:t>(ℎ,</a:t>
            </a:r>
            <a:r>
              <a:rPr dirty="0" sz="1800" spc="-160">
                <a:latin typeface="Cambria Math"/>
                <a:cs typeface="Cambria Math"/>
              </a:rPr>
              <a:t> </a:t>
            </a:r>
            <a:r>
              <a:rPr dirty="0" sz="1800" spc="15">
                <a:latin typeface="Cambria Math"/>
                <a:cs typeface="Cambria Math"/>
              </a:rPr>
              <a:t>𝑡)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marL="458851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Sum</a:t>
            </a:r>
            <a:endParaRPr sz="1800">
              <a:latin typeface="Arial"/>
              <a:cs typeface="Arial"/>
            </a:endParaRPr>
          </a:p>
          <a:p>
            <a:pPr algn="ctr" marR="1549400">
              <a:lnSpc>
                <a:spcPct val="100000"/>
              </a:lnSpc>
              <a:spcBef>
                <a:spcPts val="1700"/>
              </a:spcBef>
            </a:pPr>
            <a:r>
              <a:rPr dirty="0" sz="1800">
                <a:solidFill>
                  <a:srgbClr val="D9253E"/>
                </a:solidFill>
                <a:latin typeface="Cambria Math"/>
                <a:cs typeface="Cambria Math"/>
              </a:rPr>
              <a:t>𝐫</a:t>
            </a:r>
            <a:endParaRPr sz="1800">
              <a:latin typeface="Cambria Math"/>
              <a:cs typeface="Cambria Math"/>
            </a:endParaRPr>
          </a:p>
          <a:p>
            <a:pPr algn="r" marR="621030">
              <a:lnSpc>
                <a:spcPct val="100000"/>
              </a:lnSpc>
              <a:spcBef>
                <a:spcPts val="405"/>
              </a:spcBef>
            </a:pPr>
            <a:r>
              <a:rPr dirty="0" sz="1800" spc="-5">
                <a:latin typeface="Arial"/>
                <a:cs typeface="Arial"/>
              </a:rPr>
              <a:t>Inner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Product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3547553" y="6446011"/>
            <a:ext cx="165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ambria Math"/>
                <a:cs typeface="Cambria Math"/>
              </a:rPr>
              <a:t>𝐡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72290" y="6439915"/>
            <a:ext cx="112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65759"/>
            <a:ext cx="8196072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07758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FF"/>
                </a:solidFill>
              </a:rPr>
              <a:t>Antisymmetric</a:t>
            </a:r>
            <a:r>
              <a:rPr dirty="0" spc="-4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1928495">
              <a:lnSpc>
                <a:spcPts val="3815"/>
              </a:lnSpc>
              <a:tabLst>
                <a:tab pos="5264150" algn="l"/>
              </a:tabLst>
            </a:pP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𝑟(ℎ, 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⇒</a:t>
            </a:r>
            <a:r>
              <a:rPr dirty="0" spc="15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¬𝑟(𝑡,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ℎ)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4" name="object 4"/>
          <p:cNvSpPr/>
          <p:nvPr/>
        </p:nvSpPr>
        <p:spPr>
          <a:xfrm>
            <a:off x="2424676" y="4003438"/>
            <a:ext cx="615315" cy="282575"/>
          </a:xfrm>
          <a:custGeom>
            <a:avLst/>
            <a:gdLst/>
            <a:ahLst/>
            <a:cxnLst/>
            <a:rect l="l" t="t" r="r" b="b"/>
            <a:pathLst>
              <a:path w="615314" h="282575">
                <a:moveTo>
                  <a:pt x="525237" y="0"/>
                </a:moveTo>
                <a:lnTo>
                  <a:pt x="521219" y="11459"/>
                </a:lnTo>
                <a:lnTo>
                  <a:pt x="537562" y="18552"/>
                </a:lnTo>
                <a:lnTo>
                  <a:pt x="551617" y="28370"/>
                </a:lnTo>
                <a:lnTo>
                  <a:pt x="580155" y="73878"/>
                </a:lnTo>
                <a:lnTo>
                  <a:pt x="588489" y="115662"/>
                </a:lnTo>
                <a:lnTo>
                  <a:pt x="589531" y="139749"/>
                </a:lnTo>
                <a:lnTo>
                  <a:pt x="588484" y="164650"/>
                </a:lnTo>
                <a:lnTo>
                  <a:pt x="580112" y="207587"/>
                </a:lnTo>
                <a:lnTo>
                  <a:pt x="551635" y="253826"/>
                </a:lnTo>
                <a:lnTo>
                  <a:pt x="521665" y="270866"/>
                </a:lnTo>
                <a:lnTo>
                  <a:pt x="525237" y="282327"/>
                </a:lnTo>
                <a:lnTo>
                  <a:pt x="563747" y="264263"/>
                </a:lnTo>
                <a:lnTo>
                  <a:pt x="592061" y="232990"/>
                </a:lnTo>
                <a:lnTo>
                  <a:pt x="609474" y="191113"/>
                </a:lnTo>
                <a:lnTo>
                  <a:pt x="615278" y="141237"/>
                </a:lnTo>
                <a:lnTo>
                  <a:pt x="613822" y="115355"/>
                </a:lnTo>
                <a:lnTo>
                  <a:pt x="602177" y="69479"/>
                </a:lnTo>
                <a:lnTo>
                  <a:pt x="579081" y="32133"/>
                </a:lnTo>
                <a:lnTo>
                  <a:pt x="545705" y="7390"/>
                </a:lnTo>
                <a:lnTo>
                  <a:pt x="525237" y="0"/>
                </a:lnTo>
                <a:close/>
              </a:path>
              <a:path w="615314" h="282575">
                <a:moveTo>
                  <a:pt x="90040" y="0"/>
                </a:moveTo>
                <a:lnTo>
                  <a:pt x="51623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1" y="270866"/>
                </a:lnTo>
                <a:lnTo>
                  <a:pt x="77524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68542" y="4460638"/>
            <a:ext cx="591820" cy="282575"/>
          </a:xfrm>
          <a:custGeom>
            <a:avLst/>
            <a:gdLst/>
            <a:ahLst/>
            <a:cxnLst/>
            <a:rect l="l" t="t" r="r" b="b"/>
            <a:pathLst>
              <a:path w="591819" h="282575">
                <a:moveTo>
                  <a:pt x="501298" y="0"/>
                </a:moveTo>
                <a:lnTo>
                  <a:pt x="497279" y="11460"/>
                </a:lnTo>
                <a:lnTo>
                  <a:pt x="513622" y="18552"/>
                </a:lnTo>
                <a:lnTo>
                  <a:pt x="527677" y="28370"/>
                </a:lnTo>
                <a:lnTo>
                  <a:pt x="556215" y="73878"/>
                </a:lnTo>
                <a:lnTo>
                  <a:pt x="564550" y="115662"/>
                </a:lnTo>
                <a:lnTo>
                  <a:pt x="565591" y="139749"/>
                </a:lnTo>
                <a:lnTo>
                  <a:pt x="564545" y="164650"/>
                </a:lnTo>
                <a:lnTo>
                  <a:pt x="556173" y="207587"/>
                </a:lnTo>
                <a:lnTo>
                  <a:pt x="527696" y="253826"/>
                </a:lnTo>
                <a:lnTo>
                  <a:pt x="497726" y="270866"/>
                </a:lnTo>
                <a:lnTo>
                  <a:pt x="501298" y="282327"/>
                </a:lnTo>
                <a:lnTo>
                  <a:pt x="539807" y="264263"/>
                </a:lnTo>
                <a:lnTo>
                  <a:pt x="568121" y="232990"/>
                </a:lnTo>
                <a:lnTo>
                  <a:pt x="585534" y="191113"/>
                </a:lnTo>
                <a:lnTo>
                  <a:pt x="591338" y="141237"/>
                </a:lnTo>
                <a:lnTo>
                  <a:pt x="589883" y="115355"/>
                </a:lnTo>
                <a:lnTo>
                  <a:pt x="578237" y="69479"/>
                </a:lnTo>
                <a:lnTo>
                  <a:pt x="555141" y="32133"/>
                </a:lnTo>
                <a:lnTo>
                  <a:pt x="521766" y="7390"/>
                </a:lnTo>
                <a:lnTo>
                  <a:pt x="501298" y="0"/>
                </a:lnTo>
                <a:close/>
              </a:path>
              <a:path w="591819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108" y="2414523"/>
            <a:ext cx="8025765" cy="2792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Hypernym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ComplEx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antisymmetric relations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The model is </a:t>
            </a:r>
            <a:r>
              <a:rPr dirty="0" sz="2800" spc="-15">
                <a:latin typeface="Calibri"/>
                <a:cs typeface="Calibri"/>
              </a:rPr>
              <a:t>expressive </a:t>
            </a:r>
            <a:r>
              <a:rPr dirty="0" sz="2800" spc="-5">
                <a:latin typeface="Calibri"/>
                <a:cs typeface="Calibri"/>
              </a:rPr>
              <a:t>enough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10">
                <a:latin typeface="Calibri"/>
                <a:cs typeface="Calibri"/>
              </a:rPr>
              <a:t> learn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  <a:tab pos="2533015" algn="l"/>
              </a:tabLst>
            </a:pPr>
            <a:r>
              <a:rPr dirty="0" sz="2400" spc="-5" b="1">
                <a:latin typeface="Calibri"/>
                <a:cs typeface="Calibri"/>
              </a:rPr>
              <a:t>High </a:t>
            </a:r>
            <a:r>
              <a:rPr dirty="0" sz="2400" spc="-200">
                <a:latin typeface="Cambria Math"/>
                <a:cs typeface="Cambria Math"/>
              </a:rPr>
              <a:t>𝑓</a:t>
            </a:r>
            <a:r>
              <a:rPr dirty="0" baseline="-15432" sz="2700" spc="-300">
                <a:latin typeface="Cambria Math"/>
                <a:cs typeface="Cambria Math"/>
              </a:rPr>
              <a:t>/   </a:t>
            </a:r>
            <a:r>
              <a:rPr dirty="0" baseline="-15432" sz="2700" spc="-225">
                <a:latin typeface="Cambria Math"/>
                <a:cs typeface="Cambria Math"/>
              </a:rPr>
              <a:t> </a:t>
            </a:r>
            <a:r>
              <a:rPr dirty="0" sz="2400" spc="15">
                <a:latin typeface="Cambria Math"/>
                <a:cs typeface="Cambria Math"/>
              </a:rPr>
              <a:t>ℎ,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𝑡	= </a:t>
            </a:r>
            <a:r>
              <a:rPr dirty="0" sz="2400" spc="-130">
                <a:solidFill>
                  <a:srgbClr val="0000FF"/>
                </a:solidFill>
                <a:latin typeface="Cambria Math"/>
                <a:cs typeface="Cambria Math"/>
              </a:rPr>
              <a:t>Re</a:t>
            </a:r>
            <a:r>
              <a:rPr dirty="0" sz="2400" spc="-130">
                <a:latin typeface="Cambria Math"/>
                <a:cs typeface="Cambria Math"/>
              </a:rPr>
              <a:t>(</a:t>
            </a:r>
            <a:r>
              <a:rPr dirty="0" baseline="2314" sz="3600" spc="-195">
                <a:latin typeface="Cambria Math"/>
                <a:cs typeface="Cambria Math"/>
              </a:rPr>
              <a:t>∑</a:t>
            </a:r>
            <a:r>
              <a:rPr dirty="0" baseline="-18518" sz="2700" spc="-195">
                <a:latin typeface="Cambria Math"/>
                <a:cs typeface="Cambria Math"/>
              </a:rPr>
              <a:t>N </a:t>
            </a:r>
            <a:r>
              <a:rPr dirty="0" sz="2400" spc="-300">
                <a:solidFill>
                  <a:srgbClr val="008000"/>
                </a:solidFill>
                <a:latin typeface="Cambria Math"/>
                <a:cs typeface="Cambria Math"/>
              </a:rPr>
              <a:t>𝐡</a:t>
            </a:r>
            <a:r>
              <a:rPr dirty="0" baseline="-15432" sz="2700" spc="-450">
                <a:latin typeface="Cambria Math"/>
                <a:cs typeface="Cambria Math"/>
              </a:rPr>
              <a:t>N    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400">
                <a:latin typeface="Cambria Math"/>
                <a:cs typeface="Cambria Math"/>
              </a:rPr>
              <a:t>𝐫</a:t>
            </a:r>
            <a:r>
              <a:rPr dirty="0" baseline="-15432" sz="2700" spc="-600">
                <a:latin typeface="Cambria Math"/>
                <a:cs typeface="Cambria Math"/>
              </a:rPr>
              <a:t>N</a:t>
            </a:r>
            <a:r>
              <a:rPr dirty="0" baseline="-15432" sz="27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 spc="-120">
                <a:solidFill>
                  <a:srgbClr val="C00000"/>
                </a:solidFill>
                <a:latin typeface="Cambria Math"/>
                <a:cs typeface="Cambria Math"/>
              </a:rPr>
              <a:t>𝐭</a:t>
            </a:r>
            <a:r>
              <a:rPr dirty="0" baseline="6944" sz="3600" spc="-179">
                <a:solidFill>
                  <a:srgbClr val="C00000"/>
                </a:solidFill>
                <a:latin typeface="Cambria Math"/>
                <a:cs typeface="Cambria Math"/>
              </a:rPr>
              <a:t>̅</a:t>
            </a:r>
            <a:r>
              <a:rPr dirty="0" baseline="-15432" sz="2700" spc="-179">
                <a:latin typeface="Cambria Math"/>
                <a:cs typeface="Cambria Math"/>
              </a:rPr>
              <a:t>N</a:t>
            </a:r>
            <a:r>
              <a:rPr dirty="0" sz="2400" spc="-12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lvl="2" marL="890905" indent="-228600">
              <a:lnSpc>
                <a:spcPct val="100000"/>
              </a:lnSpc>
              <a:spcBef>
                <a:spcPts val="72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  <a:tab pos="2453005" algn="l"/>
              </a:tabLst>
            </a:pPr>
            <a:r>
              <a:rPr dirty="0" sz="2400" spc="-5" b="1">
                <a:latin typeface="Calibri"/>
                <a:cs typeface="Calibri"/>
              </a:rPr>
              <a:t>Low </a:t>
            </a:r>
            <a:r>
              <a:rPr dirty="0" sz="2400" spc="-200">
                <a:latin typeface="Cambria Math"/>
                <a:cs typeface="Cambria Math"/>
              </a:rPr>
              <a:t>𝑓</a:t>
            </a:r>
            <a:r>
              <a:rPr dirty="0" baseline="-15432" sz="2700" spc="-300">
                <a:latin typeface="Cambria Math"/>
                <a:cs typeface="Cambria Math"/>
              </a:rPr>
              <a:t>/   </a:t>
            </a:r>
            <a:r>
              <a:rPr dirty="0" baseline="-15432" sz="2700" spc="-225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𝑡,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𝑟	= </a:t>
            </a:r>
            <a:r>
              <a:rPr dirty="0" sz="2400" spc="-130">
                <a:solidFill>
                  <a:srgbClr val="0000FF"/>
                </a:solidFill>
                <a:latin typeface="Cambria Math"/>
                <a:cs typeface="Cambria Math"/>
              </a:rPr>
              <a:t>Re</a:t>
            </a:r>
            <a:r>
              <a:rPr dirty="0" sz="2400" spc="-130">
                <a:latin typeface="Cambria Math"/>
                <a:cs typeface="Cambria Math"/>
              </a:rPr>
              <a:t>(</a:t>
            </a:r>
            <a:r>
              <a:rPr dirty="0" baseline="2314" sz="3600" spc="-195">
                <a:latin typeface="Cambria Math"/>
                <a:cs typeface="Cambria Math"/>
              </a:rPr>
              <a:t>∑</a:t>
            </a:r>
            <a:r>
              <a:rPr dirty="0" baseline="-18518" sz="2700" spc="-195">
                <a:latin typeface="Cambria Math"/>
                <a:cs typeface="Cambria Math"/>
              </a:rPr>
              <a:t>N </a:t>
            </a:r>
            <a:r>
              <a:rPr dirty="0" sz="2400" spc="-300">
                <a:solidFill>
                  <a:srgbClr val="008000"/>
                </a:solidFill>
                <a:latin typeface="Cambria Math"/>
                <a:cs typeface="Cambria Math"/>
              </a:rPr>
              <a:t>𝒕</a:t>
            </a:r>
            <a:r>
              <a:rPr dirty="0" baseline="-15432" sz="2700" spc="-450">
                <a:latin typeface="Cambria Math"/>
                <a:cs typeface="Cambria Math"/>
              </a:rPr>
              <a:t>N    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400">
                <a:latin typeface="Cambria Math"/>
                <a:cs typeface="Cambria Math"/>
              </a:rPr>
              <a:t>𝐫</a:t>
            </a:r>
            <a:r>
              <a:rPr dirty="0" baseline="-15432" sz="2700" spc="-600">
                <a:latin typeface="Cambria Math"/>
                <a:cs typeface="Cambria Math"/>
              </a:rPr>
              <a:t>N</a:t>
            </a:r>
            <a:r>
              <a:rPr dirty="0" baseline="-15432" sz="2700" spc="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 spc="-520">
                <a:solidFill>
                  <a:srgbClr val="C00000"/>
                </a:solidFill>
                <a:latin typeface="Cambria Math"/>
                <a:cs typeface="Cambria Math"/>
              </a:rPr>
              <a:t>𝒉</a:t>
            </a:r>
            <a:r>
              <a:rPr dirty="0" baseline="12731" sz="3600" spc="-780">
                <a:solidFill>
                  <a:srgbClr val="C00000"/>
                </a:solidFill>
                <a:latin typeface="Cambria Math"/>
                <a:cs typeface="Cambria Math"/>
              </a:rPr>
              <a:t>O</a:t>
            </a:r>
            <a:r>
              <a:rPr dirty="0" baseline="-15432" sz="2700" spc="-780">
                <a:latin typeface="Cambria Math"/>
                <a:cs typeface="Cambria Math"/>
              </a:rPr>
              <a:t>N</a:t>
            </a:r>
            <a:r>
              <a:rPr dirty="0" sz="2400" spc="-52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  <a:p>
            <a:pPr marL="615950">
              <a:lnSpc>
                <a:spcPct val="100000"/>
              </a:lnSpc>
              <a:spcBef>
                <a:spcPts val="625"/>
              </a:spcBef>
            </a:pPr>
            <a:r>
              <a:rPr dirty="0" sz="2400" spc="-5">
                <a:latin typeface="Calibri"/>
                <a:cs typeface="Calibri"/>
              </a:rPr>
              <a:t>Due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asymmetric </a:t>
            </a:r>
            <a:r>
              <a:rPr dirty="0" sz="2400" spc="-5">
                <a:latin typeface="Calibri"/>
                <a:cs typeface="Calibri"/>
              </a:rPr>
              <a:t>modeling using </a:t>
            </a:r>
            <a:r>
              <a:rPr dirty="0" sz="2400" spc="-15">
                <a:latin typeface="Calibri"/>
                <a:cs typeface="Calibri"/>
              </a:rPr>
              <a:t>complex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conjugate.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80040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36271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8925" y="1946172"/>
            <a:ext cx="820419" cy="376555"/>
          </a:xfrm>
          <a:custGeom>
            <a:avLst/>
            <a:gdLst/>
            <a:ahLst/>
            <a:cxnLst/>
            <a:rect l="l" t="t" r="r" b="b"/>
            <a:pathLst>
              <a:path w="820420" h="376555">
                <a:moveTo>
                  <a:pt x="700317" y="0"/>
                </a:moveTo>
                <a:lnTo>
                  <a:pt x="694959" y="15279"/>
                </a:lnTo>
                <a:lnTo>
                  <a:pt x="716750" y="24736"/>
                </a:lnTo>
                <a:lnTo>
                  <a:pt x="735490" y="37826"/>
                </a:lnTo>
                <a:lnTo>
                  <a:pt x="763817" y="74909"/>
                </a:lnTo>
                <a:lnTo>
                  <a:pt x="780486" y="124940"/>
                </a:lnTo>
                <a:lnTo>
                  <a:pt x="786042" y="186331"/>
                </a:lnTo>
                <a:lnTo>
                  <a:pt x="784647" y="219533"/>
                </a:lnTo>
                <a:lnTo>
                  <a:pt x="773485" y="276782"/>
                </a:lnTo>
                <a:lnTo>
                  <a:pt x="751086" y="321493"/>
                </a:lnTo>
                <a:lnTo>
                  <a:pt x="717004" y="351655"/>
                </a:lnTo>
                <a:lnTo>
                  <a:pt x="695554" y="361156"/>
                </a:lnTo>
                <a:lnTo>
                  <a:pt x="700317" y="376435"/>
                </a:lnTo>
                <a:lnTo>
                  <a:pt x="751662" y="352349"/>
                </a:lnTo>
                <a:lnTo>
                  <a:pt x="789415" y="310653"/>
                </a:lnTo>
                <a:lnTo>
                  <a:pt x="812632" y="254818"/>
                </a:lnTo>
                <a:lnTo>
                  <a:pt x="820371" y="188316"/>
                </a:lnTo>
                <a:lnTo>
                  <a:pt x="818430" y="153807"/>
                </a:lnTo>
                <a:lnTo>
                  <a:pt x="802903" y="92638"/>
                </a:lnTo>
                <a:lnTo>
                  <a:pt x="772108" y="42843"/>
                </a:lnTo>
                <a:lnTo>
                  <a:pt x="727608" y="9853"/>
                </a:lnTo>
                <a:lnTo>
                  <a:pt x="700317" y="0"/>
                </a:lnTo>
                <a:close/>
              </a:path>
              <a:path w="82042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92645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FF"/>
                </a:solidFill>
              </a:rPr>
              <a:t>Symmetric</a:t>
            </a:r>
            <a:r>
              <a:rPr dirty="0" spc="-100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2079625">
              <a:lnSpc>
                <a:spcPts val="3815"/>
              </a:lnSpc>
              <a:tabLst>
                <a:tab pos="2450465" algn="l"/>
                <a:tab pos="3286760" algn="l"/>
                <a:tab pos="4123690" algn="l"/>
                <a:tab pos="5113020" algn="l"/>
              </a:tabLst>
            </a:pP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pc="25" b="0">
                <a:solidFill>
                  <a:srgbClr val="000000"/>
                </a:solidFill>
                <a:latin typeface="Cambria Math"/>
                <a:cs typeface="Cambria Math"/>
              </a:rPr>
              <a:t>ℎ,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	⇒</a:t>
            </a:r>
            <a:r>
              <a:rPr dirty="0" spc="17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𝑟	</a:t>
            </a:r>
            <a:r>
              <a:rPr dirty="0" spc="30" b="0">
                <a:solidFill>
                  <a:srgbClr val="000000"/>
                </a:solidFill>
                <a:latin typeface="Cambria Math"/>
                <a:cs typeface="Cambria Math"/>
              </a:rPr>
              <a:t>𝑡,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ℎ	</a:t>
            </a:r>
            <a:r>
              <a:rPr dirty="0" spc="10" b="0">
                <a:solidFill>
                  <a:srgbClr val="000000"/>
                </a:solidFill>
                <a:latin typeface="Cambria Math"/>
                <a:cs typeface="Cambria Math"/>
              </a:rPr>
              <a:t>∀ℎ,</a:t>
            </a:r>
            <a:r>
              <a:rPr dirty="0" spc="-26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𝑡</a:t>
            </a:r>
          </a:p>
        </p:txBody>
      </p:sp>
      <p:sp>
        <p:nvSpPr>
          <p:cNvPr id="6" name="object 6"/>
          <p:cNvSpPr/>
          <p:nvPr/>
        </p:nvSpPr>
        <p:spPr>
          <a:xfrm>
            <a:off x="2633737" y="3520873"/>
            <a:ext cx="402590" cy="329565"/>
          </a:xfrm>
          <a:custGeom>
            <a:avLst/>
            <a:gdLst/>
            <a:ahLst/>
            <a:cxnLst/>
            <a:rect l="l" t="t" r="r" b="b"/>
            <a:pathLst>
              <a:path w="402589" h="329564">
                <a:moveTo>
                  <a:pt x="297469" y="0"/>
                </a:moveTo>
                <a:lnTo>
                  <a:pt x="292780" y="13370"/>
                </a:lnTo>
                <a:lnTo>
                  <a:pt x="311847" y="21645"/>
                </a:lnTo>
                <a:lnTo>
                  <a:pt x="328245" y="33099"/>
                </a:lnTo>
                <a:lnTo>
                  <a:pt x="353032" y="65547"/>
                </a:lnTo>
                <a:lnTo>
                  <a:pt x="367616" y="109324"/>
                </a:lnTo>
                <a:lnTo>
                  <a:pt x="372478" y="163041"/>
                </a:lnTo>
                <a:lnTo>
                  <a:pt x="371257" y="192092"/>
                </a:lnTo>
                <a:lnTo>
                  <a:pt x="361490" y="242185"/>
                </a:lnTo>
                <a:lnTo>
                  <a:pt x="341891" y="281307"/>
                </a:lnTo>
                <a:lnTo>
                  <a:pt x="312070" y="307699"/>
                </a:lnTo>
                <a:lnTo>
                  <a:pt x="293301" y="316011"/>
                </a:lnTo>
                <a:lnTo>
                  <a:pt x="297469" y="329382"/>
                </a:lnTo>
                <a:lnTo>
                  <a:pt x="342396" y="308307"/>
                </a:lnTo>
                <a:lnTo>
                  <a:pt x="375429" y="271823"/>
                </a:lnTo>
                <a:lnTo>
                  <a:pt x="395744" y="222966"/>
                </a:lnTo>
                <a:lnTo>
                  <a:pt x="402516" y="164777"/>
                </a:lnTo>
                <a:lnTo>
                  <a:pt x="400818" y="134581"/>
                </a:lnTo>
                <a:lnTo>
                  <a:pt x="387231" y="81059"/>
                </a:lnTo>
                <a:lnTo>
                  <a:pt x="360286" y="37488"/>
                </a:lnTo>
                <a:lnTo>
                  <a:pt x="321349" y="8622"/>
                </a:lnTo>
                <a:lnTo>
                  <a:pt x="297469" y="0"/>
                </a:lnTo>
                <a:close/>
              </a:path>
              <a:path w="40258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81738" y="4003438"/>
            <a:ext cx="615315" cy="282575"/>
          </a:xfrm>
          <a:custGeom>
            <a:avLst/>
            <a:gdLst/>
            <a:ahLst/>
            <a:cxnLst/>
            <a:rect l="l" t="t" r="r" b="b"/>
            <a:pathLst>
              <a:path w="615314" h="282575">
                <a:moveTo>
                  <a:pt x="525237" y="0"/>
                </a:moveTo>
                <a:lnTo>
                  <a:pt x="521219" y="11459"/>
                </a:lnTo>
                <a:lnTo>
                  <a:pt x="537562" y="18552"/>
                </a:lnTo>
                <a:lnTo>
                  <a:pt x="551617" y="28370"/>
                </a:lnTo>
                <a:lnTo>
                  <a:pt x="580155" y="73878"/>
                </a:lnTo>
                <a:lnTo>
                  <a:pt x="588489" y="115662"/>
                </a:lnTo>
                <a:lnTo>
                  <a:pt x="589531" y="139749"/>
                </a:lnTo>
                <a:lnTo>
                  <a:pt x="588484" y="164650"/>
                </a:lnTo>
                <a:lnTo>
                  <a:pt x="580112" y="207587"/>
                </a:lnTo>
                <a:lnTo>
                  <a:pt x="551635" y="253826"/>
                </a:lnTo>
                <a:lnTo>
                  <a:pt x="521666" y="270866"/>
                </a:lnTo>
                <a:lnTo>
                  <a:pt x="525237" y="282327"/>
                </a:lnTo>
                <a:lnTo>
                  <a:pt x="563747" y="264263"/>
                </a:lnTo>
                <a:lnTo>
                  <a:pt x="592061" y="232990"/>
                </a:lnTo>
                <a:lnTo>
                  <a:pt x="609474" y="191113"/>
                </a:lnTo>
                <a:lnTo>
                  <a:pt x="615278" y="141237"/>
                </a:lnTo>
                <a:lnTo>
                  <a:pt x="613822" y="115355"/>
                </a:lnTo>
                <a:lnTo>
                  <a:pt x="602177" y="69479"/>
                </a:lnTo>
                <a:lnTo>
                  <a:pt x="579081" y="32133"/>
                </a:lnTo>
                <a:lnTo>
                  <a:pt x="545706" y="7390"/>
                </a:lnTo>
                <a:lnTo>
                  <a:pt x="525237" y="0"/>
                </a:lnTo>
                <a:close/>
              </a:path>
              <a:path w="615314" h="282575">
                <a:moveTo>
                  <a:pt x="90040" y="0"/>
                </a:moveTo>
                <a:lnTo>
                  <a:pt x="51624" y="18101"/>
                </a:lnTo>
                <a:lnTo>
                  <a:pt x="23291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3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80262" y="4003438"/>
            <a:ext cx="1722120" cy="282575"/>
          </a:xfrm>
          <a:custGeom>
            <a:avLst/>
            <a:gdLst/>
            <a:ahLst/>
            <a:cxnLst/>
            <a:rect l="l" t="t" r="r" b="b"/>
            <a:pathLst>
              <a:path w="1722120" h="282575">
                <a:moveTo>
                  <a:pt x="1631788" y="0"/>
                </a:moveTo>
                <a:lnTo>
                  <a:pt x="1627770" y="11459"/>
                </a:lnTo>
                <a:lnTo>
                  <a:pt x="1644113" y="18552"/>
                </a:lnTo>
                <a:lnTo>
                  <a:pt x="1658168" y="28370"/>
                </a:lnTo>
                <a:lnTo>
                  <a:pt x="1686706" y="73878"/>
                </a:lnTo>
                <a:lnTo>
                  <a:pt x="1695040" y="115662"/>
                </a:lnTo>
                <a:lnTo>
                  <a:pt x="1696082" y="139749"/>
                </a:lnTo>
                <a:lnTo>
                  <a:pt x="1695036" y="164650"/>
                </a:lnTo>
                <a:lnTo>
                  <a:pt x="1686664" y="207587"/>
                </a:lnTo>
                <a:lnTo>
                  <a:pt x="1658186" y="253826"/>
                </a:lnTo>
                <a:lnTo>
                  <a:pt x="1628217" y="270866"/>
                </a:lnTo>
                <a:lnTo>
                  <a:pt x="1631788" y="282327"/>
                </a:lnTo>
                <a:lnTo>
                  <a:pt x="1670298" y="264263"/>
                </a:lnTo>
                <a:lnTo>
                  <a:pt x="1698612" y="232990"/>
                </a:lnTo>
                <a:lnTo>
                  <a:pt x="1716025" y="191113"/>
                </a:lnTo>
                <a:lnTo>
                  <a:pt x="1721829" y="141237"/>
                </a:lnTo>
                <a:lnTo>
                  <a:pt x="1720373" y="115355"/>
                </a:lnTo>
                <a:lnTo>
                  <a:pt x="1708728" y="69479"/>
                </a:lnTo>
                <a:lnTo>
                  <a:pt x="1685632" y="32133"/>
                </a:lnTo>
                <a:lnTo>
                  <a:pt x="1652257" y="7390"/>
                </a:lnTo>
                <a:lnTo>
                  <a:pt x="1631788" y="0"/>
                </a:lnTo>
                <a:close/>
              </a:path>
              <a:path w="1722120" h="282575">
                <a:moveTo>
                  <a:pt x="90040" y="0"/>
                </a:moveTo>
                <a:lnTo>
                  <a:pt x="51624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2" y="270866"/>
                </a:lnTo>
                <a:lnTo>
                  <a:pt x="77525" y="263741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58" y="11459"/>
                </a:lnTo>
                <a:lnTo>
                  <a:pt x="900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37507" y="4003438"/>
            <a:ext cx="1369695" cy="282575"/>
          </a:xfrm>
          <a:custGeom>
            <a:avLst/>
            <a:gdLst/>
            <a:ahLst/>
            <a:cxnLst/>
            <a:rect l="l" t="t" r="r" b="b"/>
            <a:pathLst>
              <a:path w="1369695" h="282575">
                <a:moveTo>
                  <a:pt x="1279618" y="0"/>
                </a:moveTo>
                <a:lnTo>
                  <a:pt x="1275600" y="11459"/>
                </a:lnTo>
                <a:lnTo>
                  <a:pt x="1291943" y="18552"/>
                </a:lnTo>
                <a:lnTo>
                  <a:pt x="1305998" y="28370"/>
                </a:lnTo>
                <a:lnTo>
                  <a:pt x="1334536" y="73878"/>
                </a:lnTo>
                <a:lnTo>
                  <a:pt x="1342870" y="115662"/>
                </a:lnTo>
                <a:lnTo>
                  <a:pt x="1343912" y="139749"/>
                </a:lnTo>
                <a:lnTo>
                  <a:pt x="1342866" y="164650"/>
                </a:lnTo>
                <a:lnTo>
                  <a:pt x="1334494" y="207587"/>
                </a:lnTo>
                <a:lnTo>
                  <a:pt x="1306016" y="253826"/>
                </a:lnTo>
                <a:lnTo>
                  <a:pt x="1276046" y="270866"/>
                </a:lnTo>
                <a:lnTo>
                  <a:pt x="1279618" y="282327"/>
                </a:lnTo>
                <a:lnTo>
                  <a:pt x="1318128" y="264263"/>
                </a:lnTo>
                <a:lnTo>
                  <a:pt x="1346442" y="232990"/>
                </a:lnTo>
                <a:lnTo>
                  <a:pt x="1363855" y="191113"/>
                </a:lnTo>
                <a:lnTo>
                  <a:pt x="1369659" y="141237"/>
                </a:lnTo>
                <a:lnTo>
                  <a:pt x="1368203" y="115355"/>
                </a:lnTo>
                <a:lnTo>
                  <a:pt x="1356558" y="69479"/>
                </a:lnTo>
                <a:lnTo>
                  <a:pt x="1333462" y="32133"/>
                </a:lnTo>
                <a:lnTo>
                  <a:pt x="1300087" y="7390"/>
                </a:lnTo>
                <a:lnTo>
                  <a:pt x="1279618" y="0"/>
                </a:lnTo>
                <a:close/>
              </a:path>
              <a:path w="136969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6" y="263741"/>
                </a:lnTo>
                <a:lnTo>
                  <a:pt x="63643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5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72363" y="4397138"/>
            <a:ext cx="930910" cy="282575"/>
          </a:xfrm>
          <a:custGeom>
            <a:avLst/>
            <a:gdLst/>
            <a:ahLst/>
            <a:cxnLst/>
            <a:rect l="l" t="t" r="r" b="b"/>
            <a:pathLst>
              <a:path w="930910" h="282575">
                <a:moveTo>
                  <a:pt x="840261" y="0"/>
                </a:moveTo>
                <a:lnTo>
                  <a:pt x="836242" y="11460"/>
                </a:lnTo>
                <a:lnTo>
                  <a:pt x="852585" y="18552"/>
                </a:lnTo>
                <a:lnTo>
                  <a:pt x="866640" y="28370"/>
                </a:lnTo>
                <a:lnTo>
                  <a:pt x="895178" y="73878"/>
                </a:lnTo>
                <a:lnTo>
                  <a:pt x="903513" y="115662"/>
                </a:lnTo>
                <a:lnTo>
                  <a:pt x="904554" y="139749"/>
                </a:lnTo>
                <a:lnTo>
                  <a:pt x="903508" y="164650"/>
                </a:lnTo>
                <a:lnTo>
                  <a:pt x="895136" y="207587"/>
                </a:lnTo>
                <a:lnTo>
                  <a:pt x="866659" y="253826"/>
                </a:lnTo>
                <a:lnTo>
                  <a:pt x="836689" y="270866"/>
                </a:lnTo>
                <a:lnTo>
                  <a:pt x="840261" y="282327"/>
                </a:lnTo>
                <a:lnTo>
                  <a:pt x="878770" y="264263"/>
                </a:lnTo>
                <a:lnTo>
                  <a:pt x="907084" y="232990"/>
                </a:lnTo>
                <a:lnTo>
                  <a:pt x="924497" y="191113"/>
                </a:lnTo>
                <a:lnTo>
                  <a:pt x="930301" y="141237"/>
                </a:lnTo>
                <a:lnTo>
                  <a:pt x="928846" y="115355"/>
                </a:lnTo>
                <a:lnTo>
                  <a:pt x="917200" y="69479"/>
                </a:lnTo>
                <a:lnTo>
                  <a:pt x="894104" y="32133"/>
                </a:lnTo>
                <a:lnTo>
                  <a:pt x="860729" y="7390"/>
                </a:lnTo>
                <a:lnTo>
                  <a:pt x="840261" y="0"/>
                </a:lnTo>
                <a:close/>
              </a:path>
              <a:path w="930910" h="282575">
                <a:moveTo>
                  <a:pt x="90040" y="0"/>
                </a:moveTo>
                <a:lnTo>
                  <a:pt x="51623" y="18101"/>
                </a:lnTo>
                <a:lnTo>
                  <a:pt x="23290" y="49485"/>
                </a:lnTo>
                <a:lnTo>
                  <a:pt x="5822" y="91436"/>
                </a:lnTo>
                <a:lnTo>
                  <a:pt x="0" y="141237"/>
                </a:lnTo>
                <a:lnTo>
                  <a:pt x="1450" y="167175"/>
                </a:lnTo>
                <a:lnTo>
                  <a:pt x="13059" y="213051"/>
                </a:lnTo>
                <a:lnTo>
                  <a:pt x="36099" y="250277"/>
                </a:lnTo>
                <a:lnTo>
                  <a:pt x="69511" y="274946"/>
                </a:lnTo>
                <a:lnTo>
                  <a:pt x="90040" y="282327"/>
                </a:lnTo>
                <a:lnTo>
                  <a:pt x="93611" y="270866"/>
                </a:lnTo>
                <a:lnTo>
                  <a:pt x="77524" y="263742"/>
                </a:lnTo>
                <a:lnTo>
                  <a:pt x="63642" y="253826"/>
                </a:lnTo>
                <a:lnTo>
                  <a:pt x="35164" y="207587"/>
                </a:lnTo>
                <a:lnTo>
                  <a:pt x="26793" y="164650"/>
                </a:lnTo>
                <a:lnTo>
                  <a:pt x="25746" y="139749"/>
                </a:lnTo>
                <a:lnTo>
                  <a:pt x="26793" y="115662"/>
                </a:lnTo>
                <a:lnTo>
                  <a:pt x="35164" y="73878"/>
                </a:lnTo>
                <a:lnTo>
                  <a:pt x="63753" y="28370"/>
                </a:lnTo>
                <a:lnTo>
                  <a:pt x="94058" y="11460"/>
                </a:lnTo>
                <a:lnTo>
                  <a:pt x="9004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43592" y="4354174"/>
            <a:ext cx="951230" cy="368300"/>
          </a:xfrm>
          <a:custGeom>
            <a:avLst/>
            <a:gdLst/>
            <a:ahLst/>
            <a:cxnLst/>
            <a:rect l="l" t="t" r="r" b="b"/>
            <a:pathLst>
              <a:path w="951229" h="368300">
                <a:moveTo>
                  <a:pt x="854397" y="0"/>
                </a:moveTo>
                <a:lnTo>
                  <a:pt x="850676" y="12204"/>
                </a:lnTo>
                <a:lnTo>
                  <a:pt x="867591" y="20976"/>
                </a:lnTo>
                <a:lnTo>
                  <a:pt x="882321" y="33747"/>
                </a:lnTo>
                <a:lnTo>
                  <a:pt x="905221" y="71288"/>
                </a:lnTo>
                <a:lnTo>
                  <a:pt x="919118" y="122299"/>
                </a:lnTo>
                <a:lnTo>
                  <a:pt x="923751" y="184250"/>
                </a:lnTo>
                <a:lnTo>
                  <a:pt x="922592" y="216522"/>
                </a:lnTo>
                <a:lnTo>
                  <a:pt x="913328" y="272890"/>
                </a:lnTo>
                <a:lnTo>
                  <a:pt x="894864" y="317725"/>
                </a:lnTo>
                <a:lnTo>
                  <a:pt x="867591" y="347230"/>
                </a:lnTo>
                <a:lnTo>
                  <a:pt x="850676" y="355997"/>
                </a:lnTo>
                <a:lnTo>
                  <a:pt x="854397" y="368200"/>
                </a:lnTo>
                <a:lnTo>
                  <a:pt x="895511" y="346286"/>
                </a:lnTo>
                <a:lnTo>
                  <a:pt x="925983" y="304949"/>
                </a:lnTo>
                <a:lnTo>
                  <a:pt x="944847" y="249213"/>
                </a:lnTo>
                <a:lnTo>
                  <a:pt x="951134" y="184100"/>
                </a:lnTo>
                <a:lnTo>
                  <a:pt x="949562" y="150372"/>
                </a:lnTo>
                <a:lnTo>
                  <a:pt x="936987" y="89948"/>
                </a:lnTo>
                <a:lnTo>
                  <a:pt x="912077" y="40156"/>
                </a:lnTo>
                <a:lnTo>
                  <a:pt x="876284" y="8530"/>
                </a:lnTo>
                <a:lnTo>
                  <a:pt x="854397" y="0"/>
                </a:lnTo>
                <a:close/>
              </a:path>
              <a:path w="951229" h="368300">
                <a:moveTo>
                  <a:pt x="96738" y="0"/>
                </a:moveTo>
                <a:lnTo>
                  <a:pt x="55624" y="21915"/>
                </a:lnTo>
                <a:lnTo>
                  <a:pt x="25152" y="63252"/>
                </a:lnTo>
                <a:lnTo>
                  <a:pt x="6288" y="118988"/>
                </a:lnTo>
                <a:lnTo>
                  <a:pt x="0" y="184100"/>
                </a:lnTo>
                <a:lnTo>
                  <a:pt x="1572" y="217828"/>
                </a:lnTo>
                <a:lnTo>
                  <a:pt x="14148" y="278253"/>
                </a:lnTo>
                <a:lnTo>
                  <a:pt x="39058" y="328045"/>
                </a:lnTo>
                <a:lnTo>
                  <a:pt x="74851" y="359671"/>
                </a:lnTo>
                <a:lnTo>
                  <a:pt x="96738" y="368200"/>
                </a:lnTo>
                <a:lnTo>
                  <a:pt x="100459" y="355997"/>
                </a:lnTo>
                <a:lnTo>
                  <a:pt x="83544" y="347230"/>
                </a:lnTo>
                <a:lnTo>
                  <a:pt x="68814" y="334473"/>
                </a:lnTo>
                <a:lnTo>
                  <a:pt x="45914" y="296986"/>
                </a:lnTo>
                <a:lnTo>
                  <a:pt x="32017" y="246069"/>
                </a:lnTo>
                <a:lnTo>
                  <a:pt x="27390" y="184100"/>
                </a:lnTo>
                <a:lnTo>
                  <a:pt x="28543" y="151907"/>
                </a:lnTo>
                <a:lnTo>
                  <a:pt x="37807" y="95426"/>
                </a:lnTo>
                <a:lnTo>
                  <a:pt x="56271" y="50518"/>
                </a:lnTo>
                <a:lnTo>
                  <a:pt x="83544" y="20976"/>
                </a:lnTo>
                <a:lnTo>
                  <a:pt x="100459" y="12204"/>
                </a:lnTo>
                <a:lnTo>
                  <a:pt x="9673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8108" y="2414523"/>
            <a:ext cx="7895590" cy="2703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45">
                <a:latin typeface="Calibri"/>
                <a:cs typeface="Calibri"/>
              </a:rPr>
              <a:t>Family,</a:t>
            </a:r>
            <a:r>
              <a:rPr dirty="0" sz="2800" spc="-20">
                <a:latin typeface="Calibri"/>
                <a:cs typeface="Calibri"/>
              </a:rPr>
              <a:t> Roommate</a:t>
            </a:r>
            <a:endParaRPr sz="2800">
              <a:latin typeface="Calibri"/>
              <a:cs typeface="Calibri"/>
            </a:endParaRPr>
          </a:p>
          <a:p>
            <a:pPr marL="332740" marR="4978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ComplEx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10">
                <a:latin typeface="Calibri"/>
                <a:cs typeface="Calibri"/>
              </a:rPr>
              <a:t>symmetric relations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2131695" algn="l"/>
                <a:tab pos="2547620" algn="l"/>
              </a:tabLst>
            </a:pPr>
            <a:r>
              <a:rPr dirty="0" sz="2800" spc="-5">
                <a:latin typeface="Calibri"/>
                <a:cs typeface="Calibri"/>
              </a:rPr>
              <a:t>When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Im	𝐫	= </a:t>
            </a:r>
            <a:r>
              <a:rPr dirty="0" sz="2800" spc="-5">
                <a:latin typeface="Cambria Math"/>
                <a:cs typeface="Cambria Math"/>
              </a:rPr>
              <a:t>0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have</a:t>
            </a:r>
            <a:endParaRPr sz="2800">
              <a:latin typeface="Calibri"/>
              <a:cs typeface="Calibri"/>
            </a:endParaRPr>
          </a:p>
          <a:p>
            <a:pPr lvl="2" marL="890905" marR="55372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  <a:tab pos="1227455" algn="l"/>
                <a:tab pos="3732529" algn="l"/>
              </a:tabLst>
            </a:pPr>
            <a:r>
              <a:rPr dirty="0" sz="2400" spc="-200">
                <a:latin typeface="Cambria Math"/>
                <a:cs typeface="Cambria Math"/>
              </a:rPr>
              <a:t>𝑓</a:t>
            </a:r>
            <a:r>
              <a:rPr dirty="0" baseline="-15432" sz="2700" spc="-300">
                <a:latin typeface="Cambria Math"/>
                <a:cs typeface="Cambria Math"/>
              </a:rPr>
              <a:t>/   </a:t>
            </a:r>
            <a:r>
              <a:rPr dirty="0" baseline="-15432" sz="2700" spc="-209">
                <a:latin typeface="Cambria Math"/>
                <a:cs typeface="Cambria Math"/>
              </a:rPr>
              <a:t> </a:t>
            </a:r>
            <a:r>
              <a:rPr dirty="0" sz="2400" spc="15">
                <a:latin typeface="Cambria Math"/>
                <a:cs typeface="Cambria Math"/>
              </a:rPr>
              <a:t>ℎ,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𝑡	= </a:t>
            </a:r>
            <a:r>
              <a:rPr dirty="0" sz="2400" spc="-25">
                <a:latin typeface="Cambria Math"/>
                <a:cs typeface="Cambria Math"/>
              </a:rPr>
              <a:t>Re  </a:t>
            </a:r>
            <a:r>
              <a:rPr dirty="0" baseline="2314" sz="3600" spc="-450">
                <a:latin typeface="Cambria Math"/>
                <a:cs typeface="Cambria Math"/>
              </a:rPr>
              <a:t>∑</a:t>
            </a:r>
            <a:r>
              <a:rPr dirty="0" baseline="-18518" sz="2700" spc="-450">
                <a:latin typeface="Cambria Math"/>
                <a:cs typeface="Cambria Math"/>
              </a:rPr>
              <a:t>N    </a:t>
            </a:r>
            <a:r>
              <a:rPr dirty="0" sz="2400" spc="-300">
                <a:latin typeface="Cambria Math"/>
                <a:cs typeface="Cambria Math"/>
              </a:rPr>
              <a:t>𝐡</a:t>
            </a:r>
            <a:r>
              <a:rPr dirty="0" baseline="-15432" sz="2700" spc="-450">
                <a:latin typeface="Cambria Math"/>
                <a:cs typeface="Cambria Math"/>
              </a:rPr>
              <a:t>N    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400">
                <a:latin typeface="Cambria Math"/>
                <a:cs typeface="Cambria Math"/>
              </a:rPr>
              <a:t>𝐫</a:t>
            </a:r>
            <a:r>
              <a:rPr dirty="0" baseline="-15432" sz="2700" spc="-600">
                <a:latin typeface="Cambria Math"/>
                <a:cs typeface="Cambria Math"/>
              </a:rPr>
              <a:t>N</a:t>
            </a:r>
            <a:r>
              <a:rPr dirty="0" baseline="-15432" sz="2700" spc="27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190">
                <a:latin typeface="Cambria Math"/>
                <a:cs typeface="Cambria Math"/>
              </a:rPr>
              <a:t>𝐭</a:t>
            </a:r>
            <a:r>
              <a:rPr dirty="0" baseline="6944" sz="3600" spc="-284">
                <a:latin typeface="Cambria Math"/>
                <a:cs typeface="Cambria Math"/>
              </a:rPr>
              <a:t>̅</a:t>
            </a:r>
            <a:r>
              <a:rPr dirty="0" baseline="-15432" sz="2700" spc="-284">
                <a:latin typeface="Cambria Math"/>
                <a:cs typeface="Cambria Math"/>
              </a:rPr>
              <a:t>N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baseline="2314" sz="3600" spc="-450">
                <a:latin typeface="Cambria Math"/>
                <a:cs typeface="Cambria Math"/>
              </a:rPr>
              <a:t>∑</a:t>
            </a:r>
            <a:r>
              <a:rPr dirty="0" baseline="-18518" sz="2700" spc="-450">
                <a:latin typeface="Cambria Math"/>
                <a:cs typeface="Cambria Math"/>
              </a:rPr>
              <a:t>N    </a:t>
            </a:r>
            <a:r>
              <a:rPr dirty="0" sz="2400" spc="-25">
                <a:latin typeface="Cambria Math"/>
                <a:cs typeface="Cambria Math"/>
              </a:rPr>
              <a:t>Re</a:t>
            </a:r>
            <a:r>
              <a:rPr dirty="0" sz="2400" spc="459">
                <a:latin typeface="Cambria Math"/>
                <a:cs typeface="Cambria Math"/>
              </a:rPr>
              <a:t> </a:t>
            </a:r>
            <a:r>
              <a:rPr dirty="0" sz="2400" spc="-400">
                <a:latin typeface="Cambria Math"/>
                <a:cs typeface="Cambria Math"/>
              </a:rPr>
              <a:t>𝐫</a:t>
            </a:r>
            <a:r>
              <a:rPr dirty="0" baseline="-15432" sz="2700" spc="-600">
                <a:latin typeface="Cambria Math"/>
                <a:cs typeface="Cambria Math"/>
              </a:rPr>
              <a:t>N </a:t>
            </a:r>
            <a:r>
              <a:rPr dirty="0" baseline="-15432" sz="2700" spc="1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300">
                <a:latin typeface="Cambria Math"/>
                <a:cs typeface="Cambria Math"/>
              </a:rPr>
              <a:t>𝐡</a:t>
            </a:r>
            <a:r>
              <a:rPr dirty="0" baseline="-15432" sz="2700" spc="-450">
                <a:latin typeface="Cambria Math"/>
                <a:cs typeface="Cambria Math"/>
              </a:rPr>
              <a:t>N     </a:t>
            </a:r>
            <a:r>
              <a:rPr dirty="0" sz="2400">
                <a:latin typeface="Cambria Math"/>
                <a:cs typeface="Cambria Math"/>
              </a:rPr>
              <a:t>⋅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190">
                <a:latin typeface="Cambria Math"/>
                <a:cs typeface="Cambria Math"/>
              </a:rPr>
              <a:t>𝐭</a:t>
            </a:r>
            <a:r>
              <a:rPr dirty="0" baseline="6944" sz="3600" spc="-284">
                <a:latin typeface="Cambria Math"/>
                <a:cs typeface="Cambria Math"/>
              </a:rPr>
              <a:t>̅</a:t>
            </a:r>
            <a:r>
              <a:rPr dirty="0" baseline="-15432" sz="2700" spc="-284">
                <a:latin typeface="Cambria Math"/>
                <a:cs typeface="Cambria Math"/>
              </a:rPr>
              <a:t>N</a:t>
            </a:r>
            <a:endParaRPr baseline="-15432" sz="2700">
              <a:latin typeface="Cambria Math"/>
              <a:cs typeface="Cambria Math"/>
            </a:endParaRPr>
          </a:p>
          <a:p>
            <a:pPr marL="890269">
              <a:lnSpc>
                <a:spcPct val="100000"/>
              </a:lnSpc>
              <a:spcBef>
                <a:spcPts val="210"/>
              </a:spcBef>
              <a:tabLst>
                <a:tab pos="3395345" algn="l"/>
                <a:tab pos="4935220" algn="l"/>
                <a:tab pos="5887720" algn="l"/>
              </a:tabLst>
            </a:pP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baseline="2314" sz="3600" spc="-450">
                <a:latin typeface="Cambria Math"/>
                <a:cs typeface="Cambria Math"/>
              </a:rPr>
              <a:t>∑</a:t>
            </a:r>
            <a:r>
              <a:rPr dirty="0" baseline="-18518" sz="2700" spc="-450">
                <a:latin typeface="Cambria Math"/>
                <a:cs typeface="Cambria Math"/>
              </a:rPr>
              <a:t>N    </a:t>
            </a:r>
            <a:r>
              <a:rPr dirty="0" sz="2400" spc="-400">
                <a:latin typeface="Cambria Math"/>
                <a:cs typeface="Cambria Math"/>
              </a:rPr>
              <a:t>𝐫</a:t>
            </a:r>
            <a:r>
              <a:rPr dirty="0" baseline="-15432" sz="2700" spc="-600">
                <a:latin typeface="Cambria Math"/>
                <a:cs typeface="Cambria Math"/>
              </a:rPr>
              <a:t>N</a:t>
            </a:r>
            <a:r>
              <a:rPr dirty="0" baseline="-15432" sz="2700" spc="15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25">
                <a:solidFill>
                  <a:srgbClr val="C00000"/>
                </a:solidFill>
                <a:latin typeface="Cambria Math"/>
                <a:cs typeface="Cambria Math"/>
              </a:rPr>
              <a:t>Re </a:t>
            </a:r>
            <a:r>
              <a:rPr dirty="0" sz="2400" spc="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300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baseline="-15432" sz="2700" spc="-450">
                <a:solidFill>
                  <a:srgbClr val="C00000"/>
                </a:solidFill>
                <a:latin typeface="Cambria Math"/>
                <a:cs typeface="Cambria Math"/>
              </a:rPr>
              <a:t>N    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⋅</a:t>
            </a:r>
            <a:r>
              <a:rPr dirty="0" sz="2400" spc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90">
                <a:solidFill>
                  <a:srgbClr val="C00000"/>
                </a:solidFill>
                <a:latin typeface="Cambria Math"/>
                <a:cs typeface="Cambria Math"/>
              </a:rPr>
              <a:t>𝐭</a:t>
            </a:r>
            <a:r>
              <a:rPr dirty="0" baseline="6944" sz="3600" spc="-284">
                <a:solidFill>
                  <a:srgbClr val="C00000"/>
                </a:solidFill>
                <a:latin typeface="Cambria Math"/>
                <a:cs typeface="Cambria Math"/>
              </a:rPr>
              <a:t>̅</a:t>
            </a:r>
            <a:r>
              <a:rPr dirty="0" baseline="-15432" sz="2700" spc="-284">
                <a:solidFill>
                  <a:srgbClr val="C00000"/>
                </a:solidFill>
                <a:latin typeface="Cambria Math"/>
                <a:cs typeface="Cambria Math"/>
              </a:rPr>
              <a:t>N	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= </a:t>
            </a:r>
            <a:r>
              <a:rPr dirty="0" baseline="2314" sz="3600" spc="-450">
                <a:latin typeface="Cambria Math"/>
                <a:cs typeface="Cambria Math"/>
              </a:rPr>
              <a:t>∑</a:t>
            </a:r>
            <a:r>
              <a:rPr dirty="0" baseline="-18518" sz="2700" spc="-450">
                <a:latin typeface="Cambria Math"/>
                <a:cs typeface="Cambria Math"/>
              </a:rPr>
              <a:t>N    </a:t>
            </a:r>
            <a:r>
              <a:rPr dirty="0" sz="2400" spc="-400">
                <a:latin typeface="Cambria Math"/>
                <a:cs typeface="Cambria Math"/>
              </a:rPr>
              <a:t>𝐫</a:t>
            </a:r>
            <a:r>
              <a:rPr dirty="0" baseline="-15432" sz="2700" spc="-600">
                <a:latin typeface="Cambria Math"/>
                <a:cs typeface="Cambria Math"/>
              </a:rPr>
              <a:t>N</a:t>
            </a:r>
            <a:r>
              <a:rPr dirty="0" baseline="-15432" sz="2700" spc="-12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25">
                <a:solidFill>
                  <a:srgbClr val="C00000"/>
                </a:solidFill>
                <a:latin typeface="Cambria Math"/>
                <a:cs typeface="Cambria Math"/>
              </a:rPr>
              <a:t>Re	</a:t>
            </a:r>
            <a:r>
              <a:rPr dirty="0" sz="2400" spc="-325">
                <a:solidFill>
                  <a:srgbClr val="C00000"/>
                </a:solidFill>
                <a:latin typeface="Cambria Math"/>
                <a:cs typeface="Cambria Math"/>
              </a:rPr>
              <a:t>𝐡</a:t>
            </a:r>
            <a:r>
              <a:rPr dirty="0" baseline="12731" sz="3600" spc="-487">
                <a:solidFill>
                  <a:srgbClr val="C00000"/>
                </a:solidFill>
                <a:latin typeface="Cambria Math"/>
                <a:cs typeface="Cambria Math"/>
              </a:rPr>
              <a:t>̅   </a:t>
            </a:r>
            <a:r>
              <a:rPr dirty="0" baseline="-15432" sz="2700" spc="-892">
                <a:solidFill>
                  <a:srgbClr val="C00000"/>
                </a:solidFill>
                <a:latin typeface="Cambria Math"/>
                <a:cs typeface="Cambria Math"/>
              </a:rPr>
              <a:t>N</a:t>
            </a:r>
            <a:r>
              <a:rPr dirty="0" baseline="-15432" sz="2700" spc="19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⋅ </a:t>
            </a:r>
            <a:r>
              <a:rPr dirty="0" sz="2400" spc="-254">
                <a:solidFill>
                  <a:srgbClr val="C00000"/>
                </a:solidFill>
                <a:latin typeface="Cambria Math"/>
                <a:cs typeface="Cambria Math"/>
              </a:rPr>
              <a:t>𝐭</a:t>
            </a:r>
            <a:r>
              <a:rPr dirty="0" baseline="-15432" sz="2700" spc="-382">
                <a:solidFill>
                  <a:srgbClr val="C00000"/>
                </a:solidFill>
                <a:latin typeface="Cambria Math"/>
                <a:cs typeface="Cambria Math"/>
              </a:rPr>
              <a:t>N	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baseline="2314" sz="3600" spc="-450">
                <a:latin typeface="Cambria Math"/>
                <a:cs typeface="Cambria Math"/>
              </a:rPr>
              <a:t>∑</a:t>
            </a:r>
            <a:r>
              <a:rPr dirty="0" baseline="-18518" sz="2700" spc="-450">
                <a:latin typeface="Cambria Math"/>
                <a:cs typeface="Cambria Math"/>
              </a:rPr>
              <a:t>N    </a:t>
            </a:r>
            <a:r>
              <a:rPr dirty="0" sz="2400" spc="-270">
                <a:latin typeface="Cambria Math"/>
                <a:cs typeface="Cambria Math"/>
              </a:rPr>
              <a:t>ReQ𝐫</a:t>
            </a:r>
            <a:r>
              <a:rPr dirty="0" baseline="-15432" sz="2700" spc="-405">
                <a:latin typeface="Cambria Math"/>
                <a:cs typeface="Cambria Math"/>
              </a:rPr>
              <a:t>N    </a:t>
            </a:r>
            <a:r>
              <a:rPr dirty="0" sz="2400">
                <a:latin typeface="Cambria Math"/>
                <a:cs typeface="Cambria Math"/>
              </a:rPr>
              <a:t>⋅ </a:t>
            </a:r>
            <a:r>
              <a:rPr dirty="0" sz="2400" spc="-325">
                <a:latin typeface="Cambria Math"/>
                <a:cs typeface="Cambria Math"/>
              </a:rPr>
              <a:t>𝐡</a:t>
            </a:r>
            <a:r>
              <a:rPr dirty="0" baseline="12731" sz="3600" spc="-487">
                <a:latin typeface="Cambria Math"/>
                <a:cs typeface="Cambria Math"/>
              </a:rPr>
              <a:t>̅   </a:t>
            </a:r>
            <a:r>
              <a:rPr dirty="0" baseline="-15432" sz="2700" spc="-892">
                <a:latin typeface="Cambria Math"/>
                <a:cs typeface="Cambria Math"/>
              </a:rPr>
              <a:t>N</a:t>
            </a:r>
            <a:r>
              <a:rPr dirty="0" baseline="-15432" sz="27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⋅</a:t>
            </a:r>
            <a:endParaRPr sz="2400">
              <a:latin typeface="Cambria Math"/>
              <a:cs typeface="Cambria Math"/>
            </a:endParaRPr>
          </a:p>
          <a:p>
            <a:pPr marL="890269">
              <a:lnSpc>
                <a:spcPct val="100000"/>
              </a:lnSpc>
              <a:spcBef>
                <a:spcPts val="430"/>
              </a:spcBef>
            </a:pPr>
            <a:r>
              <a:rPr dirty="0" sz="2400" spc="-275">
                <a:latin typeface="Cambria Math"/>
                <a:cs typeface="Cambria Math"/>
              </a:rPr>
              <a:t>𝐭</a:t>
            </a:r>
            <a:r>
              <a:rPr dirty="0" baseline="-15432" sz="2700" spc="-412">
                <a:latin typeface="Cambria Math"/>
                <a:cs typeface="Cambria Math"/>
              </a:rPr>
              <a:t>N</a:t>
            </a:r>
            <a:r>
              <a:rPr dirty="0" sz="2400" spc="-275">
                <a:latin typeface="Cambria Math"/>
                <a:cs typeface="Cambria Math"/>
              </a:rPr>
              <a:t>R  </a:t>
            </a:r>
            <a:r>
              <a:rPr dirty="0" sz="2400">
                <a:latin typeface="Cambria Math"/>
                <a:cs typeface="Cambria Math"/>
              </a:rPr>
              <a:t>= </a:t>
            </a:r>
            <a:r>
              <a:rPr dirty="0" sz="2400" spc="-50">
                <a:latin typeface="Cambria Math"/>
                <a:cs typeface="Cambria Math"/>
              </a:rPr>
              <a:t>𝑓</a:t>
            </a:r>
            <a:r>
              <a:rPr dirty="0" baseline="-15432" sz="2700" spc="-75">
                <a:latin typeface="Cambria Math"/>
                <a:cs typeface="Cambria Math"/>
              </a:rPr>
              <a:t>/</a:t>
            </a:r>
            <a:r>
              <a:rPr dirty="0" sz="2400" spc="-50">
                <a:latin typeface="Cambria Math"/>
                <a:cs typeface="Cambria Math"/>
              </a:rPr>
              <a:t>(𝑡,</a:t>
            </a:r>
            <a:r>
              <a:rPr dirty="0" sz="2400" spc="-190">
                <a:latin typeface="Cambria Math"/>
                <a:cs typeface="Cambria Math"/>
              </a:rPr>
              <a:t> </a:t>
            </a:r>
            <a:r>
              <a:rPr dirty="0" sz="2400" spc="15">
                <a:latin typeface="Cambria Math"/>
                <a:cs typeface="Cambria Math"/>
              </a:rPr>
              <a:t>ℎ)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744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0194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b="0">
                <a:solidFill>
                  <a:srgbClr val="0000FF"/>
                </a:solidFill>
                <a:latin typeface="Calibri"/>
                <a:cs typeface="Calibri"/>
              </a:rPr>
              <a:t>Inverse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Relations:</a:t>
            </a:r>
          </a:p>
          <a:p>
            <a:pPr marL="2362200">
              <a:lnSpc>
                <a:spcPts val="3815"/>
              </a:lnSpc>
            </a:pPr>
            <a:r>
              <a:rPr dirty="0" spc="-60" b="0">
                <a:solidFill>
                  <a:srgbClr val="008000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89" b="0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r>
              <a:rPr dirty="0" sz="3200" spc="-60" b="0">
                <a:solidFill>
                  <a:srgbClr val="000000"/>
                </a:solidFill>
                <a:latin typeface="Cambria Math"/>
                <a:cs typeface="Cambria Math"/>
              </a:rPr>
              <a:t>(ℎ, </a:t>
            </a:r>
            <a:r>
              <a:rPr dirty="0" sz="3200" spc="30" b="0">
                <a:solidFill>
                  <a:srgbClr val="000000"/>
                </a:solidFill>
                <a:latin typeface="Cambria Math"/>
                <a:cs typeface="Cambria Math"/>
              </a:rPr>
              <a:t>𝑡)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⇒ </a:t>
            </a:r>
            <a:r>
              <a:rPr dirty="0" sz="3200" spc="25" b="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37" b="0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(𝑡,</a:t>
            </a:r>
            <a:r>
              <a:rPr dirty="0" sz="3200" spc="-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ℎ)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2505392" y="4753355"/>
            <a:ext cx="1466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𝐫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414523"/>
            <a:ext cx="6838950" cy="331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 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30">
                <a:latin typeface="Calibri"/>
                <a:cs typeface="Calibri"/>
              </a:rPr>
              <a:t>(Advisor,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Advisee)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ComplEx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25">
                <a:latin typeface="Calibri"/>
                <a:cs typeface="Calibri"/>
              </a:rPr>
              <a:t>inverse </a:t>
            </a:r>
            <a:r>
              <a:rPr dirty="0" sz="3200" spc="-10">
                <a:latin typeface="Calibri"/>
                <a:cs typeface="Calibri"/>
              </a:rPr>
              <a:t>relations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725">
                <a:solidFill>
                  <a:srgbClr val="00B050"/>
                </a:solidFill>
                <a:latin typeface="Arial"/>
                <a:cs typeface="Arial"/>
              </a:rPr>
              <a:t>ü</a:t>
            </a:r>
            <a:endParaRPr sz="3200">
              <a:latin typeface="Arial"/>
              <a:cs typeface="Arial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15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22">
                <a:solidFill>
                  <a:srgbClr val="C00000"/>
                </a:solidFill>
                <a:latin typeface="Cambria Math"/>
                <a:cs typeface="Cambria Math"/>
              </a:rPr>
              <a:t>(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204">
                <a:latin typeface="Cambria Math"/>
                <a:cs typeface="Cambria Math"/>
              </a:rPr>
              <a:t> </a:t>
            </a:r>
            <a:r>
              <a:rPr dirty="0" sz="2800" spc="-610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914">
                <a:solidFill>
                  <a:srgbClr val="008000"/>
                </a:solidFill>
                <a:latin typeface="Cambria Math"/>
                <a:cs typeface="Cambria Math"/>
              </a:rPr>
              <a:t>7</a:t>
            </a:r>
            <a:endParaRPr baseline="-16666" sz="30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Complex </a:t>
            </a:r>
            <a:r>
              <a:rPr dirty="0" sz="2800" spc="-20">
                <a:latin typeface="Calibri"/>
                <a:cs typeface="Calibri"/>
              </a:rPr>
              <a:t>conjugate </a:t>
            </a:r>
            <a:r>
              <a:rPr dirty="0" sz="2800" spc="-5"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ct val="100000"/>
              </a:lnSpc>
              <a:spcBef>
                <a:spcPts val="45"/>
              </a:spcBef>
            </a:pPr>
            <a:r>
              <a:rPr dirty="0" sz="2800" spc="-90">
                <a:solidFill>
                  <a:srgbClr val="008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-135">
                <a:solidFill>
                  <a:srgbClr val="008000"/>
                </a:solidFill>
                <a:latin typeface="Cambria Math"/>
                <a:cs typeface="Cambria Math"/>
              </a:rPr>
              <a:t>7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10">
                <a:latin typeface="Cambria Math"/>
                <a:cs typeface="Cambria Math"/>
              </a:rPr>
              <a:t>argmax </a:t>
            </a:r>
            <a:r>
              <a:rPr dirty="0" sz="2800" spc="-15">
                <a:latin typeface="Cambria Math"/>
                <a:cs typeface="Cambria Math"/>
              </a:rPr>
              <a:t>Re(&lt; </a:t>
            </a:r>
            <a:r>
              <a:rPr dirty="0" sz="2800">
                <a:latin typeface="Cambria Math"/>
                <a:cs typeface="Cambria Math"/>
              </a:rPr>
              <a:t>𝐡, 𝐫, </a:t>
            </a:r>
            <a:r>
              <a:rPr dirty="0" sz="2800" spc="10">
                <a:latin typeface="Cambria Math"/>
                <a:cs typeface="Cambria Math"/>
              </a:rPr>
              <a:t>𝐭</a:t>
            </a:r>
            <a:r>
              <a:rPr dirty="0" baseline="6944" sz="4200" spc="15">
                <a:latin typeface="Cambria Math"/>
                <a:cs typeface="Cambria Math"/>
              </a:rPr>
              <a:t>̅ </a:t>
            </a:r>
            <a:r>
              <a:rPr dirty="0" sz="2800">
                <a:latin typeface="Cambria Math"/>
                <a:cs typeface="Cambria Math"/>
              </a:rPr>
              <a:t>&gt;) </a:t>
            </a:r>
            <a:r>
              <a:rPr dirty="0" sz="2800" spc="-5">
                <a:latin typeface="Calibri"/>
                <a:cs typeface="Calibri"/>
              </a:rPr>
              <a:t>is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exactly</a:t>
            </a:r>
            <a:endParaRPr sz="2800">
              <a:latin typeface="Calibri"/>
              <a:cs typeface="Calibri"/>
            </a:endParaRPr>
          </a:p>
          <a:p>
            <a:pPr marL="625475">
              <a:lnSpc>
                <a:spcPts val="3229"/>
              </a:lnSpc>
              <a:spcBef>
                <a:spcPts val="1725"/>
              </a:spcBef>
              <a:tabLst>
                <a:tab pos="4365625" algn="l"/>
              </a:tabLst>
            </a:pPr>
            <a:r>
              <a:rPr dirty="0" sz="2800" spc="15">
                <a:solidFill>
                  <a:srgbClr val="C00000"/>
                </a:solidFill>
                <a:latin typeface="Cambria Math"/>
                <a:cs typeface="Cambria Math"/>
              </a:rPr>
              <a:t>𝐫</a:t>
            </a:r>
            <a:r>
              <a:rPr dirty="0" baseline="-16666" sz="3000" spc="22">
                <a:solidFill>
                  <a:srgbClr val="C00000"/>
                </a:solidFill>
                <a:latin typeface="Cambria Math"/>
                <a:cs typeface="Cambria Math"/>
              </a:rPr>
              <a:t>(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10">
                <a:latin typeface="Cambria Math"/>
                <a:cs typeface="Cambria Math"/>
              </a:rPr>
              <a:t>argmax </a:t>
            </a:r>
            <a:r>
              <a:rPr dirty="0" sz="2800" spc="-15">
                <a:latin typeface="Cambria Math"/>
                <a:cs typeface="Cambria Math"/>
              </a:rPr>
              <a:t>Re(&lt; </a:t>
            </a:r>
            <a:r>
              <a:rPr dirty="0" sz="2800" spc="-5">
                <a:latin typeface="Cambria Math"/>
                <a:cs typeface="Cambria Math"/>
              </a:rPr>
              <a:t>𝐭,</a:t>
            </a:r>
            <a:r>
              <a:rPr dirty="0" sz="2800" spc="-21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𝐫,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380">
                <a:latin typeface="Cambria Math"/>
                <a:cs typeface="Cambria Math"/>
              </a:rPr>
              <a:t>𝐡</a:t>
            </a:r>
            <a:r>
              <a:rPr dirty="0" baseline="11904" sz="4200" spc="-569">
                <a:latin typeface="Cambria Math"/>
                <a:cs typeface="Cambria Math"/>
              </a:rPr>
              <a:t>̅	</a:t>
            </a:r>
            <a:r>
              <a:rPr dirty="0" sz="2800">
                <a:latin typeface="Cambria Math"/>
                <a:cs typeface="Cambria Math"/>
              </a:rPr>
              <a:t>&gt;)</a:t>
            </a:r>
            <a:r>
              <a:rPr dirty="0" sz="280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510665">
              <a:lnSpc>
                <a:spcPts val="2270"/>
              </a:lnSpc>
            </a:pPr>
            <a:r>
              <a:rPr dirty="0" sz="2000">
                <a:latin typeface="Cambria Math"/>
                <a:cs typeface="Cambria Math"/>
              </a:rPr>
              <a:t>𝐫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8643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37213" y="1946172"/>
            <a:ext cx="880110" cy="376555"/>
          </a:xfrm>
          <a:custGeom>
            <a:avLst/>
            <a:gdLst/>
            <a:ahLst/>
            <a:cxnLst/>
            <a:rect l="l" t="t" r="r" b="b"/>
            <a:pathLst>
              <a:path w="880110" h="376555">
                <a:moveTo>
                  <a:pt x="759880" y="0"/>
                </a:moveTo>
                <a:lnTo>
                  <a:pt x="754522" y="15279"/>
                </a:lnTo>
                <a:lnTo>
                  <a:pt x="776313" y="24736"/>
                </a:lnTo>
                <a:lnTo>
                  <a:pt x="795053" y="37826"/>
                </a:lnTo>
                <a:lnTo>
                  <a:pt x="823380" y="74909"/>
                </a:lnTo>
                <a:lnTo>
                  <a:pt x="840049" y="124940"/>
                </a:lnTo>
                <a:lnTo>
                  <a:pt x="845605" y="186331"/>
                </a:lnTo>
                <a:lnTo>
                  <a:pt x="844210" y="219533"/>
                </a:lnTo>
                <a:lnTo>
                  <a:pt x="833048" y="276782"/>
                </a:lnTo>
                <a:lnTo>
                  <a:pt x="810649" y="321493"/>
                </a:lnTo>
                <a:lnTo>
                  <a:pt x="776567" y="351655"/>
                </a:lnTo>
                <a:lnTo>
                  <a:pt x="755117" y="361156"/>
                </a:lnTo>
                <a:lnTo>
                  <a:pt x="759880" y="376435"/>
                </a:lnTo>
                <a:lnTo>
                  <a:pt x="811225" y="352349"/>
                </a:lnTo>
                <a:lnTo>
                  <a:pt x="848978" y="310653"/>
                </a:lnTo>
                <a:lnTo>
                  <a:pt x="872195" y="254818"/>
                </a:lnTo>
                <a:lnTo>
                  <a:pt x="879934" y="188316"/>
                </a:lnTo>
                <a:lnTo>
                  <a:pt x="877993" y="153807"/>
                </a:lnTo>
                <a:lnTo>
                  <a:pt x="862466" y="92638"/>
                </a:lnTo>
                <a:lnTo>
                  <a:pt x="831671" y="42843"/>
                </a:lnTo>
                <a:lnTo>
                  <a:pt x="787171" y="9853"/>
                </a:lnTo>
                <a:lnTo>
                  <a:pt x="759880" y="0"/>
                </a:lnTo>
                <a:close/>
              </a:path>
              <a:path w="880110" h="376555">
                <a:moveTo>
                  <a:pt x="120054" y="0"/>
                </a:moveTo>
                <a:lnTo>
                  <a:pt x="68833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7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46252" y="1946172"/>
            <a:ext cx="855980" cy="376555"/>
          </a:xfrm>
          <a:custGeom>
            <a:avLst/>
            <a:gdLst/>
            <a:ahLst/>
            <a:cxnLst/>
            <a:rect l="l" t="t" r="r" b="b"/>
            <a:pathLst>
              <a:path w="855979" h="376555">
                <a:moveTo>
                  <a:pt x="735432" y="0"/>
                </a:moveTo>
                <a:lnTo>
                  <a:pt x="730074" y="15279"/>
                </a:lnTo>
                <a:lnTo>
                  <a:pt x="751865" y="24736"/>
                </a:lnTo>
                <a:lnTo>
                  <a:pt x="770605" y="37826"/>
                </a:lnTo>
                <a:lnTo>
                  <a:pt x="798932" y="74909"/>
                </a:lnTo>
                <a:lnTo>
                  <a:pt x="815601" y="124940"/>
                </a:lnTo>
                <a:lnTo>
                  <a:pt x="821157" y="186331"/>
                </a:lnTo>
                <a:lnTo>
                  <a:pt x="819762" y="219533"/>
                </a:lnTo>
                <a:lnTo>
                  <a:pt x="808600" y="276782"/>
                </a:lnTo>
                <a:lnTo>
                  <a:pt x="786201" y="321493"/>
                </a:lnTo>
                <a:lnTo>
                  <a:pt x="752119" y="351655"/>
                </a:lnTo>
                <a:lnTo>
                  <a:pt x="730670" y="361156"/>
                </a:lnTo>
                <a:lnTo>
                  <a:pt x="735432" y="376435"/>
                </a:lnTo>
                <a:lnTo>
                  <a:pt x="786778" y="352349"/>
                </a:lnTo>
                <a:lnTo>
                  <a:pt x="824530" y="310653"/>
                </a:lnTo>
                <a:lnTo>
                  <a:pt x="847748" y="254818"/>
                </a:lnTo>
                <a:lnTo>
                  <a:pt x="855487" y="188316"/>
                </a:lnTo>
                <a:lnTo>
                  <a:pt x="853546" y="153807"/>
                </a:lnTo>
                <a:lnTo>
                  <a:pt x="838018" y="92638"/>
                </a:lnTo>
                <a:lnTo>
                  <a:pt x="807223" y="42843"/>
                </a:lnTo>
                <a:lnTo>
                  <a:pt x="762724" y="9853"/>
                </a:lnTo>
                <a:lnTo>
                  <a:pt x="735432" y="0"/>
                </a:lnTo>
                <a:close/>
              </a:path>
              <a:path w="855979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88768" y="1946172"/>
            <a:ext cx="850265" cy="376555"/>
          </a:xfrm>
          <a:custGeom>
            <a:avLst/>
            <a:gdLst/>
            <a:ahLst/>
            <a:cxnLst/>
            <a:rect l="l" t="t" r="r" b="b"/>
            <a:pathLst>
              <a:path w="850264" h="376555">
                <a:moveTo>
                  <a:pt x="729717" y="0"/>
                </a:moveTo>
                <a:lnTo>
                  <a:pt x="724359" y="15279"/>
                </a:lnTo>
                <a:lnTo>
                  <a:pt x="746150" y="24736"/>
                </a:lnTo>
                <a:lnTo>
                  <a:pt x="764890" y="37826"/>
                </a:lnTo>
                <a:lnTo>
                  <a:pt x="793217" y="74909"/>
                </a:lnTo>
                <a:lnTo>
                  <a:pt x="809886" y="124940"/>
                </a:lnTo>
                <a:lnTo>
                  <a:pt x="815442" y="186331"/>
                </a:lnTo>
                <a:lnTo>
                  <a:pt x="814047" y="219533"/>
                </a:lnTo>
                <a:lnTo>
                  <a:pt x="802885" y="276782"/>
                </a:lnTo>
                <a:lnTo>
                  <a:pt x="780486" y="321493"/>
                </a:lnTo>
                <a:lnTo>
                  <a:pt x="746404" y="351655"/>
                </a:lnTo>
                <a:lnTo>
                  <a:pt x="724955" y="361156"/>
                </a:lnTo>
                <a:lnTo>
                  <a:pt x="729717" y="376435"/>
                </a:lnTo>
                <a:lnTo>
                  <a:pt x="781063" y="352349"/>
                </a:lnTo>
                <a:lnTo>
                  <a:pt x="818815" y="310653"/>
                </a:lnTo>
                <a:lnTo>
                  <a:pt x="842033" y="254818"/>
                </a:lnTo>
                <a:lnTo>
                  <a:pt x="849772" y="188316"/>
                </a:lnTo>
                <a:lnTo>
                  <a:pt x="847831" y="153807"/>
                </a:lnTo>
                <a:lnTo>
                  <a:pt x="832303" y="92638"/>
                </a:lnTo>
                <a:lnTo>
                  <a:pt x="801508" y="42843"/>
                </a:lnTo>
                <a:lnTo>
                  <a:pt x="757009" y="9853"/>
                </a:lnTo>
                <a:lnTo>
                  <a:pt x="729717" y="0"/>
                </a:lnTo>
                <a:close/>
              </a:path>
              <a:path w="850264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49338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Composition</a:t>
            </a:r>
            <a:r>
              <a:rPr dirty="0" spc="-45">
                <a:solidFill>
                  <a:srgbClr val="0000FF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Relations:</a:t>
            </a:r>
          </a:p>
          <a:p>
            <a:pPr marL="855344">
              <a:lnSpc>
                <a:spcPts val="3815"/>
              </a:lnSpc>
              <a:tabLst>
                <a:tab pos="1351915" algn="l"/>
                <a:tab pos="2224405" algn="l"/>
                <a:tab pos="3060700" algn="l"/>
                <a:tab pos="3931920" algn="l"/>
                <a:tab pos="4903470" algn="l"/>
              </a:tabLst>
            </a:pPr>
            <a:r>
              <a:rPr dirty="0" b="0">
                <a:solidFill>
                  <a:srgbClr val="D9253E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b="0">
                <a:solidFill>
                  <a:srgbClr val="D9253E"/>
                </a:solidFill>
                <a:latin typeface="Cambria Math"/>
                <a:cs typeface="Cambria Math"/>
              </a:rPr>
              <a:t>"	</a:t>
            </a:r>
            <a:r>
              <a:rPr dirty="0" sz="3200" spc="35" b="0">
                <a:solidFill>
                  <a:srgbClr val="000000"/>
                </a:solidFill>
                <a:latin typeface="Cambria Math"/>
                <a:cs typeface="Cambria Math"/>
              </a:rPr>
              <a:t>𝑥,</a:t>
            </a:r>
            <a:r>
              <a:rPr dirty="0" sz="32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𝑦	∧</a:t>
            </a:r>
            <a:r>
              <a:rPr dirty="0" sz="3200" spc="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-225" b="0">
                <a:solidFill>
                  <a:srgbClr val="E88651"/>
                </a:solidFill>
                <a:latin typeface="Cambria Math"/>
                <a:cs typeface="Cambria Math"/>
              </a:rPr>
              <a:t>𝑟</a:t>
            </a:r>
            <a:r>
              <a:rPr dirty="0" baseline="-15700" sz="3450" spc="-337" b="0">
                <a:solidFill>
                  <a:srgbClr val="E88651"/>
                </a:solidFill>
                <a:latin typeface="Cambria Math"/>
                <a:cs typeface="Cambria Math"/>
              </a:rPr>
              <a:t>#	</a:t>
            </a:r>
            <a:r>
              <a:rPr dirty="0" sz="3200" spc="25" b="0">
                <a:solidFill>
                  <a:srgbClr val="000000"/>
                </a:solidFill>
                <a:latin typeface="Cambria Math"/>
                <a:cs typeface="Cambria Math"/>
              </a:rPr>
              <a:t>𝑦,</a:t>
            </a:r>
            <a:r>
              <a:rPr dirty="0" sz="320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𝑧	⇒</a:t>
            </a:r>
            <a:r>
              <a:rPr dirty="0" sz="3200" spc="180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-75" b="0">
                <a:latin typeface="Cambria Math"/>
                <a:cs typeface="Cambria Math"/>
              </a:rPr>
              <a:t>𝑟</a:t>
            </a:r>
            <a:r>
              <a:rPr dirty="0" baseline="-15700" sz="3450" spc="-112" b="0">
                <a:latin typeface="Cambria Math"/>
                <a:cs typeface="Cambria Math"/>
              </a:rPr>
              <a:t>/	</a:t>
            </a:r>
            <a:r>
              <a:rPr dirty="0" sz="3200" spc="35" b="0">
                <a:solidFill>
                  <a:srgbClr val="000000"/>
                </a:solidFill>
                <a:latin typeface="Cambria Math"/>
                <a:cs typeface="Cambria Math"/>
              </a:rPr>
              <a:t>𝑥,</a:t>
            </a:r>
            <a:r>
              <a:rPr dirty="0" sz="3200" spc="-254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𝑧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528243" y="1830324"/>
            <a:ext cx="12439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25">
                <a:latin typeface="Cambria Math"/>
                <a:cs typeface="Cambria Math"/>
              </a:rPr>
              <a:t>∀𝑥, 𝑦,</a:t>
            </a:r>
            <a:r>
              <a:rPr dirty="0" sz="3200" spc="-44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𝑧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2414523"/>
            <a:ext cx="7179945" cy="3869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>
                <a:latin typeface="Calibri"/>
                <a:cs typeface="Calibri"/>
              </a:rPr>
              <a:t>My </a:t>
            </a:r>
            <a:r>
              <a:rPr dirty="0" sz="2800" spc="-10">
                <a:latin typeface="Calibri"/>
                <a:cs typeface="Calibri"/>
              </a:rPr>
              <a:t>mother’s </a:t>
            </a:r>
            <a:r>
              <a:rPr dirty="0" sz="2800" spc="-5">
                <a:latin typeface="Calibri"/>
                <a:cs typeface="Calibri"/>
              </a:rPr>
              <a:t>husband is </a:t>
            </a:r>
            <a:r>
              <a:rPr dirty="0" sz="2800" spc="-30">
                <a:latin typeface="Calibri"/>
                <a:cs typeface="Calibri"/>
              </a:rPr>
              <a:t>my</a:t>
            </a:r>
            <a:r>
              <a:rPr dirty="0" sz="2800" spc="90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father.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1-to-N</a:t>
            </a:r>
            <a:r>
              <a:rPr dirty="0" sz="3200" spc="-7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Relations: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9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00">
                <a:solidFill>
                  <a:srgbClr val="D9253E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150">
                <a:solidFill>
                  <a:srgbClr val="D9253E"/>
                </a:solidFill>
                <a:latin typeface="Cambria Math"/>
                <a:cs typeface="Cambria Math"/>
              </a:rPr>
              <a:t>(</a:t>
            </a:r>
            <a:r>
              <a:rPr dirty="0" sz="2800" spc="100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5">
                <a:latin typeface="Cambria Math"/>
                <a:cs typeface="Cambria Math"/>
              </a:rPr>
              <a:t>(ℎ,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𝑟,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25">
                <a:solidFill>
                  <a:srgbClr val="479249"/>
                </a:solidFill>
                <a:latin typeface="Cambria Math"/>
                <a:cs typeface="Cambria Math"/>
              </a:rPr>
              <a:t>𝑡</a:t>
            </a:r>
            <a:r>
              <a:rPr dirty="0" baseline="-16666" sz="3000" spc="37">
                <a:solidFill>
                  <a:srgbClr val="479249"/>
                </a:solidFill>
                <a:latin typeface="Cambria Math"/>
                <a:cs typeface="Cambria Math"/>
              </a:rPr>
              <a:t>7</a:t>
            </a:r>
            <a:r>
              <a:rPr dirty="0" sz="2800" spc="25">
                <a:latin typeface="Cambria Math"/>
                <a:cs typeface="Cambria Math"/>
              </a:rPr>
              <a:t>)</a:t>
            </a:r>
            <a:r>
              <a:rPr dirty="0" sz="2800" spc="10">
                <a:latin typeface="Cambria Math"/>
                <a:cs typeface="Cambria Math"/>
              </a:rPr>
              <a:t> </a:t>
            </a:r>
            <a:r>
              <a:rPr dirty="0" sz="2800" spc="-20">
                <a:latin typeface="Calibri"/>
                <a:cs typeface="Calibri"/>
              </a:rPr>
              <a:t>exist</a:t>
            </a:r>
            <a:r>
              <a:rPr dirty="0" sz="2800" spc="-5">
                <a:latin typeface="Calibri"/>
                <a:cs typeface="Calibri"/>
              </a:rPr>
              <a:t> in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knowledge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ComplEx </a:t>
            </a:r>
            <a:r>
              <a:rPr dirty="0" sz="3200" spc="-10">
                <a:latin typeface="Calibri"/>
                <a:cs typeface="Calibri"/>
              </a:rPr>
              <a:t>share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 </a:t>
            </a:r>
            <a:r>
              <a:rPr dirty="0" sz="3200" spc="-10">
                <a:latin typeface="Calibri"/>
                <a:cs typeface="Calibri"/>
              </a:rPr>
              <a:t>property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with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5"/>
              </a:spcBef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Cannot model </a:t>
            </a:r>
            <a:r>
              <a:rPr dirty="0" sz="2800" spc="-10" b="1">
                <a:latin typeface="Calibri"/>
                <a:cs typeface="Calibri"/>
              </a:rPr>
              <a:t>composition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relations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latin typeface="Calibri"/>
                <a:cs typeface="Calibri"/>
              </a:rPr>
              <a:t>Can </a:t>
            </a:r>
            <a:r>
              <a:rPr dirty="0" sz="2800" spc="-5" b="1">
                <a:latin typeface="Calibri"/>
                <a:cs typeface="Calibri"/>
              </a:rPr>
              <a:t>model 1-to-N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relations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96163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746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Properties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expressive power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 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KG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completion</a:t>
            </a:r>
            <a:r>
              <a:rPr dirty="0" spc="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methods:</a:t>
            </a:r>
          </a:p>
        </p:txBody>
      </p:sp>
      <p:sp>
        <p:nvSpPr>
          <p:cNvPr id="4" name="object 4"/>
          <p:cNvSpPr/>
          <p:nvPr/>
        </p:nvSpPr>
        <p:spPr>
          <a:xfrm>
            <a:off x="2927398" y="3290812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6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8843" y="3290812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6"/>
                </a:lnTo>
              </a:path>
            </a:pathLst>
          </a:custGeom>
          <a:ln w="1719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23844" y="3290812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6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75290" y="3290812"/>
            <a:ext cx="0" cy="208279"/>
          </a:xfrm>
          <a:custGeom>
            <a:avLst/>
            <a:gdLst/>
            <a:ahLst/>
            <a:cxnLst/>
            <a:rect l="l" t="t" r="r" b="b"/>
            <a:pathLst>
              <a:path w="0" h="208279">
                <a:moveTo>
                  <a:pt x="0" y="0"/>
                </a:moveTo>
                <a:lnTo>
                  <a:pt x="0" y="207726"/>
                </a:lnTo>
              </a:path>
            </a:pathLst>
          </a:custGeom>
          <a:ln w="1718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0848" y="2818589"/>
          <a:ext cx="8423275" cy="214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7885"/>
                <a:gridCol w="1607127"/>
                <a:gridCol w="1346662"/>
                <a:gridCol w="709352"/>
                <a:gridCol w="1097280"/>
                <a:gridCol w="592975"/>
                <a:gridCol w="1058487"/>
                <a:gridCol w="914399"/>
              </a:tblGrid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Model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Score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Embedding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Sym.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Antisym.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Inv.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Compos.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1-to-N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 spc="-25" b="1">
                          <a:latin typeface="Corbel"/>
                          <a:cs typeface="Corbel"/>
                        </a:rPr>
                        <a:t>TransE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>
                          <a:latin typeface="Cambria Math"/>
                          <a:cs typeface="Cambria Math"/>
                        </a:rPr>
                        <a:t>−  𝐡 + 𝐫 −</a:t>
                      </a:r>
                      <a:r>
                        <a:rPr dirty="0" sz="18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𝐭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800" spc="-5">
                          <a:latin typeface="Cambria Math"/>
                          <a:cs typeface="Cambria Math"/>
                        </a:rPr>
                        <a:t>𝐡,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𝐭, 𝐫 ∈</a:t>
                      </a:r>
                      <a:r>
                        <a:rPr dirty="0" sz="18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250">
                          <a:latin typeface="Cambria Math"/>
                          <a:cs typeface="Cambria Math"/>
                        </a:rPr>
                        <a:t>ℝ</a:t>
                      </a:r>
                      <a:r>
                        <a:rPr dirty="0" baseline="27777" sz="1950" spc="375">
                          <a:latin typeface="Cambria Math"/>
                          <a:cs typeface="Cambria Math"/>
                        </a:rPr>
                        <a:t>.</a:t>
                      </a:r>
                      <a:endParaRPr baseline="2777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 spc="-25" b="1">
                          <a:latin typeface="Corbel"/>
                          <a:cs typeface="Corbel"/>
                        </a:rPr>
                        <a:t>TransR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ts val="2125"/>
                        </a:lnSpc>
                        <a:spcBef>
                          <a:spcPts val="254"/>
                        </a:spcBef>
                      </a:pPr>
                      <a:r>
                        <a:rPr dirty="0" sz="1800" spc="4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dirty="0" baseline="1543" sz="2700" spc="60">
                          <a:latin typeface="Cambria Math"/>
                          <a:cs typeface="Cambria Math"/>
                        </a:rPr>
                        <a:t>‖</a:t>
                      </a:r>
                      <a:r>
                        <a:rPr dirty="0" sz="1800" spc="40">
                          <a:latin typeface="Cambria Math"/>
                          <a:cs typeface="Cambria Math"/>
                        </a:rPr>
                        <a:t>𝐖</a:t>
                      </a:r>
                      <a:r>
                        <a:rPr dirty="0" baseline="-14957" sz="1950" spc="60">
                          <a:latin typeface="Cambria Math"/>
                          <a:cs typeface="Cambria Math"/>
                        </a:rPr>
                        <a:t>!</a:t>
                      </a:r>
                      <a:r>
                        <a:rPr dirty="0" sz="1800" spc="40">
                          <a:latin typeface="Cambria Math"/>
                          <a:cs typeface="Cambria Math"/>
                        </a:rPr>
                        <a:t>𝐡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dirty="0" sz="1800" spc="-12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𝐫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233679">
                        <a:lnSpc>
                          <a:spcPts val="2125"/>
                        </a:lnSpc>
                      </a:pPr>
                      <a:r>
                        <a:rPr dirty="0" sz="180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dirty="0" sz="1800" spc="-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50">
                          <a:latin typeface="Cambria Math"/>
                          <a:cs typeface="Cambria Math"/>
                        </a:rPr>
                        <a:t>𝐖</a:t>
                      </a:r>
                      <a:r>
                        <a:rPr dirty="0" baseline="-14957" sz="1950" spc="75">
                          <a:latin typeface="Cambria Math"/>
                          <a:cs typeface="Cambria Math"/>
                        </a:rPr>
                        <a:t>!</a:t>
                      </a:r>
                      <a:r>
                        <a:rPr dirty="0" sz="1800" spc="50">
                          <a:latin typeface="Cambria Math"/>
                          <a:cs typeface="Cambria Math"/>
                        </a:rPr>
                        <a:t>𝐭</a:t>
                      </a:r>
                      <a:r>
                        <a:rPr dirty="0" baseline="1543" sz="2700" spc="75">
                          <a:latin typeface="Cambria Math"/>
                          <a:cs typeface="Cambria Math"/>
                        </a:rPr>
                        <a:t>‖</a:t>
                      </a:r>
                      <a:endParaRPr baseline="1543" sz="2700">
                        <a:latin typeface="Cambria Math"/>
                        <a:cs typeface="Cambria Math"/>
                      </a:endParaRPr>
                    </a:p>
                  </a:txBody>
                  <a:tcPr marL="0" marR="0" marB="0" marT="3238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135"/>
                        </a:lnSpc>
                        <a:spcBef>
                          <a:spcPts val="280"/>
                        </a:spcBef>
                      </a:pPr>
                      <a:r>
                        <a:rPr dirty="0" sz="1800" spc="-5">
                          <a:latin typeface="Cambria Math"/>
                          <a:cs typeface="Cambria Math"/>
                        </a:rPr>
                        <a:t>𝐡,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𝐭, 𝐫 ∈</a:t>
                      </a:r>
                      <a:r>
                        <a:rPr dirty="0" sz="1800" spc="-5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190">
                          <a:latin typeface="Cambria Math"/>
                          <a:cs typeface="Cambria Math"/>
                        </a:rPr>
                        <a:t>ℝ</a:t>
                      </a:r>
                      <a:r>
                        <a:rPr dirty="0" baseline="27777" sz="1950" spc="284">
                          <a:latin typeface="Cambria Math"/>
                          <a:cs typeface="Cambria Math"/>
                        </a:rPr>
                        <a:t>.</a:t>
                      </a:r>
                      <a:r>
                        <a:rPr dirty="0" sz="1800" spc="190">
                          <a:latin typeface="Cambria Math"/>
                          <a:cs typeface="Cambria Math"/>
                        </a:rPr>
                        <a:t>,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  <a:p>
                      <a:pPr marL="107950">
                        <a:lnSpc>
                          <a:spcPts val="2135"/>
                        </a:lnSpc>
                      </a:pPr>
                      <a:r>
                        <a:rPr dirty="0" sz="1800" spc="75">
                          <a:latin typeface="Cambria Math"/>
                          <a:cs typeface="Cambria Math"/>
                        </a:rPr>
                        <a:t>𝐖</a:t>
                      </a:r>
                      <a:r>
                        <a:rPr dirty="0" baseline="-14957" sz="1950" spc="112">
                          <a:latin typeface="Cambria Math"/>
                          <a:cs typeface="Cambria Math"/>
                        </a:rPr>
                        <a:t>!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dirty="0" sz="1800" spc="10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250">
                          <a:latin typeface="Cambria Math"/>
                          <a:cs typeface="Cambria Math"/>
                        </a:rPr>
                        <a:t>ℝ</a:t>
                      </a:r>
                      <a:r>
                        <a:rPr dirty="0" baseline="27777" sz="1950" spc="375">
                          <a:latin typeface="Cambria Math"/>
                          <a:cs typeface="Cambria Math"/>
                        </a:rPr>
                        <a:t>.</a:t>
                      </a:r>
                      <a:endParaRPr baseline="2777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63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DistMult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2819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>
                          <a:latin typeface="Cambria Math"/>
                          <a:cs typeface="Cambria Math"/>
                        </a:rPr>
                        <a:t>&lt; </a:t>
                      </a:r>
                      <a:r>
                        <a:rPr dirty="0" sz="1800" spc="-5">
                          <a:latin typeface="Cambria Math"/>
                          <a:cs typeface="Cambria Math"/>
                        </a:rPr>
                        <a:t>𝐡,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𝐫, 𝐭</a:t>
                      </a:r>
                      <a:r>
                        <a:rPr dirty="0" sz="18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&gt;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800" spc="-5">
                          <a:latin typeface="Cambria Math"/>
                          <a:cs typeface="Cambria Math"/>
                        </a:rPr>
                        <a:t>𝐡,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𝐭, 𝐫 ∈</a:t>
                      </a:r>
                      <a:r>
                        <a:rPr dirty="0" sz="1800" spc="-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250">
                          <a:latin typeface="Cambria Math"/>
                          <a:cs typeface="Cambria Math"/>
                        </a:rPr>
                        <a:t>ℝ</a:t>
                      </a:r>
                      <a:r>
                        <a:rPr dirty="0" baseline="27777" sz="1950" spc="375">
                          <a:latin typeface="Cambria Math"/>
                          <a:cs typeface="Cambria Math"/>
                        </a:rPr>
                        <a:t>.</a:t>
                      </a:r>
                      <a:endParaRPr baseline="2777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ComplEx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 spc="-10">
                          <a:latin typeface="Cambria Math"/>
                          <a:cs typeface="Cambria Math"/>
                        </a:rPr>
                        <a:t>Re(&lt; </a:t>
                      </a:r>
                      <a:r>
                        <a:rPr dirty="0" sz="1800" spc="-5">
                          <a:latin typeface="Cambria Math"/>
                          <a:cs typeface="Cambria Math"/>
                        </a:rPr>
                        <a:t>𝐡,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𝐫, </a:t>
                      </a:r>
                      <a:r>
                        <a:rPr dirty="0" sz="1800" spc="5">
                          <a:latin typeface="Cambria Math"/>
                          <a:cs typeface="Cambria Math"/>
                        </a:rPr>
                        <a:t>𝐭</a:t>
                      </a:r>
                      <a:r>
                        <a:rPr dirty="0" baseline="7716" sz="2700" spc="7">
                          <a:latin typeface="Cambria Math"/>
                          <a:cs typeface="Cambria Math"/>
                        </a:rPr>
                        <a:t>̅</a:t>
                      </a:r>
                      <a:r>
                        <a:rPr dirty="0" baseline="7716" sz="2700" spc="-112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&gt;)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800" spc="-5">
                          <a:latin typeface="Cambria Math"/>
                          <a:cs typeface="Cambria Math"/>
                        </a:rPr>
                        <a:t>𝐡, </a:t>
                      </a:r>
                      <a:r>
                        <a:rPr dirty="0" sz="1800">
                          <a:latin typeface="Cambria Math"/>
                          <a:cs typeface="Cambria Math"/>
                        </a:rPr>
                        <a:t>𝐭, 𝐫 ∈</a:t>
                      </a:r>
                      <a:r>
                        <a:rPr dirty="0" sz="1800" spc="-6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800" spc="250">
                          <a:latin typeface="Cambria Math"/>
                          <a:cs typeface="Cambria Math"/>
                        </a:rPr>
                        <a:t>ℂ</a:t>
                      </a:r>
                      <a:r>
                        <a:rPr dirty="0" baseline="27777" sz="1950" spc="375">
                          <a:latin typeface="Cambria Math"/>
                          <a:cs typeface="Cambria Math"/>
                        </a:rPr>
                        <a:t>.</a:t>
                      </a:r>
                      <a:endParaRPr baseline="27777" sz="1950">
                        <a:latin typeface="Cambria Math"/>
                        <a:cs typeface="Cambria Math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û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800">
                          <a:solidFill>
                            <a:srgbClr val="00B050"/>
                          </a:solidFill>
                          <a:latin typeface="Arial"/>
                          <a:cs typeface="Arial"/>
                        </a:rPr>
                        <a:t>ü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667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4405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411480" marR="5080" indent="-342900">
              <a:lnSpc>
                <a:spcPts val="3790"/>
              </a:lnSpc>
              <a:spcBef>
                <a:spcPts val="265"/>
              </a:spcBef>
            </a:pPr>
            <a:r>
              <a:rPr dirty="0" sz="2600" spc="-10" b="0">
                <a:solidFill>
                  <a:srgbClr val="F0AD00"/>
                </a:solidFill>
                <a:latin typeface="Calibri"/>
                <a:cs typeface="Calibri"/>
              </a:rPr>
              <a:t>1.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</a:t>
            </a: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KGs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may have </a:t>
            </a:r>
            <a:r>
              <a:rPr dirty="0" spc="-15"/>
              <a:t>drastically </a:t>
            </a:r>
            <a:r>
              <a:rPr dirty="0" spc="-20"/>
              <a:t>different  </a:t>
            </a:r>
            <a:r>
              <a:rPr dirty="0" spc="-10"/>
              <a:t>relation</a:t>
            </a:r>
            <a:r>
              <a:rPr dirty="0" spc="-95"/>
              <a:t> </a:t>
            </a:r>
            <a:r>
              <a:rPr dirty="0" spc="-15"/>
              <a:t>patterns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!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499363" y="2327148"/>
            <a:ext cx="7999730" cy="29514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55600" marR="266700" indent="-34290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AutoNum type="arabicPeriod" startAt="2"/>
              <a:tabLst>
                <a:tab pos="355600" algn="l"/>
              </a:tabLst>
            </a:pPr>
            <a:r>
              <a:rPr dirty="0" sz="3200" spc="-15">
                <a:latin typeface="Calibri"/>
                <a:cs typeface="Calibri"/>
              </a:rPr>
              <a:t>There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not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latin typeface="Calibri"/>
                <a:cs typeface="Calibri"/>
              </a:rPr>
              <a:t>general </a:t>
            </a:r>
            <a:r>
              <a:rPr dirty="0" sz="3200" spc="-5">
                <a:latin typeface="Calibri"/>
                <a:cs typeface="Calibri"/>
              </a:rPr>
              <a:t>embedding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 spc="-20">
                <a:latin typeface="Calibri"/>
                <a:cs typeface="Calibri"/>
              </a:rPr>
              <a:t>works 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all </a:t>
            </a:r>
            <a:r>
              <a:rPr dirty="0" sz="3200" spc="-35">
                <a:latin typeface="Calibri"/>
                <a:cs typeface="Calibri"/>
              </a:rPr>
              <a:t>KGs,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E88651"/>
                </a:solidFill>
                <a:latin typeface="Calibri"/>
                <a:cs typeface="Calibri"/>
              </a:rPr>
              <a:t>table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select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ts val="3790"/>
              </a:lnSpc>
              <a:spcBef>
                <a:spcPts val="120"/>
              </a:spcBef>
              <a:buClr>
                <a:srgbClr val="F0AD00"/>
              </a:buClr>
              <a:buSzPct val="81250"/>
              <a:buAutoNum type="arabicPeriod" startAt="2"/>
              <a:tabLst>
                <a:tab pos="355600" algn="l"/>
              </a:tabLst>
            </a:pPr>
            <a:r>
              <a:rPr dirty="0" sz="3200" spc="-70">
                <a:latin typeface="Calibri"/>
                <a:cs typeface="Calibri"/>
              </a:rPr>
              <a:t>Try </a:t>
            </a: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quick run </a:t>
            </a:r>
            <a:r>
              <a:rPr dirty="0" sz="3200">
                <a:latin typeface="Calibri"/>
                <a:cs typeface="Calibri"/>
              </a:rPr>
              <a:t>if the </a:t>
            </a:r>
            <a:r>
              <a:rPr dirty="0" sz="3200" spc="-25">
                <a:latin typeface="Calibri"/>
                <a:cs typeface="Calibri"/>
              </a:rPr>
              <a:t>target </a:t>
            </a:r>
            <a:r>
              <a:rPr dirty="0" sz="3200" spc="-65">
                <a:latin typeface="Calibri"/>
                <a:cs typeface="Calibri"/>
              </a:rPr>
              <a:t>KG </a:t>
            </a:r>
            <a:r>
              <a:rPr dirty="0" sz="3200" spc="-5">
                <a:latin typeface="Calibri"/>
                <a:cs typeface="Calibri"/>
              </a:rPr>
              <a:t>does  not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 spc="-5">
                <a:latin typeface="Calibri"/>
                <a:cs typeface="Calibri"/>
              </a:rPr>
              <a:t>much </a:t>
            </a:r>
            <a:r>
              <a:rPr dirty="0" sz="3200" spc="-15">
                <a:latin typeface="Calibri"/>
                <a:cs typeface="Calibri"/>
              </a:rPr>
              <a:t>symmetric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relations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ts val="3675"/>
              </a:lnSpc>
              <a:buClr>
                <a:srgbClr val="F0AD00"/>
              </a:buClr>
              <a:buSzPct val="81250"/>
              <a:buAutoNum type="arabicPeriod" startAt="2"/>
              <a:tabLst>
                <a:tab pos="355600" algn="l"/>
              </a:tabLst>
            </a:pPr>
            <a:r>
              <a:rPr dirty="0" sz="3200" spc="-5">
                <a:latin typeface="Calibri"/>
                <a:cs typeface="Calibri"/>
              </a:rPr>
              <a:t>Then use </a:t>
            </a:r>
            <a:r>
              <a:rPr dirty="0" sz="3200" spc="-15">
                <a:latin typeface="Calibri"/>
                <a:cs typeface="Calibri"/>
              </a:rPr>
              <a:t>more expressive </a:t>
            </a:r>
            <a:r>
              <a:rPr dirty="0" sz="3200" spc="-5">
                <a:latin typeface="Calibri"/>
                <a:cs typeface="Calibri"/>
              </a:rPr>
              <a:t>models,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0">
                <a:latin typeface="Calibri"/>
                <a:cs typeface="Calibri"/>
              </a:rPr>
              <a:t>e.g.,</a:t>
            </a:r>
            <a:endParaRPr sz="32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70"/>
              </a:spcBef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ComplEx</a:t>
            </a:r>
            <a:r>
              <a:rPr dirty="0" sz="3200" spc="-5">
                <a:latin typeface="Calibri"/>
                <a:cs typeface="Calibri"/>
              </a:rPr>
              <a:t>,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RotatE </a:t>
            </a:r>
            <a:r>
              <a:rPr dirty="0" sz="3200" spc="-40">
                <a:latin typeface="Calibri"/>
                <a:cs typeface="Calibri"/>
              </a:rPr>
              <a:t>(</a:t>
            </a:r>
            <a:r>
              <a:rPr dirty="0" sz="3200" spc="-40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0">
                <a:latin typeface="Calibri"/>
                <a:cs typeface="Calibri"/>
              </a:rPr>
              <a:t>Complex</a:t>
            </a:r>
            <a:r>
              <a:rPr dirty="0" sz="3200" spc="10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space)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6457" y="29971"/>
            <a:ext cx="6282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Sun et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al,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RotatE: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Knowledge Graph Embedding by </a:t>
            </a:r>
            <a:r>
              <a:rPr dirty="0" sz="1200" spc="-10" u="sng">
                <a:solidFill>
                  <a:srgbClr val="168BBA"/>
                </a:solidFill>
                <a:latin typeface="Corbel"/>
                <a:cs typeface="Corbel"/>
              </a:rPr>
              <a:t>Relational Rotation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in Complex Space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ICLR</a:t>
            </a:r>
            <a:r>
              <a:rPr dirty="0" sz="1200" spc="-10">
                <a:solidFill>
                  <a:srgbClr val="FFFFFF"/>
                </a:solidFill>
                <a:latin typeface="Corbel"/>
                <a:cs typeface="Corbel"/>
              </a:rPr>
              <a:t> 2019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694029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63396"/>
            <a:ext cx="7609205" cy="29514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Link </a:t>
            </a:r>
            <a:r>
              <a:rPr dirty="0" sz="3200" spc="-10">
                <a:latin typeface="Calibri"/>
                <a:cs typeface="Calibri"/>
              </a:rPr>
              <a:t>prediction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10">
                <a:latin typeface="Calibri"/>
                <a:cs typeface="Calibri"/>
              </a:rPr>
              <a:t>completion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one of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prominent </a:t>
            </a:r>
            <a:r>
              <a:rPr dirty="0" sz="3200" spc="-20">
                <a:latin typeface="Calibri"/>
                <a:cs typeface="Calibri"/>
              </a:rPr>
              <a:t>tasks </a:t>
            </a:r>
            <a:r>
              <a:rPr dirty="0" sz="3200" spc="-5">
                <a:latin typeface="Calibri"/>
                <a:cs typeface="Calibri"/>
              </a:rPr>
              <a:t>on </a:t>
            </a:r>
            <a:r>
              <a:rPr dirty="0" sz="3200" spc="-10">
                <a:latin typeface="Calibri"/>
                <a:cs typeface="Calibri"/>
              </a:rPr>
              <a:t>knowledge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0AD00"/>
              </a:buClr>
              <a:buFont typeface="Arial"/>
              <a:buChar char="▪"/>
            </a:pPr>
            <a:endParaRPr sz="3200">
              <a:latin typeface="Times New Roman"/>
              <a:cs typeface="Times New Roman"/>
            </a:endParaRPr>
          </a:p>
          <a:p>
            <a:pPr marL="332740" marR="189230" indent="-320040">
              <a:lnSpc>
                <a:spcPct val="1002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Introduce </a:t>
            </a:r>
            <a:r>
              <a:rPr dirty="0" sz="3200" spc="-45" b="1">
                <a:solidFill>
                  <a:srgbClr val="0070C0"/>
                </a:solidFill>
                <a:latin typeface="Calibri"/>
                <a:cs typeface="Calibri"/>
              </a:rPr>
              <a:t>TransE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45" b="1">
                <a:solidFill>
                  <a:srgbClr val="7030A0"/>
                </a:solidFill>
                <a:latin typeface="Calibri"/>
                <a:cs typeface="Calibri"/>
              </a:rPr>
              <a:t>TransR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DistMult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ComplEx </a:t>
            </a:r>
            <a:r>
              <a:rPr dirty="0" sz="3200" spc="-5">
                <a:latin typeface="Calibri"/>
                <a:cs typeface="Calibri"/>
              </a:rPr>
              <a:t>models with </a:t>
            </a:r>
            <a:r>
              <a:rPr dirty="0" sz="3200" spc="-25">
                <a:latin typeface="Calibri"/>
                <a:cs typeface="Calibri"/>
              </a:rPr>
              <a:t>different </a:t>
            </a:r>
            <a:r>
              <a:rPr dirty="0" sz="3200" spc="-5">
                <a:latin typeface="Calibri"/>
                <a:cs typeface="Calibri"/>
              </a:rPr>
              <a:t>embedding  space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expressiveness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62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65759"/>
            <a:ext cx="7580376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3555"/>
            <a:ext cx="336677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2115" b="0">
                <a:solidFill>
                  <a:srgbClr val="F0AD00"/>
                </a:solidFill>
                <a:latin typeface="Arial"/>
                <a:cs typeface="Arial"/>
              </a:rPr>
              <a:t>¡</a:t>
            </a:r>
            <a:r>
              <a:rPr dirty="0" sz="12000" spc="2115" b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dirty="0" sz="12000" spc="-10" b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dirty="0" sz="12000" b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endParaRPr sz="1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2026-10-20T23:52:54Z</dcterms:created>
  <dcterms:modified xsi:type="dcterms:W3CDTF">2026-10-20T23:52:54Z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2021-02-23T00:00:00Z</vt:filetime>
  </property>
  <property fmtid="{D5CDD505-2E9C-101B-9397-08002B2CF9AE}" pid="3" name="LastSaved">
    <vt:filetime>2026-10-20T00:00:00Z</vt:filetime>
  </property>
</Properties>
</file>