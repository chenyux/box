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2"/>
  </p:notesMasterIdLst>
  <p:sldIdLst>
    <p:sldId id="256" r:id="rId2"/>
    <p:sldId id="361" r:id="rId3"/>
    <p:sldId id="474" r:id="rId4"/>
    <p:sldId id="475" r:id="rId5"/>
    <p:sldId id="550" r:id="rId6"/>
    <p:sldId id="476" r:id="rId7"/>
    <p:sldId id="505" r:id="rId8"/>
    <p:sldId id="506" r:id="rId9"/>
    <p:sldId id="508" r:id="rId10"/>
    <p:sldId id="509" r:id="rId11"/>
    <p:sldId id="510" r:id="rId12"/>
    <p:sldId id="512" r:id="rId13"/>
    <p:sldId id="524" r:id="rId14"/>
    <p:sldId id="525" r:id="rId15"/>
    <p:sldId id="551" r:id="rId16"/>
    <p:sldId id="552" r:id="rId17"/>
    <p:sldId id="553" r:id="rId18"/>
    <p:sldId id="526" r:id="rId19"/>
    <p:sldId id="527" r:id="rId20"/>
    <p:sldId id="554" r:id="rId21"/>
    <p:sldId id="555" r:id="rId22"/>
    <p:sldId id="556" r:id="rId23"/>
    <p:sldId id="528" r:id="rId24"/>
    <p:sldId id="529" r:id="rId25"/>
    <p:sldId id="557" r:id="rId26"/>
    <p:sldId id="558" r:id="rId27"/>
    <p:sldId id="559" r:id="rId28"/>
    <p:sldId id="530" r:id="rId29"/>
    <p:sldId id="560" r:id="rId30"/>
    <p:sldId id="561" r:id="rId31"/>
    <p:sldId id="562" r:id="rId32"/>
    <p:sldId id="563" r:id="rId33"/>
    <p:sldId id="564" r:id="rId34"/>
    <p:sldId id="565" r:id="rId35"/>
    <p:sldId id="513" r:id="rId36"/>
    <p:sldId id="532" r:id="rId37"/>
    <p:sldId id="533" r:id="rId38"/>
    <p:sldId id="534" r:id="rId39"/>
    <p:sldId id="535" r:id="rId40"/>
    <p:sldId id="531" r:id="rId41"/>
    <p:sldId id="567" r:id="rId42"/>
    <p:sldId id="566" r:id="rId43"/>
    <p:sldId id="568" r:id="rId44"/>
    <p:sldId id="536" r:id="rId45"/>
    <p:sldId id="537" r:id="rId46"/>
    <p:sldId id="569" r:id="rId47"/>
    <p:sldId id="570" r:id="rId48"/>
    <p:sldId id="571" r:id="rId49"/>
    <p:sldId id="572" r:id="rId50"/>
    <p:sldId id="573" r:id="rId51"/>
    <p:sldId id="574" r:id="rId52"/>
    <p:sldId id="538" r:id="rId53"/>
    <p:sldId id="539" r:id="rId54"/>
    <p:sldId id="575" r:id="rId55"/>
    <p:sldId id="576" r:id="rId56"/>
    <p:sldId id="577" r:id="rId57"/>
    <p:sldId id="578" r:id="rId58"/>
    <p:sldId id="548" r:id="rId59"/>
    <p:sldId id="549" r:id="rId60"/>
    <p:sldId id="579" r:id="rId61"/>
    <p:sldId id="580" r:id="rId62"/>
    <p:sldId id="581" r:id="rId63"/>
    <p:sldId id="582" r:id="rId64"/>
    <p:sldId id="514" r:id="rId65"/>
    <p:sldId id="540" r:id="rId66"/>
    <p:sldId id="541" r:id="rId67"/>
    <p:sldId id="584" r:id="rId68"/>
    <p:sldId id="585" r:id="rId69"/>
    <p:sldId id="586" r:id="rId70"/>
    <p:sldId id="583" r:id="rId71"/>
    <p:sldId id="542" r:id="rId72"/>
    <p:sldId id="543" r:id="rId73"/>
    <p:sldId id="587" r:id="rId74"/>
    <p:sldId id="588" r:id="rId75"/>
    <p:sldId id="589" r:id="rId76"/>
    <p:sldId id="544" r:id="rId77"/>
    <p:sldId id="545" r:id="rId78"/>
    <p:sldId id="591" r:id="rId79"/>
    <p:sldId id="590" r:id="rId80"/>
    <p:sldId id="546" r:id="rId81"/>
    <p:sldId id="547" r:id="rId82"/>
    <p:sldId id="515" r:id="rId83"/>
    <p:sldId id="516" r:id="rId84"/>
    <p:sldId id="517" r:id="rId85"/>
    <p:sldId id="518" r:id="rId86"/>
    <p:sldId id="519" r:id="rId87"/>
    <p:sldId id="520" r:id="rId88"/>
    <p:sldId id="521" r:id="rId89"/>
    <p:sldId id="522" r:id="rId90"/>
    <p:sldId id="523" r:id="rId9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0DE40A4-29CE-4CBB-9055-DA3B70B03461}">
          <p14:sldIdLst>
            <p14:sldId id="256"/>
            <p14:sldId id="361"/>
            <p14:sldId id="474"/>
          </p14:sldIdLst>
        </p14:section>
        <p14:section name="Course 1 - Data Analytics Foundations" id="{4F54212F-1225-4102-B526-414288338B9F}">
          <p14:sldIdLst>
            <p14:sldId id="475"/>
            <p14:sldId id="550"/>
          </p14:sldIdLst>
        </p14:section>
        <p14:section name="        Module 1 - Data and the data analyst role" id="{638FD363-AA4B-4A60-B023-2F5FC214D262}">
          <p14:sldIdLst>
            <p14:sldId id="476"/>
          </p14:sldIdLst>
        </p14:section>
        <p14:section name="        Module 2: Using spreadsheets for data analytics" id="{C891AB25-C416-4212-82A6-CA8EB21ED6A6}">
          <p14:sldIdLst>
            <p14:sldId id="505"/>
            <p14:sldId id="506"/>
          </p14:sldIdLst>
        </p14:section>
        <p14:section name="        Module 3: Data visualization in spreadsheets" id="{ED5A2BFD-556C-402B-8510-E0106E11BDF3}">
          <p14:sldIdLst>
            <p14:sldId id="508"/>
            <p14:sldId id="509"/>
          </p14:sldIdLst>
        </p14:section>
        <p14:section name="        Module 4: The data analytics lifecycle" id="{D6BCABCB-D063-4170-8412-104114F92F4A}">
          <p14:sldIdLst>
            <p14:sldId id="510"/>
          </p14:sldIdLst>
        </p14:section>
        <p14:section name="Course 2 - Applied Statistics for Data Analytics" id="{BA57C406-4CC3-4DF2-B97A-21017D24ED57}">
          <p14:sldIdLst>
            <p14:sldId id="512"/>
          </p14:sldIdLst>
        </p14:section>
        <p14:section name="        Module 1: Foundational statistical techniques" id="{EA26BC40-A2AC-4DBF-BE4C-6D7BEBEE4D6D}">
          <p14:sldIdLst>
            <p14:sldId id="524"/>
            <p14:sldId id="525"/>
            <p14:sldId id="551"/>
            <p14:sldId id="552"/>
            <p14:sldId id="553"/>
          </p14:sldIdLst>
        </p14:section>
        <p14:section name="        Module 2: Probability and simulation" id="{9B7DFD96-D9E9-41C1-BF4D-4227271CCAF2}">
          <p14:sldIdLst>
            <p14:sldId id="526"/>
            <p14:sldId id="527"/>
            <p14:sldId id="554"/>
            <p14:sldId id="555"/>
            <p14:sldId id="556"/>
          </p14:sldIdLst>
        </p14:section>
        <p14:section name="        Module 3: Confidence intervals" id="{DE959795-E8C0-4EF6-9FF2-BF39546CDD93}">
          <p14:sldIdLst>
            <p14:sldId id="528"/>
            <p14:sldId id="529"/>
            <p14:sldId id="557"/>
            <p14:sldId id="558"/>
            <p14:sldId id="559"/>
          </p14:sldIdLst>
        </p14:section>
        <p14:section name="        Module 4: Hypothesis testing" id="{1FB69065-B6EB-4867-B1B3-42E76CF3CA0A}">
          <p14:sldIdLst>
            <p14:sldId id="530"/>
            <p14:sldId id="560"/>
            <p14:sldId id="561"/>
            <p14:sldId id="562"/>
            <p14:sldId id="563"/>
            <p14:sldId id="564"/>
            <p14:sldId id="565"/>
          </p14:sldIdLst>
        </p14:section>
        <p14:section name="Course 3 - Python for Data Analytics" id="{D75B7054-C076-48EB-9806-3EB676EFDC11}">
          <p14:sldIdLst>
            <p14:sldId id="513"/>
          </p14:sldIdLst>
        </p14:section>
        <p14:section name="        Module 1: Programming fundamentals for data analytics" id="{37582E98-8FAE-4788-87DF-3F602A85EEDB}">
          <p14:sldIdLst>
            <p14:sldId id="532"/>
            <p14:sldId id="533"/>
          </p14:sldIdLst>
        </p14:section>
        <p14:section name="        Module 2: Data structures and descriptive statistics" id="{14BE05AC-7AA7-43EE-AC1B-22101FEA51FB}">
          <p14:sldIdLst>
            <p14:sldId id="534"/>
            <p14:sldId id="535"/>
            <p14:sldId id="531"/>
            <p14:sldId id="567"/>
            <p14:sldId id="566"/>
            <p14:sldId id="568"/>
          </p14:sldIdLst>
        </p14:section>
        <p14:section name="        Module 3: Visualization" id="{DA43D4BB-3740-46FA-8609-9DF3134934E2}">
          <p14:sldIdLst>
            <p14:sldId id="536"/>
            <p14:sldId id="537"/>
            <p14:sldId id="569"/>
            <p14:sldId id="570"/>
            <p14:sldId id="571"/>
            <p14:sldId id="572"/>
            <p14:sldId id="573"/>
            <p14:sldId id="574"/>
          </p14:sldIdLst>
        </p14:section>
        <p14:section name="        Module 4: Inferential Statistics" id="{44BBFB5E-F5F8-45D2-9693-D87CD3FBCF44}">
          <p14:sldIdLst>
            <p14:sldId id="538"/>
            <p14:sldId id="539"/>
            <p14:sldId id="575"/>
            <p14:sldId id="576"/>
            <p14:sldId id="577"/>
            <p14:sldId id="578"/>
          </p14:sldIdLst>
        </p14:section>
        <p14:section name="        Module 5: Time series" id="{212C6579-ACAD-4B9F-8B5C-71128399E86D}">
          <p14:sldIdLst>
            <p14:sldId id="548"/>
            <p14:sldId id="549"/>
            <p14:sldId id="579"/>
            <p14:sldId id="580"/>
            <p14:sldId id="581"/>
            <p14:sldId id="582"/>
          </p14:sldIdLst>
        </p14:section>
        <p14:section name="Course 4 - Data I/O and Preprocessing with Python and SQL" id="{74161DE5-B3E3-4871-971C-4BA3A8AB93D5}">
          <p14:sldIdLst>
            <p14:sldId id="514"/>
          </p14:sldIdLst>
        </p14:section>
        <p14:section name="        Module 1: Web scraping &amp; text preprocessing" id="{5709D89E-5BDD-4DFB-9804-7F15BEF075FF}">
          <p14:sldIdLst>
            <p14:sldId id="540"/>
            <p14:sldId id="541"/>
            <p14:sldId id="584"/>
            <p14:sldId id="585"/>
            <p14:sldId id="586"/>
            <p14:sldId id="583"/>
          </p14:sldIdLst>
        </p14:section>
        <p14:section name="        Module 2: APIs &amp; numerical cleaning" id="{9F8B994E-1661-4FF3-B96A-5831046B5BC2}">
          <p14:sldIdLst>
            <p14:sldId id="542"/>
            <p14:sldId id="543"/>
            <p14:sldId id="587"/>
            <p14:sldId id="588"/>
            <p14:sldId id="589"/>
          </p14:sldIdLst>
        </p14:section>
        <p14:section name="        Module 3: Databases" id="{B9297EF8-8076-4EFE-A81E-E6FCF399319E}">
          <p14:sldIdLst>
            <p14:sldId id="544"/>
            <p14:sldId id="545"/>
            <p14:sldId id="591"/>
            <p14:sldId id="590"/>
          </p14:sldIdLst>
        </p14:section>
        <p14:section name="        Module 4: Preprocessing, validation, and joins with SQL" id="{99FE5D2C-051C-4FCD-9FC9-833FA716036C}">
          <p14:sldIdLst>
            <p14:sldId id="546"/>
            <p14:sldId id="547"/>
          </p14:sldIdLst>
        </p14:section>
        <p14:section name="Course 5 - Data Storytelling" id="{7BEB4CC5-C81E-467F-AB45-8179CF21D001}">
          <p14:sldIdLst>
            <p14:sldId id="515"/>
          </p14:sldIdLst>
        </p14:section>
        <p14:section name="        Module 1: Data storytelling fundamentals" id="{947B5DE5-1945-4F04-8894-EA11006E92D0}">
          <p14:sldIdLst>
            <p14:sldId id="516"/>
            <p14:sldId id="517"/>
          </p14:sldIdLst>
        </p14:section>
        <p14:section name="        Module 2: Creating charts with Tableau" id="{F77A5805-7FE7-4196-A630-8E93698147C7}">
          <p14:sldIdLst>
            <p14:sldId id="518"/>
            <p14:sldId id="519"/>
          </p14:sldIdLst>
        </p14:section>
        <p14:section name="        Module 3: Creating dashboards &amp; stories with Tableau" id="{FE5A9C4D-7FE5-4142-889E-EDA5BAB021ED}">
          <p14:sldIdLst>
            <p14:sldId id="520"/>
            <p14:sldId id="521"/>
          </p14:sldIdLst>
        </p14:section>
        <p14:section name="        Module 4: The Job Search" id="{AC888C04-32F6-453B-BB18-EBDB4761D42B}">
          <p14:sldIdLst>
            <p14:sldId id="522"/>
            <p14:sldId id="5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4" autoAdjust="0"/>
    <p:restoredTop sz="94810" autoAdjust="0"/>
  </p:normalViewPr>
  <p:slideViewPr>
    <p:cSldViewPr snapToGrid="0">
      <p:cViewPr varScale="1">
        <p:scale>
          <a:sx n="113" d="100"/>
          <a:sy n="113" d="100"/>
        </p:scale>
        <p:origin x="462" y="57"/>
      </p:cViewPr>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77A919-884C-495D-8DD8-B5E26F8D13D8}" type="datetimeFigureOut">
              <a:rPr lang="zh-CN" altLang="en-US" smtClean="0"/>
              <a:t>2026/6/13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F3978B-A924-4294-BE60-CF476D71E9DB}" type="slidenum">
              <a:rPr lang="zh-CN" altLang="en-US" smtClean="0"/>
              <a:t>‹#›</a:t>
            </a:fld>
            <a:endParaRPr lang="zh-CN" altLang="en-US"/>
          </a:p>
        </p:txBody>
      </p:sp>
    </p:spTree>
    <p:extLst>
      <p:ext uri="{BB962C8B-B14F-4D97-AF65-F5344CB8AC3E}">
        <p14:creationId xmlns:p14="http://schemas.microsoft.com/office/powerpoint/2010/main" val="424357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F3978B-A924-4294-BE60-CF476D71E9DB}" type="slidenum">
              <a:rPr lang="zh-CN" altLang="en-US" smtClean="0"/>
              <a:t>89</a:t>
            </a:fld>
            <a:endParaRPr lang="zh-CN" altLang="en-US"/>
          </a:p>
        </p:txBody>
      </p:sp>
    </p:spTree>
    <p:extLst>
      <p:ext uri="{BB962C8B-B14F-4D97-AF65-F5344CB8AC3E}">
        <p14:creationId xmlns:p14="http://schemas.microsoft.com/office/powerpoint/2010/main" val="27051498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3" descr="37-degree-pos-tri-logo"/>
          <p:cNvPicPr>
            <a:picLocks noChangeAspect="1" noChangeArrowheads="1"/>
          </p:cNvPicPr>
          <p:nvPr/>
        </p:nvPicPr>
        <p:blipFill>
          <a:blip r:embed="rId2">
            <a:extLst>
              <a:ext uri="{28A0092B-C50C-407E-A947-70E740481C1C}">
                <a14:useLocalDpi xmlns:a14="http://schemas.microsoft.com/office/drawing/2010/main" val="0"/>
              </a:ext>
            </a:extLst>
          </a:blip>
          <a:srcRect r="25000" b="24518"/>
          <a:stretch>
            <a:fillRect/>
          </a:stretch>
        </p:blipFill>
        <p:spPr bwMode="auto">
          <a:xfrm>
            <a:off x="4762501" y="1882776"/>
            <a:ext cx="742950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8" descr="blue-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0534" y="684214"/>
            <a:ext cx="783167"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4"/>
          <p:cNvSpPr>
            <a:spLocks noChangeShapeType="1"/>
          </p:cNvSpPr>
          <p:nvPr/>
        </p:nvSpPr>
        <p:spPr bwMode="auto">
          <a:xfrm flipV="1">
            <a:off x="366185" y="1050925"/>
            <a:ext cx="114596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7" name="Rectangle 6"/>
          <p:cNvSpPr>
            <a:spLocks noChangeArrowheads="1"/>
          </p:cNvSpPr>
          <p:nvPr/>
        </p:nvSpPr>
        <p:spPr bwMode="black">
          <a:xfrm>
            <a:off x="243417" y="6462713"/>
            <a:ext cx="1828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lnSpc>
                <a:spcPct val="90000"/>
              </a:lnSpc>
              <a:defRPr sz="2200">
                <a:solidFill>
                  <a:schemeClr val="hlink"/>
                </a:solidFill>
                <a:latin typeface="Arial" panose="020B0604020202020204" pitchFamily="34" charset="0"/>
              </a:defRPr>
            </a:lvl1pPr>
            <a:lvl2pPr marL="742950" indent="-285750">
              <a:lnSpc>
                <a:spcPct val="90000"/>
              </a:lnSpc>
              <a:defRPr sz="2200">
                <a:solidFill>
                  <a:schemeClr val="hlink"/>
                </a:solidFill>
                <a:latin typeface="Arial" panose="020B0604020202020204" pitchFamily="34" charset="0"/>
              </a:defRPr>
            </a:lvl2pPr>
            <a:lvl3pPr marL="1143000" indent="-228600">
              <a:lnSpc>
                <a:spcPct val="90000"/>
              </a:lnSpc>
              <a:defRPr sz="2200">
                <a:solidFill>
                  <a:schemeClr val="hlink"/>
                </a:solidFill>
                <a:latin typeface="Arial" panose="020B0604020202020204" pitchFamily="34" charset="0"/>
              </a:defRPr>
            </a:lvl3pPr>
            <a:lvl4pPr marL="1600200" indent="-228600">
              <a:lnSpc>
                <a:spcPct val="90000"/>
              </a:lnSpc>
              <a:defRPr sz="2200">
                <a:solidFill>
                  <a:schemeClr val="hlink"/>
                </a:solidFill>
                <a:latin typeface="Arial" panose="020B0604020202020204" pitchFamily="34" charset="0"/>
              </a:defRPr>
            </a:lvl4pPr>
            <a:lvl5pPr marL="2057400" indent="-228600">
              <a:lnSpc>
                <a:spcPct val="90000"/>
              </a:lnSpc>
              <a:defRPr sz="2200">
                <a:solidFill>
                  <a:schemeClr val="hlink"/>
                </a:solidFill>
                <a:latin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9pPr>
          </a:lstStyle>
          <a:p>
            <a:pPr eaLnBrk="1" hangingPunct="1">
              <a:lnSpc>
                <a:spcPct val="100000"/>
              </a:lnSpc>
              <a:defRPr/>
            </a:pPr>
            <a:r>
              <a:rPr lang="en-US" altLang="zh-CN" sz="800" dirty="0">
                <a:solidFill>
                  <a:schemeClr val="tx1"/>
                </a:solidFill>
                <a:ea typeface="宋体" panose="02010600030101010101" pitchFamily="2" charset="-122"/>
              </a:rPr>
              <a:t>© 2025 IBM Corporation</a:t>
            </a:r>
            <a:endParaRPr lang="en-US" altLang="zh-CN" sz="1800" dirty="0">
              <a:solidFill>
                <a:schemeClr val="tx1"/>
              </a:solidFill>
              <a:ea typeface="宋体" panose="02010600030101010101" pitchFamily="2" charset="-122"/>
            </a:endParaRPr>
          </a:p>
        </p:txBody>
      </p:sp>
      <p:sp>
        <p:nvSpPr>
          <p:cNvPr id="68611" name="Rectangle 3"/>
          <p:cNvSpPr>
            <a:spLocks noGrp="1" noChangeArrowheads="1"/>
          </p:cNvSpPr>
          <p:nvPr>
            <p:ph type="subTitle" idx="1"/>
          </p:nvPr>
        </p:nvSpPr>
        <p:spPr>
          <a:xfrm>
            <a:off x="243418" y="528639"/>
            <a:ext cx="10358967" cy="530225"/>
          </a:xfrm>
        </p:spPr>
        <p:txBody>
          <a:bodyPr anchor="b"/>
          <a:lstStyle>
            <a:lvl1pPr marL="0" indent="0">
              <a:buFont typeface="Wingdings" panose="05000000000000000000" pitchFamily="2" charset="2"/>
              <a:buNone/>
              <a:defRPr sz="1100"/>
            </a:lvl1pPr>
          </a:lstStyle>
          <a:p>
            <a:pPr lvl="0"/>
            <a:r>
              <a:rPr lang="zh-CN" altLang="en-US" noProof="0"/>
              <a:t>单击此处编辑母版副标题样式</a:t>
            </a:r>
            <a:endParaRPr lang="en-US" altLang="zh-CN" noProof="0"/>
          </a:p>
        </p:txBody>
      </p:sp>
      <p:sp>
        <p:nvSpPr>
          <p:cNvPr id="68643" name="Rectangle 35"/>
          <p:cNvSpPr>
            <a:spLocks noGrp="1" noChangeArrowheads="1"/>
          </p:cNvSpPr>
          <p:nvPr>
            <p:ph type="ctrTitle"/>
          </p:nvPr>
        </p:nvSpPr>
        <p:spPr>
          <a:xfrm>
            <a:off x="186267" y="1235076"/>
            <a:ext cx="9201151" cy="2193925"/>
          </a:xfrm>
        </p:spPr>
        <p:txBody>
          <a:bodyPr anchor="b"/>
          <a:lstStyle>
            <a:lvl1pPr>
              <a:defRPr sz="3500">
                <a:solidFill>
                  <a:schemeClr val="tx1"/>
                </a:solidFill>
              </a:defRPr>
            </a:lvl1pPr>
          </a:lstStyle>
          <a:p>
            <a:pPr lvl="0"/>
            <a:r>
              <a:rPr lang="zh-CN" altLang="en-US" noProof="0"/>
              <a:t>单击此处编辑母版标题样式</a:t>
            </a:r>
            <a:endParaRPr lang="en-US" altLang="zh-CN" noProof="0"/>
          </a:p>
        </p:txBody>
      </p:sp>
    </p:spTree>
    <p:extLst>
      <p:ext uri="{BB962C8B-B14F-4D97-AF65-F5344CB8AC3E}">
        <p14:creationId xmlns:p14="http://schemas.microsoft.com/office/powerpoint/2010/main" val="1842982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2023836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550335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768349"/>
            <a:ext cx="10515600" cy="1206456"/>
          </a:xfrm>
        </p:spPr>
        <p:txBody>
          <a:bodyPr anchor="t"/>
          <a:lstStyle>
            <a:lvl1pPr>
              <a:defRPr sz="2800"/>
            </a:lvl1pPr>
          </a:lstStyle>
          <a:p>
            <a:r>
              <a:rPr lang="zh-CN" altLang="en-US"/>
              <a:t>单击此处编辑母版标题样式</a:t>
            </a:r>
            <a:endParaRPr lang="zh-CN" altLang="en-US" dirty="0"/>
          </a:p>
        </p:txBody>
      </p:sp>
      <p:sp>
        <p:nvSpPr>
          <p:cNvPr id="4"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文本占位符 2">
            <a:extLst>
              <a:ext uri="{FF2B5EF4-FFF2-40B4-BE49-F238E27FC236}">
                <a16:creationId xmlns:a16="http://schemas.microsoft.com/office/drawing/2014/main" id="{2B6F7EC8-89B5-4EA0-8687-075D2E6BC5FA}"/>
              </a:ext>
            </a:extLst>
          </p:cNvPr>
          <p:cNvSpPr>
            <a:spLocks noGrp="1"/>
          </p:cNvSpPr>
          <p:nvPr>
            <p:ph type="body" idx="1"/>
          </p:nvPr>
        </p:nvSpPr>
        <p:spPr>
          <a:xfrm>
            <a:off x="831851" y="3429000"/>
            <a:ext cx="10515600" cy="2660651"/>
          </a:xfrm>
        </p:spPr>
        <p:txBody>
          <a:bodyPr/>
          <a:lstStyle>
            <a:lvl1pPr marL="0" indent="0" algn="ctr">
              <a:buNone/>
              <a:defRPr sz="48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304950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x2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3417" y="996779"/>
            <a:ext cx="5689600"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136217" y="996779"/>
            <a:ext cx="5689600"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114349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x3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1300" y="996779"/>
            <a:ext cx="3854839"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7968861" y="996779"/>
            <a:ext cx="3854839"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3">
            <a:extLst>
              <a:ext uri="{FF2B5EF4-FFF2-40B4-BE49-F238E27FC236}">
                <a16:creationId xmlns:a16="http://schemas.microsoft.com/office/drawing/2014/main" id="{55173B77-DCCE-41D5-ABAF-2DBBA83FAFE8}"/>
              </a:ext>
            </a:extLst>
          </p:cNvPr>
          <p:cNvSpPr>
            <a:spLocks noGrp="1"/>
          </p:cNvSpPr>
          <p:nvPr>
            <p:ph sz="half" idx="13"/>
          </p:nvPr>
        </p:nvSpPr>
        <p:spPr>
          <a:xfrm>
            <a:off x="4096139" y="996779"/>
            <a:ext cx="3854839"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9142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1x4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5704" y="996779"/>
            <a:ext cx="2865944"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037592" y="996779"/>
            <a:ext cx="2865944"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3">
            <a:extLst>
              <a:ext uri="{FF2B5EF4-FFF2-40B4-BE49-F238E27FC236}">
                <a16:creationId xmlns:a16="http://schemas.microsoft.com/office/drawing/2014/main" id="{55173B77-DCCE-41D5-ABAF-2DBBA83FAFE8}"/>
              </a:ext>
            </a:extLst>
          </p:cNvPr>
          <p:cNvSpPr>
            <a:spLocks noGrp="1"/>
          </p:cNvSpPr>
          <p:nvPr>
            <p:ph sz="half" idx="13"/>
          </p:nvPr>
        </p:nvSpPr>
        <p:spPr>
          <a:xfrm>
            <a:off x="3171648" y="996779"/>
            <a:ext cx="2865944"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9" name="内容占位符 3">
            <a:extLst>
              <a:ext uri="{FF2B5EF4-FFF2-40B4-BE49-F238E27FC236}">
                <a16:creationId xmlns:a16="http://schemas.microsoft.com/office/drawing/2014/main" id="{92A17C8E-E2AB-4A4D-9BC1-819F8724F981}"/>
              </a:ext>
            </a:extLst>
          </p:cNvPr>
          <p:cNvSpPr>
            <a:spLocks noGrp="1"/>
          </p:cNvSpPr>
          <p:nvPr>
            <p:ph sz="half" idx="14"/>
          </p:nvPr>
        </p:nvSpPr>
        <p:spPr>
          <a:xfrm>
            <a:off x="8903536" y="996779"/>
            <a:ext cx="2865944" cy="5357986"/>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55236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x2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3417" y="996779"/>
            <a:ext cx="5689600"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136217" y="996779"/>
            <a:ext cx="5689600"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2">
            <a:extLst>
              <a:ext uri="{FF2B5EF4-FFF2-40B4-BE49-F238E27FC236}">
                <a16:creationId xmlns:a16="http://schemas.microsoft.com/office/drawing/2014/main" id="{4177096F-DB11-4FE8-9CC3-DA4D77FC6833}"/>
              </a:ext>
            </a:extLst>
          </p:cNvPr>
          <p:cNvSpPr>
            <a:spLocks noGrp="1"/>
          </p:cNvSpPr>
          <p:nvPr>
            <p:ph sz="half" idx="13"/>
          </p:nvPr>
        </p:nvSpPr>
        <p:spPr>
          <a:xfrm>
            <a:off x="243417" y="3593928"/>
            <a:ext cx="5689600"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9" name="内容占位符 3">
            <a:extLst>
              <a:ext uri="{FF2B5EF4-FFF2-40B4-BE49-F238E27FC236}">
                <a16:creationId xmlns:a16="http://schemas.microsoft.com/office/drawing/2014/main" id="{8474A351-B010-47CB-A711-58971C975279}"/>
              </a:ext>
            </a:extLst>
          </p:cNvPr>
          <p:cNvSpPr>
            <a:spLocks noGrp="1"/>
          </p:cNvSpPr>
          <p:nvPr>
            <p:ph sz="half" idx="14"/>
          </p:nvPr>
        </p:nvSpPr>
        <p:spPr>
          <a:xfrm>
            <a:off x="6136217" y="3593928"/>
            <a:ext cx="5689600"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4077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2x3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1300" y="996779"/>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7968861" y="996779"/>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3">
            <a:extLst>
              <a:ext uri="{FF2B5EF4-FFF2-40B4-BE49-F238E27FC236}">
                <a16:creationId xmlns:a16="http://schemas.microsoft.com/office/drawing/2014/main" id="{55173B77-DCCE-41D5-ABAF-2DBBA83FAFE8}"/>
              </a:ext>
            </a:extLst>
          </p:cNvPr>
          <p:cNvSpPr>
            <a:spLocks noGrp="1"/>
          </p:cNvSpPr>
          <p:nvPr>
            <p:ph sz="half" idx="13"/>
          </p:nvPr>
        </p:nvSpPr>
        <p:spPr>
          <a:xfrm>
            <a:off x="4096139" y="996779"/>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9" name="内容占位符 2">
            <a:extLst>
              <a:ext uri="{FF2B5EF4-FFF2-40B4-BE49-F238E27FC236}">
                <a16:creationId xmlns:a16="http://schemas.microsoft.com/office/drawing/2014/main" id="{0E3BBC35-E4BE-475B-9E93-A07583B8703B}"/>
              </a:ext>
            </a:extLst>
          </p:cNvPr>
          <p:cNvSpPr>
            <a:spLocks noGrp="1"/>
          </p:cNvSpPr>
          <p:nvPr>
            <p:ph sz="half" idx="14"/>
          </p:nvPr>
        </p:nvSpPr>
        <p:spPr>
          <a:xfrm>
            <a:off x="241300" y="3767052"/>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0" name="内容占位符 3">
            <a:extLst>
              <a:ext uri="{FF2B5EF4-FFF2-40B4-BE49-F238E27FC236}">
                <a16:creationId xmlns:a16="http://schemas.microsoft.com/office/drawing/2014/main" id="{11108787-9E31-4742-B797-5281BB2E0546}"/>
              </a:ext>
            </a:extLst>
          </p:cNvPr>
          <p:cNvSpPr>
            <a:spLocks noGrp="1"/>
          </p:cNvSpPr>
          <p:nvPr>
            <p:ph sz="half" idx="15"/>
          </p:nvPr>
        </p:nvSpPr>
        <p:spPr>
          <a:xfrm>
            <a:off x="7968861" y="3767052"/>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1" name="内容占位符 3">
            <a:extLst>
              <a:ext uri="{FF2B5EF4-FFF2-40B4-BE49-F238E27FC236}">
                <a16:creationId xmlns:a16="http://schemas.microsoft.com/office/drawing/2014/main" id="{8AB29EAE-9CB7-493F-B56D-2A5212A71AF9}"/>
              </a:ext>
            </a:extLst>
          </p:cNvPr>
          <p:cNvSpPr>
            <a:spLocks noGrp="1"/>
          </p:cNvSpPr>
          <p:nvPr>
            <p:ph sz="half" idx="16"/>
          </p:nvPr>
        </p:nvSpPr>
        <p:spPr>
          <a:xfrm>
            <a:off x="4096139" y="3767052"/>
            <a:ext cx="3854839" cy="2432221"/>
          </a:xfrm>
        </p:spPr>
        <p:txBody>
          <a:bodyPr/>
          <a:lstStyle>
            <a:lvl2pPr marL="509588" indent="-163513">
              <a:buFont typeface="Arial" panose="020B0604020202020204" pitchFamily="34" charset="0"/>
              <a:buChar char="◦"/>
              <a:defRPr/>
            </a:lvl2pPr>
            <a:lvl4pPr marL="1316037" indent="-285750">
              <a:buClrTx/>
              <a:buFont typeface="Wingdings" panose="05000000000000000000" pitchFamily="2" charset="2"/>
              <a:buChar char="Ø"/>
              <a:defRPr sz="1400">
                <a:solidFill>
                  <a:schemeClr val="tx1"/>
                </a:solidFill>
              </a:defRPr>
            </a:lvl4pPr>
            <a:lvl5pPr marL="1539875" indent="-163513">
              <a:buClrTx/>
              <a:buFont typeface="Wingdings" panose="05000000000000000000" pitchFamily="2" charset="2"/>
              <a:buChar char="ü"/>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13594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x1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3416" y="996779"/>
            <a:ext cx="11580283" cy="2567515"/>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241300" y="3787251"/>
            <a:ext cx="11584517" cy="2567514"/>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317219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2+1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3416" y="996779"/>
            <a:ext cx="5760873" cy="2567515"/>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241300" y="3787251"/>
            <a:ext cx="5760873" cy="2567514"/>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2">
            <a:extLst>
              <a:ext uri="{FF2B5EF4-FFF2-40B4-BE49-F238E27FC236}">
                <a16:creationId xmlns:a16="http://schemas.microsoft.com/office/drawing/2014/main" id="{CF03D035-BABA-4A87-BD24-453A5190A6C7}"/>
              </a:ext>
            </a:extLst>
          </p:cNvPr>
          <p:cNvSpPr>
            <a:spLocks noGrp="1"/>
          </p:cNvSpPr>
          <p:nvPr>
            <p:ph sz="half" idx="13"/>
          </p:nvPr>
        </p:nvSpPr>
        <p:spPr>
          <a:xfrm>
            <a:off x="6187713" y="996779"/>
            <a:ext cx="5635987" cy="5357986"/>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16989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1+2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62827" y="996779"/>
            <a:ext cx="5760873" cy="2567515"/>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060711" y="3787251"/>
            <a:ext cx="5760873" cy="2567514"/>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内容占位符 2">
            <a:extLst>
              <a:ext uri="{FF2B5EF4-FFF2-40B4-BE49-F238E27FC236}">
                <a16:creationId xmlns:a16="http://schemas.microsoft.com/office/drawing/2014/main" id="{CF03D035-BABA-4A87-BD24-453A5190A6C7}"/>
              </a:ext>
            </a:extLst>
          </p:cNvPr>
          <p:cNvSpPr>
            <a:spLocks noGrp="1"/>
          </p:cNvSpPr>
          <p:nvPr>
            <p:ph sz="half" idx="13"/>
          </p:nvPr>
        </p:nvSpPr>
        <p:spPr>
          <a:xfrm>
            <a:off x="241300" y="996779"/>
            <a:ext cx="5635987" cy="5357986"/>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701974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栏内容+主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3417" y="1548713"/>
            <a:ext cx="5689600" cy="4806051"/>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136217" y="1548713"/>
            <a:ext cx="5689600" cy="4806051"/>
          </a:xfrm>
        </p:spPr>
        <p:txBody>
          <a:bodyPr/>
          <a:lstStyle>
            <a:lvl2pPr marL="509588" indent="-163513">
              <a:buFont typeface="Arial" panose="020B0604020202020204" pitchFamily="34" charset="0"/>
              <a:buChar char="◦"/>
              <a:defRPr/>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
        <p:nvSpPr>
          <p:cNvPr id="8" name="文本占位符 2">
            <a:extLst>
              <a:ext uri="{FF2B5EF4-FFF2-40B4-BE49-F238E27FC236}">
                <a16:creationId xmlns:a16="http://schemas.microsoft.com/office/drawing/2014/main" id="{6FDC591D-E029-4EAD-8775-153139ABD7A9}"/>
              </a:ext>
            </a:extLst>
          </p:cNvPr>
          <p:cNvSpPr>
            <a:spLocks noGrp="1"/>
          </p:cNvSpPr>
          <p:nvPr>
            <p:ph type="body" idx="13"/>
          </p:nvPr>
        </p:nvSpPr>
        <p:spPr>
          <a:xfrm>
            <a:off x="243417" y="1014411"/>
            <a:ext cx="5659613" cy="5343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9" name="文本占位符 4">
            <a:extLst>
              <a:ext uri="{FF2B5EF4-FFF2-40B4-BE49-F238E27FC236}">
                <a16:creationId xmlns:a16="http://schemas.microsoft.com/office/drawing/2014/main" id="{649235BA-F1BD-41EC-B6A5-D7D094774720}"/>
              </a:ext>
            </a:extLst>
          </p:cNvPr>
          <p:cNvSpPr>
            <a:spLocks noGrp="1"/>
          </p:cNvSpPr>
          <p:nvPr>
            <p:ph type="body" sz="quarter" idx="3"/>
          </p:nvPr>
        </p:nvSpPr>
        <p:spPr>
          <a:xfrm>
            <a:off x="6136217" y="1014411"/>
            <a:ext cx="5687483" cy="5343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Tree>
    <p:extLst>
      <p:ext uri="{BB962C8B-B14F-4D97-AF65-F5344CB8AC3E}">
        <p14:creationId xmlns:p14="http://schemas.microsoft.com/office/powerpoint/2010/main" val="2158481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4" name="Rectangle 8"/>
          <p:cNvSpPr>
            <a:spLocks noGrp="1" noChangeArrowheads="1"/>
          </p:cNvSpPr>
          <p:nvPr>
            <p:ph type="ftr" sz="quarter" idx="11"/>
          </p:nvPr>
        </p:nvSpPr>
        <p:spPr>
          <a:ln/>
        </p:spPr>
        <p:txBody>
          <a:bodyPr/>
          <a:lstStyle>
            <a:lvl1pPr>
              <a:defRPr/>
            </a:lvl1pPr>
          </a:lstStyle>
          <a:p>
            <a:endParaRPr lang="zh-CN" altLang="en-US"/>
          </a:p>
        </p:txBody>
      </p:sp>
      <p:sp>
        <p:nvSpPr>
          <p:cNvPr id="5"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2619166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fld id="{6E6D1EE1-3388-4230-A896-3CA43CDE9616}" type="slidenum">
              <a:rPr lang="zh-CN" altLang="en-US" smtClean="0"/>
              <a:t>‹#›</a:t>
            </a:fld>
            <a:endParaRPr lang="zh-CN" altLang="en-US"/>
          </a:p>
        </p:txBody>
      </p:sp>
      <p:sp>
        <p:nvSpPr>
          <p:cNvPr id="3" name="Rectangle 8"/>
          <p:cNvSpPr>
            <a:spLocks noGrp="1" noChangeArrowheads="1"/>
          </p:cNvSpPr>
          <p:nvPr>
            <p:ph type="ftr" sz="quarter" idx="11"/>
          </p:nvPr>
        </p:nvSpPr>
        <p:spPr>
          <a:ln/>
        </p:spPr>
        <p:txBody>
          <a:bodyPr/>
          <a:lstStyle>
            <a:lvl1pPr>
              <a:defRPr/>
            </a:lvl1pPr>
          </a:lstStyle>
          <a:p>
            <a:endParaRPr lang="zh-CN" altLang="en-US"/>
          </a:p>
        </p:txBody>
      </p:sp>
      <p:sp>
        <p:nvSpPr>
          <p:cNvPr id="4" name="Rectangle 9"/>
          <p:cNvSpPr>
            <a:spLocks noGrp="1" noChangeArrowheads="1"/>
          </p:cNvSpPr>
          <p:nvPr>
            <p:ph type="dt" sz="half" idx="12"/>
          </p:nvPr>
        </p:nvSpPr>
        <p:spPr>
          <a:ln/>
        </p:spPr>
        <p:txBody>
          <a:bodyPr/>
          <a:lstStyle>
            <a:lvl1pPr>
              <a:defRPr/>
            </a:lvl1pPr>
          </a:lstStyle>
          <a:p>
            <a:fld id="{B8F482CE-AD3B-4F86-ADBF-3E53C981A666}" type="datetimeFigureOut">
              <a:rPr lang="zh-CN" altLang="en-US" smtClean="0"/>
              <a:t>2026/6/13</a:t>
            </a:fld>
            <a:endParaRPr lang="zh-CN" altLang="en-US"/>
          </a:p>
        </p:txBody>
      </p:sp>
    </p:spTree>
    <p:extLst>
      <p:ext uri="{BB962C8B-B14F-4D97-AF65-F5344CB8AC3E}">
        <p14:creationId xmlns:p14="http://schemas.microsoft.com/office/powerpoint/2010/main" val="852838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4" descr="blue-logo"/>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1040534" y="227014"/>
            <a:ext cx="783167"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body" idx="1"/>
          </p:nvPr>
        </p:nvSpPr>
        <p:spPr bwMode="auto">
          <a:xfrm>
            <a:off x="243417" y="1000125"/>
            <a:ext cx="11582400"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dirty="0"/>
          </a:p>
        </p:txBody>
      </p:sp>
      <p:sp>
        <p:nvSpPr>
          <p:cNvPr id="1028" name="Line 4"/>
          <p:cNvSpPr>
            <a:spLocks noChangeShapeType="1"/>
          </p:cNvSpPr>
          <p:nvPr/>
        </p:nvSpPr>
        <p:spPr bwMode="auto">
          <a:xfrm flipV="1">
            <a:off x="366185" y="549275"/>
            <a:ext cx="114596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9" name="Rectangle 6"/>
          <p:cNvSpPr>
            <a:spLocks noChangeArrowheads="1"/>
          </p:cNvSpPr>
          <p:nvPr/>
        </p:nvSpPr>
        <p:spPr bwMode="black">
          <a:xfrm>
            <a:off x="10119784" y="6537325"/>
            <a:ext cx="1828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lnSpc>
                <a:spcPct val="90000"/>
              </a:lnSpc>
              <a:defRPr sz="2200">
                <a:solidFill>
                  <a:schemeClr val="hlink"/>
                </a:solidFill>
                <a:latin typeface="Arial" panose="020B0604020202020204" pitchFamily="34" charset="0"/>
              </a:defRPr>
            </a:lvl1pPr>
            <a:lvl2pPr marL="742950" indent="-285750">
              <a:lnSpc>
                <a:spcPct val="90000"/>
              </a:lnSpc>
              <a:defRPr sz="2200">
                <a:solidFill>
                  <a:schemeClr val="hlink"/>
                </a:solidFill>
                <a:latin typeface="Arial" panose="020B0604020202020204" pitchFamily="34" charset="0"/>
              </a:defRPr>
            </a:lvl2pPr>
            <a:lvl3pPr marL="1143000" indent="-228600">
              <a:lnSpc>
                <a:spcPct val="90000"/>
              </a:lnSpc>
              <a:defRPr sz="2200">
                <a:solidFill>
                  <a:schemeClr val="hlink"/>
                </a:solidFill>
                <a:latin typeface="Arial" panose="020B0604020202020204" pitchFamily="34" charset="0"/>
              </a:defRPr>
            </a:lvl3pPr>
            <a:lvl4pPr marL="1600200" indent="-228600">
              <a:lnSpc>
                <a:spcPct val="90000"/>
              </a:lnSpc>
              <a:defRPr sz="2200">
                <a:solidFill>
                  <a:schemeClr val="hlink"/>
                </a:solidFill>
                <a:latin typeface="Arial" panose="020B0604020202020204" pitchFamily="34" charset="0"/>
              </a:defRPr>
            </a:lvl4pPr>
            <a:lvl5pPr marL="2057400" indent="-228600">
              <a:lnSpc>
                <a:spcPct val="90000"/>
              </a:lnSpc>
              <a:defRPr sz="2200">
                <a:solidFill>
                  <a:schemeClr val="hlink"/>
                </a:solidFill>
                <a:latin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defRPr>
            </a:lvl9pPr>
          </a:lstStyle>
          <a:p>
            <a:pPr algn="r" eaLnBrk="1" hangingPunct="1">
              <a:lnSpc>
                <a:spcPct val="100000"/>
              </a:lnSpc>
              <a:defRPr/>
            </a:pPr>
            <a:r>
              <a:rPr lang="en-US" altLang="zh-CN" sz="800" dirty="0">
                <a:solidFill>
                  <a:schemeClr val="tx1"/>
                </a:solidFill>
                <a:ea typeface="宋体" panose="02010600030101010101" pitchFamily="2" charset="-122"/>
              </a:rPr>
              <a:t>© 2025 IBM Corporation</a:t>
            </a:r>
            <a:endParaRPr lang="en-US" altLang="zh-CN" sz="1800" dirty="0">
              <a:solidFill>
                <a:schemeClr val="tx1"/>
              </a:solidFill>
              <a:ea typeface="宋体" panose="02010600030101010101" pitchFamily="2" charset="-122"/>
            </a:endParaRPr>
          </a:p>
        </p:txBody>
      </p:sp>
      <p:sp>
        <p:nvSpPr>
          <p:cNvPr id="67591" name="Rectangle 7"/>
          <p:cNvSpPr>
            <a:spLocks noGrp="1" noChangeArrowheads="1"/>
          </p:cNvSpPr>
          <p:nvPr>
            <p:ph type="sldNum" sz="quarter" idx="4"/>
          </p:nvPr>
        </p:nvSpPr>
        <p:spPr bwMode="black">
          <a:xfrm>
            <a:off x="243418" y="6537325"/>
            <a:ext cx="488949"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1" hangingPunct="1">
              <a:lnSpc>
                <a:spcPct val="100000"/>
              </a:lnSpc>
              <a:defRPr sz="800">
                <a:solidFill>
                  <a:schemeClr val="tx1"/>
                </a:solidFill>
                <a:ea typeface="宋体" panose="02010600030101010101" pitchFamily="2" charset="-122"/>
                <a:cs typeface="Arial" panose="020B0604020202020204" pitchFamily="34" charset="0"/>
              </a:defRPr>
            </a:lvl1pPr>
          </a:lstStyle>
          <a:p>
            <a:fld id="{6E6D1EE1-3388-4230-A896-3CA43CDE9616}" type="slidenum">
              <a:rPr lang="zh-CN" altLang="en-US" smtClean="0"/>
              <a:t>‹#›</a:t>
            </a:fld>
            <a:endParaRPr lang="zh-CN" altLang="en-US"/>
          </a:p>
        </p:txBody>
      </p:sp>
      <p:sp>
        <p:nvSpPr>
          <p:cNvPr id="67592" name="Rectangle 8"/>
          <p:cNvSpPr>
            <a:spLocks noGrp="1" noChangeArrowheads="1"/>
          </p:cNvSpPr>
          <p:nvPr>
            <p:ph type="ftr" sz="quarter" idx="3"/>
          </p:nvPr>
        </p:nvSpPr>
        <p:spPr bwMode="auto">
          <a:xfrm>
            <a:off x="2072217" y="6537325"/>
            <a:ext cx="79248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1" hangingPunct="1">
              <a:lnSpc>
                <a:spcPct val="100000"/>
              </a:lnSpc>
              <a:defRPr sz="800">
                <a:solidFill>
                  <a:schemeClr val="tx1"/>
                </a:solidFill>
                <a:ea typeface="宋体" panose="02010600030101010101" pitchFamily="2" charset="-122"/>
                <a:cs typeface="Arial" panose="020B0604020202020204" pitchFamily="34" charset="0"/>
              </a:defRPr>
            </a:lvl1pPr>
          </a:lstStyle>
          <a:p>
            <a:endParaRPr lang="zh-CN" altLang="en-US"/>
          </a:p>
        </p:txBody>
      </p:sp>
      <p:sp>
        <p:nvSpPr>
          <p:cNvPr id="67593" name="Rectangle 9"/>
          <p:cNvSpPr>
            <a:spLocks noGrp="1" noChangeArrowheads="1"/>
          </p:cNvSpPr>
          <p:nvPr>
            <p:ph type="dt" sz="half" idx="2"/>
          </p:nvPr>
        </p:nvSpPr>
        <p:spPr bwMode="auto">
          <a:xfrm>
            <a:off x="732367" y="6537325"/>
            <a:ext cx="1339851"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1" hangingPunct="1">
              <a:lnSpc>
                <a:spcPct val="100000"/>
              </a:lnSpc>
              <a:defRPr sz="800">
                <a:solidFill>
                  <a:schemeClr val="tx1"/>
                </a:solidFill>
                <a:ea typeface="宋体" panose="02010600030101010101" pitchFamily="2" charset="-122"/>
                <a:cs typeface="Arial" panose="020B0604020202020204" pitchFamily="34" charset="0"/>
              </a:defRPr>
            </a:lvl1pPr>
          </a:lstStyle>
          <a:p>
            <a:fld id="{B8F482CE-AD3B-4F86-ADBF-3E53C981A666}" type="datetimeFigureOut">
              <a:rPr lang="zh-CN" altLang="en-US" smtClean="0"/>
              <a:t>2026/6/13</a:t>
            </a:fld>
            <a:endParaRPr lang="zh-CN" altLang="en-US"/>
          </a:p>
        </p:txBody>
      </p:sp>
      <p:sp>
        <p:nvSpPr>
          <p:cNvPr id="1033" name="Rectangle 13"/>
          <p:cNvSpPr>
            <a:spLocks noGrp="1" noChangeArrowheads="1"/>
          </p:cNvSpPr>
          <p:nvPr>
            <p:ph type="title"/>
          </p:nvPr>
        </p:nvSpPr>
        <p:spPr bwMode="auto">
          <a:xfrm>
            <a:off x="241300" y="100014"/>
            <a:ext cx="1158240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endParaRPr lang="en-US" altLang="zh-CN"/>
          </a:p>
        </p:txBody>
      </p:sp>
    </p:spTree>
    <p:extLst>
      <p:ext uri="{BB962C8B-B14F-4D97-AF65-F5344CB8AC3E}">
        <p14:creationId xmlns:p14="http://schemas.microsoft.com/office/powerpoint/2010/main" val="2805781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rtl="0" eaLnBrk="1" fontAlgn="base" hangingPunct="1">
        <a:lnSpc>
          <a:spcPct val="90000"/>
        </a:lnSpc>
        <a:spcBef>
          <a:spcPct val="0"/>
        </a:spcBef>
        <a:spcAft>
          <a:spcPct val="0"/>
        </a:spcAft>
        <a:defRPr sz="2200" kern="1200">
          <a:solidFill>
            <a:schemeClr val="tx2"/>
          </a:solidFill>
          <a:latin typeface="+mj-lt"/>
          <a:ea typeface="+mj-ea"/>
          <a:cs typeface="+mj-cs"/>
        </a:defRPr>
      </a:lvl1pPr>
      <a:lvl2pPr algn="l" rtl="0" eaLnBrk="1" fontAlgn="base" hangingPunct="1">
        <a:lnSpc>
          <a:spcPct val="90000"/>
        </a:lnSpc>
        <a:spcBef>
          <a:spcPct val="0"/>
        </a:spcBef>
        <a:spcAft>
          <a:spcPct val="0"/>
        </a:spcAft>
        <a:defRPr sz="2200">
          <a:solidFill>
            <a:schemeClr val="tx2"/>
          </a:solidFill>
          <a:latin typeface="Arial" panose="020B0604020202020204" pitchFamily="34" charset="0"/>
        </a:defRPr>
      </a:lvl2pPr>
      <a:lvl3pPr algn="l" rtl="0" eaLnBrk="1" fontAlgn="base" hangingPunct="1">
        <a:lnSpc>
          <a:spcPct val="90000"/>
        </a:lnSpc>
        <a:spcBef>
          <a:spcPct val="0"/>
        </a:spcBef>
        <a:spcAft>
          <a:spcPct val="0"/>
        </a:spcAft>
        <a:defRPr sz="2200">
          <a:solidFill>
            <a:schemeClr val="tx2"/>
          </a:solidFill>
          <a:latin typeface="Arial" panose="020B0604020202020204" pitchFamily="34" charset="0"/>
        </a:defRPr>
      </a:lvl3pPr>
      <a:lvl4pPr algn="l" rtl="0" eaLnBrk="1" fontAlgn="base" hangingPunct="1">
        <a:lnSpc>
          <a:spcPct val="90000"/>
        </a:lnSpc>
        <a:spcBef>
          <a:spcPct val="0"/>
        </a:spcBef>
        <a:spcAft>
          <a:spcPct val="0"/>
        </a:spcAft>
        <a:defRPr sz="2200">
          <a:solidFill>
            <a:schemeClr val="tx2"/>
          </a:solidFill>
          <a:latin typeface="Arial" panose="020B0604020202020204" pitchFamily="34" charset="0"/>
        </a:defRPr>
      </a:lvl4pPr>
      <a:lvl5pPr algn="l" rtl="0" eaLnBrk="1" fontAlgn="base" hangingPunct="1">
        <a:lnSpc>
          <a:spcPct val="90000"/>
        </a:lnSpc>
        <a:spcBef>
          <a:spcPct val="0"/>
        </a:spcBef>
        <a:spcAft>
          <a:spcPct val="0"/>
        </a:spcAft>
        <a:defRPr sz="2200">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22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2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2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200">
          <a:solidFill>
            <a:schemeClr val="tx2"/>
          </a:solidFill>
          <a:latin typeface="Arial" panose="020B0604020202020204" pitchFamily="34" charset="0"/>
        </a:defRPr>
      </a:lvl9pPr>
    </p:titleStyle>
    <p:bodyStyle>
      <a:lvl1pPr marL="173038" indent="-173038" algn="l" rtl="0" eaLnBrk="1" fontAlgn="base" hangingPunct="1">
        <a:spcBef>
          <a:spcPct val="50000"/>
        </a:spcBef>
        <a:spcAft>
          <a:spcPct val="0"/>
        </a:spcAft>
        <a:buClr>
          <a:schemeClr val="tx1"/>
        </a:buClr>
        <a:buFont typeface="Wingdings" panose="05000000000000000000" pitchFamily="2" charset="2"/>
        <a:buChar char="§"/>
        <a:defRPr sz="1600" kern="1200">
          <a:solidFill>
            <a:schemeClr val="tx1"/>
          </a:solidFill>
          <a:latin typeface="+mn-lt"/>
          <a:ea typeface="+mn-ea"/>
          <a:cs typeface="+mn-cs"/>
        </a:defRPr>
      </a:lvl1pPr>
      <a:lvl2pPr marL="509588" indent="-163513" algn="l" rtl="0" eaLnBrk="1" fontAlgn="base" hangingPunct="1">
        <a:spcBef>
          <a:spcPct val="0"/>
        </a:spcBef>
        <a:spcAft>
          <a:spcPct val="0"/>
        </a:spcAft>
        <a:buClr>
          <a:schemeClr val="tx1"/>
        </a:buClr>
        <a:buFont typeface="Arial" panose="020B0604020202020204" pitchFamily="34" charset="0"/>
        <a:buChar char="◦"/>
        <a:defRPr sz="1600" kern="1200">
          <a:solidFill>
            <a:schemeClr val="tx1"/>
          </a:solidFill>
          <a:latin typeface="+mn-lt"/>
          <a:ea typeface="+mn-ea"/>
          <a:cs typeface="+mn-cs"/>
        </a:defRPr>
      </a:lvl2pPr>
      <a:lvl3pPr marL="855663" indent="-173038" algn="l" rtl="0" eaLnBrk="1" fontAlgn="base" hangingPunct="1">
        <a:spcBef>
          <a:spcPct val="0"/>
        </a:spcBef>
        <a:spcAft>
          <a:spcPct val="0"/>
        </a:spcAft>
        <a:buClr>
          <a:schemeClr val="tx1"/>
        </a:buClr>
        <a:buChar char="•"/>
        <a:defRPr sz="1600" kern="1200">
          <a:solidFill>
            <a:schemeClr val="tx1"/>
          </a:solidFill>
          <a:latin typeface="+mn-lt"/>
          <a:ea typeface="+mn-ea"/>
          <a:cs typeface="+mn-cs"/>
        </a:defRPr>
      </a:lvl3pPr>
      <a:lvl4pPr marL="1316037" indent="-285750" algn="l" rtl="0" eaLnBrk="1" fontAlgn="base" hangingPunct="1">
        <a:spcBef>
          <a:spcPct val="20000"/>
        </a:spcBef>
        <a:spcAft>
          <a:spcPct val="0"/>
        </a:spcAft>
        <a:buClrTx/>
        <a:buFont typeface="Wingdings" panose="05000000000000000000" pitchFamily="2" charset="2"/>
        <a:buChar char="Ø"/>
        <a:defRPr sz="1400" kern="1200">
          <a:solidFill>
            <a:schemeClr val="tx1"/>
          </a:solidFill>
          <a:latin typeface="+mn-lt"/>
          <a:ea typeface="+mn-ea"/>
          <a:cs typeface="+mn-cs"/>
        </a:defRPr>
      </a:lvl4pPr>
      <a:lvl5pPr marL="1539875" indent="-163513" algn="l" rtl="0" eaLnBrk="1" fontAlgn="base" hangingPunct="1">
        <a:spcBef>
          <a:spcPct val="20000"/>
        </a:spcBef>
        <a:spcAft>
          <a:spcPct val="0"/>
        </a:spcAft>
        <a:buClrTx/>
        <a:buFont typeface="Wingdings" panose="05000000000000000000" pitchFamily="2" charset="2"/>
        <a:buChar char="ü"/>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chenyux@cn.ibm.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deeplearning.ai/specializations/data-analytics"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community.deeplearning.ai/t/data-analytics-course-2-lecture-notes/788733" TargetMode="External"/><Relationship Id="rId2" Type="http://schemas.openxmlformats.org/officeDocument/2006/relationships/hyperlink" Target="https://community.deeplearning.ai/t/data-analytics-course-1-lecture-notes/788732" TargetMode="External"/><Relationship Id="rId1" Type="http://schemas.openxmlformats.org/officeDocument/2006/relationships/slideLayout" Target="../slideLayouts/slideLayout2.xml"/><Relationship Id="rId5" Type="http://schemas.openxmlformats.org/officeDocument/2006/relationships/hyperlink" Target="https://community.deeplearning.ai/t/data-analytics-course-5-lecture-notes/838617" TargetMode="External"/><Relationship Id="rId4" Type="http://schemas.openxmlformats.org/officeDocument/2006/relationships/hyperlink" Target="https://community.deeplearning.ai/t/data-analytics-course-3-lecture-notes/80454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hyperlink" Target="https://capitaloneshopping.com/research/amazon-orders-per-day/" TargetMode="External"/><Relationship Id="rId3" Type="http://schemas.openxmlformats.org/officeDocument/2006/relationships/hyperlink" Target="https://www.usni.org/magazines/proceedings/1968/may/operations-research-world-war-ii" TargetMode="External"/><Relationship Id="rId7" Type="http://schemas.openxmlformats.org/officeDocument/2006/relationships/hyperlink" Target="https://digitalcommunications.wp.st-andrews.ac.uk/2021/01/07/how-we-are-using-hotjar-to-improve-our-web-pages/" TargetMode="External"/><Relationship Id="rId12" Type="http://schemas.openxmlformats.org/officeDocument/2006/relationships/hyperlink" Target="https://learn.deeplearning.ai/courses/generative-ai-for-everyone/lesson/a2sc1/what-llms-can-and-cannot-do" TargetMode="External"/><Relationship Id="rId2" Type="http://schemas.openxmlformats.org/officeDocument/2006/relationships/hyperlink" Target="https://sabr.org/sabermetrics" TargetMode="External"/><Relationship Id="rId1" Type="http://schemas.openxmlformats.org/officeDocument/2006/relationships/slideLayout" Target="../slideLayouts/slideLayout2.xml"/><Relationship Id="rId6" Type="http://schemas.openxmlformats.org/officeDocument/2006/relationships/hyperlink" Target="https://www.hellofreshgroup.com/en/newsroom/stories/the-data-river-how-data-flows-through-the-hellofresh-production-process/" TargetMode="External"/><Relationship Id="rId11" Type="http://schemas.openxmlformats.org/officeDocument/2006/relationships/hyperlink" Target="https://learn.deeplearning.ai/courses/generative-ai-for-everyone/lesson/q5lai/llms-as-a-thought-partner" TargetMode="External"/><Relationship Id="rId5" Type="http://schemas.openxmlformats.org/officeDocument/2006/relationships/hyperlink" Target="https://www.poynter.org/reporting-editing/2013/nielsen-method-for-tv-ratings-missing-minorities-young-people/" TargetMode="External"/><Relationship Id="rId10" Type="http://schemas.openxmlformats.org/officeDocument/2006/relationships/hyperlink" Target="https://learn.deeplearning.ai/courses/generative-ai-with-llms/lesson/i8cbi/generative-ai-%26-llms" TargetMode="External"/><Relationship Id="rId4" Type="http://schemas.openxmlformats.org/officeDocument/2006/relationships/hyperlink" Target="https://productpeas.medium.com/case-study-2-zach-schendel-director-of-ux-research-at-netflix-e8986f840f75" TargetMode="External"/><Relationship Id="rId9" Type="http://schemas.openxmlformats.org/officeDocument/2006/relationships/hyperlink" Target="https://wersm.com/how-much-data-is-generated-every-minute-on-social-medi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www.kaggle.com/datasets/ahsan81/hotel-reservations-classification-datase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pnas.org/doi/10.1073/pnas.1908630116" TargetMode="External"/><Relationship Id="rId2" Type="http://schemas.openxmlformats.org/officeDocument/2006/relationships/hyperlink" Target="https://www.nationalgeographic.com/culture/article/charles-minard-cartography-infographics-history" TargetMode="External"/><Relationship Id="rId1" Type="http://schemas.openxmlformats.org/officeDocument/2006/relationships/slideLayout" Target="../slideLayouts/slideLayout2.xml"/><Relationship Id="rId5" Type="http://schemas.openxmlformats.org/officeDocument/2006/relationships/hyperlink" Target="https://support.google.com/docs/answer/190718?hl=en&amp;ref_topic=1361474&amp;sjid=422559727619709862-AP" TargetMode="External"/><Relationship Id="rId4" Type="http://schemas.openxmlformats.org/officeDocument/2006/relationships/hyperlink" Target="https://www.storytellingwithdata.com/blog/2018/10/23/scores-of-scatterplot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D8DFD5FD-C925-F1E1-5125-4ECDDD4FED20}"/>
              </a:ext>
            </a:extLst>
          </p:cNvPr>
          <p:cNvSpPr>
            <a:spLocks noGrp="1"/>
          </p:cNvSpPr>
          <p:nvPr>
            <p:ph type="subTitle" idx="1"/>
          </p:nvPr>
        </p:nvSpPr>
        <p:spPr/>
        <p:txBody>
          <a:bodyPr/>
          <a:lstStyle/>
          <a:p>
            <a:r>
              <a:rPr lang="zh-CN" altLang="en-US" dirty="0"/>
              <a:t>陈宇翔</a:t>
            </a:r>
            <a:r>
              <a:rPr lang="en-US" altLang="zh-CN" dirty="0"/>
              <a:t>	</a:t>
            </a:r>
            <a:r>
              <a:rPr lang="en-US" altLang="zh-CN" dirty="0">
                <a:hlinkClick r:id="rId2"/>
              </a:rPr>
              <a:t>chenyux@cn.ibm.com</a:t>
            </a:r>
            <a:r>
              <a:rPr lang="en-US" altLang="zh-CN" dirty="0"/>
              <a:t>	IBM </a:t>
            </a:r>
            <a:r>
              <a:rPr lang="zh-CN" altLang="en-US" dirty="0"/>
              <a:t>架构师</a:t>
            </a:r>
          </a:p>
        </p:txBody>
      </p:sp>
      <p:sp>
        <p:nvSpPr>
          <p:cNvPr id="2" name="标题 1">
            <a:extLst>
              <a:ext uri="{FF2B5EF4-FFF2-40B4-BE49-F238E27FC236}">
                <a16:creationId xmlns:a16="http://schemas.microsoft.com/office/drawing/2014/main" id="{8B733BCE-11F7-FE69-DEA5-A361A83EE00E}"/>
              </a:ext>
            </a:extLst>
          </p:cNvPr>
          <p:cNvSpPr>
            <a:spLocks noGrp="1"/>
          </p:cNvSpPr>
          <p:nvPr>
            <p:ph type="ctrTitle"/>
          </p:nvPr>
        </p:nvSpPr>
        <p:spPr/>
        <p:txBody>
          <a:bodyPr/>
          <a:lstStyle/>
          <a:p>
            <a:r>
              <a:rPr lang="en-US" altLang="zh-CN" dirty="0"/>
              <a:t>Data Analytics</a:t>
            </a:r>
            <a:endParaRPr lang="zh-CN" altLang="en-US" dirty="0"/>
          </a:p>
        </p:txBody>
      </p:sp>
    </p:spTree>
    <p:extLst>
      <p:ext uri="{BB962C8B-B14F-4D97-AF65-F5344CB8AC3E}">
        <p14:creationId xmlns:p14="http://schemas.microsoft.com/office/powerpoint/2010/main" val="140929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98EB62-E6EE-A587-03A3-9FC844C584F6}"/>
              </a:ext>
            </a:extLst>
          </p:cNvPr>
          <p:cNvSpPr>
            <a:spLocks noGrp="1"/>
          </p:cNvSpPr>
          <p:nvPr>
            <p:ph type="title"/>
          </p:nvPr>
        </p:nvSpPr>
        <p:spPr/>
        <p:txBody>
          <a:bodyPr/>
          <a:lstStyle/>
          <a:p>
            <a:r>
              <a:rPr lang="en-US" altLang="zh-CN"/>
              <a:t>Course</a:t>
            </a:r>
            <a:endParaRPr lang="zh-CN" altLang="en-US" dirty="0"/>
          </a:p>
        </p:txBody>
      </p:sp>
      <p:sp>
        <p:nvSpPr>
          <p:cNvPr id="3" name="内容占位符 2">
            <a:extLst>
              <a:ext uri="{FF2B5EF4-FFF2-40B4-BE49-F238E27FC236}">
                <a16:creationId xmlns:a16="http://schemas.microsoft.com/office/drawing/2014/main" id="{A23F8129-9324-8911-7B99-4A9CA21893D2}"/>
              </a:ext>
            </a:extLst>
          </p:cNvPr>
          <p:cNvSpPr>
            <a:spLocks noGrp="1"/>
          </p:cNvSpPr>
          <p:nvPr>
            <p:ph idx="1"/>
          </p:nvPr>
        </p:nvSpPr>
        <p:spPr/>
        <p:txBody>
          <a:bodyPr/>
          <a:lstStyle/>
          <a:p>
            <a:r>
              <a:rPr lang="en-US" altLang="zh-CN" dirty="0"/>
              <a:t>DeepLearning.AI Course</a:t>
            </a:r>
          </a:p>
          <a:p>
            <a:pPr lvl="1"/>
            <a:r>
              <a:rPr lang="en-US" altLang="zh-CN" dirty="0">
                <a:hlinkClick r:id="rId2"/>
              </a:rPr>
              <a:t>https://www.deeplearning.ai/specializations/data-analytics</a:t>
            </a:r>
            <a:r>
              <a:rPr lang="en-US" altLang="zh-CN" dirty="0"/>
              <a:t> </a:t>
            </a:r>
            <a:endParaRPr lang="zh-CN" altLang="en-US" dirty="0"/>
          </a:p>
        </p:txBody>
      </p:sp>
      <p:pic>
        <p:nvPicPr>
          <p:cNvPr id="5" name="图片 4" descr="徽标&#10;&#10;描述已自动生成">
            <a:extLst>
              <a:ext uri="{FF2B5EF4-FFF2-40B4-BE49-F238E27FC236}">
                <a16:creationId xmlns:a16="http://schemas.microsoft.com/office/drawing/2014/main" id="{D8ABF864-955E-FBE2-1559-94101458E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382" y="3428999"/>
            <a:ext cx="2246045" cy="2246045"/>
          </a:xfrm>
          <a:prstGeom prst="rect">
            <a:avLst/>
          </a:prstGeom>
        </p:spPr>
      </p:pic>
      <p:sp>
        <p:nvSpPr>
          <p:cNvPr id="10" name="文本框 9">
            <a:extLst>
              <a:ext uri="{FF2B5EF4-FFF2-40B4-BE49-F238E27FC236}">
                <a16:creationId xmlns:a16="http://schemas.microsoft.com/office/drawing/2014/main" id="{84C3BF1B-B483-8277-AFB6-00A2F027EC6A}"/>
              </a:ext>
            </a:extLst>
          </p:cNvPr>
          <p:cNvSpPr txBox="1"/>
          <p:nvPr/>
        </p:nvSpPr>
        <p:spPr>
          <a:xfrm>
            <a:off x="4494146" y="3767191"/>
            <a:ext cx="1047654" cy="1569660"/>
          </a:xfrm>
          <a:prstGeom prst="rect">
            <a:avLst/>
          </a:prstGeom>
          <a:noFill/>
        </p:spPr>
        <p:txBody>
          <a:bodyPr wrap="square" rtlCol="0">
            <a:spAutoFit/>
          </a:bodyPr>
          <a:lstStyle/>
          <a:p>
            <a:pPr algn="ctr"/>
            <a:r>
              <a:rPr lang="en-US" altLang="zh-CN" sz="9600" dirty="0"/>
              <a:t>+</a:t>
            </a:r>
            <a:endParaRPr lang="zh-CN" altLang="en-US" sz="9600" dirty="0"/>
          </a:p>
        </p:txBody>
      </p:sp>
      <p:pic>
        <p:nvPicPr>
          <p:cNvPr id="7" name="图片 6" descr="卡通人物&#10;&#10;AI 生成的内容可能不正确。">
            <a:extLst>
              <a:ext uri="{FF2B5EF4-FFF2-40B4-BE49-F238E27FC236}">
                <a16:creationId xmlns:a16="http://schemas.microsoft.com/office/drawing/2014/main" id="{A357CB2B-4269-7BFB-E56D-78232A815B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355170"/>
            <a:ext cx="2784183" cy="393701"/>
          </a:xfrm>
          <a:prstGeom prst="rect">
            <a:avLst/>
          </a:prstGeom>
        </p:spPr>
      </p:pic>
    </p:spTree>
    <p:extLst>
      <p:ext uri="{BB962C8B-B14F-4D97-AF65-F5344CB8AC3E}">
        <p14:creationId xmlns:p14="http://schemas.microsoft.com/office/powerpoint/2010/main" val="2545119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68747-0CD4-D1EF-D8C3-A185436738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83560CA-10EC-FF91-0D40-34084112445B}"/>
              </a:ext>
            </a:extLst>
          </p:cNvPr>
          <p:cNvSpPr>
            <a:spLocks noGrp="1"/>
          </p:cNvSpPr>
          <p:nvPr>
            <p:ph type="title"/>
          </p:nvPr>
        </p:nvSpPr>
        <p:spPr/>
        <p:txBody>
          <a:bodyPr/>
          <a:lstStyle/>
          <a:p>
            <a:r>
              <a:rPr lang="en-US" altLang="zh-CN" dirty="0"/>
              <a:t>Resource</a:t>
            </a:r>
            <a:endParaRPr lang="zh-CN" altLang="en-US" dirty="0"/>
          </a:p>
        </p:txBody>
      </p:sp>
      <p:sp>
        <p:nvSpPr>
          <p:cNvPr id="3" name="内容占位符 2">
            <a:extLst>
              <a:ext uri="{FF2B5EF4-FFF2-40B4-BE49-F238E27FC236}">
                <a16:creationId xmlns:a16="http://schemas.microsoft.com/office/drawing/2014/main" id="{50EF229A-5BD4-78DB-B4D4-1EF564C9F927}"/>
              </a:ext>
            </a:extLst>
          </p:cNvPr>
          <p:cNvSpPr>
            <a:spLocks noGrp="1"/>
          </p:cNvSpPr>
          <p:nvPr>
            <p:ph idx="1"/>
          </p:nvPr>
        </p:nvSpPr>
        <p:spPr/>
        <p:txBody>
          <a:bodyPr/>
          <a:lstStyle/>
          <a:p>
            <a:r>
              <a:rPr lang="en-US" altLang="zh-CN" dirty="0"/>
              <a:t>Community (Lecture Notes)</a:t>
            </a:r>
          </a:p>
          <a:p>
            <a:pPr lvl="1"/>
            <a:r>
              <a:rPr lang="en-US" altLang="zh-CN" dirty="0"/>
              <a:t>Course 1	</a:t>
            </a:r>
            <a:r>
              <a:rPr lang="en-US" altLang="zh-CN" dirty="0">
                <a:hlinkClick r:id="rId2"/>
              </a:rPr>
              <a:t>https://community.deeplearning.ai/t/data-analytics-course-1-lecture-notes/788732</a:t>
            </a:r>
            <a:r>
              <a:rPr lang="en-US" altLang="zh-CN" dirty="0"/>
              <a:t> </a:t>
            </a:r>
          </a:p>
          <a:p>
            <a:pPr lvl="1"/>
            <a:r>
              <a:rPr lang="en-US" altLang="zh-CN" dirty="0"/>
              <a:t>Course 2	</a:t>
            </a:r>
            <a:r>
              <a:rPr lang="en-US" altLang="zh-CN" dirty="0">
                <a:hlinkClick r:id="rId3"/>
              </a:rPr>
              <a:t>https://community.deeplearning.ai/t/data-analytics-course-2-lecture-notes/788733</a:t>
            </a:r>
            <a:r>
              <a:rPr lang="en-US" altLang="zh-CN" dirty="0"/>
              <a:t> </a:t>
            </a:r>
          </a:p>
          <a:p>
            <a:pPr lvl="1"/>
            <a:r>
              <a:rPr lang="en-US" altLang="zh-CN" dirty="0"/>
              <a:t>Course 3	</a:t>
            </a:r>
            <a:r>
              <a:rPr lang="en-US" altLang="zh-CN" dirty="0">
                <a:hlinkClick r:id="rId4"/>
              </a:rPr>
              <a:t>https://community.deeplearning.ai/t/data-analytics-course-3-lecture-notes/804543</a:t>
            </a:r>
            <a:r>
              <a:rPr lang="en-US" altLang="zh-CN" dirty="0"/>
              <a:t> </a:t>
            </a:r>
          </a:p>
          <a:p>
            <a:pPr lvl="1"/>
            <a:r>
              <a:rPr lang="en-US" altLang="zh-CN" dirty="0"/>
              <a:t>Course 4	</a:t>
            </a:r>
            <a:r>
              <a:rPr lang="en-US" altLang="zh-CN" dirty="0">
                <a:hlinkClick r:id="rId5"/>
              </a:rPr>
              <a:t>https://community.deeplearning.ai/t/data-analytics-course-4-lecture-notes/819464</a:t>
            </a:r>
          </a:p>
          <a:p>
            <a:pPr lvl="1"/>
            <a:r>
              <a:rPr lang="en-US" altLang="zh-CN" dirty="0"/>
              <a:t>Course 5	</a:t>
            </a:r>
            <a:r>
              <a:rPr lang="en-US" altLang="zh-CN" dirty="0">
                <a:hlinkClick r:id="rId5"/>
              </a:rPr>
              <a:t>https://community.deeplearning.ai/t/data-analytics-course-5-lecture-notes/838617</a:t>
            </a:r>
            <a:endParaRPr lang="en-US" altLang="zh-CN" dirty="0"/>
          </a:p>
          <a:p>
            <a:pPr lvl="1"/>
            <a:endParaRPr lang="en-US" altLang="zh-CN" dirty="0"/>
          </a:p>
          <a:p>
            <a:endParaRPr lang="en-US" altLang="zh-CN" dirty="0"/>
          </a:p>
          <a:p>
            <a:endParaRPr lang="en-US" altLang="zh-CN" dirty="0"/>
          </a:p>
        </p:txBody>
      </p:sp>
    </p:spTree>
    <p:extLst>
      <p:ext uri="{BB962C8B-B14F-4D97-AF65-F5344CB8AC3E}">
        <p14:creationId xmlns:p14="http://schemas.microsoft.com/office/powerpoint/2010/main" val="138693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CFC3E12-7A1E-061A-9EEF-79A403D24428}"/>
              </a:ext>
            </a:extLst>
          </p:cNvPr>
          <p:cNvSpPr>
            <a:spLocks noGrp="1"/>
          </p:cNvSpPr>
          <p:nvPr>
            <p:ph type="title"/>
          </p:nvPr>
        </p:nvSpPr>
        <p:spPr/>
        <p:txBody>
          <a:bodyPr/>
          <a:lstStyle/>
          <a:p>
            <a:r>
              <a:rPr lang="en-US" altLang="zh-CN" dirty="0"/>
              <a:t>Course 1</a:t>
            </a:r>
            <a:endParaRPr lang="zh-CN" altLang="en-US" dirty="0"/>
          </a:p>
        </p:txBody>
      </p:sp>
      <p:sp>
        <p:nvSpPr>
          <p:cNvPr id="5" name="文本占位符 4">
            <a:extLst>
              <a:ext uri="{FF2B5EF4-FFF2-40B4-BE49-F238E27FC236}">
                <a16:creationId xmlns:a16="http://schemas.microsoft.com/office/drawing/2014/main" id="{C4D98AD4-ED5F-43A6-6234-C5A2BF6BD44D}"/>
              </a:ext>
            </a:extLst>
          </p:cNvPr>
          <p:cNvSpPr>
            <a:spLocks noGrp="1"/>
          </p:cNvSpPr>
          <p:nvPr>
            <p:ph type="body" idx="1"/>
          </p:nvPr>
        </p:nvSpPr>
        <p:spPr/>
        <p:txBody>
          <a:bodyPr/>
          <a:lstStyle/>
          <a:p>
            <a:r>
              <a:rPr lang="en-US" altLang="zh-CN" dirty="0"/>
              <a:t>Data Analytics Foundations</a:t>
            </a:r>
            <a:endParaRPr lang="zh-CN" altLang="en-US" dirty="0"/>
          </a:p>
        </p:txBody>
      </p:sp>
    </p:spTree>
    <p:extLst>
      <p:ext uri="{BB962C8B-B14F-4D97-AF65-F5344CB8AC3E}">
        <p14:creationId xmlns:p14="http://schemas.microsoft.com/office/powerpoint/2010/main" val="3457358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F066A6E7-96FA-6B57-532F-42C783B270CC}"/>
              </a:ext>
            </a:extLst>
          </p:cNvPr>
          <p:cNvSpPr>
            <a:spLocks noGrp="1"/>
          </p:cNvSpPr>
          <p:nvPr>
            <p:ph type="title"/>
          </p:nvPr>
        </p:nvSpPr>
        <p:spPr/>
        <p:txBody>
          <a:bodyPr/>
          <a:lstStyle/>
          <a:p>
            <a:r>
              <a:rPr lang="en-US" altLang="zh-CN" dirty="0"/>
              <a:t>Resources</a:t>
            </a:r>
            <a:endParaRPr lang="zh-CN" altLang="en-US" dirty="0"/>
          </a:p>
        </p:txBody>
      </p:sp>
      <p:sp>
        <p:nvSpPr>
          <p:cNvPr id="6" name="内容占位符 5">
            <a:extLst>
              <a:ext uri="{FF2B5EF4-FFF2-40B4-BE49-F238E27FC236}">
                <a16:creationId xmlns:a16="http://schemas.microsoft.com/office/drawing/2014/main" id="{B3F1BFEC-08B2-2055-5268-D9F5E8FA39A9}"/>
              </a:ext>
            </a:extLst>
          </p:cNvPr>
          <p:cNvSpPr>
            <a:spLocks noGrp="1"/>
          </p:cNvSpPr>
          <p:nvPr>
            <p:ph idx="1"/>
          </p:nvPr>
        </p:nvSpPr>
        <p:spPr>
          <a:xfrm>
            <a:off x="243417" y="716491"/>
            <a:ext cx="11582400" cy="5354638"/>
          </a:xfrm>
        </p:spPr>
        <p:txBody>
          <a:bodyPr/>
          <a:lstStyle/>
          <a:p>
            <a:r>
              <a:rPr lang="en-US" altLang="zh-CN" b="1" dirty="0"/>
              <a:t>What is data analytics?</a:t>
            </a:r>
          </a:p>
          <a:p>
            <a:pPr lvl="1"/>
            <a:r>
              <a:rPr lang="en-US" altLang="zh-CN" sz="1200" b="1" dirty="0">
                <a:hlinkClick r:id="rId2"/>
              </a:rPr>
              <a:t>A Guide to Sabermetric Research</a:t>
            </a:r>
            <a:r>
              <a:rPr lang="en-US" altLang="zh-CN" sz="1200" dirty="0"/>
              <a:t> - This website highlights advanced baseball statistics, a field revolutionized by Bill James's pioneering work in sabermetrics. His approach popularized modern data analytics in sports, illustrating the broader application of data-driven decision-making across various fields.</a:t>
            </a:r>
          </a:p>
          <a:p>
            <a:pPr lvl="1"/>
            <a:r>
              <a:rPr lang="en-US" altLang="zh-CN" sz="1200" b="1" dirty="0">
                <a:hlinkClick r:id="rId3"/>
              </a:rPr>
              <a:t>Operations Research in World War II</a:t>
            </a:r>
            <a:r>
              <a:rPr lang="en-US" altLang="zh-CN" sz="1200" dirty="0"/>
              <a:t> - Describes early applications of operations research such as optimizing radar placement to protect Britain from air raids. This laid the groundwork for modern data analytics.</a:t>
            </a:r>
          </a:p>
          <a:p>
            <a:pPr lvl="1"/>
            <a:r>
              <a:rPr lang="en-US" altLang="zh-CN" sz="1200" b="1" dirty="0">
                <a:hlinkClick r:id="rId4"/>
              </a:rPr>
              <a:t>Product Peas (Medium). Case Study 2— Zach Schendel, Director of UX Research at Netflix</a:t>
            </a:r>
            <a:r>
              <a:rPr lang="en-US" altLang="zh-CN" sz="1200" dirty="0"/>
              <a:t> - The author here summarizes a webinar from Netflix discussing one method to enhance their users' content discovery. By conducting eye-tracking studies, Netflix optimized the bottom third of the screen, leading to significant increases in user engagement through tailored images based on viewing history.</a:t>
            </a:r>
          </a:p>
          <a:p>
            <a:pPr lvl="1"/>
            <a:r>
              <a:rPr lang="en-US" altLang="zh-CN" sz="1200" b="1" dirty="0">
                <a:hlinkClick r:id="rId5"/>
              </a:rPr>
              <a:t>Nielsen method for TV ratings missing minorities, young people</a:t>
            </a:r>
            <a:r>
              <a:rPr lang="en-US" altLang="zh-CN" sz="1200" dirty="0"/>
              <a:t> - This article discusses how Nielsen's TV ratings method fails to accurately represent minority and younger viewers, leading to skewed data in audience measurement.</a:t>
            </a:r>
          </a:p>
          <a:p>
            <a:pPr lvl="1"/>
            <a:r>
              <a:rPr lang="en-US" altLang="zh-CN" sz="1200" b="1" dirty="0">
                <a:hlinkClick r:id="rId6"/>
              </a:rPr>
              <a:t>The Data River – How Data Flows Through the HelloFresh Production Process</a:t>
            </a:r>
            <a:r>
              <a:rPr lang="en-US" altLang="zh-CN" sz="1200" dirty="0"/>
              <a:t> - Provides a high-level overview of how data is consumed by HelloFresh to power their business decision-making.</a:t>
            </a:r>
          </a:p>
          <a:p>
            <a:pPr lvl="1"/>
            <a:r>
              <a:rPr lang="en-US" altLang="zh-CN" sz="1200" b="1" dirty="0">
                <a:hlinkClick r:id="rId7"/>
              </a:rPr>
              <a:t>How we are using Hotjar to improve our web pages</a:t>
            </a:r>
            <a:r>
              <a:rPr lang="en-US" altLang="zh-CN" sz="1200" dirty="0"/>
              <a:t> - The article details how the University of St. Andrew's has been using heatmap data to gain insights into web page interactions and improve user experience.</a:t>
            </a:r>
          </a:p>
          <a:p>
            <a:r>
              <a:rPr lang="en-US" altLang="zh-CN" b="1" dirty="0"/>
              <a:t>What is data?</a:t>
            </a:r>
          </a:p>
          <a:p>
            <a:pPr lvl="1"/>
            <a:r>
              <a:rPr lang="en-US" altLang="zh-CN" sz="1200" b="1" dirty="0">
                <a:hlinkClick r:id="rId8"/>
              </a:rPr>
              <a:t>How Many Orders Does Amazon Get &amp; Deliver per Day?</a:t>
            </a:r>
            <a:r>
              <a:rPr lang="en-US" altLang="zh-CN" sz="1200" dirty="0"/>
              <a:t> - The article details the staggering volume of Amazon orders, revealing that the platform processes millions of orders per day. This immense data volume underscores the scale at which Amazon operates and the complex data management and analytics required to handle such a high transaction rate.</a:t>
            </a:r>
          </a:p>
          <a:p>
            <a:pPr lvl="1"/>
            <a:r>
              <a:rPr lang="en-US" altLang="zh-CN" sz="1200" b="1" dirty="0">
                <a:hlinkClick r:id="rId9"/>
              </a:rPr>
              <a:t>How Much Data Is Generated Every Minute On Social Media?</a:t>
            </a:r>
            <a:r>
              <a:rPr lang="en-US" altLang="zh-CN" sz="1200" dirty="0"/>
              <a:t> - Similar to the article above, this one describes the huge amount of data found in various social media platforms.</a:t>
            </a:r>
          </a:p>
          <a:p>
            <a:r>
              <a:rPr lang="en-US" altLang="zh-CN" b="1" dirty="0"/>
              <a:t>Large language models for data analytics</a:t>
            </a:r>
          </a:p>
          <a:p>
            <a:pPr lvl="1"/>
            <a:r>
              <a:rPr lang="en-US" altLang="zh-CN" sz="1200" dirty="0"/>
              <a:t>DeepLearning.AI has courses dedicated to generative AI and large language models (LLMs), and we've selected a few videos from them to complement the discussions in class. Take note that you don't need to take the entirety of these other courses. These few videos are enough to get you more acquainted with LLMs:</a:t>
            </a:r>
          </a:p>
          <a:p>
            <a:pPr lvl="1"/>
            <a:r>
              <a:rPr lang="en-US" altLang="zh-CN" sz="1200" b="1" dirty="0">
                <a:hlinkClick r:id="rId10"/>
              </a:rPr>
              <a:t>Generative AI &amp; LLMs</a:t>
            </a:r>
            <a:r>
              <a:rPr lang="en-US" altLang="zh-CN" sz="1200" dirty="0"/>
              <a:t> - This video is a concise introduction on large language models (LLMs), their use cases, and how they generate text by identifying patterns in vast datasets.</a:t>
            </a:r>
          </a:p>
          <a:p>
            <a:pPr lvl="1"/>
            <a:r>
              <a:rPr lang="en-US" altLang="zh-CN" sz="1200" b="1" dirty="0">
                <a:hlinkClick r:id="rId11"/>
              </a:rPr>
              <a:t>LLMs as a thought partner</a:t>
            </a:r>
            <a:r>
              <a:rPr lang="en-US" altLang="zh-CN" sz="1200" dirty="0"/>
              <a:t> - This video also explores practical uses of LLMs, from answering factual questions to generating creative content. It highlights how these models can complement web searches and serve as thought partners for brainstorming and creative tasks.</a:t>
            </a:r>
          </a:p>
          <a:p>
            <a:pPr lvl="1"/>
            <a:r>
              <a:rPr lang="en-US" altLang="zh-CN" sz="1200" b="1" dirty="0">
                <a:hlinkClick r:id="rId12"/>
              </a:rPr>
              <a:t>What LLMs can and cannot do</a:t>
            </a:r>
            <a:r>
              <a:rPr lang="en-US" altLang="zh-CN" sz="1200" dirty="0"/>
              <a:t> - This video provides an overview of the capabilities and limitations of LLMs. It highlights key limitations such as knowledge cutoffs and hallucinations, emphasizing the need for careful use and verification of LLM-generated content.</a:t>
            </a:r>
          </a:p>
        </p:txBody>
      </p:sp>
    </p:spTree>
    <p:extLst>
      <p:ext uri="{BB962C8B-B14F-4D97-AF65-F5344CB8AC3E}">
        <p14:creationId xmlns:p14="http://schemas.microsoft.com/office/powerpoint/2010/main" val="326761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1EE35C2-0CFE-5097-EBEE-33E8FCC3283D}"/>
              </a:ext>
            </a:extLst>
          </p:cNvPr>
          <p:cNvSpPr>
            <a:spLocks noGrp="1"/>
          </p:cNvSpPr>
          <p:nvPr>
            <p:ph type="title"/>
          </p:nvPr>
        </p:nvSpPr>
        <p:spPr/>
        <p:txBody>
          <a:bodyPr/>
          <a:lstStyle/>
          <a:p>
            <a:r>
              <a:rPr lang="en-US" altLang="zh-CN" dirty="0"/>
              <a:t>Module 1</a:t>
            </a:r>
            <a:endParaRPr lang="zh-CN" altLang="en-US" dirty="0"/>
          </a:p>
        </p:txBody>
      </p:sp>
      <p:sp>
        <p:nvSpPr>
          <p:cNvPr id="5" name="文本占位符 4">
            <a:extLst>
              <a:ext uri="{FF2B5EF4-FFF2-40B4-BE49-F238E27FC236}">
                <a16:creationId xmlns:a16="http://schemas.microsoft.com/office/drawing/2014/main" id="{7BE7FFCA-5DC8-1558-6635-B247D2D367E7}"/>
              </a:ext>
            </a:extLst>
          </p:cNvPr>
          <p:cNvSpPr>
            <a:spLocks noGrp="1"/>
          </p:cNvSpPr>
          <p:nvPr>
            <p:ph type="body" idx="1"/>
          </p:nvPr>
        </p:nvSpPr>
        <p:spPr/>
        <p:txBody>
          <a:bodyPr/>
          <a:lstStyle/>
          <a:p>
            <a:r>
              <a:rPr lang="en-US" altLang="zh-CN" dirty="0"/>
              <a:t>Data and the data analyst role</a:t>
            </a:r>
            <a:endParaRPr lang="zh-CN" altLang="en-US" dirty="0"/>
          </a:p>
        </p:txBody>
      </p:sp>
    </p:spTree>
    <p:extLst>
      <p:ext uri="{BB962C8B-B14F-4D97-AF65-F5344CB8AC3E}">
        <p14:creationId xmlns:p14="http://schemas.microsoft.com/office/powerpoint/2010/main" val="1942899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416D-3EFB-0E52-0A9E-7F686AFADC1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241F1CC-922F-4940-75D5-3874EC237F83}"/>
              </a:ext>
            </a:extLst>
          </p:cNvPr>
          <p:cNvSpPr>
            <a:spLocks noGrp="1"/>
          </p:cNvSpPr>
          <p:nvPr>
            <p:ph type="title"/>
          </p:nvPr>
        </p:nvSpPr>
        <p:spPr/>
        <p:txBody>
          <a:bodyPr/>
          <a:lstStyle/>
          <a:p>
            <a:r>
              <a:rPr lang="en-US" altLang="zh-CN" dirty="0"/>
              <a:t>Module 2</a:t>
            </a:r>
            <a:endParaRPr lang="zh-CN" altLang="en-US" dirty="0"/>
          </a:p>
        </p:txBody>
      </p:sp>
      <p:sp>
        <p:nvSpPr>
          <p:cNvPr id="5" name="文本占位符 4">
            <a:extLst>
              <a:ext uri="{FF2B5EF4-FFF2-40B4-BE49-F238E27FC236}">
                <a16:creationId xmlns:a16="http://schemas.microsoft.com/office/drawing/2014/main" id="{190B9BCD-3A07-4344-29B0-D41AADDF30B0}"/>
              </a:ext>
            </a:extLst>
          </p:cNvPr>
          <p:cNvSpPr>
            <a:spLocks noGrp="1"/>
          </p:cNvSpPr>
          <p:nvPr>
            <p:ph type="body" idx="1"/>
          </p:nvPr>
        </p:nvSpPr>
        <p:spPr/>
        <p:txBody>
          <a:bodyPr/>
          <a:lstStyle/>
          <a:p>
            <a:r>
              <a:rPr lang="en-US" altLang="zh-CN" dirty="0"/>
              <a:t>Using spreadsheets for data analytics</a:t>
            </a:r>
            <a:endParaRPr lang="zh-CN" altLang="en-US" dirty="0"/>
          </a:p>
        </p:txBody>
      </p:sp>
    </p:spTree>
    <p:extLst>
      <p:ext uri="{BB962C8B-B14F-4D97-AF65-F5344CB8AC3E}">
        <p14:creationId xmlns:p14="http://schemas.microsoft.com/office/powerpoint/2010/main" val="129768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178C3-106A-9475-B360-1143A6E43B1C}"/>
              </a:ext>
            </a:extLst>
          </p:cNvPr>
          <p:cNvSpPr>
            <a:spLocks noGrp="1"/>
          </p:cNvSpPr>
          <p:nvPr>
            <p:ph type="title"/>
          </p:nvPr>
        </p:nvSpPr>
        <p:spPr/>
        <p:txBody>
          <a:bodyPr/>
          <a:lstStyle/>
          <a:p>
            <a:r>
              <a:rPr lang="en-US" altLang="zh-CN" dirty="0"/>
              <a:t>Dataset</a:t>
            </a:r>
            <a:endParaRPr lang="zh-CN" altLang="en-US" dirty="0"/>
          </a:p>
        </p:txBody>
      </p:sp>
      <p:sp>
        <p:nvSpPr>
          <p:cNvPr id="3" name="内容占位符 2">
            <a:extLst>
              <a:ext uri="{FF2B5EF4-FFF2-40B4-BE49-F238E27FC236}">
                <a16:creationId xmlns:a16="http://schemas.microsoft.com/office/drawing/2014/main" id="{B0AD8440-83E9-A26E-D7DC-7470319D7EC5}"/>
              </a:ext>
            </a:extLst>
          </p:cNvPr>
          <p:cNvSpPr>
            <a:spLocks noGrp="1"/>
          </p:cNvSpPr>
          <p:nvPr>
            <p:ph idx="1"/>
          </p:nvPr>
        </p:nvSpPr>
        <p:spPr/>
        <p:txBody>
          <a:bodyPr/>
          <a:lstStyle/>
          <a:p>
            <a:r>
              <a:rPr lang="en-US" altLang="zh-CN" dirty="0"/>
              <a:t>Hotel Reservations Dataset		</a:t>
            </a:r>
            <a:r>
              <a:rPr lang="en-US" altLang="zh-CN" dirty="0">
                <a:hlinkClick r:id="rId2"/>
              </a:rPr>
              <a:t>https://www.kaggle.com/datasets/ahsan81/hotel-reservations-classification-dataset</a:t>
            </a:r>
            <a:endParaRPr lang="en-US" altLang="zh-CN" dirty="0"/>
          </a:p>
          <a:p>
            <a:endParaRPr lang="zh-CN" altLang="en-US" dirty="0"/>
          </a:p>
        </p:txBody>
      </p:sp>
    </p:spTree>
    <p:extLst>
      <p:ext uri="{BB962C8B-B14F-4D97-AF65-F5344CB8AC3E}">
        <p14:creationId xmlns:p14="http://schemas.microsoft.com/office/powerpoint/2010/main" val="3093029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DDCC2-6998-4202-93E6-61B90C40CC9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1DD235B-0238-AD66-D4CA-29E228AF96AE}"/>
              </a:ext>
            </a:extLst>
          </p:cNvPr>
          <p:cNvSpPr>
            <a:spLocks noGrp="1"/>
          </p:cNvSpPr>
          <p:nvPr>
            <p:ph type="title"/>
          </p:nvPr>
        </p:nvSpPr>
        <p:spPr/>
        <p:txBody>
          <a:bodyPr/>
          <a:lstStyle/>
          <a:p>
            <a:r>
              <a:rPr lang="en-US" altLang="zh-CN" dirty="0"/>
              <a:t>Module 3</a:t>
            </a:r>
            <a:endParaRPr lang="zh-CN" altLang="en-US" dirty="0"/>
          </a:p>
        </p:txBody>
      </p:sp>
      <p:sp>
        <p:nvSpPr>
          <p:cNvPr id="5" name="文本占位符 4">
            <a:extLst>
              <a:ext uri="{FF2B5EF4-FFF2-40B4-BE49-F238E27FC236}">
                <a16:creationId xmlns:a16="http://schemas.microsoft.com/office/drawing/2014/main" id="{B878D97D-B32E-B3C9-0A2C-F8E04216BD99}"/>
              </a:ext>
            </a:extLst>
          </p:cNvPr>
          <p:cNvSpPr>
            <a:spLocks noGrp="1"/>
          </p:cNvSpPr>
          <p:nvPr>
            <p:ph type="body" idx="1"/>
          </p:nvPr>
        </p:nvSpPr>
        <p:spPr/>
        <p:txBody>
          <a:bodyPr/>
          <a:lstStyle/>
          <a:p>
            <a:r>
              <a:rPr lang="en-US" altLang="zh-CN" dirty="0"/>
              <a:t>Data visualization in spreadsheets</a:t>
            </a:r>
            <a:endParaRPr lang="zh-CN" altLang="en-US" dirty="0"/>
          </a:p>
        </p:txBody>
      </p:sp>
    </p:spTree>
    <p:extLst>
      <p:ext uri="{BB962C8B-B14F-4D97-AF65-F5344CB8AC3E}">
        <p14:creationId xmlns:p14="http://schemas.microsoft.com/office/powerpoint/2010/main" val="1443458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96157-8219-AEB2-438E-6BD6CA7309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FDF4C8-A399-6718-3F8D-59B86E19587C}"/>
              </a:ext>
            </a:extLst>
          </p:cNvPr>
          <p:cNvSpPr>
            <a:spLocks noGrp="1"/>
          </p:cNvSpPr>
          <p:nvPr>
            <p:ph type="title"/>
          </p:nvPr>
        </p:nvSpPr>
        <p:spPr/>
        <p:txBody>
          <a:bodyPr/>
          <a:lstStyle/>
          <a:p>
            <a:r>
              <a:rPr lang="en-US" altLang="zh-CN" dirty="0"/>
              <a:t>Resources</a:t>
            </a:r>
            <a:endParaRPr lang="zh-CN" altLang="en-US" dirty="0"/>
          </a:p>
        </p:txBody>
      </p:sp>
      <p:sp>
        <p:nvSpPr>
          <p:cNvPr id="3" name="内容占位符 2">
            <a:extLst>
              <a:ext uri="{FF2B5EF4-FFF2-40B4-BE49-F238E27FC236}">
                <a16:creationId xmlns:a16="http://schemas.microsoft.com/office/drawing/2014/main" id="{8B4B5F1F-23E9-D10E-BD44-64DE9E595C94}"/>
              </a:ext>
            </a:extLst>
          </p:cNvPr>
          <p:cNvSpPr>
            <a:spLocks noGrp="1"/>
          </p:cNvSpPr>
          <p:nvPr>
            <p:ph idx="1"/>
          </p:nvPr>
        </p:nvSpPr>
        <p:spPr/>
        <p:txBody>
          <a:bodyPr/>
          <a:lstStyle/>
          <a:p>
            <a:r>
              <a:rPr lang="en-US" altLang="zh-CN" b="1" dirty="0"/>
              <a:t>Data storytelling</a:t>
            </a:r>
          </a:p>
          <a:p>
            <a:pPr lvl="1"/>
            <a:r>
              <a:rPr lang="en-US" altLang="zh-CN" b="1" dirty="0">
                <a:hlinkClick r:id="rId2"/>
              </a:rPr>
              <a:t>The Underappreciated Man Behind the "Best Graphic Ever Produced"</a:t>
            </a:r>
            <a:r>
              <a:rPr lang="en-US" altLang="zh-CN" dirty="0"/>
              <a:t> - This article highlights Charles Minard's pioneering work in cartography and infographics, notably his famous visualization of Napoleon's Russian campaign. Minard's techniques, such as integrating multiple data dimensions into a single chart, laid foundational principles for modern data visualization and storytelling.</a:t>
            </a:r>
          </a:p>
          <a:p>
            <a:pPr lvl="1"/>
            <a:r>
              <a:rPr lang="en-US" altLang="zh-CN" b="1" dirty="0">
                <a:hlinkClick r:id="rId3"/>
              </a:rPr>
              <a:t>Disintermediating your friends: How online dating in the United States displaces other ways of meeting</a:t>
            </a:r>
            <a:r>
              <a:rPr lang="en-US" altLang="zh-CN" dirty="0"/>
              <a:t> - This article shows the chart and insights from the data gathered regarding how couples meet in the US.</a:t>
            </a:r>
          </a:p>
          <a:p>
            <a:pPr lvl="1"/>
            <a:r>
              <a:rPr lang="en-US" altLang="zh-CN" b="1" dirty="0">
                <a:hlinkClick r:id="rId4"/>
              </a:rPr>
              <a:t>scores of scatterplots!</a:t>
            </a:r>
            <a:r>
              <a:rPr lang="en-US" altLang="zh-CN" dirty="0"/>
              <a:t> - This shows how several people used scatterplots to visualize data that they find interesting.</a:t>
            </a:r>
          </a:p>
          <a:p>
            <a:endParaRPr lang="en-US" altLang="zh-CN" b="1" dirty="0"/>
          </a:p>
          <a:p>
            <a:r>
              <a:rPr lang="en-US" altLang="zh-CN" b="1" dirty="0"/>
              <a:t>Creating charts</a:t>
            </a:r>
          </a:p>
          <a:p>
            <a:pPr lvl="1"/>
            <a:r>
              <a:rPr lang="en-US" altLang="zh-CN" b="1" dirty="0">
                <a:hlinkClick r:id="rId5"/>
              </a:rPr>
              <a:t>Types of charts &amp; graphs in Google Sheets</a:t>
            </a:r>
            <a:r>
              <a:rPr lang="en-US" altLang="zh-CN" dirty="0"/>
              <a:t> - You can learn more about other charts not discussed in class here.</a:t>
            </a:r>
          </a:p>
          <a:p>
            <a:endParaRPr lang="zh-CN" altLang="en-US" dirty="0"/>
          </a:p>
        </p:txBody>
      </p:sp>
    </p:spTree>
    <p:extLst>
      <p:ext uri="{BB962C8B-B14F-4D97-AF65-F5344CB8AC3E}">
        <p14:creationId xmlns:p14="http://schemas.microsoft.com/office/powerpoint/2010/main" val="2529894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0965-4C3E-DE4E-8BCF-29064B34BDA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C4ECFB2-D00A-6F59-48C3-A82C3DF38683}"/>
              </a:ext>
            </a:extLst>
          </p:cNvPr>
          <p:cNvSpPr>
            <a:spLocks noGrp="1"/>
          </p:cNvSpPr>
          <p:nvPr>
            <p:ph type="title"/>
          </p:nvPr>
        </p:nvSpPr>
        <p:spPr/>
        <p:txBody>
          <a:bodyPr/>
          <a:lstStyle/>
          <a:p>
            <a:r>
              <a:rPr lang="en-US" altLang="zh-CN" dirty="0"/>
              <a:t>Module 4</a:t>
            </a:r>
            <a:endParaRPr lang="zh-CN" altLang="en-US" dirty="0"/>
          </a:p>
        </p:txBody>
      </p:sp>
      <p:sp>
        <p:nvSpPr>
          <p:cNvPr id="5" name="文本占位符 4">
            <a:extLst>
              <a:ext uri="{FF2B5EF4-FFF2-40B4-BE49-F238E27FC236}">
                <a16:creationId xmlns:a16="http://schemas.microsoft.com/office/drawing/2014/main" id="{1EA02997-5440-2374-8A98-35C55F336AF1}"/>
              </a:ext>
            </a:extLst>
          </p:cNvPr>
          <p:cNvSpPr>
            <a:spLocks noGrp="1"/>
          </p:cNvSpPr>
          <p:nvPr>
            <p:ph type="body" idx="1"/>
          </p:nvPr>
        </p:nvSpPr>
        <p:spPr/>
        <p:txBody>
          <a:bodyPr/>
          <a:lstStyle/>
          <a:p>
            <a:r>
              <a:rPr lang="en-US" altLang="zh-CN" dirty="0"/>
              <a:t>The data analytics lifecycle</a:t>
            </a:r>
            <a:endParaRPr lang="zh-CN" altLang="en-US" dirty="0"/>
          </a:p>
        </p:txBody>
      </p:sp>
    </p:spTree>
    <p:extLst>
      <p:ext uri="{BB962C8B-B14F-4D97-AF65-F5344CB8AC3E}">
        <p14:creationId xmlns:p14="http://schemas.microsoft.com/office/powerpoint/2010/main" val="730998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F6B9C-FAF5-BAFF-855F-2471BC220A4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B60A69-5AFA-B0B0-2AF4-8CE3F820D236}"/>
              </a:ext>
            </a:extLst>
          </p:cNvPr>
          <p:cNvSpPr>
            <a:spLocks noGrp="1"/>
          </p:cNvSpPr>
          <p:nvPr>
            <p:ph type="title"/>
          </p:nvPr>
        </p:nvSpPr>
        <p:spPr/>
        <p:txBody>
          <a:bodyPr/>
          <a:lstStyle/>
          <a:p>
            <a:r>
              <a:rPr lang="en-US" altLang="zh-CN" dirty="0"/>
              <a:t>Course 2</a:t>
            </a:r>
            <a:endParaRPr lang="zh-CN" altLang="en-US" dirty="0"/>
          </a:p>
        </p:txBody>
      </p:sp>
      <p:sp>
        <p:nvSpPr>
          <p:cNvPr id="5" name="文本占位符 4">
            <a:extLst>
              <a:ext uri="{FF2B5EF4-FFF2-40B4-BE49-F238E27FC236}">
                <a16:creationId xmlns:a16="http://schemas.microsoft.com/office/drawing/2014/main" id="{9D745533-E8C1-2F82-36D3-D3F193BEAD96}"/>
              </a:ext>
            </a:extLst>
          </p:cNvPr>
          <p:cNvSpPr>
            <a:spLocks noGrp="1"/>
          </p:cNvSpPr>
          <p:nvPr>
            <p:ph type="body" idx="1"/>
          </p:nvPr>
        </p:nvSpPr>
        <p:spPr/>
        <p:txBody>
          <a:bodyPr/>
          <a:lstStyle/>
          <a:p>
            <a:r>
              <a:rPr lang="en-US" altLang="zh-CN" dirty="0"/>
              <a:t>Applied Statistics for Data Analytics</a:t>
            </a:r>
            <a:endParaRPr lang="zh-CN" altLang="en-US" dirty="0"/>
          </a:p>
        </p:txBody>
      </p:sp>
    </p:spTree>
    <p:extLst>
      <p:ext uri="{BB962C8B-B14F-4D97-AF65-F5344CB8AC3E}">
        <p14:creationId xmlns:p14="http://schemas.microsoft.com/office/powerpoint/2010/main" val="3256371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000C9-146C-64CB-4002-96E0DC715BA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A6FF60D-F9F1-3980-B632-E4D80A8D3C6D}"/>
              </a:ext>
            </a:extLst>
          </p:cNvPr>
          <p:cNvSpPr>
            <a:spLocks noGrp="1"/>
          </p:cNvSpPr>
          <p:nvPr>
            <p:ph type="title"/>
          </p:nvPr>
        </p:nvSpPr>
        <p:spPr/>
        <p:txBody>
          <a:bodyPr/>
          <a:lstStyle/>
          <a:p>
            <a:r>
              <a:rPr lang="en-US" altLang="zh-CN" dirty="0"/>
              <a:t>Module 1</a:t>
            </a:r>
            <a:endParaRPr lang="zh-CN" altLang="en-US" dirty="0"/>
          </a:p>
        </p:txBody>
      </p:sp>
      <p:sp>
        <p:nvSpPr>
          <p:cNvPr id="5" name="文本占位符 4">
            <a:extLst>
              <a:ext uri="{FF2B5EF4-FFF2-40B4-BE49-F238E27FC236}">
                <a16:creationId xmlns:a16="http://schemas.microsoft.com/office/drawing/2014/main" id="{6ED71D92-CEE4-EE23-47D7-620FBE2C7DCE}"/>
              </a:ext>
            </a:extLst>
          </p:cNvPr>
          <p:cNvSpPr>
            <a:spLocks noGrp="1"/>
          </p:cNvSpPr>
          <p:nvPr>
            <p:ph type="body" idx="1"/>
          </p:nvPr>
        </p:nvSpPr>
        <p:spPr/>
        <p:txBody>
          <a:bodyPr/>
          <a:lstStyle/>
          <a:p>
            <a:r>
              <a:rPr lang="en-US" altLang="zh-CN" dirty="0"/>
              <a:t>Foundational statistical techniques</a:t>
            </a:r>
            <a:endParaRPr lang="zh-CN" altLang="en-US" dirty="0"/>
          </a:p>
        </p:txBody>
      </p:sp>
    </p:spTree>
    <p:extLst>
      <p:ext uri="{BB962C8B-B14F-4D97-AF65-F5344CB8AC3E}">
        <p14:creationId xmlns:p14="http://schemas.microsoft.com/office/powerpoint/2010/main" val="330769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6D047-1632-8CAB-E9DA-58BE5EF701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CFEFED-59EB-3A13-999E-BE0EA6569D76}"/>
              </a:ext>
            </a:extLst>
          </p:cNvPr>
          <p:cNvSpPr>
            <a:spLocks noGrp="1"/>
          </p:cNvSpPr>
          <p:nvPr>
            <p:ph type="title"/>
          </p:nvPr>
        </p:nvSpPr>
        <p:spPr/>
        <p:txBody>
          <a:bodyPr/>
          <a:lstStyle/>
          <a:p>
            <a:r>
              <a:rPr lang="en-US" altLang="zh-CN" dirty="0"/>
              <a:t>Statistical sampling methods</a:t>
            </a:r>
            <a:endParaRPr lang="zh-CN" altLang="en-US" dirty="0"/>
          </a:p>
        </p:txBody>
      </p:sp>
      <p:sp>
        <p:nvSpPr>
          <p:cNvPr id="4" name="内容占位符 3">
            <a:extLst>
              <a:ext uri="{FF2B5EF4-FFF2-40B4-BE49-F238E27FC236}">
                <a16:creationId xmlns:a16="http://schemas.microsoft.com/office/drawing/2014/main" id="{7CE0336F-5C97-139E-2D61-0E8AFAD35829}"/>
              </a:ext>
            </a:extLst>
          </p:cNvPr>
          <p:cNvSpPr>
            <a:spLocks noGrp="1"/>
          </p:cNvSpPr>
          <p:nvPr>
            <p:ph sz="half" idx="1"/>
          </p:nvPr>
        </p:nvSpPr>
        <p:spPr/>
        <p:txBody>
          <a:bodyPr/>
          <a:lstStyle/>
          <a:p>
            <a:r>
              <a:rPr lang="en-US" altLang="zh-CN" dirty="0"/>
              <a:t>Probabilistic	</a:t>
            </a:r>
            <a:r>
              <a:rPr lang="zh-CN" altLang="en-US" dirty="0"/>
              <a:t>概率采样</a:t>
            </a:r>
            <a:endParaRPr lang="en-US" altLang="zh-CN" dirty="0"/>
          </a:p>
          <a:p>
            <a:pPr lvl="1"/>
            <a:r>
              <a:rPr lang="en-US" altLang="zh-CN" dirty="0"/>
              <a:t>Simple random sampling	</a:t>
            </a:r>
            <a:r>
              <a:rPr lang="zh-CN" altLang="en-US" dirty="0"/>
              <a:t>平均采样</a:t>
            </a:r>
            <a:endParaRPr lang="en-US" altLang="zh-CN" dirty="0"/>
          </a:p>
          <a:p>
            <a:pPr lvl="1"/>
            <a:endParaRPr lang="en-US" altLang="zh-CN" dirty="0"/>
          </a:p>
          <a:p>
            <a:pPr lvl="1"/>
            <a:r>
              <a:rPr lang="en-US" altLang="zh-CN" dirty="0"/>
              <a:t>Systematic sampling		</a:t>
            </a:r>
            <a:r>
              <a:rPr lang="zh-CN" altLang="en-US" dirty="0"/>
              <a:t>系统采样</a:t>
            </a:r>
            <a:endParaRPr lang="en-US" altLang="zh-CN" dirty="0"/>
          </a:p>
          <a:p>
            <a:pPr lvl="2"/>
            <a:r>
              <a:rPr lang="zh-CN" altLang="en-US" dirty="0"/>
              <a:t>先定一个随机数，每隔一段采样</a:t>
            </a:r>
            <a:endParaRPr lang="en-US" altLang="zh-CN" dirty="0"/>
          </a:p>
          <a:p>
            <a:pPr lvl="3"/>
            <a:r>
              <a:rPr lang="zh-CN" altLang="en-US" dirty="0"/>
              <a:t>原先数据的排布，有可能会影响采样结果</a:t>
            </a:r>
            <a:endParaRPr lang="en-US" altLang="zh-CN" dirty="0"/>
          </a:p>
          <a:p>
            <a:pPr lvl="1"/>
            <a:endParaRPr lang="en-US" altLang="zh-CN" dirty="0"/>
          </a:p>
          <a:p>
            <a:pPr lvl="1"/>
            <a:r>
              <a:rPr lang="en-US" altLang="zh-CN" dirty="0"/>
              <a:t>Stratified sampling		</a:t>
            </a:r>
            <a:r>
              <a:rPr lang="zh-CN" altLang="en-US" dirty="0"/>
              <a:t>分层采样</a:t>
            </a:r>
            <a:endParaRPr lang="en-US" altLang="zh-CN" dirty="0"/>
          </a:p>
          <a:p>
            <a:pPr lvl="2"/>
            <a:r>
              <a:rPr lang="zh-CN" altLang="en-US" dirty="0"/>
              <a:t>先把数据分组（</a:t>
            </a:r>
            <a:r>
              <a:rPr lang="en-US" altLang="zh-CN" dirty="0"/>
              <a:t>strata</a:t>
            </a:r>
            <a:r>
              <a:rPr lang="zh-CN" altLang="en-US" dirty="0"/>
              <a:t>），每组中随机采样</a:t>
            </a:r>
            <a:endParaRPr lang="en-US" altLang="zh-CN" dirty="0"/>
          </a:p>
          <a:p>
            <a:pPr lvl="3"/>
            <a:r>
              <a:rPr lang="zh-CN" altLang="en-US" dirty="0"/>
              <a:t>年龄、性别、教育水平、地区、种类、价格</a:t>
            </a:r>
            <a:r>
              <a:rPr lang="en-US" altLang="zh-CN" dirty="0"/>
              <a:t>…</a:t>
            </a:r>
          </a:p>
          <a:p>
            <a:pPr lvl="1"/>
            <a:endParaRPr lang="en-US" altLang="zh-CN" dirty="0"/>
          </a:p>
          <a:p>
            <a:pPr lvl="1"/>
            <a:r>
              <a:rPr lang="en-US" altLang="zh-CN" dirty="0"/>
              <a:t>Cluster sampling		</a:t>
            </a:r>
            <a:r>
              <a:rPr lang="zh-CN" altLang="en-US" dirty="0"/>
              <a:t>分群采样</a:t>
            </a:r>
            <a:endParaRPr lang="en-US" altLang="zh-CN" dirty="0"/>
          </a:p>
          <a:p>
            <a:pPr lvl="2"/>
            <a:r>
              <a:rPr lang="zh-CN" altLang="en-US" dirty="0"/>
              <a:t>数据分群（</a:t>
            </a:r>
            <a:r>
              <a:rPr lang="en-US" altLang="zh-CN" dirty="0"/>
              <a:t>cluster</a:t>
            </a:r>
            <a:r>
              <a:rPr lang="zh-CN" altLang="en-US" dirty="0"/>
              <a:t>），分别随机采样</a:t>
            </a:r>
            <a:r>
              <a:rPr lang="zh-CN" altLang="en-US" sz="1200" dirty="0">
                <a:solidFill>
                  <a:schemeClr val="accent6"/>
                </a:solidFill>
              </a:rPr>
              <a:t>（与上类似）</a:t>
            </a:r>
            <a:endParaRPr lang="en-US" altLang="zh-CN" sz="1200" dirty="0">
              <a:solidFill>
                <a:schemeClr val="accent6"/>
              </a:solidFill>
            </a:endParaRPr>
          </a:p>
          <a:p>
            <a:pPr lvl="3"/>
            <a:r>
              <a:rPr lang="zh-CN" altLang="en-US" dirty="0"/>
              <a:t>分群方法，有可能会影响采样结果</a:t>
            </a:r>
            <a:endParaRPr lang="en-US" altLang="zh-CN" dirty="0"/>
          </a:p>
          <a:p>
            <a:pPr lvl="2"/>
            <a:endParaRPr lang="zh-CN" altLang="en-US" dirty="0"/>
          </a:p>
        </p:txBody>
      </p:sp>
      <p:sp>
        <p:nvSpPr>
          <p:cNvPr id="5" name="内容占位符 4">
            <a:extLst>
              <a:ext uri="{FF2B5EF4-FFF2-40B4-BE49-F238E27FC236}">
                <a16:creationId xmlns:a16="http://schemas.microsoft.com/office/drawing/2014/main" id="{2AA05972-4F9A-883D-C211-4A0189F01816}"/>
              </a:ext>
            </a:extLst>
          </p:cNvPr>
          <p:cNvSpPr>
            <a:spLocks noGrp="1"/>
          </p:cNvSpPr>
          <p:nvPr>
            <p:ph sz="half" idx="2"/>
          </p:nvPr>
        </p:nvSpPr>
        <p:spPr/>
        <p:txBody>
          <a:bodyPr/>
          <a:lstStyle/>
          <a:p>
            <a:r>
              <a:rPr lang="en-US" altLang="zh-CN" dirty="0"/>
              <a:t>Non-probabilistic		</a:t>
            </a:r>
            <a:r>
              <a:rPr lang="zh-CN" altLang="en-US" dirty="0"/>
              <a:t>非概率采样</a:t>
            </a:r>
            <a:endParaRPr lang="en-US" altLang="zh-CN" dirty="0"/>
          </a:p>
          <a:p>
            <a:pPr lvl="1"/>
            <a:r>
              <a:rPr lang="en-US" altLang="zh-CN" dirty="0"/>
              <a:t>Convenience sampling		</a:t>
            </a:r>
            <a:r>
              <a:rPr lang="zh-CN" altLang="en-US" dirty="0"/>
              <a:t>方便性原则采样</a:t>
            </a:r>
            <a:endParaRPr lang="en-US" altLang="zh-CN" dirty="0"/>
          </a:p>
          <a:p>
            <a:pPr lvl="2"/>
            <a:r>
              <a:rPr lang="zh-CN" altLang="en-US" dirty="0"/>
              <a:t>怎么方便怎么来</a:t>
            </a:r>
            <a:endParaRPr lang="en-US" altLang="zh-CN" dirty="0"/>
          </a:p>
          <a:p>
            <a:pPr lvl="3"/>
            <a:r>
              <a:rPr lang="zh-CN" altLang="en-US" dirty="0"/>
              <a:t>容易引入 </a:t>
            </a:r>
            <a:r>
              <a:rPr lang="en-US" altLang="zh-CN" dirty="0"/>
              <a:t>bias</a:t>
            </a:r>
          </a:p>
          <a:p>
            <a:pPr lvl="1"/>
            <a:endParaRPr lang="en-US" altLang="zh-CN" dirty="0"/>
          </a:p>
          <a:p>
            <a:pPr lvl="1"/>
            <a:r>
              <a:rPr lang="en-US" altLang="zh-CN" dirty="0"/>
              <a:t>Quota sampling		</a:t>
            </a:r>
            <a:r>
              <a:rPr lang="zh-CN" altLang="en-US" dirty="0"/>
              <a:t>配额采样</a:t>
            </a:r>
            <a:endParaRPr lang="en-US" altLang="zh-CN" dirty="0"/>
          </a:p>
          <a:p>
            <a:pPr lvl="2"/>
            <a:r>
              <a:rPr lang="zh-CN" altLang="en-US" dirty="0"/>
              <a:t>分组，每组给一定比例配额，组中随机抽样</a:t>
            </a:r>
            <a:endParaRPr lang="en-US" altLang="zh-CN" dirty="0"/>
          </a:p>
          <a:p>
            <a:pPr lvl="3"/>
            <a:r>
              <a:rPr lang="zh-CN" altLang="en-US" dirty="0"/>
              <a:t>分组方法，配额比例都会引入 </a:t>
            </a:r>
            <a:r>
              <a:rPr lang="en-US" altLang="zh-CN" dirty="0"/>
              <a:t>bias</a:t>
            </a:r>
          </a:p>
          <a:p>
            <a:pPr lvl="1"/>
            <a:endParaRPr lang="en-US" altLang="zh-CN" dirty="0"/>
          </a:p>
          <a:p>
            <a:pPr lvl="1"/>
            <a:r>
              <a:rPr lang="en-US" altLang="zh-CN" dirty="0"/>
              <a:t>Judgment sampling		</a:t>
            </a:r>
            <a:r>
              <a:rPr lang="zh-CN" altLang="en-US" dirty="0"/>
              <a:t>判断采样</a:t>
            </a:r>
            <a:endParaRPr lang="en-US" altLang="zh-CN" dirty="0"/>
          </a:p>
          <a:p>
            <a:pPr lvl="2"/>
            <a:r>
              <a:rPr lang="zh-CN" altLang="en-US" dirty="0"/>
              <a:t>先判断抽取对象</a:t>
            </a:r>
            <a:r>
              <a:rPr lang="zh-CN" altLang="en-US" sz="1200" dirty="0">
                <a:solidFill>
                  <a:schemeClr val="accent6"/>
                </a:solidFill>
              </a:rPr>
              <a:t>（如：职业</a:t>
            </a:r>
            <a:r>
              <a:rPr lang="en-US" altLang="zh-CN" sz="1200" dirty="0">
                <a:solidFill>
                  <a:schemeClr val="accent6"/>
                </a:solidFill>
              </a:rPr>
              <a:t>=</a:t>
            </a:r>
            <a:r>
              <a:rPr lang="zh-CN" altLang="en-US" sz="1200" dirty="0">
                <a:solidFill>
                  <a:schemeClr val="accent6"/>
                </a:solidFill>
              </a:rPr>
              <a:t>教授、记者</a:t>
            </a:r>
            <a:r>
              <a:rPr lang="en-US" altLang="zh-CN" sz="1200" dirty="0">
                <a:solidFill>
                  <a:schemeClr val="accent6"/>
                </a:solidFill>
              </a:rPr>
              <a:t>…</a:t>
            </a:r>
            <a:r>
              <a:rPr lang="zh-CN" altLang="en-US" sz="1200" dirty="0">
                <a:solidFill>
                  <a:schemeClr val="accent6"/>
                </a:solidFill>
              </a:rPr>
              <a:t>）</a:t>
            </a:r>
            <a:r>
              <a:rPr lang="zh-CN" altLang="en-US" dirty="0"/>
              <a:t>，再随机抽样</a:t>
            </a:r>
            <a:endParaRPr lang="en-US" altLang="zh-CN" dirty="0"/>
          </a:p>
          <a:p>
            <a:pPr lvl="3"/>
            <a:r>
              <a:rPr lang="zh-CN" altLang="en-US" dirty="0"/>
              <a:t>判断方法和结果，会引入 </a:t>
            </a:r>
            <a:r>
              <a:rPr lang="en-US" altLang="zh-CN" dirty="0"/>
              <a:t>bias</a:t>
            </a:r>
          </a:p>
          <a:p>
            <a:pPr lvl="1"/>
            <a:endParaRPr lang="en-US" altLang="zh-CN" dirty="0"/>
          </a:p>
          <a:p>
            <a:pPr lvl="1"/>
            <a:r>
              <a:rPr lang="en-US" altLang="zh-CN" dirty="0"/>
              <a:t>Snow sampling		</a:t>
            </a:r>
            <a:r>
              <a:rPr lang="zh-CN" altLang="en-US" dirty="0"/>
              <a:t>雪球采样</a:t>
            </a:r>
            <a:endParaRPr lang="en-US" altLang="zh-CN" dirty="0"/>
          </a:p>
          <a:p>
            <a:pPr lvl="2"/>
            <a:r>
              <a:rPr lang="zh-CN" altLang="en-US" dirty="0"/>
              <a:t>先少量采样，由它们推荐更多的采样点</a:t>
            </a:r>
            <a:endParaRPr lang="en-US" altLang="zh-CN" dirty="0"/>
          </a:p>
          <a:p>
            <a:pPr lvl="3"/>
            <a:r>
              <a:rPr lang="zh-CN" altLang="en-US" dirty="0"/>
              <a:t>初始样本点，样本空间的网络结构会影响采样结果</a:t>
            </a:r>
          </a:p>
        </p:txBody>
      </p:sp>
    </p:spTree>
    <p:extLst>
      <p:ext uri="{BB962C8B-B14F-4D97-AF65-F5344CB8AC3E}">
        <p14:creationId xmlns:p14="http://schemas.microsoft.com/office/powerpoint/2010/main" val="955718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61293CF-1026-D046-15E2-80EFE3402FDF}"/>
              </a:ext>
            </a:extLst>
          </p:cNvPr>
          <p:cNvSpPr>
            <a:spLocks noGrp="1"/>
          </p:cNvSpPr>
          <p:nvPr>
            <p:ph type="title"/>
          </p:nvPr>
        </p:nvSpPr>
        <p:spPr/>
        <p:txBody>
          <a:bodyPr/>
          <a:lstStyle/>
          <a:p>
            <a:r>
              <a:rPr lang="en-US" altLang="zh-CN" dirty="0"/>
              <a:t>Bias</a:t>
            </a:r>
            <a:endParaRPr lang="zh-CN" altLang="en-US" dirty="0"/>
          </a:p>
        </p:txBody>
      </p:sp>
      <p:sp>
        <p:nvSpPr>
          <p:cNvPr id="6" name="内容占位符 5">
            <a:extLst>
              <a:ext uri="{FF2B5EF4-FFF2-40B4-BE49-F238E27FC236}">
                <a16:creationId xmlns:a16="http://schemas.microsoft.com/office/drawing/2014/main" id="{7A45481D-8E8D-0C57-C4BD-F9FE3CF7F337}"/>
              </a:ext>
            </a:extLst>
          </p:cNvPr>
          <p:cNvSpPr>
            <a:spLocks noGrp="1"/>
          </p:cNvSpPr>
          <p:nvPr>
            <p:ph idx="1"/>
          </p:nvPr>
        </p:nvSpPr>
        <p:spPr/>
        <p:txBody>
          <a:bodyPr/>
          <a:lstStyle/>
          <a:p>
            <a:r>
              <a:rPr lang="en-US" altLang="zh-CN" dirty="0"/>
              <a:t>Sampling bias</a:t>
            </a:r>
          </a:p>
          <a:p>
            <a:endParaRPr lang="en-US" altLang="zh-CN" dirty="0"/>
          </a:p>
          <a:p>
            <a:r>
              <a:rPr lang="en-US" altLang="zh-CN" dirty="0"/>
              <a:t>Measurement bias</a:t>
            </a:r>
          </a:p>
          <a:p>
            <a:endParaRPr lang="en-US" altLang="zh-CN" dirty="0"/>
          </a:p>
          <a:p>
            <a:r>
              <a:rPr lang="en-US" altLang="zh-CN" dirty="0"/>
              <a:t>Response bias</a:t>
            </a:r>
          </a:p>
          <a:p>
            <a:endParaRPr lang="en-US" altLang="zh-CN" dirty="0"/>
          </a:p>
          <a:p>
            <a:r>
              <a:rPr lang="en-US" altLang="zh-CN" dirty="0"/>
              <a:t>Analysis bias</a:t>
            </a:r>
            <a:endParaRPr lang="zh-CN" altLang="en-US" dirty="0"/>
          </a:p>
        </p:txBody>
      </p:sp>
    </p:spTree>
    <p:extLst>
      <p:ext uri="{BB962C8B-B14F-4D97-AF65-F5344CB8AC3E}">
        <p14:creationId xmlns:p14="http://schemas.microsoft.com/office/powerpoint/2010/main" val="3876851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9E5E1-C1DD-CB67-BE07-988D9D0B2235}"/>
              </a:ext>
            </a:extLst>
          </p:cNvPr>
          <p:cNvSpPr>
            <a:spLocks noGrp="1"/>
          </p:cNvSpPr>
          <p:nvPr>
            <p:ph type="title"/>
          </p:nvPr>
        </p:nvSpPr>
        <p:spPr/>
        <p:txBody>
          <a:bodyPr/>
          <a:lstStyle/>
          <a:p>
            <a:r>
              <a:rPr lang="en-US" altLang="zh-CN" dirty="0"/>
              <a:t>Formula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8749C3E-B7EE-50A5-F740-8412092C1EC7}"/>
                  </a:ext>
                </a:extLst>
              </p:cNvPr>
              <p:cNvSpPr>
                <a:spLocks noGrp="1"/>
              </p:cNvSpPr>
              <p:nvPr>
                <p:ph idx="1"/>
              </p:nvPr>
            </p:nvSpPr>
            <p:spPr/>
            <p:txBody>
              <a:bodyPr/>
              <a:lstStyle/>
              <a:p>
                <a:r>
                  <a:rPr lang="en-US" altLang="zh-CN" dirty="0"/>
                  <a:t>Mean			</a:t>
                </a:r>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nary>
                          <m:naryPr>
                            <m:chr m:val="∑"/>
                            <m:subHide m:val="on"/>
                            <m:supHide m:val="on"/>
                            <m:ctrlPr>
                              <a:rPr lang="en-US" altLang="zh-CN" b="0" i="1" smtClean="0">
                                <a:latin typeface="Cambria Math" panose="02040503050406030204" pitchFamily="18" charset="0"/>
                              </a:rPr>
                            </m:ctrlPr>
                          </m:naryP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e>
                        </m:nary>
                      </m:num>
                      <m:den>
                        <m:r>
                          <a:rPr lang="en-US" altLang="zh-CN" b="0" i="1" smtClean="0">
                            <a:latin typeface="Cambria Math" panose="02040503050406030204" pitchFamily="18" charset="0"/>
                          </a:rPr>
                          <m:t>𝑛</m:t>
                        </m:r>
                      </m:den>
                    </m:f>
                  </m:oMath>
                </a14:m>
                <a:endParaRPr lang="en-US" altLang="zh-CN" dirty="0"/>
              </a:p>
              <a:p>
                <a:endParaRPr lang="en-US" altLang="zh-CN" dirty="0"/>
              </a:p>
              <a:p>
                <a:r>
                  <a:rPr lang="en-US" altLang="zh-CN" dirty="0"/>
                  <a:t>Sample variance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f>
                      <m:fPr>
                        <m:ctrlPr>
                          <a:rPr lang="en-US" altLang="zh-CN" i="1" smtClean="0">
                            <a:latin typeface="Cambria Math" panose="02040503050406030204" pitchFamily="18" charset="0"/>
                          </a:rPr>
                        </m:ctrlPr>
                      </m:fPr>
                      <m:num>
                        <m:nary>
                          <m:naryPr>
                            <m:chr m:val="∑"/>
                            <m:subHide m:val="on"/>
                            <m:supHide m:val="on"/>
                            <m:ctrlPr>
                              <a:rPr lang="en-US" altLang="zh-CN" i="1" smtClean="0">
                                <a:latin typeface="Cambria Math" panose="02040503050406030204" pitchFamily="18" charset="0"/>
                              </a:rPr>
                            </m:ctrlPr>
                          </m:naryPr>
                          <m:sub/>
                          <m:sup/>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d>
                              </m:e>
                              <m:sup>
                                <m:r>
                                  <a:rPr lang="en-US" altLang="zh-CN" b="0" i="1" smtClean="0">
                                    <a:latin typeface="Cambria Math" panose="02040503050406030204" pitchFamily="18" charset="0"/>
                                  </a:rPr>
                                  <m:t>2</m:t>
                                </m:r>
                              </m:sup>
                            </m:sSup>
                          </m:e>
                        </m:nary>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−1</m:t>
                        </m:r>
                      </m:den>
                    </m:f>
                  </m:oMath>
                </a14:m>
                <a:endParaRPr lang="en-US" altLang="zh-CN" dirty="0"/>
              </a:p>
              <a:p>
                <a:endParaRPr lang="en-US" altLang="zh-CN" dirty="0"/>
              </a:p>
              <a:p>
                <a:r>
                  <a:rPr lang="en-US" altLang="zh-CN" dirty="0"/>
                  <a:t>Standard deviation	</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f>
                          <m:fPr>
                            <m:ctrlPr>
                              <a:rPr lang="en-US" altLang="zh-CN" i="1">
                                <a:latin typeface="Cambria Math" panose="02040503050406030204" pitchFamily="18" charset="0"/>
                              </a:rPr>
                            </m:ctrlPr>
                          </m:fPr>
                          <m:num>
                            <m:nary>
                              <m:naryPr>
                                <m:chr m:val="∑"/>
                                <m:subHide m:val="on"/>
                                <m:supHide m:val="on"/>
                                <m:ctrlPr>
                                  <a:rPr lang="en-US" altLang="zh-CN" i="1">
                                    <a:latin typeface="Cambria Math" panose="02040503050406030204" pitchFamily="18" charset="0"/>
                                  </a:rPr>
                                </m:ctrlPr>
                              </m:naryPr>
                              <m:sub/>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d>
                                  </m:e>
                                  <m:sup>
                                    <m:r>
                                      <a:rPr lang="en-US" altLang="zh-CN" i="1">
                                        <a:latin typeface="Cambria Math" panose="02040503050406030204" pitchFamily="18" charset="0"/>
                                      </a:rPr>
                                      <m:t>2</m:t>
                                    </m:r>
                                  </m:sup>
                                </m:sSup>
                              </m:e>
                            </m:nary>
                          </m:num>
                          <m:den>
                            <m:r>
                              <a:rPr lang="en-US" altLang="zh-CN" i="1">
                                <a:latin typeface="Cambria Math" panose="02040503050406030204" pitchFamily="18" charset="0"/>
                              </a:rPr>
                              <m:t>𝑛</m:t>
                            </m:r>
                            <m:r>
                              <a:rPr lang="en-US" altLang="zh-CN" i="1">
                                <a:latin typeface="Cambria Math" panose="02040503050406030204" pitchFamily="18" charset="0"/>
                              </a:rPr>
                              <m:t>−1</m:t>
                            </m:r>
                          </m:den>
                        </m:f>
                      </m:e>
                    </m:rad>
                  </m:oMath>
                </a14:m>
                <a:endParaRPr lang="zh-CN" altLang="en-US" dirty="0"/>
              </a:p>
            </p:txBody>
          </p:sp>
        </mc:Choice>
        <mc:Fallback xmlns="">
          <p:sp>
            <p:nvSpPr>
              <p:cNvPr id="3" name="内容占位符 2">
                <a:extLst>
                  <a:ext uri="{FF2B5EF4-FFF2-40B4-BE49-F238E27FC236}">
                    <a16:creationId xmlns:a16="http://schemas.microsoft.com/office/drawing/2014/main" id="{58749C3E-B7EE-50A5-F740-8412092C1EC7}"/>
                  </a:ext>
                </a:extLst>
              </p:cNvPr>
              <p:cNvSpPr>
                <a:spLocks noGrp="1" noRot="1" noChangeAspect="1" noMove="1" noResize="1" noEditPoints="1" noAdjustHandles="1" noChangeArrowheads="1" noChangeShapeType="1" noTextEdit="1"/>
              </p:cNvSpPr>
              <p:nvPr>
                <p:ph idx="1"/>
              </p:nvPr>
            </p:nvSpPr>
            <p:spPr>
              <a:blipFill>
                <a:blip r:embed="rId2"/>
                <a:stretch>
                  <a:fillRect l="-211" t="-48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7476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35450-0B4E-2A03-9D04-59DE8C921FA9}"/>
              </a:ext>
            </a:extLst>
          </p:cNvPr>
          <p:cNvSpPr>
            <a:spLocks noGrp="1"/>
          </p:cNvSpPr>
          <p:nvPr>
            <p:ph type="title"/>
          </p:nvPr>
        </p:nvSpPr>
        <p:spPr/>
        <p:txBody>
          <a:bodyPr/>
          <a:lstStyle/>
          <a:p>
            <a:r>
              <a:rPr lang="en-US" altLang="zh-CN" dirty="0"/>
              <a:t>Excel macro</a:t>
            </a:r>
            <a:endParaRPr lang="zh-CN" altLang="en-US" dirty="0"/>
          </a:p>
        </p:txBody>
      </p:sp>
      <p:sp>
        <p:nvSpPr>
          <p:cNvPr id="3" name="内容占位符 2">
            <a:extLst>
              <a:ext uri="{FF2B5EF4-FFF2-40B4-BE49-F238E27FC236}">
                <a16:creationId xmlns:a16="http://schemas.microsoft.com/office/drawing/2014/main" id="{4C671B97-E21B-D2AD-5107-84F879B048BA}"/>
              </a:ext>
            </a:extLst>
          </p:cNvPr>
          <p:cNvSpPr>
            <a:spLocks noGrp="1"/>
          </p:cNvSpPr>
          <p:nvPr>
            <p:ph idx="1"/>
          </p:nvPr>
        </p:nvSpPr>
        <p:spPr/>
        <p:txBody>
          <a:bodyPr/>
          <a:lstStyle/>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=MAX(</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=MIN(</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=AVERAGE(</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=MEDIAN(</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r>
              <a:rPr lang="it-IT" altLang="zh-CN" dirty="0">
                <a:solidFill>
                  <a:srgbClr val="0070C0"/>
                </a:solidFill>
                <a:latin typeface="Cascadia Mono" panose="020B0609020000020004" pitchFamily="49" charset="0"/>
                <a:cs typeface="Cascadia Mono" panose="020B0609020000020004" pitchFamily="49" charset="0"/>
              </a:rPr>
              <a:t>=PERCENTILE(Data!Q:Q, 0.1)</a:t>
            </a:r>
          </a:p>
          <a:p>
            <a:pPr marL="346075" lvl="1" indent="0">
              <a:buNone/>
            </a:pPr>
            <a:r>
              <a:rPr lang="it-IT" altLang="zh-CN" dirty="0">
                <a:solidFill>
                  <a:srgbClr val="0070C0"/>
                </a:solidFill>
                <a:latin typeface="Cascadia Mono" panose="020B0609020000020004" pitchFamily="49" charset="0"/>
                <a:cs typeface="Cascadia Mono" panose="020B0609020000020004" pitchFamily="49" charset="0"/>
              </a:rPr>
              <a:t>=PERCENTILE(Data!Q:Q, 0.5)</a:t>
            </a:r>
          </a:p>
          <a:p>
            <a:pPr marL="346075" lvl="1" indent="0">
              <a:buNone/>
            </a:pPr>
            <a:r>
              <a:rPr lang="it-IT" altLang="zh-CN" dirty="0">
                <a:solidFill>
                  <a:srgbClr val="0070C0"/>
                </a:solidFill>
                <a:latin typeface="Cascadia Mono" panose="020B0609020000020004" pitchFamily="49" charset="0"/>
                <a:cs typeface="Cascadia Mono" panose="020B0609020000020004" pitchFamily="49" charset="0"/>
              </a:rPr>
              <a:t>=PERCENTILE(Data!Q:Q, 0.95)</a:t>
            </a:r>
          </a:p>
          <a:p>
            <a:pPr marL="346075" lvl="1"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=VAR(</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=STDEV(</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a:t>
            </a: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=SKEW(</a:t>
            </a:r>
            <a:r>
              <a:rPr lang="en-US" altLang="zh-CN" dirty="0" err="1">
                <a:solidFill>
                  <a:srgbClr val="0070C0"/>
                </a:solidFill>
                <a:latin typeface="Cascadia Mono" panose="020B0609020000020004" pitchFamily="49" charset="0"/>
                <a:cs typeface="Cascadia Mono" panose="020B0609020000020004" pitchFamily="49" charset="0"/>
              </a:rPr>
              <a:t>Data!Q:Q</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a:solidFill>
                  <a:srgbClr val="00B050"/>
                </a:solidFill>
                <a:latin typeface="Cascadia Mono" panose="020B0609020000020004" pitchFamily="49" charset="0"/>
                <a:cs typeface="Cascadia Mono" panose="020B0609020000020004" pitchFamily="49" charset="0"/>
              </a:rPr>
              <a:t># minimal: 0&lt;|stew|&lt;0.5, moderate: 0.5&lt;|stew|&lt;1, high: |stew|&gt;1</a:t>
            </a:r>
          </a:p>
          <a:p>
            <a:pPr marL="346075" lvl="1" indent="0">
              <a:buNone/>
            </a:pPr>
            <a:endParaRPr lang="pt-BR" altLang="zh-CN" dirty="0">
              <a:solidFill>
                <a:srgbClr val="0070C0"/>
              </a:solidFill>
              <a:latin typeface="Cascadia Mono" panose="020B0609020000020004" pitchFamily="49" charset="0"/>
              <a:cs typeface="Cascadia Mono" panose="020B0609020000020004" pitchFamily="49" charset="0"/>
            </a:endParaRPr>
          </a:p>
          <a:p>
            <a:pPr marL="346075" lvl="1" indent="0">
              <a:buNone/>
            </a:pPr>
            <a:r>
              <a:rPr lang="pt-BR" altLang="zh-CN" dirty="0">
                <a:solidFill>
                  <a:srgbClr val="0070C0"/>
                </a:solidFill>
                <a:latin typeface="Cascadia Mono" panose="020B0609020000020004" pitchFamily="49" charset="0"/>
                <a:cs typeface="Cascadia Mono" panose="020B0609020000020004" pitchFamily="49" charset="0"/>
              </a:rPr>
              <a:t>=CORREL(Data!Q:Q,Data!N:N)</a:t>
            </a:r>
            <a:endParaRPr lang="en-US" altLang="zh-CN" dirty="0">
              <a:solidFill>
                <a:srgbClr val="0070C0"/>
              </a:solidFill>
              <a:latin typeface="Cascadia Mono" panose="020B0609020000020004" pitchFamily="49" charset="0"/>
              <a:cs typeface="Cascadia Mono" panose="020B0609020000020004" pitchFamily="49" charset="0"/>
            </a:endParaRPr>
          </a:p>
          <a:p>
            <a:pPr marL="346075" lvl="1"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346075" lvl="1" indent="0">
              <a:buNone/>
            </a:pP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xlookup</a:t>
            </a:r>
            <a:r>
              <a:rPr lang="en-US" altLang="zh-CN" dirty="0">
                <a:solidFill>
                  <a:srgbClr val="0070C0"/>
                </a:solidFill>
                <a:latin typeface="Cascadia Mono" panose="020B0609020000020004" pitchFamily="49" charset="0"/>
                <a:cs typeface="Cascadia Mono" panose="020B0609020000020004" pitchFamily="49" charset="0"/>
              </a:rPr>
              <a:t>(A2:A, sheet1!A:A, sheet1!B:B)	</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lookup_value</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lookup_array</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return_array</a:t>
            </a:r>
            <a:endParaRPr lang="zh-CN" altLang="en-US" dirty="0">
              <a:solidFill>
                <a:srgbClr val="00B05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864020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0F54-820D-9914-068A-20999573B695}"/>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BAAB974-7119-1DDD-7D4E-09BF7AD750C4}"/>
              </a:ext>
            </a:extLst>
          </p:cNvPr>
          <p:cNvSpPr>
            <a:spLocks noGrp="1"/>
          </p:cNvSpPr>
          <p:nvPr>
            <p:ph type="title"/>
          </p:nvPr>
        </p:nvSpPr>
        <p:spPr/>
        <p:txBody>
          <a:bodyPr/>
          <a:lstStyle/>
          <a:p>
            <a:r>
              <a:rPr lang="en-US" altLang="zh-CN" dirty="0"/>
              <a:t>Module 2</a:t>
            </a:r>
            <a:endParaRPr lang="zh-CN" altLang="en-US" dirty="0"/>
          </a:p>
        </p:txBody>
      </p:sp>
      <p:sp>
        <p:nvSpPr>
          <p:cNvPr id="5" name="文本占位符 4">
            <a:extLst>
              <a:ext uri="{FF2B5EF4-FFF2-40B4-BE49-F238E27FC236}">
                <a16:creationId xmlns:a16="http://schemas.microsoft.com/office/drawing/2014/main" id="{C358405B-9E19-D366-C6C2-837B315576A8}"/>
              </a:ext>
            </a:extLst>
          </p:cNvPr>
          <p:cNvSpPr>
            <a:spLocks noGrp="1"/>
          </p:cNvSpPr>
          <p:nvPr>
            <p:ph type="body" idx="1"/>
          </p:nvPr>
        </p:nvSpPr>
        <p:spPr/>
        <p:txBody>
          <a:bodyPr/>
          <a:lstStyle/>
          <a:p>
            <a:r>
              <a:rPr lang="en-US" altLang="zh-CN" dirty="0"/>
              <a:t>Probability and simulation</a:t>
            </a:r>
            <a:endParaRPr lang="zh-CN" altLang="en-US" dirty="0"/>
          </a:p>
        </p:txBody>
      </p:sp>
    </p:spTree>
    <p:extLst>
      <p:ext uri="{BB962C8B-B14F-4D97-AF65-F5344CB8AC3E}">
        <p14:creationId xmlns:p14="http://schemas.microsoft.com/office/powerpoint/2010/main" val="865458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1783-B6C0-AB90-0151-897CA01F53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DB8D34-19A5-C9B4-C8CF-3CBE2084DAB7}"/>
              </a:ext>
            </a:extLst>
          </p:cNvPr>
          <p:cNvSpPr>
            <a:spLocks noGrp="1"/>
          </p:cNvSpPr>
          <p:nvPr>
            <p:ph type="title"/>
          </p:nvPr>
        </p:nvSpPr>
        <p:spPr/>
        <p:txBody>
          <a:bodyPr/>
          <a:lstStyle/>
          <a:p>
            <a:r>
              <a:rPr lang="en-US" altLang="zh-CN" dirty="0"/>
              <a:t>Terms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1108BD0-AB45-FCB1-A7CD-464910825993}"/>
                  </a:ext>
                </a:extLst>
              </p:cNvPr>
              <p:cNvSpPr>
                <a:spLocks noGrp="1"/>
              </p:cNvSpPr>
              <p:nvPr>
                <p:ph sz="half" idx="1"/>
              </p:nvPr>
            </p:nvSpPr>
            <p:spPr/>
            <p:txBody>
              <a:bodyPr/>
              <a:lstStyle/>
              <a:p>
                <a:r>
                  <a:rPr lang="en-US" altLang="zh-CN" b="1" dirty="0"/>
                  <a:t>Sample		</a:t>
                </a:r>
                <a:r>
                  <a:rPr lang="zh-CN" altLang="en-US" b="1" dirty="0"/>
                  <a:t>样本集</a:t>
                </a:r>
                <a:endParaRPr lang="en-US" altLang="zh-CN" b="1" dirty="0"/>
              </a:p>
              <a:p>
                <a:pPr lvl="1"/>
                <a:endParaRPr lang="en-US" altLang="zh-CN" dirty="0"/>
              </a:p>
              <a:p>
                <a:pPr lvl="1"/>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r>
                      <a:rPr lang="en-US" altLang="zh-CN" i="1">
                        <a:latin typeface="Cambria Math" panose="02040503050406030204" pitchFamily="18" charset="0"/>
                      </a:rPr>
                      <m:t>=</m:t>
                    </m:r>
                    <m:f>
                      <m:fPr>
                        <m:ctrlPr>
                          <a:rPr lang="en-US" altLang="zh-CN" i="1">
                            <a:latin typeface="Cambria Math" panose="02040503050406030204" pitchFamily="18" charset="0"/>
                          </a:rPr>
                        </m:ctrlPr>
                      </m:fPr>
                      <m:num>
                        <m:nary>
                          <m:naryPr>
                            <m:chr m:val="∑"/>
                            <m:subHide m:val="on"/>
                            <m:supHide m:val="on"/>
                            <m:ctrlPr>
                              <a:rPr lang="en-US" altLang="zh-CN" i="1">
                                <a:latin typeface="Cambria Math" panose="02040503050406030204" pitchFamily="18" charset="0"/>
                              </a:rPr>
                            </m:ctrlPr>
                          </m:naryP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num>
                      <m:den>
                        <m:r>
                          <a:rPr lang="en-US" altLang="zh-CN" i="1">
                            <a:latin typeface="Cambria Math" panose="02040503050406030204" pitchFamily="18" charset="0"/>
                          </a:rPr>
                          <m:t>𝑛</m:t>
                        </m:r>
                      </m:den>
                    </m:f>
                  </m:oMath>
                </a14:m>
                <a:r>
                  <a:rPr lang="en-US" altLang="zh-CN" dirty="0"/>
                  <a:t>	</a:t>
                </a:r>
                <a:r>
                  <a:rPr lang="zh-CN" altLang="en-US" dirty="0"/>
                  <a:t>采样平均</a:t>
                </a:r>
                <a:endParaRPr lang="en-US" altLang="zh-CN" sz="1200" dirty="0"/>
              </a:p>
              <a:p>
                <a:pPr lvl="1"/>
                <a:endParaRPr lang="en-US" altLang="zh-CN" i="1" dirty="0">
                  <a:latin typeface="Cambria Math" panose="02040503050406030204" pitchFamily="18" charset="0"/>
                </a:endParaRPr>
              </a:p>
              <a:p>
                <a:pPr lvl="1"/>
                <a14:m>
                  <m:oMath xmlns:m="http://schemas.openxmlformats.org/officeDocument/2006/math">
                    <m:r>
                      <a:rPr lang="en-US" altLang="zh-CN" i="1">
                        <a:latin typeface="Cambria Math" panose="02040503050406030204" pitchFamily="18" charset="0"/>
                      </a:rPr>
                      <m:t>𝑠</m:t>
                    </m:r>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f>
                          <m:fPr>
                            <m:ctrlPr>
                              <a:rPr lang="en-US" altLang="zh-CN" i="1">
                                <a:latin typeface="Cambria Math" panose="02040503050406030204" pitchFamily="18" charset="0"/>
                              </a:rPr>
                            </m:ctrlPr>
                          </m:fPr>
                          <m:num>
                            <m:nary>
                              <m:naryPr>
                                <m:chr m:val="∑"/>
                                <m:subHide m:val="on"/>
                                <m:supHide m:val="on"/>
                                <m:ctrlPr>
                                  <a:rPr lang="en-US" altLang="zh-CN" i="1">
                                    <a:latin typeface="Cambria Math" panose="02040503050406030204" pitchFamily="18" charset="0"/>
                                  </a:rPr>
                                </m:ctrlPr>
                              </m:naryPr>
                              <m:sub/>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d>
                                  </m:e>
                                  <m:sup>
                                    <m:r>
                                      <a:rPr lang="en-US" altLang="zh-CN" i="1">
                                        <a:latin typeface="Cambria Math" panose="02040503050406030204" pitchFamily="18" charset="0"/>
                                      </a:rPr>
                                      <m:t>2</m:t>
                                    </m:r>
                                  </m:sup>
                                </m:sSup>
                              </m:e>
                            </m:nary>
                          </m:num>
                          <m:den>
                            <m:r>
                              <a:rPr lang="en-US" altLang="zh-CN" i="1">
                                <a:latin typeface="Cambria Math" panose="02040503050406030204" pitchFamily="18" charset="0"/>
                              </a:rPr>
                              <m:t>𝑛</m:t>
                            </m:r>
                            <m:r>
                              <a:rPr lang="en-US" altLang="zh-CN" i="1">
                                <a:latin typeface="Cambria Math" panose="02040503050406030204" pitchFamily="18" charset="0"/>
                              </a:rPr>
                              <m:t>−1</m:t>
                            </m:r>
                          </m:den>
                        </m:f>
                      </m:e>
                    </m:rad>
                  </m:oMath>
                </a14:m>
                <a:r>
                  <a:rPr lang="en-US" altLang="zh-CN" dirty="0"/>
                  <a:t>	</a:t>
                </a:r>
                <a:r>
                  <a:rPr lang="zh-CN" altLang="en-US" dirty="0"/>
                  <a:t>采样标准方差</a:t>
                </a:r>
                <a:endParaRPr lang="en-US" altLang="zh-CN" dirty="0"/>
              </a:p>
              <a:p>
                <a:pPr lvl="1"/>
                <a:endParaRPr lang="en-US" altLang="zh-CN" i="1" dirty="0">
                  <a:latin typeface="Cambria Math" panose="02040503050406030204" pitchFamily="18" charset="0"/>
                  <a:ea typeface="Cambria Math" panose="02040503050406030204" pitchFamily="18" charset="0"/>
                </a:endParaRPr>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en-US" altLang="zh-CN" dirty="0"/>
                  <a:t>	</a:t>
                </a:r>
                <a:r>
                  <a:rPr lang="zh-CN" altLang="en-US" dirty="0"/>
                  <a:t>采样数量</a:t>
                </a:r>
                <a:endParaRPr lang="en-US" altLang="zh-CN" dirty="0"/>
              </a:p>
              <a:p>
                <a:pPr lvl="1"/>
                <a:endParaRPr lang="en-US" altLang="zh-CN" i="1" dirty="0">
                  <a:latin typeface="Cambria Math" panose="02040503050406030204" pitchFamily="18" charset="0"/>
                  <a:ea typeface="Cambria Math" panose="02040503050406030204" pitchFamily="18" charset="0"/>
                </a:endParaRPr>
              </a:p>
              <a:p>
                <a:pPr marL="509588" marR="0" lvl="1" indent="-163513"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Char char="◦"/>
                  <a:tabLst/>
                  <a:defRPr/>
                </a:pPr>
                <a14:m>
                  <m:oMath xmlns:m="http://schemas.openxmlformats.org/officeDocument/2006/math">
                    <m:r>
                      <a:rPr kumimoji="0" lang="en-US" altLang="zh-CN" sz="16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t>𝑆𝐸</m:t>
                    </m:r>
                    <m:r>
                      <a:rPr kumimoji="0" lang="en-US" altLang="zh-CN" sz="16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t>=</m:t>
                    </m:r>
                    <m:f>
                      <m:fPr>
                        <m:ctrlPr>
                          <a:rPr kumimoji="0" lang="en-US" altLang="zh-CN" sz="16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t>𝑠</m:t>
                        </m:r>
                      </m:num>
                      <m:den>
                        <m:rad>
                          <m:radPr>
                            <m:degHide m:val="on"/>
                            <m:ctrlPr>
                              <a:rPr kumimoji="0" lang="en-US" altLang="zh-CN" sz="16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radPr>
                          <m:deg/>
                          <m:e>
                            <m:r>
                              <a:rPr kumimoji="0" lang="en-US" altLang="zh-CN" sz="1600" b="0" i="1" u="none" strike="noStrike" kern="1200" cap="none" spc="0" normalizeH="0" baseline="0" noProof="0" dirty="0">
                                <a:ln>
                                  <a:noFill/>
                                </a:ln>
                                <a:solidFill>
                                  <a:srgbClr val="000000"/>
                                </a:solidFill>
                                <a:effectLst/>
                                <a:uLnTx/>
                                <a:uFillTx/>
                                <a:latin typeface="Cambria Math" panose="02040503050406030204" pitchFamily="18" charset="0"/>
                                <a:cs typeface="+mn-cs"/>
                              </a:rPr>
                              <m:t>𝑛</m:t>
                            </m:r>
                          </m:e>
                        </m:rad>
                      </m:den>
                    </m:f>
                  </m:oMath>
                </a14:m>
                <a:r>
                  <a:rPr kumimoji="0" lang="en-US" altLang="zh-CN" sz="1600" b="0" i="0" u="none" strike="noStrike" kern="1200" cap="none" spc="0" normalizeH="0" baseline="0" noProof="0" dirty="0">
                    <a:ln>
                      <a:noFill/>
                    </a:ln>
                    <a:solidFill>
                      <a:srgbClr val="000000"/>
                    </a:solidFill>
                    <a:effectLst/>
                    <a:uLnTx/>
                    <a:uFillTx/>
                    <a:latin typeface="Arial"/>
                    <a:ea typeface="微软雅黑"/>
                    <a:cs typeface="+mn-cs"/>
                  </a:rPr>
                  <a:t>	</a:t>
                </a:r>
                <a:r>
                  <a:rPr kumimoji="0" lang="en-US" altLang="zh-CN" sz="1200" b="0" i="0" u="none" strike="noStrike" kern="1200" cap="none" spc="0" normalizeH="0" baseline="0" noProof="0" dirty="0">
                    <a:ln>
                      <a:noFill/>
                    </a:ln>
                    <a:solidFill>
                      <a:srgbClr val="009691"/>
                    </a:solidFill>
                    <a:effectLst/>
                    <a:uLnTx/>
                    <a:uFillTx/>
                    <a:latin typeface="Arial"/>
                    <a:ea typeface="微软雅黑"/>
                    <a:cs typeface="+mn-cs"/>
                  </a:rPr>
                  <a:t>Standard Error</a:t>
                </a:r>
                <a:r>
                  <a:rPr kumimoji="0" lang="zh-CN" altLang="en-US" sz="1200" b="0" i="0" u="none" strike="noStrike" kern="1200" cap="none" spc="0" normalizeH="0" baseline="0" noProof="0" dirty="0">
                    <a:ln>
                      <a:noFill/>
                    </a:ln>
                    <a:solidFill>
                      <a:srgbClr val="009691"/>
                    </a:solidFill>
                    <a:effectLst/>
                    <a:uLnTx/>
                    <a:uFillTx/>
                    <a:latin typeface="Arial"/>
                    <a:ea typeface="微软雅黑"/>
                    <a:cs typeface="+mn-cs"/>
                  </a:rPr>
                  <a:t>，标准差</a:t>
                </a:r>
                <a:endParaRPr kumimoji="0" lang="en-US" altLang="zh-CN" sz="1400" b="0" i="0" u="none" strike="noStrike" kern="1200" cap="none" spc="0" normalizeH="0" baseline="0" noProof="0" dirty="0">
                  <a:ln>
                    <a:noFill/>
                  </a:ln>
                  <a:solidFill>
                    <a:srgbClr val="009691"/>
                  </a:solidFill>
                  <a:effectLst/>
                  <a:uLnTx/>
                  <a:uFillTx/>
                  <a:latin typeface="Arial"/>
                  <a:ea typeface="微软雅黑"/>
                  <a:cs typeface="+mn-cs"/>
                </a:endParaRPr>
              </a:p>
              <a:p>
                <a:pPr marL="509588" marR="0" lvl="1" indent="-163513"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Char char="◦"/>
                  <a:tabLst/>
                  <a:defRPr/>
                </a:pPr>
                <a:endParaRPr kumimoji="0" lang="en-US" altLang="zh-CN" sz="1600" b="0" i="0" u="none" strike="noStrike" kern="1200" cap="none" spc="0" normalizeH="0" baseline="0" noProof="0" dirty="0">
                  <a:ln>
                    <a:noFill/>
                  </a:ln>
                  <a:solidFill>
                    <a:srgbClr val="009691"/>
                  </a:solidFill>
                  <a:effectLst/>
                  <a:uLnTx/>
                  <a:uFillTx/>
                  <a:latin typeface="Arial"/>
                  <a:ea typeface="微软雅黑"/>
                  <a:cs typeface="+mn-cs"/>
                </a:endParaRPr>
              </a:p>
              <a:p>
                <a:pPr lvl="1"/>
                <a14:m>
                  <m:oMath xmlns:m="http://schemas.openxmlformats.org/officeDocument/2006/math">
                    <m:r>
                      <a:rPr lang="en-US" altLang="zh-CN" i="1" dirty="0" smtClean="0">
                        <a:latin typeface="Cambria Math" panose="02040503050406030204" pitchFamily="18" charset="0"/>
                      </a:rPr>
                      <m:t>𝑧</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𝑥</m:t>
                            </m:r>
                          </m:e>
                        </m:acc>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𝜇</m:t>
                        </m:r>
                      </m:num>
                      <m:den>
                        <m:r>
                          <a:rPr lang="en-US" altLang="zh-CN" b="0" i="1" dirty="0" smtClean="0">
                            <a:latin typeface="Cambria Math" panose="02040503050406030204" pitchFamily="18" charset="0"/>
                          </a:rPr>
                          <m:t>𝑆𝐸</m:t>
                        </m:r>
                      </m:den>
                    </m:f>
                  </m:oMath>
                </a14:m>
                <a:r>
                  <a:rPr lang="en-US" altLang="zh-CN" dirty="0"/>
                  <a:t>	</a:t>
                </a:r>
                <a:r>
                  <a:rPr lang="zh-CN" altLang="en-US" sz="1200" dirty="0">
                    <a:solidFill>
                      <a:schemeClr val="accent6"/>
                    </a:solidFill>
                  </a:rPr>
                  <a:t>采样均值的估算</a:t>
                </a:r>
                <a:r>
                  <a:rPr lang="en-US" altLang="zh-CN" sz="1200" dirty="0">
                    <a:solidFill>
                      <a:schemeClr val="accent6"/>
                    </a:solidFill>
                  </a:rPr>
                  <a:t> z-score, </a:t>
                </a:r>
                <a:r>
                  <a:rPr lang="zh-CN" altLang="en-US" sz="1200" dirty="0">
                    <a:solidFill>
                      <a:schemeClr val="accent6"/>
                    </a:solidFill>
                  </a:rPr>
                  <a:t>以 </a:t>
                </a:r>
                <a14:m>
                  <m:oMath xmlns:m="http://schemas.openxmlformats.org/officeDocument/2006/math">
                    <m:r>
                      <a:rPr lang="en-US" altLang="zh-CN" sz="1200" b="0" i="1" smtClean="0">
                        <a:solidFill>
                          <a:schemeClr val="accent6"/>
                        </a:solidFill>
                        <a:latin typeface="Cambria Math" panose="02040503050406030204" pitchFamily="18" charset="0"/>
                        <a:ea typeface="Cambria Math" panose="02040503050406030204" pitchFamily="18" charset="0"/>
                      </a:rPr>
                      <m:t>𝑆𝐸</m:t>
                    </m:r>
                  </m:oMath>
                </a14:m>
                <a:r>
                  <a:rPr lang="en-US" altLang="zh-CN" sz="1200" dirty="0">
                    <a:solidFill>
                      <a:schemeClr val="accent6"/>
                    </a:solidFill>
                  </a:rPr>
                  <a:t> </a:t>
                </a:r>
                <a:r>
                  <a:rPr lang="zh-CN" altLang="en-US" sz="1200" dirty="0">
                    <a:solidFill>
                      <a:schemeClr val="accent6"/>
                    </a:solidFill>
                  </a:rPr>
                  <a:t>为单位</a:t>
                </a:r>
                <a:endParaRPr lang="en-US" altLang="zh-CN" sz="1200" dirty="0">
                  <a:solidFill>
                    <a:schemeClr val="accent6"/>
                  </a:solidFill>
                </a:endParaRPr>
              </a:p>
              <a:p>
                <a:pPr lvl="1"/>
                <a:endParaRPr lang="en-US" altLang="zh-CN" sz="1200" dirty="0">
                  <a:solidFill>
                    <a:schemeClr val="accent6"/>
                  </a:solidFill>
                </a:endParaRPr>
              </a:p>
              <a:p>
                <a:pPr lvl="1"/>
                <a14:m>
                  <m:oMath xmlns:m="http://schemas.openxmlformats.org/officeDocument/2006/math">
                    <m:r>
                      <a:rPr lang="en-US" altLang="zh-CN" sz="1200" b="0" i="1" dirty="0" smtClean="0">
                        <a:latin typeface="Cambria Math" panose="02040503050406030204" pitchFamily="18" charset="0"/>
                      </a:rPr>
                      <m:t>𝑝</m:t>
                    </m:r>
                  </m:oMath>
                </a14:m>
                <a:r>
                  <a:rPr lang="en-US" altLang="zh-CN" sz="1200" dirty="0"/>
                  <a:t>		</a:t>
                </a:r>
                <a:r>
                  <a:rPr lang="en-US" altLang="zh-CN" sz="1200" dirty="0">
                    <a:solidFill>
                      <a:schemeClr val="accent6"/>
                    </a:solidFill>
                  </a:rPr>
                  <a:t>CDF </a:t>
                </a:r>
                <a:r>
                  <a:rPr lang="zh-CN" altLang="en-US" sz="1200" dirty="0">
                    <a:solidFill>
                      <a:schemeClr val="accent6"/>
                    </a:solidFill>
                  </a:rPr>
                  <a:t>概率</a:t>
                </a:r>
                <a:endParaRPr lang="en-US" altLang="zh-CN" sz="1200" dirty="0">
                  <a:solidFill>
                    <a:schemeClr val="accent6"/>
                  </a:solidFill>
                </a:endParaRPr>
              </a:p>
              <a:p>
                <a:pPr marL="682625" lvl="2" indent="0">
                  <a:buNone/>
                </a:pPr>
                <a:r>
                  <a:rPr lang="en-US" altLang="zh-CN" sz="1200" dirty="0">
                    <a:solidFill>
                      <a:srgbClr val="0070C0"/>
                    </a:solidFill>
                    <a:latin typeface="Cascadia Mono" panose="020B0609020000020004" pitchFamily="49" charset="0"/>
                    <a:cs typeface="Cascadia Mono" panose="020B0609020000020004" pitchFamily="49" charset="0"/>
                  </a:rPr>
                  <a:t>1 - NORM.S.DIST(G3, 1)	# z-score, CDF=True</a:t>
                </a:r>
                <a:endParaRPr lang="zh-CN" altLang="en-US" sz="1200" dirty="0">
                  <a:solidFill>
                    <a:srgbClr val="0070C0"/>
                  </a:solidFill>
                  <a:latin typeface="Cascadia Mono" panose="020B0609020000020004" pitchFamily="49" charset="0"/>
                  <a:cs typeface="Cascadia Mono" panose="020B0609020000020004" pitchFamily="49" charset="0"/>
                </a:endParaRPr>
              </a:p>
              <a:p>
                <a:pPr lvl="2"/>
                <a:endParaRPr lang="zh-CN" altLang="en-US" sz="1200" dirty="0"/>
              </a:p>
            </p:txBody>
          </p:sp>
        </mc:Choice>
        <mc:Fallback xmlns="">
          <p:sp>
            <p:nvSpPr>
              <p:cNvPr id="3" name="内容占位符 2">
                <a:extLst>
                  <a:ext uri="{FF2B5EF4-FFF2-40B4-BE49-F238E27FC236}">
                    <a16:creationId xmlns:a16="http://schemas.microsoft.com/office/drawing/2014/main" id="{F1108BD0-AB45-FCB1-A7CD-464910825993}"/>
                  </a:ext>
                </a:extLst>
              </p:cNvPr>
              <p:cNvSpPr>
                <a:spLocks noGrp="1" noRot="1" noChangeAspect="1" noMove="1" noResize="1" noEditPoints="1" noAdjustHandles="1" noChangeArrowheads="1" noChangeShapeType="1" noTextEdit="1"/>
              </p:cNvSpPr>
              <p:nvPr>
                <p:ph sz="half" idx="1"/>
              </p:nvPr>
            </p:nvSpPr>
            <p:spPr>
              <a:blipFill>
                <a:blip r:embed="rId2"/>
                <a:stretch>
                  <a:fillRect l="-429" t="-3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0772E103-03DB-F0AD-FFEC-F4F206B62F9F}"/>
                  </a:ext>
                </a:extLst>
              </p:cNvPr>
              <p:cNvSpPr>
                <a:spLocks noGrp="1"/>
              </p:cNvSpPr>
              <p:nvPr>
                <p:ph sz="half" idx="2"/>
              </p:nvPr>
            </p:nvSpPr>
            <p:spPr>
              <a:xfrm>
                <a:off x="4876800" y="996779"/>
                <a:ext cx="6949017" cy="5357986"/>
              </a:xfrm>
            </p:spPr>
            <p:txBody>
              <a:bodyPr/>
              <a:lstStyle/>
              <a:p>
                <a:r>
                  <a:rPr lang="en-US" altLang="zh-CN" b="1" dirty="0"/>
                  <a:t>Population	</a:t>
                </a:r>
                <a:r>
                  <a:rPr lang="zh-CN" altLang="en-US" b="1" dirty="0"/>
                  <a:t>全集</a:t>
                </a:r>
                <a:endParaRPr lang="en-US" altLang="zh-CN" b="1" dirty="0"/>
              </a:p>
              <a:p>
                <a:pPr lvl="1"/>
                <a:endParaRPr lang="en-US" altLang="zh-CN" dirty="0"/>
              </a:p>
              <a:p>
                <a:pPr lvl="1"/>
                <a:r>
                  <a:rPr lang="zh-CN" altLang="en-US" dirty="0"/>
                  <a:t>连续集</a:t>
                </a:r>
                <a:endParaRPr lang="en-US" altLang="zh-CN" dirty="0"/>
              </a:p>
              <a:p>
                <a:pPr lvl="2"/>
                <a14:m>
                  <m:oMath xmlns:m="http://schemas.openxmlformats.org/officeDocument/2006/math">
                    <m:r>
                      <a:rPr lang="zh-CN" altLang="en-US" i="1" smtClean="0">
                        <a:latin typeface="Cambria Math" panose="02040503050406030204" pitchFamily="18" charset="0"/>
                      </a:rPr>
                      <m:t>𝜇</m:t>
                    </m:r>
                    <m:r>
                      <a:rPr lang="en-US" altLang="zh-CN" b="0" i="1" smtClean="0">
                        <a:latin typeface="Cambria Math" panose="02040503050406030204" pitchFamily="18" charset="0"/>
                      </a:rPr>
                      <m:t>=</m:t>
                    </m:r>
                    <m:r>
                      <a:rPr lang="zh-CN" altLang="en-US" b="0" i="1" smtClean="0">
                        <a:latin typeface="Cambria Math" panose="02040503050406030204" pitchFamily="18" charset="0"/>
                      </a:rPr>
                      <m:t>𝔼</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ub>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up>
                      <m:e>
                        <m:r>
                          <a:rPr lang="en-US" altLang="zh-CN" b="0" i="1" smtClean="0">
                            <a:latin typeface="Cambria Math" panose="02040503050406030204" pitchFamily="18" charset="0"/>
                          </a:rPr>
                          <m:t>𝑥𝑓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e>
                    </m:nary>
                    <m:r>
                      <a:rPr lang="en-US" altLang="zh-CN" b="0" i="1" smtClean="0">
                        <a:latin typeface="Cambria Math" panose="02040503050406030204" pitchFamily="18" charset="0"/>
                      </a:rPr>
                      <m:t>𝑑𝑥</m:t>
                    </m:r>
                  </m:oMath>
                </a14:m>
                <a:endParaRPr lang="en-US" altLang="zh-CN" dirty="0"/>
              </a:p>
              <a:p>
                <a:pPr lvl="2"/>
                <a14:m>
                  <m:oMath xmlns:m="http://schemas.openxmlformats.org/officeDocument/2006/math">
                    <m:r>
                      <a:rPr lang="zh-CN" altLang="en-US" i="1" smtClean="0">
                        <a:latin typeface="Cambria Math" panose="02040503050406030204" pitchFamily="18" charset="0"/>
                      </a:rPr>
                      <m:t>𝜎</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zh-CN" altLang="en-US" i="1">
                            <a:latin typeface="Cambria Math" panose="02040503050406030204" pitchFamily="18" charset="0"/>
                          </a:rPr>
                          <m:t>𝔼</m:t>
                        </m:r>
                        <m:d>
                          <m:dPr>
                            <m:begChr m:val="["/>
                            <m:endChr m:val="]"/>
                            <m:ctrlPr>
                              <a:rPr lang="en-US" altLang="zh-CN" i="1">
                                <a:latin typeface="Cambria Math" panose="02040503050406030204" pitchFamily="18" charset="0"/>
                              </a:rPr>
                            </m:ctrlPr>
                          </m:dPr>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e>
                                </m:d>
                              </m:e>
                              <m:sup>
                                <m:r>
                                  <a:rPr lang="en-US" altLang="zh-CN" b="0" i="1" smtClean="0">
                                    <a:latin typeface="Cambria Math" panose="02040503050406030204" pitchFamily="18" charset="0"/>
                                  </a:rPr>
                                  <m:t>2</m:t>
                                </m:r>
                              </m:sup>
                            </m:sSup>
                          </m:e>
                        </m:d>
                      </m:e>
                    </m:ra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sub>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sup>
                          <m:e>
                            <m:sSup>
                              <m:sSupPr>
                                <m:ctrlPr>
                                  <a:rPr lang="en-US" altLang="zh-CN" i="1" smtClean="0">
                                    <a:latin typeface="Cambria Math" panose="02040503050406030204" pitchFamily="18" charset="0"/>
                                    <a:ea typeface="Cambria Math" panose="02040503050406030204" pitchFamily="18" charset="0"/>
                                  </a:rPr>
                                </m:ctrlPr>
                              </m:sSupPr>
                              <m:e>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𝜇</m:t>
                                    </m:r>
                                  </m:e>
                                </m:d>
                              </m:e>
                              <m:sup>
                                <m:r>
                                  <a:rPr lang="en-US" altLang="zh-CN" b="0" i="1" smtClean="0">
                                    <a:latin typeface="Cambria Math" panose="02040503050406030204" pitchFamily="18" charset="0"/>
                                    <a:ea typeface="Cambria Math" panose="02040503050406030204" pitchFamily="18" charset="0"/>
                                  </a:rPr>
                                  <m:t>2</m:t>
                                </m:r>
                              </m:sup>
                            </m:sSup>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e>
                            </m:d>
                          </m:e>
                        </m:nary>
                        <m:r>
                          <a:rPr lang="en-US" altLang="zh-CN" i="1">
                            <a:latin typeface="Cambria Math" panose="02040503050406030204" pitchFamily="18" charset="0"/>
                          </a:rPr>
                          <m:t>𝑑𝑥</m:t>
                        </m:r>
                      </m:e>
                    </m:ra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zh-CN" altLang="en-US" i="1">
                            <a:latin typeface="Cambria Math" panose="02040503050406030204" pitchFamily="18" charset="0"/>
                          </a:rPr>
                          <m:t>𝔼</m:t>
                        </m:r>
                        <m:d>
                          <m:dPr>
                            <m:begChr m:val="["/>
                            <m:endChr m:val="]"/>
                            <m:ctrlPr>
                              <a:rPr lang="en-US" altLang="zh-CN" i="1">
                                <a:latin typeface="Cambria Math" panose="02040503050406030204" pitchFamily="18" charset="0"/>
                              </a:rPr>
                            </m:ctrlPr>
                          </m:dPr>
                          <m:e>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𝑋</m:t>
                                </m:r>
                              </m:e>
                              <m:sup>
                                <m:r>
                                  <a:rPr lang="en-US" altLang="zh-CN" b="0" i="1" smtClean="0">
                                    <a:latin typeface="Cambria Math" panose="02040503050406030204" pitchFamily="18" charset="0"/>
                                  </a:rPr>
                                  <m:t>2</m:t>
                                </m:r>
                              </m:sup>
                            </m:sSup>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zh-CN" altLang="en-US" i="1">
                                    <a:latin typeface="Cambria Math" panose="02040503050406030204" pitchFamily="18" charset="0"/>
                                  </a:rPr>
                                  <m:t>𝔼</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𝑋</m:t>
                                    </m:r>
                                  </m:e>
                                </m:d>
                              </m:e>
                            </m:d>
                          </m:e>
                          <m:sup>
                            <m:r>
                              <a:rPr lang="en-US" altLang="zh-CN" b="0" i="1" smtClean="0">
                                <a:latin typeface="Cambria Math" panose="02040503050406030204" pitchFamily="18" charset="0"/>
                              </a:rPr>
                              <m:t>2</m:t>
                            </m:r>
                          </m:sup>
                        </m:sSup>
                      </m:e>
                    </m:rad>
                  </m:oMath>
                </a14:m>
                <a:endParaRPr lang="en-US" altLang="zh-CN" dirty="0"/>
              </a:p>
              <a:p>
                <a:pPr lvl="1"/>
                <a:endParaRPr lang="en-US" altLang="zh-CN" dirty="0"/>
              </a:p>
              <a:p>
                <a:pPr lvl="1"/>
                <a:r>
                  <a:rPr lang="zh-CN" altLang="en-US" dirty="0"/>
                  <a:t>离散集</a:t>
                </a:r>
                <a:endParaRPr lang="en-US" altLang="zh-CN" dirty="0"/>
              </a:p>
              <a:p>
                <a:pPr lvl="2"/>
                <a14:m>
                  <m:oMath xmlns:m="http://schemas.openxmlformats.org/officeDocument/2006/math">
                    <m:r>
                      <a:rPr lang="zh-CN" altLang="en-US" i="1">
                        <a:latin typeface="Cambria Math" panose="02040503050406030204" pitchFamily="18" charset="0"/>
                      </a:rPr>
                      <m:t>𝜇</m:t>
                    </m:r>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nary>
                          <m:naryPr>
                            <m:chr m:val="∑"/>
                            <m:subHide m:val="on"/>
                            <m:supHide m:val="on"/>
                            <m:ctrlPr>
                              <a:rPr lang="en-US" altLang="zh-CN" i="1">
                                <a:latin typeface="Cambria Math" panose="02040503050406030204" pitchFamily="18" charset="0"/>
                              </a:rPr>
                            </m:ctrlPr>
                          </m:naryP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num>
                      <m:den>
                        <m:r>
                          <a:rPr lang="en-US" altLang="zh-CN" b="0" i="1" smtClean="0">
                            <a:latin typeface="Cambria Math" panose="02040503050406030204" pitchFamily="18" charset="0"/>
                          </a:rPr>
                          <m:t>𝑁</m:t>
                        </m:r>
                      </m:den>
                    </m:f>
                  </m:oMath>
                </a14:m>
                <a:r>
                  <a:rPr lang="en-US" altLang="zh-CN" dirty="0"/>
                  <a:t>		</a:t>
                </a:r>
                <a14:m>
                  <m:oMath xmlns:m="http://schemas.openxmlformats.org/officeDocument/2006/math">
                    <m:r>
                      <a:rPr lang="zh-CN" altLang="en-US" i="1">
                        <a:latin typeface="Cambria Math" panose="02040503050406030204" pitchFamily="18" charset="0"/>
                      </a:rPr>
                      <m:t>𝜎</m:t>
                    </m:r>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f>
                          <m:fPr>
                            <m:ctrlPr>
                              <a:rPr lang="en-US" altLang="zh-CN" i="1" smtClean="0">
                                <a:latin typeface="Cambria Math" panose="02040503050406030204" pitchFamily="18" charset="0"/>
                              </a:rPr>
                            </m:ctrlPr>
                          </m:fPr>
                          <m:num>
                            <m:nary>
                              <m:naryPr>
                                <m:chr m:val="∑"/>
                                <m:subHide m:val="on"/>
                                <m:supHide m:val="on"/>
                                <m:ctrlPr>
                                  <a:rPr lang="en-US" altLang="zh-CN" i="1">
                                    <a:latin typeface="Cambria Math" panose="02040503050406030204" pitchFamily="18" charset="0"/>
                                  </a:rPr>
                                </m:ctrlPr>
                              </m:naryPr>
                              <m:sub/>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zh-CN" altLang="en-US" i="1">
                                            <a:latin typeface="Cambria Math" panose="02040503050406030204" pitchFamily="18" charset="0"/>
                                          </a:rPr>
                                          <m:t>𝜇</m:t>
                                        </m:r>
                                      </m:e>
                                    </m:d>
                                  </m:e>
                                  <m:sup>
                                    <m:r>
                                      <a:rPr lang="en-US" altLang="zh-CN" i="1">
                                        <a:latin typeface="Cambria Math" panose="02040503050406030204" pitchFamily="18" charset="0"/>
                                      </a:rPr>
                                      <m:t>2</m:t>
                                    </m:r>
                                  </m:sup>
                                </m:sSup>
                              </m:e>
                            </m:nary>
                          </m:num>
                          <m:den>
                            <m:r>
                              <a:rPr lang="en-US" altLang="zh-CN" b="0" i="1" smtClean="0">
                                <a:latin typeface="Cambria Math" panose="02040503050406030204" pitchFamily="18" charset="0"/>
                              </a:rPr>
                              <m:t>𝑁</m:t>
                            </m:r>
                          </m:den>
                        </m:f>
                      </m:e>
                    </m:rad>
                  </m:oMath>
                </a14:m>
                <a:r>
                  <a:rPr lang="en-US" altLang="zh-CN" dirty="0"/>
                  <a:t>		</a:t>
                </a:r>
                <a:r>
                  <a:rPr lang="zh-CN" altLang="en-US" sz="1200" dirty="0">
                    <a:solidFill>
                      <a:schemeClr val="accent6"/>
                    </a:solidFill>
                  </a:rPr>
                  <a:t>等概率</a:t>
                </a:r>
                <a:endParaRPr lang="en-US" altLang="zh-CN" sz="1400" dirty="0">
                  <a:solidFill>
                    <a:schemeClr val="accent6"/>
                  </a:solidFill>
                </a:endParaRPr>
              </a:p>
              <a:p>
                <a:pPr lvl="2"/>
                <a14:m>
                  <m:oMath xmlns:m="http://schemas.openxmlformats.org/officeDocument/2006/math">
                    <m:r>
                      <a:rPr lang="zh-CN" altLang="en-US" i="1">
                        <a:latin typeface="Cambria Math" panose="02040503050406030204" pitchFamily="18" charset="0"/>
                      </a:rPr>
                      <m:t>𝜇</m:t>
                    </m:r>
                    <m:r>
                      <a:rPr lang="en-US" altLang="zh-CN" i="1">
                        <a:latin typeface="Cambria Math" panose="02040503050406030204" pitchFamily="18" charset="0"/>
                      </a:rPr>
                      <m:t>=</m:t>
                    </m:r>
                    <m:nary>
                      <m:naryPr>
                        <m:chr m:val="∑"/>
                        <m:subHide m:val="on"/>
                        <m:supHide m:val="on"/>
                        <m:ctrlPr>
                          <a:rPr lang="en-US" altLang="zh-CN" i="1">
                            <a:latin typeface="Cambria Math" panose="02040503050406030204" pitchFamily="18" charset="0"/>
                          </a:rPr>
                        </m:ctrlPr>
                      </m:naryP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oMath>
                </a14:m>
                <a:r>
                  <a:rPr lang="en-US" altLang="zh-CN" dirty="0"/>
                  <a:t>		</a:t>
                </a:r>
                <a14:m>
                  <m:oMath xmlns:m="http://schemas.openxmlformats.org/officeDocument/2006/math">
                    <m:r>
                      <a:rPr lang="zh-CN" altLang="en-US" i="1">
                        <a:latin typeface="Cambria Math" panose="02040503050406030204" pitchFamily="18" charset="0"/>
                      </a:rPr>
                      <m:t>𝜎</m:t>
                    </m:r>
                    <m:r>
                      <a:rPr lang="en-US" altLang="zh-CN" i="1">
                        <a:latin typeface="Cambria Math" panose="02040503050406030204" pitchFamily="18" charset="0"/>
                      </a:rPr>
                      <m:t>=</m:t>
                    </m:r>
                    <m:rad>
                      <m:radPr>
                        <m:degHide m:val="on"/>
                        <m:ctrlPr>
                          <a:rPr lang="en-US" altLang="zh-CN" i="1" smtClean="0">
                            <a:latin typeface="Cambria Math" panose="02040503050406030204" pitchFamily="18" charset="0"/>
                          </a:rPr>
                        </m:ctrlPr>
                      </m:radPr>
                      <m:deg/>
                      <m:e>
                        <m:nary>
                          <m:naryPr>
                            <m:chr m:val="∑"/>
                            <m:subHide m:val="on"/>
                            <m:supHide m:val="on"/>
                            <m:ctrlPr>
                              <a:rPr lang="en-US" altLang="zh-CN" i="1" smtClean="0">
                                <a:latin typeface="Cambria Math" panose="02040503050406030204" pitchFamily="18" charset="0"/>
                              </a:rPr>
                            </m:ctrlPr>
                          </m:naryPr>
                          <m:sub/>
                          <m:sup/>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r>
                                      <a:rPr lang="zh-CN" altLang="en-US" i="1">
                                        <a:latin typeface="Cambria Math" panose="02040503050406030204" pitchFamily="18" charset="0"/>
                                      </a:rPr>
                                      <m:t>𝜇</m:t>
                                    </m:r>
                                  </m:e>
                                </m:d>
                              </m:e>
                              <m:sup>
                                <m:r>
                                  <a:rPr lang="en-US" altLang="zh-CN" b="0" i="1" smtClean="0">
                                    <a:latin typeface="Cambria Math" panose="02040503050406030204" pitchFamily="18" charset="0"/>
                                  </a:rPr>
                                  <m:t>2</m:t>
                                </m:r>
                              </m:sup>
                            </m:sSup>
                          </m:e>
                        </m:nary>
                      </m:e>
                    </m:rad>
                  </m:oMath>
                </a14:m>
                <a:r>
                  <a:rPr lang="en-US" altLang="zh-CN" dirty="0"/>
                  <a:t>		</a:t>
                </a:r>
                <a:r>
                  <a:rPr lang="zh-CN" altLang="en-US" sz="1200" dirty="0">
                    <a:solidFill>
                      <a:schemeClr val="accent6"/>
                    </a:solidFill>
                  </a:rPr>
                  <a:t>不等概率</a:t>
                </a:r>
                <a:endParaRPr lang="en-US" altLang="zh-CN" dirty="0">
                  <a:solidFill>
                    <a:schemeClr val="accent6"/>
                  </a:solidFill>
                </a:endParaRPr>
              </a:p>
              <a:p>
                <a:pPr lvl="1"/>
                <a:endParaRPr lang="en-US" altLang="zh-CN" dirty="0"/>
              </a:p>
              <a:p>
                <a:pPr lvl="1"/>
                <a:endParaRPr lang="en-US" altLang="zh-CN" dirty="0"/>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𝑧</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𝜇</m:t>
                        </m:r>
                      </m:num>
                      <m:den>
                        <m:r>
                          <a:rPr lang="zh-CN" altLang="en-US" i="1">
                            <a:latin typeface="Cambria Math" panose="02040503050406030204" pitchFamily="18" charset="0"/>
                            <a:ea typeface="Cambria Math" panose="02040503050406030204" pitchFamily="18" charset="0"/>
                          </a:rPr>
                          <m:t>𝜎</m:t>
                        </m:r>
                      </m:den>
                    </m:f>
                  </m:oMath>
                </a14:m>
                <a:r>
                  <a:rPr lang="en-US" altLang="zh-CN" dirty="0"/>
                  <a:t>	</a:t>
                </a:r>
                <a:r>
                  <a:rPr lang="en-US" altLang="zh-CN" sz="1200" dirty="0">
                    <a:solidFill>
                      <a:schemeClr val="accent6"/>
                    </a:solidFill>
                  </a:rPr>
                  <a:t>z-score, </a:t>
                </a:r>
                <a:r>
                  <a:rPr lang="zh-CN" altLang="en-US" sz="1200" dirty="0">
                    <a:solidFill>
                      <a:schemeClr val="accent6"/>
                    </a:solidFill>
                  </a:rPr>
                  <a:t>换算成标准正态分布后，离期望值的距离，以 </a:t>
                </a:r>
                <a14:m>
                  <m:oMath xmlns:m="http://schemas.openxmlformats.org/officeDocument/2006/math">
                    <m:r>
                      <a:rPr lang="zh-CN" altLang="en-US" sz="1200" i="1">
                        <a:solidFill>
                          <a:schemeClr val="accent6"/>
                        </a:solidFill>
                        <a:latin typeface="Cambria Math" panose="02040503050406030204" pitchFamily="18" charset="0"/>
                        <a:ea typeface="Cambria Math" panose="02040503050406030204" pitchFamily="18" charset="0"/>
                      </a:rPr>
                      <m:t>𝜎</m:t>
                    </m:r>
                  </m:oMath>
                </a14:m>
                <a:r>
                  <a:rPr lang="en-US" altLang="zh-CN" sz="1200" dirty="0">
                    <a:solidFill>
                      <a:schemeClr val="accent6"/>
                    </a:solidFill>
                  </a:rPr>
                  <a:t> </a:t>
                </a:r>
                <a:r>
                  <a:rPr lang="zh-CN" altLang="en-US" sz="1200" dirty="0">
                    <a:solidFill>
                      <a:schemeClr val="accent6"/>
                    </a:solidFill>
                  </a:rPr>
                  <a:t>为单位</a:t>
                </a:r>
                <a:endParaRPr lang="en-US" altLang="zh-CN" sz="1400" dirty="0">
                  <a:solidFill>
                    <a:schemeClr val="accent6"/>
                  </a:solidFill>
                </a:endParaRPr>
              </a:p>
              <a:p>
                <a:pPr lvl="1"/>
                <a:endParaRPr lang="en-US" altLang="zh-CN" dirty="0"/>
              </a:p>
              <a:p>
                <a:pPr lvl="1"/>
                <a:endParaRPr lang="en-US" altLang="zh-CN" dirty="0"/>
              </a:p>
              <a:p>
                <a:pPr lvl="1"/>
                <a:endParaRPr lang="en-US" altLang="zh-CN" dirty="0"/>
              </a:p>
              <a:p>
                <a:pPr lvl="1"/>
                <a:endParaRPr lang="zh-CN" altLang="en-US" dirty="0"/>
              </a:p>
            </p:txBody>
          </p:sp>
        </mc:Choice>
        <mc:Fallback xmlns="">
          <p:sp>
            <p:nvSpPr>
              <p:cNvPr id="4" name="内容占位符 3">
                <a:extLst>
                  <a:ext uri="{FF2B5EF4-FFF2-40B4-BE49-F238E27FC236}">
                    <a16:creationId xmlns:a16="http://schemas.microsoft.com/office/drawing/2014/main" id="{0772E103-03DB-F0AD-FFEC-F4F206B62F9F}"/>
                  </a:ext>
                </a:extLst>
              </p:cNvPr>
              <p:cNvSpPr>
                <a:spLocks noGrp="1" noRot="1" noChangeAspect="1" noMove="1" noResize="1" noEditPoints="1" noAdjustHandles="1" noChangeArrowheads="1" noChangeShapeType="1" noTextEdit="1"/>
              </p:cNvSpPr>
              <p:nvPr>
                <p:ph sz="half" idx="2"/>
              </p:nvPr>
            </p:nvSpPr>
            <p:spPr>
              <a:xfrm>
                <a:off x="4876800" y="996779"/>
                <a:ext cx="6949017" cy="5357986"/>
              </a:xfrm>
              <a:blipFill>
                <a:blip r:embed="rId3"/>
                <a:stretch>
                  <a:fillRect l="-351" t="-34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4300CD32-7C05-FAD5-5AC4-4EE87A4A2B5F}"/>
              </a:ext>
            </a:extLst>
          </p:cNvPr>
          <p:cNvPicPr>
            <a:picLocks noChangeAspect="1"/>
          </p:cNvPicPr>
          <p:nvPr/>
        </p:nvPicPr>
        <p:blipFill>
          <a:blip r:embed="rId4"/>
          <a:stretch>
            <a:fillRect/>
          </a:stretch>
        </p:blipFill>
        <p:spPr>
          <a:xfrm>
            <a:off x="1318204" y="4849567"/>
            <a:ext cx="2483810" cy="1796765"/>
          </a:xfrm>
          <a:prstGeom prst="rect">
            <a:avLst/>
          </a:prstGeom>
        </p:spPr>
      </p:pic>
    </p:spTree>
    <p:extLst>
      <p:ext uri="{BB962C8B-B14F-4D97-AF65-F5344CB8AC3E}">
        <p14:creationId xmlns:p14="http://schemas.microsoft.com/office/powerpoint/2010/main" val="153106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299DAE2-19F5-83C7-260E-584930A05ABC}"/>
              </a:ext>
            </a:extLst>
          </p:cNvPr>
          <p:cNvSpPr>
            <a:spLocks noGrp="1"/>
          </p:cNvSpPr>
          <p:nvPr>
            <p:ph type="title"/>
          </p:nvPr>
        </p:nvSpPr>
        <p:spPr/>
        <p:txBody>
          <a:bodyPr/>
          <a:lstStyle/>
          <a:p>
            <a:r>
              <a:rPr lang="en-US" altLang="zh-CN" dirty="0"/>
              <a:t>PMF vs. PDF</a:t>
            </a:r>
            <a:endParaRPr lang="zh-CN" altLang="en-US" dirty="0"/>
          </a:p>
        </p:txBody>
      </p:sp>
      <p:sp>
        <p:nvSpPr>
          <p:cNvPr id="6" name="内容占位符 5">
            <a:extLst>
              <a:ext uri="{FF2B5EF4-FFF2-40B4-BE49-F238E27FC236}">
                <a16:creationId xmlns:a16="http://schemas.microsoft.com/office/drawing/2014/main" id="{19710118-D4DB-435F-D69B-3D159CE79EE6}"/>
              </a:ext>
            </a:extLst>
          </p:cNvPr>
          <p:cNvSpPr>
            <a:spLocks noGrp="1"/>
          </p:cNvSpPr>
          <p:nvPr>
            <p:ph sz="half" idx="1"/>
          </p:nvPr>
        </p:nvSpPr>
        <p:spPr>
          <a:xfrm>
            <a:off x="243417" y="996779"/>
            <a:ext cx="5689600" cy="5357986"/>
          </a:xfrm>
        </p:spPr>
        <p:txBody>
          <a:bodyPr/>
          <a:lstStyle/>
          <a:p>
            <a:r>
              <a:rPr lang="en-US" altLang="zh-CN" dirty="0"/>
              <a:t>Probability Mass Function (PMF)</a:t>
            </a:r>
            <a:endParaRPr lang="zh-CN" altLang="en-US" dirty="0"/>
          </a:p>
        </p:txBody>
      </p:sp>
      <p:sp>
        <p:nvSpPr>
          <p:cNvPr id="10" name="内容占位符 9">
            <a:extLst>
              <a:ext uri="{FF2B5EF4-FFF2-40B4-BE49-F238E27FC236}">
                <a16:creationId xmlns:a16="http://schemas.microsoft.com/office/drawing/2014/main" id="{73946A99-A6BA-7194-0F38-05F2343E2ABF}"/>
              </a:ext>
            </a:extLst>
          </p:cNvPr>
          <p:cNvSpPr>
            <a:spLocks noGrp="1"/>
          </p:cNvSpPr>
          <p:nvPr>
            <p:ph sz="half" idx="2"/>
          </p:nvPr>
        </p:nvSpPr>
        <p:spPr/>
        <p:txBody>
          <a:bodyPr/>
          <a:lstStyle/>
          <a:p>
            <a:r>
              <a:rPr lang="en-US" altLang="zh-CN" dirty="0"/>
              <a:t>Probability Density Function (PDF)</a:t>
            </a:r>
            <a:endParaRPr lang="zh-CN" altLang="en-US" dirty="0"/>
          </a:p>
        </p:txBody>
      </p:sp>
      <p:pic>
        <p:nvPicPr>
          <p:cNvPr id="8" name="图片 7">
            <a:extLst>
              <a:ext uri="{FF2B5EF4-FFF2-40B4-BE49-F238E27FC236}">
                <a16:creationId xmlns:a16="http://schemas.microsoft.com/office/drawing/2014/main" id="{D229F50F-F47C-67B5-19A1-C2B43AB1244D}"/>
              </a:ext>
            </a:extLst>
          </p:cNvPr>
          <p:cNvPicPr>
            <a:picLocks noChangeAspect="1"/>
          </p:cNvPicPr>
          <p:nvPr/>
        </p:nvPicPr>
        <p:blipFill>
          <a:blip r:embed="rId2"/>
          <a:stretch>
            <a:fillRect/>
          </a:stretch>
        </p:blipFill>
        <p:spPr>
          <a:xfrm>
            <a:off x="930462" y="1604681"/>
            <a:ext cx="4315510" cy="4559366"/>
          </a:xfrm>
          <a:prstGeom prst="rect">
            <a:avLst/>
          </a:prstGeom>
        </p:spPr>
      </p:pic>
      <p:pic>
        <p:nvPicPr>
          <p:cNvPr id="12" name="图片 11">
            <a:extLst>
              <a:ext uri="{FF2B5EF4-FFF2-40B4-BE49-F238E27FC236}">
                <a16:creationId xmlns:a16="http://schemas.microsoft.com/office/drawing/2014/main" id="{0D4C45B1-C504-D205-0127-D05CA8069BB5}"/>
              </a:ext>
            </a:extLst>
          </p:cNvPr>
          <p:cNvPicPr>
            <a:picLocks noChangeAspect="1"/>
          </p:cNvPicPr>
          <p:nvPr/>
        </p:nvPicPr>
        <p:blipFill>
          <a:blip r:embed="rId3"/>
          <a:stretch>
            <a:fillRect/>
          </a:stretch>
        </p:blipFill>
        <p:spPr>
          <a:xfrm>
            <a:off x="5990167" y="3429000"/>
            <a:ext cx="5833533" cy="2735046"/>
          </a:xfrm>
          <a:prstGeom prst="rect">
            <a:avLst/>
          </a:prstGeom>
        </p:spPr>
      </p:pic>
    </p:spTree>
    <p:extLst>
      <p:ext uri="{BB962C8B-B14F-4D97-AF65-F5344CB8AC3E}">
        <p14:creationId xmlns:p14="http://schemas.microsoft.com/office/powerpoint/2010/main" val="4244055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0115D3-422D-1E90-5071-CF0A27710C7C}"/>
              </a:ext>
            </a:extLst>
          </p:cNvPr>
          <p:cNvSpPr>
            <a:spLocks noGrp="1"/>
          </p:cNvSpPr>
          <p:nvPr>
            <p:ph type="title"/>
          </p:nvPr>
        </p:nvSpPr>
        <p:spPr/>
        <p:txBody>
          <a:bodyPr/>
          <a:lstStyle/>
          <a:p>
            <a:r>
              <a:rPr lang="zh-CN" altLang="en-US" dirty="0"/>
              <a:t>分布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5DE8118-8234-3580-F8C8-602CD4319BC0}"/>
                  </a:ext>
                </a:extLst>
              </p:cNvPr>
              <p:cNvSpPr>
                <a:spLocks noGrp="1"/>
              </p:cNvSpPr>
              <p:nvPr>
                <p:ph sz="half" idx="1"/>
              </p:nvPr>
            </p:nvSpPr>
            <p:spPr/>
            <p:txBody>
              <a:bodyPr/>
              <a:lstStyle/>
              <a:p>
                <a:r>
                  <a:rPr lang="en-US" altLang="zh-CN" dirty="0"/>
                  <a:t>Bernoulli distribution</a:t>
                </a:r>
              </a:p>
              <a:p>
                <a:pPr lvl="1"/>
                <a:r>
                  <a:rPr lang="en-US" altLang="zh-CN" dirty="0"/>
                  <a:t>Mean		</a:t>
                </a:r>
                <a14:m>
                  <m:oMath xmlns:m="http://schemas.openxmlformats.org/officeDocument/2006/math">
                    <m:r>
                      <a:rPr lang="zh-CN" altLang="en-US" i="1" smtClean="0">
                        <a:latin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oMath>
                </a14:m>
                <a:endParaRPr lang="en-US" altLang="zh-CN" dirty="0"/>
              </a:p>
              <a:p>
                <a:pPr lvl="1"/>
                <a:r>
                  <a:rPr lang="en-US" altLang="zh-CN" dirty="0"/>
                  <a:t>Variance		</a:t>
                </a:r>
                <a14:m>
                  <m:oMath xmlns:m="http://schemas.openxmlformats.org/officeDocument/2006/math">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𝜎</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𝑃</m:t>
                        </m:r>
                      </m:e>
                    </m:d>
                  </m:oMath>
                </a14:m>
                <a:endParaRPr lang="en-US" altLang="zh-CN" dirty="0"/>
              </a:p>
              <a:p>
                <a:pPr lvl="1"/>
                <a:r>
                  <a:rPr lang="en-US" altLang="zh-CN" dirty="0"/>
                  <a:t>Standard deviation	</a:t>
                </a:r>
                <a14:m>
                  <m:oMath xmlns:m="http://schemas.openxmlformats.org/officeDocument/2006/math">
                    <m:r>
                      <a:rPr lang="zh-CN" altLang="en-US" i="1">
                        <a:latin typeface="Cambria Math" panose="02040503050406030204" pitchFamily="18" charset="0"/>
                      </a:rPr>
                      <m:t>𝜎</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𝑃</m:t>
                            </m:r>
                          </m:e>
                        </m:d>
                      </m:e>
                    </m:rad>
                  </m:oMath>
                </a14:m>
                <a:endParaRPr lang="en-US" altLang="zh-CN" dirty="0"/>
              </a:p>
              <a:p>
                <a:pPr lvl="1"/>
                <a:endParaRPr lang="en-US" altLang="zh-CN" dirty="0"/>
              </a:p>
              <a:p>
                <a:pPr lvl="1"/>
                <a:endParaRPr lang="en-US" altLang="zh-CN" dirty="0"/>
              </a:p>
              <a:p>
                <a:pPr lvl="1"/>
                <a:r>
                  <a:rPr lang="zh-CN" altLang="en-US" dirty="0"/>
                  <a:t>伯努利分布：互斥二值的事件</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95DE8118-8234-3580-F8C8-602CD4319BC0}"/>
                  </a:ext>
                </a:extLst>
              </p:cNvPr>
              <p:cNvSpPr>
                <a:spLocks noGrp="1" noRot="1" noChangeAspect="1" noMove="1" noResize="1" noEditPoints="1" noAdjustHandles="1" noChangeArrowheads="1" noChangeShapeType="1" noTextEdit="1"/>
              </p:cNvSpPr>
              <p:nvPr>
                <p:ph sz="half" idx="1"/>
              </p:nvPr>
            </p:nvSpPr>
            <p:spPr>
              <a:blipFill>
                <a:blip r:embed="rId2"/>
                <a:stretch>
                  <a:fillRect l="-429" t="-3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4D7BC76E-6637-990B-398D-7398744024F6}"/>
                  </a:ext>
                </a:extLst>
              </p:cNvPr>
              <p:cNvSpPr>
                <a:spLocks noGrp="1"/>
              </p:cNvSpPr>
              <p:nvPr>
                <p:ph sz="half" idx="2"/>
              </p:nvPr>
            </p:nvSpPr>
            <p:spPr/>
            <p:txBody>
              <a:bodyPr/>
              <a:lstStyle/>
              <a:p>
                <a:r>
                  <a:rPr lang="en-US" altLang="zh-CN" dirty="0"/>
                  <a:t>Binomial distribution</a:t>
                </a:r>
              </a:p>
              <a:p>
                <a:pPr lvl="1"/>
                <a:r>
                  <a:rPr lang="en-US" altLang="zh-CN" dirty="0"/>
                  <a:t>Mean		</a:t>
                </a:r>
                <a14:m>
                  <m:oMath xmlns:m="http://schemas.openxmlformats.org/officeDocument/2006/math">
                    <m:r>
                      <a:rPr lang="zh-CN" altLang="en-US" i="1">
                        <a:latin typeface="Cambria Math" panose="02040503050406030204" pitchFamily="18" charset="0"/>
                      </a:rPr>
                      <m:t>𝜇</m:t>
                    </m:r>
                    <m:r>
                      <a:rPr lang="en-US" altLang="zh-CN" i="1">
                        <a:latin typeface="Cambria Math" panose="02040503050406030204" pitchFamily="18" charset="0"/>
                      </a:rPr>
                      <m:t>=</m:t>
                    </m:r>
                    <m:r>
                      <a:rPr lang="en-US" altLang="zh-CN" b="0" i="1" smtClean="0">
                        <a:latin typeface="Cambria Math" panose="02040503050406030204" pitchFamily="18" charset="0"/>
                      </a:rPr>
                      <m:t>𝑛</m:t>
                    </m:r>
                    <m:r>
                      <a:rPr lang="en-US" altLang="zh-CN" i="1">
                        <a:latin typeface="Cambria Math" panose="02040503050406030204" pitchFamily="18" charset="0"/>
                      </a:rPr>
                      <m:t>𝑃</m:t>
                    </m:r>
                  </m:oMath>
                </a14:m>
                <a:endParaRPr lang="en-US" altLang="zh-CN" dirty="0"/>
              </a:p>
              <a:p>
                <a:pPr lvl="1"/>
                <a:r>
                  <a:rPr lang="en-US" altLang="zh-CN" dirty="0"/>
                  <a:t>Variance		</a:t>
                </a:r>
                <a14:m>
                  <m:oMath xmlns:m="http://schemas.openxmlformats.org/officeDocument/2006/math">
                    <m:sSup>
                      <m:sSupPr>
                        <m:ctrlPr>
                          <a:rPr lang="en-US" altLang="zh-CN" i="1">
                            <a:latin typeface="Cambria Math" panose="02040503050406030204" pitchFamily="18" charset="0"/>
                          </a:rPr>
                        </m:ctrlPr>
                      </m:sSupPr>
                      <m:e>
                        <m:r>
                          <a:rPr lang="zh-CN" altLang="en-US" i="1">
                            <a:latin typeface="Cambria Math" panose="02040503050406030204" pitchFamily="18" charset="0"/>
                          </a:rPr>
                          <m:t>𝜎</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b="0" i="1" smtClean="0">
                        <a:latin typeface="Cambria Math" panose="02040503050406030204" pitchFamily="18" charset="0"/>
                      </a:rPr>
                      <m:t>𝑛</m:t>
                    </m:r>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𝑃</m:t>
                        </m:r>
                      </m:e>
                    </m:d>
                  </m:oMath>
                </a14:m>
                <a:endParaRPr lang="en-US" altLang="zh-CN" dirty="0"/>
              </a:p>
              <a:p>
                <a:pPr lvl="1"/>
                <a:r>
                  <a:rPr lang="en-US" altLang="zh-CN" dirty="0"/>
                  <a:t>Standard deviation	</a:t>
                </a:r>
                <a14:m>
                  <m:oMath xmlns:m="http://schemas.openxmlformats.org/officeDocument/2006/math">
                    <m:r>
                      <a:rPr lang="zh-CN" altLang="en-US" i="1">
                        <a:latin typeface="Cambria Math" panose="02040503050406030204" pitchFamily="18" charset="0"/>
                      </a:rPr>
                      <m:t>𝜎</m:t>
                    </m:r>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r>
                          <a:rPr lang="en-US" altLang="zh-CN" b="0" i="1" smtClean="0">
                            <a:latin typeface="Cambria Math" panose="02040503050406030204" pitchFamily="18" charset="0"/>
                          </a:rPr>
                          <m:t>𝑛</m:t>
                        </m:r>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𝑃</m:t>
                            </m:r>
                          </m:e>
                        </m:d>
                      </m:e>
                    </m:rad>
                  </m:oMath>
                </a14:m>
                <a:endParaRPr lang="en-US" altLang="zh-CN" dirty="0"/>
              </a:p>
              <a:p>
                <a:pPr lvl="1"/>
                <a:endParaRPr lang="en-US" altLang="zh-CN" dirty="0"/>
              </a:p>
              <a:p>
                <a:pPr lvl="1"/>
                <a:endParaRPr lang="en-US" altLang="zh-CN" dirty="0"/>
              </a:p>
              <a:p>
                <a:pPr lvl="1"/>
                <a:r>
                  <a:rPr lang="zh-CN" altLang="en-US" dirty="0"/>
                  <a:t>二项分布：多个独立的伯努利事件</a:t>
                </a:r>
              </a:p>
            </p:txBody>
          </p:sp>
        </mc:Choice>
        <mc:Fallback xmlns="">
          <p:sp>
            <p:nvSpPr>
              <p:cNvPr id="4" name="内容占位符 3">
                <a:extLst>
                  <a:ext uri="{FF2B5EF4-FFF2-40B4-BE49-F238E27FC236}">
                    <a16:creationId xmlns:a16="http://schemas.microsoft.com/office/drawing/2014/main" id="{4D7BC76E-6637-990B-398D-7398744024F6}"/>
                  </a:ext>
                </a:extLst>
              </p:cNvPr>
              <p:cNvSpPr>
                <a:spLocks noGrp="1" noRot="1" noChangeAspect="1" noMove="1" noResize="1" noEditPoints="1" noAdjustHandles="1" noChangeArrowheads="1" noChangeShapeType="1" noTextEdit="1"/>
              </p:cNvSpPr>
              <p:nvPr>
                <p:ph sz="half" idx="2"/>
              </p:nvPr>
            </p:nvSpPr>
            <p:spPr>
              <a:blipFill>
                <a:blip r:embed="rId3"/>
                <a:stretch>
                  <a:fillRect l="-429" t="-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2577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9B722-8A40-F3F7-A2BB-DBFE3FDA141E}"/>
              </a:ext>
            </a:extLst>
          </p:cNvPr>
          <p:cNvSpPr>
            <a:spLocks noGrp="1"/>
          </p:cNvSpPr>
          <p:nvPr>
            <p:ph type="title"/>
          </p:nvPr>
        </p:nvSpPr>
        <p:spPr/>
        <p:txBody>
          <a:bodyPr/>
          <a:lstStyle/>
          <a:p>
            <a:r>
              <a:rPr lang="en-US" altLang="zh-CN" dirty="0"/>
              <a:t>Normal distribution</a:t>
            </a:r>
            <a:r>
              <a:rPr lang="zh-CN" altLang="en-US" dirty="0"/>
              <a:t>（正态分布）</a:t>
            </a:r>
          </a:p>
        </p:txBody>
      </p:sp>
      <p:pic>
        <p:nvPicPr>
          <p:cNvPr id="17" name="内容占位符 16">
            <a:extLst>
              <a:ext uri="{FF2B5EF4-FFF2-40B4-BE49-F238E27FC236}">
                <a16:creationId xmlns:a16="http://schemas.microsoft.com/office/drawing/2014/main" id="{335BE40D-90BF-A784-B65C-3BAE6370295A}"/>
              </a:ext>
            </a:extLst>
          </p:cNvPr>
          <p:cNvPicPr>
            <a:picLocks noGrp="1" noChangeAspect="1"/>
          </p:cNvPicPr>
          <p:nvPr>
            <p:ph sz="half" idx="1"/>
          </p:nvPr>
        </p:nvPicPr>
        <p:blipFill>
          <a:blip r:embed="rId2"/>
          <a:stretch>
            <a:fillRect/>
          </a:stretch>
        </p:blipFill>
        <p:spPr bwMode="auto">
          <a:xfrm>
            <a:off x="6937423" y="997125"/>
            <a:ext cx="4011516" cy="256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内容占位符 19">
            <a:extLst>
              <a:ext uri="{FF2B5EF4-FFF2-40B4-BE49-F238E27FC236}">
                <a16:creationId xmlns:a16="http://schemas.microsoft.com/office/drawing/2014/main" id="{5D9EE28A-BBB1-C3A0-A7A8-7BC024A2FD08}"/>
              </a:ext>
            </a:extLst>
          </p:cNvPr>
          <p:cNvPicPr>
            <a:picLocks noGrp="1" noChangeAspect="1"/>
          </p:cNvPicPr>
          <p:nvPr>
            <p:ph sz="half" idx="2"/>
          </p:nvPr>
        </p:nvPicPr>
        <p:blipFill>
          <a:blip r:embed="rId3"/>
          <a:stretch>
            <a:fillRect/>
          </a:stretch>
        </p:blipFill>
        <p:spPr bwMode="auto">
          <a:xfrm>
            <a:off x="6938303" y="3787775"/>
            <a:ext cx="4006582" cy="256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8" name="内容占位符 17">
                <a:extLst>
                  <a:ext uri="{FF2B5EF4-FFF2-40B4-BE49-F238E27FC236}">
                    <a16:creationId xmlns:a16="http://schemas.microsoft.com/office/drawing/2014/main" id="{71E95150-18FB-231F-DC84-DB79E90A105B}"/>
                  </a:ext>
                </a:extLst>
              </p:cNvPr>
              <p:cNvSpPr>
                <a:spLocks noGrp="1"/>
              </p:cNvSpPr>
              <p:nvPr>
                <p:ph sz="half" idx="13"/>
              </p:nvPr>
            </p:nvSpPr>
            <p:spPr>
              <a:xfrm>
                <a:off x="241300" y="996779"/>
                <a:ext cx="6485467" cy="5357986"/>
              </a:xfrm>
            </p:spPr>
            <p:txBody>
              <a:bodyPr/>
              <a:lstStyle/>
              <a:p>
                <a:r>
                  <a:rPr lang="en-US" altLang="zh-CN" dirty="0"/>
                  <a:t>PDF &amp; CDF</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z-score</a:t>
                </a:r>
              </a:p>
              <a:p>
                <a:pPr lvl="1"/>
                <a14:m>
                  <m:oMath xmlns:m="http://schemas.openxmlformats.org/officeDocument/2006/math">
                    <m:r>
                      <a:rPr lang="en-US" altLang="zh-CN" i="1" dirty="0" smtClean="0">
                        <a:latin typeface="Cambria Math" panose="02040503050406030204" pitchFamily="18" charset="0"/>
                      </a:rPr>
                      <m:t>𝑧</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𝑥</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𝜇</m:t>
                        </m:r>
                      </m:num>
                      <m:den>
                        <m:r>
                          <a:rPr lang="zh-CN" altLang="en-US" i="1" dirty="0" smtClean="0">
                            <a:latin typeface="Cambria Math" panose="02040503050406030204" pitchFamily="18" charset="0"/>
                          </a:rPr>
                          <m:t>𝜎</m:t>
                        </m:r>
                      </m:den>
                    </m:f>
                  </m:oMath>
                </a14:m>
                <a:r>
                  <a:rPr lang="en-US" altLang="zh-CN" dirty="0"/>
                  <a:t>	</a:t>
                </a:r>
                <a:r>
                  <a:rPr lang="zh-CN" altLang="en-US" sz="1400" dirty="0">
                    <a:solidFill>
                      <a:schemeClr val="accent6"/>
                    </a:solidFill>
                  </a:rPr>
                  <a:t>普通正态分布映射到标准正态分布，离开平均值的距离</a:t>
                </a:r>
              </a:p>
            </p:txBody>
          </p:sp>
        </mc:Choice>
        <mc:Fallback xmlns="">
          <p:sp>
            <p:nvSpPr>
              <p:cNvPr id="18" name="内容占位符 17">
                <a:extLst>
                  <a:ext uri="{FF2B5EF4-FFF2-40B4-BE49-F238E27FC236}">
                    <a16:creationId xmlns:a16="http://schemas.microsoft.com/office/drawing/2014/main" id="{71E95150-18FB-231F-DC84-DB79E90A105B}"/>
                  </a:ext>
                </a:extLst>
              </p:cNvPr>
              <p:cNvSpPr>
                <a:spLocks noGrp="1" noRot="1" noChangeAspect="1" noMove="1" noResize="1" noEditPoints="1" noAdjustHandles="1" noChangeArrowheads="1" noChangeShapeType="1" noTextEdit="1"/>
              </p:cNvSpPr>
              <p:nvPr>
                <p:ph sz="half" idx="13"/>
              </p:nvPr>
            </p:nvSpPr>
            <p:spPr>
              <a:xfrm>
                <a:off x="241300" y="996779"/>
                <a:ext cx="6485467" cy="5357986"/>
              </a:xfrm>
              <a:blipFill>
                <a:blip r:embed="rId4"/>
                <a:stretch>
                  <a:fillRect l="-376" t="-342"/>
                </a:stretch>
              </a:blipFill>
            </p:spPr>
            <p:txBody>
              <a:bodyPr/>
              <a:lstStyle/>
              <a:p>
                <a:r>
                  <a:rPr lang="zh-CN" altLang="en-US">
                    <a:noFill/>
                  </a:rPr>
                  <a:t> </a:t>
                </a:r>
              </a:p>
            </p:txBody>
          </p:sp>
        </mc:Fallback>
      </mc:AlternateContent>
      <p:pic>
        <p:nvPicPr>
          <p:cNvPr id="22" name="图片 21">
            <a:extLst>
              <a:ext uri="{FF2B5EF4-FFF2-40B4-BE49-F238E27FC236}">
                <a16:creationId xmlns:a16="http://schemas.microsoft.com/office/drawing/2014/main" id="{1861D21E-33AB-ACE0-9DAD-94F3FA4142F2}"/>
              </a:ext>
            </a:extLst>
          </p:cNvPr>
          <p:cNvPicPr>
            <a:picLocks noChangeAspect="1"/>
          </p:cNvPicPr>
          <p:nvPr/>
        </p:nvPicPr>
        <p:blipFill>
          <a:blip r:embed="rId5"/>
          <a:stretch>
            <a:fillRect/>
          </a:stretch>
        </p:blipFill>
        <p:spPr>
          <a:xfrm>
            <a:off x="849842" y="1382977"/>
            <a:ext cx="5356739" cy="1498071"/>
          </a:xfrm>
          <a:prstGeom prst="rect">
            <a:avLst/>
          </a:prstGeom>
        </p:spPr>
      </p:pic>
      <p:pic>
        <p:nvPicPr>
          <p:cNvPr id="24" name="图片 23">
            <a:extLst>
              <a:ext uri="{FF2B5EF4-FFF2-40B4-BE49-F238E27FC236}">
                <a16:creationId xmlns:a16="http://schemas.microsoft.com/office/drawing/2014/main" id="{D4CA1D39-5148-DF43-0484-1B321AC0FEFF}"/>
              </a:ext>
            </a:extLst>
          </p:cNvPr>
          <p:cNvPicPr>
            <a:picLocks noChangeAspect="1"/>
          </p:cNvPicPr>
          <p:nvPr/>
        </p:nvPicPr>
        <p:blipFill>
          <a:blip r:embed="rId6"/>
          <a:stretch>
            <a:fillRect/>
          </a:stretch>
        </p:blipFill>
        <p:spPr>
          <a:xfrm>
            <a:off x="1303867" y="3926984"/>
            <a:ext cx="3949831" cy="2427779"/>
          </a:xfrm>
          <a:prstGeom prst="rect">
            <a:avLst/>
          </a:prstGeom>
        </p:spPr>
      </p:pic>
    </p:spTree>
    <p:extLst>
      <p:ext uri="{BB962C8B-B14F-4D97-AF65-F5344CB8AC3E}">
        <p14:creationId xmlns:p14="http://schemas.microsoft.com/office/powerpoint/2010/main" val="3733518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38E6-CFC5-6120-0037-A9AE191B4B0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5AFB694-5E33-2093-94C7-F40EE8AC3DDF}"/>
              </a:ext>
            </a:extLst>
          </p:cNvPr>
          <p:cNvSpPr>
            <a:spLocks noGrp="1"/>
          </p:cNvSpPr>
          <p:nvPr>
            <p:ph type="title"/>
          </p:nvPr>
        </p:nvSpPr>
        <p:spPr/>
        <p:txBody>
          <a:bodyPr/>
          <a:lstStyle/>
          <a:p>
            <a:r>
              <a:rPr lang="en-US" altLang="zh-CN" dirty="0"/>
              <a:t>Module 3</a:t>
            </a:r>
            <a:endParaRPr lang="zh-CN" altLang="en-US" dirty="0"/>
          </a:p>
        </p:txBody>
      </p:sp>
      <p:sp>
        <p:nvSpPr>
          <p:cNvPr id="5" name="文本占位符 4">
            <a:extLst>
              <a:ext uri="{FF2B5EF4-FFF2-40B4-BE49-F238E27FC236}">
                <a16:creationId xmlns:a16="http://schemas.microsoft.com/office/drawing/2014/main" id="{F16AFD1D-4469-C1CC-88C9-E3A026A054A8}"/>
              </a:ext>
            </a:extLst>
          </p:cNvPr>
          <p:cNvSpPr>
            <a:spLocks noGrp="1"/>
          </p:cNvSpPr>
          <p:nvPr>
            <p:ph type="body" idx="1"/>
          </p:nvPr>
        </p:nvSpPr>
        <p:spPr/>
        <p:txBody>
          <a:bodyPr/>
          <a:lstStyle/>
          <a:p>
            <a:r>
              <a:rPr lang="en-US" altLang="zh-CN" dirty="0"/>
              <a:t>Confidence intervals</a:t>
            </a:r>
            <a:endParaRPr lang="zh-CN" altLang="en-US" dirty="0"/>
          </a:p>
        </p:txBody>
      </p:sp>
    </p:spTree>
    <p:extLst>
      <p:ext uri="{BB962C8B-B14F-4D97-AF65-F5344CB8AC3E}">
        <p14:creationId xmlns:p14="http://schemas.microsoft.com/office/powerpoint/2010/main" val="2188320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703B-E224-0883-3B75-CDB0625CAD7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69F78C8-1768-CBDD-C5E2-A422C2BEA592}"/>
              </a:ext>
            </a:extLst>
          </p:cNvPr>
          <p:cNvSpPr>
            <a:spLocks noGrp="1"/>
          </p:cNvSpPr>
          <p:nvPr>
            <p:ph type="title"/>
          </p:nvPr>
        </p:nvSpPr>
        <p:spPr/>
        <p:txBody>
          <a:bodyPr/>
          <a:lstStyle/>
          <a:p>
            <a:r>
              <a:rPr lang="en-US" altLang="zh-CN" dirty="0"/>
              <a:t>Descriptive vs. Inferential</a:t>
            </a:r>
            <a:endParaRPr lang="zh-CN" altLang="en-US" dirty="0"/>
          </a:p>
        </p:txBody>
      </p:sp>
      <p:sp>
        <p:nvSpPr>
          <p:cNvPr id="5" name="内容占位符 4">
            <a:extLst>
              <a:ext uri="{FF2B5EF4-FFF2-40B4-BE49-F238E27FC236}">
                <a16:creationId xmlns:a16="http://schemas.microsoft.com/office/drawing/2014/main" id="{F0B80F3A-6DD7-8624-05CA-D7D907C51A89}"/>
              </a:ext>
            </a:extLst>
          </p:cNvPr>
          <p:cNvSpPr>
            <a:spLocks noGrp="1"/>
          </p:cNvSpPr>
          <p:nvPr>
            <p:ph sz="half" idx="1"/>
          </p:nvPr>
        </p:nvSpPr>
        <p:spPr/>
        <p:txBody>
          <a:bodyPr/>
          <a:lstStyle/>
          <a:p>
            <a:r>
              <a:rPr lang="en-US" altLang="zh-CN" dirty="0"/>
              <a:t>Descriptive statistics</a:t>
            </a:r>
          </a:p>
          <a:p>
            <a:pPr lvl="1"/>
            <a:r>
              <a:rPr lang="zh-CN" altLang="en-US" dirty="0"/>
              <a:t>描述样本集（子集）的情况</a:t>
            </a: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73FFBC6D-F11A-40FE-9B35-25320362C901}"/>
                  </a:ext>
                </a:extLst>
              </p:cNvPr>
              <p:cNvSpPr>
                <a:spLocks noGrp="1"/>
              </p:cNvSpPr>
              <p:nvPr>
                <p:ph sz="half" idx="2"/>
              </p:nvPr>
            </p:nvSpPr>
            <p:spPr/>
            <p:txBody>
              <a:bodyPr/>
              <a:lstStyle/>
              <a:p>
                <a:r>
                  <a:rPr lang="en-US" altLang="zh-CN" dirty="0"/>
                  <a:t>Inferential statistics</a:t>
                </a:r>
              </a:p>
              <a:p>
                <a:pPr lvl="1"/>
                <a:r>
                  <a:rPr lang="zh-CN" altLang="en-US" dirty="0"/>
                  <a:t>通过样本集（子集），描述完整集（全集）的情况</a:t>
                </a:r>
                <a:endParaRPr lang="en-US" altLang="zh-CN" dirty="0"/>
              </a:p>
              <a:p>
                <a:pPr lvl="2"/>
                <a:r>
                  <a:rPr lang="zh-CN" altLang="en-US" dirty="0"/>
                  <a:t>一般会带有置信度（区间）</a:t>
                </a:r>
                <a:endParaRPr lang="en-US" altLang="zh-CN" dirty="0"/>
              </a:p>
              <a:p>
                <a:pPr lvl="1"/>
                <a:endParaRPr lang="en-US" altLang="zh-CN" dirty="0"/>
              </a:p>
              <a:p>
                <a:pPr lvl="1"/>
                <a:r>
                  <a:rPr lang="en-US" altLang="zh-CN" dirty="0"/>
                  <a:t>Standard Error (SE)</a:t>
                </a:r>
              </a:p>
              <a:p>
                <a:pPr lvl="2"/>
                <a14:m>
                  <m:oMath xmlns:m="http://schemas.openxmlformats.org/officeDocument/2006/math">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smtClean="0">
                            <a:latin typeface="Cambria Math" panose="02040503050406030204" pitchFamily="18" charset="0"/>
                          </a:rPr>
                          <m:t>𝜎</m:t>
                        </m:r>
                      </m:num>
                      <m:den>
                        <m:rad>
                          <m:radPr>
                            <m:degHide m:val="on"/>
                            <m:ctrlPr>
                              <a:rPr lang="en-US" altLang="zh-CN" i="1" dirty="0" smtClean="0">
                                <a:latin typeface="Cambria Math" panose="02040503050406030204" pitchFamily="18" charset="0"/>
                              </a:rPr>
                            </m:ctrlPr>
                          </m:radPr>
                          <m:deg/>
                          <m:e>
                            <m:r>
                              <a:rPr lang="en-US" altLang="zh-CN" b="0" i="1" dirty="0" smtClean="0">
                                <a:latin typeface="Cambria Math" panose="02040503050406030204" pitchFamily="18" charset="0"/>
                              </a:rPr>
                              <m:t>𝑛</m:t>
                            </m:r>
                          </m:e>
                        </m:rad>
                      </m:den>
                    </m:f>
                  </m:oMath>
                </a14:m>
                <a:r>
                  <a:rPr lang="en-US" altLang="zh-CN" dirty="0"/>
                  <a:t>	</a:t>
                </a:r>
                <a14:m>
                  <m:oMath xmlns:m="http://schemas.openxmlformats.org/officeDocument/2006/math">
                    <m:r>
                      <a:rPr lang="en-US" altLang="zh-CN" i="1" dirty="0" smtClean="0">
                        <a:latin typeface="Cambria Math" panose="02040503050406030204" pitchFamily="18" charset="0"/>
                      </a:rPr>
                      <m:t>𝑛</m:t>
                    </m:r>
                  </m:oMath>
                </a14:m>
                <a:r>
                  <a:rPr lang="en-US" altLang="zh-CN" dirty="0"/>
                  <a:t> </a:t>
                </a:r>
                <a:r>
                  <a:rPr lang="zh-CN" altLang="en-US" dirty="0"/>
                  <a:t>是实验次数</a:t>
                </a:r>
                <a:endParaRPr lang="en-US" altLang="zh-CN" dirty="0"/>
              </a:p>
              <a:p>
                <a:pPr lvl="1"/>
                <a:endParaRPr lang="en-US" altLang="zh-CN" dirty="0"/>
              </a:p>
              <a:p>
                <a:pPr lvl="1"/>
                <a:r>
                  <a:rPr lang="en-US" altLang="zh-CN" dirty="0"/>
                  <a:t>Sample proportion</a:t>
                </a:r>
              </a:p>
              <a:p>
                <a:pPr lvl="2"/>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𝑝</m:t>
                        </m:r>
                      </m:e>
                    </m:acc>
                  </m:oMath>
                </a14:m>
                <a:r>
                  <a:rPr lang="en-US" altLang="zh-CN" dirty="0"/>
                  <a:t>	</a:t>
                </a:r>
                <a:r>
                  <a:rPr lang="zh-CN" altLang="en-US" dirty="0"/>
                  <a:t>样本比例</a:t>
                </a:r>
              </a:p>
            </p:txBody>
          </p:sp>
        </mc:Choice>
        <mc:Fallback xmlns="">
          <p:sp>
            <p:nvSpPr>
              <p:cNvPr id="6" name="内容占位符 5">
                <a:extLst>
                  <a:ext uri="{FF2B5EF4-FFF2-40B4-BE49-F238E27FC236}">
                    <a16:creationId xmlns:a16="http://schemas.microsoft.com/office/drawing/2014/main" id="{73FFBC6D-F11A-40FE-9B35-25320362C901}"/>
                  </a:ext>
                </a:extLst>
              </p:cNvPr>
              <p:cNvSpPr>
                <a:spLocks noGrp="1" noRot="1" noChangeAspect="1" noMove="1" noResize="1" noEditPoints="1" noAdjustHandles="1" noChangeArrowheads="1" noChangeShapeType="1" noTextEdit="1"/>
              </p:cNvSpPr>
              <p:nvPr>
                <p:ph sz="half" idx="2"/>
              </p:nvPr>
            </p:nvSpPr>
            <p:spPr>
              <a:blipFill>
                <a:blip r:embed="rId2"/>
                <a:stretch>
                  <a:fillRect l="-429" t="-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5313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3BC5E0EC-3EC5-CC0D-D1D2-7C4DEB1CFEB2}"/>
              </a:ext>
            </a:extLst>
          </p:cNvPr>
          <p:cNvSpPr>
            <a:spLocks noGrp="1"/>
          </p:cNvSpPr>
          <p:nvPr>
            <p:ph type="title"/>
          </p:nvPr>
        </p:nvSpPr>
        <p:spPr/>
        <p:txBody>
          <a:bodyPr/>
          <a:lstStyle/>
          <a:p>
            <a:r>
              <a:rPr lang="zh-CN" altLang="en-US" dirty="0"/>
              <a:t>中心极限理论</a:t>
            </a:r>
          </a:p>
        </p:txBody>
      </p:sp>
      <p:sp>
        <p:nvSpPr>
          <p:cNvPr id="8" name="内容占位符 7">
            <a:extLst>
              <a:ext uri="{FF2B5EF4-FFF2-40B4-BE49-F238E27FC236}">
                <a16:creationId xmlns:a16="http://schemas.microsoft.com/office/drawing/2014/main" id="{88CE21E0-8C39-6B76-CB74-1B2DD898998A}"/>
              </a:ext>
            </a:extLst>
          </p:cNvPr>
          <p:cNvSpPr>
            <a:spLocks noGrp="1"/>
          </p:cNvSpPr>
          <p:nvPr>
            <p:ph sz="half" idx="1"/>
          </p:nvPr>
        </p:nvSpPr>
        <p:spPr/>
        <p:txBody>
          <a:bodyPr/>
          <a:lstStyle/>
          <a:p>
            <a:r>
              <a:rPr lang="zh-CN" altLang="en-US" dirty="0"/>
              <a:t>采样平均永远是正态分布</a:t>
            </a:r>
            <a:endParaRPr lang="en-US" altLang="zh-CN" b="1" dirty="0"/>
          </a:p>
          <a:p>
            <a:pPr lvl="1"/>
            <a:r>
              <a:rPr lang="zh-CN" altLang="en-US" dirty="0"/>
              <a:t>就算底层的分布 </a:t>
            </a:r>
            <a:r>
              <a:rPr lang="en-US" altLang="zh-CN" dirty="0"/>
              <a:t>PDF </a:t>
            </a:r>
            <a:r>
              <a:rPr lang="zh-CN" altLang="en-US" dirty="0"/>
              <a:t>不是正态分布的</a:t>
            </a:r>
          </a:p>
        </p:txBody>
      </p:sp>
      <p:pic>
        <p:nvPicPr>
          <p:cNvPr id="11" name="内容占位符 10">
            <a:extLst>
              <a:ext uri="{FF2B5EF4-FFF2-40B4-BE49-F238E27FC236}">
                <a16:creationId xmlns:a16="http://schemas.microsoft.com/office/drawing/2014/main" id="{44B8AE91-DE2F-58B7-BA03-2D8334A37330}"/>
              </a:ext>
            </a:extLst>
          </p:cNvPr>
          <p:cNvPicPr>
            <a:picLocks noGrp="1" noChangeAspect="1"/>
          </p:cNvPicPr>
          <p:nvPr>
            <p:ph sz="half" idx="2"/>
          </p:nvPr>
        </p:nvPicPr>
        <p:blipFill>
          <a:blip r:embed="rId2"/>
          <a:stretch>
            <a:fillRect/>
          </a:stretch>
        </p:blipFill>
        <p:spPr bwMode="auto">
          <a:xfrm>
            <a:off x="6135688" y="1535697"/>
            <a:ext cx="5689600" cy="428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5017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494FE7-A5E4-0F57-DC6C-652259217DC4}"/>
              </a:ext>
            </a:extLst>
          </p:cNvPr>
          <p:cNvSpPr>
            <a:spLocks noGrp="1"/>
          </p:cNvSpPr>
          <p:nvPr>
            <p:ph type="title"/>
          </p:nvPr>
        </p:nvSpPr>
        <p:spPr/>
        <p:txBody>
          <a:bodyPr/>
          <a:lstStyle/>
          <a:p>
            <a:r>
              <a:rPr lang="zh-CN" altLang="en-US" dirty="0"/>
              <a:t>总体均值的置信区间（</a:t>
            </a:r>
            <a:r>
              <a:rPr lang="en-US" altLang="zh-CN" dirty="0"/>
              <a:t>Confidence interval for the population mean</a:t>
            </a:r>
            <a:r>
              <a:rPr lang="zh-CN" altLang="en-US" dirty="0"/>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F92E035-5786-2636-742D-C27118C92417}"/>
                  </a:ext>
                </a:extLst>
              </p:cNvPr>
              <p:cNvSpPr>
                <a:spLocks noGrp="1"/>
              </p:cNvSpPr>
              <p:nvPr>
                <p:ph sz="half" idx="1"/>
              </p:nvPr>
            </p:nvSpPr>
            <p:spPr/>
            <p:txBody>
              <a:bodyPr/>
              <a:lstStyle/>
              <a:p>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𝑧</m:t>
                    </m:r>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𝑠</m:t>
                            </m:r>
                          </m:num>
                          <m:den>
                            <m:rad>
                              <m:radPr>
                                <m:degHide m:val="on"/>
                                <m:ctrlPr>
                                  <a:rPr lang="en-US" altLang="zh-CN" b="0" i="1" smtClean="0">
                                    <a:latin typeface="Cambria Math" panose="02040503050406030204" pitchFamily="18" charset="0"/>
                                    <a:ea typeface="Cambria Math" panose="02040503050406030204" pitchFamily="18" charset="0"/>
                                  </a:rPr>
                                </m:ctrlPr>
                              </m:radPr>
                              <m:deg/>
                              <m:e>
                                <m:r>
                                  <a:rPr lang="en-US" altLang="zh-CN" b="0" i="1" smtClean="0">
                                    <a:latin typeface="Cambria Math" panose="02040503050406030204" pitchFamily="18" charset="0"/>
                                    <a:ea typeface="Cambria Math" panose="02040503050406030204" pitchFamily="18" charset="0"/>
                                  </a:rPr>
                                  <m:t>𝑛</m:t>
                                </m:r>
                              </m:e>
                            </m:rad>
                          </m:den>
                        </m:f>
                      </m:e>
                    </m:d>
                  </m:oMath>
                </a14:m>
                <a:r>
                  <a:rPr lang="en-US" altLang="zh-CN" dirty="0"/>
                  <a:t>		</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𝑧</m:t>
                    </m:r>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𝑠</m:t>
                            </m:r>
                          </m:num>
                          <m:den>
                            <m:rad>
                              <m:radPr>
                                <m:degHide m:val="on"/>
                                <m:ctrlPr>
                                  <a:rPr lang="en-US" altLang="zh-CN" i="1">
                                    <a:latin typeface="Cambria Math" panose="02040503050406030204" pitchFamily="18" charset="0"/>
                                    <a:ea typeface="Cambria Math" panose="02040503050406030204" pitchFamily="18" charset="0"/>
                                  </a:rPr>
                                </m:ctrlPr>
                              </m:radPr>
                              <m:deg/>
                              <m:e>
                                <m:r>
                                  <a:rPr lang="en-US" altLang="zh-CN" i="1">
                                    <a:latin typeface="Cambria Math" panose="02040503050406030204" pitchFamily="18" charset="0"/>
                                    <a:ea typeface="Cambria Math" panose="02040503050406030204" pitchFamily="18" charset="0"/>
                                  </a:rPr>
                                  <m:t>𝑛</m:t>
                                </m:r>
                              </m:e>
                            </m:rad>
                          </m:den>
                        </m:f>
                      </m:e>
                    </m:d>
                  </m:oMath>
                </a14:m>
                <a:r>
                  <a:rPr lang="en-US" altLang="zh-CN" dirty="0"/>
                  <a:t> </a:t>
                </a:r>
                <a:r>
                  <a:rPr lang="zh-CN" altLang="en-US" sz="1400" dirty="0">
                    <a:solidFill>
                      <a:schemeClr val="accent6"/>
                    </a:solidFill>
                  </a:rPr>
                  <a:t>也称为 </a:t>
                </a:r>
                <a:r>
                  <a:rPr lang="en-US" altLang="zh-CN" sz="1400" dirty="0">
                    <a:solidFill>
                      <a:schemeClr val="accent6"/>
                    </a:solidFill>
                  </a:rPr>
                  <a:t>Margin Error</a:t>
                </a:r>
                <a:endParaRPr lang="en-US" altLang="zh-CN" dirty="0">
                  <a:solidFill>
                    <a:schemeClr val="accent6"/>
                  </a:solidFill>
                </a:endParaRPr>
              </a:p>
              <a:p>
                <a:pPr lvl="1"/>
                <a:endParaRPr lang="en-US" altLang="zh-CN" i="1" dirty="0">
                  <a:latin typeface="Cambria Math" panose="02040503050406030204" pitchFamily="18" charset="0"/>
                </a:endParaRPr>
              </a:p>
              <a:p>
                <a:pPr lvl="1"/>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𝑥</m:t>
                        </m:r>
                      </m:e>
                    </m:acc>
                  </m:oMath>
                </a14:m>
                <a:r>
                  <a:rPr lang="en-US" altLang="zh-CN" dirty="0"/>
                  <a:t>	</a:t>
                </a:r>
                <a:r>
                  <a:rPr lang="zh-CN" altLang="en-US" dirty="0"/>
                  <a:t>采样平均</a:t>
                </a:r>
                <a:r>
                  <a:rPr lang="zh-CN" altLang="en-US" sz="1200" dirty="0">
                    <a:solidFill>
                      <a:schemeClr val="accent6"/>
                    </a:solidFill>
                  </a:rPr>
                  <a:t>（采样批的统计平均，比如：平均用时）</a:t>
                </a:r>
                <a:endParaRPr lang="en-US" altLang="zh-CN" sz="1200" dirty="0"/>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𝑠</m:t>
                    </m:r>
                  </m:oMath>
                </a14:m>
                <a:r>
                  <a:rPr lang="en-US" altLang="zh-CN" dirty="0"/>
                  <a:t>	</a:t>
                </a:r>
                <a:r>
                  <a:rPr lang="zh-CN" altLang="en-US" dirty="0"/>
                  <a:t>采样标准方差</a:t>
                </a:r>
                <a:endParaRPr lang="en-US" altLang="zh-CN" dirty="0"/>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en-US" altLang="zh-CN" dirty="0"/>
                  <a:t>	</a:t>
                </a:r>
                <a:r>
                  <a:rPr lang="zh-CN" altLang="en-US" dirty="0"/>
                  <a:t>采样数量</a:t>
                </a:r>
                <a:endParaRPr lang="en-US" altLang="zh-CN" dirty="0"/>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𝑧</m:t>
                    </m:r>
                  </m:oMath>
                </a14:m>
                <a:r>
                  <a:rPr lang="en-US" altLang="zh-CN" dirty="0"/>
                  <a:t>	z-score </a:t>
                </a:r>
                <a:r>
                  <a:rPr lang="zh-CN" altLang="en-US" dirty="0"/>
                  <a:t>标准正态分布</a:t>
                </a:r>
                <a:endParaRPr lang="en-US" altLang="zh-CN" dirty="0"/>
              </a:p>
              <a:p>
                <a:pPr lvl="2"/>
                <a:r>
                  <a:rPr lang="zh-CN" altLang="en-US" sz="1200" dirty="0">
                    <a:solidFill>
                      <a:schemeClr val="accent6"/>
                    </a:solidFill>
                  </a:rPr>
                  <a:t>置信度为 </a:t>
                </a:r>
                <a:r>
                  <a:rPr lang="en-US" altLang="zh-CN" sz="1200" dirty="0">
                    <a:solidFill>
                      <a:schemeClr val="accent6"/>
                    </a:solidFill>
                  </a:rPr>
                  <a:t>97.7% </a:t>
                </a:r>
                <a:r>
                  <a:rPr lang="zh-CN" altLang="en-US" sz="1200" dirty="0">
                    <a:solidFill>
                      <a:schemeClr val="accent6"/>
                    </a:solidFill>
                  </a:rPr>
                  <a:t>时，</a:t>
                </a:r>
                <a:r>
                  <a:rPr lang="en-US" altLang="zh-CN" sz="1200" dirty="0">
                    <a:solidFill>
                      <a:schemeClr val="accent6"/>
                    </a:solidFill>
                  </a:rPr>
                  <a:t>z-score=2</a:t>
                </a:r>
              </a:p>
              <a:p>
                <a:pPr lvl="2"/>
                <a:r>
                  <a:rPr lang="zh-CN" altLang="en-US" sz="1200" dirty="0">
                    <a:solidFill>
                      <a:schemeClr val="accent6"/>
                    </a:solidFill>
                  </a:rPr>
                  <a:t>置信度为 </a:t>
                </a:r>
                <a:r>
                  <a:rPr lang="en-US" altLang="zh-CN" sz="1200" dirty="0">
                    <a:solidFill>
                      <a:schemeClr val="accent6"/>
                    </a:solidFill>
                  </a:rPr>
                  <a:t>95% </a:t>
                </a:r>
                <a:r>
                  <a:rPr lang="zh-CN" altLang="en-US" sz="1200" dirty="0">
                    <a:solidFill>
                      <a:schemeClr val="accent6"/>
                    </a:solidFill>
                  </a:rPr>
                  <a:t>时，</a:t>
                </a:r>
                <a:r>
                  <a:rPr lang="en-US" altLang="zh-CN" sz="1200" dirty="0">
                    <a:solidFill>
                      <a:schemeClr val="accent6"/>
                    </a:solidFill>
                  </a:rPr>
                  <a:t>z-score=1.96</a:t>
                </a:r>
              </a:p>
              <a:p>
                <a:pPr lvl="2"/>
                <a:endParaRPr lang="en-US" altLang="zh-CN" sz="1200" dirty="0">
                  <a:solidFill>
                    <a:schemeClr val="accent6"/>
                  </a:solidFill>
                </a:endParaRPr>
              </a:p>
              <a:p>
                <a:pPr lvl="2"/>
                <a14:m>
                  <m:oMath xmlns:m="http://schemas.openxmlformats.org/officeDocument/2006/math">
                    <m:r>
                      <a:rPr lang="en-US" altLang="zh-CN" sz="1200" b="0" i="1" smtClean="0">
                        <a:solidFill>
                          <a:schemeClr val="accent6"/>
                        </a:solidFill>
                        <a:latin typeface="Cambria Math" panose="02040503050406030204" pitchFamily="18" charset="0"/>
                      </a:rPr>
                      <m:t>2</m:t>
                    </m:r>
                    <m:r>
                      <a:rPr lang="zh-CN" altLang="en-US" sz="1200" b="0" i="1" smtClean="0">
                        <a:solidFill>
                          <a:schemeClr val="accent6"/>
                        </a:solidFill>
                        <a:latin typeface="Cambria Math" panose="02040503050406030204" pitchFamily="18" charset="0"/>
                      </a:rPr>
                      <m:t>𝜎</m:t>
                    </m:r>
                  </m:oMath>
                </a14:m>
                <a:r>
                  <a:rPr lang="zh-CN" altLang="en-US" sz="1200" dirty="0">
                    <a:solidFill>
                      <a:schemeClr val="accent6"/>
                    </a:solidFill>
                  </a:rPr>
                  <a:t> 下影面积为 </a:t>
                </a:r>
                <a:r>
                  <a:rPr lang="en-US" altLang="zh-CN" sz="1200" dirty="0">
                    <a:solidFill>
                      <a:schemeClr val="accent6"/>
                    </a:solidFill>
                  </a:rPr>
                  <a:t>95.4%</a:t>
                </a:r>
                <a:endParaRPr lang="zh-CN" altLang="en-US" sz="1200" dirty="0">
                  <a:solidFill>
                    <a:schemeClr val="accent6"/>
                  </a:solidFill>
                </a:endParaRPr>
              </a:p>
            </p:txBody>
          </p:sp>
        </mc:Choice>
        <mc:Fallback xmlns="">
          <p:sp>
            <p:nvSpPr>
              <p:cNvPr id="3" name="内容占位符 2">
                <a:extLst>
                  <a:ext uri="{FF2B5EF4-FFF2-40B4-BE49-F238E27FC236}">
                    <a16:creationId xmlns:a16="http://schemas.microsoft.com/office/drawing/2014/main" id="{1F92E035-5786-2636-742D-C27118C92417}"/>
                  </a:ext>
                </a:extLst>
              </p:cNvPr>
              <p:cNvSpPr>
                <a:spLocks noGrp="1" noRot="1" noChangeAspect="1" noMove="1" noResize="1" noEditPoints="1" noAdjustHandles="1" noChangeArrowheads="1" noChangeShapeType="1" noTextEdit="1"/>
              </p:cNvSpPr>
              <p:nvPr>
                <p:ph sz="half" idx="1"/>
              </p:nvPr>
            </p:nvSpPr>
            <p:spPr>
              <a:blipFill>
                <a:blip r:embed="rId2"/>
                <a:stretch>
                  <a:fillRect l="-429"/>
                </a:stretch>
              </a:blipFill>
            </p:spPr>
            <p:txBody>
              <a:bodyPr/>
              <a:lstStyle/>
              <a:p>
                <a:r>
                  <a:rPr lang="zh-CN" altLang="en-US">
                    <a:noFill/>
                  </a:rPr>
                  <a:t> </a:t>
                </a:r>
              </a:p>
            </p:txBody>
          </p:sp>
        </mc:Fallback>
      </mc:AlternateContent>
      <p:pic>
        <p:nvPicPr>
          <p:cNvPr id="5" name="内容占位符 4">
            <a:extLst>
              <a:ext uri="{FF2B5EF4-FFF2-40B4-BE49-F238E27FC236}">
                <a16:creationId xmlns:a16="http://schemas.microsoft.com/office/drawing/2014/main" id="{C207DDCC-EEC7-893C-6D44-3C6F996EE32C}"/>
              </a:ext>
            </a:extLst>
          </p:cNvPr>
          <p:cNvPicPr>
            <a:picLocks noGrp="1" noChangeAspect="1"/>
          </p:cNvPicPr>
          <p:nvPr>
            <p:ph sz="half" idx="2"/>
          </p:nvPr>
        </p:nvPicPr>
        <p:blipFill>
          <a:blip r:embed="rId3"/>
          <a:stretch>
            <a:fillRect/>
          </a:stretch>
        </p:blipFill>
        <p:spPr>
          <a:xfrm>
            <a:off x="6135688" y="996779"/>
            <a:ext cx="5689600" cy="3497135"/>
          </a:xfrm>
          <a:prstGeom prst="rect">
            <a:avLst/>
          </a:prstGeom>
        </p:spPr>
      </p:pic>
      <p:graphicFrame>
        <p:nvGraphicFramePr>
          <p:cNvPr id="6" name="表格 5">
            <a:extLst>
              <a:ext uri="{FF2B5EF4-FFF2-40B4-BE49-F238E27FC236}">
                <a16:creationId xmlns:a16="http://schemas.microsoft.com/office/drawing/2014/main" id="{DEAC412B-FD83-CD7B-C19C-A83757810EF6}"/>
              </a:ext>
            </a:extLst>
          </p:cNvPr>
          <p:cNvGraphicFramePr>
            <a:graphicFrameLocks noGrp="1"/>
          </p:cNvGraphicFramePr>
          <p:nvPr>
            <p:extLst>
              <p:ext uri="{D42A27DB-BD31-4B8C-83A1-F6EECF244321}">
                <p14:modId xmlns:p14="http://schemas.microsoft.com/office/powerpoint/2010/main" val="4142745107"/>
              </p:ext>
            </p:extLst>
          </p:nvPr>
        </p:nvGraphicFramePr>
        <p:xfrm>
          <a:off x="1303866" y="3675772"/>
          <a:ext cx="2727960" cy="1219200"/>
        </p:xfrm>
        <a:graphic>
          <a:graphicData uri="http://schemas.openxmlformats.org/drawingml/2006/table">
            <a:tbl>
              <a:tblPr firstRow="1" bandRow="1">
                <a:tableStyleId>{7E9639D4-E3E2-4D34-9284-5A2195B3D0D7}</a:tableStyleId>
              </a:tblPr>
              <a:tblGrid>
                <a:gridCol w="1875155">
                  <a:extLst>
                    <a:ext uri="{9D8B030D-6E8A-4147-A177-3AD203B41FA5}">
                      <a16:colId xmlns:a16="http://schemas.microsoft.com/office/drawing/2014/main" val="2286294033"/>
                    </a:ext>
                  </a:extLst>
                </a:gridCol>
                <a:gridCol w="852805">
                  <a:extLst>
                    <a:ext uri="{9D8B030D-6E8A-4147-A177-3AD203B41FA5}">
                      <a16:colId xmlns:a16="http://schemas.microsoft.com/office/drawing/2014/main" val="1822086743"/>
                    </a:ext>
                  </a:extLst>
                </a:gridCol>
              </a:tblGrid>
              <a:tr h="128059">
                <a:tc>
                  <a:txBody>
                    <a:bodyPr/>
                    <a:lstStyle/>
                    <a:p>
                      <a:pPr algn="ctr"/>
                      <a:r>
                        <a:rPr lang="en-US" altLang="zh-CN" sz="1400" dirty="0"/>
                        <a:t>Confidence interval</a:t>
                      </a:r>
                      <a:endParaRPr lang="zh-CN" altLang="en-US" sz="1400" dirty="0"/>
                    </a:p>
                  </a:txBody>
                  <a:tcPr/>
                </a:tc>
                <a:tc>
                  <a:txBody>
                    <a:bodyPr/>
                    <a:lstStyle/>
                    <a:p>
                      <a:pPr algn="ctr"/>
                      <a:r>
                        <a:rPr lang="en-US" altLang="zh-CN" sz="1400" dirty="0"/>
                        <a:t>z-score</a:t>
                      </a:r>
                      <a:endParaRPr lang="zh-CN" altLang="en-US" sz="1400" dirty="0"/>
                    </a:p>
                  </a:txBody>
                  <a:tcPr/>
                </a:tc>
                <a:extLst>
                  <a:ext uri="{0D108BD9-81ED-4DB2-BD59-A6C34878D82A}">
                    <a16:rowId xmlns:a16="http://schemas.microsoft.com/office/drawing/2014/main" val="657890391"/>
                  </a:ext>
                </a:extLst>
              </a:tr>
              <a:tr h="128059">
                <a:tc>
                  <a:txBody>
                    <a:bodyPr/>
                    <a:lstStyle/>
                    <a:p>
                      <a:pPr algn="ctr"/>
                      <a:r>
                        <a:rPr lang="en-US" altLang="zh-CN" sz="1400" dirty="0"/>
                        <a:t>90%</a:t>
                      </a:r>
                      <a:endParaRPr lang="zh-CN" altLang="en-US" sz="1400" dirty="0"/>
                    </a:p>
                  </a:txBody>
                  <a:tcPr/>
                </a:tc>
                <a:tc>
                  <a:txBody>
                    <a:bodyPr/>
                    <a:lstStyle/>
                    <a:p>
                      <a:pPr algn="ctr"/>
                      <a:r>
                        <a:rPr lang="en-US" altLang="zh-CN" sz="1400" dirty="0"/>
                        <a:t>1.645</a:t>
                      </a:r>
                      <a:endParaRPr lang="zh-CN" altLang="en-US" sz="1400" dirty="0"/>
                    </a:p>
                  </a:txBody>
                  <a:tcPr/>
                </a:tc>
                <a:extLst>
                  <a:ext uri="{0D108BD9-81ED-4DB2-BD59-A6C34878D82A}">
                    <a16:rowId xmlns:a16="http://schemas.microsoft.com/office/drawing/2014/main" val="2618872943"/>
                  </a:ext>
                </a:extLst>
              </a:tr>
              <a:tr h="128059">
                <a:tc>
                  <a:txBody>
                    <a:bodyPr/>
                    <a:lstStyle/>
                    <a:p>
                      <a:pPr algn="ctr"/>
                      <a:r>
                        <a:rPr lang="en-US" altLang="zh-CN" sz="1400" dirty="0"/>
                        <a:t>95%</a:t>
                      </a:r>
                      <a:endParaRPr lang="zh-CN" altLang="en-US" sz="1400" dirty="0"/>
                    </a:p>
                  </a:txBody>
                  <a:tcPr/>
                </a:tc>
                <a:tc>
                  <a:txBody>
                    <a:bodyPr/>
                    <a:lstStyle/>
                    <a:p>
                      <a:pPr algn="ctr"/>
                      <a:r>
                        <a:rPr lang="en-US" altLang="zh-CN" sz="1400" dirty="0"/>
                        <a:t>1.96</a:t>
                      </a:r>
                      <a:endParaRPr lang="zh-CN" altLang="en-US" sz="1400" dirty="0"/>
                    </a:p>
                  </a:txBody>
                  <a:tcPr/>
                </a:tc>
                <a:extLst>
                  <a:ext uri="{0D108BD9-81ED-4DB2-BD59-A6C34878D82A}">
                    <a16:rowId xmlns:a16="http://schemas.microsoft.com/office/drawing/2014/main" val="828341876"/>
                  </a:ext>
                </a:extLst>
              </a:tr>
              <a:tr h="128059">
                <a:tc>
                  <a:txBody>
                    <a:bodyPr/>
                    <a:lstStyle/>
                    <a:p>
                      <a:pPr algn="ctr"/>
                      <a:r>
                        <a:rPr lang="en-US" altLang="zh-CN" sz="1400" dirty="0"/>
                        <a:t>99%</a:t>
                      </a:r>
                      <a:endParaRPr lang="zh-CN" altLang="en-US" sz="1400" dirty="0"/>
                    </a:p>
                  </a:txBody>
                  <a:tcPr/>
                </a:tc>
                <a:tc>
                  <a:txBody>
                    <a:bodyPr/>
                    <a:lstStyle/>
                    <a:p>
                      <a:pPr algn="ctr"/>
                      <a:r>
                        <a:rPr lang="en-US" altLang="zh-CN" sz="1400" dirty="0"/>
                        <a:t>2.576</a:t>
                      </a:r>
                      <a:endParaRPr lang="zh-CN" altLang="en-US" sz="1400" dirty="0"/>
                    </a:p>
                  </a:txBody>
                  <a:tcPr/>
                </a:tc>
                <a:extLst>
                  <a:ext uri="{0D108BD9-81ED-4DB2-BD59-A6C34878D82A}">
                    <a16:rowId xmlns:a16="http://schemas.microsoft.com/office/drawing/2014/main" val="2663777435"/>
                  </a:ext>
                </a:extLst>
              </a:tr>
            </a:tbl>
          </a:graphicData>
        </a:graphic>
      </p:graphicFrame>
    </p:spTree>
    <p:extLst>
      <p:ext uri="{BB962C8B-B14F-4D97-AF65-F5344CB8AC3E}">
        <p14:creationId xmlns:p14="http://schemas.microsoft.com/office/powerpoint/2010/main" val="3722433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6DD39-16E9-FD61-2426-D7326FBC96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77F471-ED1C-297C-B01B-EEA9852D6C8F}"/>
              </a:ext>
            </a:extLst>
          </p:cNvPr>
          <p:cNvSpPr>
            <a:spLocks noGrp="1"/>
          </p:cNvSpPr>
          <p:nvPr>
            <p:ph type="title"/>
          </p:nvPr>
        </p:nvSpPr>
        <p:spPr/>
        <p:txBody>
          <a:bodyPr/>
          <a:lstStyle/>
          <a:p>
            <a:r>
              <a:rPr lang="zh-CN" altLang="en-US" dirty="0"/>
              <a:t>总体特征的置信区间（</a:t>
            </a:r>
            <a:r>
              <a:rPr lang="en-US" altLang="zh-CN" dirty="0"/>
              <a:t>Confidence interval for proportions</a:t>
            </a:r>
            <a:r>
              <a:rPr lang="zh-CN" altLang="en-US" dirty="0"/>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B8E69C-9B7A-0331-8C21-C3FE78224733}"/>
                  </a:ext>
                </a:extLst>
              </p:cNvPr>
              <p:cNvSpPr>
                <a:spLocks noGrp="1"/>
              </p:cNvSpPr>
              <p:nvPr>
                <p:ph sz="half" idx="1"/>
              </p:nvPr>
            </p:nvSpPr>
            <p:spPr/>
            <p:txBody>
              <a:bodyPr/>
              <a:lstStyle/>
              <a:p>
                <a14:m>
                  <m:oMath xmlns:m="http://schemas.openxmlformats.org/officeDocument/2006/math">
                    <m:acc>
                      <m:accPr>
                        <m:chr m:val="̂"/>
                        <m:ctrlPr>
                          <a:rPr lang="en-US" altLang="zh-CN"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𝑝</m:t>
                        </m:r>
                      </m:e>
                    </m:acc>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𝑧</m:t>
                    </m:r>
                    <m:r>
                      <a:rPr lang="en-US" altLang="zh-CN" b="0" i="1" smtClean="0">
                        <a:latin typeface="Cambria Math" panose="02040503050406030204" pitchFamily="18" charset="0"/>
                        <a:ea typeface="Cambria Math" panose="02040503050406030204" pitchFamily="18" charset="0"/>
                      </a:rPr>
                      <m:t>×</m:t>
                    </m:r>
                    <m:rad>
                      <m:radPr>
                        <m:degHide m:val="on"/>
                        <m:ctrlPr>
                          <a:rPr lang="en-US" altLang="zh-CN" i="1">
                            <a:latin typeface="Cambria Math" panose="02040503050406030204" pitchFamily="18" charset="0"/>
                            <a:ea typeface="Cambria Math" panose="02040503050406030204" pitchFamily="18" charset="0"/>
                          </a:rPr>
                        </m:ctrlPr>
                      </m:radPr>
                      <m:deg/>
                      <m:e>
                        <m:f>
                          <m:fPr>
                            <m:ctrlPr>
                              <a:rPr lang="en-US" altLang="zh-CN" i="1">
                                <a:latin typeface="Cambria Math" panose="02040503050406030204" pitchFamily="18" charset="0"/>
                                <a:ea typeface="Cambria Math" panose="02040503050406030204" pitchFamily="18" charset="0"/>
                              </a:rPr>
                            </m:ctrlPr>
                          </m:fPr>
                          <m:num>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𝑝</m:t>
                                </m:r>
                              </m:e>
                            </m:acc>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1−</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𝑝</m:t>
                                    </m:r>
                                  </m:e>
                                </m:acc>
                              </m:e>
                            </m:d>
                          </m:num>
                          <m:den>
                            <m:r>
                              <a:rPr lang="en-US" altLang="zh-CN" i="1">
                                <a:latin typeface="Cambria Math" panose="02040503050406030204" pitchFamily="18" charset="0"/>
                                <a:ea typeface="Cambria Math" panose="02040503050406030204" pitchFamily="18" charset="0"/>
                              </a:rPr>
                              <m:t>𝑛</m:t>
                            </m:r>
                          </m:den>
                        </m:f>
                      </m:e>
                    </m:rad>
                  </m:oMath>
                </a14:m>
                <a:endParaRPr lang="en-US" altLang="zh-CN" dirty="0">
                  <a:solidFill>
                    <a:schemeClr val="accent6"/>
                  </a:solidFill>
                </a:endParaRPr>
              </a:p>
              <a:p>
                <a:pPr lvl="1"/>
                <a:endParaRPr lang="en-US" altLang="zh-CN" dirty="0">
                  <a:solidFill>
                    <a:schemeClr val="accent6"/>
                  </a:solidFill>
                </a:endParaRPr>
              </a:p>
              <a:p>
                <a:pPr lvl="1"/>
                <a14:m>
                  <m:oMath xmlns:m="http://schemas.openxmlformats.org/officeDocument/2006/math">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𝑝</m:t>
                        </m:r>
                      </m:e>
                    </m:acc>
                  </m:oMath>
                </a14:m>
                <a:r>
                  <a:rPr lang="en-US" altLang="zh-CN" dirty="0"/>
                  <a:t>	</a:t>
                </a:r>
                <a:r>
                  <a:rPr lang="zh-CN" altLang="en-US" dirty="0"/>
                  <a:t>采样特征</a:t>
                </a:r>
                <a:r>
                  <a:rPr lang="zh-CN" altLang="en-US" sz="1200" dirty="0">
                    <a:solidFill>
                      <a:schemeClr val="accent6"/>
                    </a:solidFill>
                  </a:rPr>
                  <a:t>（采样批中的特征表现，比如：准点率）</a:t>
                </a:r>
                <a:endParaRPr lang="en-US" altLang="zh-CN" dirty="0">
                  <a:solidFill>
                    <a:schemeClr val="accent6"/>
                  </a:solidFill>
                </a:endParaRPr>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en-US" altLang="zh-CN" dirty="0"/>
                  <a:t>	</a:t>
                </a:r>
                <a:r>
                  <a:rPr lang="zh-CN" altLang="en-US" dirty="0"/>
                  <a:t>采样数量</a:t>
                </a:r>
                <a:endParaRPr lang="en-US" altLang="zh-CN" dirty="0"/>
              </a:p>
              <a:p>
                <a:pPr lvl="1"/>
                <a14:m>
                  <m:oMath xmlns:m="http://schemas.openxmlformats.org/officeDocument/2006/math">
                    <m:r>
                      <a:rPr lang="en-US" altLang="zh-CN" i="1">
                        <a:latin typeface="Cambria Math" panose="02040503050406030204" pitchFamily="18" charset="0"/>
                        <a:ea typeface="Cambria Math" panose="02040503050406030204" pitchFamily="18" charset="0"/>
                      </a:rPr>
                      <m:t>𝑧</m:t>
                    </m:r>
                  </m:oMath>
                </a14:m>
                <a:r>
                  <a:rPr lang="en-US" altLang="zh-CN" dirty="0"/>
                  <a:t>	z-score </a:t>
                </a:r>
                <a:r>
                  <a:rPr lang="zh-CN" altLang="en-US" dirty="0"/>
                  <a:t>标准正态分布</a:t>
                </a:r>
                <a:endParaRPr lang="en-US" altLang="zh-CN" dirty="0"/>
              </a:p>
              <a:p>
                <a:pPr lvl="2"/>
                <a:r>
                  <a:rPr lang="zh-CN" altLang="en-US" sz="1200" dirty="0">
                    <a:solidFill>
                      <a:schemeClr val="accent6"/>
                    </a:solidFill>
                  </a:rPr>
                  <a:t>置信度为 </a:t>
                </a:r>
                <a:r>
                  <a:rPr lang="en-US" altLang="zh-CN" sz="1200" dirty="0">
                    <a:solidFill>
                      <a:schemeClr val="accent6"/>
                    </a:solidFill>
                  </a:rPr>
                  <a:t>97.7% </a:t>
                </a:r>
                <a:r>
                  <a:rPr lang="zh-CN" altLang="en-US" sz="1200" dirty="0">
                    <a:solidFill>
                      <a:schemeClr val="accent6"/>
                    </a:solidFill>
                  </a:rPr>
                  <a:t>时，</a:t>
                </a:r>
                <a:r>
                  <a:rPr lang="en-US" altLang="zh-CN" sz="1200" dirty="0">
                    <a:solidFill>
                      <a:schemeClr val="accent6"/>
                    </a:solidFill>
                  </a:rPr>
                  <a:t>z-score=2</a:t>
                </a:r>
              </a:p>
              <a:p>
                <a:pPr lvl="2"/>
                <a:r>
                  <a:rPr lang="zh-CN" altLang="en-US" sz="1200" dirty="0">
                    <a:solidFill>
                      <a:schemeClr val="accent6"/>
                    </a:solidFill>
                  </a:rPr>
                  <a:t>置信度为 </a:t>
                </a:r>
                <a:r>
                  <a:rPr lang="en-US" altLang="zh-CN" sz="1200" dirty="0">
                    <a:solidFill>
                      <a:schemeClr val="accent6"/>
                    </a:solidFill>
                  </a:rPr>
                  <a:t>95% </a:t>
                </a:r>
                <a:r>
                  <a:rPr lang="zh-CN" altLang="en-US" sz="1200" dirty="0">
                    <a:solidFill>
                      <a:schemeClr val="accent6"/>
                    </a:solidFill>
                  </a:rPr>
                  <a:t>时，</a:t>
                </a:r>
                <a:r>
                  <a:rPr lang="en-US" altLang="zh-CN" sz="1200" dirty="0">
                    <a:solidFill>
                      <a:schemeClr val="accent6"/>
                    </a:solidFill>
                  </a:rPr>
                  <a:t>z-score=1.96</a:t>
                </a:r>
              </a:p>
              <a:p>
                <a:pPr lvl="2"/>
                <a:endParaRPr lang="en-US" altLang="zh-CN" sz="1200" dirty="0">
                  <a:solidFill>
                    <a:schemeClr val="accent6"/>
                  </a:solidFill>
                </a:endParaRPr>
              </a:p>
              <a:p>
                <a:pPr lvl="2"/>
                <a14:m>
                  <m:oMath xmlns:m="http://schemas.openxmlformats.org/officeDocument/2006/math">
                    <m:r>
                      <a:rPr lang="en-US" altLang="zh-CN" sz="1200" b="0" i="1" smtClean="0">
                        <a:solidFill>
                          <a:schemeClr val="accent6"/>
                        </a:solidFill>
                        <a:latin typeface="Cambria Math" panose="02040503050406030204" pitchFamily="18" charset="0"/>
                      </a:rPr>
                      <m:t>2</m:t>
                    </m:r>
                    <m:r>
                      <a:rPr lang="zh-CN" altLang="en-US" sz="1200" b="0" i="1" smtClean="0">
                        <a:solidFill>
                          <a:schemeClr val="accent6"/>
                        </a:solidFill>
                        <a:latin typeface="Cambria Math" panose="02040503050406030204" pitchFamily="18" charset="0"/>
                      </a:rPr>
                      <m:t>𝜎</m:t>
                    </m:r>
                  </m:oMath>
                </a14:m>
                <a:r>
                  <a:rPr lang="zh-CN" altLang="en-US" sz="1200" dirty="0">
                    <a:solidFill>
                      <a:schemeClr val="accent6"/>
                    </a:solidFill>
                  </a:rPr>
                  <a:t> 下影面积为 </a:t>
                </a:r>
                <a:r>
                  <a:rPr lang="en-US" altLang="zh-CN" sz="1200" dirty="0">
                    <a:solidFill>
                      <a:schemeClr val="accent6"/>
                    </a:solidFill>
                  </a:rPr>
                  <a:t>95.4%</a:t>
                </a:r>
                <a:endParaRPr lang="zh-CN" altLang="en-US" sz="1200" dirty="0">
                  <a:solidFill>
                    <a:schemeClr val="accent6"/>
                  </a:solidFill>
                </a:endParaRPr>
              </a:p>
            </p:txBody>
          </p:sp>
        </mc:Choice>
        <mc:Fallback xmlns="">
          <p:sp>
            <p:nvSpPr>
              <p:cNvPr id="3" name="内容占位符 2">
                <a:extLst>
                  <a:ext uri="{FF2B5EF4-FFF2-40B4-BE49-F238E27FC236}">
                    <a16:creationId xmlns:a16="http://schemas.microsoft.com/office/drawing/2014/main" id="{92B8E69C-9B7A-0331-8C21-C3FE78224733}"/>
                  </a:ext>
                </a:extLst>
              </p:cNvPr>
              <p:cNvSpPr>
                <a:spLocks noGrp="1" noRot="1" noChangeAspect="1" noMove="1" noResize="1" noEditPoints="1" noAdjustHandles="1" noChangeArrowheads="1" noChangeShapeType="1" noTextEdit="1"/>
              </p:cNvSpPr>
              <p:nvPr>
                <p:ph sz="half" idx="1"/>
              </p:nvPr>
            </p:nvSpPr>
            <p:spPr>
              <a:blipFill>
                <a:blip r:embed="rId2"/>
                <a:stretch>
                  <a:fillRect/>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C7D13306-6591-BCBA-E2AF-209E4ED3A202}"/>
              </a:ext>
            </a:extLst>
          </p:cNvPr>
          <p:cNvGraphicFramePr>
            <a:graphicFrameLocks noGrp="1"/>
          </p:cNvGraphicFramePr>
          <p:nvPr>
            <p:extLst>
              <p:ext uri="{D42A27DB-BD31-4B8C-83A1-F6EECF244321}">
                <p14:modId xmlns:p14="http://schemas.microsoft.com/office/powerpoint/2010/main" val="3931834012"/>
              </p:ext>
            </p:extLst>
          </p:nvPr>
        </p:nvGraphicFramePr>
        <p:xfrm>
          <a:off x="1303866" y="3595338"/>
          <a:ext cx="2727960" cy="1219200"/>
        </p:xfrm>
        <a:graphic>
          <a:graphicData uri="http://schemas.openxmlformats.org/drawingml/2006/table">
            <a:tbl>
              <a:tblPr firstRow="1" bandRow="1">
                <a:tableStyleId>{7E9639D4-E3E2-4D34-9284-5A2195B3D0D7}</a:tableStyleId>
              </a:tblPr>
              <a:tblGrid>
                <a:gridCol w="1875155">
                  <a:extLst>
                    <a:ext uri="{9D8B030D-6E8A-4147-A177-3AD203B41FA5}">
                      <a16:colId xmlns:a16="http://schemas.microsoft.com/office/drawing/2014/main" val="2286294033"/>
                    </a:ext>
                  </a:extLst>
                </a:gridCol>
                <a:gridCol w="852805">
                  <a:extLst>
                    <a:ext uri="{9D8B030D-6E8A-4147-A177-3AD203B41FA5}">
                      <a16:colId xmlns:a16="http://schemas.microsoft.com/office/drawing/2014/main" val="1822086743"/>
                    </a:ext>
                  </a:extLst>
                </a:gridCol>
              </a:tblGrid>
              <a:tr h="128059">
                <a:tc>
                  <a:txBody>
                    <a:bodyPr/>
                    <a:lstStyle/>
                    <a:p>
                      <a:pPr algn="ctr"/>
                      <a:r>
                        <a:rPr lang="en-US" altLang="zh-CN" sz="1400" dirty="0"/>
                        <a:t>Confidence interval</a:t>
                      </a:r>
                      <a:endParaRPr lang="zh-CN" altLang="en-US" sz="1400" dirty="0"/>
                    </a:p>
                  </a:txBody>
                  <a:tcPr/>
                </a:tc>
                <a:tc>
                  <a:txBody>
                    <a:bodyPr/>
                    <a:lstStyle/>
                    <a:p>
                      <a:pPr algn="ctr"/>
                      <a:r>
                        <a:rPr lang="en-US" altLang="zh-CN" sz="1400" dirty="0"/>
                        <a:t>z-score</a:t>
                      </a:r>
                      <a:endParaRPr lang="zh-CN" altLang="en-US" sz="1400" dirty="0"/>
                    </a:p>
                  </a:txBody>
                  <a:tcPr/>
                </a:tc>
                <a:extLst>
                  <a:ext uri="{0D108BD9-81ED-4DB2-BD59-A6C34878D82A}">
                    <a16:rowId xmlns:a16="http://schemas.microsoft.com/office/drawing/2014/main" val="657890391"/>
                  </a:ext>
                </a:extLst>
              </a:tr>
              <a:tr h="128059">
                <a:tc>
                  <a:txBody>
                    <a:bodyPr/>
                    <a:lstStyle/>
                    <a:p>
                      <a:pPr algn="ctr"/>
                      <a:r>
                        <a:rPr lang="en-US" altLang="zh-CN" sz="1400" dirty="0"/>
                        <a:t>90%</a:t>
                      </a:r>
                      <a:endParaRPr lang="zh-CN" altLang="en-US" sz="1400" dirty="0"/>
                    </a:p>
                  </a:txBody>
                  <a:tcPr/>
                </a:tc>
                <a:tc>
                  <a:txBody>
                    <a:bodyPr/>
                    <a:lstStyle/>
                    <a:p>
                      <a:pPr algn="ctr"/>
                      <a:r>
                        <a:rPr lang="en-US" altLang="zh-CN" sz="1400" dirty="0"/>
                        <a:t>1.645</a:t>
                      </a:r>
                      <a:endParaRPr lang="zh-CN" altLang="en-US" sz="1400" dirty="0"/>
                    </a:p>
                  </a:txBody>
                  <a:tcPr/>
                </a:tc>
                <a:extLst>
                  <a:ext uri="{0D108BD9-81ED-4DB2-BD59-A6C34878D82A}">
                    <a16:rowId xmlns:a16="http://schemas.microsoft.com/office/drawing/2014/main" val="2618872943"/>
                  </a:ext>
                </a:extLst>
              </a:tr>
              <a:tr h="128059">
                <a:tc>
                  <a:txBody>
                    <a:bodyPr/>
                    <a:lstStyle/>
                    <a:p>
                      <a:pPr algn="ctr"/>
                      <a:r>
                        <a:rPr lang="en-US" altLang="zh-CN" sz="1400" dirty="0"/>
                        <a:t>95%</a:t>
                      </a:r>
                      <a:endParaRPr lang="zh-CN" altLang="en-US" sz="1400" dirty="0"/>
                    </a:p>
                  </a:txBody>
                  <a:tcPr/>
                </a:tc>
                <a:tc>
                  <a:txBody>
                    <a:bodyPr/>
                    <a:lstStyle/>
                    <a:p>
                      <a:pPr algn="ctr"/>
                      <a:r>
                        <a:rPr lang="en-US" altLang="zh-CN" sz="1400" dirty="0"/>
                        <a:t>1.96</a:t>
                      </a:r>
                      <a:endParaRPr lang="zh-CN" altLang="en-US" sz="1400" dirty="0"/>
                    </a:p>
                  </a:txBody>
                  <a:tcPr/>
                </a:tc>
                <a:extLst>
                  <a:ext uri="{0D108BD9-81ED-4DB2-BD59-A6C34878D82A}">
                    <a16:rowId xmlns:a16="http://schemas.microsoft.com/office/drawing/2014/main" val="828341876"/>
                  </a:ext>
                </a:extLst>
              </a:tr>
              <a:tr h="128059">
                <a:tc>
                  <a:txBody>
                    <a:bodyPr/>
                    <a:lstStyle/>
                    <a:p>
                      <a:pPr algn="ctr"/>
                      <a:r>
                        <a:rPr lang="en-US" altLang="zh-CN" sz="1400" dirty="0"/>
                        <a:t>99%</a:t>
                      </a:r>
                      <a:endParaRPr lang="zh-CN" altLang="en-US" sz="1400" dirty="0"/>
                    </a:p>
                  </a:txBody>
                  <a:tcPr/>
                </a:tc>
                <a:tc>
                  <a:txBody>
                    <a:bodyPr/>
                    <a:lstStyle/>
                    <a:p>
                      <a:pPr algn="ctr"/>
                      <a:r>
                        <a:rPr lang="en-US" altLang="zh-CN" sz="1400" dirty="0"/>
                        <a:t>2.576</a:t>
                      </a:r>
                      <a:endParaRPr lang="zh-CN" altLang="en-US" sz="1400" dirty="0"/>
                    </a:p>
                  </a:txBody>
                  <a:tcPr/>
                </a:tc>
                <a:extLst>
                  <a:ext uri="{0D108BD9-81ED-4DB2-BD59-A6C34878D82A}">
                    <a16:rowId xmlns:a16="http://schemas.microsoft.com/office/drawing/2014/main" val="2663777435"/>
                  </a:ext>
                </a:extLst>
              </a:tr>
            </a:tbl>
          </a:graphicData>
        </a:graphic>
      </p:graphicFrame>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56FAD270-4494-A410-A644-BE5A0AE3A6A0}"/>
                  </a:ext>
                </a:extLst>
              </p:cNvPr>
              <p:cNvSpPr>
                <a:spLocks noGrp="1"/>
              </p:cNvSpPr>
              <p:nvPr>
                <p:ph sz="half" idx="2"/>
              </p:nvPr>
            </p:nvSpPr>
            <p:spPr/>
            <p:txBody>
              <a:bodyPr/>
              <a:lstStyle/>
              <a:p>
                <a:pPr lvl="1"/>
                <a14:m>
                  <m:oMath xmlns:m="http://schemas.openxmlformats.org/officeDocument/2006/math">
                    <m:r>
                      <a:rPr lang="en-US" altLang="zh-CN" i="1">
                        <a:latin typeface="Cambria Math" panose="02040503050406030204" pitchFamily="18" charset="0"/>
                        <a:ea typeface="Cambria Math" panose="02040503050406030204" pitchFamily="18" charset="0"/>
                      </a:rPr>
                      <m:t>𝑧</m:t>
                    </m:r>
                    <m:r>
                      <a:rPr lang="en-US" altLang="zh-CN" i="1">
                        <a:latin typeface="Cambria Math" panose="02040503050406030204" pitchFamily="18" charset="0"/>
                        <a:ea typeface="Cambria Math" panose="02040503050406030204" pitchFamily="18" charset="0"/>
                      </a:rPr>
                      <m:t>×</m:t>
                    </m:r>
                    <m:rad>
                      <m:radPr>
                        <m:degHide m:val="on"/>
                        <m:ctrlPr>
                          <a:rPr lang="en-US" altLang="zh-CN" i="1">
                            <a:latin typeface="Cambria Math" panose="02040503050406030204" pitchFamily="18" charset="0"/>
                            <a:ea typeface="Cambria Math" panose="02040503050406030204" pitchFamily="18" charset="0"/>
                          </a:rPr>
                        </m:ctrlPr>
                      </m:radPr>
                      <m:deg/>
                      <m:e>
                        <m:f>
                          <m:fPr>
                            <m:ctrlPr>
                              <a:rPr lang="en-US" altLang="zh-CN" i="1">
                                <a:latin typeface="Cambria Math" panose="02040503050406030204" pitchFamily="18" charset="0"/>
                                <a:ea typeface="Cambria Math" panose="02040503050406030204" pitchFamily="18" charset="0"/>
                              </a:rPr>
                            </m:ctrlPr>
                          </m:fPr>
                          <m:num>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𝑝</m:t>
                                </m:r>
                              </m:e>
                            </m:acc>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1−</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𝑝</m:t>
                                    </m:r>
                                  </m:e>
                                </m:acc>
                              </m:e>
                            </m:d>
                          </m:num>
                          <m:den>
                            <m:r>
                              <a:rPr lang="en-US" altLang="zh-CN" i="1">
                                <a:latin typeface="Cambria Math" panose="02040503050406030204" pitchFamily="18" charset="0"/>
                                <a:ea typeface="Cambria Math" panose="02040503050406030204" pitchFamily="18" charset="0"/>
                              </a:rPr>
                              <m:t>𝑛</m:t>
                            </m:r>
                          </m:den>
                        </m:f>
                      </m:e>
                    </m:rad>
                  </m:oMath>
                </a14:m>
                <a:r>
                  <a:rPr lang="zh-CN" altLang="en-US" sz="1400" dirty="0">
                    <a:solidFill>
                      <a:schemeClr val="accent6"/>
                    </a:solidFill>
                  </a:rPr>
                  <a:t> </a:t>
                </a:r>
                <a:r>
                  <a:rPr lang="en-US" altLang="zh-CN" sz="1400" dirty="0">
                    <a:solidFill>
                      <a:schemeClr val="accent6"/>
                    </a:solidFill>
                  </a:rPr>
                  <a:t>	</a:t>
                </a:r>
                <a:r>
                  <a:rPr lang="zh-CN" altLang="en-US" sz="1400" dirty="0">
                    <a:solidFill>
                      <a:schemeClr val="accent6"/>
                    </a:solidFill>
                  </a:rPr>
                  <a:t>也称为 </a:t>
                </a:r>
                <a:r>
                  <a:rPr lang="en-US" altLang="zh-CN" sz="1400" dirty="0">
                    <a:solidFill>
                      <a:schemeClr val="accent6"/>
                    </a:solidFill>
                  </a:rPr>
                  <a:t>Margin Error</a:t>
                </a:r>
              </a:p>
              <a:p>
                <a:pPr lvl="1"/>
                <a14:m>
                  <m:oMath xmlns:m="http://schemas.openxmlformats.org/officeDocument/2006/math">
                    <m:rad>
                      <m:radPr>
                        <m:degHide m:val="on"/>
                        <m:ctrlPr>
                          <a:rPr lang="en-US" altLang="zh-CN" sz="1400" i="1">
                            <a:latin typeface="Cambria Math" panose="02040503050406030204" pitchFamily="18" charset="0"/>
                            <a:ea typeface="Cambria Math" panose="02040503050406030204" pitchFamily="18" charset="0"/>
                          </a:rPr>
                        </m:ctrlPr>
                      </m:radPr>
                      <m:deg/>
                      <m:e>
                        <m:f>
                          <m:fPr>
                            <m:ctrlPr>
                              <a:rPr lang="en-US" altLang="zh-CN" sz="1400" i="1">
                                <a:latin typeface="Cambria Math" panose="02040503050406030204" pitchFamily="18" charset="0"/>
                                <a:ea typeface="Cambria Math" panose="02040503050406030204" pitchFamily="18" charset="0"/>
                              </a:rPr>
                            </m:ctrlPr>
                          </m:fPr>
                          <m:num>
                            <m:acc>
                              <m:accPr>
                                <m:chr m:val="̂"/>
                                <m:ctrlPr>
                                  <a:rPr lang="en-US" altLang="zh-CN" sz="1400" i="1">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Cambria Math" panose="02040503050406030204" pitchFamily="18" charset="0"/>
                                  </a:rPr>
                                  <m:t>𝑝</m:t>
                                </m:r>
                              </m:e>
                            </m:acc>
                            <m:d>
                              <m:dPr>
                                <m:ctrlPr>
                                  <a:rPr lang="en-US" altLang="zh-CN" sz="1400" i="1">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ea typeface="Cambria Math" panose="02040503050406030204" pitchFamily="18" charset="0"/>
                                  </a:rPr>
                                  <m:t>1−</m:t>
                                </m:r>
                                <m:acc>
                                  <m:accPr>
                                    <m:chr m:val="̂"/>
                                    <m:ctrlPr>
                                      <a:rPr lang="en-US" altLang="zh-CN" sz="1400" i="1">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Cambria Math" panose="02040503050406030204" pitchFamily="18" charset="0"/>
                                      </a:rPr>
                                      <m:t>𝑝</m:t>
                                    </m:r>
                                  </m:e>
                                </m:acc>
                              </m:e>
                            </m:d>
                          </m:num>
                          <m:den>
                            <m:r>
                              <a:rPr lang="en-US" altLang="zh-CN" sz="1400" i="1">
                                <a:latin typeface="Cambria Math" panose="02040503050406030204" pitchFamily="18" charset="0"/>
                                <a:ea typeface="Cambria Math" panose="02040503050406030204" pitchFamily="18" charset="0"/>
                              </a:rPr>
                              <m:t>𝑛</m:t>
                            </m:r>
                          </m:den>
                        </m:f>
                      </m:e>
                    </m:rad>
                  </m:oMath>
                </a14:m>
                <a:r>
                  <a:rPr lang="en-US" altLang="zh-CN" sz="1400" dirty="0">
                    <a:solidFill>
                      <a:schemeClr val="accent6"/>
                    </a:solidFill>
                  </a:rPr>
                  <a:t>	</a:t>
                </a:r>
                <a:r>
                  <a:rPr lang="zh-CN" altLang="en-US" sz="1400" dirty="0">
                    <a:solidFill>
                      <a:schemeClr val="accent6"/>
                    </a:solidFill>
                  </a:rPr>
                  <a:t>也称为 </a:t>
                </a:r>
                <a:r>
                  <a:rPr lang="en-US" altLang="zh-CN" sz="1400" dirty="0">
                    <a:solidFill>
                      <a:schemeClr val="accent6"/>
                    </a:solidFill>
                  </a:rPr>
                  <a:t>Standard Error</a:t>
                </a:r>
              </a:p>
              <a:p>
                <a:endParaRPr lang="zh-CN" altLang="en-US" dirty="0"/>
              </a:p>
            </p:txBody>
          </p:sp>
        </mc:Choice>
        <mc:Fallback xmlns="">
          <p:sp>
            <p:nvSpPr>
              <p:cNvPr id="4" name="内容占位符 3">
                <a:extLst>
                  <a:ext uri="{FF2B5EF4-FFF2-40B4-BE49-F238E27FC236}">
                    <a16:creationId xmlns:a16="http://schemas.microsoft.com/office/drawing/2014/main" id="{56FAD270-4494-A410-A644-BE5A0AE3A6A0}"/>
                  </a:ext>
                </a:extLst>
              </p:cNvPr>
              <p:cNvSpPr>
                <a:spLocks noGrp="1" noRot="1" noChangeAspect="1" noMove="1" noResize="1" noEditPoints="1" noAdjustHandles="1" noChangeArrowheads="1" noChangeShapeType="1" noTextEdit="1"/>
              </p:cNvSpPr>
              <p:nvPr>
                <p:ph sz="half" idx="2"/>
              </p:nvPr>
            </p:nvSpPr>
            <p:spPr>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52761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0D73A-3F65-0594-68BB-0162642B664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31235DC-0FF0-F355-31D3-1C8A6567E762}"/>
              </a:ext>
            </a:extLst>
          </p:cNvPr>
          <p:cNvSpPr>
            <a:spLocks noGrp="1"/>
          </p:cNvSpPr>
          <p:nvPr>
            <p:ph type="title"/>
          </p:nvPr>
        </p:nvSpPr>
        <p:spPr/>
        <p:txBody>
          <a:bodyPr/>
          <a:lstStyle/>
          <a:p>
            <a:r>
              <a:rPr lang="en-US" altLang="zh-CN" dirty="0"/>
              <a:t>Module 4</a:t>
            </a:r>
            <a:endParaRPr lang="zh-CN" altLang="en-US" dirty="0"/>
          </a:p>
        </p:txBody>
      </p:sp>
      <p:sp>
        <p:nvSpPr>
          <p:cNvPr id="5" name="文本占位符 4">
            <a:extLst>
              <a:ext uri="{FF2B5EF4-FFF2-40B4-BE49-F238E27FC236}">
                <a16:creationId xmlns:a16="http://schemas.microsoft.com/office/drawing/2014/main" id="{BC8F7DA7-3591-884A-F170-98B3736A3B17}"/>
              </a:ext>
            </a:extLst>
          </p:cNvPr>
          <p:cNvSpPr>
            <a:spLocks noGrp="1"/>
          </p:cNvSpPr>
          <p:nvPr>
            <p:ph type="body" idx="1"/>
          </p:nvPr>
        </p:nvSpPr>
        <p:spPr/>
        <p:txBody>
          <a:bodyPr/>
          <a:lstStyle/>
          <a:p>
            <a:r>
              <a:rPr lang="en-US" altLang="zh-CN" dirty="0"/>
              <a:t>Hypothesis testing</a:t>
            </a:r>
            <a:endParaRPr lang="zh-CN" altLang="en-US" dirty="0"/>
          </a:p>
        </p:txBody>
      </p:sp>
    </p:spTree>
    <p:extLst>
      <p:ext uri="{BB962C8B-B14F-4D97-AF65-F5344CB8AC3E}">
        <p14:creationId xmlns:p14="http://schemas.microsoft.com/office/powerpoint/2010/main" val="912166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D332FF-0D84-5A34-C817-C4D073C7D447}"/>
              </a:ext>
            </a:extLst>
          </p:cNvPr>
          <p:cNvSpPr>
            <a:spLocks noGrp="1"/>
          </p:cNvSpPr>
          <p:nvPr>
            <p:ph type="title"/>
          </p:nvPr>
        </p:nvSpPr>
        <p:spPr/>
        <p:txBody>
          <a:bodyPr/>
          <a:lstStyle/>
          <a:p>
            <a:r>
              <a:rPr lang="en-US" altLang="zh-CN" dirty="0"/>
              <a:t>Hypotheses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8569BF8-5E4A-9FF0-C041-412AF91E0129}"/>
                  </a:ext>
                </a:extLst>
              </p:cNvPr>
              <p:cNvSpPr>
                <a:spLocks noGrp="1"/>
              </p:cNvSpPr>
              <p:nvPr>
                <p:ph sz="half" idx="1"/>
              </p:nvPr>
            </p:nvSpPr>
            <p:spPr/>
            <p:txBody>
              <a:bodyPr/>
              <a:lstStyle/>
              <a:p>
                <a:r>
                  <a:rPr lang="en-US" altLang="zh-CN" dirty="0"/>
                  <a:t>Null hypothesis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0</m:t>
                        </m:r>
                      </m:sub>
                    </m:sSub>
                  </m:oMath>
                </a14:m>
                <a:endParaRPr lang="en-US" altLang="zh-CN" dirty="0"/>
              </a:p>
              <a:p>
                <a:endParaRPr lang="en-US" altLang="zh-CN" dirty="0"/>
              </a:p>
              <a:p>
                <a:r>
                  <a:rPr lang="en-US" altLang="zh-CN" dirty="0"/>
                  <a:t>Alternative hypothesis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oMath>
                </a14:m>
                <a:endParaRPr lang="en-US" altLang="zh-CN" dirty="0"/>
              </a:p>
              <a:p>
                <a:pPr lvl="1"/>
                <a:r>
                  <a:rPr lang="en-US" altLang="zh-CN" dirty="0"/>
                  <a:t>If find evidence for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oMath>
                </a14:m>
                <a:r>
                  <a:rPr lang="en-US" altLang="zh-CN" dirty="0"/>
                  <a:t>	</a:t>
                </a:r>
                <a:r>
                  <a:rPr lang="en-US" altLang="zh-CN" b="1" dirty="0"/>
                  <a:t>reject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endParaRPr lang="en-US" altLang="zh-CN" dirty="0"/>
              </a:p>
              <a:p>
                <a:pPr lvl="1"/>
                <a:r>
                  <a:rPr lang="en-US" altLang="zh-CN" dirty="0"/>
                  <a:t>If no evidence for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oMath>
                </a14:m>
                <a:r>
                  <a:rPr lang="en-US" altLang="zh-CN" dirty="0"/>
                  <a:t>	</a:t>
                </a:r>
                <a:r>
                  <a:rPr lang="en-US" altLang="zh-CN" b="1" dirty="0"/>
                  <a:t>fail to reject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endParaRPr lang="en-US" altLang="zh-CN" dirty="0"/>
              </a:p>
            </p:txBody>
          </p:sp>
        </mc:Choice>
        <mc:Fallback xmlns="">
          <p:sp>
            <p:nvSpPr>
              <p:cNvPr id="3" name="内容占位符 2">
                <a:extLst>
                  <a:ext uri="{FF2B5EF4-FFF2-40B4-BE49-F238E27FC236}">
                    <a16:creationId xmlns:a16="http://schemas.microsoft.com/office/drawing/2014/main" id="{A8569BF8-5E4A-9FF0-C041-412AF91E0129}"/>
                  </a:ext>
                </a:extLst>
              </p:cNvPr>
              <p:cNvSpPr>
                <a:spLocks noGrp="1" noRot="1" noChangeAspect="1" noMove="1" noResize="1" noEditPoints="1" noAdjustHandles="1" noChangeArrowheads="1" noChangeShapeType="1" noTextEdit="1"/>
              </p:cNvSpPr>
              <p:nvPr>
                <p:ph sz="half" idx="1"/>
              </p:nvPr>
            </p:nvSpPr>
            <p:spPr>
              <a:blipFill>
                <a:blip r:embed="rId2"/>
                <a:stretch>
                  <a:fillRect l="-429" t="-3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48AB627B-A7F3-6BAC-D327-6A82CE7174A3}"/>
                  </a:ext>
                </a:extLst>
              </p:cNvPr>
              <p:cNvSpPr>
                <a:spLocks noGrp="1"/>
              </p:cNvSpPr>
              <p:nvPr>
                <p:ph sz="half" idx="2"/>
              </p:nvPr>
            </p:nvSpPr>
            <p:spPr/>
            <p:txBody>
              <a:bodyPr/>
              <a:lstStyle/>
              <a:p>
                <a:r>
                  <a:rPr lang="zh-CN" altLang="en-US" dirty="0"/>
                  <a:t>例：</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r>
                  <a:rPr lang="en-US" altLang="zh-CN" dirty="0"/>
                  <a:t>	</a:t>
                </a:r>
                <a14:m>
                  <m:oMath xmlns:m="http://schemas.openxmlformats.org/officeDocument/2006/math">
                    <m:r>
                      <a:rPr lang="zh-CN" altLang="en-US" i="1" smtClean="0">
                        <a:latin typeface="Cambria Math" panose="02040503050406030204" pitchFamily="18" charset="0"/>
                      </a:rPr>
                      <m:t>𝜇</m:t>
                    </m:r>
                    <m:r>
                      <a:rPr lang="en-US" altLang="zh-CN" b="0" i="1" smtClean="0">
                        <a:latin typeface="Cambria Math" panose="02040503050406030204" pitchFamily="18" charset="0"/>
                      </a:rPr>
                      <m:t>=10</m:t>
                    </m:r>
                  </m:oMath>
                </a14:m>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oMath>
                </a14:m>
                <a:r>
                  <a:rPr lang="en-US" altLang="zh-CN" dirty="0"/>
                  <a:t>	</a:t>
                </a:r>
                <a14:m>
                  <m:oMath xmlns:m="http://schemas.openxmlformats.org/officeDocument/2006/math">
                    <m:r>
                      <a:rPr lang="zh-CN" altLang="en-US" i="1">
                        <a:latin typeface="Cambria Math" panose="02040503050406030204" pitchFamily="18" charset="0"/>
                      </a:rPr>
                      <m:t>𝜇</m:t>
                    </m:r>
                    <m:r>
                      <a:rPr lang="en-US" altLang="zh-CN" b="0" i="1" smtClean="0">
                        <a:latin typeface="Cambria Math" panose="02040503050406030204" pitchFamily="18" charset="0"/>
                      </a:rPr>
                      <m:t>&gt;</m:t>
                    </m:r>
                    <m:r>
                      <a:rPr lang="en-US" altLang="zh-CN" i="1">
                        <a:latin typeface="Cambria Math" panose="02040503050406030204" pitchFamily="18" charset="0"/>
                      </a:rPr>
                      <m:t>10</m:t>
                    </m:r>
                  </m:oMath>
                </a14:m>
                <a:endParaRPr lang="en-US" altLang="zh-CN" dirty="0"/>
              </a:p>
              <a:p>
                <a:pPr lvl="1"/>
                <a:endParaRPr lang="en-US" altLang="zh-CN" dirty="0"/>
              </a:p>
              <a:p>
                <a:pPr lvl="1"/>
                <a14:m>
                  <m:oMath xmlns:m="http://schemas.openxmlformats.org/officeDocument/2006/math">
                    <m:r>
                      <a:rPr lang="en-US" altLang="zh-CN" i="1" dirty="0">
                        <a:latin typeface="Cambria Math" panose="02040503050406030204" pitchFamily="18" charset="0"/>
                      </a:rPr>
                      <m:t>𝑧</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r>
                          <a:rPr lang="en-US" altLang="zh-CN" i="1" dirty="0">
                            <a:latin typeface="Cambria Math" panose="02040503050406030204" pitchFamily="18" charset="0"/>
                          </a:rPr>
                          <m:t>−</m:t>
                        </m:r>
                        <m:r>
                          <a:rPr lang="zh-CN" altLang="en-US" i="1" dirty="0">
                            <a:latin typeface="Cambria Math" panose="02040503050406030204" pitchFamily="18" charset="0"/>
                          </a:rPr>
                          <m:t>𝜇</m:t>
                        </m:r>
                      </m:num>
                      <m:den>
                        <m:r>
                          <a:rPr lang="en-US" altLang="zh-CN" i="1" dirty="0">
                            <a:latin typeface="Cambria Math" panose="02040503050406030204" pitchFamily="18" charset="0"/>
                          </a:rPr>
                          <m:t>𝑆𝐸</m:t>
                        </m:r>
                      </m:den>
                    </m:f>
                  </m:oMath>
                </a14:m>
                <a:r>
                  <a:rPr lang="en-US" altLang="zh-CN" dirty="0"/>
                  <a:t>		</a:t>
                </a:r>
                <a:r>
                  <a:rPr lang="zh-CN" altLang="en-US" sz="1200" dirty="0">
                    <a:solidFill>
                      <a:schemeClr val="accent6"/>
                    </a:solidFill>
                  </a:rPr>
                  <a:t>采样均值的估算</a:t>
                </a:r>
                <a:r>
                  <a:rPr lang="en-US" altLang="zh-CN" sz="1200" dirty="0">
                    <a:solidFill>
                      <a:schemeClr val="accent6"/>
                    </a:solidFill>
                  </a:rPr>
                  <a:t> z-score, </a:t>
                </a:r>
                <a:r>
                  <a:rPr lang="zh-CN" altLang="en-US" sz="1200" dirty="0">
                    <a:solidFill>
                      <a:schemeClr val="accent6"/>
                    </a:solidFill>
                  </a:rPr>
                  <a:t>以 </a:t>
                </a:r>
                <a14:m>
                  <m:oMath xmlns:m="http://schemas.openxmlformats.org/officeDocument/2006/math">
                    <m:r>
                      <a:rPr lang="en-US" altLang="zh-CN" sz="1200" i="1">
                        <a:solidFill>
                          <a:schemeClr val="accent6"/>
                        </a:solidFill>
                        <a:latin typeface="Cambria Math" panose="02040503050406030204" pitchFamily="18" charset="0"/>
                        <a:ea typeface="Cambria Math" panose="02040503050406030204" pitchFamily="18" charset="0"/>
                      </a:rPr>
                      <m:t>𝑆𝐸</m:t>
                    </m:r>
                  </m:oMath>
                </a14:m>
                <a:r>
                  <a:rPr lang="en-US" altLang="zh-CN" sz="1200" dirty="0">
                    <a:solidFill>
                      <a:schemeClr val="accent6"/>
                    </a:solidFill>
                  </a:rPr>
                  <a:t> </a:t>
                </a:r>
                <a:r>
                  <a:rPr lang="zh-CN" altLang="en-US" sz="1200" dirty="0">
                    <a:solidFill>
                      <a:schemeClr val="accent6"/>
                    </a:solidFill>
                  </a:rPr>
                  <a:t>为单位</a:t>
                </a:r>
                <a:endParaRPr lang="en-US" altLang="zh-CN" dirty="0"/>
              </a:p>
              <a:p>
                <a:pPr lvl="1"/>
                <a14:m>
                  <m:oMath xmlns:m="http://schemas.openxmlformats.org/officeDocument/2006/math">
                    <m:r>
                      <a:rPr lang="en-US" altLang="zh-CN" i="1" dirty="0">
                        <a:latin typeface="Cambria Math" panose="02040503050406030204" pitchFamily="18" charset="0"/>
                      </a:rPr>
                      <m:t>𝑝</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𝑍</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𝑧</m:t>
                        </m:r>
                      </m:e>
                    </m:d>
                  </m:oMath>
                </a14:m>
                <a:r>
                  <a:rPr lang="en-US" altLang="zh-CN" dirty="0"/>
                  <a:t>		</a:t>
                </a:r>
                <a:r>
                  <a:rPr lang="en-US" altLang="zh-CN" sz="1200" dirty="0">
                    <a:solidFill>
                      <a:schemeClr val="accent6"/>
                    </a:solidFill>
                  </a:rPr>
                  <a:t>CDF </a:t>
                </a:r>
                <a:r>
                  <a:rPr lang="zh-CN" altLang="en-US" sz="1200" dirty="0">
                    <a:solidFill>
                      <a:schemeClr val="accent6"/>
                    </a:solidFill>
                  </a:rPr>
                  <a:t>概率</a:t>
                </a:r>
                <a:endParaRPr lang="en-US" altLang="zh-CN" sz="1200" dirty="0">
                  <a:solidFill>
                    <a:schemeClr val="accent6"/>
                  </a:solidFill>
                </a:endParaRPr>
              </a:p>
              <a:p>
                <a:pPr lvl="1"/>
                <a:endParaRPr lang="en-US" altLang="zh-CN" dirty="0"/>
              </a:p>
              <a:p>
                <a:pPr marL="682625" lvl="2" indent="0">
                  <a:buNone/>
                </a:pPr>
                <a:r>
                  <a:rPr lang="en-US" altLang="zh-CN" sz="1400" dirty="0">
                    <a:solidFill>
                      <a:srgbClr val="0070C0"/>
                    </a:solidFill>
                    <a:latin typeface="Cascadia Mono" panose="020B0609020000020004" pitchFamily="49" charset="0"/>
                    <a:cs typeface="Cascadia Mono" panose="020B0609020000020004" pitchFamily="49" charset="0"/>
                  </a:rPr>
                  <a:t>=NORM.S.DIST(G3, 1)  </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	# </a:t>
                </a:r>
                <a:r>
                  <a:rPr lang="zh-CN" altLang="en-US" sz="1400" dirty="0">
                    <a:solidFill>
                      <a:srgbClr val="00B050"/>
                    </a:solidFill>
                    <a:latin typeface="Cascadia Mono" panose="020B0609020000020004" pitchFamily="49" charset="0"/>
                    <a:cs typeface="Cascadia Mono" panose="020B0609020000020004" pitchFamily="49" charset="0"/>
                  </a:rPr>
                  <a:t>计算 </a:t>
                </a:r>
                <a:r>
                  <a:rPr lang="en-US" altLang="zh-CN" sz="1400" dirty="0">
                    <a:solidFill>
                      <a:srgbClr val="00B050"/>
                    </a:solidFill>
                    <a:latin typeface="Cascadia Mono" panose="020B0609020000020004" pitchFamily="49" charset="0"/>
                    <a:cs typeface="Cascadia Mono" panose="020B0609020000020004" pitchFamily="49" charset="0"/>
                  </a:rPr>
                  <a:t>p, left tail: DIST(</a:t>
                </a:r>
                <a14:m>
                  <m:oMath xmlns:m="http://schemas.openxmlformats.org/officeDocument/2006/math">
                    <m:r>
                      <a:rPr lang="en-US" altLang="zh-CN" sz="1400" b="0" i="1" dirty="0" smtClean="0">
                        <a:solidFill>
                          <a:srgbClr val="00B050"/>
                        </a:solidFill>
                        <a:latin typeface="Cambria Math" panose="02040503050406030204" pitchFamily="18" charset="0"/>
                        <a:cs typeface="Cascadia Mono" panose="020B0609020000020004" pitchFamily="49" charset="0"/>
                      </a:rPr>
                      <m:t>𝑧</m:t>
                    </m:r>
                  </m:oMath>
                </a14:m>
                <a:r>
                  <a:rPr lang="en-US" altLang="zh-CN" sz="1400" dirty="0">
                    <a:solidFill>
                      <a:srgbClr val="00B050"/>
                    </a:solidFill>
                    <a:latin typeface="Cascadia Mono" panose="020B0609020000020004" pitchFamily="49" charset="0"/>
                    <a:cs typeface="Cascadia Mono" panose="020B0609020000020004" pitchFamily="49" charset="0"/>
                  </a:rPr>
                  <a:t>, CDF=True)</a:t>
                </a:r>
              </a:p>
              <a:p>
                <a:pPr marL="682625" lvl="2" indent="0">
                  <a:buNone/>
                </a:pPr>
                <a:endParaRPr lang="en-US" altLang="zh-CN" sz="1400" dirty="0">
                  <a:solidFill>
                    <a:srgbClr val="0070C0"/>
                  </a:solidFill>
                  <a:latin typeface="Cascadia Mono" panose="020B0609020000020004" pitchFamily="49" charset="0"/>
                  <a:cs typeface="Cascadia Mono" panose="020B0609020000020004" pitchFamily="49" charset="0"/>
                </a:endParaRPr>
              </a:p>
              <a:p>
                <a:pPr marL="682625" lvl="2" indent="0">
                  <a:buNone/>
                </a:pPr>
                <a:r>
                  <a:rPr lang="nn-NO" altLang="zh-CN" sz="1400" dirty="0">
                    <a:solidFill>
                      <a:srgbClr val="0070C0"/>
                    </a:solidFill>
                    <a:latin typeface="Cascadia Mono" panose="020B0609020000020004" pitchFamily="49" charset="0"/>
                    <a:cs typeface="Cascadia Mono" panose="020B0609020000020004" pitchFamily="49" charset="0"/>
                  </a:rPr>
                  <a:t>=Z.TEST(Data!M:M, 10)</a:t>
                </a:r>
                <a:endParaRPr lang="en-US" altLang="zh-CN" sz="1400"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	# </a:t>
                </a:r>
                <a:r>
                  <a:rPr lang="zh-CN" altLang="en-US" sz="1400" dirty="0">
                    <a:solidFill>
                      <a:srgbClr val="00B050"/>
                    </a:solidFill>
                    <a:latin typeface="Cascadia Mono" panose="020B0609020000020004" pitchFamily="49" charset="0"/>
                    <a:cs typeface="Cascadia Mono" panose="020B0609020000020004" pitchFamily="49" charset="0"/>
                  </a:rPr>
                  <a:t>计算 </a:t>
                </a:r>
                <a:r>
                  <a:rPr lang="en-US" altLang="zh-CN" sz="1400" dirty="0">
                    <a:solidFill>
                      <a:srgbClr val="00B050"/>
                    </a:solidFill>
                    <a:latin typeface="Cascadia Mono" panose="020B0609020000020004" pitchFamily="49" charset="0"/>
                    <a:cs typeface="Cascadia Mono" panose="020B0609020000020004" pitchFamily="49" charset="0"/>
                  </a:rPr>
                  <a:t>p: right tail, TEST(array, </a:t>
                </a:r>
                <a14:m>
                  <m:oMath xmlns:m="http://schemas.openxmlformats.org/officeDocument/2006/math">
                    <m:sSub>
                      <m:sSubPr>
                        <m:ctrlPr>
                          <a:rPr lang="en-US" altLang="zh-CN" sz="1400" i="1">
                            <a:solidFill>
                              <a:srgbClr val="00B050"/>
                            </a:solidFill>
                            <a:latin typeface="Cambria Math" panose="02040503050406030204" pitchFamily="18" charset="0"/>
                          </a:rPr>
                        </m:ctrlPr>
                      </m:sSubPr>
                      <m:e>
                        <m:r>
                          <a:rPr lang="en-US" altLang="zh-CN" sz="1400" i="1">
                            <a:solidFill>
                              <a:srgbClr val="00B050"/>
                            </a:solidFill>
                            <a:latin typeface="Cambria Math" panose="02040503050406030204" pitchFamily="18" charset="0"/>
                          </a:rPr>
                          <m:t>𝐻</m:t>
                        </m:r>
                      </m:e>
                      <m:sub>
                        <m:r>
                          <a:rPr lang="en-US" altLang="zh-CN" sz="1400" i="1">
                            <a:solidFill>
                              <a:srgbClr val="00B050"/>
                            </a:solidFill>
                            <a:latin typeface="Cambria Math" panose="02040503050406030204" pitchFamily="18" charset="0"/>
                          </a:rPr>
                          <m:t>0</m:t>
                        </m:r>
                      </m:sub>
                    </m:sSub>
                  </m:oMath>
                </a14:m>
                <a:r>
                  <a:rPr lang="en-US" altLang="zh-CN" sz="1400" dirty="0">
                    <a:solidFill>
                      <a:srgbClr val="00B050"/>
                    </a:solidFill>
                    <a:latin typeface="Cascadia Mono" panose="020B0609020000020004" pitchFamily="49" charset="0"/>
                    <a:cs typeface="Cascadia Mono" panose="020B0609020000020004" pitchFamily="49" charset="0"/>
                  </a:rPr>
                  <a:t>, [</a:t>
                </a:r>
                <a14:m>
                  <m:oMath xmlns:m="http://schemas.openxmlformats.org/officeDocument/2006/math">
                    <m:r>
                      <a:rPr lang="zh-CN" altLang="en-US" sz="1400" i="1" dirty="0" smtClean="0">
                        <a:solidFill>
                          <a:srgbClr val="00B050"/>
                        </a:solidFill>
                        <a:latin typeface="Cambria Math" panose="02040503050406030204" pitchFamily="18" charset="0"/>
                        <a:cs typeface="Cascadia Mono" panose="020B0609020000020004" pitchFamily="49" charset="0"/>
                      </a:rPr>
                      <m:t>𝜎</m:t>
                    </m:r>
                  </m:oMath>
                </a14:m>
                <a:r>
                  <a:rPr lang="en-US" altLang="zh-CN" sz="1400" dirty="0">
                    <a:solidFill>
                      <a:srgbClr val="00B050"/>
                    </a:solidFill>
                    <a:latin typeface="Cascadia Mono" panose="020B0609020000020004" pitchFamily="49" charset="0"/>
                    <a:cs typeface="Cascadia Mono" panose="020B0609020000020004" pitchFamily="49" charset="0"/>
                  </a:rPr>
                  <a:t>])</a:t>
                </a:r>
              </a:p>
              <a:p>
                <a:pPr marL="682625" lvl="2" indent="0">
                  <a:buNone/>
                </a:pPr>
                <a:endParaRPr lang="en-US" altLang="zh-CN" sz="1400"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zh-CN" altLang="en-US" sz="1400" dirty="0">
                  <a:solidFill>
                    <a:srgbClr val="0070C0"/>
                  </a:solidFill>
                  <a:latin typeface="Cascadia Mono" panose="020B0609020000020004" pitchFamily="49" charset="0"/>
                  <a:cs typeface="Cascadia Mono" panose="020B0609020000020004" pitchFamily="49" charset="0"/>
                </a:endParaRPr>
              </a:p>
              <a:p>
                <a:pPr lvl="1"/>
                <a:endParaRPr lang="zh-CN" altLang="en-US" dirty="0"/>
              </a:p>
            </p:txBody>
          </p:sp>
        </mc:Choice>
        <mc:Fallback xmlns="">
          <p:sp>
            <p:nvSpPr>
              <p:cNvPr id="4" name="内容占位符 3">
                <a:extLst>
                  <a:ext uri="{FF2B5EF4-FFF2-40B4-BE49-F238E27FC236}">
                    <a16:creationId xmlns:a16="http://schemas.microsoft.com/office/drawing/2014/main" id="{48AB627B-A7F3-6BAC-D327-6A82CE7174A3}"/>
                  </a:ext>
                </a:extLst>
              </p:cNvPr>
              <p:cNvSpPr>
                <a:spLocks noGrp="1" noRot="1" noChangeAspect="1" noMove="1" noResize="1" noEditPoints="1" noAdjustHandles="1" noChangeArrowheads="1" noChangeShapeType="1" noTextEdit="1"/>
              </p:cNvSpPr>
              <p:nvPr>
                <p:ph sz="half" idx="2"/>
              </p:nvPr>
            </p:nvSpPr>
            <p:spPr>
              <a:blipFill>
                <a:blip r:embed="rId3"/>
                <a:stretch>
                  <a:fillRect l="-429" t="-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6186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C6C6B-AE76-843D-ABF7-CEE9E9D61272}"/>
              </a:ext>
            </a:extLst>
          </p:cNvPr>
          <p:cNvSpPr>
            <a:spLocks noGrp="1"/>
          </p:cNvSpPr>
          <p:nvPr>
            <p:ph type="title"/>
          </p:nvPr>
        </p:nvSpPr>
        <p:spPr/>
        <p:txBody>
          <a:bodyPr/>
          <a:lstStyle/>
          <a:p>
            <a:r>
              <a:rPr lang="en-US" altLang="zh-CN" dirty="0"/>
              <a:t>t-distribution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AF2FC8-B06B-8128-CF82-9E2BCF226482}"/>
                  </a:ext>
                </a:extLst>
              </p:cNvPr>
              <p:cNvSpPr>
                <a:spLocks noGrp="1"/>
              </p:cNvSpPr>
              <p:nvPr>
                <p:ph idx="1"/>
              </p:nvPr>
            </p:nvSpPr>
            <p:spPr/>
            <p:txBody>
              <a:bodyPr/>
              <a:lstStyle/>
              <a:p>
                <a:r>
                  <a:rPr lang="zh-CN" altLang="en-US" dirty="0"/>
                  <a:t>若</a:t>
                </a:r>
                <a:endParaRPr lang="en-US" altLang="zh-CN" dirty="0"/>
              </a:p>
              <a:p>
                <a:pPr lvl="1"/>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&lt;30</m:t>
                    </m:r>
                  </m:oMath>
                </a14:m>
                <a:r>
                  <a:rPr lang="en-US" altLang="zh-CN" dirty="0"/>
                  <a:t> is common</a:t>
                </a:r>
              </a:p>
              <a:p>
                <a:pPr lvl="1"/>
                <a14:m>
                  <m:oMath xmlns:m="http://schemas.openxmlformats.org/officeDocument/2006/math">
                    <m:r>
                      <a:rPr lang="zh-CN" altLang="en-US" i="1" smtClean="0">
                        <a:latin typeface="Cambria Math" panose="02040503050406030204" pitchFamily="18" charset="0"/>
                      </a:rPr>
                      <m:t>𝜎</m:t>
                    </m:r>
                  </m:oMath>
                </a14:m>
                <a:r>
                  <a:rPr lang="zh-CN" altLang="en-US" dirty="0"/>
                  <a:t> </a:t>
                </a:r>
                <a:r>
                  <a:rPr lang="en-US" altLang="zh-CN" dirty="0"/>
                  <a:t>is rarely known</a:t>
                </a:r>
              </a:p>
              <a:p>
                <a:r>
                  <a:rPr lang="zh-CN" altLang="en-US" dirty="0"/>
                  <a:t>则</a:t>
                </a:r>
                <a:endParaRPr lang="en-US" altLang="zh-CN" dirty="0"/>
              </a:p>
              <a:p>
                <a:pPr lvl="1"/>
                <a:r>
                  <a:rPr lang="zh-CN" altLang="en-US" dirty="0"/>
                  <a:t>考虑使用 </a:t>
                </a:r>
                <a:r>
                  <a:rPr lang="en-US" altLang="zh-CN" dirty="0"/>
                  <a:t>t-distribution</a:t>
                </a:r>
                <a:r>
                  <a:rPr lang="zh-CN" altLang="en-US" dirty="0"/>
                  <a:t>（</a:t>
                </a:r>
                <a:r>
                  <a:rPr lang="en-US" altLang="zh-CN" dirty="0" err="1">
                    <a:solidFill>
                      <a:srgbClr val="0070C0"/>
                    </a:solidFill>
                    <a:latin typeface="Cascadia Mono" panose="020B0609020000020004" pitchFamily="49" charset="0"/>
                    <a:cs typeface="Cascadia Mono" panose="020B0609020000020004" pitchFamily="49" charset="0"/>
                  </a:rPr>
                  <a:t>t.test</a:t>
                </a:r>
                <a:r>
                  <a:rPr lang="zh-CN" altLang="en-US" dirty="0"/>
                  <a:t>），代替 </a:t>
                </a:r>
                <a:r>
                  <a:rPr lang="en-US" altLang="zh-CN" dirty="0"/>
                  <a:t>normal-distribution</a:t>
                </a:r>
                <a:r>
                  <a:rPr lang="zh-CN" altLang="en-US" dirty="0"/>
                  <a:t>（</a:t>
                </a:r>
                <a:r>
                  <a:rPr lang="en-US" altLang="zh-CN" dirty="0" err="1">
                    <a:solidFill>
                      <a:srgbClr val="0070C0"/>
                    </a:solidFill>
                    <a:latin typeface="Cascadia Mono" panose="020B0609020000020004" pitchFamily="49" charset="0"/>
                    <a:cs typeface="Cascadia Mono" panose="020B0609020000020004" pitchFamily="49" charset="0"/>
                  </a:rPr>
                  <a:t>z.test</a:t>
                </a:r>
                <a:r>
                  <a:rPr lang="zh-CN" altLang="en-US" dirty="0"/>
                  <a:t>）</a:t>
                </a:r>
              </a:p>
            </p:txBody>
          </p:sp>
        </mc:Choice>
        <mc:Fallback xmlns="">
          <p:sp>
            <p:nvSpPr>
              <p:cNvPr id="3" name="内容占位符 2">
                <a:extLst>
                  <a:ext uri="{FF2B5EF4-FFF2-40B4-BE49-F238E27FC236}">
                    <a16:creationId xmlns:a16="http://schemas.microsoft.com/office/drawing/2014/main" id="{37AF2FC8-B06B-8128-CF82-9E2BCF226482}"/>
                  </a:ext>
                </a:extLst>
              </p:cNvPr>
              <p:cNvSpPr>
                <a:spLocks noGrp="1" noRot="1" noChangeAspect="1" noMove="1" noResize="1" noEditPoints="1" noAdjustHandles="1" noChangeArrowheads="1" noChangeShapeType="1" noTextEdit="1"/>
              </p:cNvSpPr>
              <p:nvPr>
                <p:ph idx="1"/>
              </p:nvPr>
            </p:nvSpPr>
            <p:spPr>
              <a:blipFill>
                <a:blip r:embed="rId2"/>
                <a:stretch>
                  <a:fillRect l="-211" t="-34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BC8E0218-CE4D-454D-D5B7-C93B5809F688}"/>
              </a:ext>
            </a:extLst>
          </p:cNvPr>
          <p:cNvPicPr>
            <a:picLocks noChangeAspect="1"/>
          </p:cNvPicPr>
          <p:nvPr/>
        </p:nvPicPr>
        <p:blipFill>
          <a:blip r:embed="rId3"/>
          <a:stretch>
            <a:fillRect/>
          </a:stretch>
        </p:blipFill>
        <p:spPr>
          <a:xfrm>
            <a:off x="2548467" y="2766819"/>
            <a:ext cx="7095067" cy="3587944"/>
          </a:xfrm>
          <a:prstGeom prst="rect">
            <a:avLst/>
          </a:prstGeom>
        </p:spPr>
      </p:pic>
      <p:sp>
        <p:nvSpPr>
          <p:cNvPr id="7" name="文本框 6">
            <a:extLst>
              <a:ext uri="{FF2B5EF4-FFF2-40B4-BE49-F238E27FC236}">
                <a16:creationId xmlns:a16="http://schemas.microsoft.com/office/drawing/2014/main" id="{073B7C9C-0354-411C-875C-E40C3BEEE9F1}"/>
              </a:ext>
            </a:extLst>
          </p:cNvPr>
          <p:cNvSpPr txBox="1"/>
          <p:nvPr/>
        </p:nvSpPr>
        <p:spPr>
          <a:xfrm>
            <a:off x="7802034" y="1854200"/>
            <a:ext cx="4021666" cy="646331"/>
          </a:xfrm>
          <a:prstGeom prst="rect">
            <a:avLst/>
          </a:prstGeom>
          <a:noFill/>
        </p:spPr>
        <p:txBody>
          <a:bodyPr wrap="square" rtlCol="0">
            <a:spAutoFit/>
          </a:bodyPr>
          <a:lstStyle/>
          <a:p>
            <a:r>
              <a:rPr lang="zh-CN" altLang="en-US" sz="1200" dirty="0">
                <a:solidFill>
                  <a:schemeClr val="accent6"/>
                </a:solidFill>
              </a:rPr>
              <a:t>注意：</a:t>
            </a:r>
            <a:endParaRPr lang="en-US" altLang="zh-CN" sz="1200" dirty="0">
              <a:solidFill>
                <a:schemeClr val="accent6"/>
              </a:solidFill>
            </a:endParaRPr>
          </a:p>
          <a:p>
            <a:pPr marL="285750" indent="-285750">
              <a:buFont typeface="Arial" panose="020B0604020202020204" pitchFamily="34" charset="0"/>
              <a:buChar char="•"/>
            </a:pPr>
            <a:r>
              <a:rPr lang="en-US" altLang="zh-CN" sz="1200" dirty="0">
                <a:solidFill>
                  <a:schemeClr val="accent6"/>
                </a:solidFill>
              </a:rPr>
              <a:t>t-distribution </a:t>
            </a:r>
            <a:r>
              <a:rPr lang="zh-CN" altLang="en-US" sz="1200" dirty="0">
                <a:solidFill>
                  <a:schemeClr val="accent6"/>
                </a:solidFill>
              </a:rPr>
              <a:t>只能用于 </a:t>
            </a:r>
            <a:r>
              <a:rPr lang="en-US" altLang="zh-CN" sz="1200" dirty="0">
                <a:solidFill>
                  <a:schemeClr val="accent6"/>
                </a:solidFill>
              </a:rPr>
              <a:t>Hypothesis testing for mean</a:t>
            </a:r>
            <a:r>
              <a:rPr lang="zh-CN" altLang="en-US" sz="1200" dirty="0">
                <a:solidFill>
                  <a:schemeClr val="accent6"/>
                </a:solidFill>
              </a:rPr>
              <a:t>，而不能用于 </a:t>
            </a:r>
            <a:r>
              <a:rPr lang="en-US" altLang="zh-CN" sz="1200" dirty="0">
                <a:solidFill>
                  <a:schemeClr val="accent6"/>
                </a:solidFill>
              </a:rPr>
              <a:t>Hypothesis testing for proportion</a:t>
            </a:r>
            <a:r>
              <a:rPr lang="zh-CN" altLang="en-US" sz="1200" dirty="0">
                <a:solidFill>
                  <a:schemeClr val="accent6"/>
                </a:solidFill>
              </a:rPr>
              <a:t> </a:t>
            </a:r>
          </a:p>
        </p:txBody>
      </p:sp>
    </p:spTree>
    <p:extLst>
      <p:ext uri="{BB962C8B-B14F-4D97-AF65-F5344CB8AC3E}">
        <p14:creationId xmlns:p14="http://schemas.microsoft.com/office/powerpoint/2010/main" val="1282291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FB5ED-EF52-E926-B31F-76DA3D079AAC}"/>
              </a:ext>
            </a:extLst>
          </p:cNvPr>
          <p:cNvSpPr>
            <a:spLocks noGrp="1"/>
          </p:cNvSpPr>
          <p:nvPr>
            <p:ph type="title"/>
          </p:nvPr>
        </p:nvSpPr>
        <p:spPr/>
        <p:txBody>
          <a:bodyPr/>
          <a:lstStyle/>
          <a:p>
            <a:r>
              <a:rPr lang="en-US" altLang="zh-CN" dirty="0"/>
              <a:t>Hypothesis testing</a:t>
            </a:r>
            <a:endParaRPr lang="zh-CN" altLang="en-US" dirty="0"/>
          </a:p>
        </p:txBody>
      </p:sp>
      <p:pic>
        <p:nvPicPr>
          <p:cNvPr id="5" name="内容占位符 4">
            <a:extLst>
              <a:ext uri="{FF2B5EF4-FFF2-40B4-BE49-F238E27FC236}">
                <a16:creationId xmlns:a16="http://schemas.microsoft.com/office/drawing/2014/main" id="{DA1CB4D8-9EDE-258D-BB03-E1C5BBD013CD}"/>
              </a:ext>
            </a:extLst>
          </p:cNvPr>
          <p:cNvPicPr>
            <a:picLocks noGrp="1" noChangeAspect="1"/>
          </p:cNvPicPr>
          <p:nvPr>
            <p:ph idx="1"/>
          </p:nvPr>
        </p:nvPicPr>
        <p:blipFill>
          <a:blip r:embed="rId2"/>
          <a:stretch>
            <a:fillRect/>
          </a:stretch>
        </p:blipFill>
        <p:spPr bwMode="auto">
          <a:xfrm>
            <a:off x="887189" y="1000125"/>
            <a:ext cx="10293798"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7676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2374E-3E76-AE70-02F3-008742C1BCA0}"/>
              </a:ext>
            </a:extLst>
          </p:cNvPr>
          <p:cNvSpPr>
            <a:spLocks noGrp="1"/>
          </p:cNvSpPr>
          <p:nvPr>
            <p:ph type="title"/>
          </p:nvPr>
        </p:nvSpPr>
        <p:spPr/>
        <p:txBody>
          <a:bodyPr/>
          <a:lstStyle/>
          <a:p>
            <a:r>
              <a:rPr lang="en-US" altLang="zh-CN" dirty="0"/>
              <a:t>Hypothesis testing for mean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F3C3193-5C04-5BA9-6FF3-303909AFACFA}"/>
                  </a:ext>
                </a:extLst>
              </p:cNvPr>
              <p:cNvSpPr>
                <a:spLocks noGrp="1"/>
              </p:cNvSpPr>
              <p:nvPr>
                <p:ph idx="1"/>
              </p:nvPr>
            </p:nvSpPr>
            <p:spPr/>
            <p:txBody>
              <a:bodyPr/>
              <a:lstStyle/>
              <a:p>
                <a:r>
                  <a:rPr lang="zh-CN" altLang="en-US" dirty="0"/>
                  <a:t>例：电影院排片</a:t>
                </a:r>
                <a:r>
                  <a:rPr lang="en-US" altLang="zh-CN" dirty="0"/>
                  <a:t>	</a:t>
                </a:r>
                <a:r>
                  <a:rPr lang="zh-CN" altLang="en-US" sz="1200" dirty="0">
                    <a:solidFill>
                      <a:schemeClr val="accent6"/>
                    </a:solidFill>
                  </a:rPr>
                  <a:t>测算片子是否会长于</a:t>
                </a:r>
                <a:r>
                  <a:rPr lang="en-US" altLang="zh-CN" sz="1200" dirty="0">
                    <a:solidFill>
                      <a:schemeClr val="accent6"/>
                    </a:solidFill>
                  </a:rPr>
                  <a:t>120</a:t>
                </a:r>
                <a:r>
                  <a:rPr lang="zh-CN" altLang="en-US" sz="1200" dirty="0">
                    <a:solidFill>
                      <a:schemeClr val="accent6"/>
                    </a:solidFill>
                  </a:rPr>
                  <a:t>分钟，可能需要调整后面的场次</a:t>
                </a:r>
                <a:endParaRPr lang="en-US" altLang="zh-CN" sz="1400" dirty="0">
                  <a:solidFill>
                    <a:schemeClr val="accent6"/>
                  </a:solidFill>
                </a:endParaRPr>
              </a:p>
              <a:p>
                <a:pPr lvl="1"/>
                <a:r>
                  <a:rPr lang="zh-CN" altLang="en-US" dirty="0"/>
                  <a:t>假设</a:t>
                </a:r>
                <a:endParaRPr lang="en-US" altLang="zh-CN" i="1" dirty="0">
                  <a:latin typeface="Cambria Math" panose="02040503050406030204" pitchFamily="18" charset="0"/>
                </a:endParaRPr>
              </a:p>
              <a:p>
                <a:pPr lvl="2"/>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𝜇</m:t>
                            </m:r>
                            <m:r>
                              <a:rPr lang="en-US" altLang="zh-CN" b="0" i="1" smtClean="0">
                                <a:latin typeface="Cambria Math" panose="02040503050406030204" pitchFamily="18" charset="0"/>
                              </a:rPr>
                              <m:t>=120</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r>
                              <a:rPr lang="zh-CN" altLang="en-US" i="1">
                                <a:latin typeface="Cambria Math" panose="02040503050406030204" pitchFamily="18" charset="0"/>
                              </a:rPr>
                              <m:t>𝜇</m:t>
                            </m:r>
                            <m:r>
                              <a:rPr lang="en-US" altLang="zh-CN" b="0" i="1" smtClean="0">
                                <a:latin typeface="Cambria Math" panose="02040503050406030204" pitchFamily="18" charset="0"/>
                              </a:rPr>
                              <m:t>&gt;120</m:t>
                            </m:r>
                          </m:e>
                        </m:eqArr>
                      </m:e>
                    </m:d>
                  </m:oMath>
                </a14:m>
                <a:r>
                  <a:rPr lang="en-US" altLang="zh-CN" dirty="0"/>
                  <a:t>	</a:t>
                </a:r>
                <a:r>
                  <a:rPr lang="zh-CN" altLang="en-US" sz="1200" dirty="0">
                    <a:solidFill>
                      <a:schemeClr val="accent6"/>
                    </a:solidFill>
                  </a:rPr>
                  <a:t>担心：片长</a:t>
                </a:r>
                <a:r>
                  <a:rPr lang="en-US" altLang="zh-CN" sz="1200" dirty="0">
                    <a:solidFill>
                      <a:schemeClr val="accent6"/>
                    </a:solidFill>
                  </a:rPr>
                  <a:t>120</a:t>
                </a:r>
                <a:r>
                  <a:rPr lang="zh-CN" altLang="en-US" sz="1200" dirty="0">
                    <a:solidFill>
                      <a:schemeClr val="accent6"/>
                    </a:solidFill>
                  </a:rPr>
                  <a:t>分钟</a:t>
                </a:r>
                <a:endParaRPr lang="en-US" altLang="zh-CN" sz="1200" dirty="0">
                  <a:solidFill>
                    <a:schemeClr val="accent6"/>
                  </a:solidFill>
                </a:endParaRPr>
              </a:p>
              <a:p>
                <a:pPr lvl="1"/>
                <a:endParaRPr lang="en-US" altLang="zh-CN" dirty="0"/>
              </a:p>
              <a:p>
                <a:pPr lvl="1"/>
                <a:r>
                  <a:rPr lang="zh-CN" altLang="en-US" dirty="0"/>
                  <a:t>采样</a:t>
                </a:r>
                <a:endParaRPr lang="en-US" altLang="zh-CN" dirty="0"/>
              </a:p>
              <a:p>
                <a:pPr lvl="2"/>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=50</m:t>
                    </m:r>
                  </m:oMath>
                </a14:m>
                <a:r>
                  <a:rPr lang="en-US" altLang="zh-CN" dirty="0"/>
                  <a:t>	movies</a:t>
                </a:r>
              </a:p>
              <a:p>
                <a:pPr lvl="2"/>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=123</m:t>
                    </m:r>
                  </m:oMath>
                </a14:m>
                <a:r>
                  <a:rPr lang="en-US" altLang="zh-CN" dirty="0"/>
                  <a:t>	minutes</a:t>
                </a:r>
              </a:p>
              <a:p>
                <a:pPr lvl="2"/>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=12</m:t>
                    </m:r>
                  </m:oMath>
                </a14:m>
                <a:r>
                  <a:rPr lang="en-US" altLang="zh-CN" dirty="0"/>
                  <a:t>	minutes</a:t>
                </a:r>
              </a:p>
              <a:p>
                <a:pPr lvl="2"/>
                <a14:m>
                  <m:oMath xmlns:m="http://schemas.openxmlformats.org/officeDocument/2006/math">
                    <m:r>
                      <a:rPr lang="en-US" altLang="zh-CN" i="1" dirty="0" smtClean="0">
                        <a:latin typeface="Cambria Math" panose="02040503050406030204" pitchFamily="18" charset="0"/>
                      </a:rPr>
                      <m:t>𝑆𝐸</m:t>
                    </m:r>
                    <m:r>
                      <a:rPr lang="en-US" altLang="zh-CN" i="1" dirty="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𝑠</m:t>
                        </m:r>
                      </m:num>
                      <m:den>
                        <m:rad>
                          <m:radPr>
                            <m:degHide m:val="on"/>
                            <m:ctrlPr>
                              <a:rPr lang="en-US" altLang="zh-CN" i="1" dirty="0" smtClean="0">
                                <a:latin typeface="Cambria Math" panose="02040503050406030204" pitchFamily="18" charset="0"/>
                              </a:rPr>
                            </m:ctrlPr>
                          </m:radPr>
                          <m:deg/>
                          <m:e>
                            <m:r>
                              <a:rPr lang="en-US" altLang="zh-CN" b="0" i="1" dirty="0" smtClean="0">
                                <a:latin typeface="Cambria Math" panose="02040503050406030204" pitchFamily="18" charset="0"/>
                              </a:rPr>
                              <m:t>𝑛</m:t>
                            </m:r>
                          </m:e>
                        </m:rad>
                      </m:den>
                    </m:f>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1.7</m:t>
                    </m:r>
                  </m:oMath>
                </a14:m>
                <a:endParaRPr lang="en-US" altLang="zh-CN" dirty="0"/>
              </a:p>
              <a:p>
                <a:pPr lvl="1"/>
                <a:endParaRPr lang="en-US" altLang="zh-CN" dirty="0"/>
              </a:p>
              <a:p>
                <a:pPr lvl="1"/>
                <a:r>
                  <a:rPr lang="zh-CN" altLang="en-US" dirty="0"/>
                  <a:t>计算</a:t>
                </a:r>
                <a:endParaRPr lang="en-US" altLang="zh-CN" dirty="0"/>
              </a:p>
              <a:p>
                <a:pPr lvl="2"/>
                <a14:m>
                  <m:oMath xmlns:m="http://schemas.openxmlformats.org/officeDocument/2006/math">
                    <m:r>
                      <a:rPr lang="en-US" altLang="zh-CN" i="1" dirty="0" smtClean="0">
                        <a:latin typeface="Cambria Math" panose="02040503050406030204" pitchFamily="18" charset="0"/>
                      </a:rPr>
                      <m:t>𝑧</m:t>
                    </m:r>
                    <m:r>
                      <a:rPr lang="en-US" altLang="zh-CN" i="1" dirty="0" smtClean="0">
                        <a:latin typeface="Cambria Math" panose="02040503050406030204" pitchFamily="18" charset="0"/>
                      </a:rPr>
                      <m:t>=</m:t>
                    </m:r>
                    <m:f>
                      <m:fPr>
                        <m:ctrlPr>
                          <a:rPr lang="en-US" altLang="zh-CN" i="1" dirty="0">
                            <a:latin typeface="Cambria Math" panose="02040503050406030204" pitchFamily="18" charset="0"/>
                          </a:rPr>
                        </m:ctrlPr>
                      </m:fPr>
                      <m:num>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r>
                          <a:rPr lang="en-US" altLang="zh-CN" i="1" dirty="0">
                            <a:latin typeface="Cambria Math" panose="02040503050406030204" pitchFamily="18" charset="0"/>
                          </a:rPr>
                          <m:t>−</m:t>
                        </m:r>
                        <m:r>
                          <a:rPr lang="zh-CN" altLang="en-US" i="1" dirty="0">
                            <a:latin typeface="Cambria Math" panose="02040503050406030204" pitchFamily="18" charset="0"/>
                          </a:rPr>
                          <m:t>𝜇</m:t>
                        </m:r>
                      </m:num>
                      <m:den>
                        <m:r>
                          <a:rPr lang="en-US" altLang="zh-CN" i="1" dirty="0">
                            <a:latin typeface="Cambria Math" panose="02040503050406030204" pitchFamily="18" charset="0"/>
                          </a:rPr>
                          <m:t>𝑆𝐸</m:t>
                        </m:r>
                      </m:den>
                    </m:f>
                    <m:r>
                      <a:rPr lang="en-US" altLang="zh-CN" b="0" i="1" dirty="0" smtClean="0">
                        <a:latin typeface="Cambria Math" panose="02040503050406030204" pitchFamily="18" charset="0"/>
                      </a:rPr>
                      <m:t>=1.76</m:t>
                    </m:r>
                  </m:oMath>
                </a14:m>
                <a:r>
                  <a:rPr lang="en-US" altLang="zh-CN" dirty="0"/>
                  <a:t>	</a:t>
                </a:r>
                <a:r>
                  <a:rPr lang="zh-CN" altLang="en-US" sz="1200" dirty="0">
                    <a:solidFill>
                      <a:schemeClr val="accent6"/>
                    </a:solidFill>
                  </a:rPr>
                  <a:t>换算到标准正态分布后，距离 </a:t>
                </a:r>
                <a14:m>
                  <m:oMath xmlns:m="http://schemas.openxmlformats.org/officeDocument/2006/math">
                    <m:r>
                      <a:rPr lang="zh-CN" altLang="en-US" sz="1200" i="1" dirty="0">
                        <a:solidFill>
                          <a:schemeClr val="accent6"/>
                        </a:solidFill>
                        <a:latin typeface="Cambria Math" panose="02040503050406030204" pitchFamily="18" charset="0"/>
                      </a:rPr>
                      <m:t>𝜇</m:t>
                    </m:r>
                  </m:oMath>
                </a14:m>
                <a:r>
                  <a:rPr lang="zh-CN" altLang="en-US" sz="1200" dirty="0">
                    <a:solidFill>
                      <a:schemeClr val="accent6"/>
                    </a:solidFill>
                  </a:rPr>
                  <a:t> 有 </a:t>
                </a:r>
                <a14:m>
                  <m:oMath xmlns:m="http://schemas.openxmlformats.org/officeDocument/2006/math">
                    <m:r>
                      <a:rPr lang="en-US" altLang="zh-CN" sz="1200" i="1" dirty="0" smtClean="0">
                        <a:solidFill>
                          <a:schemeClr val="accent6"/>
                        </a:solidFill>
                        <a:latin typeface="Cambria Math" panose="02040503050406030204" pitchFamily="18" charset="0"/>
                      </a:rPr>
                      <m:t>1.76</m:t>
                    </m:r>
                    <m:r>
                      <a:rPr lang="zh-CN" altLang="en-US" sz="1200" i="1" dirty="0" smtClean="0">
                        <a:solidFill>
                          <a:schemeClr val="accent6"/>
                        </a:solidFill>
                        <a:latin typeface="Cambria Math" panose="02040503050406030204" pitchFamily="18" charset="0"/>
                      </a:rPr>
                      <m:t>𝜎</m:t>
                    </m:r>
                  </m:oMath>
                </a14:m>
                <a:r>
                  <a:rPr lang="zh-CN" altLang="en-US" sz="1200" dirty="0">
                    <a:solidFill>
                      <a:schemeClr val="accent6"/>
                    </a:solidFill>
                  </a:rPr>
                  <a:t> 个单位</a:t>
                </a:r>
              </a:p>
              <a:p>
                <a:pPr lvl="1"/>
                <a:endParaRPr lang="en-US" altLang="zh-CN" dirty="0"/>
              </a:p>
              <a:p>
                <a:pPr lvl="1"/>
                <a:r>
                  <a:rPr lang="zh-CN" altLang="en-US" dirty="0"/>
                  <a:t>结论</a:t>
                </a:r>
                <a:endParaRPr lang="en-US" altLang="zh-CN" dirty="0"/>
              </a:p>
              <a:p>
                <a:pPr lvl="2"/>
                <a:r>
                  <a:rPr lang="zh-CN" altLang="en-US" dirty="0"/>
                  <a:t>若 </a:t>
                </a:r>
                <a14:m>
                  <m:oMath xmlns:m="http://schemas.openxmlformats.org/officeDocument/2006/math">
                    <m:r>
                      <a:rPr lang="zh-CN" altLang="en-US" i="1" smtClean="0">
                        <a:latin typeface="Cambria Math" panose="02040503050406030204" pitchFamily="18" charset="0"/>
                      </a:rPr>
                      <m:t>𝛼</m:t>
                    </m:r>
                    <m:r>
                      <a:rPr lang="en-US" altLang="zh-CN" b="0" i="1" smtClean="0">
                        <a:latin typeface="Cambria Math" panose="02040503050406030204" pitchFamily="18" charset="0"/>
                      </a:rPr>
                      <m:t>=0.05</m:t>
                    </m:r>
                  </m:oMath>
                </a14:m>
                <a:r>
                  <a:rPr lang="en-US" altLang="zh-CN" dirty="0"/>
                  <a:t>	</a:t>
                </a:r>
                <a:r>
                  <a:rPr lang="en-US" altLang="zh-CN" sz="1200" dirty="0">
                    <a:solidFill>
                      <a:schemeClr val="accent6"/>
                    </a:solidFill>
                  </a:rPr>
                  <a:t>95%</a:t>
                </a:r>
                <a:r>
                  <a:rPr lang="zh-CN" altLang="en-US" sz="1200" dirty="0">
                    <a:solidFill>
                      <a:schemeClr val="accent6"/>
                    </a:solidFill>
                  </a:rPr>
                  <a:t>置信度</a:t>
                </a:r>
                <a:endParaRPr lang="en-US" altLang="zh-CN" sz="1200" dirty="0">
                  <a:solidFill>
                    <a:schemeClr val="accent6"/>
                  </a:solidFill>
                </a:endParaRPr>
              </a:p>
              <a:p>
                <a:pPr lvl="3"/>
                <a14:m>
                  <m:oMath xmlns:m="http://schemas.openxmlformats.org/officeDocument/2006/math">
                    <m:r>
                      <a:rPr lang="en-US" altLang="zh-CN" b="0" i="1" dirty="0" smtClean="0">
                        <a:latin typeface="Cambria Math" panose="02040503050406030204" pitchFamily="18" charset="0"/>
                      </a:rPr>
                      <m:t>𝑝</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&gt;1.76</m:t>
                        </m:r>
                      </m:e>
                    </m:d>
                    <m:r>
                      <a:rPr lang="en-US" altLang="zh-CN" b="0" i="1" dirty="0" smtClean="0">
                        <a:latin typeface="Cambria Math" panose="02040503050406030204" pitchFamily="18" charset="0"/>
                      </a:rPr>
                      <m:t>=1−</m:t>
                    </m:r>
                    <m:r>
                      <a:rPr lang="en-US" altLang="zh-CN" i="1" dirty="0">
                        <a:latin typeface="Cambria Math" panose="02040503050406030204" pitchFamily="18" charset="0"/>
                      </a:rPr>
                      <m:t>𝑃</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𝑧</m:t>
                        </m:r>
                        <m:r>
                          <a:rPr lang="en-US" altLang="zh-CN" b="0" i="1" dirty="0" smtClean="0">
                            <a:latin typeface="Cambria Math" panose="02040503050406030204" pitchFamily="18" charset="0"/>
                          </a:rPr>
                          <m:t>&lt;</m:t>
                        </m:r>
                        <m:r>
                          <a:rPr lang="en-US" altLang="zh-CN" i="1" dirty="0">
                            <a:latin typeface="Cambria Math" panose="02040503050406030204" pitchFamily="18" charset="0"/>
                          </a:rPr>
                          <m:t>1.76</m:t>
                        </m:r>
                      </m:e>
                    </m:d>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0.0392&lt;</m:t>
                    </m:r>
                    <m:r>
                      <a:rPr lang="zh-CN" altLang="en-US" b="0" i="1" dirty="0" smtClean="0">
                        <a:solidFill>
                          <a:srgbClr val="FF0000"/>
                        </a:solidFill>
                        <a:latin typeface="Cambria Math" panose="02040503050406030204" pitchFamily="18" charset="0"/>
                      </a:rPr>
                      <m:t>𝛼</m:t>
                    </m:r>
                  </m:oMath>
                </a14:m>
                <a:r>
                  <a:rPr lang="en-US" altLang="zh-CN" dirty="0"/>
                  <a:t>	</a:t>
                </a:r>
              </a:p>
              <a:p>
                <a:pPr lvl="3"/>
                <a:r>
                  <a:rPr lang="en-US" altLang="zh-CN" dirty="0"/>
                  <a:t>reject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r>
                  <a:rPr lang="en-US" altLang="zh-CN" dirty="0"/>
                  <a:t>	</a:t>
                </a:r>
                <a:r>
                  <a:rPr lang="zh-CN" altLang="en-US" sz="1200" dirty="0">
                    <a:solidFill>
                      <a:schemeClr val="accent6"/>
                    </a:solidFill>
                  </a:rPr>
                  <a:t>自信片长会超过</a:t>
                </a:r>
                <a:r>
                  <a:rPr lang="en-US" altLang="zh-CN" sz="1200" dirty="0">
                    <a:solidFill>
                      <a:schemeClr val="accent6"/>
                    </a:solidFill>
                  </a:rPr>
                  <a:t>120</a:t>
                </a:r>
                <a:r>
                  <a:rPr lang="zh-CN" altLang="en-US" sz="1200" dirty="0">
                    <a:solidFill>
                      <a:schemeClr val="accent6"/>
                    </a:solidFill>
                  </a:rPr>
                  <a:t>分钟，需要调整场次间隔</a:t>
                </a:r>
                <a:endParaRPr lang="en-US" altLang="zh-CN" sz="1200" dirty="0">
                  <a:solidFill>
                    <a:schemeClr val="accent6"/>
                  </a:solidFill>
                </a:endParaRPr>
              </a:p>
              <a:p>
                <a:pPr lvl="2"/>
                <a:r>
                  <a:rPr lang="zh-CN" altLang="en-US" dirty="0"/>
                  <a:t>若 </a:t>
                </a:r>
                <a14:m>
                  <m:oMath xmlns:m="http://schemas.openxmlformats.org/officeDocument/2006/math">
                    <m:r>
                      <a:rPr lang="zh-CN" altLang="en-US" i="1">
                        <a:latin typeface="Cambria Math" panose="02040503050406030204" pitchFamily="18" charset="0"/>
                      </a:rPr>
                      <m:t>𝛼</m:t>
                    </m:r>
                    <m:r>
                      <a:rPr lang="en-US" altLang="zh-CN" i="1">
                        <a:latin typeface="Cambria Math" panose="02040503050406030204" pitchFamily="18" charset="0"/>
                      </a:rPr>
                      <m:t>=0.0</m:t>
                    </m:r>
                    <m:r>
                      <a:rPr lang="en-US" altLang="zh-CN" b="0" i="1" smtClean="0">
                        <a:latin typeface="Cambria Math" panose="02040503050406030204" pitchFamily="18" charset="0"/>
                      </a:rPr>
                      <m:t>1</m:t>
                    </m:r>
                  </m:oMath>
                </a14:m>
                <a:r>
                  <a:rPr lang="en-US" altLang="zh-CN" dirty="0"/>
                  <a:t>	</a:t>
                </a:r>
                <a:r>
                  <a:rPr lang="en-US" altLang="zh-CN" sz="1200" dirty="0">
                    <a:solidFill>
                      <a:schemeClr val="accent6"/>
                    </a:solidFill>
                  </a:rPr>
                  <a:t>99%</a:t>
                </a:r>
                <a:r>
                  <a:rPr lang="zh-CN" altLang="en-US" sz="1200" dirty="0">
                    <a:solidFill>
                      <a:schemeClr val="accent6"/>
                    </a:solidFill>
                  </a:rPr>
                  <a:t>置信度</a:t>
                </a:r>
                <a:endParaRPr lang="en-US" altLang="zh-CN" sz="1200" dirty="0">
                  <a:solidFill>
                    <a:schemeClr val="accent6"/>
                  </a:solidFill>
                </a:endParaRPr>
              </a:p>
              <a:p>
                <a:pPr lvl="3"/>
                <a14:m>
                  <m:oMath xmlns:m="http://schemas.openxmlformats.org/officeDocument/2006/math">
                    <m:r>
                      <a:rPr lang="en-US" altLang="zh-CN" i="1" dirty="0">
                        <a:latin typeface="Cambria Math" panose="02040503050406030204" pitchFamily="18" charset="0"/>
                      </a:rPr>
                      <m:t>𝑝</m:t>
                    </m:r>
                    <m:r>
                      <a:rPr lang="en-US" altLang="zh-CN" i="1" dirty="0">
                        <a:latin typeface="Cambria Math" panose="02040503050406030204" pitchFamily="18" charset="0"/>
                      </a:rPr>
                      <m:t>=</m:t>
                    </m:r>
                    <m:r>
                      <a:rPr lang="en-US" altLang="zh-CN" i="1" dirty="0">
                        <a:latin typeface="Cambria Math" panose="02040503050406030204" pitchFamily="18" charset="0"/>
                      </a:rPr>
                      <m:t>𝑃</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𝑧</m:t>
                        </m:r>
                        <m:r>
                          <a:rPr lang="en-US" altLang="zh-CN" i="1" dirty="0">
                            <a:latin typeface="Cambria Math" panose="02040503050406030204" pitchFamily="18" charset="0"/>
                          </a:rPr>
                          <m:t>&gt;1.76</m:t>
                        </m:r>
                      </m:e>
                    </m:d>
                    <m:r>
                      <a:rPr lang="en-US" altLang="zh-CN" i="1" dirty="0">
                        <a:latin typeface="Cambria Math" panose="02040503050406030204" pitchFamily="18" charset="0"/>
                      </a:rPr>
                      <m:t>=1−</m:t>
                    </m:r>
                    <m:r>
                      <a:rPr lang="en-US" altLang="zh-CN" i="1" dirty="0">
                        <a:latin typeface="Cambria Math" panose="02040503050406030204" pitchFamily="18" charset="0"/>
                      </a:rPr>
                      <m:t>𝑃</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𝑧</m:t>
                        </m:r>
                        <m:r>
                          <a:rPr lang="en-US" altLang="zh-CN" i="1" dirty="0">
                            <a:latin typeface="Cambria Math" panose="02040503050406030204" pitchFamily="18" charset="0"/>
                          </a:rPr>
                          <m:t>&lt;1.76</m:t>
                        </m:r>
                      </m:e>
                    </m:d>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0.0392</m:t>
                    </m:r>
                    <m:r>
                      <a:rPr lang="en-US" altLang="zh-CN" b="0" i="1" dirty="0" smtClean="0">
                        <a:solidFill>
                          <a:srgbClr val="FF0000"/>
                        </a:solidFill>
                        <a:latin typeface="Cambria Math" panose="02040503050406030204" pitchFamily="18" charset="0"/>
                      </a:rPr>
                      <m:t>&gt;</m:t>
                    </m:r>
                    <m:r>
                      <a:rPr lang="zh-CN" altLang="en-US" i="1" dirty="0">
                        <a:solidFill>
                          <a:srgbClr val="FF0000"/>
                        </a:solidFill>
                        <a:latin typeface="Cambria Math" panose="02040503050406030204" pitchFamily="18" charset="0"/>
                      </a:rPr>
                      <m:t>𝛼</m:t>
                    </m:r>
                  </m:oMath>
                </a14:m>
                <a:r>
                  <a:rPr lang="en-US" altLang="zh-CN" dirty="0"/>
                  <a:t>	</a:t>
                </a:r>
              </a:p>
              <a:p>
                <a:pPr lvl="3"/>
                <a:r>
                  <a:rPr lang="en-US" altLang="zh-CN" dirty="0"/>
                  <a:t>fail to reject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r>
                  <a:rPr lang="en-US" altLang="zh-CN" dirty="0"/>
                  <a:t>	</a:t>
                </a:r>
                <a:r>
                  <a:rPr lang="zh-CN" altLang="en-US" sz="1200" dirty="0">
                    <a:solidFill>
                      <a:schemeClr val="accent6"/>
                    </a:solidFill>
                  </a:rPr>
                  <a:t>不确定片长是否会超过</a:t>
                </a:r>
                <a:r>
                  <a:rPr lang="en-US" altLang="zh-CN" sz="1200" dirty="0">
                    <a:solidFill>
                      <a:schemeClr val="accent6"/>
                    </a:solidFill>
                  </a:rPr>
                  <a:t>120</a:t>
                </a:r>
                <a:r>
                  <a:rPr lang="zh-CN" altLang="en-US" sz="1200" dirty="0">
                    <a:solidFill>
                      <a:schemeClr val="accent6"/>
                    </a:solidFill>
                  </a:rPr>
                  <a:t>分钟，无法判断</a:t>
                </a:r>
                <a:endParaRPr lang="en-US" altLang="zh-CN" sz="1200" dirty="0">
                  <a:solidFill>
                    <a:schemeClr val="accent6"/>
                  </a:solidFill>
                </a:endParaRPr>
              </a:p>
              <a:p>
                <a:pPr lvl="2"/>
                <a:endParaRPr lang="en-US" altLang="zh-CN" dirty="0"/>
              </a:p>
            </p:txBody>
          </p:sp>
        </mc:Choice>
        <mc:Fallback xmlns="">
          <p:sp>
            <p:nvSpPr>
              <p:cNvPr id="3" name="内容占位符 2">
                <a:extLst>
                  <a:ext uri="{FF2B5EF4-FFF2-40B4-BE49-F238E27FC236}">
                    <a16:creationId xmlns:a16="http://schemas.microsoft.com/office/drawing/2014/main" id="{AF3C3193-5C04-5BA9-6FF3-303909AFACFA}"/>
                  </a:ext>
                </a:extLst>
              </p:cNvPr>
              <p:cNvSpPr>
                <a:spLocks noGrp="1" noRot="1" noChangeAspect="1" noMove="1" noResize="1" noEditPoints="1" noAdjustHandles="1" noChangeArrowheads="1" noChangeShapeType="1" noTextEdit="1"/>
              </p:cNvSpPr>
              <p:nvPr>
                <p:ph idx="1"/>
              </p:nvPr>
            </p:nvSpPr>
            <p:spPr>
              <a:blipFill>
                <a:blip r:embed="rId2"/>
                <a:stretch>
                  <a:fillRect l="-211" t="-342" b="-467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21FE1DDB-E34F-63FA-6928-6103101AC3A5}"/>
              </a:ext>
            </a:extLst>
          </p:cNvPr>
          <p:cNvPicPr>
            <a:picLocks noChangeAspect="1"/>
          </p:cNvPicPr>
          <p:nvPr/>
        </p:nvPicPr>
        <p:blipFill>
          <a:blip r:embed="rId3"/>
          <a:stretch>
            <a:fillRect/>
          </a:stretch>
        </p:blipFill>
        <p:spPr>
          <a:xfrm>
            <a:off x="5179623" y="2033358"/>
            <a:ext cx="2391833" cy="1658571"/>
          </a:xfrm>
          <a:prstGeom prst="rect">
            <a:avLst/>
          </a:prstGeom>
        </p:spPr>
      </p:pic>
      <p:pic>
        <p:nvPicPr>
          <p:cNvPr id="7" name="图片 6">
            <a:extLst>
              <a:ext uri="{FF2B5EF4-FFF2-40B4-BE49-F238E27FC236}">
                <a16:creationId xmlns:a16="http://schemas.microsoft.com/office/drawing/2014/main" id="{D48CAB89-55CE-A403-36E9-41233B251BC6}"/>
              </a:ext>
            </a:extLst>
          </p:cNvPr>
          <p:cNvPicPr>
            <a:picLocks noChangeAspect="1"/>
          </p:cNvPicPr>
          <p:nvPr/>
        </p:nvPicPr>
        <p:blipFill>
          <a:blip r:embed="rId4"/>
          <a:stretch>
            <a:fillRect/>
          </a:stretch>
        </p:blipFill>
        <p:spPr>
          <a:xfrm>
            <a:off x="8166553" y="1000125"/>
            <a:ext cx="3627513" cy="2662834"/>
          </a:xfrm>
          <a:prstGeom prst="rect">
            <a:avLst/>
          </a:prstGeom>
        </p:spPr>
      </p:pic>
      <p:pic>
        <p:nvPicPr>
          <p:cNvPr id="9" name="图片 8">
            <a:extLst>
              <a:ext uri="{FF2B5EF4-FFF2-40B4-BE49-F238E27FC236}">
                <a16:creationId xmlns:a16="http://schemas.microsoft.com/office/drawing/2014/main" id="{6443A3F4-3428-225A-7FA5-A014650024CA}"/>
              </a:ext>
            </a:extLst>
          </p:cNvPr>
          <p:cNvPicPr>
            <a:picLocks noChangeAspect="1"/>
          </p:cNvPicPr>
          <p:nvPr/>
        </p:nvPicPr>
        <p:blipFill>
          <a:blip r:embed="rId5"/>
          <a:stretch>
            <a:fillRect/>
          </a:stretch>
        </p:blipFill>
        <p:spPr>
          <a:xfrm>
            <a:off x="7573573" y="3690749"/>
            <a:ext cx="4250127" cy="2662834"/>
          </a:xfrm>
          <a:prstGeom prst="rect">
            <a:avLst/>
          </a:prstGeom>
        </p:spPr>
      </p:pic>
    </p:spTree>
    <p:extLst>
      <p:ext uri="{BB962C8B-B14F-4D97-AF65-F5344CB8AC3E}">
        <p14:creationId xmlns:p14="http://schemas.microsoft.com/office/powerpoint/2010/main" val="4226616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AC4195-10A0-87CE-DD72-E86D8DC15EDD}"/>
              </a:ext>
            </a:extLst>
          </p:cNvPr>
          <p:cNvSpPr>
            <a:spLocks noGrp="1"/>
          </p:cNvSpPr>
          <p:nvPr>
            <p:ph type="title"/>
          </p:nvPr>
        </p:nvSpPr>
        <p:spPr/>
        <p:txBody>
          <a:bodyPr/>
          <a:lstStyle/>
          <a:p>
            <a:r>
              <a:rPr lang="en-US" altLang="zh-CN" dirty="0"/>
              <a:t>Hypothesis testing for proportion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962207D-E985-893F-FAC5-E8507B5B1CA7}"/>
                  </a:ext>
                </a:extLst>
              </p:cNvPr>
              <p:cNvSpPr>
                <a:spLocks noGrp="1"/>
              </p:cNvSpPr>
              <p:nvPr>
                <p:ph sz="half" idx="1"/>
              </p:nvPr>
            </p:nvSpPr>
            <p:spPr>
              <a:xfrm>
                <a:off x="243417" y="996779"/>
                <a:ext cx="6809316" cy="5357986"/>
              </a:xfrm>
            </p:spPr>
            <p:txBody>
              <a:bodyPr/>
              <a:lstStyle/>
              <a:p>
                <a:r>
                  <a:rPr lang="zh-CN" altLang="en-US" dirty="0"/>
                  <a:t>例：面包店送货</a:t>
                </a:r>
                <a:r>
                  <a:rPr lang="en-US" altLang="zh-CN" dirty="0"/>
                  <a:t>	</a:t>
                </a:r>
                <a:r>
                  <a:rPr lang="zh-CN" altLang="en-US" sz="1200" dirty="0">
                    <a:solidFill>
                      <a:schemeClr val="accent6"/>
                    </a:solidFill>
                  </a:rPr>
                  <a:t>测算能否准点到达，是否需要提前出发，</a:t>
                </a:r>
                <a:r>
                  <a:rPr kumimoji="0" lang="zh-CN" altLang="en-US" sz="1200" b="0" i="0" u="none" strike="noStrike" kern="1200" cap="none" spc="0" normalizeH="0" baseline="0" noProof="0" dirty="0">
                    <a:ln>
                      <a:noFill/>
                    </a:ln>
                    <a:solidFill>
                      <a:srgbClr val="009691"/>
                    </a:solidFill>
                    <a:effectLst/>
                    <a:uLnTx/>
                    <a:uFillTx/>
                    <a:latin typeface="Arial"/>
                    <a:ea typeface="微软雅黑"/>
                    <a:cs typeface="+mn-cs"/>
                  </a:rPr>
                  <a:t>准点率 </a:t>
                </a:r>
                <a:r>
                  <a:rPr lang="en-US" altLang="zh-CN" sz="1200" dirty="0">
                    <a:solidFill>
                      <a:srgbClr val="009691"/>
                    </a:solidFill>
                    <a:latin typeface="Arial"/>
                    <a:ea typeface="微软雅黑"/>
                  </a:rPr>
                  <a:t>&gt;=</a:t>
                </a:r>
                <a:r>
                  <a:rPr kumimoji="0" lang="zh-CN" altLang="en-US" sz="1200" b="0" i="0" u="none" strike="noStrike" kern="1200" cap="none" spc="0" normalizeH="0" baseline="0" noProof="0" dirty="0">
                    <a:ln>
                      <a:noFill/>
                    </a:ln>
                    <a:solidFill>
                      <a:srgbClr val="009691"/>
                    </a:solidFill>
                    <a:effectLst/>
                    <a:uLnTx/>
                    <a:uFillTx/>
                    <a:latin typeface="Arial"/>
                    <a:ea typeface="微软雅黑"/>
                    <a:cs typeface="+mn-cs"/>
                  </a:rPr>
                  <a:t> </a:t>
                </a:r>
                <a:r>
                  <a:rPr kumimoji="0" lang="en-US" altLang="zh-CN" sz="1200" b="0" i="0" u="none" strike="noStrike" kern="1200" cap="none" spc="0" normalizeH="0" baseline="0" noProof="0" dirty="0">
                    <a:ln>
                      <a:noFill/>
                    </a:ln>
                    <a:solidFill>
                      <a:srgbClr val="009691"/>
                    </a:solidFill>
                    <a:effectLst/>
                    <a:uLnTx/>
                    <a:uFillTx/>
                    <a:latin typeface="Arial"/>
                    <a:ea typeface="微软雅黑"/>
                    <a:cs typeface="+mn-cs"/>
                  </a:rPr>
                  <a:t>95%</a:t>
                </a:r>
                <a:endParaRPr lang="en-US" altLang="zh-CN" sz="1400" dirty="0">
                  <a:solidFill>
                    <a:schemeClr val="accent6"/>
                  </a:solidFill>
                </a:endParaRPr>
              </a:p>
              <a:p>
                <a:pPr lvl="1"/>
                <a:r>
                  <a:rPr lang="zh-CN" altLang="en-US" dirty="0"/>
                  <a:t>假设</a:t>
                </a:r>
                <a:endParaRPr lang="en-US" altLang="zh-CN" i="1" dirty="0">
                  <a:latin typeface="Cambria Math" panose="02040503050406030204" pitchFamily="18" charset="0"/>
                </a:endParaRPr>
              </a:p>
              <a:p>
                <a:pPr lvl="2"/>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b="0" i="1" smtClean="0">
                                <a:latin typeface="Cambria Math" panose="02040503050406030204" pitchFamily="18" charset="0"/>
                              </a:rPr>
                              <m:t>𝑝</m:t>
                            </m:r>
                            <m:r>
                              <a:rPr lang="en-US" altLang="zh-CN" i="1">
                                <a:latin typeface="Cambria Math" panose="02040503050406030204" pitchFamily="18" charset="0"/>
                              </a:rPr>
                              <m:t>=</m:t>
                            </m:r>
                            <m:r>
                              <a:rPr lang="en-US" altLang="zh-CN" b="0" i="1" smtClean="0">
                                <a:latin typeface="Cambria Math" panose="02040503050406030204" pitchFamily="18" charset="0"/>
                              </a:rPr>
                              <m:t>0.05</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𝑝</m:t>
                            </m:r>
                            <m:r>
                              <a:rPr lang="en-US" altLang="zh-CN" i="1">
                                <a:latin typeface="Cambria Math" panose="02040503050406030204" pitchFamily="18" charset="0"/>
                              </a:rPr>
                              <m:t>&gt;</m:t>
                            </m:r>
                            <m:r>
                              <a:rPr lang="en-US" altLang="zh-CN" b="0" i="1" smtClean="0">
                                <a:latin typeface="Cambria Math" panose="02040503050406030204" pitchFamily="18" charset="0"/>
                              </a:rPr>
                              <m:t>0.05</m:t>
                            </m:r>
                          </m:e>
                        </m:eqArr>
                      </m:e>
                    </m:d>
                  </m:oMath>
                </a14:m>
                <a:r>
                  <a:rPr lang="en-US" altLang="zh-CN" dirty="0"/>
                  <a:t>	</a:t>
                </a:r>
                <a:r>
                  <a:rPr lang="zh-CN" altLang="en-US" sz="1200" dirty="0">
                    <a:solidFill>
                      <a:schemeClr val="accent6"/>
                    </a:solidFill>
                  </a:rPr>
                  <a:t>担心：误点率超过</a:t>
                </a:r>
                <a:r>
                  <a:rPr lang="en-US" altLang="zh-CN" sz="1200" dirty="0">
                    <a:solidFill>
                      <a:schemeClr val="accent6"/>
                    </a:solidFill>
                  </a:rPr>
                  <a:t>5%	</a:t>
                </a:r>
                <a14:m>
                  <m:oMath xmlns:m="http://schemas.openxmlformats.org/officeDocument/2006/math">
                    <m:sSub>
                      <m:sSubPr>
                        <m:ctrlPr>
                          <a:rPr lang="en-US" altLang="zh-CN" sz="1200" i="1" smtClean="0">
                            <a:solidFill>
                              <a:schemeClr val="accent6"/>
                            </a:solidFill>
                            <a:latin typeface="Cambria Math" panose="02040503050406030204" pitchFamily="18" charset="0"/>
                          </a:rPr>
                        </m:ctrlPr>
                      </m:sSubPr>
                      <m:e>
                        <m:r>
                          <a:rPr lang="en-US" altLang="zh-CN" sz="1200" b="0" i="1" smtClean="0">
                            <a:solidFill>
                              <a:schemeClr val="accent6"/>
                            </a:solidFill>
                            <a:latin typeface="Cambria Math" panose="02040503050406030204" pitchFamily="18" charset="0"/>
                          </a:rPr>
                          <m:t>𝑝</m:t>
                        </m:r>
                      </m:e>
                      <m:sub>
                        <m:r>
                          <a:rPr lang="en-US" altLang="zh-CN" sz="1200" b="0" i="1" smtClean="0">
                            <a:solidFill>
                              <a:schemeClr val="accent6"/>
                            </a:solidFill>
                            <a:latin typeface="Cambria Math" panose="02040503050406030204" pitchFamily="18" charset="0"/>
                          </a:rPr>
                          <m:t>0</m:t>
                        </m:r>
                      </m:sub>
                    </m:sSub>
                    <m:r>
                      <a:rPr lang="en-US" altLang="zh-CN" sz="1200" b="0" i="1" smtClean="0">
                        <a:solidFill>
                          <a:schemeClr val="accent6"/>
                        </a:solidFill>
                        <a:latin typeface="Cambria Math" panose="02040503050406030204" pitchFamily="18" charset="0"/>
                      </a:rPr>
                      <m:t>=0.05</m:t>
                    </m:r>
                  </m:oMath>
                </a14:m>
                <a:endParaRPr lang="en-US" altLang="zh-CN" sz="1200" dirty="0">
                  <a:solidFill>
                    <a:schemeClr val="accent6"/>
                  </a:solidFill>
                </a:endParaRPr>
              </a:p>
              <a:p>
                <a:pPr lvl="1"/>
                <a:endParaRPr lang="en-US" altLang="zh-CN" dirty="0"/>
              </a:p>
              <a:p>
                <a:pPr lvl="1"/>
                <a:r>
                  <a:rPr lang="zh-CN" altLang="en-US" dirty="0"/>
                  <a:t>采样</a:t>
                </a:r>
                <a:endParaRPr lang="en-US" altLang="zh-CN" dirty="0"/>
              </a:p>
              <a:p>
                <a:pPr lvl="2"/>
                <a14:m>
                  <m:oMath xmlns:m="http://schemas.openxmlformats.org/officeDocument/2006/math">
                    <m:r>
                      <a:rPr lang="en-US" altLang="zh-CN" i="1" dirty="0">
                        <a:latin typeface="Cambria Math" panose="02040503050406030204" pitchFamily="18" charset="0"/>
                      </a:rPr>
                      <m:t>𝑛</m:t>
                    </m:r>
                    <m:r>
                      <a:rPr lang="en-US" altLang="zh-CN" i="1" dirty="0">
                        <a:latin typeface="Cambria Math" panose="02040503050406030204" pitchFamily="18" charset="0"/>
                      </a:rPr>
                      <m:t>=250</m:t>
                    </m:r>
                  </m:oMath>
                </a14:m>
                <a:r>
                  <a:rPr lang="en-US" altLang="zh-CN" dirty="0"/>
                  <a:t>	deliveries</a:t>
                </a:r>
              </a:p>
              <a:p>
                <a:pPr lvl="2"/>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𝑝</m:t>
                        </m:r>
                      </m:e>
                    </m:acc>
                    <m:r>
                      <a:rPr lang="en-US" altLang="zh-CN" i="1">
                        <a:latin typeface="Cambria Math" panose="02040503050406030204" pitchFamily="18" charset="0"/>
                      </a:rPr>
                      <m:t>=</m:t>
                    </m:r>
                    <m:r>
                      <a:rPr lang="en-US" altLang="zh-CN" b="0" i="1" smtClean="0">
                        <a:latin typeface="Cambria Math" panose="02040503050406030204" pitchFamily="18" charset="0"/>
                      </a:rPr>
                      <m:t>0.6</m:t>
                    </m:r>
                  </m:oMath>
                </a14:m>
                <a:r>
                  <a:rPr lang="en-US" altLang="zh-CN" dirty="0"/>
                  <a:t>	on time</a:t>
                </a:r>
              </a:p>
              <a:p>
                <a:pPr lvl="2"/>
                <a14:m>
                  <m:oMath xmlns:m="http://schemas.openxmlformats.org/officeDocument/2006/math">
                    <m:r>
                      <a:rPr lang="en-US" altLang="zh-CN" i="1" dirty="0">
                        <a:latin typeface="Cambria Math" panose="02040503050406030204" pitchFamily="18" charset="0"/>
                      </a:rPr>
                      <m:t>𝑆𝐸</m:t>
                    </m:r>
                    <m:r>
                      <a:rPr lang="en-US" altLang="zh-CN" i="1" dirty="0">
                        <a:latin typeface="Cambria Math" panose="02040503050406030204" pitchFamily="18" charset="0"/>
                      </a:rPr>
                      <m:t>=</m:t>
                    </m:r>
                    <m:rad>
                      <m:radPr>
                        <m:degHide m:val="on"/>
                        <m:ctrlPr>
                          <a:rPr lang="en-US" altLang="zh-CN" i="1" dirty="0" smtClean="0">
                            <a:solidFill>
                              <a:schemeClr val="tx1"/>
                            </a:solidFill>
                            <a:latin typeface="Cambria Math" panose="02040503050406030204" pitchFamily="18" charset="0"/>
                          </a:rPr>
                        </m:ctrlPr>
                      </m:radPr>
                      <m:deg/>
                      <m:e>
                        <m:f>
                          <m:fPr>
                            <m:ctrlPr>
                              <a:rPr lang="en-US" altLang="zh-CN" i="1" dirty="0" smtClean="0">
                                <a:solidFill>
                                  <a:schemeClr val="tx1"/>
                                </a:solidFill>
                                <a:latin typeface="Cambria Math" panose="02040503050406030204" pitchFamily="18" charset="0"/>
                              </a:rPr>
                            </m:ctrlPr>
                          </m:fPr>
                          <m:num>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𝑝</m:t>
                                </m:r>
                              </m:e>
                              <m:sub>
                                <m:r>
                                  <a:rPr lang="en-US" altLang="zh-CN" i="1">
                                    <a:solidFill>
                                      <a:schemeClr val="tx1"/>
                                    </a:solidFill>
                                    <a:latin typeface="Cambria Math" panose="02040503050406030204" pitchFamily="18" charset="0"/>
                                  </a:rPr>
                                  <m:t>0</m:t>
                                </m:r>
                              </m:sub>
                            </m:sSub>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1−</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𝑝</m:t>
                                    </m:r>
                                  </m:e>
                                  <m:sub>
                                    <m:r>
                                      <a:rPr lang="en-US" altLang="zh-CN" i="1">
                                        <a:solidFill>
                                          <a:schemeClr val="tx1"/>
                                        </a:solidFill>
                                        <a:latin typeface="Cambria Math" panose="02040503050406030204" pitchFamily="18" charset="0"/>
                                      </a:rPr>
                                      <m:t>0</m:t>
                                    </m:r>
                                  </m:sub>
                                </m:sSub>
                              </m:e>
                            </m:d>
                          </m:num>
                          <m:den>
                            <m:r>
                              <a:rPr lang="en-US" altLang="zh-CN" b="0" i="1" dirty="0" smtClean="0">
                                <a:solidFill>
                                  <a:schemeClr val="tx1"/>
                                </a:solidFill>
                                <a:latin typeface="Cambria Math" panose="02040503050406030204" pitchFamily="18" charset="0"/>
                              </a:rPr>
                              <m:t>𝑛</m:t>
                            </m:r>
                          </m:den>
                        </m:f>
                      </m:e>
                    </m:rad>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0.01378</m:t>
                    </m:r>
                  </m:oMath>
                </a14:m>
                <a:endParaRPr lang="en-US" altLang="zh-CN" dirty="0"/>
              </a:p>
              <a:p>
                <a:pPr lvl="1"/>
                <a:endParaRPr lang="en-US" altLang="zh-CN" dirty="0"/>
              </a:p>
              <a:p>
                <a:pPr lvl="1"/>
                <a:r>
                  <a:rPr lang="zh-CN" altLang="en-US" dirty="0"/>
                  <a:t>计算</a:t>
                </a:r>
                <a:endParaRPr lang="en-US" altLang="zh-CN" dirty="0"/>
              </a:p>
              <a:p>
                <a:pPr lvl="2"/>
                <a14:m>
                  <m:oMath xmlns:m="http://schemas.openxmlformats.org/officeDocument/2006/math">
                    <m:r>
                      <a:rPr lang="en-US" altLang="zh-CN" i="1" dirty="0">
                        <a:latin typeface="Cambria Math" panose="02040503050406030204" pitchFamily="18" charset="0"/>
                      </a:rPr>
                      <m:t>𝑧</m:t>
                    </m:r>
                    <m:r>
                      <a:rPr lang="en-US" altLang="zh-CN" i="1" dirty="0">
                        <a:latin typeface="Cambria Math" panose="02040503050406030204" pitchFamily="18" charset="0"/>
                      </a:rPr>
                      <m:t>=</m:t>
                    </m:r>
                    <m:f>
                      <m:fPr>
                        <m:ctrlPr>
                          <a:rPr lang="en-US" altLang="zh-CN" i="1" dirty="0" smtClean="0">
                            <a:solidFill>
                              <a:schemeClr val="tx1"/>
                            </a:solidFill>
                            <a:latin typeface="Cambria Math" panose="02040503050406030204" pitchFamily="18" charset="0"/>
                          </a:rPr>
                        </m:ctrlPr>
                      </m:fPr>
                      <m:num>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r>
                          <a:rPr lang="en-US" altLang="zh-CN" i="1" dirty="0">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𝑝</m:t>
                            </m:r>
                          </m:e>
                          <m:sub>
                            <m:r>
                              <a:rPr lang="en-US" altLang="zh-CN" i="1">
                                <a:solidFill>
                                  <a:schemeClr val="tx1"/>
                                </a:solidFill>
                                <a:latin typeface="Cambria Math" panose="02040503050406030204" pitchFamily="18" charset="0"/>
                              </a:rPr>
                              <m:t>0</m:t>
                            </m:r>
                          </m:sub>
                        </m:sSub>
                      </m:num>
                      <m:den>
                        <m:r>
                          <a:rPr lang="en-US" altLang="zh-CN" i="1" dirty="0">
                            <a:solidFill>
                              <a:schemeClr val="tx1"/>
                            </a:solidFill>
                            <a:latin typeface="Cambria Math" panose="02040503050406030204" pitchFamily="18" charset="0"/>
                          </a:rPr>
                          <m:t>𝑆𝐸</m:t>
                        </m:r>
                      </m:den>
                    </m:f>
                    <m:r>
                      <a:rPr lang="en-US" altLang="zh-CN" i="1" dirty="0">
                        <a:latin typeface="Cambria Math" panose="02040503050406030204" pitchFamily="18" charset="0"/>
                      </a:rPr>
                      <m:t>=</m:t>
                    </m:r>
                    <m:r>
                      <a:rPr lang="en-US" altLang="zh-CN" b="0" i="1" dirty="0" smtClean="0">
                        <a:latin typeface="Cambria Math" panose="02040503050406030204" pitchFamily="18" charset="0"/>
                      </a:rPr>
                      <m:t>0.725</m:t>
                    </m:r>
                  </m:oMath>
                </a14:m>
                <a:r>
                  <a:rPr lang="en-US" altLang="zh-CN" dirty="0"/>
                  <a:t>	</a:t>
                </a:r>
                <a:r>
                  <a:rPr lang="zh-CN" altLang="en-US" sz="1200" dirty="0">
                    <a:solidFill>
                      <a:schemeClr val="accent6"/>
                    </a:solidFill>
                  </a:rPr>
                  <a:t>换算到标准正态分布后，距离 </a:t>
                </a:r>
                <a14:m>
                  <m:oMath xmlns:m="http://schemas.openxmlformats.org/officeDocument/2006/math">
                    <m:r>
                      <a:rPr lang="zh-CN" altLang="en-US" sz="1200" i="1" dirty="0">
                        <a:solidFill>
                          <a:schemeClr val="accent6"/>
                        </a:solidFill>
                        <a:latin typeface="Cambria Math" panose="02040503050406030204" pitchFamily="18" charset="0"/>
                      </a:rPr>
                      <m:t>𝜇</m:t>
                    </m:r>
                  </m:oMath>
                </a14:m>
                <a:r>
                  <a:rPr lang="zh-CN" altLang="en-US" sz="1200" dirty="0">
                    <a:solidFill>
                      <a:schemeClr val="accent6"/>
                    </a:solidFill>
                  </a:rPr>
                  <a:t> 有 </a:t>
                </a:r>
                <a14:m>
                  <m:oMath xmlns:m="http://schemas.openxmlformats.org/officeDocument/2006/math">
                    <m:r>
                      <a:rPr lang="en-US" altLang="zh-CN" sz="1200" b="0" i="1" dirty="0" smtClean="0">
                        <a:solidFill>
                          <a:schemeClr val="accent6"/>
                        </a:solidFill>
                        <a:latin typeface="Cambria Math" panose="02040503050406030204" pitchFamily="18" charset="0"/>
                      </a:rPr>
                      <m:t>0.725</m:t>
                    </m:r>
                    <m:r>
                      <a:rPr lang="zh-CN" altLang="en-US" sz="1200" i="1" dirty="0">
                        <a:solidFill>
                          <a:schemeClr val="accent6"/>
                        </a:solidFill>
                        <a:latin typeface="Cambria Math" panose="02040503050406030204" pitchFamily="18" charset="0"/>
                      </a:rPr>
                      <m:t>𝜎</m:t>
                    </m:r>
                  </m:oMath>
                </a14:m>
                <a:r>
                  <a:rPr lang="zh-CN" altLang="en-US" sz="1200" dirty="0">
                    <a:solidFill>
                      <a:schemeClr val="accent6"/>
                    </a:solidFill>
                  </a:rPr>
                  <a:t> 个单位</a:t>
                </a:r>
              </a:p>
              <a:p>
                <a:pPr lvl="1"/>
                <a:endParaRPr lang="en-US" altLang="zh-CN" dirty="0"/>
              </a:p>
              <a:p>
                <a:pPr lvl="1"/>
                <a:r>
                  <a:rPr lang="zh-CN" altLang="en-US" dirty="0"/>
                  <a:t>结论</a:t>
                </a:r>
                <a:endParaRPr lang="en-US" altLang="zh-CN" dirty="0"/>
              </a:p>
              <a:p>
                <a:pPr lvl="2"/>
                <a:r>
                  <a:rPr lang="zh-CN" altLang="en-US" dirty="0"/>
                  <a:t>若 </a:t>
                </a:r>
                <a14:m>
                  <m:oMath xmlns:m="http://schemas.openxmlformats.org/officeDocument/2006/math">
                    <m:r>
                      <a:rPr lang="zh-CN" altLang="en-US" i="1">
                        <a:latin typeface="Cambria Math" panose="02040503050406030204" pitchFamily="18" charset="0"/>
                      </a:rPr>
                      <m:t>𝛼</m:t>
                    </m:r>
                    <m:r>
                      <a:rPr lang="en-US" altLang="zh-CN" i="1">
                        <a:latin typeface="Cambria Math" panose="02040503050406030204" pitchFamily="18" charset="0"/>
                      </a:rPr>
                      <m:t>=0.05</m:t>
                    </m:r>
                  </m:oMath>
                </a14:m>
                <a:r>
                  <a:rPr lang="en-US" altLang="zh-CN" dirty="0"/>
                  <a:t>	</a:t>
                </a:r>
                <a:r>
                  <a:rPr lang="en-US" altLang="zh-CN" sz="1200" dirty="0">
                    <a:solidFill>
                      <a:schemeClr val="accent6"/>
                    </a:solidFill>
                  </a:rPr>
                  <a:t>95%</a:t>
                </a:r>
                <a:r>
                  <a:rPr lang="zh-CN" altLang="en-US" sz="1200" dirty="0">
                    <a:solidFill>
                      <a:schemeClr val="accent6"/>
                    </a:solidFill>
                  </a:rPr>
                  <a:t>置信度</a:t>
                </a:r>
                <a:endParaRPr lang="en-US" altLang="zh-CN" sz="1200" dirty="0">
                  <a:solidFill>
                    <a:schemeClr val="accent6"/>
                  </a:solidFill>
                </a:endParaRPr>
              </a:p>
              <a:p>
                <a:pPr lvl="3"/>
                <a14:m>
                  <m:oMath xmlns:m="http://schemas.openxmlformats.org/officeDocument/2006/math">
                    <m:r>
                      <a:rPr lang="en-US" altLang="zh-CN" i="1" dirty="0">
                        <a:latin typeface="Cambria Math" panose="02040503050406030204" pitchFamily="18" charset="0"/>
                      </a:rPr>
                      <m:t>𝑝</m:t>
                    </m:r>
                    <m:r>
                      <a:rPr lang="en-US" altLang="zh-CN" i="1" dirty="0">
                        <a:latin typeface="Cambria Math" panose="02040503050406030204" pitchFamily="18" charset="0"/>
                      </a:rPr>
                      <m:t>=</m:t>
                    </m:r>
                    <m:r>
                      <a:rPr lang="en-US" altLang="zh-CN" i="1" dirty="0">
                        <a:latin typeface="Cambria Math" panose="02040503050406030204" pitchFamily="18" charset="0"/>
                      </a:rPr>
                      <m:t>𝑃</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𝑧</m:t>
                        </m:r>
                        <m:r>
                          <a:rPr lang="en-US" altLang="zh-CN" i="1" dirty="0">
                            <a:latin typeface="Cambria Math" panose="02040503050406030204" pitchFamily="18" charset="0"/>
                          </a:rPr>
                          <m:t>≥0.725</m:t>
                        </m:r>
                      </m:e>
                    </m:d>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0.</m:t>
                    </m:r>
                    <m:r>
                      <a:rPr lang="en-US" altLang="zh-CN" b="0" i="1" dirty="0" smtClean="0">
                        <a:solidFill>
                          <a:srgbClr val="FF0000"/>
                        </a:solidFill>
                        <a:latin typeface="Cambria Math" panose="02040503050406030204" pitchFamily="18" charset="0"/>
                      </a:rPr>
                      <m:t>2342&gt;</m:t>
                    </m:r>
                    <m:r>
                      <a:rPr lang="zh-CN" altLang="en-US" i="1" dirty="0">
                        <a:solidFill>
                          <a:srgbClr val="FF0000"/>
                        </a:solidFill>
                        <a:latin typeface="Cambria Math" panose="02040503050406030204" pitchFamily="18" charset="0"/>
                      </a:rPr>
                      <m:t>𝛼</m:t>
                    </m:r>
                  </m:oMath>
                </a14:m>
                <a:r>
                  <a:rPr lang="en-US" altLang="zh-CN" dirty="0"/>
                  <a:t>	</a:t>
                </a:r>
              </a:p>
              <a:p>
                <a:pPr lvl="3"/>
                <a:r>
                  <a:rPr lang="en-US" altLang="zh-CN" dirty="0"/>
                  <a:t>fail to reject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r>
                  <a:rPr lang="en-US" altLang="zh-CN" dirty="0"/>
                  <a:t>	</a:t>
                </a:r>
                <a:r>
                  <a:rPr lang="zh-CN" altLang="en-US" sz="1200" dirty="0">
                    <a:solidFill>
                      <a:schemeClr val="accent6"/>
                    </a:solidFill>
                  </a:rPr>
                  <a:t>无法证明误点率会超过 </a:t>
                </a:r>
                <a:r>
                  <a:rPr lang="en-US" altLang="zh-CN" sz="1200" dirty="0">
                    <a:solidFill>
                      <a:schemeClr val="accent6"/>
                    </a:solidFill>
                  </a:rPr>
                  <a:t>5%</a:t>
                </a:r>
                <a:r>
                  <a:rPr lang="zh-CN" altLang="en-US" sz="1200" dirty="0">
                    <a:solidFill>
                      <a:schemeClr val="accent6"/>
                    </a:solidFill>
                  </a:rPr>
                  <a:t>，所以不需要提前出发</a:t>
                </a:r>
                <a:endParaRPr lang="en-US" altLang="zh-CN" sz="1200" dirty="0">
                  <a:solidFill>
                    <a:schemeClr val="accent6"/>
                  </a:solidFill>
                </a:endParaRPr>
              </a:p>
            </p:txBody>
          </p:sp>
        </mc:Choice>
        <mc:Fallback xmlns="">
          <p:sp>
            <p:nvSpPr>
              <p:cNvPr id="3" name="内容占位符 2">
                <a:extLst>
                  <a:ext uri="{FF2B5EF4-FFF2-40B4-BE49-F238E27FC236}">
                    <a16:creationId xmlns:a16="http://schemas.microsoft.com/office/drawing/2014/main" id="{8962207D-E985-893F-FAC5-E8507B5B1CA7}"/>
                  </a:ext>
                </a:extLst>
              </p:cNvPr>
              <p:cNvSpPr>
                <a:spLocks noGrp="1" noRot="1" noChangeAspect="1" noMove="1" noResize="1" noEditPoints="1" noAdjustHandles="1" noChangeArrowheads="1" noChangeShapeType="1" noTextEdit="1"/>
              </p:cNvSpPr>
              <p:nvPr>
                <p:ph sz="half" idx="1"/>
              </p:nvPr>
            </p:nvSpPr>
            <p:spPr>
              <a:xfrm>
                <a:off x="243417" y="996779"/>
                <a:ext cx="6809316" cy="5357986"/>
              </a:xfrm>
              <a:blipFill>
                <a:blip r:embed="rId2"/>
                <a:stretch>
                  <a:fillRect l="-358" t="-342"/>
                </a:stretch>
              </a:blipFill>
            </p:spPr>
            <p:txBody>
              <a:bodyPr/>
              <a:lstStyle/>
              <a:p>
                <a:r>
                  <a:rPr lang="zh-CN" altLang="en-US">
                    <a:noFill/>
                  </a:rPr>
                  <a:t> </a:t>
                </a:r>
              </a:p>
            </p:txBody>
          </p:sp>
        </mc:Fallback>
      </mc:AlternateContent>
      <p:pic>
        <p:nvPicPr>
          <p:cNvPr id="6" name="内容占位符 5">
            <a:extLst>
              <a:ext uri="{FF2B5EF4-FFF2-40B4-BE49-F238E27FC236}">
                <a16:creationId xmlns:a16="http://schemas.microsoft.com/office/drawing/2014/main" id="{8A36FF49-5377-6414-532D-58BC578EC317}"/>
              </a:ext>
            </a:extLst>
          </p:cNvPr>
          <p:cNvPicPr>
            <a:picLocks noGrp="1" noChangeAspect="1"/>
          </p:cNvPicPr>
          <p:nvPr>
            <p:ph sz="half" idx="2"/>
          </p:nvPr>
        </p:nvPicPr>
        <p:blipFill>
          <a:blip r:embed="rId3"/>
          <a:stretch>
            <a:fillRect/>
          </a:stretch>
        </p:blipFill>
        <p:spPr bwMode="auto">
          <a:xfrm>
            <a:off x="6776684" y="996779"/>
            <a:ext cx="5048604" cy="337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0173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7AFA61-5210-5FFA-6CEE-4D04EC60880C}"/>
              </a:ext>
            </a:extLst>
          </p:cNvPr>
          <p:cNvSpPr>
            <a:spLocks noGrp="1"/>
          </p:cNvSpPr>
          <p:nvPr>
            <p:ph type="title"/>
          </p:nvPr>
        </p:nvSpPr>
        <p:spPr/>
        <p:txBody>
          <a:bodyPr/>
          <a:lstStyle/>
          <a:p>
            <a:r>
              <a:rPr lang="en-US" altLang="zh-CN" dirty="0"/>
              <a:t>Two sample test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DC91C9C-F49D-A5B3-D86F-0107AE1E9257}"/>
                  </a:ext>
                </a:extLst>
              </p:cNvPr>
              <p:cNvSpPr>
                <a:spLocks noGrp="1"/>
              </p:cNvSpPr>
              <p:nvPr>
                <p:ph idx="1"/>
              </p:nvPr>
            </p:nvSpPr>
            <p:spPr/>
            <p:txBody>
              <a:bodyPr/>
              <a:lstStyle/>
              <a:p>
                <a:r>
                  <a:rPr lang="zh-CN" altLang="en-US" dirty="0"/>
                  <a:t>例：用户分群</a:t>
                </a:r>
                <a:r>
                  <a:rPr lang="en-US" altLang="zh-CN" dirty="0"/>
                  <a:t>	</a:t>
                </a:r>
                <a:r>
                  <a:rPr lang="zh-CN" altLang="en-US" sz="1200" dirty="0">
                    <a:solidFill>
                      <a:schemeClr val="accent6"/>
                    </a:solidFill>
                  </a:rPr>
                  <a:t>比较 </a:t>
                </a:r>
                <a:r>
                  <a:rPr lang="en-US" altLang="zh-CN" sz="1200" dirty="0">
                    <a:solidFill>
                      <a:schemeClr val="accent6"/>
                    </a:solidFill>
                  </a:rPr>
                  <a:t>basic </a:t>
                </a:r>
                <a:r>
                  <a:rPr lang="zh-CN" altLang="en-US" sz="1200" dirty="0">
                    <a:solidFill>
                      <a:schemeClr val="accent6"/>
                    </a:solidFill>
                  </a:rPr>
                  <a:t>和 </a:t>
                </a:r>
                <a:r>
                  <a:rPr lang="en-US" altLang="zh-CN" sz="1200" dirty="0">
                    <a:solidFill>
                      <a:schemeClr val="accent6"/>
                    </a:solidFill>
                  </a:rPr>
                  <a:t>premium </a:t>
                </a:r>
                <a:r>
                  <a:rPr lang="zh-CN" altLang="en-US" sz="1200" dirty="0">
                    <a:solidFill>
                      <a:schemeClr val="accent6"/>
                    </a:solidFill>
                  </a:rPr>
                  <a:t>用户平均留存时长是否相同</a:t>
                </a:r>
                <a:endParaRPr lang="en-US" altLang="zh-CN" dirty="0">
                  <a:solidFill>
                    <a:schemeClr val="accent6"/>
                  </a:solidFill>
                </a:endParaRPr>
              </a:p>
              <a:p>
                <a:pPr lvl="1"/>
                <a:r>
                  <a:rPr lang="zh-CN" altLang="en-US" dirty="0"/>
                  <a:t>假设</a:t>
                </a:r>
                <a:endParaRPr lang="en-US" altLang="zh-CN" i="1" dirty="0">
                  <a:latin typeface="Cambria Math" panose="02040503050406030204" pitchFamily="18" charset="0"/>
                </a:endParaRPr>
              </a:p>
              <a:p>
                <a:pPr lvl="2"/>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𝜇</m:t>
                                </m:r>
                              </m:e>
                              <m:sub>
                                <m:r>
                                  <a:rPr lang="en-US" altLang="zh-CN" b="0" i="1" smtClean="0">
                                    <a:latin typeface="Cambria Math" panose="02040503050406030204" pitchFamily="18" charset="0"/>
                                  </a:rPr>
                                  <m:t>𝑏𝑎𝑠𝑖𝑐</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b="0" i="1" smtClean="0">
                                    <a:latin typeface="Cambria Math" panose="02040503050406030204" pitchFamily="18" charset="0"/>
                                  </a:rPr>
                                  <m:t>𝑝𝑟𝑒𝑚𝑖𝑢𝑚</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𝑏𝑎𝑠𝑖𝑐</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𝑝𝑟𝑒𝑚𝑖𝑢𝑚</m:t>
                                </m:r>
                              </m:sub>
                            </m:sSub>
                          </m:e>
                        </m:eqArr>
                      </m:e>
                    </m:d>
                  </m:oMath>
                </a14:m>
                <a:r>
                  <a:rPr lang="en-US" altLang="zh-CN" dirty="0"/>
                  <a:t>	</a:t>
                </a:r>
                <a:r>
                  <a:rPr lang="zh-CN" altLang="en-US" sz="1200" dirty="0">
                    <a:solidFill>
                      <a:schemeClr val="accent6"/>
                    </a:solidFill>
                  </a:rPr>
                  <a:t>担心：两组用户有各自不同的留存时长</a:t>
                </a:r>
                <a:endParaRPr lang="en-US" altLang="zh-CN" sz="1200" dirty="0">
                  <a:solidFill>
                    <a:schemeClr val="accent6"/>
                  </a:solidFill>
                </a:endParaRPr>
              </a:p>
              <a:p>
                <a:pPr lvl="1"/>
                <a:endParaRPr lang="en-US" altLang="zh-CN" dirty="0"/>
              </a:p>
              <a:p>
                <a:pPr lvl="1"/>
                <a:r>
                  <a:rPr lang="zh-CN" altLang="en-US" dirty="0"/>
                  <a:t>采样</a:t>
                </a:r>
                <a:endParaRPr lang="en-US" altLang="zh-CN" dirty="0"/>
              </a:p>
              <a:p>
                <a:pPr lvl="2"/>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i="1">
                            <a:latin typeface="Cambria Math" panose="02040503050406030204" pitchFamily="18" charset="0"/>
                          </a:rPr>
                          <m:t>𝑏𝑎𝑠𝑖𝑐</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30</m:t>
                    </m:r>
                  </m:oMath>
                </a14:m>
                <a:r>
                  <a:rPr lang="en-US" altLang="zh-CN" dirty="0"/>
                  <a:t>	customers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𝑏𝑎𝑠𝑖𝑐</m:t>
                        </m:r>
                      </m:sub>
                    </m:sSub>
                    <m:r>
                      <a:rPr lang="en-US" altLang="zh-CN" i="1" dirty="0">
                        <a:latin typeface="Cambria Math" panose="02040503050406030204" pitchFamily="18" charset="0"/>
                      </a:rPr>
                      <m:t>=30</m:t>
                    </m:r>
                  </m:oMath>
                </a14:m>
                <a:r>
                  <a:rPr lang="en-US" altLang="zh-CN" dirty="0"/>
                  <a:t>	customers</a:t>
                </a:r>
              </a:p>
              <a:p>
                <a:pPr lvl="2"/>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𝑥</m:t>
                            </m:r>
                          </m:e>
                        </m:acc>
                      </m:e>
                      <m:sub>
                        <m:r>
                          <a:rPr lang="en-US" altLang="zh-CN" i="1">
                            <a:latin typeface="Cambria Math" panose="02040503050406030204" pitchFamily="18" charset="0"/>
                          </a:rPr>
                          <m:t>𝑏𝑎𝑠𝑖𝑐</m:t>
                        </m:r>
                      </m:sub>
                    </m:sSub>
                    <m:r>
                      <a:rPr lang="en-US" altLang="zh-CN" i="1">
                        <a:latin typeface="Cambria Math" panose="02040503050406030204" pitchFamily="18" charset="0"/>
                      </a:rPr>
                      <m:t>=</m:t>
                    </m:r>
                    <m:r>
                      <a:rPr lang="en-US" altLang="zh-CN" b="0" i="1" smtClean="0">
                        <a:latin typeface="Cambria Math" panose="02040503050406030204" pitchFamily="18" charset="0"/>
                      </a:rPr>
                      <m:t>9.9</m:t>
                    </m:r>
                  </m:oMath>
                </a14:m>
                <a:r>
                  <a:rPr lang="en-US" altLang="zh-CN" dirty="0"/>
                  <a:t>	months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𝑏𝑎𝑠𝑖𝑐</m:t>
                        </m:r>
                      </m:sub>
                    </m:sSub>
                    <m:r>
                      <a:rPr lang="en-US" altLang="zh-CN" i="1">
                        <a:latin typeface="Cambria Math" panose="02040503050406030204" pitchFamily="18" charset="0"/>
                      </a:rPr>
                      <m:t>=</m:t>
                    </m:r>
                    <m:r>
                      <a:rPr lang="en-US" altLang="zh-CN" b="0" i="1" smtClean="0">
                        <a:latin typeface="Cambria Math" panose="02040503050406030204" pitchFamily="18" charset="0"/>
                      </a:rPr>
                      <m:t>10.4</m:t>
                    </m:r>
                  </m:oMath>
                </a14:m>
                <a:r>
                  <a:rPr lang="en-US" altLang="zh-CN" dirty="0"/>
                  <a:t>	months</a:t>
                </a:r>
              </a:p>
              <a:p>
                <a:pPr lvl="2"/>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𝑏𝑎𝑠𝑖𝑐</m:t>
                        </m:r>
                      </m:sub>
                    </m:sSub>
                    <m:r>
                      <a:rPr lang="en-US" altLang="zh-CN" i="1" dirty="0" smtClean="0">
                        <a:latin typeface="Cambria Math" panose="02040503050406030204" pitchFamily="18" charset="0"/>
                      </a:rPr>
                      <m:t>=</m:t>
                    </m:r>
                    <m:r>
                      <a:rPr lang="en-US" altLang="zh-CN" b="0" i="1" dirty="0" smtClean="0">
                        <a:latin typeface="Cambria Math" panose="02040503050406030204" pitchFamily="18" charset="0"/>
                      </a:rPr>
                      <m:t>3.3</m:t>
                    </m:r>
                  </m:oMath>
                </a14:m>
                <a:r>
                  <a:rPr lang="en-US" altLang="zh-CN" dirty="0"/>
                  <a:t>	months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𝑏𝑎𝑠𝑖𝑐</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1.9</m:t>
                    </m:r>
                  </m:oMath>
                </a14:m>
                <a:r>
                  <a:rPr lang="en-US" altLang="zh-CN" dirty="0"/>
                  <a:t>	months</a:t>
                </a:r>
              </a:p>
              <a:p>
                <a:pPr lvl="1"/>
                <a:endParaRPr lang="en-US" altLang="zh-CN" dirty="0"/>
              </a:p>
              <a:p>
                <a:pPr lvl="1"/>
                <a:r>
                  <a:rPr lang="zh-CN" altLang="en-US" dirty="0"/>
                  <a:t>结论</a:t>
                </a:r>
                <a:endParaRPr lang="en-US" altLang="zh-CN" dirty="0"/>
              </a:p>
              <a:p>
                <a:pPr lvl="2"/>
                <a:r>
                  <a:rPr lang="zh-CN" altLang="en-US" dirty="0"/>
                  <a:t>若 </a:t>
                </a:r>
                <a14:m>
                  <m:oMath xmlns:m="http://schemas.openxmlformats.org/officeDocument/2006/math">
                    <m:r>
                      <a:rPr lang="zh-CN" altLang="en-US" i="1">
                        <a:latin typeface="Cambria Math" panose="02040503050406030204" pitchFamily="18" charset="0"/>
                      </a:rPr>
                      <m:t>𝛼</m:t>
                    </m:r>
                    <m:r>
                      <a:rPr lang="en-US" altLang="zh-CN" i="1">
                        <a:latin typeface="Cambria Math" panose="02040503050406030204" pitchFamily="18" charset="0"/>
                      </a:rPr>
                      <m:t>=0.05</m:t>
                    </m:r>
                  </m:oMath>
                </a14:m>
                <a:r>
                  <a:rPr lang="en-US" altLang="zh-CN" dirty="0"/>
                  <a:t>	</a:t>
                </a:r>
                <a:r>
                  <a:rPr lang="en-US" altLang="zh-CN" sz="1200" dirty="0">
                    <a:solidFill>
                      <a:schemeClr val="accent6"/>
                    </a:solidFill>
                  </a:rPr>
                  <a:t>95%</a:t>
                </a:r>
                <a:r>
                  <a:rPr lang="zh-CN" altLang="en-US" sz="1200" dirty="0">
                    <a:solidFill>
                      <a:schemeClr val="accent6"/>
                    </a:solidFill>
                  </a:rPr>
                  <a:t>置信度</a:t>
                </a:r>
                <a:endParaRPr lang="en-US" altLang="zh-CN" sz="1200" dirty="0">
                  <a:solidFill>
                    <a:schemeClr val="accent6"/>
                  </a:solidFill>
                </a:endParaRPr>
              </a:p>
              <a:p>
                <a:pPr lvl="3"/>
                <a14:m>
                  <m:oMath xmlns:m="http://schemas.openxmlformats.org/officeDocument/2006/math">
                    <m:r>
                      <a:rPr lang="en-US" altLang="zh-CN" i="1" dirty="0">
                        <a:latin typeface="Cambria Math" panose="02040503050406030204" pitchFamily="18" charset="0"/>
                      </a:rPr>
                      <m:t>𝑝</m:t>
                    </m:r>
                    <m:r>
                      <a:rPr lang="en-US" altLang="zh-CN" i="1" dirty="0">
                        <a:latin typeface="Cambria Math" panose="02040503050406030204" pitchFamily="18" charset="0"/>
                      </a:rPr>
                      <m:t>=</m:t>
                    </m:r>
                    <m:r>
                      <a:rPr lang="en-US" altLang="zh-CN" i="1" dirty="0">
                        <a:latin typeface="Cambria Math" panose="02040503050406030204" pitchFamily="18" charset="0"/>
                      </a:rPr>
                      <m:t>𝑃</m:t>
                    </m:r>
                    <m:d>
                      <m:dPr>
                        <m:ctrlPr>
                          <a:rPr lang="en-US" altLang="zh-CN" i="1" dirty="0">
                            <a:latin typeface="Cambria Math" panose="02040503050406030204" pitchFamily="18" charset="0"/>
                          </a:rPr>
                        </m:ctrlPr>
                      </m:dPr>
                      <m:e>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𝑏𝑎𝑠𝑖𝑐</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𝑝𝑟𝑒𝑚𝑖𝑢𝑚</m:t>
                            </m:r>
                          </m:sub>
                        </m:sSub>
                      </m:e>
                    </m:d>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0.</m:t>
                    </m:r>
                    <m:r>
                      <a:rPr lang="en-US" altLang="zh-CN" b="0" i="1" dirty="0" smtClean="0">
                        <a:solidFill>
                          <a:srgbClr val="FF0000"/>
                        </a:solidFill>
                        <a:latin typeface="Cambria Math" panose="02040503050406030204" pitchFamily="18" charset="0"/>
                      </a:rPr>
                      <m:t>604</m:t>
                    </m:r>
                    <m:r>
                      <a:rPr lang="en-US" altLang="zh-CN" i="1" dirty="0">
                        <a:solidFill>
                          <a:srgbClr val="FF0000"/>
                        </a:solidFill>
                        <a:latin typeface="Cambria Math" panose="02040503050406030204" pitchFamily="18" charset="0"/>
                      </a:rPr>
                      <m:t>&gt;</m:t>
                    </m:r>
                    <m:r>
                      <a:rPr lang="zh-CN" altLang="en-US" i="1" dirty="0">
                        <a:solidFill>
                          <a:srgbClr val="FF0000"/>
                        </a:solidFill>
                        <a:latin typeface="Cambria Math" panose="02040503050406030204" pitchFamily="18" charset="0"/>
                      </a:rPr>
                      <m:t>𝛼</m:t>
                    </m:r>
                  </m:oMath>
                </a14:m>
                <a:r>
                  <a:rPr lang="en-US" altLang="zh-CN" dirty="0"/>
                  <a:t>	</a:t>
                </a:r>
              </a:p>
              <a:p>
                <a:pPr lvl="3"/>
                <a:r>
                  <a:rPr lang="en-US" altLang="zh-CN" dirty="0"/>
                  <a:t>fail to reject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0</m:t>
                        </m:r>
                      </m:sub>
                    </m:sSub>
                  </m:oMath>
                </a14:m>
                <a:r>
                  <a:rPr lang="en-US" altLang="zh-CN" dirty="0"/>
                  <a:t>	</a:t>
                </a:r>
                <a:r>
                  <a:rPr lang="zh-CN" altLang="en-US" sz="1200" dirty="0">
                    <a:solidFill>
                      <a:schemeClr val="accent6"/>
                    </a:solidFill>
                  </a:rPr>
                  <a:t>无法证明两组用户有各自不同的留存时长，所以提升用户等级似乎没有用</a:t>
                </a:r>
                <a:endParaRPr lang="en-US" altLang="zh-CN" sz="1200" dirty="0">
                  <a:solidFill>
                    <a:schemeClr val="accent6"/>
                  </a:solidFill>
                </a:endParaRPr>
              </a:p>
              <a:p>
                <a:pPr marL="1030287" lvl="3" indent="0">
                  <a:buNone/>
                </a:pPr>
                <a:endParaRPr lang="en-US" altLang="zh-CN" dirty="0"/>
              </a:p>
              <a:p>
                <a:pPr marL="1030287" lvl="3" indent="0">
                  <a:buNone/>
                </a:pPr>
                <a:r>
                  <a:rPr lang="pt-BR" altLang="zh-CN" dirty="0">
                    <a:solidFill>
                      <a:schemeClr val="accent6"/>
                    </a:solidFill>
                    <a:latin typeface="Cascadia Mono" panose="020B0609020000020004" pitchFamily="49" charset="0"/>
                    <a:cs typeface="Cascadia Mono" panose="020B0609020000020004" pitchFamily="49" charset="0"/>
                  </a:rPr>
                  <a:t>=T.TEST(array1, array2, tails, type)</a:t>
                </a:r>
              </a:p>
              <a:p>
                <a:pPr lvl="4">
                  <a:buFont typeface="Arial" panose="020B0604020202020204" pitchFamily="34" charset="0"/>
                  <a:buChar char="•"/>
                </a:pPr>
                <a:r>
                  <a:rPr lang="pt-BR" altLang="zh-CN" sz="1200" dirty="0">
                    <a:solidFill>
                      <a:schemeClr val="accent6"/>
                    </a:solidFill>
                    <a:latin typeface="Cascadia Mono" panose="020B0609020000020004" pitchFamily="49" charset="0"/>
                    <a:cs typeface="Cascadia Mono" panose="020B0609020000020004" pitchFamily="49" charset="0"/>
                  </a:rPr>
                  <a:t>array1, array2	</a:t>
                </a:r>
                <a:r>
                  <a:rPr lang="zh-CN" altLang="en-US" sz="1200" dirty="0">
                    <a:solidFill>
                      <a:schemeClr val="accent6"/>
                    </a:solidFill>
                    <a:latin typeface="Cascadia Mono" panose="020B0609020000020004" pitchFamily="49" charset="0"/>
                    <a:cs typeface="Cascadia Mono" panose="020B0609020000020004" pitchFamily="49" charset="0"/>
                  </a:rPr>
                  <a:t>两组数据</a:t>
                </a:r>
                <a:endParaRPr lang="en-US" altLang="zh-CN" sz="1200" dirty="0">
                  <a:solidFill>
                    <a:schemeClr val="accent6"/>
                  </a:solidFill>
                  <a:latin typeface="Cascadia Mono" panose="020B0609020000020004" pitchFamily="49" charset="0"/>
                  <a:cs typeface="Cascadia Mono" panose="020B0609020000020004" pitchFamily="49" charset="0"/>
                </a:endParaRPr>
              </a:p>
              <a:p>
                <a:pPr lvl="4">
                  <a:buFont typeface="Arial" panose="020B0604020202020204" pitchFamily="34" charset="0"/>
                  <a:buChar char="•"/>
                </a:pPr>
                <a:r>
                  <a:rPr lang="en-US" altLang="zh-CN" sz="1200" dirty="0">
                    <a:solidFill>
                      <a:schemeClr val="accent6"/>
                    </a:solidFill>
                    <a:latin typeface="Cascadia Mono" panose="020B0609020000020004" pitchFamily="49" charset="0"/>
                    <a:cs typeface="Cascadia Mono" panose="020B0609020000020004" pitchFamily="49" charset="0"/>
                  </a:rPr>
                  <a:t>tails		1: one-tail</a:t>
                </a:r>
                <a:r>
                  <a:rPr lang="zh-CN" altLang="en-US" sz="1200" dirty="0">
                    <a:solidFill>
                      <a:schemeClr val="accent6"/>
                    </a:solidFill>
                    <a:latin typeface="Cascadia Mono" panose="020B0609020000020004" pitchFamily="49" charset="0"/>
                    <a:cs typeface="Cascadia Mono" panose="020B0609020000020004" pitchFamily="49" charset="0"/>
                  </a:rPr>
                  <a:t>，单边， </a:t>
                </a:r>
                <a:r>
                  <a:rPr lang="en-US" altLang="zh-CN" sz="1200" dirty="0">
                    <a:solidFill>
                      <a:schemeClr val="accent6"/>
                    </a:solidFill>
                    <a:latin typeface="Cascadia Mono" panose="020B0609020000020004" pitchFamily="49" charset="0"/>
                    <a:cs typeface="Cascadia Mono" panose="020B0609020000020004" pitchFamily="49" charset="0"/>
                  </a:rPr>
                  <a:t>2: two-tails</a:t>
                </a:r>
                <a:r>
                  <a:rPr lang="zh-CN" altLang="en-US" sz="1200" dirty="0">
                    <a:solidFill>
                      <a:schemeClr val="accent6"/>
                    </a:solidFill>
                    <a:latin typeface="Cascadia Mono" panose="020B0609020000020004" pitchFamily="49" charset="0"/>
                    <a:cs typeface="Cascadia Mono" panose="020B0609020000020004" pitchFamily="49" charset="0"/>
                  </a:rPr>
                  <a:t>，双边</a:t>
                </a:r>
                <a:endParaRPr lang="en-US" altLang="zh-CN" sz="1200" dirty="0">
                  <a:solidFill>
                    <a:schemeClr val="accent6"/>
                  </a:solidFill>
                  <a:latin typeface="Cascadia Mono" panose="020B0609020000020004" pitchFamily="49" charset="0"/>
                  <a:cs typeface="Cascadia Mono" panose="020B0609020000020004" pitchFamily="49" charset="0"/>
                </a:endParaRPr>
              </a:p>
              <a:p>
                <a:pPr lvl="4">
                  <a:buFont typeface="Arial" panose="020B0604020202020204" pitchFamily="34" charset="0"/>
                  <a:buChar char="•"/>
                </a:pPr>
                <a:r>
                  <a:rPr lang="en-US" altLang="zh-CN" sz="1200" dirty="0">
                    <a:solidFill>
                      <a:schemeClr val="accent6"/>
                    </a:solidFill>
                    <a:latin typeface="Cascadia Mono" panose="020B0609020000020004" pitchFamily="49" charset="0"/>
                    <a:cs typeface="Cascadia Mono" panose="020B0609020000020004" pitchFamily="49" charset="0"/>
                  </a:rPr>
                  <a:t>type		1: </a:t>
                </a:r>
                <a:r>
                  <a:rPr lang="zh-CN" altLang="en-US" sz="1200" dirty="0">
                    <a:solidFill>
                      <a:schemeClr val="accent6"/>
                    </a:solidFill>
                    <a:latin typeface="Cascadia Mono" panose="020B0609020000020004" pitchFamily="49" charset="0"/>
                    <a:cs typeface="Cascadia Mono" panose="020B0609020000020004" pitchFamily="49" charset="0"/>
                  </a:rPr>
                  <a:t>成对，如：</a:t>
                </a:r>
                <a:r>
                  <a:rPr lang="en-US" altLang="zh-CN" sz="1200" dirty="0">
                    <a:solidFill>
                      <a:schemeClr val="accent6"/>
                    </a:solidFill>
                    <a:latin typeface="Cascadia Mono" panose="020B0609020000020004" pitchFamily="49" charset="0"/>
                    <a:cs typeface="Cascadia Mono" panose="020B0609020000020004" pitchFamily="49" charset="0"/>
                  </a:rPr>
                  <a:t>before/after, 2: </a:t>
                </a:r>
                <a:r>
                  <a:rPr lang="zh-CN" altLang="en-US" sz="1200" dirty="0">
                    <a:solidFill>
                      <a:schemeClr val="accent6"/>
                    </a:solidFill>
                    <a:latin typeface="Cascadia Mono" panose="020B0609020000020004" pitchFamily="49" charset="0"/>
                    <a:cs typeface="Cascadia Mono" panose="020B0609020000020004" pitchFamily="49" charset="0"/>
                  </a:rPr>
                  <a:t>双样本等方差假设</a:t>
                </a:r>
                <a:r>
                  <a:rPr lang="en-US" altLang="zh-CN" sz="1200" dirty="0">
                    <a:solidFill>
                      <a:schemeClr val="accent6"/>
                    </a:solidFill>
                    <a:latin typeface="Cascadia Mono" panose="020B0609020000020004" pitchFamily="49" charset="0"/>
                    <a:cs typeface="Cascadia Mono" panose="020B0609020000020004" pitchFamily="49" charset="0"/>
                  </a:rPr>
                  <a:t>, 3: </a:t>
                </a:r>
                <a:r>
                  <a:rPr lang="zh-CN" altLang="en-US" sz="1200" dirty="0">
                    <a:solidFill>
                      <a:schemeClr val="accent6"/>
                    </a:solidFill>
                    <a:latin typeface="Cascadia Mono" panose="020B0609020000020004" pitchFamily="49" charset="0"/>
                    <a:cs typeface="Cascadia Mono" panose="020B0609020000020004" pitchFamily="49" charset="0"/>
                  </a:rPr>
                  <a:t>双样本异方差假设</a:t>
                </a:r>
                <a:endParaRPr lang="en-US" altLang="zh-CN" sz="1200" dirty="0">
                  <a:solidFill>
                    <a:schemeClr val="accent6"/>
                  </a:solidFill>
                  <a:latin typeface="Cascadia Mono" panose="020B0609020000020004" pitchFamily="49" charset="0"/>
                  <a:cs typeface="Cascadia Mono" panose="020B0609020000020004" pitchFamily="49" charset="0"/>
                </a:endParaRPr>
              </a:p>
              <a:p>
                <a:pPr marL="1030287" lvl="3" indent="0">
                  <a:buNone/>
                </a:pPr>
                <a:endParaRPr lang="en-US" altLang="zh-CN" dirty="0">
                  <a:solidFill>
                    <a:schemeClr val="accent6"/>
                  </a:solidFill>
                  <a:latin typeface="Cascadia Mono" panose="020B0609020000020004" pitchFamily="49" charset="0"/>
                  <a:cs typeface="Cascadia Mono" panose="020B0609020000020004" pitchFamily="49" charset="0"/>
                </a:endParaRPr>
              </a:p>
              <a:p>
                <a:pPr marL="1030287" lvl="3" indent="0">
                  <a:buNone/>
                </a:pPr>
                <a:r>
                  <a:rPr lang="zh-CN" altLang="en-US" dirty="0">
                    <a:solidFill>
                      <a:schemeClr val="accent6"/>
                    </a:solidFill>
                    <a:latin typeface="Cascadia Mono" panose="020B0609020000020004" pitchFamily="49" charset="0"/>
                    <a:cs typeface="Cascadia Mono" panose="020B0609020000020004" pitchFamily="49" charset="0"/>
                  </a:rPr>
                  <a:t>例：</a:t>
                </a:r>
                <a:r>
                  <a:rPr lang="pt-BR" altLang="zh-CN" dirty="0">
                    <a:solidFill>
                      <a:schemeClr val="accent6"/>
                    </a:solidFill>
                    <a:latin typeface="Cascadia Mono" panose="020B0609020000020004" pitchFamily="49" charset="0"/>
                    <a:cs typeface="Cascadia Mono" panose="020B0609020000020004" pitchFamily="49" charset="0"/>
                  </a:rPr>
                  <a:t>=T.TEST(Data!H:H, Data!I:I, 2, 3)</a:t>
                </a:r>
                <a:endParaRPr lang="en-US" altLang="zh-CN" dirty="0">
                  <a:solidFill>
                    <a:schemeClr val="accent6"/>
                  </a:solidFill>
                  <a:latin typeface="Cascadia Mono" panose="020B0609020000020004" pitchFamily="49" charset="0"/>
                  <a:cs typeface="Cascadia Mono" panose="020B0609020000020004" pitchFamily="49" charset="0"/>
                </a:endParaRPr>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ADC91C9C-F49D-A5B3-D86F-0107AE1E9257}"/>
                  </a:ext>
                </a:extLst>
              </p:cNvPr>
              <p:cNvSpPr>
                <a:spLocks noGrp="1" noRot="1" noChangeAspect="1" noMove="1" noResize="1" noEditPoints="1" noAdjustHandles="1" noChangeArrowheads="1" noChangeShapeType="1" noTextEdit="1"/>
              </p:cNvSpPr>
              <p:nvPr>
                <p:ph idx="1"/>
              </p:nvPr>
            </p:nvSpPr>
            <p:spPr>
              <a:blipFill>
                <a:blip r:embed="rId2"/>
                <a:stretch>
                  <a:fillRect l="-211" t="-342" b="-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6989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D1803-A6BD-BD5B-008C-C077A5E4772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A57C698B-B7BD-10B7-CC0C-46ED08E81973}"/>
              </a:ext>
            </a:extLst>
          </p:cNvPr>
          <p:cNvSpPr>
            <a:spLocks noGrp="1"/>
          </p:cNvSpPr>
          <p:nvPr>
            <p:ph type="title"/>
          </p:nvPr>
        </p:nvSpPr>
        <p:spPr/>
        <p:txBody>
          <a:bodyPr/>
          <a:lstStyle/>
          <a:p>
            <a:r>
              <a:rPr lang="en-US" altLang="zh-CN" dirty="0"/>
              <a:t>Course 3</a:t>
            </a:r>
            <a:endParaRPr lang="zh-CN" altLang="en-US" dirty="0"/>
          </a:p>
        </p:txBody>
      </p:sp>
      <p:sp>
        <p:nvSpPr>
          <p:cNvPr id="5" name="文本占位符 4">
            <a:extLst>
              <a:ext uri="{FF2B5EF4-FFF2-40B4-BE49-F238E27FC236}">
                <a16:creationId xmlns:a16="http://schemas.microsoft.com/office/drawing/2014/main" id="{3A98EE15-8C07-51EE-F431-08E0D399C88D}"/>
              </a:ext>
            </a:extLst>
          </p:cNvPr>
          <p:cNvSpPr>
            <a:spLocks noGrp="1"/>
          </p:cNvSpPr>
          <p:nvPr>
            <p:ph type="body" idx="1"/>
          </p:nvPr>
        </p:nvSpPr>
        <p:spPr/>
        <p:txBody>
          <a:bodyPr/>
          <a:lstStyle/>
          <a:p>
            <a:r>
              <a:rPr lang="en-US" altLang="zh-CN" dirty="0"/>
              <a:t>Python for Data Analytics</a:t>
            </a:r>
            <a:endParaRPr lang="zh-CN" altLang="en-US" dirty="0"/>
          </a:p>
        </p:txBody>
      </p:sp>
    </p:spTree>
    <p:extLst>
      <p:ext uri="{BB962C8B-B14F-4D97-AF65-F5344CB8AC3E}">
        <p14:creationId xmlns:p14="http://schemas.microsoft.com/office/powerpoint/2010/main" val="3150819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54E9-34B6-FB6F-3FE4-A06D49A3632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48712B5-9337-E53E-7B22-18B01F78E4DB}"/>
              </a:ext>
            </a:extLst>
          </p:cNvPr>
          <p:cNvSpPr>
            <a:spLocks noGrp="1"/>
          </p:cNvSpPr>
          <p:nvPr>
            <p:ph type="title"/>
          </p:nvPr>
        </p:nvSpPr>
        <p:spPr/>
        <p:txBody>
          <a:bodyPr/>
          <a:lstStyle/>
          <a:p>
            <a:r>
              <a:rPr lang="en-US" altLang="zh-CN" dirty="0"/>
              <a:t>Module 1</a:t>
            </a:r>
            <a:endParaRPr lang="zh-CN" altLang="en-US" dirty="0"/>
          </a:p>
        </p:txBody>
      </p:sp>
      <p:sp>
        <p:nvSpPr>
          <p:cNvPr id="5" name="文本占位符 4">
            <a:extLst>
              <a:ext uri="{FF2B5EF4-FFF2-40B4-BE49-F238E27FC236}">
                <a16:creationId xmlns:a16="http://schemas.microsoft.com/office/drawing/2014/main" id="{315147FB-E73E-6243-B59F-E9F70F0737F5}"/>
              </a:ext>
            </a:extLst>
          </p:cNvPr>
          <p:cNvSpPr>
            <a:spLocks noGrp="1"/>
          </p:cNvSpPr>
          <p:nvPr>
            <p:ph type="body" idx="1"/>
          </p:nvPr>
        </p:nvSpPr>
        <p:spPr/>
        <p:txBody>
          <a:bodyPr/>
          <a:lstStyle/>
          <a:p>
            <a:r>
              <a:rPr lang="en-US" altLang="zh-CN" dirty="0"/>
              <a:t>Programming fundamentals for data analytics</a:t>
            </a:r>
            <a:endParaRPr lang="zh-CN" altLang="en-US" dirty="0"/>
          </a:p>
        </p:txBody>
      </p:sp>
    </p:spTree>
    <p:extLst>
      <p:ext uri="{BB962C8B-B14F-4D97-AF65-F5344CB8AC3E}">
        <p14:creationId xmlns:p14="http://schemas.microsoft.com/office/powerpoint/2010/main" val="2449111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531BA-D382-2924-05C8-84A6B7C8BA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E64A90E-0A69-A55B-2202-AE1ECEB76459}"/>
              </a:ext>
            </a:extLst>
          </p:cNvPr>
          <p:cNvSpPr>
            <a:spLocks noGrp="1"/>
          </p:cNvSpPr>
          <p:nvPr>
            <p:ph type="title"/>
          </p:nvPr>
        </p:nvSpPr>
        <p:spPr/>
        <p:txBody>
          <a:bodyPr/>
          <a:lstStyle/>
          <a:p>
            <a:r>
              <a:rPr lang="en-US" altLang="zh-CN" dirty="0"/>
              <a:t>Control flow</a:t>
            </a:r>
            <a:endParaRPr lang="zh-CN" altLang="en-US" dirty="0"/>
          </a:p>
        </p:txBody>
      </p:sp>
      <p:sp>
        <p:nvSpPr>
          <p:cNvPr id="3" name="内容占位符 2">
            <a:extLst>
              <a:ext uri="{FF2B5EF4-FFF2-40B4-BE49-F238E27FC236}">
                <a16:creationId xmlns:a16="http://schemas.microsoft.com/office/drawing/2014/main" id="{24E575E8-0887-FA75-39DC-288F6520889C}"/>
              </a:ext>
            </a:extLst>
          </p:cNvPr>
          <p:cNvSpPr>
            <a:spLocks noGrp="1"/>
          </p:cNvSpPr>
          <p:nvPr>
            <p:ph idx="1"/>
          </p:nvPr>
        </p:nvSpPr>
        <p:spPr/>
        <p:txBody>
          <a:bodyPr/>
          <a:lstStyle/>
          <a:p>
            <a:r>
              <a:rPr lang="en-US" altLang="zh-CN" dirty="0"/>
              <a:t>Conditional control flow</a:t>
            </a:r>
          </a:p>
          <a:p>
            <a:pPr marL="682625" lvl="2" indent="0">
              <a:buNone/>
            </a:pPr>
            <a:r>
              <a:rPr lang="en-US" altLang="zh-CN" sz="1400" dirty="0">
                <a:solidFill>
                  <a:srgbClr val="0070C0"/>
                </a:solidFill>
                <a:latin typeface="Cascadia Mono" panose="020B0609020000020004" pitchFamily="49" charset="0"/>
                <a:cs typeface="Cascadia Mono" panose="020B0609020000020004" pitchFamily="49" charset="0"/>
              </a:rPr>
              <a:t>COUNTIF</a:t>
            </a:r>
          </a:p>
          <a:p>
            <a:pPr marL="682625" lvl="2" indent="0">
              <a:buNone/>
            </a:pPr>
            <a:r>
              <a:rPr lang="en-US" altLang="zh-CN" sz="1400" dirty="0">
                <a:solidFill>
                  <a:srgbClr val="0070C0"/>
                </a:solidFill>
                <a:latin typeface="Cascadia Mono" panose="020B0609020000020004" pitchFamily="49" charset="0"/>
                <a:cs typeface="Cascadia Mono" panose="020B0609020000020004" pitchFamily="49" charset="0"/>
              </a:rPr>
              <a:t>SUMIF</a:t>
            </a:r>
          </a:p>
          <a:p>
            <a:pPr marL="682625" lvl="2" indent="0">
              <a:buNone/>
            </a:pPr>
            <a:r>
              <a:rPr lang="en-US" altLang="zh-CN" sz="1400" dirty="0">
                <a:solidFill>
                  <a:srgbClr val="0070C0"/>
                </a:solidFill>
                <a:latin typeface="Cascadia Mono" panose="020B0609020000020004" pitchFamily="49" charset="0"/>
                <a:cs typeface="Cascadia Mono" panose="020B0609020000020004" pitchFamily="49" charset="0"/>
              </a:rPr>
              <a:t>AVERAGEIF</a:t>
            </a:r>
          </a:p>
          <a:p>
            <a:endParaRPr lang="en-US" altLang="zh-CN" dirty="0"/>
          </a:p>
          <a:p>
            <a:r>
              <a:rPr lang="en-US" altLang="zh-CN" dirty="0"/>
              <a:t>Repetitive control flow</a:t>
            </a:r>
          </a:p>
          <a:p>
            <a:pPr marL="682625" lvl="2" indent="0">
              <a:buNone/>
            </a:pPr>
            <a:r>
              <a:rPr lang="en-US" altLang="zh-CN" sz="1400" dirty="0">
                <a:solidFill>
                  <a:srgbClr val="0070C0"/>
                </a:solidFill>
                <a:latin typeface="Cascadia Mono" panose="020B0609020000020004" pitchFamily="49" charset="0"/>
                <a:cs typeface="Cascadia Mono" panose="020B0609020000020004" pitchFamily="49" charset="0"/>
              </a:rPr>
              <a:t>ARRAYFORMULA</a:t>
            </a:r>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3194949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4B7A-BC2C-5B5D-36DD-5825335C3D1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FB400EF-0692-8A67-A458-66C5E137E12A}"/>
              </a:ext>
            </a:extLst>
          </p:cNvPr>
          <p:cNvSpPr>
            <a:spLocks noGrp="1"/>
          </p:cNvSpPr>
          <p:nvPr>
            <p:ph type="title"/>
          </p:nvPr>
        </p:nvSpPr>
        <p:spPr/>
        <p:txBody>
          <a:bodyPr/>
          <a:lstStyle/>
          <a:p>
            <a:r>
              <a:rPr lang="en-US" altLang="zh-CN" dirty="0"/>
              <a:t>Module 2</a:t>
            </a:r>
            <a:endParaRPr lang="zh-CN" altLang="en-US" dirty="0"/>
          </a:p>
        </p:txBody>
      </p:sp>
      <p:sp>
        <p:nvSpPr>
          <p:cNvPr id="5" name="文本占位符 4">
            <a:extLst>
              <a:ext uri="{FF2B5EF4-FFF2-40B4-BE49-F238E27FC236}">
                <a16:creationId xmlns:a16="http://schemas.microsoft.com/office/drawing/2014/main" id="{87F31270-BFF5-A85D-986B-AE0CB762607F}"/>
              </a:ext>
            </a:extLst>
          </p:cNvPr>
          <p:cNvSpPr>
            <a:spLocks noGrp="1"/>
          </p:cNvSpPr>
          <p:nvPr>
            <p:ph type="body" idx="1"/>
          </p:nvPr>
        </p:nvSpPr>
        <p:spPr/>
        <p:txBody>
          <a:bodyPr/>
          <a:lstStyle/>
          <a:p>
            <a:r>
              <a:rPr lang="en-US" altLang="zh-CN" dirty="0"/>
              <a:t>Data structures and descriptive statistics</a:t>
            </a:r>
            <a:endParaRPr lang="zh-CN" altLang="en-US" dirty="0"/>
          </a:p>
        </p:txBody>
      </p:sp>
    </p:spTree>
    <p:extLst>
      <p:ext uri="{BB962C8B-B14F-4D97-AF65-F5344CB8AC3E}">
        <p14:creationId xmlns:p14="http://schemas.microsoft.com/office/powerpoint/2010/main" val="3168454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9E292-A06D-AED6-59F3-0B343CBB1CA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CC7CE32-5592-83DD-1892-B5DA72372D73}"/>
              </a:ext>
            </a:extLst>
          </p:cNvPr>
          <p:cNvSpPr>
            <a:spLocks noGrp="1"/>
          </p:cNvSpPr>
          <p:nvPr>
            <p:ph type="title"/>
          </p:nvPr>
        </p:nvSpPr>
        <p:spPr/>
        <p:txBody>
          <a:bodyPr/>
          <a:lstStyle/>
          <a:p>
            <a:r>
              <a:rPr lang="en-US" altLang="zh-CN" dirty="0"/>
              <a:t>pandas</a:t>
            </a:r>
            <a:endParaRPr lang="zh-CN" altLang="en-US" dirty="0"/>
          </a:p>
        </p:txBody>
      </p:sp>
      <p:sp>
        <p:nvSpPr>
          <p:cNvPr id="3" name="内容占位符 2">
            <a:extLst>
              <a:ext uri="{FF2B5EF4-FFF2-40B4-BE49-F238E27FC236}">
                <a16:creationId xmlns:a16="http://schemas.microsoft.com/office/drawing/2014/main" id="{0F299590-8D06-F2A9-7415-CF8B7FC97EBF}"/>
              </a:ext>
            </a:extLst>
          </p:cNvPr>
          <p:cNvSpPr>
            <a:spLocks noGrp="1"/>
          </p:cNvSpPr>
          <p:nvPr>
            <p:ph idx="1"/>
          </p:nvPr>
        </p:nvSpPr>
        <p:spPr/>
        <p:txBody>
          <a:bodyPr/>
          <a:lstStyle/>
          <a:p>
            <a:r>
              <a:rPr lang="en-US" altLang="zh-CN" dirty="0"/>
              <a:t>Read CSV</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pandas as pd</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pd.read_csv</a:t>
            </a:r>
            <a:r>
              <a:rPr lang="en-US" altLang="zh-CN" dirty="0">
                <a:solidFill>
                  <a:srgbClr val="0070C0"/>
                </a:solidFill>
                <a:latin typeface="Cascadia Mono" panose="020B0609020000020004" pitchFamily="49" charset="0"/>
                <a:cs typeface="Cascadia Mono" panose="020B0609020000020004" pitchFamily="49" charset="0"/>
              </a:rPr>
              <a:t>(“survey_data.csv”)</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data = </a:t>
            </a:r>
            <a:r>
              <a:rPr lang="en-US" altLang="zh-CN" dirty="0" err="1">
                <a:solidFill>
                  <a:srgbClr val="0070C0"/>
                </a:solidFill>
                <a:latin typeface="Cascadia Mono" panose="020B0609020000020004" pitchFamily="49" charset="0"/>
                <a:cs typeface="Cascadia Mono" panose="020B0609020000020004" pitchFamily="49" charset="0"/>
              </a:rPr>
              <a:t>pd.read_csv</a:t>
            </a:r>
            <a:r>
              <a:rPr lang="en-US" altLang="zh-CN" dirty="0">
                <a:solidFill>
                  <a:srgbClr val="0070C0"/>
                </a:solidFill>
                <a:latin typeface="Cascadia Mono" panose="020B0609020000020004" pitchFamily="49" charset="0"/>
                <a:cs typeface="Cascadia Mono" panose="020B0609020000020004" pitchFamily="49" charset="0"/>
              </a:rPr>
              <a:t>(“survey_data.csv”)</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survey_data</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pd.read_csv</a:t>
            </a:r>
            <a:r>
              <a:rPr lang="en-US" altLang="zh-CN" dirty="0">
                <a:solidFill>
                  <a:srgbClr val="0070C0"/>
                </a:solidFill>
                <a:latin typeface="Cascadia Mono" panose="020B0609020000020004" pitchFamily="49" charset="0"/>
                <a:cs typeface="Cascadia Mono" panose="020B0609020000020004" pitchFamily="49" charset="0"/>
              </a:rPr>
              <a:t>(“survey_data.csv”)</a:t>
            </a:r>
          </a:p>
          <a:p>
            <a:endParaRPr lang="en-US" altLang="zh-CN" dirty="0"/>
          </a:p>
          <a:p>
            <a:r>
              <a:rPr lang="en-US" altLang="zh-CN" dirty="0" err="1"/>
              <a:t>Dataframe</a:t>
            </a:r>
            <a:endParaRPr lang="en-US" altLang="zh-CN" dirty="0"/>
          </a:p>
          <a:p>
            <a:pPr lvl="1"/>
            <a:r>
              <a:rPr lang="en-US" altLang="zh-CN" dirty="0"/>
              <a:t>Attributes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df.columns</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df.dtypes</a:t>
            </a:r>
            <a:endParaRPr lang="en-US" altLang="zh-CN" dirty="0">
              <a:solidFill>
                <a:srgbClr val="0070C0"/>
              </a:solidFill>
              <a:latin typeface="Cascadia Mono" panose="020B0609020000020004" pitchFamily="49" charset="0"/>
              <a:cs typeface="Cascadia Mono" panose="020B0609020000020004" pitchFamily="49" charset="0"/>
            </a:endParaRPr>
          </a:p>
          <a:p>
            <a:pPr lvl="1"/>
            <a:endParaRPr lang="en-US" altLang="zh-CN" dirty="0"/>
          </a:p>
          <a:p>
            <a:pPr lvl="1"/>
            <a:r>
              <a:rPr lang="en-US" altLang="zh-CN" dirty="0"/>
              <a:t>Method</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df.info()</a:t>
            </a:r>
          </a:p>
          <a:p>
            <a:pPr lvl="1"/>
            <a:endParaRPr lang="en-US" altLang="zh-CN" dirty="0"/>
          </a:p>
          <a:p>
            <a:pPr lvl="1"/>
            <a:r>
              <a:rPr lang="en-US" altLang="zh-CN" dirty="0"/>
              <a:t>Commands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sum()</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max()</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len</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1995877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4BA28-54BE-9EA9-1BCE-56E144557C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38A3E9-FB58-84D9-B9A8-22F00BE3ED39}"/>
              </a:ext>
            </a:extLst>
          </p:cNvPr>
          <p:cNvSpPr>
            <a:spLocks noGrp="1"/>
          </p:cNvSpPr>
          <p:nvPr>
            <p:ph type="title"/>
          </p:nvPr>
        </p:nvSpPr>
        <p:spPr/>
        <p:txBody>
          <a:bodyPr/>
          <a:lstStyle/>
          <a:p>
            <a:r>
              <a:rPr lang="en-US" altLang="zh-CN" dirty="0"/>
              <a:t>pandas</a:t>
            </a:r>
            <a:endParaRPr lang="zh-CN" altLang="en-US" dirty="0"/>
          </a:p>
        </p:txBody>
      </p:sp>
      <p:sp>
        <p:nvSpPr>
          <p:cNvPr id="3" name="内容占位符 2">
            <a:extLst>
              <a:ext uri="{FF2B5EF4-FFF2-40B4-BE49-F238E27FC236}">
                <a16:creationId xmlns:a16="http://schemas.microsoft.com/office/drawing/2014/main" id="{9A831C43-6CF8-5A81-6FDE-F9B79DDD7594}"/>
              </a:ext>
            </a:extLst>
          </p:cNvPr>
          <p:cNvSpPr>
            <a:spLocks noGrp="1"/>
          </p:cNvSpPr>
          <p:nvPr>
            <p:ph idx="1"/>
          </p:nvPr>
        </p:nvSpPr>
        <p:spPr/>
        <p:txBody>
          <a:bodyPr/>
          <a:lstStyle/>
          <a:p>
            <a:r>
              <a:rPr lang="en-US" altLang="zh-CN" dirty="0"/>
              <a:t>Selecting columns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languages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LanguagesAtHome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columns = ["</a:t>
            </a:r>
            <a:r>
              <a:rPr lang="en-US" altLang="zh-CN" dirty="0" err="1">
                <a:solidFill>
                  <a:srgbClr val="0070C0"/>
                </a:solidFill>
                <a:latin typeface="Cascadia Mono" panose="020B0609020000020004" pitchFamily="49" charset="0"/>
                <a:cs typeface="Cascadia Mono" panose="020B0609020000020004" pitchFamily="49" charset="0"/>
              </a:rPr>
              <a:t>CountryOfResidence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LanguageAtHome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country_columns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[columns]</a:t>
            </a:r>
          </a:p>
          <a:p>
            <a:endParaRPr lang="en-US" altLang="zh-CN" dirty="0"/>
          </a:p>
          <a:p>
            <a:r>
              <a:rPr lang="en-US" altLang="zh-CN" dirty="0"/>
              <a:t>Count, Sum, </a:t>
            </a:r>
            <a:r>
              <a:rPr lang="en-US" altLang="zh-CN" dirty="0" err="1"/>
              <a:t>Histgrams</a:t>
            </a:r>
            <a:endParaRPr lang="en-US" altLang="zh-CN" dirty="0"/>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df.count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["Age"].count()		# non-null</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["Income"].hist()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HoursSpentLearningToCode</a:t>
            </a:r>
            <a:r>
              <a:rPr lang="en-US" altLang="zh-CN" dirty="0">
                <a:solidFill>
                  <a:srgbClr val="0070C0"/>
                </a:solidFill>
                <a:latin typeface="Cascadia Mono" panose="020B0609020000020004" pitchFamily="49" charset="0"/>
                <a:cs typeface="Cascadia Mono" panose="020B0609020000020004" pitchFamily="49" charset="0"/>
              </a:rPr>
              <a:t>"].sum()</a:t>
            </a:r>
          </a:p>
          <a:p>
            <a:endParaRPr lang="en-US" altLang="zh-CN" dirty="0"/>
          </a:p>
          <a:p>
            <a:r>
              <a:rPr lang="en-US" altLang="zh-CN" dirty="0"/>
              <a:t>Sort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df.sort_values</a:t>
            </a:r>
            <a:r>
              <a:rPr lang="en-US" altLang="zh-CN" dirty="0">
                <a:solidFill>
                  <a:srgbClr val="0070C0"/>
                </a:solidFill>
                <a:latin typeface="Cascadia Mono" panose="020B0609020000020004" pitchFamily="49" charset="0"/>
                <a:cs typeface="Cascadia Mono" panose="020B0609020000020004" pitchFamily="49" charset="0"/>
              </a:rPr>
              <a:t>(by = "Age", ascending = True)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df_sorted_by_age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df.sort_values</a:t>
            </a:r>
            <a:r>
              <a:rPr lang="en-US" altLang="zh-CN" dirty="0">
                <a:solidFill>
                  <a:srgbClr val="0070C0"/>
                </a:solidFill>
                <a:latin typeface="Cascadia Mono" panose="020B0609020000020004" pitchFamily="49" charset="0"/>
                <a:cs typeface="Cascadia Mono" panose="020B0609020000020004" pitchFamily="49" charset="0"/>
              </a:rPr>
              <a:t>(by = "Age", ascending = True)</a:t>
            </a:r>
          </a:p>
          <a:p>
            <a:endParaRPr lang="zh-CN" altLang="en-US" dirty="0"/>
          </a:p>
        </p:txBody>
      </p:sp>
    </p:spTree>
    <p:extLst>
      <p:ext uri="{BB962C8B-B14F-4D97-AF65-F5344CB8AC3E}">
        <p14:creationId xmlns:p14="http://schemas.microsoft.com/office/powerpoint/2010/main" val="16870350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B4786B-49CA-8838-4A8F-5289AA1FB76B}"/>
              </a:ext>
            </a:extLst>
          </p:cNvPr>
          <p:cNvSpPr>
            <a:spLocks noGrp="1"/>
          </p:cNvSpPr>
          <p:nvPr>
            <p:ph type="title"/>
          </p:nvPr>
        </p:nvSpPr>
        <p:spPr/>
        <p:txBody>
          <a:bodyPr/>
          <a:lstStyle/>
          <a:p>
            <a:r>
              <a:rPr lang="en-US" altLang="zh-CN" dirty="0"/>
              <a:t>pandas</a:t>
            </a:r>
            <a:endParaRPr lang="zh-CN" altLang="en-US" dirty="0"/>
          </a:p>
        </p:txBody>
      </p:sp>
      <p:sp>
        <p:nvSpPr>
          <p:cNvPr id="3" name="内容占位符 2">
            <a:extLst>
              <a:ext uri="{FF2B5EF4-FFF2-40B4-BE49-F238E27FC236}">
                <a16:creationId xmlns:a16="http://schemas.microsoft.com/office/drawing/2014/main" id="{1519FF3D-3C8E-F96B-4A26-1520489BFDAB}"/>
              </a:ext>
            </a:extLst>
          </p:cNvPr>
          <p:cNvSpPr>
            <a:spLocks noGrp="1"/>
          </p:cNvSpPr>
          <p:nvPr>
            <p:ph idx="1"/>
          </p:nvPr>
        </p:nvSpPr>
        <p:spPr/>
        <p:txBody>
          <a:bodyPr/>
          <a:lstStyle/>
          <a:p>
            <a:r>
              <a:rPr lang="en-US" altLang="zh-CN" dirty="0"/>
              <a:t>Filtering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["Gender"] == "female" ]</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female_above_30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['gender'] == 'female') &amp;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['age'] &gt;= 30)]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female_or_above_30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['gender'] == 'female')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['age'] &gt;= 30)]</a:t>
            </a:r>
          </a:p>
          <a:p>
            <a:endParaRPr lang="en-US" altLang="zh-CN" dirty="0"/>
          </a:p>
          <a:p>
            <a:r>
              <a:rPr lang="en-US" altLang="zh-CN" dirty="0"/>
              <a:t>Selecting rows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indexed_df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df.set_index</a:t>
            </a:r>
            <a:r>
              <a:rPr lang="en-US" altLang="zh-CN" dirty="0">
                <a:solidFill>
                  <a:srgbClr val="0070C0"/>
                </a:solidFill>
                <a:latin typeface="Cascadia Mono" panose="020B0609020000020004" pitchFamily="49" charset="0"/>
                <a:cs typeface="Cascadia Mono" panose="020B0609020000020004" pitchFamily="49" charset="0"/>
              </a:rPr>
              <a:t>("ID")</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indexed_df.loc</a:t>
            </a:r>
            <a:r>
              <a:rPr lang="en-US" altLang="zh-CN" dirty="0">
                <a:solidFill>
                  <a:srgbClr val="0070C0"/>
                </a:solidFill>
                <a:latin typeface="Cascadia Mono" panose="020B0609020000020004" pitchFamily="49" charset="0"/>
                <a:cs typeface="Cascadia Mono" panose="020B0609020000020004" pitchFamily="49" charset="0"/>
              </a:rPr>
              <a:t>[25447]</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indexed_df.iloc</a:t>
            </a:r>
            <a:r>
              <a:rPr lang="en-US" altLang="zh-CN" dirty="0">
                <a:solidFill>
                  <a:srgbClr val="0070C0"/>
                </a:solidFill>
                <a:latin typeface="Cascadia Mono" panose="020B0609020000020004" pitchFamily="49" charset="0"/>
                <a:cs typeface="Cascadia Mono" panose="020B0609020000020004" pitchFamily="49" charset="0"/>
              </a:rPr>
              <a:t>[0]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indexed_df.iloc</a:t>
            </a:r>
            <a:r>
              <a:rPr lang="en-US" altLang="zh-CN" dirty="0">
                <a:solidFill>
                  <a:srgbClr val="0070C0"/>
                </a:solidFill>
                <a:latin typeface="Cascadia Mono" panose="020B0609020000020004" pitchFamily="49" charset="0"/>
                <a:cs typeface="Cascadia Mono" panose="020B0609020000020004" pitchFamily="49" charset="0"/>
              </a:rPr>
              <a:t>[1000:1006]		# </a:t>
            </a:r>
            <a:r>
              <a:rPr lang="zh-CN" altLang="en-US" dirty="0">
                <a:solidFill>
                  <a:srgbClr val="0070C0"/>
                </a:solidFill>
                <a:latin typeface="Cascadia Mono" panose="020B0609020000020004" pitchFamily="49" charset="0"/>
                <a:cs typeface="Cascadia Mono" panose="020B0609020000020004" pitchFamily="49" charset="0"/>
              </a:rPr>
              <a:t>算头不算尾</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indexed_df.iloc</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a:b</a:t>
            </a:r>
            <a:r>
              <a:rPr lang="en-US" altLang="zh-CN" dirty="0">
                <a:solidFill>
                  <a:srgbClr val="0070C0"/>
                </a:solidFill>
                <a:latin typeface="Cascadia Mono" panose="020B0609020000020004" pitchFamily="49" charset="0"/>
                <a:cs typeface="Cascadia Mono" panose="020B0609020000020004" pitchFamily="49" charset="0"/>
              </a:rPr>
              <a:t>]</a:t>
            </a:r>
          </a:p>
          <a:p>
            <a:endParaRPr lang="en-US" altLang="zh-CN" dirty="0"/>
          </a:p>
        </p:txBody>
      </p:sp>
    </p:spTree>
    <p:extLst>
      <p:ext uri="{BB962C8B-B14F-4D97-AF65-F5344CB8AC3E}">
        <p14:creationId xmlns:p14="http://schemas.microsoft.com/office/powerpoint/2010/main" val="3237491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9BF932C-70F5-8E82-4D31-DF0F704A0B5C}"/>
              </a:ext>
            </a:extLst>
          </p:cNvPr>
          <p:cNvSpPr>
            <a:spLocks noGrp="1"/>
          </p:cNvSpPr>
          <p:nvPr>
            <p:ph type="title"/>
          </p:nvPr>
        </p:nvSpPr>
        <p:spPr/>
        <p:txBody>
          <a:bodyPr/>
          <a:lstStyle/>
          <a:p>
            <a:r>
              <a:rPr lang="en-US" altLang="zh-CN" dirty="0"/>
              <a:t>pandas</a:t>
            </a:r>
            <a:endParaRPr lang="zh-CN" altLang="en-US" dirty="0"/>
          </a:p>
        </p:txBody>
      </p:sp>
      <p:sp>
        <p:nvSpPr>
          <p:cNvPr id="3" name="内容占位符 2">
            <a:extLst>
              <a:ext uri="{FF2B5EF4-FFF2-40B4-BE49-F238E27FC236}">
                <a16:creationId xmlns:a16="http://schemas.microsoft.com/office/drawing/2014/main" id="{4E22508E-EEC6-4DCE-0908-0771B0776CC7}"/>
              </a:ext>
            </a:extLst>
          </p:cNvPr>
          <p:cNvSpPr>
            <a:spLocks noGrp="1"/>
          </p:cNvSpPr>
          <p:nvPr>
            <p:ph sz="half" idx="1"/>
          </p:nvPr>
        </p:nvSpPr>
        <p:spPr/>
        <p:txBody>
          <a:bodyPr/>
          <a:lstStyle/>
          <a:p>
            <a:r>
              <a:rPr lang="en-US" altLang="zh-CN" dirty="0"/>
              <a:t>Central tendency, variability, and skewness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hours.describe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count 14942.000000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mean 15.323317</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median 10.00000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std 14.274867</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min 0.000000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25% 5.000000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50% 10.000000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75% 20.000000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max 100.000000</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.mean() .median()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.skew()</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.max() .min()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.std() .var()</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.quantile()</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hours.quantile</a:t>
            </a:r>
            <a:r>
              <a:rPr lang="en-US" altLang="zh-CN" dirty="0">
                <a:solidFill>
                  <a:srgbClr val="0070C0"/>
                </a:solidFill>
                <a:latin typeface="Cascadia Mono" panose="020B0609020000020004" pitchFamily="49" charset="0"/>
                <a:cs typeface="Cascadia Mono" panose="020B0609020000020004" pitchFamily="49" charset="0"/>
              </a:rPr>
              <a:t>(0.5)</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hours.quantile</a:t>
            </a:r>
            <a:r>
              <a:rPr lang="en-US" altLang="zh-CN" dirty="0">
                <a:solidFill>
                  <a:srgbClr val="0070C0"/>
                </a:solidFill>
                <a:latin typeface="Cascadia Mono" panose="020B0609020000020004" pitchFamily="49" charset="0"/>
                <a:cs typeface="Cascadia Mono" panose="020B0609020000020004" pitchFamily="49" charset="0"/>
              </a:rPr>
              <a:t>([0.25, 0.5, 0.75])</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endParaRPr lang="zh-CN" altLang="en-US" dirty="0"/>
          </a:p>
        </p:txBody>
      </p:sp>
      <p:sp>
        <p:nvSpPr>
          <p:cNvPr id="5" name="内容占位符 4">
            <a:extLst>
              <a:ext uri="{FF2B5EF4-FFF2-40B4-BE49-F238E27FC236}">
                <a16:creationId xmlns:a16="http://schemas.microsoft.com/office/drawing/2014/main" id="{86116B5B-DAED-1BBE-02D8-D22D8E0F0D4A}"/>
              </a:ext>
            </a:extLst>
          </p:cNvPr>
          <p:cNvSpPr>
            <a:spLocks noGrp="1"/>
          </p:cNvSpPr>
          <p:nvPr>
            <p:ph sz="half" idx="2"/>
          </p:nvPr>
        </p:nvSpPr>
        <p:spPr>
          <a:xfrm>
            <a:off x="5253567" y="996779"/>
            <a:ext cx="6572250" cy="5357986"/>
          </a:xfrm>
        </p:spPr>
        <p:txBody>
          <a:bodyPr/>
          <a:lstStyle/>
          <a:p>
            <a:r>
              <a:rPr lang="en-US" altLang="zh-CN" dirty="0"/>
              <a:t>Categorical data</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["Gender"].</a:t>
            </a:r>
            <a:r>
              <a:rPr lang="en-US" altLang="zh-CN" dirty="0" err="1">
                <a:solidFill>
                  <a:srgbClr val="0070C0"/>
                </a:solidFill>
                <a:latin typeface="Cascadia Mono" panose="020B0609020000020004" pitchFamily="49" charset="0"/>
                <a:cs typeface="Cascadia Mono" panose="020B0609020000020004" pitchFamily="49" charset="0"/>
              </a:rPr>
              <a:t>value_counts</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Gender</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male 10766</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female 2840</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genderqueer 66</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agender 38</a:t>
            </a:r>
          </a:p>
          <a:p>
            <a:pPr marL="682625" lvl="2" indent="0">
              <a:buNone/>
            </a:pPr>
            <a:r>
              <a:rPr lang="en-US" altLang="zh-CN" sz="1400" dirty="0">
                <a:solidFill>
                  <a:srgbClr val="00B050"/>
                </a:solidFill>
                <a:latin typeface="Cascadia Mono" panose="020B0609020000020004" pitchFamily="49" charset="0"/>
                <a:cs typeface="Cascadia Mono" panose="020B0609020000020004" pitchFamily="49" charset="0"/>
              </a:rPr>
              <a:t>trans 36</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counts_of_gender</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["Gender"].</a:t>
            </a:r>
            <a:r>
              <a:rPr lang="en-US" altLang="zh-CN" dirty="0" err="1">
                <a:solidFill>
                  <a:srgbClr val="0070C0"/>
                </a:solidFill>
                <a:latin typeface="Cascadia Mono" panose="020B0609020000020004" pitchFamily="49" charset="0"/>
                <a:cs typeface="Cascadia Mono" panose="020B0609020000020004" pitchFamily="49" charset="0"/>
              </a:rPr>
              <a:t>value_counts</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counts_of_gender.plot</a:t>
            </a:r>
            <a:r>
              <a:rPr lang="en-US" altLang="zh-CN" dirty="0">
                <a:solidFill>
                  <a:srgbClr val="0070C0"/>
                </a:solidFill>
                <a:latin typeface="Cascadia Mono" panose="020B0609020000020004" pitchFamily="49" charset="0"/>
                <a:cs typeface="Cascadia Mono" panose="020B0609020000020004" pitchFamily="49" charset="0"/>
              </a:rPr>
              <a:t>(kind="bar")</a:t>
            </a:r>
          </a:p>
          <a:p>
            <a:endParaRPr lang="en-US" altLang="zh-CN" dirty="0"/>
          </a:p>
          <a:p>
            <a:r>
              <a:rPr lang="en-US" altLang="zh-CN" dirty="0"/>
              <a:t>Correlation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selected_columns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[columns]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selected_columns.corr</a:t>
            </a:r>
            <a:r>
              <a:rPr lang="en-US" altLang="zh-CN" dirty="0">
                <a:solidFill>
                  <a:srgbClr val="0070C0"/>
                </a:solidFill>
                <a:latin typeface="Cascadia Mono" panose="020B0609020000020004" pitchFamily="49" charset="0"/>
                <a:cs typeface="Cascadia Mono" panose="020B0609020000020004" pitchFamily="49" charset="0"/>
              </a:rPr>
              <a:t>()</a:t>
            </a:r>
          </a:p>
        </p:txBody>
      </p:sp>
    </p:spTree>
    <p:extLst>
      <p:ext uri="{BB962C8B-B14F-4D97-AF65-F5344CB8AC3E}">
        <p14:creationId xmlns:p14="http://schemas.microsoft.com/office/powerpoint/2010/main" val="3598246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31EFB86-DDAA-A887-2AD2-5BBAAAF503A1}"/>
              </a:ext>
            </a:extLst>
          </p:cNvPr>
          <p:cNvSpPr>
            <a:spLocks noGrp="1"/>
          </p:cNvSpPr>
          <p:nvPr>
            <p:ph type="title"/>
          </p:nvPr>
        </p:nvSpPr>
        <p:spPr/>
        <p:txBody>
          <a:bodyPr/>
          <a:lstStyle/>
          <a:p>
            <a:r>
              <a:rPr lang="en-US" altLang="zh-CN" dirty="0"/>
              <a:t>pandas</a:t>
            </a:r>
            <a:endParaRPr lang="zh-CN" altLang="en-US" dirty="0"/>
          </a:p>
        </p:txBody>
      </p:sp>
      <p:sp>
        <p:nvSpPr>
          <p:cNvPr id="3" name="内容占位符 2">
            <a:extLst>
              <a:ext uri="{FF2B5EF4-FFF2-40B4-BE49-F238E27FC236}">
                <a16:creationId xmlns:a16="http://schemas.microsoft.com/office/drawing/2014/main" id="{1905647B-33B1-9B35-2B69-92841FA4E958}"/>
              </a:ext>
            </a:extLst>
          </p:cNvPr>
          <p:cNvSpPr>
            <a:spLocks noGrp="1"/>
          </p:cNvSpPr>
          <p:nvPr>
            <p:ph idx="1"/>
          </p:nvPr>
        </p:nvSpPr>
        <p:spPr/>
        <p:txBody>
          <a:bodyPr/>
          <a:lstStyle/>
          <a:p>
            <a:r>
              <a:rPr lang="en-US" altLang="zh-CN" dirty="0"/>
              <a:t>Segmentation by one feature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df.groupby</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NumberofChildren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df.groupby</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NumberofChildren</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HoursSpentLearningToCode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df.groupby</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NumberofChildren</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HoursSpentLearningToCode</a:t>
            </a:r>
            <a:r>
              <a:rPr lang="en-US" altLang="zh-CN" dirty="0">
                <a:solidFill>
                  <a:srgbClr val="0070C0"/>
                </a:solidFill>
                <a:latin typeface="Cascadia Mono" panose="020B0609020000020004" pitchFamily="49" charset="0"/>
                <a:cs typeface="Cascadia Mono" panose="020B0609020000020004" pitchFamily="49" charset="0"/>
              </a:rPr>
              <a:t>"].count()</a:t>
            </a:r>
          </a:p>
          <a:p>
            <a:endParaRPr lang="en-US" altLang="zh-CN" dirty="0"/>
          </a:p>
          <a:p>
            <a:r>
              <a:rPr lang="en-US" altLang="zh-CN" dirty="0"/>
              <a:t>Segmentation by multiple features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df.pivot_table</a:t>
            </a:r>
            <a:r>
              <a:rPr lang="en-US" altLang="zh-CN" dirty="0">
                <a:solidFill>
                  <a:srgbClr val="0070C0"/>
                </a:solidFill>
                <a:latin typeface="Cascadia Mono" panose="020B0609020000020004" pitchFamily="49" charset="0"/>
                <a:cs typeface="Cascadia Mono" panose="020B0609020000020004" pitchFamily="49" charset="0"/>
              </a:rPr>
              <a:t>(index = "</a:t>
            </a:r>
            <a:r>
              <a:rPr lang="en-US" altLang="zh-CN" dirty="0" err="1">
                <a:solidFill>
                  <a:srgbClr val="0070C0"/>
                </a:solidFill>
                <a:latin typeface="Cascadia Mono" panose="020B0609020000020004" pitchFamily="49" charset="0"/>
                <a:cs typeface="Cascadia Mono" panose="020B0609020000020004" pitchFamily="49" charset="0"/>
              </a:rPr>
              <a:t>NumberOfChildren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columns = "</a:t>
            </a:r>
            <a:r>
              <a:rPr lang="en-US" altLang="zh-CN" dirty="0" err="1">
                <a:solidFill>
                  <a:srgbClr val="0070C0"/>
                </a:solidFill>
                <a:latin typeface="Cascadia Mono" panose="020B0609020000020004" pitchFamily="49" charset="0"/>
                <a:cs typeface="Cascadia Mono" panose="020B0609020000020004" pitchFamily="49" charset="0"/>
              </a:rPr>
              <a:t>IsSoftwareDev</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values = "</a:t>
            </a:r>
            <a:r>
              <a:rPr lang="en-US" altLang="zh-CN" dirty="0" err="1">
                <a:solidFill>
                  <a:srgbClr val="0070C0"/>
                </a:solidFill>
                <a:latin typeface="Cascadia Mono" panose="020B0609020000020004" pitchFamily="49" charset="0"/>
                <a:cs typeface="Cascadia Mono" panose="020B0609020000020004" pitchFamily="49" charset="0"/>
              </a:rPr>
              <a:t>HoursSpentLearningToCode</a:t>
            </a:r>
            <a:r>
              <a:rPr lang="en-US" altLang="zh-CN" dirty="0">
                <a:solidFill>
                  <a:srgbClr val="0070C0"/>
                </a:solidFill>
                <a:latin typeface="Cascadia Mono" panose="020B0609020000020004" pitchFamily="49" charset="0"/>
                <a:cs typeface="Cascadia Mono" panose="020B0609020000020004" pitchFamily="49" charset="0"/>
              </a:rPr>
              <a:t>",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aggfunc</a:t>
            </a:r>
            <a:r>
              <a:rPr lang="en-US" altLang="zh-CN" dirty="0">
                <a:solidFill>
                  <a:srgbClr val="0070C0"/>
                </a:solidFill>
                <a:latin typeface="Cascadia Mono" panose="020B0609020000020004" pitchFamily="49" charset="0"/>
                <a:cs typeface="Cascadia Mono" panose="020B0609020000020004" pitchFamily="49" charset="0"/>
              </a:rPr>
              <a:t> = "sum"				</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aggfunc</a:t>
            </a:r>
            <a:r>
              <a:rPr lang="en-US" altLang="zh-CN" dirty="0">
                <a:solidFill>
                  <a:srgbClr val="00B050"/>
                </a:solidFill>
                <a:latin typeface="Cascadia Mono" panose="020B0609020000020004" pitchFamily="49" charset="0"/>
                <a:cs typeface="Cascadia Mono" panose="020B0609020000020004" pitchFamily="49" charset="0"/>
              </a:rPr>
              <a:t> = ["min", "median", "max"])</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endParaRPr lang="en-US" altLang="zh-CN" dirty="0"/>
          </a:p>
        </p:txBody>
      </p:sp>
    </p:spTree>
    <p:extLst>
      <p:ext uri="{BB962C8B-B14F-4D97-AF65-F5344CB8AC3E}">
        <p14:creationId xmlns:p14="http://schemas.microsoft.com/office/powerpoint/2010/main" val="26712212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36E7-B4C4-7439-AD0E-5D2B4926161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ED3FAE9-CAAF-9B1B-147D-B240FDD71143}"/>
              </a:ext>
            </a:extLst>
          </p:cNvPr>
          <p:cNvSpPr>
            <a:spLocks noGrp="1"/>
          </p:cNvSpPr>
          <p:nvPr>
            <p:ph type="title"/>
          </p:nvPr>
        </p:nvSpPr>
        <p:spPr/>
        <p:txBody>
          <a:bodyPr/>
          <a:lstStyle/>
          <a:p>
            <a:r>
              <a:rPr lang="en-US" altLang="zh-CN" dirty="0"/>
              <a:t>Module 3</a:t>
            </a:r>
            <a:endParaRPr lang="zh-CN" altLang="en-US" dirty="0"/>
          </a:p>
        </p:txBody>
      </p:sp>
      <p:sp>
        <p:nvSpPr>
          <p:cNvPr id="5" name="文本占位符 4">
            <a:extLst>
              <a:ext uri="{FF2B5EF4-FFF2-40B4-BE49-F238E27FC236}">
                <a16:creationId xmlns:a16="http://schemas.microsoft.com/office/drawing/2014/main" id="{5FE09E8A-852D-7513-EEA7-3C4323BC8718}"/>
              </a:ext>
            </a:extLst>
          </p:cNvPr>
          <p:cNvSpPr>
            <a:spLocks noGrp="1"/>
          </p:cNvSpPr>
          <p:nvPr>
            <p:ph type="body" idx="1"/>
          </p:nvPr>
        </p:nvSpPr>
        <p:spPr/>
        <p:txBody>
          <a:bodyPr/>
          <a:lstStyle/>
          <a:p>
            <a:r>
              <a:rPr lang="en-US" altLang="zh-CN" dirty="0"/>
              <a:t>Visualization</a:t>
            </a:r>
            <a:endParaRPr lang="zh-CN" altLang="en-US" dirty="0"/>
          </a:p>
        </p:txBody>
      </p:sp>
    </p:spTree>
    <p:extLst>
      <p:ext uri="{BB962C8B-B14F-4D97-AF65-F5344CB8AC3E}">
        <p14:creationId xmlns:p14="http://schemas.microsoft.com/office/powerpoint/2010/main" val="25004422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8DEC0-B8C3-A22A-4335-5CE6CCF01C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D5BC3C-E9DE-A1E6-EC99-401C9D556843}"/>
              </a:ext>
            </a:extLst>
          </p:cNvPr>
          <p:cNvSpPr>
            <a:spLocks noGrp="1"/>
          </p:cNvSpPr>
          <p:nvPr>
            <p:ph type="title"/>
          </p:nvPr>
        </p:nvSpPr>
        <p:spPr/>
        <p:txBody>
          <a:bodyPr/>
          <a:lstStyle/>
          <a:p>
            <a:r>
              <a:rPr lang="en-US" altLang="zh-CN" dirty="0"/>
              <a:t>Matplotlib</a:t>
            </a:r>
            <a:endParaRPr lang="zh-CN" altLang="en-US" dirty="0"/>
          </a:p>
        </p:txBody>
      </p:sp>
      <p:sp>
        <p:nvSpPr>
          <p:cNvPr id="3" name="内容占位符 2">
            <a:extLst>
              <a:ext uri="{FF2B5EF4-FFF2-40B4-BE49-F238E27FC236}">
                <a16:creationId xmlns:a16="http://schemas.microsoft.com/office/drawing/2014/main" id="{09634949-2F86-122E-51BE-83E62ECD5DC4}"/>
              </a:ext>
            </a:extLst>
          </p:cNvPr>
          <p:cNvSpPr>
            <a:spLocks noGrp="1"/>
          </p:cNvSpPr>
          <p:nvPr>
            <p:ph idx="1"/>
          </p:nvPr>
        </p:nvSpPr>
        <p:spPr/>
        <p:txBody>
          <a:bodyPr/>
          <a:lstStyle/>
          <a:p>
            <a:r>
              <a:rPr lang="en-US" altLang="zh-CN" dirty="0"/>
              <a:t>Plot pandas data</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["grade"].</a:t>
            </a:r>
            <a:r>
              <a:rPr lang="en-US" altLang="zh-CN" dirty="0" err="1">
                <a:solidFill>
                  <a:srgbClr val="0070C0"/>
                </a:solidFill>
                <a:latin typeface="Cascadia Mono" panose="020B0609020000020004" pitchFamily="49" charset="0"/>
                <a:cs typeface="Cascadia Mono" panose="020B0609020000020004" pitchFamily="49" charset="0"/>
              </a:rPr>
              <a:t>value_counts</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sort_index</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a:t>
            </a:r>
            <a:r>
              <a:rPr lang="en-US" altLang="zh-CN" dirty="0" err="1">
                <a:solidFill>
                  <a:srgbClr val="0070C0"/>
                </a:solidFill>
                <a:latin typeface="Cascadia Mono" panose="020B0609020000020004" pitchFamily="49" charset="0"/>
                <a:cs typeface="Cascadia Mono" panose="020B0609020000020004" pitchFamily="49" charset="0"/>
              </a:rPr>
              <a:t>matplotlib.pyplot</a:t>
            </a:r>
            <a:r>
              <a:rPr lang="en-US" altLang="zh-CN" dirty="0">
                <a:solidFill>
                  <a:srgbClr val="0070C0"/>
                </a:solidFill>
                <a:latin typeface="Cascadia Mono" panose="020B0609020000020004" pitchFamily="49" charset="0"/>
                <a:cs typeface="Cascadia Mono" panose="020B0609020000020004" pitchFamily="49" charset="0"/>
              </a:rPr>
              <a:t> as </a:t>
            </a:r>
            <a:r>
              <a:rPr lang="en-US" altLang="zh-CN" dirty="0" err="1">
                <a:solidFill>
                  <a:srgbClr val="0070C0"/>
                </a:solidFill>
                <a:latin typeface="Cascadia Mono" panose="020B0609020000020004" pitchFamily="49" charset="0"/>
                <a:cs typeface="Cascadia Mono" panose="020B0609020000020004" pitchFamily="49" charset="0"/>
              </a:rPr>
              <a:t>plt</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sorted_grades.plot</a:t>
            </a:r>
            <a:r>
              <a:rPr lang="en-US" altLang="zh-CN" dirty="0">
                <a:solidFill>
                  <a:srgbClr val="0070C0"/>
                </a:solidFill>
                <a:latin typeface="Cascadia Mono" panose="020B0609020000020004" pitchFamily="49" charset="0"/>
                <a:cs typeface="Cascadia Mono" panose="020B0609020000020004" pitchFamily="49" charset="0"/>
              </a:rPr>
              <a:t>(kind="bar")</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plt.xlabel</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plt.ylabel</a:t>
            </a:r>
            <a:r>
              <a:rPr lang="en-US" altLang="zh-CN" dirty="0">
                <a:solidFill>
                  <a:srgbClr val="0070C0"/>
                </a:solidFill>
                <a:latin typeface="Cascadia Mono" panose="020B0609020000020004" pitchFamily="49" charset="0"/>
                <a:cs typeface="Cascadia Mono" panose="020B0609020000020004" pitchFamily="49" charset="0"/>
              </a:rPr>
              <a:t>("Frequency")</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plt.title</a:t>
            </a:r>
            <a:r>
              <a:rPr lang="en-US" altLang="zh-CN" dirty="0">
                <a:solidFill>
                  <a:srgbClr val="0070C0"/>
                </a:solidFill>
                <a:latin typeface="Cascadia Mono" panose="020B0609020000020004" pitchFamily="49" charset="0"/>
                <a:cs typeface="Cascadia Mono" panose="020B0609020000020004" pitchFamily="49" charset="0"/>
              </a:rPr>
              <a:t>("Frequency of Loan by Grade")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plt.show</a:t>
            </a:r>
            <a:r>
              <a:rPr lang="en-US" altLang="zh-CN" dirty="0">
                <a:solidFill>
                  <a:srgbClr val="0070C0"/>
                </a:solidFill>
                <a:latin typeface="Cascadia Mono" panose="020B0609020000020004" pitchFamily="49" charset="0"/>
                <a:cs typeface="Cascadia Mono" panose="020B0609020000020004" pitchFamily="49" charset="0"/>
              </a:rPr>
              <a:t>():</a:t>
            </a:r>
            <a:endParaRPr lang="en-US" altLang="zh-CN" dirty="0"/>
          </a:p>
          <a:p>
            <a:endParaRPr lang="en-US" altLang="zh-CN" dirty="0"/>
          </a:p>
          <a:p>
            <a:r>
              <a:rPr lang="en-US" altLang="zh-CN" dirty="0"/>
              <a:t>Colors, grids, &amp; saving plots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sorted_grades.plot</a:t>
            </a:r>
            <a:r>
              <a:rPr lang="en-US" altLang="zh-CN" dirty="0">
                <a:solidFill>
                  <a:srgbClr val="0070C0"/>
                </a:solidFill>
                <a:latin typeface="Cascadia Mono" panose="020B0609020000020004" pitchFamily="49" charset="0"/>
                <a:cs typeface="Cascadia Mono" panose="020B0609020000020004" pitchFamily="49" charset="0"/>
              </a:rPr>
              <a:t>(kind="bar", color="purple")			</a:t>
            </a:r>
            <a:r>
              <a:rPr lang="en-US" altLang="zh-CN" dirty="0">
                <a:solidFill>
                  <a:srgbClr val="00B050"/>
                </a:solidFill>
                <a:latin typeface="Cascadia Mono" panose="020B0609020000020004" pitchFamily="49" charset="0"/>
                <a:cs typeface="Cascadia Mono" panose="020B0609020000020004" pitchFamily="49" charset="0"/>
              </a:rPr>
              <a:t># "8af133"</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colors = ["Green", "Lime", … , "Red"]				</a:t>
            </a:r>
            <a:r>
              <a:rPr lang="en-US" altLang="zh-CN" dirty="0">
                <a:solidFill>
                  <a:srgbClr val="00B050"/>
                </a:solidFill>
                <a:latin typeface="Cascadia Mono" panose="020B0609020000020004" pitchFamily="49" charset="0"/>
                <a:cs typeface="Cascadia Mono" panose="020B0609020000020004" pitchFamily="49" charset="0"/>
              </a:rPr>
              <a:t># bar colors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sorted_grades.plot</a:t>
            </a:r>
            <a:r>
              <a:rPr lang="en-US" altLang="zh-CN" dirty="0">
                <a:solidFill>
                  <a:srgbClr val="0070C0"/>
                </a:solidFill>
                <a:latin typeface="Cascadia Mono" panose="020B0609020000020004" pitchFamily="49" charset="0"/>
                <a:cs typeface="Cascadia Mono" panose="020B0609020000020004" pitchFamily="49" charset="0"/>
              </a:rPr>
              <a:t>(kind="bar", color=colors)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plt.grid</a:t>
            </a:r>
            <a:r>
              <a:rPr lang="en-US" altLang="zh-CN" dirty="0">
                <a:solidFill>
                  <a:srgbClr val="0070C0"/>
                </a:solidFill>
                <a:latin typeface="Cascadia Mono" panose="020B0609020000020004" pitchFamily="49" charset="0"/>
                <a:cs typeface="Cascadia Mono" panose="020B0609020000020004" pitchFamily="49" charset="0"/>
              </a:rPr>
              <a:t>(axis="y", color="black", alpha=0.7, </a:t>
            </a:r>
            <a:r>
              <a:rPr lang="en-US" altLang="zh-CN" dirty="0" err="1">
                <a:solidFill>
                  <a:srgbClr val="0070C0"/>
                </a:solidFill>
                <a:latin typeface="Cascadia Mono" panose="020B0609020000020004" pitchFamily="49" charset="0"/>
                <a:cs typeface="Cascadia Mono" panose="020B0609020000020004" pitchFamily="49" charset="0"/>
              </a:rPr>
              <a:t>linestyle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a:solidFill>
                  <a:srgbClr val="00B050"/>
                </a:solidFill>
                <a:latin typeface="Cascadia Mono" panose="020B0609020000020004" pitchFamily="49" charset="0"/>
                <a:cs typeface="Cascadia Mono" panose="020B0609020000020004" pitchFamily="49" charset="0"/>
              </a:rPr>
              <a:t># add grid lines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plt.savefig</a:t>
            </a:r>
            <a:r>
              <a:rPr lang="en-US" altLang="zh-CN" dirty="0">
                <a:solidFill>
                  <a:srgbClr val="0070C0"/>
                </a:solidFill>
                <a:latin typeface="Cascadia Mono" panose="020B0609020000020004" pitchFamily="49" charset="0"/>
                <a:cs typeface="Cascadia Mono" panose="020B0609020000020004" pitchFamily="49" charset="0"/>
              </a:rPr>
              <a:t>("loan_column_chart.png")				</a:t>
            </a:r>
            <a:r>
              <a:rPr lang="en-US" altLang="zh-CN" dirty="0">
                <a:solidFill>
                  <a:srgbClr val="00B050"/>
                </a:solidFill>
                <a:latin typeface="Cascadia Mono" panose="020B0609020000020004" pitchFamily="49" charset="0"/>
                <a:cs typeface="Cascadia Mono" panose="020B0609020000020004" pitchFamily="49" charset="0"/>
              </a:rPr>
              <a:t># save an image</a:t>
            </a:r>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311191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813F6F-A933-48A8-F312-85075AF0E982}"/>
              </a:ext>
            </a:extLst>
          </p:cNvPr>
          <p:cNvSpPr>
            <a:spLocks noGrp="1"/>
          </p:cNvSpPr>
          <p:nvPr>
            <p:ph type="title"/>
          </p:nvPr>
        </p:nvSpPr>
        <p:spPr/>
        <p:txBody>
          <a:bodyPr/>
          <a:lstStyle/>
          <a:p>
            <a:r>
              <a:rPr lang="en-US" altLang="zh-CN" dirty="0"/>
              <a:t>Matplotlib</a:t>
            </a:r>
            <a:endParaRPr lang="zh-CN" altLang="en-US" dirty="0"/>
          </a:p>
        </p:txBody>
      </p:sp>
      <p:sp>
        <p:nvSpPr>
          <p:cNvPr id="3" name="内容占位符 2">
            <a:extLst>
              <a:ext uri="{FF2B5EF4-FFF2-40B4-BE49-F238E27FC236}">
                <a16:creationId xmlns:a16="http://schemas.microsoft.com/office/drawing/2014/main" id="{758FEF26-CC7B-1D22-42ED-105586ED1DA4}"/>
              </a:ext>
            </a:extLst>
          </p:cNvPr>
          <p:cNvSpPr>
            <a:spLocks noGrp="1"/>
          </p:cNvSpPr>
          <p:nvPr>
            <p:ph idx="1"/>
          </p:nvPr>
        </p:nvSpPr>
        <p:spPr/>
        <p:txBody>
          <a:bodyPr/>
          <a:lstStyle/>
          <a:p>
            <a:r>
              <a:rPr lang="en-US" altLang="zh-CN" dirty="0"/>
              <a:t>Ticks &amp; spines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plt.xticks</a:t>
            </a:r>
            <a:r>
              <a:rPr lang="en-US" altLang="zh-CN" dirty="0">
                <a:solidFill>
                  <a:srgbClr val="0070C0"/>
                </a:solidFill>
                <a:latin typeface="Cascadia Mono" panose="020B0609020000020004" pitchFamily="49" charset="0"/>
                <a:cs typeface="Cascadia Mono" panose="020B0609020000020004" pitchFamily="49" charset="0"/>
              </a:rPr>
              <a:t>(rotation=0)					</a:t>
            </a:r>
            <a:r>
              <a:rPr lang="en-US" altLang="zh-CN" dirty="0">
                <a:solidFill>
                  <a:srgbClr val="00B050"/>
                </a:solidFill>
                <a:latin typeface="Cascadia Mono" panose="020B0609020000020004" pitchFamily="49" charset="0"/>
                <a:cs typeface="Cascadia Mono" panose="020B0609020000020004" pitchFamily="49" charset="0"/>
              </a:rPr>
              <a:t># rotate x axis labels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ax = </a:t>
            </a:r>
            <a:r>
              <a:rPr lang="en-US" altLang="zh-CN" dirty="0" err="1">
                <a:solidFill>
                  <a:srgbClr val="0070C0"/>
                </a:solidFill>
                <a:latin typeface="Cascadia Mono" panose="020B0609020000020004" pitchFamily="49" charset="0"/>
                <a:cs typeface="Cascadia Mono" panose="020B0609020000020004" pitchFamily="49" charset="0"/>
              </a:rPr>
              <a:t>sorted_grades.plot</a:t>
            </a:r>
            <a:r>
              <a:rPr lang="en-US" altLang="zh-CN" dirty="0">
                <a:solidFill>
                  <a:srgbClr val="0070C0"/>
                </a:solidFill>
                <a:latin typeface="Cascadia Mono" panose="020B0609020000020004" pitchFamily="49" charset="0"/>
                <a:cs typeface="Cascadia Mono" panose="020B0609020000020004" pitchFamily="49" charset="0"/>
              </a:rPr>
              <a:t>(kind="bar", color=colors)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ax.yaxis.set_minor_locator</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AutoMinorLocator</a:t>
            </a:r>
            <a:r>
              <a:rPr lang="en-US" altLang="zh-CN" dirty="0">
                <a:solidFill>
                  <a:srgbClr val="0070C0"/>
                </a:solidFill>
                <a:latin typeface="Cascadia Mono" panose="020B0609020000020004" pitchFamily="49" charset="0"/>
                <a:cs typeface="Cascadia Mono" panose="020B0609020000020004" pitchFamily="49" charset="0"/>
              </a:rPr>
              <a:t>(2))		</a:t>
            </a:r>
            <a:r>
              <a:rPr lang="en-US" altLang="zh-CN" dirty="0">
                <a:solidFill>
                  <a:srgbClr val="00B050"/>
                </a:solidFill>
                <a:latin typeface="Cascadia Mono" panose="020B0609020000020004" pitchFamily="49" charset="0"/>
                <a:cs typeface="Cascadia Mono" panose="020B0609020000020004" pitchFamily="49" charset="0"/>
              </a:rPr>
              <a:t># add more ticks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ax.spines</a:t>
            </a:r>
            <a:r>
              <a:rPr lang="en-US" altLang="zh-CN" dirty="0">
                <a:solidFill>
                  <a:srgbClr val="0070C0"/>
                </a:solidFill>
                <a:latin typeface="Cascadia Mono" panose="020B0609020000020004" pitchFamily="49" charset="0"/>
                <a:cs typeface="Cascadia Mono" panose="020B0609020000020004" pitchFamily="49" charset="0"/>
              </a:rPr>
              <a:t>["left"].</a:t>
            </a:r>
            <a:r>
              <a:rPr lang="en-US" altLang="zh-CN" dirty="0" err="1">
                <a:solidFill>
                  <a:srgbClr val="0070C0"/>
                </a:solidFill>
                <a:latin typeface="Cascadia Mono" panose="020B0609020000020004" pitchFamily="49" charset="0"/>
                <a:cs typeface="Cascadia Mono" panose="020B0609020000020004" pitchFamily="49" charset="0"/>
              </a:rPr>
              <a:t>set_visible</a:t>
            </a:r>
            <a:r>
              <a:rPr lang="en-US" altLang="zh-CN" dirty="0">
                <a:solidFill>
                  <a:srgbClr val="0070C0"/>
                </a:solidFill>
                <a:latin typeface="Cascadia Mono" panose="020B0609020000020004" pitchFamily="49" charset="0"/>
                <a:cs typeface="Cascadia Mono" panose="020B0609020000020004" pitchFamily="49" charset="0"/>
              </a:rPr>
              <a:t>(False)			</a:t>
            </a:r>
            <a:r>
              <a:rPr lang="en-US" altLang="zh-CN" dirty="0">
                <a:solidFill>
                  <a:srgbClr val="00B050"/>
                </a:solidFill>
                <a:latin typeface="Cascadia Mono" panose="020B0609020000020004" pitchFamily="49" charset="0"/>
                <a:cs typeface="Cascadia Mono" panose="020B0609020000020004" pitchFamily="49" charset="0"/>
              </a:rPr>
              <a:t># remove the spines</a:t>
            </a:r>
          </a:p>
          <a:p>
            <a:pPr lvl="1"/>
            <a:endParaRPr lang="en-US" altLang="zh-CN" dirty="0"/>
          </a:p>
          <a:p>
            <a:r>
              <a:rPr lang="en-US" altLang="zh-CN" dirty="0"/>
              <a:t>Grouped column charts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states = ["DC", "AK", "HI"]				</a:t>
            </a:r>
            <a:r>
              <a:rPr lang="en-US" altLang="zh-CN" dirty="0">
                <a:solidFill>
                  <a:srgbClr val="00B050"/>
                </a:solidFill>
                <a:latin typeface="Cascadia Mono" panose="020B0609020000020004" pitchFamily="49" charset="0"/>
                <a:cs typeface="Cascadia Mono" panose="020B0609020000020004" pitchFamily="49" charset="0"/>
              </a:rPr>
              <a:t># names of top 3 states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filtered_df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["state"].</a:t>
            </a:r>
            <a:r>
              <a:rPr lang="en-US" altLang="zh-CN" dirty="0" err="1">
                <a:solidFill>
                  <a:srgbClr val="0070C0"/>
                </a:solidFill>
                <a:latin typeface="Cascadia Mono" panose="020B0609020000020004" pitchFamily="49" charset="0"/>
                <a:cs typeface="Cascadia Mono" panose="020B0609020000020004" pitchFamily="49" charset="0"/>
              </a:rPr>
              <a:t>isin</a:t>
            </a:r>
            <a:r>
              <a:rPr lang="en-US" altLang="zh-CN" dirty="0">
                <a:solidFill>
                  <a:srgbClr val="0070C0"/>
                </a:solidFill>
                <a:latin typeface="Cascadia Mono" panose="020B0609020000020004" pitchFamily="49" charset="0"/>
                <a:cs typeface="Cascadia Mono" panose="020B0609020000020004" pitchFamily="49" charset="0"/>
              </a:rPr>
              <a:t>(states)]		</a:t>
            </a:r>
            <a:r>
              <a:rPr lang="en-US" altLang="zh-CN" dirty="0">
                <a:solidFill>
                  <a:srgbClr val="00B050"/>
                </a:solidFill>
                <a:latin typeface="Cascadia Mono" panose="020B0609020000020004" pitchFamily="49" charset="0"/>
                <a:cs typeface="Cascadia Mono" panose="020B0609020000020004" pitchFamily="49" charset="0"/>
              </a:rPr>
              <a:t># select rows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filtered_df.groupby</a:t>
            </a:r>
            <a:r>
              <a:rPr lang="en-US" altLang="zh-CN" dirty="0">
                <a:solidFill>
                  <a:srgbClr val="0070C0"/>
                </a:solidFill>
                <a:latin typeface="Cascadia Mono" panose="020B0609020000020004" pitchFamily="49" charset="0"/>
                <a:cs typeface="Cascadia Mono" panose="020B0609020000020004" pitchFamily="49" charset="0"/>
              </a:rPr>
              <a:t>(["state", "grade"])	</a:t>
            </a:r>
            <a:r>
              <a:rPr lang="en-US" altLang="zh-CN" dirty="0">
                <a:solidFill>
                  <a:srgbClr val="00B050"/>
                </a:solidFill>
                <a:latin typeface="Cascadia Mono" panose="020B0609020000020004" pitchFamily="49" charset="0"/>
                <a:cs typeface="Cascadia Mono" panose="020B0609020000020004" pitchFamily="49" charset="0"/>
              </a:rPr>
              <a:t># grouped by 2 features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grouped_loan_amount</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grouped_df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loan_amount</a:t>
            </a:r>
            <a:r>
              <a:rPr lang="en-US" altLang="zh-CN" dirty="0">
                <a:solidFill>
                  <a:srgbClr val="0070C0"/>
                </a:solidFill>
                <a:latin typeface="Cascadia Mono" panose="020B0609020000020004" pitchFamily="49" charset="0"/>
                <a:cs typeface="Cascadia Mono" panose="020B0609020000020004" pitchFamily="49" charset="0"/>
              </a:rPr>
              <a:t>"].mean()	</a:t>
            </a:r>
            <a:r>
              <a:rPr lang="en-US" altLang="zh-CN" dirty="0">
                <a:solidFill>
                  <a:srgbClr val="00B050"/>
                </a:solidFill>
                <a:latin typeface="Cascadia Mono" panose="020B0609020000020004" pitchFamily="49" charset="0"/>
                <a:cs typeface="Cascadia Mono" panose="020B0609020000020004" pitchFamily="49" charset="0"/>
              </a:rPr>
              <a:t># calculate mean of each group</a:t>
            </a:r>
            <a:endParaRPr lang="zh-CN" altLang="en-US" dirty="0">
              <a:solidFill>
                <a:srgbClr val="00B05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Stacked column chart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grouped_df.plot</a:t>
            </a:r>
            <a:r>
              <a:rPr lang="en-US" altLang="zh-CN" dirty="0">
                <a:solidFill>
                  <a:srgbClr val="0070C0"/>
                </a:solidFill>
                <a:latin typeface="Cascadia Mono" panose="020B0609020000020004" pitchFamily="49" charset="0"/>
                <a:cs typeface="Cascadia Mono" panose="020B0609020000020004" pitchFamily="49" charset="0"/>
              </a:rPr>
              <a:t>(kind = "bar", stacked = True,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color=["</a:t>
            </a:r>
            <a:r>
              <a:rPr lang="en-US" altLang="zh-CN" dirty="0" err="1">
                <a:solidFill>
                  <a:srgbClr val="0070C0"/>
                </a:solidFill>
                <a:latin typeface="Cascadia Mono" panose="020B0609020000020004" pitchFamily="49" charset="0"/>
                <a:cs typeface="Cascadia Mono" panose="020B0609020000020004" pitchFamily="49" charset="0"/>
              </a:rPr>
              <a:t>lightgray</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darkgray</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mediumseagreen</a:t>
            </a:r>
            <a:r>
              <a:rPr lang="en-US" altLang="zh-CN" dirty="0">
                <a:solidFill>
                  <a:srgbClr val="0070C0"/>
                </a:solidFill>
                <a:latin typeface="Cascadia Mono" panose="020B0609020000020004" pitchFamily="49" charset="0"/>
                <a:cs typeface="Cascadia Mono" panose="020B0609020000020004" pitchFamily="49" charset="0"/>
              </a:rPr>
              <a:t>"])</a:t>
            </a:r>
            <a:endParaRPr lang="en-US" altLang="zh-CN" dirty="0">
              <a:solidFill>
                <a:srgbClr val="00B05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proportion_df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grouped_df.div</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grouped_df.sum</a:t>
            </a:r>
            <a:r>
              <a:rPr lang="en-US" altLang="zh-CN" dirty="0">
                <a:solidFill>
                  <a:srgbClr val="0070C0"/>
                </a:solidFill>
                <a:latin typeface="Cascadia Mono" panose="020B0609020000020004" pitchFamily="49" charset="0"/>
                <a:cs typeface="Cascadia Mono" panose="020B0609020000020004" pitchFamily="49" charset="0"/>
              </a:rPr>
              <a:t>(axis=1), axis=0)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proportion_df.plot</a:t>
            </a:r>
            <a:r>
              <a:rPr lang="en-US" altLang="zh-CN" dirty="0">
                <a:solidFill>
                  <a:srgbClr val="0070C0"/>
                </a:solidFill>
                <a:latin typeface="Cascadia Mono" panose="020B0609020000020004" pitchFamily="49" charset="0"/>
                <a:cs typeface="Cascadia Mono" panose="020B0609020000020004" pitchFamily="49" charset="0"/>
              </a:rPr>
              <a:t>(kind = "bar", stacked = True,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color=["</a:t>
            </a:r>
            <a:r>
              <a:rPr lang="en-US" altLang="zh-CN" dirty="0" err="1">
                <a:solidFill>
                  <a:srgbClr val="0070C0"/>
                </a:solidFill>
                <a:latin typeface="Cascadia Mono" panose="020B0609020000020004" pitchFamily="49" charset="0"/>
                <a:cs typeface="Cascadia Mono" panose="020B0609020000020004" pitchFamily="49" charset="0"/>
              </a:rPr>
              <a:t>lightgray</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darkgray</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mediumseagreen</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921399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48CA2E-7D9C-8F40-3046-A8DB12DB92A3}"/>
              </a:ext>
            </a:extLst>
          </p:cNvPr>
          <p:cNvSpPr>
            <a:spLocks noGrp="1"/>
          </p:cNvSpPr>
          <p:nvPr>
            <p:ph type="title"/>
          </p:nvPr>
        </p:nvSpPr>
        <p:spPr/>
        <p:txBody>
          <a:bodyPr/>
          <a:lstStyle/>
          <a:p>
            <a:r>
              <a:rPr lang="en-US" altLang="zh-CN" dirty="0"/>
              <a:t>Matplotlib</a:t>
            </a:r>
            <a:endParaRPr lang="zh-CN" altLang="en-US" dirty="0"/>
          </a:p>
        </p:txBody>
      </p:sp>
      <p:sp>
        <p:nvSpPr>
          <p:cNvPr id="3" name="内容占位符 2">
            <a:extLst>
              <a:ext uri="{FF2B5EF4-FFF2-40B4-BE49-F238E27FC236}">
                <a16:creationId xmlns:a16="http://schemas.microsoft.com/office/drawing/2014/main" id="{B984A835-E91F-5001-C4A3-918110152670}"/>
              </a:ext>
            </a:extLst>
          </p:cNvPr>
          <p:cNvSpPr>
            <a:spLocks noGrp="1"/>
          </p:cNvSpPr>
          <p:nvPr>
            <p:ph idx="1"/>
          </p:nvPr>
        </p:nvSpPr>
        <p:spPr/>
        <p:txBody>
          <a:bodyPr/>
          <a:lstStyle/>
          <a:p>
            <a:r>
              <a:rPr lang="en-US" altLang="zh-CN" dirty="0"/>
              <a:t>Scatter plots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plt.scatter</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annual_income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total_credit_limit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alpha=0.5 , marker=".", color="</a:t>
            </a:r>
            <a:r>
              <a:rPr lang="en-US" altLang="zh-CN" dirty="0" err="1">
                <a:solidFill>
                  <a:srgbClr val="0070C0"/>
                </a:solidFill>
                <a:latin typeface="Cascadia Mono" panose="020B0609020000020004" pitchFamily="49" charset="0"/>
                <a:cs typeface="Cascadia Mono" panose="020B0609020000020004" pitchFamily="49" charset="0"/>
              </a:rPr>
              <a:t>darkgreen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plt.xlim</a:t>
            </a:r>
            <a:r>
              <a:rPr lang="en-US" altLang="zh-CN" dirty="0">
                <a:solidFill>
                  <a:srgbClr val="0070C0"/>
                </a:solidFill>
                <a:latin typeface="Cascadia Mono" panose="020B0609020000020004" pitchFamily="49" charset="0"/>
                <a:cs typeface="Cascadia Mono" panose="020B0609020000020004" pitchFamily="49" charset="0"/>
              </a:rPr>
              <a:t>(0, 500000)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plt.ylim</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plt.axvline</a:t>
            </a:r>
            <a:r>
              <a:rPr lang="en-US" altLang="zh-CN" dirty="0">
                <a:solidFill>
                  <a:srgbClr val="0070C0"/>
                </a:solidFill>
                <a:latin typeface="Cascadia Mono" panose="020B0609020000020004" pitchFamily="49" charset="0"/>
                <a:cs typeface="Cascadia Mono" panose="020B0609020000020004" pitchFamily="49" charset="0"/>
              </a:rPr>
              <a:t>(x=top_5_percent_income, color="black", </a:t>
            </a:r>
            <a:r>
              <a:rPr lang="en-US" altLang="zh-CN" dirty="0" err="1">
                <a:solidFill>
                  <a:srgbClr val="0070C0"/>
                </a:solidFill>
                <a:latin typeface="Cascadia Mono" panose="020B0609020000020004" pitchFamily="49" charset="0"/>
                <a:cs typeface="Cascadia Mono" panose="020B0609020000020004" pitchFamily="49" charset="0"/>
              </a:rPr>
              <a:t>linestyle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plt.axhline</a:t>
            </a:r>
            <a:r>
              <a:rPr lang="en-US" altLang="zh-CN" dirty="0">
                <a:solidFill>
                  <a:srgbClr val="0070C0"/>
                </a:solidFill>
                <a:latin typeface="Cascadia Mono" panose="020B0609020000020004" pitchFamily="49" charset="0"/>
                <a:cs typeface="Cascadia Mono" panose="020B0609020000020004" pitchFamily="49" charset="0"/>
              </a:rPr>
              <a:t>(...)</a:t>
            </a:r>
          </a:p>
          <a:p>
            <a:pPr lvl="1"/>
            <a:endParaRPr lang="en-US" altLang="zh-CN" dirty="0"/>
          </a:p>
          <a:p>
            <a:r>
              <a:rPr lang="en-US" altLang="zh-CN" dirty="0"/>
              <a:t>Method chaining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grouped_data</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df.groupby</a:t>
            </a:r>
            <a:r>
              <a:rPr lang="en-US" altLang="zh-CN" dirty="0">
                <a:solidFill>
                  <a:srgbClr val="0070C0"/>
                </a:solidFill>
                <a:latin typeface="Cascadia Mono" panose="020B0609020000020004" pitchFamily="49" charset="0"/>
                <a:cs typeface="Cascadia Mono" panose="020B0609020000020004" pitchFamily="49" charset="0"/>
              </a:rPr>
              <a:t>(["grade", "homeownership"])</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grouped_data_loan_amount</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grouped_data</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loan_amount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grouped_sum_of_loans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grouped_data_loan_amount.sum</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unstacked_sum_of_loans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grouped_sum_of_loans.unstack</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unstacked_sum_of_loans.plot</a:t>
            </a:r>
            <a:r>
              <a:rPr lang="en-US" altLang="zh-CN" dirty="0">
                <a:solidFill>
                  <a:srgbClr val="0070C0"/>
                </a:solidFill>
                <a:latin typeface="Cascadia Mono" panose="020B0609020000020004" pitchFamily="49" charset="0"/>
                <a:cs typeface="Cascadia Mono" panose="020B0609020000020004" pitchFamily="49" charset="0"/>
              </a:rPr>
              <a:t>(kind="bar", stacked=True)</a:t>
            </a:r>
          </a:p>
          <a:p>
            <a:endParaRPr lang="en-US" altLang="zh-CN" dirty="0"/>
          </a:p>
          <a:p>
            <a:endParaRPr lang="zh-CN" altLang="en-US" dirty="0"/>
          </a:p>
        </p:txBody>
      </p:sp>
    </p:spTree>
    <p:extLst>
      <p:ext uri="{BB962C8B-B14F-4D97-AF65-F5344CB8AC3E}">
        <p14:creationId xmlns:p14="http://schemas.microsoft.com/office/powerpoint/2010/main" val="3142471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E8AB51-FBCD-4786-F333-DA59D3C00B1C}"/>
              </a:ext>
            </a:extLst>
          </p:cNvPr>
          <p:cNvSpPr>
            <a:spLocks noGrp="1"/>
          </p:cNvSpPr>
          <p:nvPr>
            <p:ph type="title"/>
          </p:nvPr>
        </p:nvSpPr>
        <p:spPr/>
        <p:txBody>
          <a:bodyPr/>
          <a:lstStyle/>
          <a:p>
            <a:r>
              <a:rPr lang="en-US" altLang="zh-CN" dirty="0"/>
              <a:t>Seaborn</a:t>
            </a:r>
            <a:endParaRPr lang="zh-CN" altLang="en-US" dirty="0"/>
          </a:p>
        </p:txBody>
      </p:sp>
      <p:sp>
        <p:nvSpPr>
          <p:cNvPr id="3" name="内容占位符 2">
            <a:extLst>
              <a:ext uri="{FF2B5EF4-FFF2-40B4-BE49-F238E27FC236}">
                <a16:creationId xmlns:a16="http://schemas.microsoft.com/office/drawing/2014/main" id="{0F723AC1-C630-DE34-6246-498CEF2B10BD}"/>
              </a:ext>
            </a:extLst>
          </p:cNvPr>
          <p:cNvSpPr>
            <a:spLocks noGrp="1"/>
          </p:cNvSpPr>
          <p:nvPr>
            <p:ph idx="1"/>
          </p:nvPr>
        </p:nvSpPr>
        <p:spPr/>
        <p:txBody>
          <a:bodyPr/>
          <a:lstStyle/>
          <a:p>
            <a:r>
              <a:rPr lang="en-US" altLang="zh-CN" dirty="0"/>
              <a:t>Plotting with Seaborn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seaborn</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sns.barplot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sns.regplot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sns.boxplot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selected_stocks</a:t>
            </a:r>
            <a:r>
              <a:rPr lang="en-US" altLang="zh-CN" dirty="0">
                <a:solidFill>
                  <a:srgbClr val="0070C0"/>
                </a:solidFill>
                <a:latin typeface="Cascadia Mono" panose="020B0609020000020004" pitchFamily="49" charset="0"/>
                <a:cs typeface="Cascadia Mono" panose="020B0609020000020004" pitchFamily="49" charset="0"/>
              </a:rPr>
              <a:t>, estimator = </a:t>
            </a:r>
            <a:r>
              <a:rPr lang="en-US" altLang="zh-CN" dirty="0" err="1">
                <a:solidFill>
                  <a:srgbClr val="0070C0"/>
                </a:solidFill>
                <a:latin typeface="Cascadia Mono" panose="020B0609020000020004" pitchFamily="49" charset="0"/>
                <a:cs typeface="Cascadia Mono" panose="020B0609020000020004" pitchFamily="49" charset="0"/>
              </a:rPr>
              <a:t>np.mean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np.max</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np.size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np.std</a:t>
            </a:r>
            <a:endParaRPr lang="en-US" altLang="zh-CN"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Themes &amp; palettes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sns.set_theme</a:t>
            </a:r>
            <a:r>
              <a:rPr lang="en-US" altLang="zh-CN" dirty="0">
                <a:solidFill>
                  <a:srgbClr val="0070C0"/>
                </a:solidFill>
                <a:latin typeface="Cascadia Mono" panose="020B0609020000020004" pitchFamily="49" charset="0"/>
                <a:cs typeface="Cascadia Mono" panose="020B0609020000020004" pitchFamily="49" charset="0"/>
              </a:rPr>
              <a:t>(style = "white")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sns.barplot</a:t>
            </a:r>
            <a:r>
              <a:rPr lang="en-US" altLang="zh-CN" dirty="0">
                <a:solidFill>
                  <a:srgbClr val="0070C0"/>
                </a:solidFill>
                <a:latin typeface="Cascadia Mono" panose="020B0609020000020004" pitchFamily="49" charset="0"/>
                <a:cs typeface="Cascadia Mono" panose="020B0609020000020004" pitchFamily="49" charset="0"/>
              </a:rPr>
              <a:t>(...palette = "Blues")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sns.barplot</a:t>
            </a:r>
            <a:r>
              <a:rPr lang="en-US" altLang="zh-CN" dirty="0">
                <a:solidFill>
                  <a:srgbClr val="0070C0"/>
                </a:solidFill>
                <a:latin typeface="Cascadia Mono" panose="020B0609020000020004" pitchFamily="49" charset="0"/>
                <a:cs typeface="Cascadia Mono" panose="020B0609020000020004" pitchFamily="49" charset="0"/>
              </a:rPr>
              <a:t>(...palette ="</a:t>
            </a:r>
            <a:r>
              <a:rPr lang="en-US" altLang="zh-CN" dirty="0" err="1">
                <a:solidFill>
                  <a:srgbClr val="0070C0"/>
                </a:solidFill>
                <a:latin typeface="Cascadia Mono" panose="020B0609020000020004" pitchFamily="49" charset="0"/>
                <a:cs typeface="Cascadia Mono" panose="020B0609020000020004" pitchFamily="49" charset="0"/>
              </a:rPr>
              <a:t>RdYlGn_r</a:t>
            </a:r>
            <a:r>
              <a:rPr lang="en-US" altLang="zh-CN" dirty="0">
                <a:solidFill>
                  <a:srgbClr val="0070C0"/>
                </a:solidFill>
                <a:latin typeface="Cascadia Mono" panose="020B0609020000020004" pitchFamily="49" charset="0"/>
                <a:cs typeface="Cascadia Mono" panose="020B0609020000020004" pitchFamily="49" charset="0"/>
              </a:rPr>
              <a:t>")</a:t>
            </a:r>
          </a:p>
          <a:p>
            <a:pPr lvl="1"/>
            <a:endParaRPr lang="en-US" altLang="zh-CN" dirty="0"/>
          </a:p>
        </p:txBody>
      </p:sp>
    </p:spTree>
    <p:extLst>
      <p:ext uri="{BB962C8B-B14F-4D97-AF65-F5344CB8AC3E}">
        <p14:creationId xmlns:p14="http://schemas.microsoft.com/office/powerpoint/2010/main" val="3844435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0BA4C-B293-DCAB-3A86-6DD39BFD5054}"/>
              </a:ext>
            </a:extLst>
          </p:cNvPr>
          <p:cNvSpPr>
            <a:spLocks noGrp="1"/>
          </p:cNvSpPr>
          <p:nvPr>
            <p:ph type="title"/>
          </p:nvPr>
        </p:nvSpPr>
        <p:spPr/>
        <p:txBody>
          <a:bodyPr/>
          <a:lstStyle/>
          <a:p>
            <a:r>
              <a:rPr lang="en-US" altLang="zh-CN" dirty="0"/>
              <a:t>Seaborn</a:t>
            </a:r>
            <a:endParaRPr lang="zh-CN" altLang="en-US" dirty="0"/>
          </a:p>
        </p:txBody>
      </p:sp>
      <p:sp>
        <p:nvSpPr>
          <p:cNvPr id="3" name="内容占位符 2">
            <a:extLst>
              <a:ext uri="{FF2B5EF4-FFF2-40B4-BE49-F238E27FC236}">
                <a16:creationId xmlns:a16="http://schemas.microsoft.com/office/drawing/2014/main" id="{328D7A1F-C7E8-08C8-3C1F-D0ED2C1763CB}"/>
              </a:ext>
            </a:extLst>
          </p:cNvPr>
          <p:cNvSpPr>
            <a:spLocks noGrp="1"/>
          </p:cNvSpPr>
          <p:nvPr>
            <p:ph idx="1"/>
          </p:nvPr>
        </p:nvSpPr>
        <p:spPr/>
        <p:txBody>
          <a:bodyPr/>
          <a:lstStyle/>
          <a:p>
            <a:r>
              <a:rPr lang="en-US" altLang="zh-CN" dirty="0"/>
              <a:t>Box plots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sns.boxplot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x = "</a:t>
            </a:r>
            <a:r>
              <a:rPr lang="en-US" altLang="zh-CN" dirty="0" err="1">
                <a:solidFill>
                  <a:srgbClr val="0070C0"/>
                </a:solidFill>
                <a:latin typeface="Cascadia Mono" panose="020B0609020000020004" pitchFamily="49" charset="0"/>
                <a:cs typeface="Cascadia Mono" panose="020B0609020000020004" pitchFamily="49" charset="0"/>
              </a:rPr>
              <a:t>interest_rate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a:solidFill>
                  <a:srgbClr val="00B050"/>
                </a:solidFill>
                <a:latin typeface="Cascadia Mono" panose="020B0609020000020004" pitchFamily="49" charset="0"/>
                <a:cs typeface="Cascadia Mono" panose="020B0609020000020004" pitchFamily="49" charset="0"/>
              </a:rPr>
              <a:t># or y = "</a:t>
            </a:r>
            <a:r>
              <a:rPr lang="en-US" altLang="zh-CN" dirty="0" err="1">
                <a:solidFill>
                  <a:srgbClr val="00B050"/>
                </a:solidFill>
                <a:latin typeface="Cascadia Mono" panose="020B0609020000020004" pitchFamily="49" charset="0"/>
                <a:cs typeface="Cascadia Mono" panose="020B0609020000020004" pitchFamily="49" charset="0"/>
              </a:rPr>
              <a:t>interest_rate</a:t>
            </a:r>
            <a:r>
              <a:rPr lang="en-US" altLang="zh-CN" dirty="0">
                <a:solidFill>
                  <a:srgbClr val="00B05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sns.boxplot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x = "grade" , y = "</a:t>
            </a:r>
            <a:r>
              <a:rPr lang="en-US" altLang="zh-CN" dirty="0" err="1">
                <a:solidFill>
                  <a:srgbClr val="0070C0"/>
                </a:solidFill>
                <a:latin typeface="Cascadia Mono" panose="020B0609020000020004" pitchFamily="49" charset="0"/>
                <a:cs typeface="Cascadia Mono" panose="020B0609020000020004" pitchFamily="49" charset="0"/>
              </a:rPr>
              <a:t>interest_rate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sns.despine</a:t>
            </a:r>
            <a:r>
              <a:rPr lang="en-US" altLang="zh-CN" dirty="0">
                <a:solidFill>
                  <a:srgbClr val="0070C0"/>
                </a:solidFill>
                <a:latin typeface="Cascadia Mono" panose="020B0609020000020004" pitchFamily="49" charset="0"/>
                <a:cs typeface="Cascadia Mono" panose="020B0609020000020004" pitchFamily="49" charset="0"/>
              </a:rPr>
              <a:t>(left = True, bottom = True)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plt.figure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figsize</a:t>
            </a:r>
            <a:r>
              <a:rPr lang="en-US" altLang="zh-CN" dirty="0">
                <a:solidFill>
                  <a:srgbClr val="0070C0"/>
                </a:solidFill>
                <a:latin typeface="Cascadia Mono" panose="020B0609020000020004" pitchFamily="49" charset="0"/>
                <a:cs typeface="Cascadia Mono" panose="020B0609020000020004" pitchFamily="49" charset="0"/>
              </a:rPr>
              <a:t> = (8, 6))</a:t>
            </a:r>
            <a:endParaRPr lang="zh-CN" altLang="en-US" dirty="0"/>
          </a:p>
          <a:p>
            <a:endParaRPr lang="en-US" altLang="zh-CN" dirty="0"/>
          </a:p>
          <a:p>
            <a:r>
              <a:rPr lang="en-US" altLang="zh-CN" dirty="0"/>
              <a:t>Histograms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sns.histplot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x = "grade" , </a:t>
            </a:r>
            <a:r>
              <a:rPr lang="en-US" altLang="zh-CN" dirty="0" err="1">
                <a:solidFill>
                  <a:srgbClr val="0070C0"/>
                </a:solidFill>
                <a:latin typeface="Cascadia Mono" panose="020B0609020000020004" pitchFamily="49" charset="0"/>
                <a:cs typeface="Cascadia Mono" panose="020B0609020000020004" pitchFamily="49" charset="0"/>
              </a:rPr>
              <a:t>binwidth</a:t>
            </a:r>
            <a:r>
              <a:rPr lang="en-US" altLang="zh-CN" dirty="0">
                <a:solidFill>
                  <a:srgbClr val="0070C0"/>
                </a:solidFill>
                <a:latin typeface="Cascadia Mono" panose="020B0609020000020004" pitchFamily="49" charset="0"/>
                <a:cs typeface="Cascadia Mono" panose="020B0609020000020004" pitchFamily="49" charset="0"/>
              </a:rPr>
              <a:t> = 50 , </a:t>
            </a:r>
            <a:r>
              <a:rPr lang="en-US" altLang="zh-CN" dirty="0" err="1">
                <a:solidFill>
                  <a:srgbClr val="0070C0"/>
                </a:solidFill>
                <a:latin typeface="Cascadia Mono" panose="020B0609020000020004" pitchFamily="49" charset="0"/>
                <a:cs typeface="Cascadia Mono" panose="020B0609020000020004" pitchFamily="49" charset="0"/>
              </a:rPr>
              <a:t>kde</a:t>
            </a:r>
            <a:r>
              <a:rPr lang="en-US" altLang="zh-CN" dirty="0">
                <a:solidFill>
                  <a:srgbClr val="0070C0"/>
                </a:solidFill>
                <a:latin typeface="Cascadia Mono" panose="020B0609020000020004" pitchFamily="49" charset="0"/>
                <a:cs typeface="Cascadia Mono" panose="020B0609020000020004" pitchFamily="49" charset="0"/>
              </a:rPr>
              <a:t> = True)</a:t>
            </a:r>
          </a:p>
          <a:p>
            <a:pPr marL="682625" lvl="2" indent="0">
              <a:buNone/>
            </a:pPr>
            <a:r>
              <a:rPr lang="en-US" altLang="zh-CN" dirty="0">
                <a:solidFill>
                  <a:srgbClr val="00B050"/>
                </a:solidFill>
                <a:latin typeface="Cascadia Mono" panose="020B0609020000020004" pitchFamily="49" charset="0"/>
                <a:cs typeface="Cascadia Mono" panose="020B0609020000020004" pitchFamily="49" charset="0"/>
              </a:rPr>
              <a:t>	# or y = "</a:t>
            </a:r>
            <a:r>
              <a:rPr lang="en-US" altLang="zh-CN" dirty="0" err="1">
                <a:solidFill>
                  <a:srgbClr val="00B050"/>
                </a:solidFill>
                <a:latin typeface="Cascadia Mono" panose="020B0609020000020004" pitchFamily="49" charset="0"/>
                <a:cs typeface="Cascadia Mono" panose="020B0609020000020004" pitchFamily="49" charset="0"/>
              </a:rPr>
              <a:t>interest_rate</a:t>
            </a:r>
            <a:r>
              <a:rPr lang="en-US" altLang="zh-CN" dirty="0">
                <a:solidFill>
                  <a:srgbClr val="00B05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B050"/>
                </a:solidFill>
                <a:latin typeface="Cascadia Mono" panose="020B0609020000020004" pitchFamily="49" charset="0"/>
                <a:cs typeface="Cascadia Mono" panose="020B0609020000020004" pitchFamily="49" charset="0"/>
              </a:rPr>
              <a:t>	# or bins = 10</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sns.set_style</a:t>
            </a:r>
            <a:r>
              <a:rPr lang="en-US" altLang="zh-CN" dirty="0">
                <a:solidFill>
                  <a:srgbClr val="0070C0"/>
                </a:solidFill>
                <a:latin typeface="Cascadia Mono" panose="020B0609020000020004" pitchFamily="49" charset="0"/>
                <a:cs typeface="Cascadia Mono" panose="020B0609020000020004" pitchFamily="49" charset="0"/>
              </a:rPr>
              <a:t>("ticks")</a:t>
            </a:r>
            <a:endParaRPr lang="zh-CN" altLang="en-US" dirty="0">
              <a:solidFill>
                <a:srgbClr val="0070C0"/>
              </a:solidFill>
              <a:latin typeface="Cascadia Mono" panose="020B0609020000020004" pitchFamily="49" charset="0"/>
              <a:cs typeface="Cascadia Mono" panose="020B0609020000020004" pitchFamily="49" charset="0"/>
            </a:endParaRPr>
          </a:p>
          <a:p>
            <a:endParaRPr lang="zh-CN" altLang="en-US" dirty="0"/>
          </a:p>
        </p:txBody>
      </p:sp>
    </p:spTree>
    <p:extLst>
      <p:ext uri="{BB962C8B-B14F-4D97-AF65-F5344CB8AC3E}">
        <p14:creationId xmlns:p14="http://schemas.microsoft.com/office/powerpoint/2010/main" val="2340439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AE5B4A-3A2D-C515-9A06-7B002E8610D5}"/>
              </a:ext>
            </a:extLst>
          </p:cNvPr>
          <p:cNvSpPr>
            <a:spLocks noGrp="1"/>
          </p:cNvSpPr>
          <p:nvPr>
            <p:ph type="title"/>
          </p:nvPr>
        </p:nvSpPr>
        <p:spPr/>
        <p:txBody>
          <a:bodyPr/>
          <a:lstStyle/>
          <a:p>
            <a:r>
              <a:rPr lang="en-US" altLang="zh-CN" dirty="0"/>
              <a:t>Matplotlib subplots</a:t>
            </a:r>
            <a:endParaRPr lang="zh-CN" altLang="en-US" dirty="0"/>
          </a:p>
        </p:txBody>
      </p:sp>
      <p:sp>
        <p:nvSpPr>
          <p:cNvPr id="3" name="内容占位符 2">
            <a:extLst>
              <a:ext uri="{FF2B5EF4-FFF2-40B4-BE49-F238E27FC236}">
                <a16:creationId xmlns:a16="http://schemas.microsoft.com/office/drawing/2014/main" id="{D04A527B-7015-8792-F7B9-62D1D3D93AFF}"/>
              </a:ext>
            </a:extLst>
          </p:cNvPr>
          <p:cNvSpPr>
            <a:spLocks noGrp="1"/>
          </p:cNvSpPr>
          <p:nvPr>
            <p:ph idx="1"/>
          </p:nvPr>
        </p:nvSpPr>
        <p:spPr/>
        <p:txBody>
          <a:bodyPr/>
          <a:lstStyle/>
          <a:p>
            <a:r>
              <a:rPr lang="en-US" altLang="zh-CN" dirty="0"/>
              <a:t>Matplotlib subplots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plt.figure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figsize</a:t>
            </a:r>
            <a:r>
              <a:rPr lang="en-US" altLang="zh-CN" dirty="0">
                <a:solidFill>
                  <a:srgbClr val="0070C0"/>
                </a:solidFill>
                <a:latin typeface="Cascadia Mono" panose="020B0609020000020004" pitchFamily="49" charset="0"/>
                <a:cs typeface="Cascadia Mono" panose="020B0609020000020004" pitchFamily="49" charset="0"/>
              </a:rPr>
              <a:t> = (5,5))</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plt.subplot</a:t>
            </a:r>
            <a:r>
              <a:rPr lang="en-US" altLang="zh-CN" dirty="0">
                <a:solidFill>
                  <a:srgbClr val="0070C0"/>
                </a:solidFill>
                <a:latin typeface="Cascadia Mono" panose="020B0609020000020004" pitchFamily="49" charset="0"/>
                <a:cs typeface="Cascadia Mono" panose="020B0609020000020004" pitchFamily="49" charset="0"/>
              </a:rPr>
              <a:t>( 2, 3, 4 )</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sns.barplot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filtered_df</a:t>
            </a:r>
            <a:r>
              <a:rPr lang="en-US" altLang="zh-CN" dirty="0">
                <a:solidFill>
                  <a:srgbClr val="0070C0"/>
                </a:solidFill>
                <a:latin typeface="Cascadia Mono" panose="020B0609020000020004" pitchFamily="49" charset="0"/>
                <a:cs typeface="Cascadia Mono" panose="020B0609020000020004" pitchFamily="49" charset="0"/>
              </a:rPr>
              <a:t>, hue="grade", y="</a:t>
            </a:r>
            <a:r>
              <a:rPr lang="en-US" altLang="zh-CN" dirty="0" err="1">
                <a:solidFill>
                  <a:srgbClr val="0070C0"/>
                </a:solidFill>
                <a:latin typeface="Cascadia Mono" panose="020B0609020000020004" pitchFamily="49" charset="0"/>
                <a:cs typeface="Cascadia Mono" panose="020B0609020000020004" pitchFamily="49" charset="0"/>
              </a:rPr>
              <a:t>paid_interest</a:t>
            </a:r>
            <a:r>
              <a:rPr lang="en-US" altLang="zh-CN" dirty="0">
                <a:solidFill>
                  <a:srgbClr val="0070C0"/>
                </a:solidFill>
                <a:latin typeface="Cascadia Mono" panose="020B0609020000020004" pitchFamily="49" charset="0"/>
                <a:cs typeface="Cascadia Mono" panose="020B0609020000020004" pitchFamily="49" charset="0"/>
              </a:rPr>
              <a:t>", palette="</a:t>
            </a:r>
            <a:r>
              <a:rPr lang="en-US" altLang="zh-CN" dirty="0" err="1">
                <a:solidFill>
                  <a:srgbClr val="0070C0"/>
                </a:solidFill>
                <a:latin typeface="Cascadia Mono" panose="020B0609020000020004" pitchFamily="49" charset="0"/>
                <a:cs typeface="Cascadia Mono" panose="020B0609020000020004" pitchFamily="49" charset="0"/>
              </a:rPr>
              <a:t>RdYlGn_r</a:t>
            </a:r>
            <a:r>
              <a:rPr lang="en-US" altLang="zh-CN" dirty="0">
                <a:solidFill>
                  <a:srgbClr val="0070C0"/>
                </a:solidFill>
                <a:latin typeface="Cascadia Mono" panose="020B0609020000020004" pitchFamily="49" charset="0"/>
                <a:cs typeface="Cascadia Mono" panose="020B0609020000020004" pitchFamily="49" charset="0"/>
              </a:rPr>
              <a:t>")</a:t>
            </a:r>
          </a:p>
          <a:p>
            <a:endParaRPr lang="en-US" altLang="zh-CN" dirty="0"/>
          </a:p>
          <a:p>
            <a:r>
              <a:rPr lang="en-US" altLang="zh-CN" dirty="0"/>
              <a:t>Looping with subplots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plt.figure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figsize</a:t>
            </a:r>
            <a:r>
              <a:rPr lang="en-US" altLang="zh-CN" dirty="0">
                <a:solidFill>
                  <a:srgbClr val="0070C0"/>
                </a:solidFill>
                <a:latin typeface="Cascadia Mono" panose="020B0609020000020004" pitchFamily="49" charset="0"/>
                <a:cs typeface="Cascadia Mono" panose="020B0609020000020004" pitchFamily="49" charset="0"/>
              </a:rPr>
              <a:t>=(15,15))</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for </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 in range(1,10):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plt.subplot</a:t>
            </a:r>
            <a:r>
              <a:rPr lang="en-US" altLang="zh-CN" dirty="0">
                <a:solidFill>
                  <a:srgbClr val="0070C0"/>
                </a:solidFill>
                <a:latin typeface="Cascadia Mono" panose="020B0609020000020004" pitchFamily="49" charset="0"/>
                <a:cs typeface="Cascadia Mono" panose="020B0609020000020004" pitchFamily="49" charset="0"/>
              </a:rPr>
              <a:t>(3, 3, </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filtered_df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open_credit_lines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sns.barplot</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filtered_df</a:t>
            </a:r>
            <a:r>
              <a:rPr lang="en-US" altLang="zh-CN" dirty="0">
                <a:solidFill>
                  <a:srgbClr val="0070C0"/>
                </a:solidFill>
                <a:latin typeface="Cascadia Mono" panose="020B0609020000020004" pitchFamily="49" charset="0"/>
                <a:cs typeface="Cascadia Mono" panose="020B0609020000020004" pitchFamily="49" charset="0"/>
              </a:rPr>
              <a:t>, hue="grade", y="</a:t>
            </a:r>
            <a:r>
              <a:rPr lang="en-US" altLang="zh-CN" dirty="0" err="1">
                <a:solidFill>
                  <a:srgbClr val="0070C0"/>
                </a:solidFill>
                <a:latin typeface="Cascadia Mono" panose="020B0609020000020004" pitchFamily="49" charset="0"/>
                <a:cs typeface="Cascadia Mono" panose="020B0609020000020004" pitchFamily="49" charset="0"/>
              </a:rPr>
              <a:t>paid_interest</a:t>
            </a:r>
            <a:r>
              <a:rPr lang="en-US" altLang="zh-CN" dirty="0">
                <a:solidFill>
                  <a:srgbClr val="0070C0"/>
                </a:solidFill>
                <a:latin typeface="Cascadia Mono" panose="020B0609020000020004" pitchFamily="49" charset="0"/>
                <a:cs typeface="Cascadia Mono" panose="020B0609020000020004" pitchFamily="49" charset="0"/>
              </a:rPr>
              <a:t>", palette="</a:t>
            </a:r>
            <a:r>
              <a:rPr lang="en-US" altLang="zh-CN" dirty="0" err="1">
                <a:solidFill>
                  <a:srgbClr val="0070C0"/>
                </a:solidFill>
                <a:latin typeface="Cascadia Mono" panose="020B0609020000020004" pitchFamily="49" charset="0"/>
                <a:cs typeface="Cascadia Mono" panose="020B0609020000020004" pitchFamily="49" charset="0"/>
              </a:rPr>
              <a:t>RdYlGn_r</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plt.title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plt.savefig</a:t>
            </a:r>
            <a:r>
              <a:rPr lang="en-US" altLang="zh-CN" dirty="0">
                <a:solidFill>
                  <a:srgbClr val="0070C0"/>
                </a:solidFill>
                <a:latin typeface="Cascadia Mono" panose="020B0609020000020004" pitchFamily="49" charset="0"/>
                <a:cs typeface="Cascadia Mono" panose="020B0609020000020004" pitchFamily="49" charset="0"/>
              </a:rPr>
              <a:t>("9graphs.png")</a:t>
            </a:r>
          </a:p>
          <a:p>
            <a:pPr marL="682625" lvl="2" indent="0">
              <a:buNone/>
            </a:pPr>
            <a:endParaRPr lang="zh-CN" altLang="en-US" dirty="0"/>
          </a:p>
          <a:p>
            <a:pPr marL="682625" lvl="2" indent="0">
              <a:buNone/>
            </a:pPr>
            <a:endParaRPr lang="zh-CN" altLang="en-US" dirty="0"/>
          </a:p>
        </p:txBody>
      </p:sp>
    </p:spTree>
    <p:extLst>
      <p:ext uri="{BB962C8B-B14F-4D97-AF65-F5344CB8AC3E}">
        <p14:creationId xmlns:p14="http://schemas.microsoft.com/office/powerpoint/2010/main" val="3088206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768C2-C2A3-D5F1-5080-64087AF85DED}"/>
              </a:ext>
            </a:extLst>
          </p:cNvPr>
          <p:cNvSpPr>
            <a:spLocks noGrp="1"/>
          </p:cNvSpPr>
          <p:nvPr>
            <p:ph type="title"/>
          </p:nvPr>
        </p:nvSpPr>
        <p:spPr/>
        <p:txBody>
          <a:bodyPr/>
          <a:lstStyle/>
          <a:p>
            <a:r>
              <a:rPr lang="en-US" altLang="zh-CN" dirty="0"/>
              <a:t>Seaborn </a:t>
            </a:r>
            <a:r>
              <a:rPr lang="en-US" altLang="zh-CN" dirty="0" err="1"/>
              <a:t>pairplot</a:t>
            </a:r>
            <a:endParaRPr lang="zh-CN" altLang="en-US" dirty="0"/>
          </a:p>
        </p:txBody>
      </p:sp>
      <p:sp>
        <p:nvSpPr>
          <p:cNvPr id="3" name="内容占位符 2">
            <a:extLst>
              <a:ext uri="{FF2B5EF4-FFF2-40B4-BE49-F238E27FC236}">
                <a16:creationId xmlns:a16="http://schemas.microsoft.com/office/drawing/2014/main" id="{38EFDDD6-5820-38EA-CAE5-F908C30637FA}"/>
              </a:ext>
            </a:extLst>
          </p:cNvPr>
          <p:cNvSpPr>
            <a:spLocks noGrp="1"/>
          </p:cNvSpPr>
          <p:nvPr>
            <p:ph idx="1"/>
          </p:nvPr>
        </p:nvSpPr>
        <p:spPr/>
        <p:txBody>
          <a:bodyPr/>
          <a:lstStyle/>
          <a:p>
            <a:r>
              <a:rPr lang="en-US" altLang="zh-CN" dirty="0"/>
              <a:t>Seaborn </a:t>
            </a:r>
            <a:r>
              <a:rPr lang="en-US" altLang="zh-CN" dirty="0" err="1"/>
              <a:t>pairplot</a:t>
            </a:r>
            <a:endParaRPr lang="en-US" altLang="zh-CN" dirty="0"/>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sns.pairplot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loan_amount</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annual_income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interest_rate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paid_interest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plt.suptitle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Pairplot</a:t>
            </a:r>
            <a:r>
              <a:rPr lang="en-US" altLang="zh-CN" dirty="0">
                <a:solidFill>
                  <a:srgbClr val="0070C0"/>
                </a:solidFill>
                <a:latin typeface="Cascadia Mono" panose="020B0609020000020004" pitchFamily="49" charset="0"/>
                <a:cs typeface="Cascadia Mono" panose="020B0609020000020004" pitchFamily="49" charset="0"/>
              </a:rPr>
              <a:t> of Loan Amount, Annual Income, Interest Rate, and Paid Interest")</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370538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1850-827A-38FE-1C9D-419E3A459BA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97660A8-DF01-0226-3328-F382D2960038}"/>
              </a:ext>
            </a:extLst>
          </p:cNvPr>
          <p:cNvSpPr>
            <a:spLocks noGrp="1"/>
          </p:cNvSpPr>
          <p:nvPr>
            <p:ph type="title"/>
          </p:nvPr>
        </p:nvSpPr>
        <p:spPr/>
        <p:txBody>
          <a:bodyPr/>
          <a:lstStyle/>
          <a:p>
            <a:r>
              <a:rPr lang="en-US" altLang="zh-CN" dirty="0"/>
              <a:t>Module 4</a:t>
            </a:r>
            <a:endParaRPr lang="zh-CN" altLang="en-US" dirty="0"/>
          </a:p>
        </p:txBody>
      </p:sp>
      <p:sp>
        <p:nvSpPr>
          <p:cNvPr id="5" name="文本占位符 4">
            <a:extLst>
              <a:ext uri="{FF2B5EF4-FFF2-40B4-BE49-F238E27FC236}">
                <a16:creationId xmlns:a16="http://schemas.microsoft.com/office/drawing/2014/main" id="{53372EFA-4125-A17C-7C37-5203FFC3A28C}"/>
              </a:ext>
            </a:extLst>
          </p:cNvPr>
          <p:cNvSpPr>
            <a:spLocks noGrp="1"/>
          </p:cNvSpPr>
          <p:nvPr>
            <p:ph type="body" idx="1"/>
          </p:nvPr>
        </p:nvSpPr>
        <p:spPr/>
        <p:txBody>
          <a:bodyPr/>
          <a:lstStyle/>
          <a:p>
            <a:r>
              <a:rPr lang="en-US" altLang="zh-CN" dirty="0"/>
              <a:t>Inferential Statistics</a:t>
            </a:r>
            <a:endParaRPr lang="zh-CN" altLang="en-US" dirty="0"/>
          </a:p>
        </p:txBody>
      </p:sp>
    </p:spTree>
    <p:extLst>
      <p:ext uri="{BB962C8B-B14F-4D97-AF65-F5344CB8AC3E}">
        <p14:creationId xmlns:p14="http://schemas.microsoft.com/office/powerpoint/2010/main" val="1608557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84F78-A94D-0BC8-F6AE-ED28D6B7ABC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D9025A-49D4-EAD5-C337-B5E686FE982D}"/>
              </a:ext>
            </a:extLst>
          </p:cNvPr>
          <p:cNvSpPr>
            <a:spLocks noGrp="1"/>
          </p:cNvSpPr>
          <p:nvPr>
            <p:ph type="title"/>
          </p:nvPr>
        </p:nvSpPr>
        <p:spPr/>
        <p:txBody>
          <a:bodyPr/>
          <a:lstStyle/>
          <a:p>
            <a:r>
              <a:rPr lang="en-US" altLang="zh-CN" dirty="0"/>
              <a:t>Inferential statistics</a:t>
            </a:r>
            <a:endParaRPr lang="zh-CN" altLang="en-US" dirty="0"/>
          </a:p>
        </p:txBody>
      </p:sp>
      <p:sp>
        <p:nvSpPr>
          <p:cNvPr id="3" name="内容占位符 2">
            <a:extLst>
              <a:ext uri="{FF2B5EF4-FFF2-40B4-BE49-F238E27FC236}">
                <a16:creationId xmlns:a16="http://schemas.microsoft.com/office/drawing/2014/main" id="{03C2FBA9-EB33-6C4F-FD60-9CDF175295CC}"/>
              </a:ext>
            </a:extLst>
          </p:cNvPr>
          <p:cNvSpPr>
            <a:spLocks noGrp="1"/>
          </p:cNvSpPr>
          <p:nvPr>
            <p:ph idx="1"/>
          </p:nvPr>
        </p:nvSpPr>
        <p:spPr/>
        <p:txBody>
          <a:bodyPr/>
          <a:lstStyle/>
          <a:p>
            <a:r>
              <a:rPr lang="en-US" altLang="zh-CN" dirty="0"/>
              <a:t>Confidence intervals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n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["price"].count() 		</a:t>
            </a:r>
            <a:r>
              <a:rPr lang="en-US" altLang="zh-CN" dirty="0">
                <a:solidFill>
                  <a:srgbClr val="00B050"/>
                </a:solidFill>
                <a:latin typeface="Cascadia Mono" panose="020B0609020000020004" pitchFamily="49" charset="0"/>
                <a:cs typeface="Cascadia Mono" panose="020B0609020000020004" pitchFamily="49" charset="0"/>
              </a:rPr>
              <a:t># Sample size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xbar</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["price"].mean() 	</a:t>
            </a:r>
            <a:r>
              <a:rPr lang="en-US" altLang="zh-CN" dirty="0">
                <a:solidFill>
                  <a:srgbClr val="00B050"/>
                </a:solidFill>
                <a:latin typeface="Cascadia Mono" panose="020B0609020000020004" pitchFamily="49" charset="0"/>
                <a:cs typeface="Cascadia Mono" panose="020B0609020000020004" pitchFamily="49" charset="0"/>
              </a:rPr>
              <a:t># Mean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["price"].std() 		</a:t>
            </a:r>
            <a:r>
              <a:rPr lang="en-US" altLang="zh-CN" dirty="0">
                <a:solidFill>
                  <a:srgbClr val="00B050"/>
                </a:solidFill>
                <a:latin typeface="Cascadia Mono" panose="020B0609020000020004" pitchFamily="49" charset="0"/>
                <a:cs typeface="Cascadia Mono" panose="020B0609020000020004" pitchFamily="49" charset="0"/>
              </a:rPr>
              <a:t># Standard deviation</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pt-BR" altLang="zh-CN" dirty="0">
                <a:solidFill>
                  <a:srgbClr val="0070C0"/>
                </a:solidFill>
                <a:latin typeface="Cascadia Mono" panose="020B0609020000020004" pitchFamily="49" charset="0"/>
                <a:cs typeface="Cascadia Mono" panose="020B0609020000020004" pitchFamily="49" charset="0"/>
              </a:rPr>
              <a:t>SEM = s / np.sqrt(n)</a:t>
            </a:r>
          </a:p>
          <a:p>
            <a:pPr marL="682625" lvl="2" indent="0">
              <a:buNone/>
            </a:pPr>
            <a:endParaRPr lang="pt-BR"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interval = </a:t>
            </a:r>
            <a:r>
              <a:rPr lang="en-US" altLang="zh-CN" dirty="0" err="1">
                <a:solidFill>
                  <a:srgbClr val="0070C0"/>
                </a:solidFill>
                <a:latin typeface="Cascadia Mono" panose="020B0609020000020004" pitchFamily="49" charset="0"/>
                <a:cs typeface="Cascadia Mono" panose="020B0609020000020004" pitchFamily="49" charset="0"/>
              </a:rPr>
              <a:t>stats.norm.interval</a:t>
            </a:r>
            <a:r>
              <a:rPr lang="en-US" altLang="zh-CN" dirty="0">
                <a:solidFill>
                  <a:srgbClr val="0070C0"/>
                </a:solidFill>
                <a:latin typeface="Cascadia Mono" panose="020B0609020000020004" pitchFamily="49" charset="0"/>
                <a:cs typeface="Cascadia Mono" panose="020B0609020000020004" pitchFamily="49" charset="0"/>
              </a:rPr>
              <a:t>(confidence=conf, loc=</a:t>
            </a:r>
            <a:r>
              <a:rPr lang="en-US" altLang="zh-CN" dirty="0" err="1">
                <a:solidFill>
                  <a:srgbClr val="0070C0"/>
                </a:solidFill>
                <a:latin typeface="Cascadia Mono" panose="020B0609020000020004" pitchFamily="49" charset="0"/>
                <a:cs typeface="Cascadia Mono" panose="020B0609020000020004" pitchFamily="49" charset="0"/>
              </a:rPr>
              <a:t>xbar</a:t>
            </a:r>
            <a:r>
              <a:rPr lang="en-US" altLang="zh-CN" dirty="0">
                <a:solidFill>
                  <a:srgbClr val="0070C0"/>
                </a:solidFill>
                <a:latin typeface="Cascadia Mono" panose="020B0609020000020004" pitchFamily="49" charset="0"/>
                <a:cs typeface="Cascadia Mono" panose="020B0609020000020004" pitchFamily="49" charset="0"/>
              </a:rPr>
              <a:t>, scale=SEM)</a:t>
            </a:r>
          </a:p>
          <a:p>
            <a:pPr lvl="1"/>
            <a:endParaRPr lang="en-US" altLang="zh-CN" dirty="0"/>
          </a:p>
          <a:p>
            <a:r>
              <a:rPr lang="en-US" altLang="zh-CN" dirty="0"/>
              <a:t>One-sample t-tests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test_results</a:t>
            </a:r>
            <a:r>
              <a:rPr lang="en-US" altLang="zh-CN" dirty="0">
                <a:solidFill>
                  <a:srgbClr val="0070C0"/>
                </a:solidFill>
                <a:latin typeface="Cascadia Mono" panose="020B0609020000020004" pitchFamily="49" charset="0"/>
                <a:cs typeface="Cascadia Mono" panose="020B0609020000020004" pitchFamily="49" charset="0"/>
              </a:rPr>
              <a:t> = stats.ttest_1samp(</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["cut"] == "Premium"]["price"] , </a:t>
            </a:r>
            <a:r>
              <a:rPr lang="en-US" altLang="zh-CN" dirty="0" err="1">
                <a:solidFill>
                  <a:srgbClr val="0070C0"/>
                </a:solidFill>
                <a:latin typeface="Cascadia Mono" panose="020B0609020000020004" pitchFamily="49" charset="0"/>
                <a:cs typeface="Cascadia Mono" panose="020B0609020000020004" pitchFamily="49" charset="0"/>
              </a:rPr>
              <a:t>popmean</a:t>
            </a:r>
            <a:r>
              <a:rPr lang="en-US" altLang="zh-CN" dirty="0">
                <a:solidFill>
                  <a:srgbClr val="0070C0"/>
                </a:solidFill>
                <a:latin typeface="Cascadia Mono" panose="020B0609020000020004" pitchFamily="49" charset="0"/>
                <a:cs typeface="Cascadia Mono" panose="020B0609020000020004" pitchFamily="49" charset="0"/>
              </a:rPr>
              <a:t> = 4500)</a:t>
            </a:r>
            <a:endParaRPr lang="pt-BR"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p_value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test_results</a:t>
            </a:r>
            <a:r>
              <a:rPr lang="en-US" altLang="zh-CN" dirty="0">
                <a:solidFill>
                  <a:srgbClr val="0070C0"/>
                </a:solidFill>
                <a:latin typeface="Cascadia Mono" panose="020B0609020000020004" pitchFamily="49" charset="0"/>
                <a:cs typeface="Cascadia Mono" panose="020B0609020000020004" pitchFamily="49" charset="0"/>
              </a:rPr>
              <a:t>[1]</a:t>
            </a:r>
            <a:endParaRPr lang="en-US" altLang="zh-CN" dirty="0"/>
          </a:p>
          <a:p>
            <a:pPr lvl="1"/>
            <a:endParaRPr lang="en-US" altLang="zh-CN" dirty="0"/>
          </a:p>
          <a:p>
            <a:r>
              <a:rPr lang="en-US" altLang="zh-CN" dirty="0"/>
              <a:t>Two-sample t-tests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test_results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stats.ttest_ind</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good_prices</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very_good_prices</a:t>
            </a:r>
            <a:r>
              <a:rPr lang="en-US" altLang="zh-CN" dirty="0">
                <a:solidFill>
                  <a:srgbClr val="0070C0"/>
                </a:solidFill>
                <a:latin typeface="Cascadia Mono" panose="020B0609020000020004" pitchFamily="49" charset="0"/>
                <a:cs typeface="Cascadia Mono" panose="020B0609020000020004" pitchFamily="49" charset="0"/>
              </a:rPr>
              <a:t>)</a:t>
            </a:r>
            <a:endParaRPr lang="pt-BR"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p_value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test_results</a:t>
            </a:r>
            <a:r>
              <a:rPr lang="en-US" altLang="zh-CN" dirty="0">
                <a:solidFill>
                  <a:srgbClr val="0070C0"/>
                </a:solidFill>
                <a:latin typeface="Cascadia Mono" panose="020B0609020000020004" pitchFamily="49" charset="0"/>
                <a:cs typeface="Cascadia Mono" panose="020B0609020000020004" pitchFamily="49" charset="0"/>
              </a:rPr>
              <a:t>[1]</a:t>
            </a:r>
            <a:endParaRPr lang="en-US" altLang="zh-CN" dirty="0"/>
          </a:p>
          <a:p>
            <a:endParaRPr lang="zh-CN" altLang="en-US" dirty="0"/>
          </a:p>
        </p:txBody>
      </p:sp>
    </p:spTree>
    <p:extLst>
      <p:ext uri="{BB962C8B-B14F-4D97-AF65-F5344CB8AC3E}">
        <p14:creationId xmlns:p14="http://schemas.microsoft.com/office/powerpoint/2010/main" val="15166790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A28525-7676-99A9-18B3-E31597AC760F}"/>
              </a:ext>
            </a:extLst>
          </p:cNvPr>
          <p:cNvSpPr>
            <a:spLocks noGrp="1"/>
          </p:cNvSpPr>
          <p:nvPr>
            <p:ph type="title"/>
          </p:nvPr>
        </p:nvSpPr>
        <p:spPr/>
        <p:txBody>
          <a:bodyPr/>
          <a:lstStyle/>
          <a:p>
            <a:r>
              <a:rPr lang="en-US" altLang="zh-CN" dirty="0"/>
              <a:t>Inferential statistics</a:t>
            </a:r>
            <a:endParaRPr lang="zh-CN" altLang="en-US" dirty="0"/>
          </a:p>
        </p:txBody>
      </p:sp>
      <p:sp>
        <p:nvSpPr>
          <p:cNvPr id="3" name="内容占位符 2">
            <a:extLst>
              <a:ext uri="{FF2B5EF4-FFF2-40B4-BE49-F238E27FC236}">
                <a16:creationId xmlns:a16="http://schemas.microsoft.com/office/drawing/2014/main" id="{C75C8F93-700B-4968-C352-278C1963BFEC}"/>
              </a:ext>
            </a:extLst>
          </p:cNvPr>
          <p:cNvSpPr>
            <a:spLocks noGrp="1"/>
          </p:cNvSpPr>
          <p:nvPr>
            <p:ph idx="1"/>
          </p:nvPr>
        </p:nvSpPr>
        <p:spPr/>
        <p:txBody>
          <a:bodyPr/>
          <a:lstStyle/>
          <a:p>
            <a:r>
              <a:rPr lang="en-US" altLang="zh-CN" dirty="0"/>
              <a:t>Simulation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sample = </a:t>
            </a:r>
            <a:r>
              <a:rPr lang="en-US" altLang="zh-CN" dirty="0" err="1">
                <a:solidFill>
                  <a:srgbClr val="0070C0"/>
                </a:solidFill>
                <a:latin typeface="Cascadia Mono" panose="020B0609020000020004" pitchFamily="49" charset="0"/>
                <a:cs typeface="Cascadia Mono" panose="020B0609020000020004" pitchFamily="49" charset="0"/>
              </a:rPr>
              <a:t>np.random.uniform</a:t>
            </a:r>
            <a:r>
              <a:rPr lang="en-US" altLang="zh-CN" dirty="0">
                <a:solidFill>
                  <a:srgbClr val="0070C0"/>
                </a:solidFill>
                <a:latin typeface="Cascadia Mono" panose="020B0609020000020004" pitchFamily="49" charset="0"/>
                <a:cs typeface="Cascadia Mono" panose="020B0609020000020004" pitchFamily="49" charset="0"/>
              </a:rPr>
              <a:t>(low = 0, high = 0.1, size = 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interval = </a:t>
            </a:r>
            <a:r>
              <a:rPr lang="en-US" altLang="zh-CN" dirty="0" err="1">
                <a:solidFill>
                  <a:srgbClr val="0070C0"/>
                </a:solidFill>
                <a:latin typeface="Cascadia Mono" panose="020B0609020000020004" pitchFamily="49" charset="0"/>
                <a:cs typeface="Cascadia Mono" panose="020B0609020000020004" pitchFamily="49" charset="0"/>
              </a:rPr>
              <a:t>stats.norm.interval</a:t>
            </a:r>
            <a:r>
              <a:rPr lang="en-US" altLang="zh-CN" dirty="0">
                <a:solidFill>
                  <a:srgbClr val="0070C0"/>
                </a:solidFill>
                <a:latin typeface="Cascadia Mono" panose="020B0609020000020004" pitchFamily="49" charset="0"/>
                <a:cs typeface="Cascadia Mono" panose="020B0609020000020004" pitchFamily="49" charset="0"/>
              </a:rPr>
              <a:t>(confidence = conf, loc = </a:t>
            </a:r>
            <a:r>
              <a:rPr lang="en-US" altLang="zh-CN" dirty="0" err="1">
                <a:solidFill>
                  <a:srgbClr val="0070C0"/>
                </a:solidFill>
                <a:latin typeface="Cascadia Mono" panose="020B0609020000020004" pitchFamily="49" charset="0"/>
                <a:cs typeface="Cascadia Mono" panose="020B0609020000020004" pitchFamily="49" charset="0"/>
              </a:rPr>
              <a:t>xbar</a:t>
            </a:r>
            <a:r>
              <a:rPr lang="en-US" altLang="zh-CN" dirty="0">
                <a:solidFill>
                  <a:srgbClr val="0070C0"/>
                </a:solidFill>
                <a:latin typeface="Cascadia Mono" panose="020B0609020000020004" pitchFamily="49" charset="0"/>
                <a:cs typeface="Cascadia Mono" panose="020B0609020000020004" pitchFamily="49" charset="0"/>
              </a:rPr>
              <a:t>, scale = SEM)</a:t>
            </a:r>
          </a:p>
          <a:p>
            <a:pPr lvl="1"/>
            <a:endParaRPr lang="en-US" altLang="zh-CN" dirty="0"/>
          </a:p>
          <a:p>
            <a:r>
              <a:rPr lang="en-US" altLang="zh-CN" dirty="0"/>
              <a:t>Simulation: normal</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samples = </a:t>
            </a:r>
            <a:r>
              <a:rPr lang="en-US" altLang="zh-CN" dirty="0" err="1">
                <a:solidFill>
                  <a:srgbClr val="0070C0"/>
                </a:solidFill>
                <a:latin typeface="Cascadia Mono" panose="020B0609020000020004" pitchFamily="49" charset="0"/>
                <a:cs typeface="Cascadia Mono" panose="020B0609020000020004" pitchFamily="49" charset="0"/>
              </a:rPr>
              <a:t>np.random.normal</a:t>
            </a:r>
            <a:r>
              <a:rPr lang="en-US" altLang="zh-CN" dirty="0">
                <a:solidFill>
                  <a:srgbClr val="0070C0"/>
                </a:solidFill>
                <a:latin typeface="Cascadia Mono" panose="020B0609020000020004" pitchFamily="49" charset="0"/>
                <a:cs typeface="Cascadia Mono" panose="020B0609020000020004" pitchFamily="49" charset="0"/>
              </a:rPr>
              <a:t>(loc = 3932, scale = 750, size = 1000)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samples = </a:t>
            </a:r>
            <a:r>
              <a:rPr lang="en-US" altLang="zh-CN" dirty="0" err="1">
                <a:solidFill>
                  <a:srgbClr val="0070C0"/>
                </a:solidFill>
                <a:latin typeface="Cascadia Mono" panose="020B0609020000020004" pitchFamily="49" charset="0"/>
                <a:cs typeface="Cascadia Mono" panose="020B0609020000020004" pitchFamily="49" charset="0"/>
              </a:rPr>
              <a:t>np.random.uniform</a:t>
            </a:r>
            <a:r>
              <a:rPr lang="en-US" altLang="zh-CN" dirty="0">
                <a:solidFill>
                  <a:srgbClr val="0070C0"/>
                </a:solidFill>
                <a:latin typeface="Cascadia Mono" panose="020B0609020000020004" pitchFamily="49" charset="0"/>
                <a:cs typeface="Cascadia Mono" panose="020B0609020000020004" pitchFamily="49" charset="0"/>
              </a:rPr>
              <a:t>(low = </a:t>
            </a:r>
            <a:r>
              <a:rPr lang="en-US" altLang="zh-CN" dirty="0" err="1">
                <a:solidFill>
                  <a:srgbClr val="0070C0"/>
                </a:solidFill>
                <a:latin typeface="Cascadia Mono" panose="020B0609020000020004" pitchFamily="49" charset="0"/>
                <a:cs typeface="Cascadia Mono" panose="020B0609020000020004" pitchFamily="49" charset="0"/>
              </a:rPr>
              <a:t>some_value</a:t>
            </a:r>
            <a:r>
              <a:rPr lang="en-US" altLang="zh-CN" dirty="0">
                <a:solidFill>
                  <a:srgbClr val="0070C0"/>
                </a:solidFill>
                <a:latin typeface="Cascadia Mono" panose="020B0609020000020004" pitchFamily="49" charset="0"/>
                <a:cs typeface="Cascadia Mono" panose="020B0609020000020004" pitchFamily="49" charset="0"/>
              </a:rPr>
              <a:t>, high = </a:t>
            </a:r>
            <a:r>
              <a:rPr lang="en-US" altLang="zh-CN" dirty="0" err="1">
                <a:solidFill>
                  <a:srgbClr val="0070C0"/>
                </a:solidFill>
                <a:latin typeface="Cascadia Mono" panose="020B0609020000020004" pitchFamily="49" charset="0"/>
                <a:cs typeface="Cascadia Mono" panose="020B0609020000020004" pitchFamily="49" charset="0"/>
              </a:rPr>
              <a:t>some_other_value</a:t>
            </a:r>
            <a:r>
              <a:rPr lang="en-US" altLang="zh-CN" dirty="0">
                <a:solidFill>
                  <a:srgbClr val="0070C0"/>
                </a:solidFill>
                <a:latin typeface="Cascadia Mono" panose="020B0609020000020004" pitchFamily="49" charset="0"/>
                <a:cs typeface="Cascadia Mono" panose="020B0609020000020004" pitchFamily="49" charset="0"/>
              </a:rPr>
              <a:t>, size = n)</a:t>
            </a:r>
          </a:p>
          <a:p>
            <a:endParaRPr lang="en-US" altLang="zh-CN" dirty="0"/>
          </a:p>
        </p:txBody>
      </p:sp>
    </p:spTree>
    <p:extLst>
      <p:ext uri="{BB962C8B-B14F-4D97-AF65-F5344CB8AC3E}">
        <p14:creationId xmlns:p14="http://schemas.microsoft.com/office/powerpoint/2010/main" val="30586817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87042-A7EA-6086-2CDA-FB19239A1A27}"/>
              </a:ext>
            </a:extLst>
          </p:cNvPr>
          <p:cNvSpPr>
            <a:spLocks noGrp="1"/>
          </p:cNvSpPr>
          <p:nvPr>
            <p:ph type="title"/>
          </p:nvPr>
        </p:nvSpPr>
        <p:spPr/>
        <p:txBody>
          <a:bodyPr/>
          <a:lstStyle/>
          <a:p>
            <a:r>
              <a:rPr lang="en-US" altLang="zh-CN" dirty="0"/>
              <a:t>Inferential statistics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AA94013-E809-7D47-C422-FEEBE7D72D9D}"/>
                  </a:ext>
                </a:extLst>
              </p:cNvPr>
              <p:cNvSpPr>
                <a:spLocks noGrp="1"/>
              </p:cNvSpPr>
              <p:nvPr>
                <p:ph idx="1"/>
              </p:nvPr>
            </p:nvSpPr>
            <p:spPr/>
            <p:txBody>
              <a:bodyPr/>
              <a:lstStyle/>
              <a:p>
                <a:r>
                  <a:rPr lang="en-US" altLang="zh-CN" dirty="0"/>
                  <a:t>Training the model</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Y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["price"]</a:t>
                </a:r>
              </a:p>
              <a:p>
                <a:pPr marL="682625" lvl="2" indent="0">
                  <a:buNone/>
                </a:pPr>
                <a:r>
                  <a:rPr lang="fr-FR" altLang="zh-CN" dirty="0">
                    <a:solidFill>
                      <a:srgbClr val="0070C0"/>
                    </a:solidFill>
                    <a:latin typeface="Cascadia Mono" panose="020B0609020000020004" pitchFamily="49" charset="0"/>
                    <a:cs typeface="Cascadia Mono" panose="020B0609020000020004" pitchFamily="49" charset="0"/>
                  </a:rPr>
                  <a:t>X = </a:t>
                </a:r>
                <a:r>
                  <a:rPr lang="fr-FR" altLang="zh-CN" dirty="0" err="1">
                    <a:solidFill>
                      <a:srgbClr val="0070C0"/>
                    </a:solidFill>
                    <a:latin typeface="Cascadia Mono" panose="020B0609020000020004" pitchFamily="49" charset="0"/>
                    <a:cs typeface="Cascadia Mono" panose="020B0609020000020004" pitchFamily="49" charset="0"/>
                  </a:rPr>
                  <a:t>sm.add_constant</a:t>
                </a:r>
                <a:r>
                  <a:rPr lang="fr-FR" altLang="zh-CN" dirty="0">
                    <a:solidFill>
                      <a:srgbClr val="0070C0"/>
                    </a:solidFill>
                    <a:latin typeface="Cascadia Mono" panose="020B0609020000020004" pitchFamily="49" charset="0"/>
                    <a:cs typeface="Cascadia Mono" panose="020B0609020000020004" pitchFamily="49" charset="0"/>
                  </a:rPr>
                  <a:t>(</a:t>
                </a:r>
                <a:r>
                  <a:rPr lang="fr-FR" altLang="zh-CN" dirty="0" err="1">
                    <a:solidFill>
                      <a:srgbClr val="0070C0"/>
                    </a:solidFill>
                    <a:latin typeface="Cascadia Mono" panose="020B0609020000020004" pitchFamily="49" charset="0"/>
                    <a:cs typeface="Cascadia Mono" panose="020B0609020000020004" pitchFamily="49" charset="0"/>
                  </a:rPr>
                  <a:t>df</a:t>
                </a:r>
                <a:r>
                  <a:rPr lang="fr-FR" altLang="zh-CN" dirty="0">
                    <a:solidFill>
                      <a:srgbClr val="0070C0"/>
                    </a:solidFill>
                    <a:latin typeface="Cascadia Mono" panose="020B0609020000020004" pitchFamily="49" charset="0"/>
                    <a:cs typeface="Cascadia Mono" panose="020B0609020000020004" pitchFamily="49" charset="0"/>
                  </a:rPr>
                  <a:t>["carat"])</a:t>
                </a:r>
              </a:p>
              <a:p>
                <a:pPr marL="682625" lvl="2" indent="0">
                  <a:buNone/>
                </a:pPr>
                <a:r>
                  <a:rPr lang="es-ES" altLang="zh-CN" dirty="0" err="1">
                    <a:solidFill>
                      <a:srgbClr val="0070C0"/>
                    </a:solidFill>
                    <a:latin typeface="Cascadia Mono" panose="020B0609020000020004" pitchFamily="49" charset="0"/>
                    <a:cs typeface="Cascadia Mono" panose="020B0609020000020004" pitchFamily="49" charset="0"/>
                  </a:rPr>
                  <a:t>model</a:t>
                </a:r>
                <a:r>
                  <a:rPr lang="es-ES" altLang="zh-CN" dirty="0">
                    <a:solidFill>
                      <a:srgbClr val="0070C0"/>
                    </a:solidFill>
                    <a:latin typeface="Cascadia Mono" panose="020B0609020000020004" pitchFamily="49" charset="0"/>
                    <a:cs typeface="Cascadia Mono" panose="020B0609020000020004" pitchFamily="49" charset="0"/>
                  </a:rPr>
                  <a:t> = </a:t>
                </a:r>
                <a:r>
                  <a:rPr lang="es-ES" altLang="zh-CN" dirty="0" err="1">
                    <a:solidFill>
                      <a:srgbClr val="0070C0"/>
                    </a:solidFill>
                    <a:latin typeface="Cascadia Mono" panose="020B0609020000020004" pitchFamily="49" charset="0"/>
                    <a:cs typeface="Cascadia Mono" panose="020B0609020000020004" pitchFamily="49" charset="0"/>
                  </a:rPr>
                  <a:t>sm.OLS</a:t>
                </a:r>
                <a:r>
                  <a:rPr lang="es-ES" altLang="zh-CN" dirty="0">
                    <a:solidFill>
                      <a:srgbClr val="0070C0"/>
                    </a:solidFill>
                    <a:latin typeface="Cascadia Mono" panose="020B0609020000020004" pitchFamily="49" charset="0"/>
                    <a:cs typeface="Cascadia Mono" panose="020B0609020000020004" pitchFamily="49" charset="0"/>
                  </a:rPr>
                  <a:t>(Y, X)</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results = </a:t>
                </a:r>
                <a:r>
                  <a:rPr lang="en-US" altLang="zh-CN" dirty="0" err="1">
                    <a:solidFill>
                      <a:srgbClr val="0070C0"/>
                    </a:solidFill>
                    <a:latin typeface="Cascadia Mono" panose="020B0609020000020004" pitchFamily="49" charset="0"/>
                    <a:cs typeface="Cascadia Mono" panose="020B0609020000020004" pitchFamily="49" charset="0"/>
                  </a:rPr>
                  <a:t>model.fit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results.summary</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R-squared	</a:t>
                </a:r>
                <a14:m>
                  <m:oMath xmlns:m="http://schemas.openxmlformats.org/officeDocument/2006/math">
                    <m:sSup>
                      <m:sSupPr>
                        <m:ctrlPr>
                          <a:rPr lang="zh-CN" altLang="en-US"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=1−</m:t>
                    </m:r>
                    <m:f>
                      <m:fPr>
                        <m:ctrlPr>
                          <a:rPr lang="zh-CN" altLang="en-US" b="0" i="1" smtClean="0">
                            <a:latin typeface="Cambria Math" panose="02040503050406030204" pitchFamily="18" charset="0"/>
                          </a:rPr>
                        </m:ctrlPr>
                      </m:fPr>
                      <m:num>
                        <m:sSub>
                          <m:sSubPr>
                            <m:ctrlPr>
                              <a:rPr lang="zh-CN" altLang="en-US" b="0" i="1" smtClean="0">
                                <a:latin typeface="Cambria Math" panose="02040503050406030204" pitchFamily="18" charset="0"/>
                              </a:rPr>
                            </m:ctrlPr>
                          </m:sSubPr>
                          <m:e>
                            <m:r>
                              <a:rPr lang="en-US" altLang="zh-CN" b="0" i="1" smtClean="0">
                                <a:latin typeface="Cambria Math" panose="02040503050406030204" pitchFamily="18" charset="0"/>
                              </a:rPr>
                              <m:t>𝑆𝑆</m:t>
                            </m:r>
                          </m:e>
                          <m:sub>
                            <m:r>
                              <a:rPr lang="en-US" altLang="zh-CN" b="0" i="1" smtClean="0">
                                <a:latin typeface="Cambria Math" panose="02040503050406030204" pitchFamily="18" charset="0"/>
                              </a:rPr>
                              <m:t>𝑟𝑒𝑠𝑖𝑑𝑢𝑎𝑙</m:t>
                            </m:r>
                          </m:sub>
                        </m:sSub>
                      </m:num>
                      <m:den>
                        <m:sSub>
                          <m:sSubPr>
                            <m:ctrlPr>
                              <a:rPr lang="zh-CN" altLang="en-US" b="0" i="1" smtClean="0">
                                <a:latin typeface="Cambria Math" panose="02040503050406030204" pitchFamily="18" charset="0"/>
                              </a:rPr>
                            </m:ctrlPr>
                          </m:sSubPr>
                          <m:e>
                            <m:r>
                              <a:rPr lang="en-US" altLang="zh-CN" b="0" i="1" smtClean="0">
                                <a:latin typeface="Cambria Math" panose="02040503050406030204" pitchFamily="18" charset="0"/>
                              </a:rPr>
                              <m:t>𝑆𝑆</m:t>
                            </m:r>
                          </m:e>
                          <m:sub>
                            <m:r>
                              <a:rPr lang="en-US" altLang="zh-CN" b="0" i="1" smtClean="0">
                                <a:latin typeface="Cambria Math" panose="02040503050406030204" pitchFamily="18" charset="0"/>
                              </a:rPr>
                              <m:t>𝑡𝑜𝑡𝑎𝑙</m:t>
                            </m:r>
                          </m:sub>
                        </m:sSub>
                      </m:den>
                    </m:f>
                  </m:oMath>
                </a14:m>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𝑆𝑆</m:t>
                        </m:r>
                      </m:e>
                      <m:sub>
                        <m:r>
                          <a:rPr lang="en-US" altLang="zh-CN" i="1">
                            <a:latin typeface="Cambria Math" panose="02040503050406030204" pitchFamily="18" charset="0"/>
                          </a:rPr>
                          <m:t>𝑟𝑒𝑠𝑖𝑑𝑢𝑎𝑙</m:t>
                        </m:r>
                      </m:sub>
                    </m:sSub>
                    <m:r>
                      <a:rPr lang="en-US" altLang="zh-CN" b="0" i="1" smtClean="0">
                        <a:latin typeface="Cambria Math" panose="02040503050406030204" pitchFamily="18" charset="0"/>
                      </a:rPr>
                      <m:t>=</m:t>
                    </m:r>
                    <m:nary>
                      <m:naryPr>
                        <m:chr m:val="∑"/>
                        <m:supHide m:val="on"/>
                        <m:ctrlPr>
                          <a:rPr lang="zh-CN" altLang="en-US" b="0"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sub>
                      <m:sup/>
                      <m:e>
                        <m:sSup>
                          <m:sSupPr>
                            <m:ctrlPr>
                              <a:rPr lang="zh-CN" altLang="en-US" b="0" i="1" smtClean="0">
                                <a:latin typeface="Cambria Math" panose="02040503050406030204" pitchFamily="18" charset="0"/>
                              </a:rPr>
                            </m:ctrlPr>
                          </m:sSupPr>
                          <m:e>
                            <m:d>
                              <m:dPr>
                                <m:ctrlPr>
                                  <a:rPr lang="zh-CN" altLang="en-US" b="0" i="1" smtClean="0">
                                    <a:latin typeface="Cambria Math" panose="02040503050406030204" pitchFamily="18" charset="0"/>
                                  </a:rPr>
                                </m:ctrlPr>
                              </m:dPr>
                              <m:e>
                                <m:sSub>
                                  <m:sSubPr>
                                    <m:ctrlPr>
                                      <a:rPr lang="zh-CN" altLang="en-US"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i="1">
                                        <a:latin typeface="Cambria Math" panose="02040503050406030204" pitchFamily="18" charset="0"/>
                                      </a:rPr>
                                      <m:t>𝑖</m:t>
                                    </m:r>
                                  </m:sub>
                                </m:sSub>
                              </m:e>
                            </m:d>
                          </m:e>
                          <m:sup>
                            <m:r>
                              <a:rPr lang="en-US" altLang="zh-CN" b="0" i="1" smtClean="0">
                                <a:latin typeface="Cambria Math" panose="02040503050406030204" pitchFamily="18" charset="0"/>
                              </a:rPr>
                              <m:t>2</m:t>
                            </m:r>
                          </m:sup>
                        </m:sSup>
                      </m:e>
                    </m:nary>
                  </m:oMath>
                </a14:m>
                <a:r>
                  <a:rPr lang="en-US" altLang="zh-CN" dirty="0"/>
                  <a:t>	</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𝑆𝑆</m:t>
                        </m:r>
                      </m:e>
                      <m:sub>
                        <m:r>
                          <a:rPr lang="en-US" altLang="zh-CN" b="0" i="1" smtClean="0">
                            <a:latin typeface="Cambria Math" panose="02040503050406030204" pitchFamily="18" charset="0"/>
                          </a:rPr>
                          <m:t>𝑡𝑜𝑡𝑎𝑙</m:t>
                        </m:r>
                      </m:sub>
                    </m:sSub>
                    <m:r>
                      <a:rPr lang="en-US" altLang="zh-CN" i="1">
                        <a:latin typeface="Cambria Math" panose="02040503050406030204" pitchFamily="18" charset="0"/>
                      </a:rPr>
                      <m:t>=</m:t>
                    </m:r>
                    <m:nary>
                      <m:naryPr>
                        <m:chr m:val="∑"/>
                        <m:supHide m:val="on"/>
                        <m:ctrlPr>
                          <a:rPr lang="zh-CN" altLang="en-US" i="1">
                            <a:latin typeface="Cambria Math" panose="02040503050406030204" pitchFamily="18" charset="0"/>
                          </a:rPr>
                        </m:ctrlPr>
                      </m:naryPr>
                      <m:sub>
                        <m:r>
                          <m:rPr>
                            <m:brk m:alnAt="7"/>
                          </m:rPr>
                          <a:rPr lang="en-US" altLang="zh-CN" i="1">
                            <a:latin typeface="Cambria Math" panose="02040503050406030204" pitchFamily="18" charset="0"/>
                          </a:rPr>
                          <m:t>𝑖</m:t>
                        </m:r>
                      </m:sub>
                      <m:sup/>
                      <m:e>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𝑦</m:t>
                                    </m:r>
                                  </m:e>
                                </m:acc>
                              </m:e>
                            </m:d>
                          </m:e>
                          <m:sup>
                            <m:r>
                              <a:rPr lang="en-US" altLang="zh-CN" i="1">
                                <a:latin typeface="Cambria Math" panose="02040503050406030204" pitchFamily="18" charset="0"/>
                              </a:rPr>
                              <m:t>2</m:t>
                            </m:r>
                          </m:sup>
                        </m:sSup>
                      </m:e>
                    </m:nary>
                  </m:oMath>
                </a14:m>
                <a:endParaRPr lang="en-US" altLang="zh-CN" dirty="0"/>
              </a:p>
              <a:p>
                <a:pPr lvl="1"/>
                <a:endParaRPr lang="en-US" altLang="zh-CN" dirty="0"/>
              </a:p>
              <a:p>
                <a:r>
                  <a:rPr lang="en-US" altLang="zh-CN" dirty="0"/>
                  <a:t>Prediction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["carat"]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b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["const"]</a:t>
                </a:r>
                <a:endParaRPr lang="fr-FR"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s-ES" altLang="zh-CN" dirty="0" err="1">
                    <a:solidFill>
                      <a:srgbClr val="0070C0"/>
                    </a:solidFill>
                    <a:latin typeface="Cascadia Mono" panose="020B0609020000020004" pitchFamily="49" charset="0"/>
                    <a:cs typeface="Cascadia Mono" panose="020B0609020000020004" pitchFamily="49" charset="0"/>
                  </a:rPr>
                  <a:t>carat</a:t>
                </a:r>
                <a:r>
                  <a:rPr lang="es-ES" altLang="zh-CN" dirty="0">
                    <a:solidFill>
                      <a:srgbClr val="0070C0"/>
                    </a:solidFill>
                    <a:latin typeface="Cascadia Mono" panose="020B0609020000020004" pitchFamily="49" charset="0"/>
                    <a:cs typeface="Cascadia Mono" panose="020B0609020000020004" pitchFamily="49" charset="0"/>
                  </a:rPr>
                  <a:t> = 1.5</a:t>
                </a:r>
              </a:p>
              <a:p>
                <a:pPr marL="682625" lvl="2" indent="0">
                  <a:buNone/>
                </a:pPr>
                <a:r>
                  <a:rPr lang="es-ES" altLang="zh-CN" dirty="0" err="1">
                    <a:solidFill>
                      <a:srgbClr val="0070C0"/>
                    </a:solidFill>
                    <a:latin typeface="Cascadia Mono" panose="020B0609020000020004" pitchFamily="49" charset="0"/>
                    <a:cs typeface="Cascadia Mono" panose="020B0609020000020004" pitchFamily="49" charset="0"/>
                  </a:rPr>
                  <a:t>price</a:t>
                </a:r>
                <a:r>
                  <a:rPr lang="es-ES" altLang="zh-CN" dirty="0">
                    <a:solidFill>
                      <a:srgbClr val="0070C0"/>
                    </a:solidFill>
                    <a:latin typeface="Cascadia Mono" panose="020B0609020000020004" pitchFamily="49" charset="0"/>
                    <a:cs typeface="Cascadia Mono" panose="020B0609020000020004" pitchFamily="49" charset="0"/>
                  </a:rPr>
                  <a:t> = m * </a:t>
                </a:r>
                <a:r>
                  <a:rPr lang="es-ES" altLang="zh-CN" dirty="0" err="1">
                    <a:solidFill>
                      <a:srgbClr val="0070C0"/>
                    </a:solidFill>
                    <a:latin typeface="Cascadia Mono" panose="020B0609020000020004" pitchFamily="49" charset="0"/>
                    <a:cs typeface="Cascadia Mono" panose="020B0609020000020004" pitchFamily="49" charset="0"/>
                  </a:rPr>
                  <a:t>carat</a:t>
                </a:r>
                <a:r>
                  <a:rPr lang="es-ES" altLang="zh-CN" dirty="0">
                    <a:solidFill>
                      <a:srgbClr val="0070C0"/>
                    </a:solidFill>
                    <a:latin typeface="Cascadia Mono" panose="020B0609020000020004" pitchFamily="49" charset="0"/>
                    <a:cs typeface="Cascadia Mono" panose="020B0609020000020004" pitchFamily="49" charset="0"/>
                  </a:rPr>
                  <a:t> + b</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carats = </a:t>
                </a:r>
                <a:r>
                  <a:rPr lang="en-US" altLang="zh-CN" dirty="0" err="1">
                    <a:solidFill>
                      <a:srgbClr val="0070C0"/>
                    </a:solidFill>
                    <a:latin typeface="Cascadia Mono" panose="020B0609020000020004" pitchFamily="49" charset="0"/>
                    <a:cs typeface="Cascadia Mono" panose="020B0609020000020004" pitchFamily="49" charset="0"/>
                  </a:rPr>
                  <a:t>np.random.uniform</a:t>
                </a:r>
                <a:r>
                  <a:rPr lang="en-US" altLang="zh-CN" dirty="0">
                    <a:solidFill>
                      <a:srgbClr val="0070C0"/>
                    </a:solidFill>
                    <a:latin typeface="Cascadia Mono" panose="020B0609020000020004" pitchFamily="49" charset="0"/>
                    <a:cs typeface="Cascadia Mono" panose="020B0609020000020004" pitchFamily="49" charset="0"/>
                  </a:rPr>
                  <a:t>(low=0, high=5, size=20)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prices = m * carats + b</a:t>
                </a:r>
                <a:endParaRPr lang="zh-CN" altLang="en-US" dirty="0"/>
              </a:p>
            </p:txBody>
          </p:sp>
        </mc:Choice>
        <mc:Fallback xmlns="">
          <p:sp>
            <p:nvSpPr>
              <p:cNvPr id="3" name="内容占位符 2">
                <a:extLst>
                  <a:ext uri="{FF2B5EF4-FFF2-40B4-BE49-F238E27FC236}">
                    <a16:creationId xmlns:a16="http://schemas.microsoft.com/office/drawing/2014/main" id="{AAA94013-E809-7D47-C422-FEEBE7D72D9D}"/>
                  </a:ext>
                </a:extLst>
              </p:cNvPr>
              <p:cNvSpPr>
                <a:spLocks noGrp="1" noRot="1" noChangeAspect="1" noMove="1" noResize="1" noEditPoints="1" noAdjustHandles="1" noChangeArrowheads="1" noChangeShapeType="1" noTextEdit="1"/>
              </p:cNvSpPr>
              <p:nvPr>
                <p:ph idx="1"/>
              </p:nvPr>
            </p:nvSpPr>
            <p:spPr>
              <a:blipFill>
                <a:blip r:embed="rId2"/>
                <a:stretch>
                  <a:fillRect l="-211" t="-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8474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43A018-F208-7115-3A95-4E90A9FD49A6}"/>
              </a:ext>
            </a:extLst>
          </p:cNvPr>
          <p:cNvSpPr>
            <a:spLocks noGrp="1"/>
          </p:cNvSpPr>
          <p:nvPr>
            <p:ph type="title"/>
          </p:nvPr>
        </p:nvSpPr>
        <p:spPr/>
        <p:txBody>
          <a:bodyPr/>
          <a:lstStyle/>
          <a:p>
            <a:r>
              <a:rPr lang="en-US" altLang="zh-CN" dirty="0"/>
              <a:t>Inferential statistics</a:t>
            </a:r>
            <a:endParaRPr lang="zh-CN" altLang="en-US" dirty="0"/>
          </a:p>
        </p:txBody>
      </p:sp>
      <p:sp>
        <p:nvSpPr>
          <p:cNvPr id="3" name="内容占位符 2">
            <a:extLst>
              <a:ext uri="{FF2B5EF4-FFF2-40B4-BE49-F238E27FC236}">
                <a16:creationId xmlns:a16="http://schemas.microsoft.com/office/drawing/2014/main" id="{84EF041B-D935-B31F-DF83-42BCD92008F2}"/>
              </a:ext>
            </a:extLst>
          </p:cNvPr>
          <p:cNvSpPr>
            <a:spLocks noGrp="1"/>
          </p:cNvSpPr>
          <p:nvPr>
            <p:ph idx="1"/>
          </p:nvPr>
        </p:nvSpPr>
        <p:spPr/>
        <p:txBody>
          <a:bodyPr/>
          <a:lstStyle/>
          <a:p>
            <a:r>
              <a:rPr lang="en-US" altLang="zh-CN" dirty="0"/>
              <a:t>Multiple linear regression model</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predictors = ["</a:t>
            </a:r>
            <a:r>
              <a:rPr lang="en-US" altLang="zh-CN" dirty="0" err="1">
                <a:solidFill>
                  <a:srgbClr val="0070C0"/>
                </a:solidFill>
                <a:latin typeface="Cascadia Mono" panose="020B0609020000020004" pitchFamily="49" charset="0"/>
                <a:cs typeface="Cascadia Mono" panose="020B0609020000020004" pitchFamily="49" charset="0"/>
              </a:rPr>
              <a:t>carat","x","y","z</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Y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["price"]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X = </a:t>
            </a:r>
            <a:r>
              <a:rPr lang="en-US" altLang="zh-CN" dirty="0" err="1">
                <a:solidFill>
                  <a:srgbClr val="0070C0"/>
                </a:solidFill>
                <a:latin typeface="Cascadia Mono" panose="020B0609020000020004" pitchFamily="49" charset="0"/>
                <a:cs typeface="Cascadia Mono" panose="020B0609020000020004" pitchFamily="49" charset="0"/>
              </a:rPr>
              <a:t>sm.add_constant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[predictors])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model = </a:t>
            </a:r>
            <a:r>
              <a:rPr lang="en-US" altLang="zh-CN" dirty="0" err="1">
                <a:solidFill>
                  <a:srgbClr val="0070C0"/>
                </a:solidFill>
                <a:latin typeface="Cascadia Mono" panose="020B0609020000020004" pitchFamily="49" charset="0"/>
                <a:cs typeface="Cascadia Mono" panose="020B0609020000020004" pitchFamily="49" charset="0"/>
              </a:rPr>
              <a:t>sm.OLS</a:t>
            </a:r>
            <a:r>
              <a:rPr lang="en-US" altLang="zh-CN" dirty="0">
                <a:solidFill>
                  <a:srgbClr val="0070C0"/>
                </a:solidFill>
                <a:latin typeface="Cascadia Mono" panose="020B0609020000020004" pitchFamily="49" charset="0"/>
                <a:cs typeface="Cascadia Mono" panose="020B0609020000020004" pitchFamily="49" charset="0"/>
              </a:rPr>
              <a:t>(Y, X)</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results = </a:t>
            </a:r>
            <a:r>
              <a:rPr lang="en-US" altLang="zh-CN" dirty="0" err="1">
                <a:solidFill>
                  <a:srgbClr val="0070C0"/>
                </a:solidFill>
                <a:latin typeface="Cascadia Mono" panose="020B0609020000020004" pitchFamily="49" charset="0"/>
                <a:cs typeface="Cascadia Mono" panose="020B0609020000020004" pitchFamily="49" charset="0"/>
              </a:rPr>
              <a:t>model.fit</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m1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["carat"]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m2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["x"]</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m3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m4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["z"]</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b = </a:t>
            </a:r>
            <a:r>
              <a:rPr lang="en-US" altLang="zh-CN" dirty="0" err="1">
                <a:solidFill>
                  <a:srgbClr val="0070C0"/>
                </a:solidFill>
                <a:latin typeface="Cascadia Mono" panose="020B0609020000020004" pitchFamily="49" charset="0"/>
                <a:cs typeface="Cascadia Mono" panose="020B0609020000020004" pitchFamily="49" charset="0"/>
              </a:rPr>
              <a:t>results.params</a:t>
            </a:r>
            <a:r>
              <a:rPr lang="en-US" altLang="zh-CN" dirty="0">
                <a:solidFill>
                  <a:srgbClr val="0070C0"/>
                </a:solidFill>
                <a:latin typeface="Cascadia Mono" panose="020B0609020000020004" pitchFamily="49" charset="0"/>
                <a:cs typeface="Cascadia Mono" panose="020B0609020000020004" pitchFamily="49" charset="0"/>
              </a:rPr>
              <a:t>["const"]</a:t>
            </a:r>
          </a:p>
          <a:p>
            <a:pPr lvl="1"/>
            <a:endParaRPr lang="en-US" altLang="zh-CN" dirty="0"/>
          </a:p>
          <a:p>
            <a:r>
              <a:rPr lang="en-US" altLang="zh-CN" dirty="0"/>
              <a:t>Encoding categorical data</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pd.get_dummies</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[predictors], columns=["color"], </a:t>
            </a:r>
            <a:r>
              <a:rPr lang="en-US" altLang="zh-CN" dirty="0" err="1">
                <a:solidFill>
                  <a:srgbClr val="0070C0"/>
                </a:solidFill>
                <a:latin typeface="Cascadia Mono" panose="020B0609020000020004" pitchFamily="49" charset="0"/>
                <a:cs typeface="Cascadia Mono" panose="020B0609020000020004" pitchFamily="49" charset="0"/>
              </a:rPr>
              <a:t>drop_first</a:t>
            </a:r>
            <a:r>
              <a:rPr lang="en-US" altLang="zh-CN" dirty="0">
                <a:solidFill>
                  <a:srgbClr val="0070C0"/>
                </a:solidFill>
                <a:latin typeface="Cascadia Mono" panose="020B0609020000020004" pitchFamily="49" charset="0"/>
                <a:cs typeface="Cascadia Mono" panose="020B0609020000020004" pitchFamily="49" charset="0"/>
              </a:rPr>
              <a:t>=True, </a:t>
            </a:r>
            <a:r>
              <a:rPr lang="en-US" altLang="zh-CN" dirty="0" err="1">
                <a:solidFill>
                  <a:srgbClr val="0070C0"/>
                </a:solidFill>
                <a:latin typeface="Cascadia Mono" panose="020B0609020000020004" pitchFamily="49" charset="0"/>
                <a:cs typeface="Cascadia Mono" panose="020B0609020000020004" pitchFamily="49" charset="0"/>
              </a:rPr>
              <a:t>dtype</a:t>
            </a:r>
            <a:r>
              <a:rPr lang="en-US" altLang="zh-CN" dirty="0">
                <a:solidFill>
                  <a:srgbClr val="0070C0"/>
                </a:solidFill>
                <a:latin typeface="Cascadia Mono" panose="020B0609020000020004" pitchFamily="49" charset="0"/>
                <a:cs typeface="Cascadia Mono" panose="020B0609020000020004" pitchFamily="49" charset="0"/>
              </a:rPr>
              <a:t>=int)</a:t>
            </a:r>
            <a:endParaRPr lang="zh-CN" altLang="en-US" dirty="0"/>
          </a:p>
          <a:p>
            <a:pPr lvl="1"/>
            <a:endParaRPr lang="en-US" altLang="zh-CN" dirty="0"/>
          </a:p>
          <a:p>
            <a:r>
              <a:rPr lang="en-US" altLang="zh-CN" dirty="0"/>
              <a:t>Categorical data</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X_test</a:t>
            </a:r>
            <a:r>
              <a:rPr lang="en-US" altLang="zh-CN" dirty="0">
                <a:solidFill>
                  <a:srgbClr val="0070C0"/>
                </a:solidFill>
                <a:latin typeface="Cascadia Mono" panose="020B0609020000020004" pitchFamily="49" charset="0"/>
                <a:cs typeface="Cascadia Mono" panose="020B0609020000020004" pitchFamily="49" charset="0"/>
              </a:rPr>
              <a:t> = X[:1000] 	</a:t>
            </a:r>
            <a:r>
              <a:rPr lang="en-US" altLang="zh-CN" dirty="0">
                <a:solidFill>
                  <a:srgbClr val="00B050"/>
                </a:solidFill>
                <a:latin typeface="Cascadia Mono" panose="020B0609020000020004" pitchFamily="49" charset="0"/>
                <a:cs typeface="Cascadia Mono" panose="020B0609020000020004" pitchFamily="49" charset="0"/>
              </a:rPr>
              <a:t># for testing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Y_test</a:t>
            </a:r>
            <a:r>
              <a:rPr lang="en-US" altLang="zh-CN" dirty="0">
                <a:solidFill>
                  <a:srgbClr val="0070C0"/>
                </a:solidFill>
                <a:latin typeface="Cascadia Mono" panose="020B0609020000020004" pitchFamily="49" charset="0"/>
                <a:cs typeface="Cascadia Mono" panose="020B0609020000020004" pitchFamily="49" charset="0"/>
              </a:rPr>
              <a:t> = Y[:1000] 	</a:t>
            </a:r>
            <a:r>
              <a:rPr lang="en-US" altLang="zh-CN" dirty="0">
                <a:solidFill>
                  <a:srgbClr val="00B050"/>
                </a:solidFill>
                <a:latin typeface="Cascadia Mono" panose="020B0609020000020004" pitchFamily="49" charset="0"/>
                <a:cs typeface="Cascadia Mono" panose="020B0609020000020004" pitchFamily="49" charset="0"/>
              </a:rPr>
              <a:t># for testing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X_train</a:t>
            </a:r>
            <a:r>
              <a:rPr lang="en-US" altLang="zh-CN" dirty="0">
                <a:solidFill>
                  <a:srgbClr val="0070C0"/>
                </a:solidFill>
                <a:latin typeface="Cascadia Mono" panose="020B0609020000020004" pitchFamily="49" charset="0"/>
                <a:cs typeface="Cascadia Mono" panose="020B0609020000020004" pitchFamily="49" charset="0"/>
              </a:rPr>
              <a:t> = X[1000:] 	</a:t>
            </a:r>
            <a:r>
              <a:rPr lang="en-US" altLang="zh-CN" dirty="0">
                <a:solidFill>
                  <a:srgbClr val="00B050"/>
                </a:solidFill>
                <a:latin typeface="Cascadia Mono" panose="020B0609020000020004" pitchFamily="49" charset="0"/>
                <a:cs typeface="Cascadia Mono" panose="020B0609020000020004" pitchFamily="49" charset="0"/>
              </a:rPr>
              <a:t># for training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Y_train</a:t>
            </a:r>
            <a:r>
              <a:rPr lang="en-US" altLang="zh-CN" dirty="0">
                <a:solidFill>
                  <a:srgbClr val="0070C0"/>
                </a:solidFill>
                <a:latin typeface="Cascadia Mono" panose="020B0609020000020004" pitchFamily="49" charset="0"/>
                <a:cs typeface="Cascadia Mono" panose="020B0609020000020004" pitchFamily="49" charset="0"/>
              </a:rPr>
              <a:t> = Y[1000:] 	</a:t>
            </a:r>
            <a:r>
              <a:rPr lang="en-US" altLang="zh-CN" dirty="0">
                <a:solidFill>
                  <a:srgbClr val="00B050"/>
                </a:solidFill>
                <a:latin typeface="Cascadia Mono" panose="020B0609020000020004" pitchFamily="49" charset="0"/>
                <a:cs typeface="Cascadia Mono" panose="020B0609020000020004" pitchFamily="49" charset="0"/>
              </a:rPr>
              <a:t># for training</a:t>
            </a:r>
          </a:p>
        </p:txBody>
      </p:sp>
    </p:spTree>
    <p:extLst>
      <p:ext uri="{BB962C8B-B14F-4D97-AF65-F5344CB8AC3E}">
        <p14:creationId xmlns:p14="http://schemas.microsoft.com/office/powerpoint/2010/main" val="5954700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FA844-C36B-983C-5079-23938828886A}"/>
              </a:ext>
            </a:extLst>
          </p:cNvPr>
          <p:cNvSpPr>
            <a:spLocks noGrp="1"/>
          </p:cNvSpPr>
          <p:nvPr>
            <p:ph type="title"/>
          </p:nvPr>
        </p:nvSpPr>
        <p:spPr/>
        <p:txBody>
          <a:bodyPr/>
          <a:lstStyle/>
          <a:p>
            <a:r>
              <a:rPr lang="en-US" altLang="zh-CN" dirty="0"/>
              <a:t>Inferential statistics</a:t>
            </a:r>
            <a:endParaRPr lang="zh-CN" altLang="en-US" dirty="0"/>
          </a:p>
        </p:txBody>
      </p:sp>
      <p:sp>
        <p:nvSpPr>
          <p:cNvPr id="3" name="内容占位符 2">
            <a:extLst>
              <a:ext uri="{FF2B5EF4-FFF2-40B4-BE49-F238E27FC236}">
                <a16:creationId xmlns:a16="http://schemas.microsoft.com/office/drawing/2014/main" id="{8B502541-FE2C-6A16-9FE5-1BD0195455A6}"/>
              </a:ext>
            </a:extLst>
          </p:cNvPr>
          <p:cNvSpPr>
            <a:spLocks noGrp="1"/>
          </p:cNvSpPr>
          <p:nvPr>
            <p:ph idx="1"/>
          </p:nvPr>
        </p:nvSpPr>
        <p:spPr/>
        <p:txBody>
          <a:bodyPr/>
          <a:lstStyle/>
          <a:p>
            <a:r>
              <a:rPr lang="en-US" altLang="zh-CN" dirty="0"/>
              <a:t>Multiple linear regression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predicted = </a:t>
            </a:r>
            <a:r>
              <a:rPr lang="en-US" altLang="zh-CN" dirty="0" err="1">
                <a:solidFill>
                  <a:srgbClr val="0070C0"/>
                </a:solidFill>
                <a:latin typeface="Cascadia Mono" panose="020B0609020000020004" pitchFamily="49" charset="0"/>
                <a:cs typeface="Cascadia Mono" panose="020B0609020000020004" pitchFamily="49" charset="0"/>
              </a:rPr>
              <a:t>results.predict</a:t>
            </a:r>
            <a:r>
              <a:rPr lang="en-US" altLang="zh-CN" dirty="0">
                <a:solidFill>
                  <a:srgbClr val="0070C0"/>
                </a:solidFill>
                <a:latin typeface="Cascadia Mono" panose="020B0609020000020004" pitchFamily="49" charset="0"/>
                <a:cs typeface="Cascadia Mono" panose="020B0609020000020004" pitchFamily="49" charset="0"/>
              </a:rPr>
              <a:t>(diamond1)	# </a:t>
            </a:r>
            <a:r>
              <a:rPr lang="zh-CN" altLang="en-US" dirty="0">
                <a:solidFill>
                  <a:srgbClr val="0070C0"/>
                </a:solidFill>
                <a:latin typeface="Cascadia Mono" panose="020B0609020000020004" pitchFamily="49" charset="0"/>
                <a:cs typeface="Cascadia Mono" panose="020B0609020000020004" pitchFamily="49" charset="0"/>
              </a:rPr>
              <a:t>一个样本点</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predicted = </a:t>
            </a:r>
            <a:r>
              <a:rPr lang="en-US" altLang="zh-CN" dirty="0" err="1">
                <a:solidFill>
                  <a:srgbClr val="0070C0"/>
                </a:solidFill>
                <a:latin typeface="Cascadia Mono" panose="020B0609020000020004" pitchFamily="49" charset="0"/>
                <a:cs typeface="Cascadia Mono" panose="020B0609020000020004" pitchFamily="49" charset="0"/>
              </a:rPr>
              <a:t>results.predict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X_test</a:t>
            </a:r>
            <a:r>
              <a:rPr lang="en-US" altLang="zh-CN" dirty="0">
                <a:solidFill>
                  <a:srgbClr val="0070C0"/>
                </a:solidFill>
                <a:latin typeface="Cascadia Mono" panose="020B0609020000020004" pitchFamily="49" charset="0"/>
                <a:cs typeface="Cascadia Mono" panose="020B0609020000020004" pitchFamily="49" charset="0"/>
              </a:rPr>
              <a:t>)	# </a:t>
            </a:r>
            <a:r>
              <a:rPr lang="zh-CN" altLang="en-US" dirty="0">
                <a:solidFill>
                  <a:srgbClr val="0070C0"/>
                </a:solidFill>
                <a:latin typeface="Cascadia Mono" panose="020B0609020000020004" pitchFamily="49" charset="0"/>
                <a:cs typeface="Cascadia Mono" panose="020B0609020000020004" pitchFamily="49" charset="0"/>
              </a:rPr>
              <a:t>一组样本点</a:t>
            </a:r>
            <a:endParaRPr lang="en-US" altLang="zh-CN" dirty="0">
              <a:solidFill>
                <a:srgbClr val="0070C0"/>
              </a:solidFill>
              <a:latin typeface="Cascadia Mono" panose="020B0609020000020004" pitchFamily="49" charset="0"/>
              <a:cs typeface="Cascadia Mono" panose="020B0609020000020004" pitchFamily="49" charset="0"/>
            </a:endParaRPr>
          </a:p>
          <a:p>
            <a:endParaRPr lang="zh-CN" altLang="en-US" dirty="0"/>
          </a:p>
        </p:txBody>
      </p:sp>
    </p:spTree>
    <p:extLst>
      <p:ext uri="{BB962C8B-B14F-4D97-AF65-F5344CB8AC3E}">
        <p14:creationId xmlns:p14="http://schemas.microsoft.com/office/powerpoint/2010/main" val="10661439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D2B4-50C5-F888-195E-076E27286FC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06C7938-D286-E62F-93FA-806B41EFD001}"/>
              </a:ext>
            </a:extLst>
          </p:cNvPr>
          <p:cNvSpPr>
            <a:spLocks noGrp="1"/>
          </p:cNvSpPr>
          <p:nvPr>
            <p:ph type="title"/>
          </p:nvPr>
        </p:nvSpPr>
        <p:spPr/>
        <p:txBody>
          <a:bodyPr/>
          <a:lstStyle/>
          <a:p>
            <a:r>
              <a:rPr lang="en-US" altLang="zh-CN" dirty="0"/>
              <a:t>Module 5</a:t>
            </a:r>
            <a:endParaRPr lang="zh-CN" altLang="en-US" dirty="0"/>
          </a:p>
        </p:txBody>
      </p:sp>
      <p:sp>
        <p:nvSpPr>
          <p:cNvPr id="5" name="文本占位符 4">
            <a:extLst>
              <a:ext uri="{FF2B5EF4-FFF2-40B4-BE49-F238E27FC236}">
                <a16:creationId xmlns:a16="http://schemas.microsoft.com/office/drawing/2014/main" id="{C1868765-EA8B-4FE9-D37B-B9F0F53B8CA3}"/>
              </a:ext>
            </a:extLst>
          </p:cNvPr>
          <p:cNvSpPr>
            <a:spLocks noGrp="1"/>
          </p:cNvSpPr>
          <p:nvPr>
            <p:ph type="body" idx="1"/>
          </p:nvPr>
        </p:nvSpPr>
        <p:spPr/>
        <p:txBody>
          <a:bodyPr/>
          <a:lstStyle/>
          <a:p>
            <a:r>
              <a:rPr lang="en-US" altLang="zh-CN" dirty="0"/>
              <a:t>Time series</a:t>
            </a:r>
            <a:endParaRPr lang="zh-CN" altLang="en-US" dirty="0"/>
          </a:p>
        </p:txBody>
      </p:sp>
    </p:spTree>
    <p:extLst>
      <p:ext uri="{BB962C8B-B14F-4D97-AF65-F5344CB8AC3E}">
        <p14:creationId xmlns:p14="http://schemas.microsoft.com/office/powerpoint/2010/main" val="7760269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38DB9-317D-473F-EACB-D523970F2A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10FBF1-8C6E-EDB1-29D1-87602E9A4177}"/>
              </a:ext>
            </a:extLst>
          </p:cNvPr>
          <p:cNvSpPr>
            <a:spLocks noGrp="1"/>
          </p:cNvSpPr>
          <p:nvPr>
            <p:ph type="title"/>
          </p:nvPr>
        </p:nvSpPr>
        <p:spPr/>
        <p:txBody>
          <a:bodyPr/>
          <a:lstStyle/>
          <a:p>
            <a:r>
              <a:rPr lang="en-US" altLang="zh-CN" dirty="0"/>
              <a:t>Time series &amp; forecasting</a:t>
            </a:r>
            <a:endParaRPr lang="zh-CN" altLang="en-US" dirty="0"/>
          </a:p>
        </p:txBody>
      </p:sp>
      <p:sp>
        <p:nvSpPr>
          <p:cNvPr id="3" name="内容占位符 2">
            <a:extLst>
              <a:ext uri="{FF2B5EF4-FFF2-40B4-BE49-F238E27FC236}">
                <a16:creationId xmlns:a16="http://schemas.microsoft.com/office/drawing/2014/main" id="{2DDE0454-F707-B0EA-D7E8-26194D8CE43D}"/>
              </a:ext>
            </a:extLst>
          </p:cNvPr>
          <p:cNvSpPr>
            <a:spLocks noGrp="1"/>
          </p:cNvSpPr>
          <p:nvPr>
            <p:ph sz="half" idx="1"/>
          </p:nvPr>
        </p:nvSpPr>
        <p:spPr>
          <a:xfrm>
            <a:off x="243417" y="996779"/>
            <a:ext cx="10136716" cy="5357986"/>
          </a:xfrm>
        </p:spPr>
        <p:txBody>
          <a:bodyPr/>
          <a:lstStyle/>
          <a:p>
            <a:r>
              <a:rPr lang="en-US" altLang="zh-CN" dirty="0" err="1"/>
              <a:t>DateTime</a:t>
            </a:r>
            <a:endParaRPr lang="en-US" altLang="zh-CN" dirty="0"/>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date = </a:t>
            </a:r>
            <a:r>
              <a:rPr lang="en-US" altLang="zh-CN" dirty="0" err="1">
                <a:solidFill>
                  <a:srgbClr val="0070C0"/>
                </a:solidFill>
                <a:latin typeface="Cascadia Mono" panose="020B0609020000020004" pitchFamily="49" charset="0"/>
                <a:cs typeface="Cascadia Mono" panose="020B0609020000020004" pitchFamily="49" charset="0"/>
              </a:rPr>
              <a:t>pd.to_datetime</a:t>
            </a:r>
            <a:r>
              <a:rPr lang="en-US" altLang="zh-CN" dirty="0">
                <a:solidFill>
                  <a:srgbClr val="0070C0"/>
                </a:solidFill>
                <a:latin typeface="Cascadia Mono" panose="020B0609020000020004" pitchFamily="49" charset="0"/>
                <a:cs typeface="Cascadia Mono" panose="020B0609020000020004" pitchFamily="49" charset="0"/>
              </a:rPr>
              <a:t>("2035-02-17")</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date.weekday</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["date"].</a:t>
            </a:r>
            <a:r>
              <a:rPr lang="en-US" altLang="zh-CN" dirty="0" err="1">
                <a:solidFill>
                  <a:srgbClr val="0070C0"/>
                </a:solidFill>
                <a:latin typeface="Cascadia Mono" panose="020B0609020000020004" pitchFamily="49" charset="0"/>
                <a:cs typeface="Cascadia Mono" panose="020B0609020000020004" pitchFamily="49" charset="0"/>
              </a:rPr>
              <a:t>dt.day</a:t>
            </a:r>
            <a:endParaRPr lang="en-US" altLang="zh-CN"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err="1"/>
              <a:t>DataTimes</a:t>
            </a:r>
            <a:r>
              <a:rPr lang="en-US" altLang="zh-CN" dirty="0"/>
              <a:t> as indices</a:t>
            </a:r>
            <a:endParaRPr lang="zh-CN" altLang="en-US" dirty="0"/>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apple_stocks.set_index</a:t>
            </a:r>
            <a:r>
              <a:rPr lang="en-US" altLang="zh-CN" dirty="0">
                <a:solidFill>
                  <a:srgbClr val="0070C0"/>
                </a:solidFill>
                <a:latin typeface="Cascadia Mono" panose="020B0609020000020004" pitchFamily="49" charset="0"/>
                <a:cs typeface="Cascadia Mono" panose="020B0609020000020004" pitchFamily="49" charset="0"/>
              </a:rPr>
              <a:t>("datetime")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apple_stocks.set_index</a:t>
            </a:r>
            <a:r>
              <a:rPr lang="en-US" altLang="zh-CN" dirty="0">
                <a:solidFill>
                  <a:srgbClr val="0070C0"/>
                </a:solidFill>
                <a:latin typeface="Cascadia Mono" panose="020B0609020000020004" pitchFamily="49" charset="0"/>
                <a:cs typeface="Cascadia Mono" panose="020B0609020000020004" pitchFamily="49" charset="0"/>
              </a:rPr>
              <a:t>("datetime", </a:t>
            </a:r>
            <a:r>
              <a:rPr lang="en-US" altLang="zh-CN" dirty="0" err="1">
                <a:solidFill>
                  <a:srgbClr val="0070C0"/>
                </a:solidFill>
                <a:latin typeface="Cascadia Mono" panose="020B0609020000020004" pitchFamily="49" charset="0"/>
                <a:cs typeface="Cascadia Mono" panose="020B0609020000020004" pitchFamily="49" charset="0"/>
              </a:rPr>
              <a:t>inplace</a:t>
            </a:r>
            <a:r>
              <a:rPr lang="en-US" altLang="zh-CN" dirty="0">
                <a:solidFill>
                  <a:srgbClr val="0070C0"/>
                </a:solidFill>
                <a:latin typeface="Cascadia Mono" panose="020B0609020000020004" pitchFamily="49" charset="0"/>
                <a:cs typeface="Cascadia Mono" panose="020B0609020000020004" pitchFamily="49" charset="0"/>
              </a:rPr>
              <a:t> = True)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apple_stocks.loc</a:t>
            </a:r>
            <a:r>
              <a:rPr lang="en-US" altLang="zh-CN" dirty="0">
                <a:solidFill>
                  <a:srgbClr val="0070C0"/>
                </a:solidFill>
                <a:latin typeface="Cascadia Mono" panose="020B0609020000020004" pitchFamily="49" charset="0"/>
                <a:cs typeface="Cascadia Mono" panose="020B0609020000020004" pitchFamily="49" charset="0"/>
              </a:rPr>
              <a:t>["2024-03-01"]</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apple_stocks.loc</a:t>
            </a:r>
            <a:r>
              <a:rPr lang="en-US" altLang="zh-CN" dirty="0">
                <a:solidFill>
                  <a:srgbClr val="0070C0"/>
                </a:solidFill>
                <a:latin typeface="Cascadia Mono" panose="020B0609020000020004" pitchFamily="49" charset="0"/>
                <a:cs typeface="Cascadia Mono" panose="020B0609020000020004" pitchFamily="49" charset="0"/>
              </a:rPr>
              <a:t>["2024-03-01":"2024-03-31"]	# </a:t>
            </a:r>
            <a:r>
              <a:rPr lang="zh-CN" altLang="en-US" dirty="0">
                <a:solidFill>
                  <a:srgbClr val="0070C0"/>
                </a:solidFill>
                <a:latin typeface="Cascadia Mono" panose="020B0609020000020004" pitchFamily="49" charset="0"/>
                <a:cs typeface="Cascadia Mono" panose="020B0609020000020004" pitchFamily="49" charset="0"/>
              </a:rPr>
              <a:t>带头也带尾</a:t>
            </a:r>
            <a:endParaRPr lang="en-US" altLang="zh-CN" dirty="0">
              <a:solidFill>
                <a:srgbClr val="0070C0"/>
              </a:solidFill>
              <a:latin typeface="Cascadia Mono" panose="020B0609020000020004" pitchFamily="49" charset="0"/>
              <a:cs typeface="Cascadia Mono" panose="020B0609020000020004" pitchFamily="49" charset="0"/>
            </a:endParaRPr>
          </a:p>
          <a:p>
            <a:endParaRPr lang="en-US" altLang="zh-CN" dirty="0"/>
          </a:p>
          <a:p>
            <a:endParaRPr lang="en-US" altLang="zh-CN" dirty="0"/>
          </a:p>
        </p:txBody>
      </p:sp>
      <p:sp>
        <p:nvSpPr>
          <p:cNvPr id="4" name="内容占位符 3">
            <a:extLst>
              <a:ext uri="{FF2B5EF4-FFF2-40B4-BE49-F238E27FC236}">
                <a16:creationId xmlns:a16="http://schemas.microsoft.com/office/drawing/2014/main" id="{B9ECBB84-2978-95B7-963D-253EB9DBFB35}"/>
              </a:ext>
            </a:extLst>
          </p:cNvPr>
          <p:cNvSpPr>
            <a:spLocks noGrp="1"/>
          </p:cNvSpPr>
          <p:nvPr>
            <p:ph sz="half" idx="2"/>
          </p:nvPr>
        </p:nvSpPr>
        <p:spPr/>
        <p:txBody>
          <a:bodyPr/>
          <a:lstStyle/>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date.month</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date.day</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date.year</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date.quarter</a:t>
            </a:r>
            <a:endParaRPr lang="zh-CN" altLang="en-US" dirty="0"/>
          </a:p>
        </p:txBody>
      </p:sp>
    </p:spTree>
    <p:extLst>
      <p:ext uri="{BB962C8B-B14F-4D97-AF65-F5344CB8AC3E}">
        <p14:creationId xmlns:p14="http://schemas.microsoft.com/office/powerpoint/2010/main" val="10976422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A830C1-929C-89F6-AF7B-0DF6A3277E5D}"/>
              </a:ext>
            </a:extLst>
          </p:cNvPr>
          <p:cNvSpPr>
            <a:spLocks noGrp="1"/>
          </p:cNvSpPr>
          <p:nvPr>
            <p:ph type="title"/>
          </p:nvPr>
        </p:nvSpPr>
        <p:spPr/>
        <p:txBody>
          <a:bodyPr/>
          <a:lstStyle/>
          <a:p>
            <a:r>
              <a:rPr lang="en-US" altLang="zh-CN" dirty="0"/>
              <a:t>Time series &amp; forecasting</a:t>
            </a:r>
            <a:endParaRPr lang="zh-CN" altLang="en-US" dirty="0"/>
          </a:p>
        </p:txBody>
      </p:sp>
      <p:sp>
        <p:nvSpPr>
          <p:cNvPr id="3" name="内容占位符 2">
            <a:extLst>
              <a:ext uri="{FF2B5EF4-FFF2-40B4-BE49-F238E27FC236}">
                <a16:creationId xmlns:a16="http://schemas.microsoft.com/office/drawing/2014/main" id="{4A1F6AFD-E20D-46D7-BE8F-3C240FC1EF6A}"/>
              </a:ext>
            </a:extLst>
          </p:cNvPr>
          <p:cNvSpPr>
            <a:spLocks noGrp="1"/>
          </p:cNvSpPr>
          <p:nvPr>
            <p:ph idx="1"/>
          </p:nvPr>
        </p:nvSpPr>
        <p:spPr/>
        <p:txBody>
          <a:bodyPr/>
          <a:lstStyle/>
          <a:p>
            <a:r>
              <a:rPr lang="en-US" altLang="zh-CN" dirty="0"/>
              <a:t>Line charts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(apple_stocks_feb_2020["</a:t>
            </a:r>
            <a:r>
              <a:rPr lang="en-US" altLang="zh-CN" dirty="0" err="1">
                <a:solidFill>
                  <a:srgbClr val="0070C0"/>
                </a:solidFill>
                <a:latin typeface="Cascadia Mono" panose="020B0609020000020004" pitchFamily="49" charset="0"/>
                <a:cs typeface="Cascadia Mono" panose="020B0609020000020004" pitchFamily="49" charset="0"/>
              </a:rPr>
              <a:t>adjusted_close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(x = apple_stocks_feb_2020.index.day,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y = apple_stocks_feb_2020["</a:t>
            </a:r>
            <a:r>
              <a:rPr lang="en-US" altLang="zh-CN" dirty="0" err="1">
                <a:solidFill>
                  <a:srgbClr val="0070C0"/>
                </a:solidFill>
                <a:latin typeface="Cascadia Mono" panose="020B0609020000020004" pitchFamily="49" charset="0"/>
                <a:cs typeface="Cascadia Mono" panose="020B0609020000020004" pitchFamily="49" charset="0"/>
              </a:rPr>
              <a:t>adjusted_close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color = "</a:t>
            </a:r>
            <a:r>
              <a:rPr lang="en-US" altLang="zh-CN" dirty="0" err="1">
                <a:solidFill>
                  <a:srgbClr val="0070C0"/>
                </a:solidFill>
                <a:latin typeface="Cascadia Mono" panose="020B0609020000020004" pitchFamily="49" charset="0"/>
                <a:cs typeface="Cascadia Mono" panose="020B0609020000020004" pitchFamily="49" charset="0"/>
              </a:rPr>
              <a:t>darkgray</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(x = apple_stocks_feb_2020.index.day,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y = apple_stocks_feb_2020["</a:t>
            </a:r>
            <a:r>
              <a:rPr lang="en-US" altLang="zh-CN" dirty="0" err="1">
                <a:solidFill>
                  <a:srgbClr val="0070C0"/>
                </a:solidFill>
                <a:latin typeface="Cascadia Mono" panose="020B0609020000020004" pitchFamily="49" charset="0"/>
                <a:cs typeface="Cascadia Mono" panose="020B0609020000020004" pitchFamily="49" charset="0"/>
              </a:rPr>
              <a:t>adjusted_close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color = "</a:t>
            </a:r>
            <a:r>
              <a:rPr lang="en-US" altLang="zh-CN" dirty="0" err="1">
                <a:solidFill>
                  <a:srgbClr val="0070C0"/>
                </a:solidFill>
                <a:latin typeface="Cascadia Mono" panose="020B0609020000020004" pitchFamily="49" charset="0"/>
                <a:cs typeface="Cascadia Mono" panose="020B0609020000020004" pitchFamily="49" charset="0"/>
              </a:rPr>
              <a:t>darkgray</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label = "February 2020")</a:t>
            </a:r>
          </a:p>
          <a:p>
            <a:pPr lvl="1"/>
            <a:endParaRPr lang="en-US" altLang="zh-CN" dirty="0"/>
          </a:p>
          <a:p>
            <a:r>
              <a:rPr lang="en-US" altLang="zh-CN" dirty="0"/>
              <a:t>Formatting date axis labels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a:t>
            </a:r>
            <a:r>
              <a:rPr lang="en-US" altLang="zh-CN" dirty="0" err="1">
                <a:solidFill>
                  <a:srgbClr val="0070C0"/>
                </a:solidFill>
                <a:latin typeface="Cascadia Mono" panose="020B0609020000020004" pitchFamily="49" charset="0"/>
                <a:cs typeface="Cascadia Mono" panose="020B0609020000020004" pitchFamily="49" charset="0"/>
              </a:rPr>
              <a:t>matplotlib.dates</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ax.xaxis.set_major_locator</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ax.xaxis.set_major_formatter</a:t>
            </a:r>
            <a:r>
              <a:rPr lang="en-US" altLang="zh-CN" dirty="0">
                <a:solidFill>
                  <a:srgbClr val="0070C0"/>
                </a:solidFill>
                <a:latin typeface="Cascadia Mono" panose="020B0609020000020004" pitchFamily="49" charset="0"/>
                <a:cs typeface="Cascadia Mono" panose="020B0609020000020004" pitchFamily="49" charset="0"/>
              </a:rPr>
              <a:t>()</a:t>
            </a:r>
          </a:p>
          <a:p>
            <a:endParaRPr lang="en-US" altLang="zh-CN" dirty="0"/>
          </a:p>
          <a:p>
            <a:endParaRPr lang="en-US" altLang="zh-CN" dirty="0"/>
          </a:p>
          <a:p>
            <a:endParaRPr lang="en-US" altLang="zh-CN" dirty="0"/>
          </a:p>
          <a:p>
            <a:endParaRPr lang="en-US" altLang="zh-CN" dirty="0"/>
          </a:p>
          <a:p>
            <a:endParaRPr lang="zh-CN" altLang="en-US" dirty="0"/>
          </a:p>
        </p:txBody>
      </p:sp>
      <p:sp>
        <p:nvSpPr>
          <p:cNvPr id="6" name="文本框 5">
            <a:extLst>
              <a:ext uri="{FF2B5EF4-FFF2-40B4-BE49-F238E27FC236}">
                <a16:creationId xmlns:a16="http://schemas.microsoft.com/office/drawing/2014/main" id="{29FD3547-56DC-B4A3-282D-E833277CB2CB}"/>
              </a:ext>
            </a:extLst>
          </p:cNvPr>
          <p:cNvSpPr txBox="1"/>
          <p:nvPr/>
        </p:nvSpPr>
        <p:spPr>
          <a:xfrm>
            <a:off x="5897032" y="4231105"/>
            <a:ext cx="5926667" cy="2123658"/>
          </a:xfrm>
          <a:prstGeom prst="rect">
            <a:avLst/>
          </a:prstGeom>
          <a:noFill/>
        </p:spPr>
        <p:txBody>
          <a:bodyPr wrap="square">
            <a:spAutoFit/>
          </a:bodyPr>
          <a:lstStyle/>
          <a:p>
            <a:pPr marL="682625" lvl="2" indent="0">
              <a:buNone/>
            </a:pPr>
            <a:r>
              <a:rPr lang="en-US" altLang="zh-CN" sz="1600" dirty="0">
                <a:solidFill>
                  <a:srgbClr val="0070C0"/>
                </a:solidFill>
                <a:latin typeface="Cascadia Mono" panose="020B0609020000020004" pitchFamily="49" charset="0"/>
                <a:cs typeface="Cascadia Mono" panose="020B0609020000020004" pitchFamily="49" charset="0"/>
              </a:rPr>
              <a:t>Date format codes:</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%y → Year without century ('24)</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%Y → Full year (2024)</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%m → Zero-padded month (02)</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%d → Day (26)</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%b → Abbreviated month (Feb)</a:t>
            </a:r>
          </a:p>
          <a:p>
            <a:pPr marL="682625" lvl="2" indent="0">
              <a:buNone/>
            </a:pPr>
            <a:r>
              <a:rPr lang="en-US" altLang="zh-CN" sz="1600" dirty="0">
                <a:solidFill>
                  <a:srgbClr val="0070C0"/>
                </a:solidFill>
                <a:latin typeface="Cascadia Mono" panose="020B0609020000020004" pitchFamily="49" charset="0"/>
                <a:cs typeface="Cascadia Mono" panose="020B0609020000020004" pitchFamily="49" charset="0"/>
              </a:rPr>
              <a:t>Combine together:</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%m %y → 02 24 (Month &amp; Year)</a:t>
            </a:r>
            <a:endParaRPr lang="zh-CN" altLang="en-US" sz="1600" dirty="0"/>
          </a:p>
        </p:txBody>
      </p:sp>
    </p:spTree>
    <p:extLst>
      <p:ext uri="{BB962C8B-B14F-4D97-AF65-F5344CB8AC3E}">
        <p14:creationId xmlns:p14="http://schemas.microsoft.com/office/powerpoint/2010/main" val="3291877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50BD6E-C585-6FF3-97BB-34F4233BB473}"/>
              </a:ext>
            </a:extLst>
          </p:cNvPr>
          <p:cNvSpPr>
            <a:spLocks noGrp="1"/>
          </p:cNvSpPr>
          <p:nvPr>
            <p:ph type="title"/>
          </p:nvPr>
        </p:nvSpPr>
        <p:spPr/>
        <p:txBody>
          <a:bodyPr/>
          <a:lstStyle/>
          <a:p>
            <a:r>
              <a:rPr lang="en-US" altLang="zh-CN" dirty="0"/>
              <a:t>Time series &amp; forecasting</a:t>
            </a:r>
            <a:endParaRPr lang="zh-CN" altLang="en-US" dirty="0"/>
          </a:p>
        </p:txBody>
      </p:sp>
      <p:sp>
        <p:nvSpPr>
          <p:cNvPr id="3" name="内容占位符 2">
            <a:extLst>
              <a:ext uri="{FF2B5EF4-FFF2-40B4-BE49-F238E27FC236}">
                <a16:creationId xmlns:a16="http://schemas.microsoft.com/office/drawing/2014/main" id="{22036A32-C3E6-0D32-6DA1-A3C3BCEE2CB5}"/>
              </a:ext>
            </a:extLst>
          </p:cNvPr>
          <p:cNvSpPr>
            <a:spLocks noGrp="1"/>
          </p:cNvSpPr>
          <p:nvPr>
            <p:ph idx="1"/>
          </p:nvPr>
        </p:nvSpPr>
        <p:spPr/>
        <p:txBody>
          <a:bodyPr/>
          <a:lstStyle/>
          <a:p>
            <a:r>
              <a:rPr lang="en-US" altLang="zh-CN" dirty="0"/>
              <a:t>Moving average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["Volume"].rolling(window=14).mean()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["Volume"].rolling(window=14).median()</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(amazon_volume_14day, color="black")</a:t>
            </a:r>
          </a:p>
          <a:p>
            <a:pPr lvl="1"/>
            <a:endParaRPr lang="en-US" altLang="zh-CN" dirty="0"/>
          </a:p>
          <a:p>
            <a:r>
              <a:rPr lang="en-US" altLang="zh-CN" dirty="0"/>
              <a:t>Percent change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amazon_close_pct_change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amazon_stocks</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adjusted_close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pct_change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amazon_close_pct_change</a:t>
            </a:r>
            <a:r>
              <a:rPr lang="en-US" altLang="zh-CN" dirty="0">
                <a:solidFill>
                  <a:srgbClr val="0070C0"/>
                </a:solidFill>
                <a:latin typeface="Cascadia Mono" panose="020B0609020000020004" pitchFamily="49" charset="0"/>
                <a:cs typeface="Cascadia Mono" panose="020B0609020000020004" pitchFamily="49" charset="0"/>
              </a:rPr>
              <a:t>, color = "#FF9900")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dips = </a:t>
            </a:r>
            <a:r>
              <a:rPr lang="en-US" altLang="zh-CN" dirty="0" err="1">
                <a:solidFill>
                  <a:srgbClr val="0070C0"/>
                </a:solidFill>
                <a:latin typeface="Cascadia Mono" panose="020B0609020000020004" pitchFamily="49" charset="0"/>
                <a:cs typeface="Cascadia Mono" panose="020B0609020000020004" pitchFamily="49" charset="0"/>
              </a:rPr>
              <a:t>amazon_close_pct_change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amazon_close_pct_change</a:t>
            </a:r>
            <a:r>
              <a:rPr lang="en-US" altLang="zh-CN" dirty="0">
                <a:solidFill>
                  <a:srgbClr val="0070C0"/>
                </a:solidFill>
                <a:latin typeface="Cascadia Mono" panose="020B0609020000020004" pitchFamily="49" charset="0"/>
                <a:cs typeface="Cascadia Mono" panose="020B0609020000020004" pitchFamily="49" charset="0"/>
              </a:rPr>
              <a:t> &lt; -0.05]</a:t>
            </a:r>
            <a:endParaRPr lang="zh-CN" altLang="en-US"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Segmentation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netflix_stocks.index.year</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netflix_stocks</a:t>
            </a:r>
            <a:r>
              <a:rPr lang="en-US" altLang="zh-CN" dirty="0">
                <a:solidFill>
                  <a:srgbClr val="0070C0"/>
                </a:solidFill>
                <a:latin typeface="Cascadia Mono" panose="020B0609020000020004" pitchFamily="49" charset="0"/>
                <a:cs typeface="Cascadia Mono" panose="020B0609020000020004" pitchFamily="49" charset="0"/>
              </a:rPr>
              <a:t>["quarter"] = </a:t>
            </a:r>
            <a:r>
              <a:rPr lang="en-US" altLang="zh-CN" dirty="0" err="1">
                <a:solidFill>
                  <a:srgbClr val="0070C0"/>
                </a:solidFill>
                <a:latin typeface="Cascadia Mono" panose="020B0609020000020004" pitchFamily="49" charset="0"/>
                <a:cs typeface="Cascadia Mono" panose="020B0609020000020004" pitchFamily="49" charset="0"/>
              </a:rPr>
              <a:t>netflix_stocks.index.quarter</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monthly_volume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netflix_stocks.groupby</a:t>
            </a:r>
            <a:r>
              <a:rPr lang="en-US" altLang="zh-CN" dirty="0">
                <a:solidFill>
                  <a:srgbClr val="0070C0"/>
                </a:solidFill>
                <a:latin typeface="Cascadia Mono" panose="020B0609020000020004" pitchFamily="49" charset="0"/>
                <a:cs typeface="Cascadia Mono" panose="020B0609020000020004" pitchFamily="49" charset="0"/>
              </a:rPr>
              <a:t>("month")["volume"].mean()</a:t>
            </a:r>
            <a:endParaRPr lang="zh-CN" altLang="en-US"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7881782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63F65C-4CB0-073B-3854-F52C63C0EA45}"/>
              </a:ext>
            </a:extLst>
          </p:cNvPr>
          <p:cNvSpPr>
            <a:spLocks noGrp="1"/>
          </p:cNvSpPr>
          <p:nvPr>
            <p:ph type="title"/>
          </p:nvPr>
        </p:nvSpPr>
        <p:spPr/>
        <p:txBody>
          <a:bodyPr/>
          <a:lstStyle/>
          <a:p>
            <a:r>
              <a:rPr lang="en-US" altLang="zh-CN" dirty="0"/>
              <a:t>Time series &amp; forecasting</a:t>
            </a:r>
            <a:endParaRPr lang="zh-CN" altLang="en-US" dirty="0"/>
          </a:p>
        </p:txBody>
      </p:sp>
      <p:sp>
        <p:nvSpPr>
          <p:cNvPr id="3" name="内容占位符 2">
            <a:extLst>
              <a:ext uri="{FF2B5EF4-FFF2-40B4-BE49-F238E27FC236}">
                <a16:creationId xmlns:a16="http://schemas.microsoft.com/office/drawing/2014/main" id="{D49A79CC-0CC5-08D2-927E-F9C1C45000F7}"/>
              </a:ext>
            </a:extLst>
          </p:cNvPr>
          <p:cNvSpPr>
            <a:spLocks noGrp="1"/>
          </p:cNvSpPr>
          <p:nvPr>
            <p:ph idx="1"/>
          </p:nvPr>
        </p:nvSpPr>
        <p:spPr/>
        <p:txBody>
          <a:bodyPr/>
          <a:lstStyle/>
          <a:p>
            <a:r>
              <a:rPr lang="en-US" altLang="zh-CN" dirty="0"/>
              <a:t>Multiple line charts - reshaping</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tickers = ["AAPL", "AMZN"]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selected_stocks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["ticker"].</a:t>
            </a:r>
            <a:r>
              <a:rPr lang="en-US" altLang="zh-CN" dirty="0" err="1">
                <a:solidFill>
                  <a:srgbClr val="0070C0"/>
                </a:solidFill>
                <a:latin typeface="Cascadia Mono" panose="020B0609020000020004" pitchFamily="49" charset="0"/>
                <a:cs typeface="Cascadia Mono" panose="020B0609020000020004" pitchFamily="49" charset="0"/>
              </a:rPr>
              <a:t>isin</a:t>
            </a:r>
            <a:r>
              <a:rPr lang="en-US" altLang="zh-CN" dirty="0">
                <a:solidFill>
                  <a:srgbClr val="0070C0"/>
                </a:solidFill>
                <a:latin typeface="Cascadia Mono" panose="020B0609020000020004" pitchFamily="49" charset="0"/>
                <a:cs typeface="Cascadia Mono" panose="020B0609020000020004" pitchFamily="49" charset="0"/>
              </a:rPr>
              <a:t>(tickers)]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pivoted_stocks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selected_stocks.pivot</a:t>
            </a:r>
            <a:r>
              <a:rPr lang="en-US" altLang="zh-CN" dirty="0">
                <a:solidFill>
                  <a:srgbClr val="0070C0"/>
                </a:solidFill>
                <a:latin typeface="Cascadia Mono" panose="020B0609020000020004" pitchFamily="49" charset="0"/>
                <a:cs typeface="Cascadia Mono" panose="020B0609020000020004" pitchFamily="49" charset="0"/>
              </a:rPr>
              <a:t>(index = "datetime",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columns = "ticker",</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value = "</a:t>
            </a:r>
            <a:r>
              <a:rPr lang="en-US" altLang="zh-CN" dirty="0" err="1">
                <a:solidFill>
                  <a:srgbClr val="0070C0"/>
                </a:solidFill>
                <a:latin typeface="Cascadia Mono" panose="020B0609020000020004" pitchFamily="49" charset="0"/>
                <a:cs typeface="Cascadia Mono" panose="020B0609020000020004" pitchFamily="49" charset="0"/>
              </a:rPr>
              <a:t>adjusted_close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sns.lineplot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pivoted_stocks</a:t>
            </a:r>
            <a:r>
              <a:rPr lang="en-US" altLang="zh-CN" dirty="0">
                <a:solidFill>
                  <a:srgbClr val="0070C0"/>
                </a:solidFill>
                <a:latin typeface="Cascadia Mono" panose="020B0609020000020004" pitchFamily="49" charset="0"/>
                <a:cs typeface="Cascadia Mono" panose="020B0609020000020004" pitchFamily="49" charset="0"/>
              </a:rPr>
              <a:t>)</a:t>
            </a:r>
          </a:p>
          <a:p>
            <a:pPr lvl="1"/>
            <a:endParaRPr lang="en-US" altLang="zh-CN" dirty="0"/>
          </a:p>
          <a:p>
            <a:r>
              <a:rPr lang="en-US" altLang="zh-CN" dirty="0"/>
              <a:t>Resampling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nike_stocks.resample</a:t>
            </a:r>
            <a:r>
              <a:rPr lang="en-US" altLang="zh-CN" dirty="0">
                <a:solidFill>
                  <a:srgbClr val="0070C0"/>
                </a:solidFill>
                <a:latin typeface="Cascadia Mono" panose="020B0609020000020004" pitchFamily="49" charset="0"/>
                <a:cs typeface="Cascadia Mono" panose="020B0609020000020004" pitchFamily="49" charset="0"/>
              </a:rPr>
              <a:t>("W")</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nike_weekly</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numeric_data.resample</a:t>
            </a:r>
            <a:r>
              <a:rPr lang="en-US" altLang="zh-CN" dirty="0">
                <a:solidFill>
                  <a:srgbClr val="0070C0"/>
                </a:solidFill>
                <a:latin typeface="Cascadia Mono" panose="020B0609020000020004" pitchFamily="49" charset="0"/>
                <a:cs typeface="Cascadia Mono" panose="020B0609020000020004" pitchFamily="49" charset="0"/>
              </a:rPr>
              <a:t>("ME").mean()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nike_weekly</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numeric_data.resample</a:t>
            </a:r>
            <a:r>
              <a:rPr lang="en-US" altLang="zh-CN" dirty="0">
                <a:solidFill>
                  <a:srgbClr val="0070C0"/>
                </a:solidFill>
                <a:latin typeface="Cascadia Mono" panose="020B0609020000020004" pitchFamily="49" charset="0"/>
                <a:cs typeface="Cascadia Mono" panose="020B0609020000020004" pitchFamily="49" charset="0"/>
              </a:rPr>
              <a:t>("W").first()</a:t>
            </a:r>
            <a:endParaRPr lang="zh-CN" altLang="en-US"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zh-CN" altLang="en-US" dirty="0">
              <a:solidFill>
                <a:srgbClr val="0070C0"/>
              </a:solidFill>
              <a:latin typeface="Cascadia Mono" panose="020B0609020000020004" pitchFamily="49" charset="0"/>
              <a:cs typeface="Cascadia Mono" panose="020B0609020000020004" pitchFamily="49" charset="0"/>
            </a:endParaRPr>
          </a:p>
        </p:txBody>
      </p:sp>
      <p:sp>
        <p:nvSpPr>
          <p:cNvPr id="5" name="文本框 4">
            <a:extLst>
              <a:ext uri="{FF2B5EF4-FFF2-40B4-BE49-F238E27FC236}">
                <a16:creationId xmlns:a16="http://schemas.microsoft.com/office/drawing/2014/main" id="{98B7338D-3EAA-B158-373A-C7755EFFB557}"/>
              </a:ext>
            </a:extLst>
          </p:cNvPr>
          <p:cNvSpPr txBox="1"/>
          <p:nvPr/>
        </p:nvSpPr>
        <p:spPr>
          <a:xfrm>
            <a:off x="6828367" y="5031324"/>
            <a:ext cx="4995332" cy="1323439"/>
          </a:xfrm>
          <a:prstGeom prst="rect">
            <a:avLst/>
          </a:prstGeom>
          <a:noFill/>
        </p:spPr>
        <p:txBody>
          <a:bodyPr wrap="square">
            <a:spAutoFit/>
          </a:bodyPr>
          <a:lstStyle/>
          <a:p>
            <a:pPr marL="682625" lvl="2" indent="0">
              <a:buNone/>
            </a:pPr>
            <a:r>
              <a:rPr lang="en-US" altLang="zh-CN" sz="1600" dirty="0">
                <a:solidFill>
                  <a:srgbClr val="0070C0"/>
                </a:solidFill>
                <a:latin typeface="Cascadia Mono" panose="020B0609020000020004" pitchFamily="49" charset="0"/>
                <a:cs typeface="Cascadia Mono" panose="020B0609020000020004" pitchFamily="49" charset="0"/>
              </a:rPr>
              <a:t>To </a:t>
            </a:r>
            <a:r>
              <a:rPr lang="en-US" altLang="zh-CN" sz="1600" dirty="0" err="1">
                <a:solidFill>
                  <a:srgbClr val="0070C0"/>
                </a:solidFill>
                <a:latin typeface="Cascadia Mono" panose="020B0609020000020004" pitchFamily="49" charset="0"/>
                <a:cs typeface="Cascadia Mono" panose="020B0609020000020004" pitchFamily="49" charset="0"/>
              </a:rPr>
              <a:t>downsample</a:t>
            </a:r>
            <a:r>
              <a:rPr lang="en-US" altLang="zh-CN" sz="1600" dirty="0">
                <a:solidFill>
                  <a:srgbClr val="0070C0"/>
                </a:solidFill>
                <a:latin typeface="Cascadia Mono" panose="020B0609020000020004" pitchFamily="49" charset="0"/>
                <a:cs typeface="Cascadia Mono" panose="020B0609020000020004" pitchFamily="49" charset="0"/>
              </a:rPr>
              <a:t> your data:</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"W" - Weekly</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"D" - Daily</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"ME" - Month End</a:t>
            </a:r>
          </a:p>
          <a:p>
            <a:pPr marL="1139825" lvl="3"/>
            <a:r>
              <a:rPr lang="en-US" altLang="zh-CN" sz="1600" dirty="0">
                <a:solidFill>
                  <a:srgbClr val="0070C0"/>
                </a:solidFill>
                <a:latin typeface="Cascadia Mono" panose="020B0609020000020004" pitchFamily="49" charset="0"/>
                <a:cs typeface="Cascadia Mono" panose="020B0609020000020004" pitchFamily="49" charset="0"/>
              </a:rPr>
              <a:t>○ "W-MON" - Weekly on Monday</a:t>
            </a:r>
            <a:endParaRPr lang="zh-CN" altLang="en-US" sz="1600" dirty="0"/>
          </a:p>
        </p:txBody>
      </p:sp>
    </p:spTree>
    <p:extLst>
      <p:ext uri="{BB962C8B-B14F-4D97-AF65-F5344CB8AC3E}">
        <p14:creationId xmlns:p14="http://schemas.microsoft.com/office/powerpoint/2010/main" val="2547869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02D699-90E1-D4D0-35F9-13D6C11A481A}"/>
              </a:ext>
            </a:extLst>
          </p:cNvPr>
          <p:cNvSpPr>
            <a:spLocks noGrp="1"/>
          </p:cNvSpPr>
          <p:nvPr>
            <p:ph type="title"/>
          </p:nvPr>
        </p:nvSpPr>
        <p:spPr/>
        <p:txBody>
          <a:bodyPr/>
          <a:lstStyle/>
          <a:p>
            <a:r>
              <a:rPr lang="en-US" altLang="zh-CN" dirty="0"/>
              <a:t>Time series &amp; forecasting</a:t>
            </a:r>
            <a:endParaRPr lang="zh-CN" altLang="en-US" dirty="0"/>
          </a:p>
        </p:txBody>
      </p:sp>
      <p:sp>
        <p:nvSpPr>
          <p:cNvPr id="3" name="内容占位符 2">
            <a:extLst>
              <a:ext uri="{FF2B5EF4-FFF2-40B4-BE49-F238E27FC236}">
                <a16:creationId xmlns:a16="http://schemas.microsoft.com/office/drawing/2014/main" id="{D57C9538-B4AB-634E-B964-A40105AE6B74}"/>
              </a:ext>
            </a:extLst>
          </p:cNvPr>
          <p:cNvSpPr>
            <a:spLocks noGrp="1"/>
          </p:cNvSpPr>
          <p:nvPr>
            <p:ph idx="1"/>
          </p:nvPr>
        </p:nvSpPr>
        <p:spPr/>
        <p:txBody>
          <a:bodyPr/>
          <a:lstStyle/>
          <a:p>
            <a:r>
              <a:rPr lang="en-US" altLang="zh-CN" dirty="0"/>
              <a:t>Seasonality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week210 = [1, 210, 0, 0, 1]</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results.predict</a:t>
            </a:r>
            <a:r>
              <a:rPr lang="en-US" altLang="zh-CN" dirty="0">
                <a:solidFill>
                  <a:srgbClr val="0070C0"/>
                </a:solidFill>
                <a:latin typeface="Cascadia Mono" panose="020B0609020000020004" pitchFamily="49" charset="0"/>
                <a:cs typeface="Cascadia Mono" panose="020B0609020000020004" pitchFamily="49" charset="0"/>
              </a:rPr>
              <a:t>(week210)</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week210 = [1, 210, 0, 1, 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results.predict</a:t>
            </a:r>
            <a:r>
              <a:rPr lang="en-US" altLang="zh-CN" dirty="0">
                <a:solidFill>
                  <a:srgbClr val="0070C0"/>
                </a:solidFill>
                <a:latin typeface="Cascadia Mono" panose="020B0609020000020004" pitchFamily="49" charset="0"/>
                <a:cs typeface="Cascadia Mono" panose="020B0609020000020004" pitchFamily="49" charset="0"/>
              </a:rPr>
              <a:t>(week210)</a:t>
            </a:r>
            <a:endParaRPr lang="zh-CN" altLang="en-US"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Error metrics</a:t>
            </a:r>
            <a:endParaRPr lang="zh-CN" altLang="en-US" dirty="0"/>
          </a:p>
          <a:p>
            <a:pPr marL="682625" lvl="2" indent="0">
              <a:buNone/>
            </a:pPr>
            <a:r>
              <a:rPr lang="es-ES" altLang="zh-CN" dirty="0" err="1">
                <a:solidFill>
                  <a:srgbClr val="0070C0"/>
                </a:solidFill>
                <a:latin typeface="Cascadia Mono" panose="020B0609020000020004" pitchFamily="49" charset="0"/>
                <a:cs typeface="Cascadia Mono" panose="020B0609020000020004" pitchFamily="49" charset="0"/>
              </a:rPr>
              <a:t>residuals</a:t>
            </a:r>
            <a:r>
              <a:rPr lang="es-ES" altLang="zh-CN" dirty="0">
                <a:solidFill>
                  <a:srgbClr val="0070C0"/>
                </a:solidFill>
                <a:latin typeface="Cascadia Mono" panose="020B0609020000020004" pitchFamily="49" charset="0"/>
                <a:cs typeface="Cascadia Mono" panose="020B0609020000020004" pitchFamily="49" charset="0"/>
              </a:rPr>
              <a:t> = </a:t>
            </a:r>
            <a:r>
              <a:rPr lang="es-ES" altLang="zh-CN" dirty="0" err="1">
                <a:solidFill>
                  <a:srgbClr val="0070C0"/>
                </a:solidFill>
                <a:latin typeface="Cascadia Mono" panose="020B0609020000020004" pitchFamily="49" charset="0"/>
                <a:cs typeface="Cascadia Mono" panose="020B0609020000020004" pitchFamily="49" charset="0"/>
              </a:rPr>
              <a:t>y_actual</a:t>
            </a:r>
            <a:r>
              <a:rPr lang="es-ES" altLang="zh-CN" dirty="0">
                <a:solidFill>
                  <a:srgbClr val="0070C0"/>
                </a:solidFill>
                <a:latin typeface="Cascadia Mono" panose="020B0609020000020004" pitchFamily="49" charset="0"/>
                <a:cs typeface="Cascadia Mono" panose="020B0609020000020004" pitchFamily="49" charset="0"/>
              </a:rPr>
              <a:t> - </a:t>
            </a:r>
            <a:r>
              <a:rPr lang="es-ES" altLang="zh-CN" dirty="0" err="1">
                <a:solidFill>
                  <a:srgbClr val="0070C0"/>
                </a:solidFill>
                <a:latin typeface="Cascadia Mono" panose="020B0609020000020004" pitchFamily="49" charset="0"/>
                <a:cs typeface="Cascadia Mono" panose="020B0609020000020004" pitchFamily="49" charset="0"/>
              </a:rPr>
              <a:t>y_pred</a:t>
            </a:r>
            <a:endParaRPr lang="es-E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s-ES" altLang="zh-CN" dirty="0">
                <a:solidFill>
                  <a:srgbClr val="0070C0"/>
                </a:solidFill>
                <a:latin typeface="Cascadia Mono" panose="020B0609020000020004" pitchFamily="49" charset="0"/>
                <a:cs typeface="Cascadia Mono" panose="020B0609020000020004" pitchFamily="49" charset="0"/>
              </a:rPr>
              <a:t>MAE = </a:t>
            </a:r>
            <a:r>
              <a:rPr lang="es-ES" altLang="zh-CN" dirty="0" err="1">
                <a:solidFill>
                  <a:srgbClr val="0070C0"/>
                </a:solidFill>
                <a:latin typeface="Cascadia Mono" panose="020B0609020000020004" pitchFamily="49" charset="0"/>
                <a:cs typeface="Cascadia Mono" panose="020B0609020000020004" pitchFamily="49" charset="0"/>
              </a:rPr>
              <a:t>residuals.mean</a:t>
            </a:r>
            <a:r>
              <a:rPr lang="es-ES" altLang="zh-CN" dirty="0">
                <a:solidFill>
                  <a:srgbClr val="0070C0"/>
                </a:solidFill>
                <a:latin typeface="Cascadia Mono" panose="020B0609020000020004" pitchFamily="49" charset="0"/>
                <a:cs typeface="Cascadia Mono" panose="020B0609020000020004" pitchFamily="49" charset="0"/>
              </a:rPr>
              <a:t>().</a:t>
            </a:r>
            <a:r>
              <a:rPr lang="es-ES" altLang="zh-CN" dirty="0" err="1">
                <a:solidFill>
                  <a:srgbClr val="0070C0"/>
                </a:solidFill>
                <a:latin typeface="Cascadia Mono" panose="020B0609020000020004" pitchFamily="49" charset="0"/>
                <a:cs typeface="Cascadia Mono" panose="020B0609020000020004" pitchFamily="49" charset="0"/>
              </a:rPr>
              <a:t>abs</a:t>
            </a:r>
            <a:r>
              <a:rPr lang="es-E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endParaRPr lang="en-US" altLang="zh-CN" dirty="0"/>
          </a:p>
        </p:txBody>
      </p:sp>
    </p:spTree>
    <p:extLst>
      <p:ext uri="{BB962C8B-B14F-4D97-AF65-F5344CB8AC3E}">
        <p14:creationId xmlns:p14="http://schemas.microsoft.com/office/powerpoint/2010/main" val="16176517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D990-08C3-8904-0958-6FD94BA5421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50AA675-AB03-D4D4-2BE8-00846F94FDA3}"/>
              </a:ext>
            </a:extLst>
          </p:cNvPr>
          <p:cNvSpPr>
            <a:spLocks noGrp="1"/>
          </p:cNvSpPr>
          <p:nvPr>
            <p:ph type="title"/>
          </p:nvPr>
        </p:nvSpPr>
        <p:spPr/>
        <p:txBody>
          <a:bodyPr/>
          <a:lstStyle/>
          <a:p>
            <a:r>
              <a:rPr lang="en-US" altLang="zh-CN" dirty="0"/>
              <a:t>Course 4</a:t>
            </a:r>
            <a:endParaRPr lang="zh-CN" altLang="en-US" dirty="0"/>
          </a:p>
        </p:txBody>
      </p:sp>
      <p:sp>
        <p:nvSpPr>
          <p:cNvPr id="5" name="文本占位符 4">
            <a:extLst>
              <a:ext uri="{FF2B5EF4-FFF2-40B4-BE49-F238E27FC236}">
                <a16:creationId xmlns:a16="http://schemas.microsoft.com/office/drawing/2014/main" id="{470F3F89-DFB1-1432-6FCB-EF05E0FFC1E7}"/>
              </a:ext>
            </a:extLst>
          </p:cNvPr>
          <p:cNvSpPr>
            <a:spLocks noGrp="1"/>
          </p:cNvSpPr>
          <p:nvPr>
            <p:ph type="body" idx="1"/>
          </p:nvPr>
        </p:nvSpPr>
        <p:spPr/>
        <p:txBody>
          <a:bodyPr/>
          <a:lstStyle/>
          <a:p>
            <a:r>
              <a:rPr lang="en-US" altLang="zh-CN" dirty="0"/>
              <a:t>Data I/O and Preprocessing with Python and SQL</a:t>
            </a:r>
            <a:endParaRPr lang="zh-CN" altLang="en-US" dirty="0"/>
          </a:p>
        </p:txBody>
      </p:sp>
    </p:spTree>
    <p:extLst>
      <p:ext uri="{BB962C8B-B14F-4D97-AF65-F5344CB8AC3E}">
        <p14:creationId xmlns:p14="http://schemas.microsoft.com/office/powerpoint/2010/main" val="22424514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8E965-7A61-5EC6-5C19-1ABE6755A84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5FB0756-3D9C-0D1C-D08E-F0691F66D04F}"/>
              </a:ext>
            </a:extLst>
          </p:cNvPr>
          <p:cNvSpPr>
            <a:spLocks noGrp="1"/>
          </p:cNvSpPr>
          <p:nvPr>
            <p:ph type="title"/>
          </p:nvPr>
        </p:nvSpPr>
        <p:spPr/>
        <p:txBody>
          <a:bodyPr/>
          <a:lstStyle/>
          <a:p>
            <a:r>
              <a:rPr lang="en-US" altLang="zh-CN" dirty="0"/>
              <a:t>Module 1</a:t>
            </a:r>
            <a:endParaRPr lang="zh-CN" altLang="en-US" dirty="0"/>
          </a:p>
        </p:txBody>
      </p:sp>
      <p:sp>
        <p:nvSpPr>
          <p:cNvPr id="5" name="文本占位符 4">
            <a:extLst>
              <a:ext uri="{FF2B5EF4-FFF2-40B4-BE49-F238E27FC236}">
                <a16:creationId xmlns:a16="http://schemas.microsoft.com/office/drawing/2014/main" id="{26DDC843-1FDB-7345-78EE-B0782396B9E0}"/>
              </a:ext>
            </a:extLst>
          </p:cNvPr>
          <p:cNvSpPr>
            <a:spLocks noGrp="1"/>
          </p:cNvSpPr>
          <p:nvPr>
            <p:ph type="body" idx="1"/>
          </p:nvPr>
        </p:nvSpPr>
        <p:spPr/>
        <p:txBody>
          <a:bodyPr/>
          <a:lstStyle/>
          <a:p>
            <a:r>
              <a:rPr lang="en-US" altLang="zh-CN" dirty="0"/>
              <a:t>Web scraping &amp; text preprocessing</a:t>
            </a:r>
          </a:p>
        </p:txBody>
      </p:sp>
    </p:spTree>
    <p:extLst>
      <p:ext uri="{BB962C8B-B14F-4D97-AF65-F5344CB8AC3E}">
        <p14:creationId xmlns:p14="http://schemas.microsoft.com/office/powerpoint/2010/main" val="25209147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9665-EEDD-2DF1-47EF-554598FBD9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CE0E90E-403D-7231-54A4-9D22A24EA1FB}"/>
              </a:ext>
            </a:extLst>
          </p:cNvPr>
          <p:cNvSpPr>
            <a:spLocks noGrp="1"/>
          </p:cNvSpPr>
          <p:nvPr>
            <p:ph type="title"/>
          </p:nvPr>
        </p:nvSpPr>
        <p:spPr/>
        <p:txBody>
          <a:bodyPr/>
          <a:lstStyle/>
          <a:p>
            <a:r>
              <a:rPr lang="en-US" altLang="zh-CN" dirty="0"/>
              <a:t>Web scraping &amp; text preprocessing</a:t>
            </a:r>
            <a:endParaRPr lang="zh-CN" altLang="en-US" dirty="0"/>
          </a:p>
        </p:txBody>
      </p:sp>
      <p:sp>
        <p:nvSpPr>
          <p:cNvPr id="3" name="内容占位符 2">
            <a:extLst>
              <a:ext uri="{FF2B5EF4-FFF2-40B4-BE49-F238E27FC236}">
                <a16:creationId xmlns:a16="http://schemas.microsoft.com/office/drawing/2014/main" id="{F301764E-F0DC-D4EE-C871-AB96E76C53A3}"/>
              </a:ext>
            </a:extLst>
          </p:cNvPr>
          <p:cNvSpPr>
            <a:spLocks noGrp="1"/>
          </p:cNvSpPr>
          <p:nvPr>
            <p:ph idx="1"/>
          </p:nvPr>
        </p:nvSpPr>
        <p:spPr/>
        <p:txBody>
          <a:bodyPr/>
          <a:lstStyle/>
          <a:p>
            <a:r>
              <a:rPr lang="en-US" altLang="zh-CN" dirty="0"/>
              <a:t>Scraping tables</a:t>
            </a:r>
          </a:p>
          <a:p>
            <a:pPr marL="682625" lvl="2" indent="0">
              <a:buNone/>
            </a:pPr>
            <a:r>
              <a:rPr lang="fr-FR" altLang="zh-CN" dirty="0">
                <a:solidFill>
                  <a:srgbClr val="0070C0"/>
                </a:solidFill>
                <a:latin typeface="Cascadia Mono" panose="020B0609020000020004" pitchFamily="49" charset="0"/>
                <a:cs typeface="Cascadia Mono" panose="020B0609020000020004" pitchFamily="49" charset="0"/>
              </a:rPr>
              <a:t>tables = </a:t>
            </a:r>
            <a:r>
              <a:rPr lang="fr-FR" altLang="zh-CN" dirty="0" err="1">
                <a:solidFill>
                  <a:srgbClr val="0070C0"/>
                </a:solidFill>
                <a:latin typeface="Cascadia Mono" panose="020B0609020000020004" pitchFamily="49" charset="0"/>
                <a:cs typeface="Cascadia Mono" panose="020B0609020000020004" pitchFamily="49" charset="0"/>
              </a:rPr>
              <a:t>pd.read_html</a:t>
            </a:r>
            <a:r>
              <a:rPr lang="fr-FR" altLang="zh-CN" dirty="0">
                <a:solidFill>
                  <a:srgbClr val="0070C0"/>
                </a:solidFill>
                <a:latin typeface="Cascadia Mono" panose="020B0609020000020004" pitchFamily="49" charset="0"/>
                <a:cs typeface="Cascadia Mono" panose="020B0609020000020004" pitchFamily="49" charset="0"/>
              </a:rPr>
              <a:t>("http://www.domain.com/")</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 tables[0]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df.head</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df.info()</a:t>
            </a:r>
          </a:p>
          <a:p>
            <a:pPr lvl="1"/>
            <a:endParaRPr lang="en-US" altLang="zh-CN" dirty="0"/>
          </a:p>
          <a:p>
            <a:r>
              <a:rPr lang="en-US" altLang="zh-CN" dirty="0"/>
              <a:t>Replace</a:t>
            </a:r>
          </a:p>
          <a:p>
            <a:pPr marL="682625" lvl="2" indent="0">
              <a:buNone/>
            </a:pPr>
            <a:r>
              <a:rPr lang="fr-FR" altLang="zh-CN" dirty="0" err="1">
                <a:solidFill>
                  <a:srgbClr val="0070C0"/>
                </a:solidFill>
                <a:latin typeface="Cascadia Mono" panose="020B0609020000020004" pitchFamily="49" charset="0"/>
                <a:cs typeface="Cascadia Mono" panose="020B0609020000020004" pitchFamily="49" charset="0"/>
              </a:rPr>
              <a:t>df</a:t>
            </a:r>
            <a:r>
              <a:rPr lang="fr-FR" altLang="zh-CN" dirty="0">
                <a:solidFill>
                  <a:srgbClr val="0070C0"/>
                </a:solidFill>
                <a:latin typeface="Cascadia Mono" panose="020B0609020000020004" pitchFamily="49" charset="0"/>
                <a:cs typeface="Cascadia Mono" panose="020B0609020000020004" pitchFamily="49" charset="0"/>
              </a:rPr>
              <a:t>["Change %"].</a:t>
            </a:r>
            <a:r>
              <a:rPr lang="fr-FR" altLang="zh-CN" dirty="0" err="1">
                <a:solidFill>
                  <a:srgbClr val="0070C0"/>
                </a:solidFill>
                <a:latin typeface="Cascadia Mono" panose="020B0609020000020004" pitchFamily="49" charset="0"/>
                <a:cs typeface="Cascadia Mono" panose="020B0609020000020004" pitchFamily="49" charset="0"/>
              </a:rPr>
              <a:t>str.replace</a:t>
            </a:r>
            <a:r>
              <a:rPr lang="fr-FR" altLang="zh-CN" dirty="0">
                <a:solidFill>
                  <a:srgbClr val="0070C0"/>
                </a:solidFill>
                <a:latin typeface="Cascadia Mono" panose="020B0609020000020004" pitchFamily="49" charset="0"/>
                <a:cs typeface="Cascadia Mono" panose="020B0609020000020004" pitchFamily="49" charset="0"/>
              </a:rPr>
              <a:t>("%","")</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["date"].</a:t>
            </a:r>
            <a:r>
              <a:rPr lang="en-US" altLang="zh-CN" dirty="0" err="1">
                <a:solidFill>
                  <a:srgbClr val="0070C0"/>
                </a:solidFill>
                <a:latin typeface="Cascadia Mono" panose="020B0609020000020004" pitchFamily="49" charset="0"/>
                <a:cs typeface="Cascadia Mono" panose="020B0609020000020004" pitchFamily="49" charset="0"/>
              </a:rPr>
              <a:t>dt.year</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["date"].</a:t>
            </a:r>
            <a:r>
              <a:rPr lang="en-US" altLang="zh-CN" dirty="0" err="1">
                <a:solidFill>
                  <a:srgbClr val="0070C0"/>
                </a:solidFill>
                <a:latin typeface="Cascadia Mono" panose="020B0609020000020004" pitchFamily="49" charset="0"/>
                <a:cs typeface="Cascadia Mono" panose="020B0609020000020004" pitchFamily="49" charset="0"/>
              </a:rPr>
              <a:t>dt.month</a:t>
            </a:r>
            <a:endParaRPr lang="zh-CN" altLang="en-US" dirty="0"/>
          </a:p>
          <a:p>
            <a:pPr lvl="1"/>
            <a:endParaRPr lang="en-US" altLang="zh-CN" dirty="0"/>
          </a:p>
          <a:p>
            <a:r>
              <a:rPr lang="en-US" altLang="zh-CN" dirty="0"/>
              <a:t>Casting</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date = </a:t>
            </a:r>
            <a:r>
              <a:rPr lang="en-US" altLang="zh-CN" dirty="0" err="1">
                <a:solidFill>
                  <a:srgbClr val="0070C0"/>
                </a:solidFill>
                <a:latin typeface="Cascadia Mono" panose="020B0609020000020004" pitchFamily="49" charset="0"/>
                <a:cs typeface="Cascadia Mono" panose="020B0609020000020004" pitchFamily="49" charset="0"/>
              </a:rPr>
              <a:t>pd.to_datetime</a:t>
            </a:r>
            <a:r>
              <a:rPr lang="en-US" altLang="zh-CN" dirty="0">
                <a:solidFill>
                  <a:srgbClr val="0070C0"/>
                </a:solidFill>
                <a:latin typeface="Cascadia Mono" panose="020B0609020000020004" pitchFamily="49" charset="0"/>
                <a:cs typeface="Cascadia Mono" panose="020B0609020000020004" pitchFamily="49" charset="0"/>
              </a:rPr>
              <a:t>("2030-12-31")</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day_of_week</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date.weekday</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print(</a:t>
            </a:r>
            <a:r>
              <a:rPr lang="en-US" altLang="zh-CN" dirty="0" err="1">
                <a:solidFill>
                  <a:srgbClr val="0070C0"/>
                </a:solidFill>
                <a:latin typeface="Cascadia Mono" panose="020B0609020000020004" pitchFamily="49" charset="0"/>
                <a:cs typeface="Cascadia Mono" panose="020B0609020000020004" pitchFamily="49" charset="0"/>
              </a:rPr>
              <a:t>day_of_week</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a:solidFill>
                  <a:srgbClr val="00B050"/>
                </a:solidFill>
                <a:latin typeface="Cascadia Mono" panose="020B0609020000020004" pitchFamily="49" charset="0"/>
                <a:cs typeface="Cascadia Mono" panose="020B0609020000020004" pitchFamily="49" charset="0"/>
              </a:rPr>
              <a:t># Tuesday</a:t>
            </a:r>
            <a:endParaRPr lang="zh-CN" altLang="en-US" dirty="0">
              <a:solidFill>
                <a:srgbClr val="00B050"/>
              </a:solidFill>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["Change %"].</a:t>
            </a:r>
            <a:r>
              <a:rPr lang="en-US" altLang="zh-CN" dirty="0" err="1">
                <a:solidFill>
                  <a:srgbClr val="0070C0"/>
                </a:solidFill>
                <a:latin typeface="Cascadia Mono" panose="020B0609020000020004" pitchFamily="49" charset="0"/>
                <a:cs typeface="Cascadia Mono" panose="020B0609020000020004" pitchFamily="49" charset="0"/>
              </a:rPr>
              <a:t>astype</a:t>
            </a:r>
            <a:r>
              <a:rPr lang="en-US" altLang="zh-CN" dirty="0">
                <a:solidFill>
                  <a:srgbClr val="0070C0"/>
                </a:solidFill>
                <a:latin typeface="Cascadia Mono" panose="020B0609020000020004" pitchFamily="49" charset="0"/>
                <a:cs typeface="Cascadia Mono" panose="020B0609020000020004" pitchFamily="49" charset="0"/>
              </a:rPr>
              <a:t>("float")</a:t>
            </a:r>
            <a:endParaRPr lang="zh-CN" altLang="en-US"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["Change %"].</a:t>
            </a:r>
            <a:r>
              <a:rPr lang="en-US" altLang="zh-CN" dirty="0" err="1">
                <a:solidFill>
                  <a:srgbClr val="0070C0"/>
                </a:solidFill>
                <a:latin typeface="Cascadia Mono" panose="020B0609020000020004" pitchFamily="49" charset="0"/>
                <a:cs typeface="Cascadia Mono" panose="020B0609020000020004" pitchFamily="49" charset="0"/>
              </a:rPr>
              <a:t>astype</a:t>
            </a:r>
            <a:r>
              <a:rPr lang="en-US" altLang="zh-CN" dirty="0">
                <a:solidFill>
                  <a:srgbClr val="0070C0"/>
                </a:solidFill>
                <a:latin typeface="Cascadia Mono" panose="020B0609020000020004" pitchFamily="49" charset="0"/>
                <a:cs typeface="Cascadia Mono" panose="020B0609020000020004" pitchFamily="49" charset="0"/>
              </a:rPr>
              <a:t>("Float64")</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3883730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01860-5D2A-57C3-BDF2-C7052B69A7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CB8DF7-04CC-2524-64C1-A50EBD89A71D}"/>
              </a:ext>
            </a:extLst>
          </p:cNvPr>
          <p:cNvSpPr>
            <a:spLocks noGrp="1"/>
          </p:cNvSpPr>
          <p:nvPr>
            <p:ph type="title"/>
          </p:nvPr>
        </p:nvSpPr>
        <p:spPr/>
        <p:txBody>
          <a:bodyPr/>
          <a:lstStyle/>
          <a:p>
            <a:r>
              <a:rPr lang="en-US" altLang="zh-CN" dirty="0"/>
              <a:t>Web scraping &amp; text preprocessing</a:t>
            </a:r>
            <a:endParaRPr lang="zh-CN" altLang="en-US" dirty="0"/>
          </a:p>
        </p:txBody>
      </p:sp>
      <p:sp>
        <p:nvSpPr>
          <p:cNvPr id="3" name="内容占位符 2">
            <a:extLst>
              <a:ext uri="{FF2B5EF4-FFF2-40B4-BE49-F238E27FC236}">
                <a16:creationId xmlns:a16="http://schemas.microsoft.com/office/drawing/2014/main" id="{AE9DD684-67DE-6D96-724A-D08ADB76E689}"/>
              </a:ext>
            </a:extLst>
          </p:cNvPr>
          <p:cNvSpPr>
            <a:spLocks noGrp="1"/>
          </p:cNvSpPr>
          <p:nvPr>
            <p:ph idx="1"/>
          </p:nvPr>
        </p:nvSpPr>
        <p:spPr/>
        <p:txBody>
          <a:bodyPr/>
          <a:lstStyle/>
          <a:p>
            <a:r>
              <a:rPr lang="en-US" altLang="zh-CN" dirty="0"/>
              <a:t>Handling missing data</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df.dropna</a:t>
            </a:r>
            <a:r>
              <a:rPr lang="en-US" altLang="zh-CN" dirty="0">
                <a:solidFill>
                  <a:srgbClr val="0070C0"/>
                </a:solidFill>
                <a:latin typeface="Cascadia Mono" panose="020B0609020000020004" pitchFamily="49" charset="0"/>
                <a:cs typeface="Cascadia Mono" panose="020B0609020000020004" pitchFamily="49" charset="0"/>
              </a:rPr>
              <a:t>(subset=["Dog Population"])</a:t>
            </a:r>
            <a:endParaRPr lang="zh-CN" altLang="en-US" dirty="0">
              <a:solidFill>
                <a:srgbClr val="00B050"/>
              </a:solidFill>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["Dog Population"].</a:t>
            </a:r>
            <a:r>
              <a:rPr lang="en-US" altLang="zh-CN" dirty="0" err="1">
                <a:solidFill>
                  <a:srgbClr val="0070C0"/>
                </a:solidFill>
                <a:latin typeface="Cascadia Mono" panose="020B0609020000020004" pitchFamily="49" charset="0"/>
                <a:cs typeface="Cascadia Mono" panose="020B0609020000020004" pitchFamily="49" charset="0"/>
              </a:rPr>
              <a:t>fillna</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Contains</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["Official Language"].</a:t>
            </a:r>
            <a:r>
              <a:rPr lang="en-US" altLang="zh-CN" dirty="0" err="1">
                <a:solidFill>
                  <a:srgbClr val="0070C0"/>
                </a:solidFill>
                <a:latin typeface="Cascadia Mono" panose="020B0609020000020004" pitchFamily="49" charset="0"/>
                <a:cs typeface="Cascadia Mono" panose="020B0609020000020004" pitchFamily="49" charset="0"/>
              </a:rPr>
              <a:t>str.contains</a:t>
            </a:r>
            <a:r>
              <a:rPr lang="en-US" altLang="zh-CN" dirty="0">
                <a:solidFill>
                  <a:srgbClr val="0070C0"/>
                </a:solidFill>
                <a:latin typeface="Cascadia Mono" panose="020B0609020000020004" pitchFamily="49" charset="0"/>
                <a:cs typeface="Cascadia Mono" panose="020B0609020000020004" pitchFamily="49" charset="0"/>
              </a:rPr>
              <a:t>("English", case = False)</a:t>
            </a:r>
          </a:p>
          <a:p>
            <a:pPr lvl="1"/>
            <a:endParaRPr lang="en-US" altLang="zh-CN" dirty="0"/>
          </a:p>
          <a:p>
            <a:r>
              <a:rPr lang="en-US" altLang="zh-CN" dirty="0"/>
              <a:t>String processing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["Country"].</a:t>
            </a:r>
            <a:r>
              <a:rPr lang="en-US" altLang="zh-CN" dirty="0" err="1">
                <a:solidFill>
                  <a:srgbClr val="0070C0"/>
                </a:solidFill>
                <a:latin typeface="Cascadia Mono" panose="020B0609020000020004" pitchFamily="49" charset="0"/>
                <a:cs typeface="Cascadia Mono" panose="020B0609020000020004" pitchFamily="49" charset="0"/>
              </a:rPr>
              <a:t>str.split</a:t>
            </a:r>
            <a:r>
              <a:rPr lang="en-US" altLang="zh-CN" dirty="0">
                <a:solidFill>
                  <a:srgbClr val="0070C0"/>
                </a:solidFill>
                <a:latin typeface="Cascadia Mono" panose="020B0609020000020004" pitchFamily="49" charset="0"/>
                <a:cs typeface="Cascadia Mono" panose="020B0609020000020004" pitchFamily="49" charset="0"/>
              </a:rPr>
              <a:t>("[").str[0].</a:t>
            </a:r>
            <a:r>
              <a:rPr lang="en-US" altLang="zh-CN" dirty="0" err="1">
                <a:solidFill>
                  <a:srgbClr val="0070C0"/>
                </a:solidFill>
                <a:latin typeface="Cascadia Mono" panose="020B0609020000020004" pitchFamily="49" charset="0"/>
                <a:cs typeface="Cascadia Mono" panose="020B0609020000020004" pitchFamily="49" charset="0"/>
              </a:rPr>
              <a:t>str.strip</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endParaRPr lang="zh-CN" altLang="en-US" dirty="0"/>
          </a:p>
        </p:txBody>
      </p:sp>
    </p:spTree>
    <p:extLst>
      <p:ext uri="{BB962C8B-B14F-4D97-AF65-F5344CB8AC3E}">
        <p14:creationId xmlns:p14="http://schemas.microsoft.com/office/powerpoint/2010/main" val="6762791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8AEF-B6BF-CC29-AE72-52F9D52BDB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201772E-1005-9764-3C19-D49D9D19F8D3}"/>
              </a:ext>
            </a:extLst>
          </p:cNvPr>
          <p:cNvSpPr>
            <a:spLocks noGrp="1"/>
          </p:cNvSpPr>
          <p:nvPr>
            <p:ph type="title"/>
          </p:nvPr>
        </p:nvSpPr>
        <p:spPr/>
        <p:txBody>
          <a:bodyPr/>
          <a:lstStyle/>
          <a:p>
            <a:r>
              <a:rPr lang="en-US" altLang="zh-CN" dirty="0"/>
              <a:t>Web scraping &amp; text preprocessing</a:t>
            </a:r>
            <a:endParaRPr lang="zh-CN" altLang="en-US" dirty="0"/>
          </a:p>
        </p:txBody>
      </p:sp>
      <p:sp>
        <p:nvSpPr>
          <p:cNvPr id="3" name="内容占位符 2">
            <a:extLst>
              <a:ext uri="{FF2B5EF4-FFF2-40B4-BE49-F238E27FC236}">
                <a16:creationId xmlns:a16="http://schemas.microsoft.com/office/drawing/2014/main" id="{66770CF4-7907-BE1A-FC1F-CB67502CDE9D}"/>
              </a:ext>
            </a:extLst>
          </p:cNvPr>
          <p:cNvSpPr>
            <a:spLocks noGrp="1"/>
          </p:cNvSpPr>
          <p:nvPr>
            <p:ph idx="1"/>
          </p:nvPr>
        </p:nvSpPr>
        <p:spPr/>
        <p:txBody>
          <a:bodyPr/>
          <a:lstStyle/>
          <a:p>
            <a:r>
              <a:rPr lang="en-US" altLang="zh-CN" dirty="0"/>
              <a:t>Networking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pd.read_html</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sz="1200" dirty="0">
                <a:solidFill>
                  <a:srgbClr val="0070C0"/>
                </a:solidFill>
                <a:latin typeface="Cascadia Mono" panose="020B0609020000020004" pitchFamily="49" charset="0"/>
                <a:cs typeface="Cascadia Mono" panose="020B0609020000020004" pitchFamily="49" charset="0"/>
              </a:rPr>
              <a:t>https://dlai-lc-dag.s3.useast-2.amazonaws.com/countries_and_pet_population.html</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Requests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requests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 "http://www.seasky.org/astronomy/astronomy-calendar-2030.html"</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response = </a:t>
            </a:r>
            <a:r>
              <a:rPr lang="en-US" altLang="zh-CN" dirty="0" err="1">
                <a:solidFill>
                  <a:srgbClr val="0070C0"/>
                </a:solidFill>
                <a:latin typeface="Cascadia Mono" panose="020B0609020000020004" pitchFamily="49" charset="0"/>
                <a:cs typeface="Cascadia Mono" panose="020B0609020000020004" pitchFamily="49" charset="0"/>
              </a:rPr>
              <a:t>requests.get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response.status_code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response.content</a:t>
            </a:r>
            <a:endParaRPr lang="en-US" altLang="zh-CN" dirty="0">
              <a:solidFill>
                <a:srgbClr val="0070C0"/>
              </a:solidFill>
              <a:latin typeface="Cascadia Mono" panose="020B0609020000020004" pitchFamily="49" charset="0"/>
              <a:cs typeface="Cascadia Mono" panose="020B0609020000020004" pitchFamily="49" charset="0"/>
            </a:endParaRPr>
          </a:p>
          <a:p>
            <a:pPr lvl="1"/>
            <a:endParaRPr lang="en-US" altLang="zh-CN" dirty="0"/>
          </a:p>
          <a:p>
            <a:r>
              <a:rPr lang="en-US" altLang="zh-CN" dirty="0"/>
              <a:t>Beautiful Soup</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soup.find_all</a:t>
            </a:r>
            <a:r>
              <a:rPr lang="en-US" altLang="zh-CN" dirty="0">
                <a:solidFill>
                  <a:srgbClr val="0070C0"/>
                </a:solidFill>
                <a:latin typeface="Cascadia Mono" panose="020B0609020000020004" pitchFamily="49" charset="0"/>
                <a:cs typeface="Cascadia Mono" panose="020B0609020000020004" pitchFamily="49" charset="0"/>
              </a:rPr>
              <a:t>("li", class_ = True)</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for event in </a:t>
            </a:r>
            <a:r>
              <a:rPr lang="en-US" altLang="zh-CN" dirty="0" err="1">
                <a:solidFill>
                  <a:srgbClr val="0070C0"/>
                </a:solidFill>
                <a:latin typeface="Cascadia Mono" panose="020B0609020000020004" pitchFamily="49" charset="0"/>
                <a:cs typeface="Cascadia Mono" panose="020B0609020000020004" pitchFamily="49" charset="0"/>
              </a:rPr>
              <a:t>soup.find_all</a:t>
            </a:r>
            <a:r>
              <a:rPr lang="en-US" altLang="zh-CN" dirty="0">
                <a:solidFill>
                  <a:srgbClr val="0070C0"/>
                </a:solidFill>
                <a:latin typeface="Cascadia Mono" panose="020B0609020000020004" pitchFamily="49" charset="0"/>
                <a:cs typeface="Cascadia Mono" panose="020B0609020000020004" pitchFamily="49" charset="0"/>
              </a:rPr>
              <a:t>("li", class_ = True):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date = </a:t>
            </a:r>
            <a:r>
              <a:rPr lang="en-US" altLang="zh-CN" dirty="0" err="1">
                <a:solidFill>
                  <a:srgbClr val="0070C0"/>
                </a:solidFill>
                <a:latin typeface="Cascadia Mono" panose="020B0609020000020004" pitchFamily="49" charset="0"/>
                <a:cs typeface="Cascadia Mono" panose="020B0609020000020004" pitchFamily="49" charset="0"/>
              </a:rPr>
              <a:t>soup.find</a:t>
            </a:r>
            <a:r>
              <a:rPr lang="en-US" altLang="zh-CN" dirty="0">
                <a:solidFill>
                  <a:srgbClr val="0070C0"/>
                </a:solidFill>
                <a:latin typeface="Cascadia Mono" panose="020B0609020000020004" pitchFamily="49" charset="0"/>
                <a:cs typeface="Cascadia Mono" panose="020B0609020000020004" pitchFamily="49" charset="0"/>
              </a:rPr>
              <a:t>("span", class_ = "date-text").text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event_list.append</a:t>
            </a:r>
            <a:r>
              <a:rPr lang="en-US" altLang="zh-CN" dirty="0">
                <a:solidFill>
                  <a:srgbClr val="0070C0"/>
                </a:solidFill>
                <a:latin typeface="Cascadia Mono" panose="020B0609020000020004" pitchFamily="49" charset="0"/>
                <a:cs typeface="Cascadia Mono" panose="020B0609020000020004" pitchFamily="49" charset="0"/>
              </a:rPr>
              <a:t>([date, title, description])</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pd.DataFrame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event_list</a:t>
            </a:r>
            <a:r>
              <a:rPr lang="en-US" altLang="zh-CN" dirty="0">
                <a:solidFill>
                  <a:srgbClr val="0070C0"/>
                </a:solidFill>
                <a:latin typeface="Cascadia Mono" panose="020B0609020000020004" pitchFamily="49" charset="0"/>
                <a:cs typeface="Cascadia Mono" panose="020B0609020000020004" pitchFamily="49" charset="0"/>
              </a:rPr>
              <a:t>)</a:t>
            </a:r>
          </a:p>
        </p:txBody>
      </p:sp>
    </p:spTree>
    <p:extLst>
      <p:ext uri="{BB962C8B-B14F-4D97-AF65-F5344CB8AC3E}">
        <p14:creationId xmlns:p14="http://schemas.microsoft.com/office/powerpoint/2010/main" val="29150522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9DFFD-E12C-2CB4-ADEA-64BB0F514F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734D7E-5A32-BAC4-EE13-DEE99E0E0043}"/>
              </a:ext>
            </a:extLst>
          </p:cNvPr>
          <p:cNvSpPr>
            <a:spLocks noGrp="1"/>
          </p:cNvSpPr>
          <p:nvPr>
            <p:ph type="title"/>
          </p:nvPr>
        </p:nvSpPr>
        <p:spPr/>
        <p:txBody>
          <a:bodyPr/>
          <a:lstStyle/>
          <a:p>
            <a:r>
              <a:rPr lang="en-US" altLang="zh-CN" dirty="0"/>
              <a:t>Web scraping &amp; text preprocessing</a:t>
            </a:r>
            <a:endParaRPr lang="zh-CN" altLang="en-US" dirty="0"/>
          </a:p>
        </p:txBody>
      </p:sp>
      <p:sp>
        <p:nvSpPr>
          <p:cNvPr id="3" name="内容占位符 2">
            <a:extLst>
              <a:ext uri="{FF2B5EF4-FFF2-40B4-BE49-F238E27FC236}">
                <a16:creationId xmlns:a16="http://schemas.microsoft.com/office/drawing/2014/main" id="{28FA73A7-C806-6C8A-E78D-69A2D2959E34}"/>
              </a:ext>
            </a:extLst>
          </p:cNvPr>
          <p:cNvSpPr>
            <a:spLocks noGrp="1"/>
          </p:cNvSpPr>
          <p:nvPr>
            <p:ph idx="1"/>
          </p:nvPr>
        </p:nvSpPr>
        <p:spPr/>
        <p:txBody>
          <a:bodyPr/>
          <a:lstStyle/>
          <a:p>
            <a:r>
              <a:rPr lang="en-US" altLang="zh-CN" dirty="0" err="1"/>
              <a:t>DataFrame</a:t>
            </a:r>
            <a:r>
              <a:rPr lang="en-US" altLang="zh-CN" dirty="0"/>
              <a:t> setup</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df.columns</a:t>
            </a:r>
            <a:r>
              <a:rPr lang="en-US" altLang="zh-CN" dirty="0">
                <a:solidFill>
                  <a:srgbClr val="0070C0"/>
                </a:solidFill>
                <a:latin typeface="Cascadia Mono" panose="020B0609020000020004" pitchFamily="49" charset="0"/>
                <a:cs typeface="Cascadia Mono" panose="020B0609020000020004" pitchFamily="49" charset="0"/>
              </a:rPr>
              <a:t> = ["date", "title", "description"]</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["title"]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["title"].</a:t>
            </a:r>
            <a:r>
              <a:rPr lang="en-US" altLang="zh-CN" dirty="0" err="1">
                <a:solidFill>
                  <a:srgbClr val="0070C0"/>
                </a:solidFill>
                <a:latin typeface="Cascadia Mono" panose="020B0609020000020004" pitchFamily="49" charset="0"/>
                <a:cs typeface="Cascadia Mono" panose="020B0609020000020004" pitchFamily="49" charset="0"/>
              </a:rPr>
              <a:t>str.replace</a:t>
            </a:r>
            <a:r>
              <a:rPr lang="en-US" altLang="zh-CN" dirty="0">
                <a:solidFill>
                  <a:srgbClr val="0070C0"/>
                </a:solidFill>
                <a:latin typeface="Cascadia Mono" panose="020B0609020000020004" pitchFamily="49" charset="0"/>
                <a:cs typeface="Cascadia Mono" panose="020B0609020000020004" pitchFamily="49" charset="0"/>
              </a:rPr>
              <a:t>(".", "", regex=False)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["date"]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["date"].</a:t>
            </a:r>
            <a:r>
              <a:rPr lang="en-US" altLang="zh-CN" dirty="0" err="1">
                <a:solidFill>
                  <a:srgbClr val="0070C0"/>
                </a:solidFill>
                <a:latin typeface="Cascadia Mono" panose="020B0609020000020004" pitchFamily="49" charset="0"/>
                <a:cs typeface="Cascadia Mono" panose="020B0609020000020004" pitchFamily="49" charset="0"/>
              </a:rPr>
              <a:t>str.split</a:t>
            </a:r>
            <a:r>
              <a:rPr lang="en-US" altLang="zh-CN" dirty="0">
                <a:solidFill>
                  <a:srgbClr val="0070C0"/>
                </a:solidFill>
                <a:latin typeface="Cascadia Mono" panose="020B0609020000020004" pitchFamily="49" charset="0"/>
                <a:cs typeface="Cascadia Mono" panose="020B0609020000020004" pitchFamily="49" charset="0"/>
              </a:rPr>
              <a:t>(",").str[0]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["description"]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["description"].</a:t>
            </a:r>
            <a:r>
              <a:rPr lang="en-US" altLang="zh-CN" dirty="0" err="1">
                <a:solidFill>
                  <a:srgbClr val="0070C0"/>
                </a:solidFill>
                <a:latin typeface="Cascadia Mono" panose="020B0609020000020004" pitchFamily="49" charset="0"/>
                <a:cs typeface="Cascadia Mono" panose="020B0609020000020004" pitchFamily="49" charset="0"/>
              </a:rPr>
              <a:t>str.split</a:t>
            </a:r>
            <a:r>
              <a:rPr lang="en-US" altLang="zh-CN" dirty="0">
                <a:solidFill>
                  <a:srgbClr val="0070C0"/>
                </a:solidFill>
                <a:latin typeface="Cascadia Mono" panose="020B0609020000020004" pitchFamily="49" charset="0"/>
                <a:cs typeface="Cascadia Mono" panose="020B0609020000020004" pitchFamily="49" charset="0"/>
              </a:rPr>
              <a:t>(".", n=1).str[1]</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def </a:t>
            </a:r>
            <a:r>
              <a:rPr lang="en-US" altLang="zh-CN" dirty="0" err="1">
                <a:solidFill>
                  <a:srgbClr val="0070C0"/>
                </a:solidFill>
                <a:latin typeface="Cascadia Mono" panose="020B0609020000020004" pitchFamily="49" charset="0"/>
                <a:cs typeface="Cascadia Mono" panose="020B0609020000020004" pitchFamily="49" charset="0"/>
              </a:rPr>
              <a:t>convert_datetime_column</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 year):</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if not pd.api.types.is_datetime64_any_dtype(</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 + f" {year}"</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pd.to_datetime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dataframe</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column_name</a:t>
            </a:r>
            <a:r>
              <a:rPr lang="en-US" altLang="zh-CN" dirty="0">
                <a:solidFill>
                  <a:srgbClr val="0070C0"/>
                </a:solidFill>
                <a:latin typeface="Cascadia Mono" panose="020B0609020000020004" pitchFamily="49" charset="0"/>
                <a:cs typeface="Cascadia Mono" panose="020B0609020000020004" pitchFamily="49" charset="0"/>
              </a:rPr>
              <a:t>], format='%B %d %Y')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return </a:t>
            </a:r>
            <a:r>
              <a:rPr lang="en-US" altLang="zh-CN" dirty="0" err="1">
                <a:solidFill>
                  <a:srgbClr val="0070C0"/>
                </a:solidFill>
                <a:latin typeface="Cascadia Mono" panose="020B0609020000020004" pitchFamily="49" charset="0"/>
                <a:cs typeface="Cascadia Mono" panose="020B0609020000020004" pitchFamily="49" charset="0"/>
              </a:rPr>
              <a:t>dataframe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convert_datetime_column</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"date", 2030)</a:t>
            </a:r>
          </a:p>
          <a:p>
            <a:pPr lvl="1"/>
            <a:endParaRPr lang="en-US" altLang="zh-CN" dirty="0"/>
          </a:p>
          <a:p>
            <a:r>
              <a:rPr lang="en-US" altLang="zh-CN" dirty="0"/>
              <a:t>Regex and string methods</a:t>
            </a:r>
            <a:endParaRPr lang="zh-CN" altLang="en-US" dirty="0"/>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pattern = r"\d{3}-\d{3}-\d{4}"</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["message"].</a:t>
            </a:r>
            <a:r>
              <a:rPr lang="en-US" altLang="zh-CN" dirty="0" err="1">
                <a:solidFill>
                  <a:srgbClr val="0070C0"/>
                </a:solidFill>
                <a:latin typeface="Cascadia Mono" panose="020B0609020000020004" pitchFamily="49" charset="0"/>
                <a:cs typeface="Cascadia Mono" panose="020B0609020000020004" pitchFamily="49" charset="0"/>
              </a:rPr>
              <a:t>str.extract</a:t>
            </a:r>
            <a:r>
              <a:rPr lang="en-US" altLang="zh-CN" dirty="0">
                <a:solidFill>
                  <a:srgbClr val="0070C0"/>
                </a:solidFill>
                <a:latin typeface="Cascadia Mono" panose="020B0609020000020004" pitchFamily="49" charset="0"/>
                <a:cs typeface="Cascadia Mono" panose="020B0609020000020004" pitchFamily="49" charset="0"/>
              </a:rPr>
              <a:t>(pattern)	</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str.contains</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str.replace</a:t>
            </a:r>
            <a:r>
              <a:rPr lang="en-US" altLang="zh-CN" dirty="0">
                <a:solidFill>
                  <a:srgbClr val="00B050"/>
                </a:solidFill>
                <a:latin typeface="Cascadia Mono" panose="020B0609020000020004" pitchFamily="49" charset="0"/>
                <a:cs typeface="Cascadia Mono" panose="020B0609020000020004" pitchFamily="49" charset="0"/>
              </a:rPr>
              <a:t>(), </a:t>
            </a:r>
            <a:r>
              <a:rPr lang="en-US" altLang="zh-CN" dirty="0" err="1">
                <a:solidFill>
                  <a:srgbClr val="00B050"/>
                </a:solidFill>
                <a:latin typeface="Cascadia Mono" panose="020B0609020000020004" pitchFamily="49" charset="0"/>
                <a:cs typeface="Cascadia Mono" panose="020B0609020000020004" pitchFamily="49" charset="0"/>
              </a:rPr>
              <a:t>str.extract</a:t>
            </a:r>
            <a:r>
              <a:rPr lang="en-US" altLang="zh-CN" dirty="0">
                <a:solidFill>
                  <a:srgbClr val="00B050"/>
                </a:solidFill>
                <a:latin typeface="Cascadia Mono" panose="020B0609020000020004" pitchFamily="49" charset="0"/>
                <a:cs typeface="Cascadia Mono" panose="020B0609020000020004" pitchFamily="49" charset="0"/>
              </a:rPr>
              <a:t>()</a:t>
            </a:r>
          </a:p>
        </p:txBody>
      </p:sp>
    </p:spTree>
    <p:extLst>
      <p:ext uri="{BB962C8B-B14F-4D97-AF65-F5344CB8AC3E}">
        <p14:creationId xmlns:p14="http://schemas.microsoft.com/office/powerpoint/2010/main" val="5694239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A66FB2-22C3-33BC-E155-F2E5DB058094}"/>
              </a:ext>
            </a:extLst>
          </p:cNvPr>
          <p:cNvSpPr>
            <a:spLocks noGrp="1"/>
          </p:cNvSpPr>
          <p:nvPr>
            <p:ph type="title"/>
          </p:nvPr>
        </p:nvSpPr>
        <p:spPr/>
        <p:txBody>
          <a:bodyPr/>
          <a:lstStyle/>
          <a:p>
            <a:r>
              <a:rPr lang="en-US" altLang="zh-CN" dirty="0"/>
              <a:t>Web scraping &amp; text preprocessing</a:t>
            </a:r>
            <a:endParaRPr lang="zh-CN" altLang="en-US" dirty="0"/>
          </a:p>
        </p:txBody>
      </p:sp>
      <p:sp>
        <p:nvSpPr>
          <p:cNvPr id="3" name="内容占位符 2">
            <a:extLst>
              <a:ext uri="{FF2B5EF4-FFF2-40B4-BE49-F238E27FC236}">
                <a16:creationId xmlns:a16="http://schemas.microsoft.com/office/drawing/2014/main" id="{633D66FC-EDA7-F14B-38AF-3D8A785E1BD6}"/>
              </a:ext>
            </a:extLst>
          </p:cNvPr>
          <p:cNvSpPr>
            <a:spLocks noGrp="1"/>
          </p:cNvSpPr>
          <p:nvPr>
            <p:ph idx="1"/>
          </p:nvPr>
        </p:nvSpPr>
        <p:spPr/>
        <p:txBody>
          <a:bodyPr/>
          <a:lstStyle/>
          <a:p>
            <a:pPr marL="173038" lvl="2">
              <a:spcBef>
                <a:spcPct val="50000"/>
              </a:spcBef>
              <a:buFont typeface="Wingdings" panose="05000000000000000000" pitchFamily="2" charset="2"/>
              <a:buChar char="§"/>
            </a:pPr>
            <a:r>
              <a:rPr lang="en-US" altLang="zh-CN" dirty="0"/>
              <a:t>Server load and resource use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time</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for page in </a:t>
            </a:r>
            <a:r>
              <a:rPr lang="en-US" altLang="zh-CN" dirty="0" err="1">
                <a:solidFill>
                  <a:srgbClr val="0070C0"/>
                </a:solidFill>
                <a:latin typeface="Cascadia Mono" panose="020B0609020000020004" pitchFamily="49" charset="0"/>
                <a:cs typeface="Cascadia Mono" panose="020B0609020000020004" pitchFamily="49" charset="0"/>
              </a:rPr>
              <a:t>pages_to_scrape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scrape_page</a:t>
            </a:r>
            <a:r>
              <a:rPr lang="en-US" altLang="zh-CN" dirty="0">
                <a:solidFill>
                  <a:srgbClr val="0070C0"/>
                </a:solidFill>
                <a:latin typeface="Cascadia Mono" panose="020B0609020000020004" pitchFamily="49" charset="0"/>
                <a:cs typeface="Cascadia Mono" panose="020B0609020000020004" pitchFamily="49" charset="0"/>
              </a:rPr>
              <a:t>(page)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time.sleep</a:t>
            </a:r>
            <a:r>
              <a:rPr lang="en-US" altLang="zh-CN" dirty="0">
                <a:solidFill>
                  <a:srgbClr val="0070C0"/>
                </a:solidFill>
                <a:latin typeface="Cascadia Mono" panose="020B0609020000020004" pitchFamily="49" charset="0"/>
                <a:cs typeface="Cascadia Mono" panose="020B0609020000020004" pitchFamily="49" charset="0"/>
              </a:rPr>
              <a:t>(1)</a:t>
            </a:r>
            <a:endParaRPr lang="zh-CN" altLang="en-US" dirty="0"/>
          </a:p>
        </p:txBody>
      </p:sp>
    </p:spTree>
    <p:extLst>
      <p:ext uri="{BB962C8B-B14F-4D97-AF65-F5344CB8AC3E}">
        <p14:creationId xmlns:p14="http://schemas.microsoft.com/office/powerpoint/2010/main" val="12120074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8E037-1D69-5636-DB62-E832E89E5E0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42D3363-0E66-6373-7ECF-5137A625DDA7}"/>
              </a:ext>
            </a:extLst>
          </p:cNvPr>
          <p:cNvSpPr>
            <a:spLocks noGrp="1"/>
          </p:cNvSpPr>
          <p:nvPr>
            <p:ph type="title"/>
          </p:nvPr>
        </p:nvSpPr>
        <p:spPr/>
        <p:txBody>
          <a:bodyPr/>
          <a:lstStyle/>
          <a:p>
            <a:r>
              <a:rPr lang="en-US" altLang="zh-CN" dirty="0"/>
              <a:t>Module 2</a:t>
            </a:r>
            <a:endParaRPr lang="zh-CN" altLang="en-US" dirty="0"/>
          </a:p>
        </p:txBody>
      </p:sp>
      <p:sp>
        <p:nvSpPr>
          <p:cNvPr id="5" name="文本占位符 4">
            <a:extLst>
              <a:ext uri="{FF2B5EF4-FFF2-40B4-BE49-F238E27FC236}">
                <a16:creationId xmlns:a16="http://schemas.microsoft.com/office/drawing/2014/main" id="{CFB23057-398E-EBC7-1027-C0172193792D}"/>
              </a:ext>
            </a:extLst>
          </p:cNvPr>
          <p:cNvSpPr>
            <a:spLocks noGrp="1"/>
          </p:cNvSpPr>
          <p:nvPr>
            <p:ph type="body" idx="1"/>
          </p:nvPr>
        </p:nvSpPr>
        <p:spPr/>
        <p:txBody>
          <a:bodyPr/>
          <a:lstStyle/>
          <a:p>
            <a:r>
              <a:rPr lang="en-US" altLang="zh-CN" dirty="0"/>
              <a:t>APIs &amp; numerical cleaning</a:t>
            </a:r>
            <a:endParaRPr lang="zh-CN" altLang="en-US" dirty="0"/>
          </a:p>
        </p:txBody>
      </p:sp>
    </p:spTree>
    <p:extLst>
      <p:ext uri="{BB962C8B-B14F-4D97-AF65-F5344CB8AC3E}">
        <p14:creationId xmlns:p14="http://schemas.microsoft.com/office/powerpoint/2010/main" val="4249841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63A8-1B4E-6C1D-475C-FB00032092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33C11B-80F3-B4EE-F65F-0A1B97F539D2}"/>
              </a:ext>
            </a:extLst>
          </p:cNvPr>
          <p:cNvSpPr>
            <a:spLocks noGrp="1"/>
          </p:cNvSpPr>
          <p:nvPr>
            <p:ph type="title"/>
          </p:nvPr>
        </p:nvSpPr>
        <p:spPr/>
        <p:txBody>
          <a:bodyPr/>
          <a:lstStyle/>
          <a:p>
            <a:r>
              <a:rPr lang="en-US" altLang="zh-CN" dirty="0"/>
              <a:t>APIs &amp; Numerical Cleaning</a:t>
            </a:r>
            <a:endParaRPr lang="zh-CN" altLang="en-US" dirty="0"/>
          </a:p>
        </p:txBody>
      </p:sp>
      <p:sp>
        <p:nvSpPr>
          <p:cNvPr id="3" name="内容占位符 2">
            <a:extLst>
              <a:ext uri="{FF2B5EF4-FFF2-40B4-BE49-F238E27FC236}">
                <a16:creationId xmlns:a16="http://schemas.microsoft.com/office/drawing/2014/main" id="{43E61041-0EB2-3DE4-306D-56C8FB2EB0C6}"/>
              </a:ext>
            </a:extLst>
          </p:cNvPr>
          <p:cNvSpPr>
            <a:spLocks noGrp="1"/>
          </p:cNvSpPr>
          <p:nvPr>
            <p:ph idx="1"/>
          </p:nvPr>
        </p:nvSpPr>
        <p:spPr/>
        <p:txBody>
          <a:bodyPr/>
          <a:lstStyle/>
          <a:p>
            <a:pPr marL="173038" lvl="2">
              <a:spcBef>
                <a:spcPct val="50000"/>
              </a:spcBef>
              <a:buFont typeface="Wingdings" panose="05000000000000000000" pitchFamily="2" charset="2"/>
              <a:buChar char="§"/>
            </a:pPr>
            <a:r>
              <a:rPr lang="en-US" altLang="zh-CN" dirty="0"/>
              <a:t>JSON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"name" : "Andromeda Galaxy",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distance_lightyears</a:t>
            </a:r>
            <a:r>
              <a:rPr lang="en-US" altLang="zh-CN" dirty="0">
                <a:solidFill>
                  <a:srgbClr val="0070C0"/>
                </a:solidFill>
                <a:latin typeface="Cascadia Mono" panose="020B0609020000020004" pitchFamily="49" charset="0"/>
                <a:cs typeface="Cascadia Mono" panose="020B0609020000020004" pitchFamily="49" charset="0"/>
              </a:rPr>
              <a:t>" : 2537000,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visible_from_earth</a:t>
            </a:r>
            <a:r>
              <a:rPr lang="en-US" altLang="zh-CN" dirty="0">
                <a:solidFill>
                  <a:srgbClr val="0070C0"/>
                </a:solidFill>
                <a:latin typeface="Cascadia Mono" panose="020B0609020000020004" pitchFamily="49" charset="0"/>
                <a:cs typeface="Cascadia Mono" panose="020B0609020000020004" pitchFamily="49" charset="0"/>
              </a:rPr>
              <a:t>" : true,</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neighboring_galaxies</a:t>
            </a:r>
            <a:r>
              <a:rPr lang="en-US" altLang="zh-CN" dirty="0">
                <a:solidFill>
                  <a:srgbClr val="0070C0"/>
                </a:solidFill>
                <a:latin typeface="Cascadia Mono" panose="020B0609020000020004" pitchFamily="49" charset="0"/>
                <a:cs typeface="Cascadia Mono" panose="020B0609020000020004" pitchFamily="49" charset="0"/>
              </a:rPr>
              <a:t>" : [ "Triangulum Galaxy", "Milky Way"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data["results"][0]["</a:t>
            </a:r>
            <a:r>
              <a:rPr lang="en-US" altLang="zh-CN" dirty="0" err="1">
                <a:solidFill>
                  <a:srgbClr val="0070C0"/>
                </a:solidFill>
                <a:latin typeface="Cascadia Mono" panose="020B0609020000020004" pitchFamily="49" charset="0"/>
                <a:cs typeface="Cascadia Mono" panose="020B0609020000020004" pitchFamily="49" charset="0"/>
              </a:rPr>
              <a:t>product_quantity</a:t>
            </a:r>
            <a:r>
              <a:rPr lang="en-US" altLang="zh-CN" dirty="0">
                <a:solidFill>
                  <a:srgbClr val="0070C0"/>
                </a:solidFill>
                <a:latin typeface="Cascadia Mono" panose="020B0609020000020004" pitchFamily="49" charset="0"/>
                <a:cs typeface="Cascadia Mono" panose="020B0609020000020004" pitchFamily="49" charset="0"/>
              </a:rPr>
              <a:t>"]</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API requests and responses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requests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pandas as pd</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 "https://api.fda.gov/food/</a:t>
            </a:r>
            <a:r>
              <a:rPr lang="en-US" altLang="zh-CN" dirty="0" err="1">
                <a:solidFill>
                  <a:srgbClr val="0070C0"/>
                </a:solidFill>
                <a:latin typeface="Cascadia Mono" panose="020B0609020000020004" pitchFamily="49" charset="0"/>
                <a:cs typeface="Cascadia Mono" panose="020B0609020000020004" pitchFamily="49" charset="0"/>
              </a:rPr>
              <a:t>enforcement.json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response = </a:t>
            </a:r>
            <a:r>
              <a:rPr lang="en-US" altLang="zh-CN" dirty="0" err="1">
                <a:solidFill>
                  <a:srgbClr val="0070C0"/>
                </a:solidFill>
                <a:latin typeface="Cascadia Mono" panose="020B0609020000020004" pitchFamily="49" charset="0"/>
                <a:cs typeface="Cascadia Mono" panose="020B0609020000020004" pitchFamily="49" charset="0"/>
              </a:rPr>
              <a:t>requests.get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print(</a:t>
            </a:r>
            <a:r>
              <a:rPr lang="en-US" altLang="zh-CN" dirty="0" err="1">
                <a:solidFill>
                  <a:srgbClr val="0070C0"/>
                </a:solidFill>
                <a:latin typeface="Cascadia Mono" panose="020B0609020000020004" pitchFamily="49" charset="0"/>
                <a:cs typeface="Cascadia Mono" panose="020B0609020000020004" pitchFamily="49" charset="0"/>
              </a:rPr>
              <a:t>response.status_code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data = </a:t>
            </a:r>
            <a:r>
              <a:rPr lang="en-US" altLang="zh-CN" dirty="0" err="1">
                <a:solidFill>
                  <a:srgbClr val="0070C0"/>
                </a:solidFill>
                <a:latin typeface="Cascadia Mono" panose="020B0609020000020004" pitchFamily="49" charset="0"/>
                <a:cs typeface="Cascadia Mono" panose="020B0609020000020004" pitchFamily="49" charset="0"/>
              </a:rPr>
              <a:t>response.json</a:t>
            </a:r>
            <a:r>
              <a:rPr lang="en-US" altLang="zh-CN" dirty="0">
                <a:solidFill>
                  <a:srgbClr val="0070C0"/>
                </a:solidFill>
                <a:latin typeface="Cascadia Mono" panose="020B0609020000020004" pitchFamily="49" charset="0"/>
                <a:cs typeface="Cascadia Mono" panose="020B0609020000020004" pitchFamily="49" charset="0"/>
              </a:rPr>
              <a:t>()</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10818109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9D136-5E9D-97CF-3F91-0550F3612E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F6088E-68B8-0D01-2164-4781D3B4592F}"/>
              </a:ext>
            </a:extLst>
          </p:cNvPr>
          <p:cNvSpPr>
            <a:spLocks noGrp="1"/>
          </p:cNvSpPr>
          <p:nvPr>
            <p:ph type="title"/>
          </p:nvPr>
        </p:nvSpPr>
        <p:spPr/>
        <p:txBody>
          <a:bodyPr/>
          <a:lstStyle/>
          <a:p>
            <a:r>
              <a:rPr lang="en-US" altLang="zh-CN" dirty="0"/>
              <a:t>APIs &amp; Numerical Cleaning</a:t>
            </a:r>
            <a:endParaRPr lang="zh-CN" altLang="en-US" dirty="0"/>
          </a:p>
        </p:txBody>
      </p:sp>
      <p:sp>
        <p:nvSpPr>
          <p:cNvPr id="3" name="内容占位符 2">
            <a:extLst>
              <a:ext uri="{FF2B5EF4-FFF2-40B4-BE49-F238E27FC236}">
                <a16:creationId xmlns:a16="http://schemas.microsoft.com/office/drawing/2014/main" id="{D389996D-0751-A51B-A666-2BAFE4B763D8}"/>
              </a:ext>
            </a:extLst>
          </p:cNvPr>
          <p:cNvSpPr>
            <a:spLocks noGrp="1"/>
          </p:cNvSpPr>
          <p:nvPr>
            <p:ph idx="1"/>
          </p:nvPr>
        </p:nvSpPr>
        <p:spPr/>
        <p:txBody>
          <a:bodyPr/>
          <a:lstStyle/>
          <a:p>
            <a:pPr marL="173038" lvl="2">
              <a:spcBef>
                <a:spcPct val="50000"/>
              </a:spcBef>
              <a:buFont typeface="Wingdings" panose="05000000000000000000" pitchFamily="2" charset="2"/>
              <a:buChar char="§"/>
            </a:pPr>
            <a:r>
              <a:rPr lang="en-US" altLang="zh-CN" dirty="0"/>
              <a:t>Query parameters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https://api.fda.gov/food/enforcement.json</a:t>
            </a:r>
            <a:r>
              <a:rPr lang="en-US" altLang="zh-CN" dirty="0">
                <a:solidFill>
                  <a:srgbClr val="FF0000"/>
                </a:solidFill>
                <a:latin typeface="Cascadia Mono" panose="020B0609020000020004" pitchFamily="49" charset="0"/>
                <a:cs typeface="Cascadia Mono" panose="020B0609020000020004" pitchFamily="49" charset="0"/>
              </a:rPr>
              <a:t>?</a:t>
            </a:r>
            <a:r>
              <a:rPr lang="en-US" altLang="zh-CN" dirty="0">
                <a:solidFill>
                  <a:schemeClr val="accent6"/>
                </a:solidFill>
                <a:latin typeface="Cascadia Mono" panose="020B0609020000020004" pitchFamily="49" charset="0"/>
                <a:cs typeface="Cascadia Mono" panose="020B0609020000020004" pitchFamily="49" charset="0"/>
              </a:rPr>
              <a:t>search=distribution_pattern:"nationwide"</a:t>
            </a:r>
            <a:r>
              <a:rPr lang="en-US" altLang="zh-CN" dirty="0">
                <a:solidFill>
                  <a:srgbClr val="FF0000"/>
                </a:solidFill>
                <a:latin typeface="Cascadia Mono" panose="020B0609020000020004" pitchFamily="49" charset="0"/>
                <a:cs typeface="Cascadia Mono" panose="020B0609020000020004" pitchFamily="49" charset="0"/>
              </a:rPr>
              <a:t>&amp;</a:t>
            </a:r>
            <a:r>
              <a:rPr lang="en-US" altLang="zh-CN" dirty="0">
                <a:solidFill>
                  <a:schemeClr val="accent6"/>
                </a:solidFill>
                <a:latin typeface="Cascadia Mono" panose="020B0609020000020004" pitchFamily="49" charset="0"/>
                <a:cs typeface="Cascadia Mono" panose="020B0609020000020004" pitchFamily="49" charset="0"/>
              </a:rPr>
              <a:t>limit=5</a:t>
            </a:r>
            <a:endParaRPr lang="zh-CN" altLang="en-US" dirty="0">
              <a:solidFill>
                <a:schemeClr val="accent6"/>
              </a:solidFill>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params = {...}</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requests.get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params = params)</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JSON to a </a:t>
            </a:r>
            <a:r>
              <a:rPr lang="en-US" altLang="zh-CN" dirty="0" err="1"/>
              <a:t>dataframe</a:t>
            </a:r>
            <a:endParaRPr lang="en-US" altLang="zh-CN" dirty="0"/>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pd.DataFrame</a:t>
            </a:r>
            <a:r>
              <a:rPr lang="en-US" altLang="zh-CN" dirty="0">
                <a:solidFill>
                  <a:srgbClr val="0070C0"/>
                </a:solidFill>
                <a:latin typeface="Cascadia Mono" panose="020B0609020000020004" pitchFamily="49" charset="0"/>
                <a:cs typeface="Cascadia Mono" panose="020B0609020000020004" pitchFamily="49" charset="0"/>
              </a:rPr>
              <a:t>(data["results"])</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Pagination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for </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 in range(25):</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params =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"limit": 1000,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"skip": </a:t>
            </a:r>
            <a:r>
              <a:rPr lang="en-US" altLang="zh-CN" dirty="0" err="1">
                <a:solidFill>
                  <a:srgbClr val="0070C0"/>
                </a:solidFill>
                <a:latin typeface="Cascadia Mono" panose="020B0609020000020004" pitchFamily="49" charset="0"/>
                <a:cs typeface="Cascadia Mono" panose="020B0609020000020004" pitchFamily="49" charset="0"/>
              </a:rPr>
              <a:t>i</a:t>
            </a:r>
            <a:r>
              <a:rPr lang="en-US" altLang="zh-CN" dirty="0">
                <a:solidFill>
                  <a:srgbClr val="0070C0"/>
                </a:solidFill>
                <a:latin typeface="Cascadia Mono" panose="020B0609020000020004" pitchFamily="49" charset="0"/>
                <a:cs typeface="Cascadia Mono" panose="020B0609020000020004" pitchFamily="49" charset="0"/>
              </a:rPr>
              <a:t> * 1000,</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data = </a:t>
            </a:r>
            <a:r>
              <a:rPr lang="en-US" altLang="zh-CN" dirty="0" err="1">
                <a:solidFill>
                  <a:srgbClr val="0070C0"/>
                </a:solidFill>
                <a:latin typeface="Cascadia Mono" panose="020B0609020000020004" pitchFamily="49" charset="0"/>
                <a:cs typeface="Cascadia Mono" panose="020B0609020000020004" pitchFamily="49" charset="0"/>
              </a:rPr>
              <a:t>requests.get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params=params).</a:t>
            </a:r>
            <a:r>
              <a:rPr lang="en-US" altLang="zh-CN" dirty="0" err="1">
                <a:solidFill>
                  <a:srgbClr val="0070C0"/>
                </a:solidFill>
                <a:latin typeface="Cascadia Mono" panose="020B0609020000020004" pitchFamily="49" charset="0"/>
                <a:cs typeface="Cascadia Mono" panose="020B0609020000020004" pitchFamily="49" charset="0"/>
              </a:rPr>
              <a:t>json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dfs.append</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pd.DataFrame</a:t>
            </a:r>
            <a:r>
              <a:rPr lang="en-US" altLang="zh-CN" dirty="0">
                <a:solidFill>
                  <a:srgbClr val="0070C0"/>
                </a:solidFill>
                <a:latin typeface="Cascadia Mono" panose="020B0609020000020004" pitchFamily="49" charset="0"/>
                <a:cs typeface="Cascadia Mono" panose="020B0609020000020004" pitchFamily="49" charset="0"/>
              </a:rPr>
              <a:t>(data["results"]))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pd.concat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dfs</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ignore_index</a:t>
            </a:r>
            <a:r>
              <a:rPr lang="en-US" altLang="zh-CN" dirty="0">
                <a:solidFill>
                  <a:srgbClr val="0070C0"/>
                </a:solidFill>
                <a:latin typeface="Cascadia Mono" panose="020B0609020000020004" pitchFamily="49" charset="0"/>
                <a:cs typeface="Cascadia Mono" panose="020B0609020000020004" pitchFamily="49" charset="0"/>
              </a:rPr>
              <a:t> = True )</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0750587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B4918-0D66-C713-888A-BFB9FC9A49D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76039A-4F93-D335-57BD-0EDB8A43C0CD}"/>
              </a:ext>
            </a:extLst>
          </p:cNvPr>
          <p:cNvSpPr>
            <a:spLocks noGrp="1"/>
          </p:cNvSpPr>
          <p:nvPr>
            <p:ph type="title"/>
          </p:nvPr>
        </p:nvSpPr>
        <p:spPr/>
        <p:txBody>
          <a:bodyPr/>
          <a:lstStyle/>
          <a:p>
            <a:r>
              <a:rPr lang="en-US" altLang="zh-CN" dirty="0"/>
              <a:t>APIs &amp; Numerical Cleaning</a:t>
            </a:r>
            <a:endParaRPr lang="zh-CN" altLang="en-US" dirty="0"/>
          </a:p>
        </p:txBody>
      </p:sp>
      <p:sp>
        <p:nvSpPr>
          <p:cNvPr id="3" name="内容占位符 2">
            <a:extLst>
              <a:ext uri="{FF2B5EF4-FFF2-40B4-BE49-F238E27FC236}">
                <a16:creationId xmlns:a16="http://schemas.microsoft.com/office/drawing/2014/main" id="{60325B2F-8723-3D38-C4ED-4B122CD03C32}"/>
              </a:ext>
            </a:extLst>
          </p:cNvPr>
          <p:cNvSpPr>
            <a:spLocks noGrp="1"/>
          </p:cNvSpPr>
          <p:nvPr>
            <p:ph idx="1"/>
          </p:nvPr>
        </p:nvSpPr>
        <p:spPr/>
        <p:txBody>
          <a:bodyPr/>
          <a:lstStyle/>
          <a:p>
            <a:pPr marL="173038" lvl="2">
              <a:spcBef>
                <a:spcPct val="50000"/>
              </a:spcBef>
              <a:buFont typeface="Wingdings" panose="05000000000000000000" pitchFamily="2" charset="2"/>
              <a:buChar char="§"/>
            </a:pPr>
            <a:r>
              <a:rPr lang="en-US" altLang="zh-CN" dirty="0"/>
              <a:t>Using an API key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params = {"</a:t>
            </a:r>
            <a:r>
              <a:rPr lang="en-US" altLang="zh-CN" dirty="0" err="1">
                <a:solidFill>
                  <a:srgbClr val="0070C0"/>
                </a:solidFill>
                <a:latin typeface="Cascadia Mono" panose="020B0609020000020004" pitchFamily="49" charset="0"/>
                <a:cs typeface="Cascadia Mono" panose="020B0609020000020004" pitchFamily="49" charset="0"/>
              </a:rPr>
              <a:t>api_key</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api_key</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 "https://2eraiuh.dlai.link/</a:t>
            </a:r>
            <a:r>
              <a:rPr lang="en-US" altLang="zh-CN" dirty="0" err="1">
                <a:solidFill>
                  <a:srgbClr val="0070C0"/>
                </a:solidFill>
                <a:latin typeface="Cascadia Mono" panose="020B0609020000020004" pitchFamily="49" charset="0"/>
                <a:cs typeface="Cascadia Mono" panose="020B0609020000020004" pitchFamily="49" charset="0"/>
              </a:rPr>
              <a:t>api</a:t>
            </a:r>
            <a:r>
              <a:rPr lang="en-US" altLang="zh-CN" dirty="0">
                <a:solidFill>
                  <a:srgbClr val="0070C0"/>
                </a:solidFill>
                <a:latin typeface="Cascadia Mono" panose="020B0609020000020004" pitchFamily="49" charset="0"/>
                <a:cs typeface="Cascadia Mono" panose="020B0609020000020004" pitchFamily="49" charset="0"/>
              </a:rPr>
              <a:t>/facilities"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response = </a:t>
            </a:r>
            <a:r>
              <a:rPr lang="en-US" altLang="zh-CN" dirty="0" err="1">
                <a:solidFill>
                  <a:srgbClr val="0070C0"/>
                </a:solidFill>
                <a:latin typeface="Cascadia Mono" panose="020B0609020000020004" pitchFamily="49" charset="0"/>
                <a:cs typeface="Cascadia Mono" panose="020B0609020000020004" pitchFamily="49" charset="0"/>
              </a:rPr>
              <a:t>requests.get</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url</a:t>
            </a:r>
            <a:r>
              <a:rPr lang="en-US" altLang="zh-CN" dirty="0">
                <a:solidFill>
                  <a:srgbClr val="0070C0"/>
                </a:solidFill>
                <a:latin typeface="Cascadia Mono" panose="020B0609020000020004" pitchFamily="49" charset="0"/>
                <a:cs typeface="Cascadia Mono" panose="020B0609020000020004" pitchFamily="49" charset="0"/>
              </a:rPr>
              <a:t>, params=params)</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Environment variables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a:t>
            </a:r>
            <a:r>
              <a:rPr lang="en-US" altLang="zh-CN" dirty="0" err="1">
                <a:solidFill>
                  <a:srgbClr val="0070C0"/>
                </a:solidFill>
                <a:latin typeface="Cascadia Mono" panose="020B0609020000020004" pitchFamily="49" charset="0"/>
                <a:cs typeface="Cascadia Mono" panose="020B0609020000020004" pitchFamily="49" charset="0"/>
              </a:rPr>
              <a:t>os</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a:t>
            </a:r>
            <a:r>
              <a:rPr lang="en-US" altLang="zh-CN" dirty="0" err="1">
                <a:solidFill>
                  <a:srgbClr val="0070C0"/>
                </a:solidFill>
                <a:latin typeface="Cascadia Mono" panose="020B0609020000020004" pitchFamily="49" charset="0"/>
                <a:cs typeface="Cascadia Mono" panose="020B0609020000020004" pitchFamily="49" charset="0"/>
              </a:rPr>
              <a:t>dotenv</a:t>
            </a:r>
            <a:r>
              <a:rPr lang="en-US" altLang="zh-CN" dirty="0">
                <a:solidFill>
                  <a:srgbClr val="0070C0"/>
                </a:solidFill>
                <a:latin typeface="Cascadia Mono" panose="020B0609020000020004" pitchFamily="49" charset="0"/>
                <a:cs typeface="Cascadia Mono" panose="020B0609020000020004" pitchFamily="49" charset="0"/>
              </a:rPr>
              <a:t> import </a:t>
            </a:r>
            <a:r>
              <a:rPr lang="en-US" altLang="zh-CN" dirty="0" err="1">
                <a:solidFill>
                  <a:srgbClr val="0070C0"/>
                </a:solidFill>
                <a:latin typeface="Cascadia Mono" panose="020B0609020000020004" pitchFamily="49" charset="0"/>
                <a:cs typeface="Cascadia Mono" panose="020B0609020000020004" pitchFamily="49" charset="0"/>
              </a:rPr>
              <a:t>load_dotenv</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B050"/>
                </a:solidFill>
                <a:latin typeface="Cascadia Mono" panose="020B0609020000020004" pitchFamily="49" charset="0"/>
                <a:cs typeface="Cascadia Mono" panose="020B0609020000020004" pitchFamily="49" charset="0"/>
              </a:rPr>
              <a:t># Load the .env file</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load_dotenv</a:t>
            </a:r>
            <a:r>
              <a:rPr lang="en-US" altLang="zh-CN" dirty="0">
                <a:solidFill>
                  <a:srgbClr val="0070C0"/>
                </a:solidFill>
                <a:latin typeface="Cascadia Mono" panose="020B0609020000020004" pitchFamily="49" charset="0"/>
                <a:cs typeface="Cascadia Mono" panose="020B0609020000020004" pitchFamily="49" charset="0"/>
              </a:rPr>
              <a:t>(".env")</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B050"/>
                </a:solidFill>
                <a:latin typeface="Cascadia Mono" panose="020B0609020000020004" pitchFamily="49" charset="0"/>
                <a:cs typeface="Cascadia Mono" panose="020B0609020000020004" pitchFamily="49" charset="0"/>
              </a:rPr>
              <a:t># Retrieve the API key</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api_key</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os.getenv</a:t>
            </a:r>
            <a:r>
              <a:rPr lang="en-US" altLang="zh-CN" dirty="0">
                <a:solidFill>
                  <a:srgbClr val="0070C0"/>
                </a:solidFill>
                <a:latin typeface="Cascadia Mono" panose="020B0609020000020004" pitchFamily="49" charset="0"/>
                <a:cs typeface="Cascadia Mono" panose="020B0609020000020004" pitchFamily="49" charset="0"/>
              </a:rPr>
              <a:t>("FOOD_SAFETY_API_KEY")</a:t>
            </a:r>
            <a:endParaRPr lang="zh-CN" altLang="en-US" dirty="0"/>
          </a:p>
        </p:txBody>
      </p:sp>
    </p:spTree>
    <p:extLst>
      <p:ext uri="{BB962C8B-B14F-4D97-AF65-F5344CB8AC3E}">
        <p14:creationId xmlns:p14="http://schemas.microsoft.com/office/powerpoint/2010/main" val="40787246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F6F6-FEDC-CA2A-C668-62AA21ADCD4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E824A9-604F-0BA6-5568-1E0F68C88183}"/>
              </a:ext>
            </a:extLst>
          </p:cNvPr>
          <p:cNvSpPr>
            <a:spLocks noGrp="1"/>
          </p:cNvSpPr>
          <p:nvPr>
            <p:ph type="title"/>
          </p:nvPr>
        </p:nvSpPr>
        <p:spPr/>
        <p:txBody>
          <a:bodyPr/>
          <a:lstStyle/>
          <a:p>
            <a:r>
              <a:rPr lang="en-US" altLang="zh-CN" dirty="0"/>
              <a:t>APIs &amp; Numerical Cleaning</a:t>
            </a:r>
            <a:endParaRPr lang="zh-CN" altLang="en-US" dirty="0"/>
          </a:p>
        </p:txBody>
      </p:sp>
      <p:sp>
        <p:nvSpPr>
          <p:cNvPr id="3" name="内容占位符 2">
            <a:extLst>
              <a:ext uri="{FF2B5EF4-FFF2-40B4-BE49-F238E27FC236}">
                <a16:creationId xmlns:a16="http://schemas.microsoft.com/office/drawing/2014/main" id="{E26B61CF-5DBE-4334-EE85-12485407B269}"/>
              </a:ext>
            </a:extLst>
          </p:cNvPr>
          <p:cNvSpPr>
            <a:spLocks noGrp="1"/>
          </p:cNvSpPr>
          <p:nvPr>
            <p:ph idx="1"/>
          </p:nvPr>
        </p:nvSpPr>
        <p:spPr/>
        <p:txBody>
          <a:bodyPr/>
          <a:lstStyle/>
          <a:p>
            <a:pPr marL="173038" lvl="2">
              <a:spcBef>
                <a:spcPct val="50000"/>
              </a:spcBef>
              <a:buFont typeface="Wingdings" panose="05000000000000000000" pitchFamily="2" charset="2"/>
              <a:buChar char="§"/>
            </a:pPr>
            <a:r>
              <a:rPr lang="en-US" altLang="zh-CN" dirty="0"/>
              <a:t>Scaling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scaled_violations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total_violations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square_footage</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scaled_violations</a:t>
            </a:r>
            <a:r>
              <a:rPr lang="en-US" altLang="zh-CN" dirty="0">
                <a:solidFill>
                  <a:srgbClr val="0070C0"/>
                </a:solidFill>
                <a:latin typeface="Cascadia Mono" panose="020B0609020000020004" pitchFamily="49" charset="0"/>
                <a:cs typeface="Cascadia Mono" panose="020B0609020000020004" pitchFamily="49" charset="0"/>
              </a:rPr>
              <a:t>"] =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scaled_violations</a:t>
            </a:r>
            <a:r>
              <a:rPr lang="en-US" altLang="zh-CN" dirty="0">
                <a:solidFill>
                  <a:srgbClr val="0070C0"/>
                </a:solidFill>
                <a:latin typeface="Cascadia Mono" panose="020B0609020000020004" pitchFamily="49" charset="0"/>
                <a:cs typeface="Cascadia Mono" panose="020B0609020000020004" pitchFamily="49" charset="0"/>
              </a:rPr>
              <a:t>"] * 100000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scaled_violations</a:t>
            </a:r>
            <a:r>
              <a:rPr lang="en-US" altLang="zh-CN" dirty="0">
                <a:solidFill>
                  <a:srgbClr val="0070C0"/>
                </a:solidFill>
                <a:latin typeface="Cascadia Mono" panose="020B0609020000020004" pitchFamily="49" charset="0"/>
                <a:cs typeface="Cascadia Mono" panose="020B0609020000020004" pitchFamily="49" charset="0"/>
              </a:rPr>
              <a:t>"] = round(</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scaled_violations</a:t>
            </a:r>
            <a:r>
              <a:rPr lang="en-US" altLang="zh-CN" dirty="0">
                <a:solidFill>
                  <a:srgbClr val="0070C0"/>
                </a:solidFill>
                <a:latin typeface="Cascadia Mono" panose="020B0609020000020004" pitchFamily="49" charset="0"/>
                <a:cs typeface="Cascadia Mono" panose="020B0609020000020004" pitchFamily="49" charset="0"/>
              </a:rPr>
              <a:t>"], 2)</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Binning</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pd.</a:t>
            </a:r>
            <a:r>
              <a:rPr lang="en-US" altLang="zh-CN" dirty="0" err="1">
                <a:solidFill>
                  <a:srgbClr val="FF0000"/>
                </a:solidFill>
                <a:latin typeface="Cascadia Mono" panose="020B0609020000020004" pitchFamily="49" charset="0"/>
                <a:cs typeface="Cascadia Mono" panose="020B0609020000020004" pitchFamily="49" charset="0"/>
              </a:rPr>
              <a:t>qcut</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production_volume</a:t>
            </a:r>
            <a:r>
              <a:rPr lang="en-US" altLang="zh-CN" dirty="0">
                <a:solidFill>
                  <a:srgbClr val="0070C0"/>
                </a:solidFill>
                <a:latin typeface="Cascadia Mono" panose="020B0609020000020004" pitchFamily="49" charset="0"/>
                <a:cs typeface="Cascadia Mono" panose="020B0609020000020004" pitchFamily="49" charset="0"/>
              </a:rPr>
              <a:t>'], q=3, labels=['Low', 'Moderate', 'High'])</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boundaries = [0, 75, 90, 100]</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pd.</a:t>
            </a:r>
            <a:r>
              <a:rPr lang="en-US" altLang="zh-CN" dirty="0" err="1">
                <a:solidFill>
                  <a:srgbClr val="FF0000"/>
                </a:solidFill>
                <a:latin typeface="Cascadia Mono" panose="020B0609020000020004" pitchFamily="49" charset="0"/>
                <a:cs typeface="Cascadia Mono" panose="020B0609020000020004" pitchFamily="49" charset="0"/>
              </a:rPr>
              <a:t>cut</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employee_count</a:t>
            </a:r>
            <a:r>
              <a:rPr lang="en-US" altLang="zh-CN" dirty="0">
                <a:solidFill>
                  <a:srgbClr val="0070C0"/>
                </a:solidFill>
                <a:latin typeface="Cascadia Mono" panose="020B0609020000020004" pitchFamily="49" charset="0"/>
                <a:cs typeface="Cascadia Mono" panose="020B0609020000020004" pitchFamily="49" charset="0"/>
              </a:rPr>
              <a:t>'], bins=boundaries, labels=['Low', 'Medium', 'High'])</a:t>
            </a:r>
          </a:p>
          <a:p>
            <a:pPr marL="633412" lvl="3">
              <a:spcBef>
                <a:spcPct val="50000"/>
              </a:spcBef>
              <a:buFont typeface="Wingdings" panose="05000000000000000000" pitchFamily="2" charset="2"/>
              <a:buChar char="§"/>
            </a:pPr>
            <a:endParaRPr lang="en-US" altLang="zh-CN" dirty="0"/>
          </a:p>
          <a:p>
            <a:pPr marL="173038" lvl="2">
              <a:spcBef>
                <a:spcPct val="50000"/>
              </a:spcBef>
              <a:buFont typeface="Wingdings" panose="05000000000000000000" pitchFamily="2" charset="2"/>
              <a:buChar char="§"/>
            </a:pPr>
            <a:r>
              <a:rPr lang="en-US" altLang="zh-CN" dirty="0"/>
              <a:t>Normalization</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days_normalized</a:t>
            </a:r>
            <a:r>
              <a:rPr lang="en-US" altLang="zh-CN" dirty="0">
                <a:solidFill>
                  <a:srgbClr val="0070C0"/>
                </a:solidFill>
                <a:latin typeface="Cascadia Mono" panose="020B0609020000020004" pitchFamily="49" charset="0"/>
                <a:cs typeface="Cascadia Mono" panose="020B0609020000020004" pitchFamily="49" charset="0"/>
              </a:rPr>
              <a:t>"] = 1 - normalize(</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days_since_last_inspection</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violations_normalized</a:t>
            </a:r>
            <a:r>
              <a:rPr lang="en-US" altLang="zh-CN" dirty="0">
                <a:solidFill>
                  <a:srgbClr val="0070C0"/>
                </a:solidFill>
                <a:latin typeface="Cascadia Mono" panose="020B0609020000020004" pitchFamily="49" charset="0"/>
                <a:cs typeface="Cascadia Mono" panose="020B0609020000020004" pitchFamily="49" charset="0"/>
              </a:rPr>
              <a:t>"] = 1 - normalize(</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["violations_per_1000_sqft"])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composite_score</a:t>
            </a:r>
            <a:r>
              <a:rPr lang="en-US" altLang="zh-CN" dirty="0">
                <a:solidFill>
                  <a:srgbClr val="0070C0"/>
                </a:solidFill>
                <a:latin typeface="Cascadia Mono" panose="020B0609020000020004" pitchFamily="49" charset="0"/>
                <a:cs typeface="Cascadia Mono" panose="020B0609020000020004" pitchFamily="49" charset="0"/>
              </a:rPr>
              <a:t>"] = round(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days_normalized</a:t>
            </a:r>
            <a:r>
              <a:rPr lang="en-US" altLang="zh-CN" dirty="0">
                <a:solidFill>
                  <a:srgbClr val="0070C0"/>
                </a:solidFill>
                <a:latin typeface="Cascadia Mono" panose="020B0609020000020004" pitchFamily="49" charset="0"/>
                <a:cs typeface="Cascadia Mono" panose="020B0609020000020004" pitchFamily="49" charset="0"/>
              </a:rPr>
              <a:t>"] * 0.30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df</a:t>
            </a:r>
            <a:r>
              <a:rPr lang="en-US" altLang="zh-CN" dirty="0">
                <a:solidFill>
                  <a:srgbClr val="0070C0"/>
                </a:solidFill>
                <a:latin typeface="Cascadia Mono" panose="020B0609020000020004" pitchFamily="49" charset="0"/>
                <a:cs typeface="Cascadia Mono" panose="020B0609020000020004" pitchFamily="49" charset="0"/>
              </a:rPr>
              <a:t>["</a:t>
            </a:r>
            <a:r>
              <a:rPr lang="en-US" altLang="zh-CN" dirty="0" err="1">
                <a:solidFill>
                  <a:srgbClr val="0070C0"/>
                </a:solidFill>
                <a:latin typeface="Cascadia Mono" panose="020B0609020000020004" pitchFamily="49" charset="0"/>
                <a:cs typeface="Cascadia Mono" panose="020B0609020000020004" pitchFamily="49" charset="0"/>
              </a:rPr>
              <a:t>violations_normalized</a:t>
            </a:r>
            <a:r>
              <a:rPr lang="en-US" altLang="zh-CN" dirty="0">
                <a:solidFill>
                  <a:srgbClr val="0070C0"/>
                </a:solidFill>
                <a:latin typeface="Cascadia Mono" panose="020B0609020000020004" pitchFamily="49" charset="0"/>
                <a:cs typeface="Cascadia Mono" panose="020B0609020000020004" pitchFamily="49" charset="0"/>
              </a:rPr>
              <a:t>"] * 0.50 * 100)</a:t>
            </a:r>
            <a:endParaRPr lang="zh-CN" altLang="en-US" dirty="0"/>
          </a:p>
        </p:txBody>
      </p:sp>
    </p:spTree>
    <p:extLst>
      <p:ext uri="{BB962C8B-B14F-4D97-AF65-F5344CB8AC3E}">
        <p14:creationId xmlns:p14="http://schemas.microsoft.com/office/powerpoint/2010/main" val="5475903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4211-63F2-D3A6-3EED-5D3C7568471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E1BA6D4-7B52-20D7-C670-0A531B4AB8FE}"/>
              </a:ext>
            </a:extLst>
          </p:cNvPr>
          <p:cNvSpPr>
            <a:spLocks noGrp="1"/>
          </p:cNvSpPr>
          <p:nvPr>
            <p:ph type="title"/>
          </p:nvPr>
        </p:nvSpPr>
        <p:spPr/>
        <p:txBody>
          <a:bodyPr/>
          <a:lstStyle/>
          <a:p>
            <a:r>
              <a:rPr lang="en-US" altLang="zh-CN" dirty="0"/>
              <a:t>Module 3</a:t>
            </a:r>
            <a:endParaRPr lang="zh-CN" altLang="en-US" dirty="0"/>
          </a:p>
        </p:txBody>
      </p:sp>
      <p:sp>
        <p:nvSpPr>
          <p:cNvPr id="5" name="文本占位符 4">
            <a:extLst>
              <a:ext uri="{FF2B5EF4-FFF2-40B4-BE49-F238E27FC236}">
                <a16:creationId xmlns:a16="http://schemas.microsoft.com/office/drawing/2014/main" id="{EFC75EB6-585D-FD86-E8DE-8548A4AFB7D7}"/>
              </a:ext>
            </a:extLst>
          </p:cNvPr>
          <p:cNvSpPr>
            <a:spLocks noGrp="1"/>
          </p:cNvSpPr>
          <p:nvPr>
            <p:ph type="body" idx="1"/>
          </p:nvPr>
        </p:nvSpPr>
        <p:spPr/>
        <p:txBody>
          <a:bodyPr/>
          <a:lstStyle/>
          <a:p>
            <a:r>
              <a:rPr lang="en-US" altLang="zh-CN" dirty="0"/>
              <a:t>Databases</a:t>
            </a:r>
            <a:endParaRPr lang="zh-CN" altLang="en-US" dirty="0"/>
          </a:p>
        </p:txBody>
      </p:sp>
    </p:spTree>
    <p:extLst>
      <p:ext uri="{BB962C8B-B14F-4D97-AF65-F5344CB8AC3E}">
        <p14:creationId xmlns:p14="http://schemas.microsoft.com/office/powerpoint/2010/main" val="26567080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5D233-4530-12B1-10B6-6C9A50CF80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EAB4DA-EED8-86D9-D532-439CFA8372D1}"/>
              </a:ext>
            </a:extLst>
          </p:cNvPr>
          <p:cNvSpPr>
            <a:spLocks noGrp="1"/>
          </p:cNvSpPr>
          <p:nvPr>
            <p:ph type="title"/>
          </p:nvPr>
        </p:nvSpPr>
        <p:spPr/>
        <p:txBody>
          <a:bodyPr/>
          <a:lstStyle/>
          <a:p>
            <a:r>
              <a:rPr lang="en-US" altLang="zh-CN" dirty="0"/>
              <a:t>SQL</a:t>
            </a:r>
            <a:endParaRPr lang="zh-CN" altLang="en-US" dirty="0"/>
          </a:p>
        </p:txBody>
      </p:sp>
      <p:sp>
        <p:nvSpPr>
          <p:cNvPr id="3" name="内容占位符 2">
            <a:extLst>
              <a:ext uri="{FF2B5EF4-FFF2-40B4-BE49-F238E27FC236}">
                <a16:creationId xmlns:a16="http://schemas.microsoft.com/office/drawing/2014/main" id="{E96E5BF4-F3C4-A74D-87AD-C39CA57C5FD8}"/>
              </a:ext>
            </a:extLst>
          </p:cNvPr>
          <p:cNvSpPr>
            <a:spLocks noGrp="1"/>
          </p:cNvSpPr>
          <p:nvPr>
            <p:ph idx="1"/>
          </p:nvPr>
        </p:nvSpPr>
        <p:spPr/>
        <p:txBody>
          <a:bodyPr/>
          <a:lstStyle/>
          <a:p>
            <a:r>
              <a:rPr lang="en-US" altLang="zh-CN" dirty="0"/>
              <a:t>SQL query</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a:t>
            </a:r>
            <a:r>
              <a:rPr lang="en-US" altLang="zh-CN" dirty="0" err="1">
                <a:solidFill>
                  <a:srgbClr val="0070C0"/>
                </a:solidFill>
                <a:latin typeface="Cascadia Mono" panose="020B0609020000020004" pitchFamily="49" charset="0"/>
                <a:cs typeface="Cascadia Mono" panose="020B0609020000020004" pitchFamily="49" charset="0"/>
              </a:rPr>
              <a:t>order_id</a:t>
            </a:r>
            <a:r>
              <a:rPr lang="en-US" altLang="zh-CN" dirty="0">
                <a:solidFill>
                  <a:srgbClr val="0070C0"/>
                </a:solidFill>
                <a:latin typeface="Cascadia Mono" panose="020B0609020000020004" pitchFamily="49" charset="0"/>
                <a:cs typeface="Cascadia Mono" panose="020B0609020000020004" pitchFamily="49" charset="0"/>
              </a:rPr>
              <a:t>, </a:t>
            </a:r>
            <a:r>
              <a:rPr lang="en-US" altLang="zh-CN" dirty="0" err="1">
                <a:solidFill>
                  <a:srgbClr val="0070C0"/>
                </a:solidFill>
                <a:latin typeface="Cascadia Mono" panose="020B0609020000020004" pitchFamily="49" charset="0"/>
                <a:cs typeface="Cascadia Mono" panose="020B0609020000020004" pitchFamily="49" charset="0"/>
              </a:rPr>
              <a:t>total_amount</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orders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ORDER BY </a:t>
            </a:r>
            <a:r>
              <a:rPr lang="en-US" altLang="zh-CN" dirty="0" err="1">
                <a:solidFill>
                  <a:srgbClr val="0070C0"/>
                </a:solidFill>
                <a:latin typeface="Cascadia Mono" panose="020B0609020000020004" pitchFamily="49" charset="0"/>
                <a:cs typeface="Cascadia Mono" panose="020B0609020000020004" pitchFamily="49" charset="0"/>
              </a:rPr>
              <a:t>total_amount</a:t>
            </a:r>
            <a:r>
              <a:rPr lang="en-US" altLang="zh-CN" dirty="0">
                <a:solidFill>
                  <a:srgbClr val="0070C0"/>
                </a:solidFill>
                <a:latin typeface="Cascadia Mono" panose="020B0609020000020004" pitchFamily="49" charset="0"/>
                <a:cs typeface="Cascadia Mono" panose="020B0609020000020004" pitchFamily="49" charset="0"/>
              </a:rPr>
              <a:t> DESC</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LIMIT 10;</a:t>
            </a:r>
            <a:endParaRPr lang="en-US" altLang="zh-CN" dirty="0"/>
          </a:p>
          <a:p>
            <a:pPr lvl="1"/>
            <a:endParaRPr lang="en-US" altLang="zh-CN" dirty="0"/>
          </a:p>
        </p:txBody>
      </p:sp>
    </p:spTree>
    <p:extLst>
      <p:ext uri="{BB962C8B-B14F-4D97-AF65-F5344CB8AC3E}">
        <p14:creationId xmlns:p14="http://schemas.microsoft.com/office/powerpoint/2010/main" val="31819532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C8E22-07CC-AA1C-FB1E-CB8D8E3D5F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865C293-B559-C386-4CF0-F14D3630A617}"/>
              </a:ext>
            </a:extLst>
          </p:cNvPr>
          <p:cNvSpPr>
            <a:spLocks noGrp="1"/>
          </p:cNvSpPr>
          <p:nvPr>
            <p:ph type="title"/>
          </p:nvPr>
        </p:nvSpPr>
        <p:spPr/>
        <p:txBody>
          <a:bodyPr/>
          <a:lstStyle/>
          <a:p>
            <a:r>
              <a:rPr lang="en-US" altLang="zh-CN" dirty="0"/>
              <a:t>SQL</a:t>
            </a:r>
            <a:endParaRPr lang="zh-CN" altLang="en-US" dirty="0"/>
          </a:p>
        </p:txBody>
      </p:sp>
      <p:sp>
        <p:nvSpPr>
          <p:cNvPr id="3" name="内容占位符 2">
            <a:extLst>
              <a:ext uri="{FF2B5EF4-FFF2-40B4-BE49-F238E27FC236}">
                <a16:creationId xmlns:a16="http://schemas.microsoft.com/office/drawing/2014/main" id="{24CD923D-2FE1-1DE7-E3CE-79E8A34CD122}"/>
              </a:ext>
            </a:extLst>
          </p:cNvPr>
          <p:cNvSpPr>
            <a:spLocks noGrp="1"/>
          </p:cNvSpPr>
          <p:nvPr>
            <p:ph sz="half" idx="1"/>
          </p:nvPr>
        </p:nvSpPr>
        <p:spPr/>
        <p:txBody>
          <a:bodyPr/>
          <a:lstStyle/>
          <a:p>
            <a:r>
              <a:rPr lang="en-US" altLang="zh-CN" dirty="0"/>
              <a:t>Selecting</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milliseconds, </a:t>
            </a:r>
            <a:r>
              <a:rPr lang="en-US" altLang="zh-CN" dirty="0" err="1">
                <a:solidFill>
                  <a:srgbClr val="0070C0"/>
                </a:solidFill>
                <a:latin typeface="Cascadia Mono" panose="020B0609020000020004" pitchFamily="49" charset="0"/>
                <a:cs typeface="Cascadia Mono" panose="020B0609020000020004" pitchFamily="49" charset="0"/>
              </a:rPr>
              <a:t>unitprice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milliseconds, </a:t>
            </a:r>
            <a:r>
              <a:rPr lang="en-US" altLang="zh-CN" dirty="0" err="1">
                <a:solidFill>
                  <a:srgbClr val="0070C0"/>
                </a:solidFill>
                <a:latin typeface="Cascadia Mono" panose="020B0609020000020004" pitchFamily="49" charset="0"/>
                <a:cs typeface="Cascadia Mono" panose="020B0609020000020004" pitchFamily="49" charset="0"/>
              </a:rPr>
              <a:t>unitprice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LIMIT 10;</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LIMIT 10;</a:t>
            </a:r>
          </a:p>
        </p:txBody>
      </p:sp>
      <p:sp>
        <p:nvSpPr>
          <p:cNvPr id="4" name="内容占位符 3">
            <a:extLst>
              <a:ext uri="{FF2B5EF4-FFF2-40B4-BE49-F238E27FC236}">
                <a16:creationId xmlns:a16="http://schemas.microsoft.com/office/drawing/2014/main" id="{5C618FC2-3D55-035C-29BD-DB47BB76B69D}"/>
              </a:ext>
            </a:extLst>
          </p:cNvPr>
          <p:cNvSpPr>
            <a:spLocks noGrp="1"/>
          </p:cNvSpPr>
          <p:nvPr>
            <p:ph sz="half" idx="2"/>
          </p:nvPr>
        </p:nvSpPr>
        <p:spPr>
          <a:xfrm>
            <a:off x="5933017" y="996779"/>
            <a:ext cx="5892800" cy="5357986"/>
          </a:xfrm>
        </p:spPr>
        <p:txBody>
          <a:bodyPr/>
          <a:lstStyle/>
          <a:p>
            <a:r>
              <a:rPr lang="en-US" altLang="zh-CN" dirty="0"/>
              <a:t>Ordering results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milliseconds, bytes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ORDER BY bytes;</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milliseconds, bytes, </a:t>
            </a:r>
            <a:r>
              <a:rPr lang="en-US" altLang="zh-CN" dirty="0" err="1">
                <a:solidFill>
                  <a:srgbClr val="0070C0"/>
                </a:solidFill>
                <a:latin typeface="Cascadia Mono" panose="020B0609020000020004" pitchFamily="49" charset="0"/>
                <a:cs typeface="Cascadia Mono" panose="020B0609020000020004" pitchFamily="49" charset="0"/>
              </a:rPr>
              <a:t>genreid</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ORDER BY </a:t>
            </a:r>
            <a:r>
              <a:rPr lang="en-US" altLang="zh-CN" dirty="0" err="1">
                <a:solidFill>
                  <a:srgbClr val="0070C0"/>
                </a:solidFill>
                <a:latin typeface="Cascadia Mono" panose="020B0609020000020004" pitchFamily="49" charset="0"/>
                <a:cs typeface="Cascadia Mono" panose="020B0609020000020004" pitchFamily="49" charset="0"/>
              </a:rPr>
              <a:t>genreid</a:t>
            </a:r>
            <a:r>
              <a:rPr lang="en-US" altLang="zh-CN" dirty="0">
                <a:solidFill>
                  <a:srgbClr val="0070C0"/>
                </a:solidFill>
                <a:latin typeface="Cascadia Mono" panose="020B0609020000020004" pitchFamily="49" charset="0"/>
                <a:cs typeface="Cascadia Mono" panose="020B0609020000020004" pitchFamily="49" charset="0"/>
              </a:rPr>
              <a:t>, bytes DESC;</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AS </a:t>
            </a:r>
            <a:r>
              <a:rPr lang="en-US" altLang="zh-CN" dirty="0" err="1">
                <a:solidFill>
                  <a:srgbClr val="0070C0"/>
                </a:solidFill>
                <a:latin typeface="Cascadia Mono" panose="020B0609020000020004" pitchFamily="49" charset="0"/>
                <a:cs typeface="Cascadia Mono" panose="020B0609020000020004" pitchFamily="49" charset="0"/>
              </a:rPr>
              <a:t>track_title</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ORDER BY </a:t>
            </a:r>
            <a:r>
              <a:rPr lang="en-US" altLang="zh-CN" dirty="0" err="1">
                <a:solidFill>
                  <a:srgbClr val="0070C0"/>
                </a:solidFill>
                <a:latin typeface="Cascadia Mono" panose="020B0609020000020004" pitchFamily="49" charset="0"/>
                <a:cs typeface="Cascadia Mono" panose="020B0609020000020004" pitchFamily="49" charset="0"/>
              </a:rPr>
              <a:t>genreid</a:t>
            </a:r>
            <a:r>
              <a:rPr lang="en-US" altLang="zh-CN" dirty="0">
                <a:solidFill>
                  <a:srgbClr val="0070C0"/>
                </a:solidFill>
                <a:latin typeface="Cascadia Mono" panose="020B0609020000020004" pitchFamily="49" charset="0"/>
                <a:cs typeface="Cascadia Mono" panose="020B0609020000020004" pitchFamily="49" charset="0"/>
              </a:rPr>
              <a:t>, bytes DESC;</a:t>
            </a:r>
          </a:p>
          <a:p>
            <a:endParaRPr lang="zh-CN" altLang="en-US" dirty="0"/>
          </a:p>
        </p:txBody>
      </p:sp>
    </p:spTree>
    <p:extLst>
      <p:ext uri="{BB962C8B-B14F-4D97-AF65-F5344CB8AC3E}">
        <p14:creationId xmlns:p14="http://schemas.microsoft.com/office/powerpoint/2010/main" val="9626900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9B53BB-00FB-8243-0188-27C4D87EAB84}"/>
              </a:ext>
            </a:extLst>
          </p:cNvPr>
          <p:cNvSpPr>
            <a:spLocks noGrp="1"/>
          </p:cNvSpPr>
          <p:nvPr>
            <p:ph type="title"/>
          </p:nvPr>
        </p:nvSpPr>
        <p:spPr/>
        <p:txBody>
          <a:bodyPr/>
          <a:lstStyle/>
          <a:p>
            <a:r>
              <a:rPr lang="en-US" altLang="zh-CN" dirty="0"/>
              <a:t>SQL</a:t>
            </a:r>
            <a:endParaRPr lang="zh-CN" altLang="en-US" dirty="0"/>
          </a:p>
        </p:txBody>
      </p:sp>
      <p:sp>
        <p:nvSpPr>
          <p:cNvPr id="3" name="内容占位符 2">
            <a:extLst>
              <a:ext uri="{FF2B5EF4-FFF2-40B4-BE49-F238E27FC236}">
                <a16:creationId xmlns:a16="http://schemas.microsoft.com/office/drawing/2014/main" id="{13D2B35A-19A8-E604-7F57-6AE32DF778FE}"/>
              </a:ext>
            </a:extLst>
          </p:cNvPr>
          <p:cNvSpPr>
            <a:spLocks noGrp="1"/>
          </p:cNvSpPr>
          <p:nvPr>
            <p:ph idx="1"/>
          </p:nvPr>
        </p:nvSpPr>
        <p:spPr/>
        <p:txBody>
          <a:bodyPr/>
          <a:lstStyle/>
          <a:p>
            <a:r>
              <a:rPr lang="en-US" altLang="zh-CN" dirty="0"/>
              <a:t>SQL in Python</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import sqlite3</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connection = sqlite3.connect("</a:t>
            </a:r>
            <a:r>
              <a:rPr lang="en-US" altLang="zh-CN" dirty="0" err="1">
                <a:solidFill>
                  <a:srgbClr val="0070C0"/>
                </a:solidFill>
                <a:latin typeface="Cascadia Mono" panose="020B0609020000020004" pitchFamily="49" charset="0"/>
                <a:cs typeface="Cascadia Mono" panose="020B0609020000020004" pitchFamily="49" charset="0"/>
              </a:rPr>
              <a:t>music.db</a:t>
            </a: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query = "SELECT * FROM artists;"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query = """</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SELECT name, milliseconds, bytes, </a:t>
            </a:r>
            <a:r>
              <a:rPr lang="en-US" altLang="zh-CN" dirty="0" err="1">
                <a:solidFill>
                  <a:srgbClr val="0070C0"/>
                </a:solidFill>
                <a:latin typeface="Cascadia Mono" panose="020B0609020000020004" pitchFamily="49" charset="0"/>
                <a:cs typeface="Cascadia Mono" panose="020B0609020000020004" pitchFamily="49" charset="0"/>
              </a:rPr>
              <a:t>genreid</a:t>
            </a: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FROM tracks</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ORDER BY </a:t>
            </a:r>
            <a:r>
              <a:rPr lang="en-US" altLang="zh-CN" dirty="0" err="1">
                <a:solidFill>
                  <a:srgbClr val="0070C0"/>
                </a:solidFill>
                <a:latin typeface="Cascadia Mono" panose="020B0609020000020004" pitchFamily="49" charset="0"/>
                <a:cs typeface="Cascadia Mono" panose="020B0609020000020004" pitchFamily="49" charset="0"/>
              </a:rPr>
              <a:t>genreid</a:t>
            </a:r>
            <a:r>
              <a:rPr lang="en-US" altLang="zh-CN" dirty="0">
                <a:solidFill>
                  <a:srgbClr val="0070C0"/>
                </a:solidFill>
                <a:latin typeface="Cascadia Mono" panose="020B0609020000020004" pitchFamily="49" charset="0"/>
                <a:cs typeface="Cascadia Mono" panose="020B0609020000020004" pitchFamily="49" charset="0"/>
              </a:rPr>
              <a:t>, bytes DESC;</a:t>
            </a: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a:t>
            </a:r>
          </a:p>
          <a:p>
            <a:pPr marL="682625" lvl="2" indent="0">
              <a:buNone/>
            </a:pPr>
            <a:endParaRPr lang="en-US" altLang="zh-CN" dirty="0">
              <a:solidFill>
                <a:srgbClr val="0070C0"/>
              </a:solidFill>
              <a:latin typeface="Cascadia Mono" panose="020B0609020000020004" pitchFamily="49" charset="0"/>
              <a:cs typeface="Cascadia Mono" panose="020B0609020000020004" pitchFamily="49" charset="0"/>
            </a:endParaRPr>
          </a:p>
          <a:p>
            <a:pPr marL="682625" lvl="2" indent="0">
              <a:buNone/>
            </a:pPr>
            <a:r>
              <a:rPr lang="en-US" altLang="zh-CN" dirty="0">
                <a:solidFill>
                  <a:srgbClr val="0070C0"/>
                </a:solidFill>
                <a:latin typeface="Cascadia Mono" panose="020B0609020000020004" pitchFamily="49" charset="0"/>
                <a:cs typeface="Cascadia Mono" panose="020B0609020000020004" pitchFamily="49" charset="0"/>
              </a:rPr>
              <a:t>results = </a:t>
            </a:r>
            <a:r>
              <a:rPr lang="en-US" altLang="zh-CN" dirty="0" err="1">
                <a:solidFill>
                  <a:srgbClr val="0070C0"/>
                </a:solidFill>
                <a:latin typeface="Cascadia Mono" panose="020B0609020000020004" pitchFamily="49" charset="0"/>
                <a:cs typeface="Cascadia Mono" panose="020B0609020000020004" pitchFamily="49" charset="0"/>
              </a:rPr>
              <a:t>pd.read_sql_query</a:t>
            </a:r>
            <a:r>
              <a:rPr lang="en-US" altLang="zh-CN" dirty="0">
                <a:solidFill>
                  <a:srgbClr val="0070C0"/>
                </a:solidFill>
                <a:latin typeface="Cascadia Mono" panose="020B0609020000020004" pitchFamily="49" charset="0"/>
                <a:cs typeface="Cascadia Mono" panose="020B0609020000020004" pitchFamily="49" charset="0"/>
              </a:rPr>
              <a:t>(query, connection)</a:t>
            </a:r>
            <a:endParaRPr lang="zh-CN" altLang="en-US" dirty="0">
              <a:solidFill>
                <a:srgbClr val="0070C0"/>
              </a:solidFill>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31523534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40A8-882C-3E9E-E7E3-7ECB77174B0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62382DA-78E8-F0CA-DCC6-5F90A16025BC}"/>
              </a:ext>
            </a:extLst>
          </p:cNvPr>
          <p:cNvSpPr>
            <a:spLocks noGrp="1"/>
          </p:cNvSpPr>
          <p:nvPr>
            <p:ph type="title"/>
          </p:nvPr>
        </p:nvSpPr>
        <p:spPr/>
        <p:txBody>
          <a:bodyPr/>
          <a:lstStyle/>
          <a:p>
            <a:r>
              <a:rPr lang="en-US" altLang="zh-CN" dirty="0"/>
              <a:t>Module 4</a:t>
            </a:r>
            <a:endParaRPr lang="zh-CN" altLang="en-US" dirty="0"/>
          </a:p>
        </p:txBody>
      </p:sp>
      <p:sp>
        <p:nvSpPr>
          <p:cNvPr id="5" name="文本占位符 4">
            <a:extLst>
              <a:ext uri="{FF2B5EF4-FFF2-40B4-BE49-F238E27FC236}">
                <a16:creationId xmlns:a16="http://schemas.microsoft.com/office/drawing/2014/main" id="{E584F11B-4695-283A-0BED-F4E31E9F45E2}"/>
              </a:ext>
            </a:extLst>
          </p:cNvPr>
          <p:cNvSpPr>
            <a:spLocks noGrp="1"/>
          </p:cNvSpPr>
          <p:nvPr>
            <p:ph type="body" idx="1"/>
          </p:nvPr>
        </p:nvSpPr>
        <p:spPr/>
        <p:txBody>
          <a:bodyPr/>
          <a:lstStyle/>
          <a:p>
            <a:r>
              <a:rPr lang="en-US" altLang="zh-CN" dirty="0"/>
              <a:t>Preprocessing, validation, and joins with SQL</a:t>
            </a:r>
            <a:endParaRPr lang="zh-CN" altLang="en-US" dirty="0"/>
          </a:p>
        </p:txBody>
      </p:sp>
    </p:spTree>
    <p:extLst>
      <p:ext uri="{BB962C8B-B14F-4D97-AF65-F5344CB8AC3E}">
        <p14:creationId xmlns:p14="http://schemas.microsoft.com/office/powerpoint/2010/main" val="27168960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965A0-EF12-5C95-9D57-EA023DF5F8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61E61D-AAE9-8A61-531A-25905F4A922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C5ACB8D-67D5-780D-1F49-AD60424DF4F4}"/>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9147663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CB6C-CD00-A0B0-D38B-713E083BA9A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1832D85-702E-5279-B993-F3DAB0C8D747}"/>
              </a:ext>
            </a:extLst>
          </p:cNvPr>
          <p:cNvSpPr>
            <a:spLocks noGrp="1"/>
          </p:cNvSpPr>
          <p:nvPr>
            <p:ph type="title"/>
          </p:nvPr>
        </p:nvSpPr>
        <p:spPr/>
        <p:txBody>
          <a:bodyPr/>
          <a:lstStyle/>
          <a:p>
            <a:r>
              <a:rPr lang="en-US" altLang="zh-CN" dirty="0"/>
              <a:t>Course 5</a:t>
            </a:r>
            <a:endParaRPr lang="zh-CN" altLang="en-US" dirty="0"/>
          </a:p>
        </p:txBody>
      </p:sp>
      <p:sp>
        <p:nvSpPr>
          <p:cNvPr id="5" name="文本占位符 4">
            <a:extLst>
              <a:ext uri="{FF2B5EF4-FFF2-40B4-BE49-F238E27FC236}">
                <a16:creationId xmlns:a16="http://schemas.microsoft.com/office/drawing/2014/main" id="{FA93AA14-5C7C-3D8D-0E25-136A2E0F8031}"/>
              </a:ext>
            </a:extLst>
          </p:cNvPr>
          <p:cNvSpPr>
            <a:spLocks noGrp="1"/>
          </p:cNvSpPr>
          <p:nvPr>
            <p:ph type="body" idx="1"/>
          </p:nvPr>
        </p:nvSpPr>
        <p:spPr/>
        <p:txBody>
          <a:bodyPr/>
          <a:lstStyle/>
          <a:p>
            <a:r>
              <a:rPr lang="en-US" altLang="zh-CN" dirty="0"/>
              <a:t>Data Storytelling</a:t>
            </a:r>
            <a:endParaRPr lang="zh-CN" altLang="en-US" dirty="0"/>
          </a:p>
        </p:txBody>
      </p:sp>
    </p:spTree>
    <p:extLst>
      <p:ext uri="{BB962C8B-B14F-4D97-AF65-F5344CB8AC3E}">
        <p14:creationId xmlns:p14="http://schemas.microsoft.com/office/powerpoint/2010/main" val="41177906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DE94-370A-60C2-F5CE-5D1EB1497437}"/>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C88A710-3E3A-D24E-A6CB-43413FC05D34}"/>
              </a:ext>
            </a:extLst>
          </p:cNvPr>
          <p:cNvSpPr>
            <a:spLocks noGrp="1"/>
          </p:cNvSpPr>
          <p:nvPr>
            <p:ph type="title"/>
          </p:nvPr>
        </p:nvSpPr>
        <p:spPr/>
        <p:txBody>
          <a:bodyPr/>
          <a:lstStyle/>
          <a:p>
            <a:r>
              <a:rPr lang="en-US" altLang="zh-CN" dirty="0"/>
              <a:t>Module 1</a:t>
            </a:r>
            <a:endParaRPr lang="zh-CN" altLang="en-US" dirty="0"/>
          </a:p>
        </p:txBody>
      </p:sp>
      <p:sp>
        <p:nvSpPr>
          <p:cNvPr id="5" name="文本占位符 4">
            <a:extLst>
              <a:ext uri="{FF2B5EF4-FFF2-40B4-BE49-F238E27FC236}">
                <a16:creationId xmlns:a16="http://schemas.microsoft.com/office/drawing/2014/main" id="{3C859957-7F77-BB94-EBDC-CD22840BA1D5}"/>
              </a:ext>
            </a:extLst>
          </p:cNvPr>
          <p:cNvSpPr>
            <a:spLocks noGrp="1"/>
          </p:cNvSpPr>
          <p:nvPr>
            <p:ph type="body" idx="1"/>
          </p:nvPr>
        </p:nvSpPr>
        <p:spPr/>
        <p:txBody>
          <a:bodyPr/>
          <a:lstStyle/>
          <a:p>
            <a:r>
              <a:rPr lang="en-US" altLang="zh-CN" dirty="0"/>
              <a:t>Data storytelling fundamentals</a:t>
            </a:r>
            <a:endParaRPr lang="zh-CN" altLang="en-US" dirty="0"/>
          </a:p>
        </p:txBody>
      </p:sp>
    </p:spTree>
    <p:extLst>
      <p:ext uri="{BB962C8B-B14F-4D97-AF65-F5344CB8AC3E}">
        <p14:creationId xmlns:p14="http://schemas.microsoft.com/office/powerpoint/2010/main" val="8725113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095A7-A5DC-6290-D67C-39FB121BEC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C9DD71-B762-8D7F-F8F2-A452C1A70E8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6D45257-C402-3C85-B0DF-369295F05F27}"/>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6101227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05C1-1CF5-E40F-EBB6-64B784F4C33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EEDF807-F0D4-1429-9778-FB9A5DD4A9C8}"/>
              </a:ext>
            </a:extLst>
          </p:cNvPr>
          <p:cNvSpPr>
            <a:spLocks noGrp="1"/>
          </p:cNvSpPr>
          <p:nvPr>
            <p:ph type="title"/>
          </p:nvPr>
        </p:nvSpPr>
        <p:spPr/>
        <p:txBody>
          <a:bodyPr/>
          <a:lstStyle/>
          <a:p>
            <a:r>
              <a:rPr lang="en-US" altLang="zh-CN" dirty="0"/>
              <a:t>Module 2</a:t>
            </a:r>
            <a:endParaRPr lang="zh-CN" altLang="en-US" dirty="0"/>
          </a:p>
        </p:txBody>
      </p:sp>
      <p:sp>
        <p:nvSpPr>
          <p:cNvPr id="5" name="文本占位符 4">
            <a:extLst>
              <a:ext uri="{FF2B5EF4-FFF2-40B4-BE49-F238E27FC236}">
                <a16:creationId xmlns:a16="http://schemas.microsoft.com/office/drawing/2014/main" id="{AF216807-8344-D19B-C8A2-2139E108872B}"/>
              </a:ext>
            </a:extLst>
          </p:cNvPr>
          <p:cNvSpPr>
            <a:spLocks noGrp="1"/>
          </p:cNvSpPr>
          <p:nvPr>
            <p:ph type="body" idx="1"/>
          </p:nvPr>
        </p:nvSpPr>
        <p:spPr/>
        <p:txBody>
          <a:bodyPr/>
          <a:lstStyle/>
          <a:p>
            <a:r>
              <a:rPr lang="en-US" altLang="zh-CN" dirty="0"/>
              <a:t>Creating charts with Tableau</a:t>
            </a:r>
            <a:endParaRPr lang="zh-CN" altLang="en-US" dirty="0"/>
          </a:p>
        </p:txBody>
      </p:sp>
    </p:spTree>
    <p:extLst>
      <p:ext uri="{BB962C8B-B14F-4D97-AF65-F5344CB8AC3E}">
        <p14:creationId xmlns:p14="http://schemas.microsoft.com/office/powerpoint/2010/main" val="33493814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11752-574A-5BB4-4250-278459E150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D485BC-5E6A-5CDD-0BD9-203512FD5CD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90BADF7-AE33-A5A9-7779-D3831A53347F}"/>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8923265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DDF0F-0174-A09B-2089-A01447BF9ED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596D34B-CB9A-D906-2D48-91DE492909D4}"/>
              </a:ext>
            </a:extLst>
          </p:cNvPr>
          <p:cNvSpPr>
            <a:spLocks noGrp="1"/>
          </p:cNvSpPr>
          <p:nvPr>
            <p:ph type="title"/>
          </p:nvPr>
        </p:nvSpPr>
        <p:spPr/>
        <p:txBody>
          <a:bodyPr/>
          <a:lstStyle/>
          <a:p>
            <a:r>
              <a:rPr lang="en-US" altLang="zh-CN" dirty="0"/>
              <a:t>Module 3</a:t>
            </a:r>
            <a:endParaRPr lang="zh-CN" altLang="en-US" dirty="0"/>
          </a:p>
        </p:txBody>
      </p:sp>
      <p:sp>
        <p:nvSpPr>
          <p:cNvPr id="5" name="文本占位符 4">
            <a:extLst>
              <a:ext uri="{FF2B5EF4-FFF2-40B4-BE49-F238E27FC236}">
                <a16:creationId xmlns:a16="http://schemas.microsoft.com/office/drawing/2014/main" id="{5B2D77B5-8307-888A-8A8E-AEEC7C77EB63}"/>
              </a:ext>
            </a:extLst>
          </p:cNvPr>
          <p:cNvSpPr>
            <a:spLocks noGrp="1"/>
          </p:cNvSpPr>
          <p:nvPr>
            <p:ph type="body" idx="1"/>
          </p:nvPr>
        </p:nvSpPr>
        <p:spPr/>
        <p:txBody>
          <a:bodyPr/>
          <a:lstStyle/>
          <a:p>
            <a:r>
              <a:rPr lang="en-US" altLang="zh-CN" dirty="0"/>
              <a:t>Creating dashboards &amp; stories with Tableau</a:t>
            </a:r>
          </a:p>
        </p:txBody>
      </p:sp>
    </p:spTree>
    <p:extLst>
      <p:ext uri="{BB962C8B-B14F-4D97-AF65-F5344CB8AC3E}">
        <p14:creationId xmlns:p14="http://schemas.microsoft.com/office/powerpoint/2010/main" val="41131423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D194-CC50-4F2E-6DEC-B45FA74C71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FA22A7-C0DE-CCAF-EF46-940687942D0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4C0E227-3596-7EFC-C5C3-1647484D5242}"/>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349917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B574-4C1D-36A8-7C62-BCA019E1C1E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CC4B68F-38C1-3E24-4BD3-B55E86A2C900}"/>
              </a:ext>
            </a:extLst>
          </p:cNvPr>
          <p:cNvSpPr>
            <a:spLocks noGrp="1"/>
          </p:cNvSpPr>
          <p:nvPr>
            <p:ph type="title"/>
          </p:nvPr>
        </p:nvSpPr>
        <p:spPr/>
        <p:txBody>
          <a:bodyPr/>
          <a:lstStyle/>
          <a:p>
            <a:r>
              <a:rPr lang="en-US" altLang="zh-CN" dirty="0"/>
              <a:t>Module 4</a:t>
            </a:r>
            <a:endParaRPr lang="zh-CN" altLang="en-US" dirty="0"/>
          </a:p>
        </p:txBody>
      </p:sp>
      <p:sp>
        <p:nvSpPr>
          <p:cNvPr id="5" name="文本占位符 4">
            <a:extLst>
              <a:ext uri="{FF2B5EF4-FFF2-40B4-BE49-F238E27FC236}">
                <a16:creationId xmlns:a16="http://schemas.microsoft.com/office/drawing/2014/main" id="{02CB8ECA-3B2B-E684-2C16-45BC66634F13}"/>
              </a:ext>
            </a:extLst>
          </p:cNvPr>
          <p:cNvSpPr>
            <a:spLocks noGrp="1"/>
          </p:cNvSpPr>
          <p:nvPr>
            <p:ph type="body" idx="1"/>
          </p:nvPr>
        </p:nvSpPr>
        <p:spPr/>
        <p:txBody>
          <a:bodyPr/>
          <a:lstStyle/>
          <a:p>
            <a:r>
              <a:rPr lang="en-US" altLang="zh-CN" dirty="0"/>
              <a:t>The Job Search</a:t>
            </a:r>
            <a:endParaRPr lang="zh-CN" altLang="en-US" dirty="0"/>
          </a:p>
        </p:txBody>
      </p:sp>
    </p:spTree>
    <p:extLst>
      <p:ext uri="{BB962C8B-B14F-4D97-AF65-F5344CB8AC3E}">
        <p14:creationId xmlns:p14="http://schemas.microsoft.com/office/powerpoint/2010/main" val="41221433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22AE-86E6-F03D-A372-07770A56435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D8D6E8-17A6-FBBB-6EC5-985E38395AB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500F964-73A1-49DA-3938-2CAF704BCB3D}"/>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58252588"/>
      </p:ext>
    </p:extLst>
  </p:cSld>
  <p:clrMapOvr>
    <a:masterClrMapping/>
  </p:clrMapOvr>
</p:sld>
</file>

<file path=ppt/theme/theme1.xml><?xml version="1.0" encoding="utf-8"?>
<a:theme xmlns:a="http://schemas.openxmlformats.org/drawingml/2006/main" name="January 2013">
  <a:themeElements>
    <a:clrScheme name="January 2013 1">
      <a:dk1>
        <a:srgbClr val="000000"/>
      </a:dk1>
      <a:lt1>
        <a:srgbClr val="FFFFFF"/>
      </a:lt1>
      <a:dk2>
        <a:srgbClr val="00B2EF"/>
      </a:dk2>
      <a:lt2>
        <a:srgbClr val="808080"/>
      </a:lt2>
      <a:accent1>
        <a:srgbClr val="83D1F5"/>
      </a:accent1>
      <a:accent2>
        <a:srgbClr val="00A6A0"/>
      </a:accent2>
      <a:accent3>
        <a:srgbClr val="FFFFFF"/>
      </a:accent3>
      <a:accent4>
        <a:srgbClr val="000000"/>
      </a:accent4>
      <a:accent5>
        <a:srgbClr val="C1E5F9"/>
      </a:accent5>
      <a:accent6>
        <a:srgbClr val="009691"/>
      </a:accent6>
      <a:hlink>
        <a:srgbClr val="00B2EF"/>
      </a:hlink>
      <a:folHlink>
        <a:srgbClr val="AB1A86"/>
      </a:folHlink>
    </a:clrScheme>
    <a:fontScheme name="Arial - 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lang="en-US" altLang="zh-CN" sz="2200" b="0" i="0" u="none" strike="noStrike" cap="none" normalizeH="0" baseline="0" smtClean="0">
            <a:ln>
              <a:noFill/>
            </a:ln>
            <a:solidFill>
              <a:schemeClr val="hlink"/>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lang="en-US" altLang="zh-CN" sz="2200" b="0" i="0" u="none" strike="noStrike" cap="none" normalizeH="0" baseline="0" smtClean="0">
            <a:ln>
              <a:noFill/>
            </a:ln>
            <a:solidFill>
              <a:schemeClr val="hlink"/>
            </a:solidFill>
            <a:effectLst/>
            <a:latin typeface="Arial" panose="020B0604020202020204" pitchFamily="34" charset="0"/>
          </a:defRPr>
        </a:defPPr>
      </a:lstStyle>
    </a:lnDef>
  </a:objectDefaults>
  <a:extraClrSchemeLst>
    <a:extraClrScheme>
      <a:clrScheme name="January 2013 1">
        <a:dk1>
          <a:srgbClr val="000000"/>
        </a:dk1>
        <a:lt1>
          <a:srgbClr val="FFFFFF"/>
        </a:lt1>
        <a:dk2>
          <a:srgbClr val="00B2EF"/>
        </a:dk2>
        <a:lt2>
          <a:srgbClr val="808080"/>
        </a:lt2>
        <a:accent1>
          <a:srgbClr val="83D1F5"/>
        </a:accent1>
        <a:accent2>
          <a:srgbClr val="00A6A0"/>
        </a:accent2>
        <a:accent3>
          <a:srgbClr val="FFFFFF"/>
        </a:accent3>
        <a:accent4>
          <a:srgbClr val="000000"/>
        </a:accent4>
        <a:accent5>
          <a:srgbClr val="C1E5F9"/>
        </a:accent5>
        <a:accent6>
          <a:srgbClr val="009691"/>
        </a:accent6>
        <a:hlink>
          <a:srgbClr val="00B2EF"/>
        </a:hlink>
        <a:folHlink>
          <a:srgbClr val="AB1A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Template</Template>
  <TotalTime>27210</TotalTime>
  <Words>6343</Words>
  <Application>Microsoft Office PowerPoint</Application>
  <PresentationFormat>宽屏</PresentationFormat>
  <Paragraphs>927</Paragraphs>
  <Slides>90</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90</vt:i4>
      </vt:variant>
    </vt:vector>
  </HeadingPairs>
  <TitlesOfParts>
    <vt:vector size="97" baseType="lpstr">
      <vt:lpstr>等线</vt:lpstr>
      <vt:lpstr>宋体</vt:lpstr>
      <vt:lpstr>Arial</vt:lpstr>
      <vt:lpstr>Cambria Math</vt:lpstr>
      <vt:lpstr>Cascadia Mono</vt:lpstr>
      <vt:lpstr>Wingdings</vt:lpstr>
      <vt:lpstr>January 2013</vt:lpstr>
      <vt:lpstr>Data Analytics</vt:lpstr>
      <vt:lpstr>Course</vt:lpstr>
      <vt:lpstr>Resource</vt:lpstr>
      <vt:lpstr>Course 1</vt:lpstr>
      <vt:lpstr>Resources</vt:lpstr>
      <vt:lpstr>Module 1</vt:lpstr>
      <vt:lpstr>Module 2</vt:lpstr>
      <vt:lpstr>Dataset</vt:lpstr>
      <vt:lpstr>Module 3</vt:lpstr>
      <vt:lpstr>Resources</vt:lpstr>
      <vt:lpstr>Module 4</vt:lpstr>
      <vt:lpstr>Course 2</vt:lpstr>
      <vt:lpstr>Module 1</vt:lpstr>
      <vt:lpstr>Statistical sampling methods</vt:lpstr>
      <vt:lpstr>Bias</vt:lpstr>
      <vt:lpstr>Formula</vt:lpstr>
      <vt:lpstr>Excel macro</vt:lpstr>
      <vt:lpstr>Module 2</vt:lpstr>
      <vt:lpstr>Terms</vt:lpstr>
      <vt:lpstr>PMF vs. PDF</vt:lpstr>
      <vt:lpstr>分布</vt:lpstr>
      <vt:lpstr>Normal distribution（正态分布）</vt:lpstr>
      <vt:lpstr>Module 3</vt:lpstr>
      <vt:lpstr>Descriptive vs. Inferential</vt:lpstr>
      <vt:lpstr>中心极限理论</vt:lpstr>
      <vt:lpstr>总体均值的置信区间（Confidence interval for the population mean）</vt:lpstr>
      <vt:lpstr>总体特征的置信区间（Confidence interval for proportions）</vt:lpstr>
      <vt:lpstr>Module 4</vt:lpstr>
      <vt:lpstr>Hypotheses</vt:lpstr>
      <vt:lpstr>t-distribution</vt:lpstr>
      <vt:lpstr>Hypothesis testing</vt:lpstr>
      <vt:lpstr>Hypothesis testing for mean</vt:lpstr>
      <vt:lpstr>Hypothesis testing for proportion</vt:lpstr>
      <vt:lpstr>Two sample test</vt:lpstr>
      <vt:lpstr>Course 3</vt:lpstr>
      <vt:lpstr>Module 1</vt:lpstr>
      <vt:lpstr>Control flow</vt:lpstr>
      <vt:lpstr>Module 2</vt:lpstr>
      <vt:lpstr>pandas</vt:lpstr>
      <vt:lpstr>pandas</vt:lpstr>
      <vt:lpstr>pandas</vt:lpstr>
      <vt:lpstr>pandas</vt:lpstr>
      <vt:lpstr>pandas</vt:lpstr>
      <vt:lpstr>Module 3</vt:lpstr>
      <vt:lpstr>Matplotlib</vt:lpstr>
      <vt:lpstr>Matplotlib</vt:lpstr>
      <vt:lpstr>Matplotlib</vt:lpstr>
      <vt:lpstr>Seaborn</vt:lpstr>
      <vt:lpstr>Seaborn</vt:lpstr>
      <vt:lpstr>Matplotlib subplots</vt:lpstr>
      <vt:lpstr>Seaborn pairplot</vt:lpstr>
      <vt:lpstr>Module 4</vt:lpstr>
      <vt:lpstr>Inferential statistics</vt:lpstr>
      <vt:lpstr>Inferential statistics</vt:lpstr>
      <vt:lpstr>Inferential statistics</vt:lpstr>
      <vt:lpstr>Inferential statistics</vt:lpstr>
      <vt:lpstr>Inferential statistics</vt:lpstr>
      <vt:lpstr>Module 5</vt:lpstr>
      <vt:lpstr>Time series &amp; forecasting</vt:lpstr>
      <vt:lpstr>Time series &amp; forecasting</vt:lpstr>
      <vt:lpstr>Time series &amp; forecasting</vt:lpstr>
      <vt:lpstr>Time series &amp; forecasting</vt:lpstr>
      <vt:lpstr>Time series &amp; forecasting</vt:lpstr>
      <vt:lpstr>Course 4</vt:lpstr>
      <vt:lpstr>Module 1</vt:lpstr>
      <vt:lpstr>Web scraping &amp; text preprocessing</vt:lpstr>
      <vt:lpstr>Web scraping &amp; text preprocessing</vt:lpstr>
      <vt:lpstr>Web scraping &amp; text preprocessing</vt:lpstr>
      <vt:lpstr>Web scraping &amp; text preprocessing</vt:lpstr>
      <vt:lpstr>Web scraping &amp; text preprocessing</vt:lpstr>
      <vt:lpstr>Module 2</vt:lpstr>
      <vt:lpstr>APIs &amp; Numerical Cleaning</vt:lpstr>
      <vt:lpstr>APIs &amp; Numerical Cleaning</vt:lpstr>
      <vt:lpstr>APIs &amp; Numerical Cleaning</vt:lpstr>
      <vt:lpstr>APIs &amp; Numerical Cleaning</vt:lpstr>
      <vt:lpstr>Module 3</vt:lpstr>
      <vt:lpstr>SQL</vt:lpstr>
      <vt:lpstr>SQL</vt:lpstr>
      <vt:lpstr>SQL</vt:lpstr>
      <vt:lpstr>Module 4</vt:lpstr>
      <vt:lpstr>PowerPoint 演示文稿</vt:lpstr>
      <vt:lpstr>Course 5</vt:lpstr>
      <vt:lpstr>Module 1</vt:lpstr>
      <vt:lpstr>PowerPoint 演示文稿</vt:lpstr>
      <vt:lpstr>Module 2</vt:lpstr>
      <vt:lpstr>PowerPoint 演示文稿</vt:lpstr>
      <vt:lpstr>Module 3</vt:lpstr>
      <vt:lpstr>PowerPoint 演示文稿</vt:lpstr>
      <vt:lpstr>Module 4</vt:lpstr>
      <vt:lpstr>PowerPoint 演示文稿</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k1439</dc:creator>
  <cp:lastModifiedBy>k1439</cp:lastModifiedBy>
  <cp:revision>25</cp:revision>
  <dcterms:created xsi:type="dcterms:W3CDTF">2026-05-14T03:46:55Z</dcterms:created>
  <dcterms:modified xsi:type="dcterms:W3CDTF">2026-06-14T14:03:03Z</dcterms:modified>
</cp:coreProperties>
</file>